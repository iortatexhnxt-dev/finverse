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 id="719" r:id="rId471"/>
    <p:sldId id="720" r:id="rId472"/>
    <p:sldId id="721" r:id="rId473"/>
    <p:sldId id="722" r:id="rId474"/>
    <p:sldId id="723" r:id="rId475"/>
    <p:sldId id="724" r:id="rId476"/>
    <p:sldId id="725" r:id="rId477"/>
    <p:sldId id="726" r:id="rId478"/>
    <p:sldId id="727" r:id="rId479"/>
    <p:sldId id="728" r:id="rId480"/>
    <p:sldId id="729" r:id="rId481"/>
    <p:sldId id="730" r:id="rId482"/>
    <p:sldId id="731" r:id="rId483"/>
    <p:sldId id="732" r:id="rId484"/>
    <p:sldId id="733" r:id="rId485"/>
    <p:sldId id="734" r:id="rId486"/>
    <p:sldId id="735" r:id="rId487"/>
    <p:sldId id="736" r:id="rId488"/>
    <p:sldId id="737" r:id="rId489"/>
    <p:sldId id="738" r:id="rId490"/>
    <p:sldId id="739" r:id="rId491"/>
    <p:sldId id="740" r:id="rId492"/>
    <p:sldId id="741" r:id="rId493"/>
    <p:sldId id="742" r:id="rId494"/>
    <p:sldId id="743" r:id="rId495"/>
    <p:sldId id="744" r:id="rId496"/>
    <p:sldId id="745" r:id="rId497"/>
    <p:sldId id="746" r:id="rId498"/>
    <p:sldId id="747" r:id="rId499"/>
    <p:sldId id="748" r:id="rId500"/>
    <p:sldId id="749" r:id="rId501"/>
    <p:sldId id="750" r:id="rId502"/>
    <p:sldId id="751" r:id="rId503"/>
    <p:sldId id="752" r:id="rId504"/>
    <p:sldId id="753" r:id="rId505"/>
    <p:sldId id="754" r:id="rId506"/>
    <p:sldId id="755" r:id="rId507"/>
    <p:sldId id="756" r:id="rId508"/>
    <p:sldId id="757" r:id="rId509"/>
    <p:sldId id="758" r:id="rId510"/>
    <p:sldId id="759" r:id="rId511"/>
    <p:sldId id="760" r:id="rId512"/>
    <p:sldId id="761" r:id="rId513"/>
    <p:sldId id="762" r:id="rId514"/>
    <p:sldId id="763" r:id="rId515"/>
    <p:sldId id="764" r:id="rId516"/>
    <p:sldId id="765" r:id="rId517"/>
    <p:sldId id="766" r:id="rId518"/>
    <p:sldId id="767" r:id="rId519"/>
    <p:sldId id="768" r:id="rId520"/>
    <p:sldId id="769" r:id="rId521"/>
    <p:sldId id="770" r:id="rId522"/>
    <p:sldId id="771" r:id="rId523"/>
    <p:sldId id="772" r:id="rId524"/>
    <p:sldId id="773" r:id="rId525"/>
    <p:sldId id="774" r:id="rId526"/>
    <p:sldId id="775" r:id="rId527"/>
    <p:sldId id="776" r:id="rId528"/>
    <p:sldId id="777" r:id="rId529"/>
    <p:sldId id="778" r:id="rId530"/>
    <p:sldId id="779" r:id="rId531"/>
    <p:sldId id="780" r:id="rId532"/>
    <p:sldId id="781" r:id="rId533"/>
    <p:sldId id="782" r:id="rId534"/>
    <p:sldId id="783" r:id="rId535"/>
    <p:sldId id="784" r:id="rId536"/>
    <p:sldId id="785" r:id="rId537"/>
    <p:sldId id="786" r:id="rId538"/>
    <p:sldId id="787" r:id="rId539"/>
    <p:sldId id="788" r:id="rId540"/>
    <p:sldId id="789" r:id="rId541"/>
    <p:sldId id="790" r:id="rId542"/>
    <p:sldId id="791" r:id="rId543"/>
    <p:sldId id="792" r:id="rId544"/>
    <p:sldId id="793" r:id="rId545"/>
    <p:sldId id="794" r:id="rId546"/>
    <p:sldId id="795" r:id="rId547"/>
    <p:sldId id="796" r:id="rId548"/>
    <p:sldId id="797" r:id="rId549"/>
    <p:sldId id="798" r:id="rId550"/>
    <p:sldId id="799" r:id="rId551"/>
    <p:sldId id="800" r:id="rId552"/>
    <p:sldId id="801" r:id="rId553"/>
    <p:sldId id="802" r:id="rId554"/>
    <p:sldId id="803" r:id="rId555"/>
    <p:sldId id="804" r:id="rId556"/>
    <p:sldId id="805" r:id="rId557"/>
    <p:sldId id="806" r:id="rId558"/>
    <p:sldId id="807" r:id="rId559"/>
    <p:sldId id="808" r:id="rId560"/>
    <p:sldId id="809" r:id="rId561"/>
    <p:sldId id="810" r:id="rId562"/>
    <p:sldId id="811" r:id="rId563"/>
    <p:sldId id="812" r:id="rId564"/>
    <p:sldId id="813" r:id="rId565"/>
    <p:sldId id="814" r:id="rId566"/>
    <p:sldId id="815" r:id="rId567"/>
    <p:sldId id="816" r:id="rId568"/>
    <p:sldId id="817" r:id="rId569"/>
    <p:sldId id="818" r:id="rId570"/>
    <p:sldId id="819" r:id="rId571"/>
    <p:sldId id="820" r:id="rId572"/>
    <p:sldId id="821" r:id="rId573"/>
    <p:sldId id="822" r:id="rId574"/>
    <p:sldId id="823" r:id="rId575"/>
    <p:sldId id="824" r:id="rId576"/>
    <p:sldId id="825" r:id="rId577"/>
    <p:sldId id="826" r:id="rId578"/>
    <p:sldId id="827" r:id="rId579"/>
    <p:sldId id="828" r:id="rId580"/>
    <p:sldId id="829" r:id="rId581"/>
    <p:sldId id="830" r:id="rId582"/>
    <p:sldId id="831" r:id="rId583"/>
    <p:sldId id="832" r:id="rId584"/>
    <p:sldId id="833" r:id="rId585"/>
    <p:sldId id="834" r:id="rId586"/>
    <p:sldId id="835" r:id="rId587"/>
    <p:sldId id="836" r:id="rId588"/>
    <p:sldId id="837" r:id="rId589"/>
    <p:sldId id="838" r:id="rId590"/>
    <p:sldId id="839" r:id="rId591"/>
    <p:sldId id="840" r:id="rId592"/>
    <p:sldId id="841" r:id="rId593"/>
    <p:sldId id="842" r:id="rId594"/>
    <p:sldId id="843" r:id="rId595"/>
    <p:sldId id="844" r:id="rId596"/>
    <p:sldId id="845" r:id="rId597"/>
    <p:sldId id="846" r:id="rId598"/>
    <p:sldId id="847" r:id="rId599"/>
    <p:sldId id="848" r:id="rId600"/>
    <p:sldId id="849" r:id="rId601"/>
    <p:sldId id="850" r:id="rId602"/>
    <p:sldId id="851" r:id="rId603"/>
    <p:sldId id="852" r:id="rId604"/>
    <p:sldId id="853" r:id="rId605"/>
    <p:sldId id="854" r:id="rId606"/>
    <p:sldId id="855" r:id="rId607"/>
    <p:sldId id="856" r:id="rId608"/>
    <p:sldId id="857" r:id="rId609"/>
    <p:sldId id="858" r:id="rId610"/>
    <p:sldId id="859" r:id="rId611"/>
    <p:sldId id="860" r:id="rId612"/>
    <p:sldId id="861" r:id="rId613"/>
    <p:sldId id="862" r:id="rId614"/>
    <p:sldId id="863" r:id="rId615"/>
    <p:sldId id="864" r:id="rId616"/>
    <p:sldId id="865" r:id="rId617"/>
    <p:sldId id="866" r:id="rId618"/>
    <p:sldId id="867" r:id="rId619"/>
    <p:sldId id="868" r:id="rId620"/>
    <p:sldId id="869" r:id="rId621"/>
    <p:sldId id="870" r:id="rId622"/>
    <p:sldId id="871" r:id="rId623"/>
    <p:sldId id="872" r:id="rId624"/>
    <p:sldId id="873" r:id="rId625"/>
    <p:sldId id="874" r:id="rId626"/>
    <p:sldId id="875" r:id="rId6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 Id="rId471" Type="http://schemas.openxmlformats.org/officeDocument/2006/relationships/slide" Target="slides/slide464.xml"/><Relationship Id="rId472" Type="http://schemas.openxmlformats.org/officeDocument/2006/relationships/slide" Target="slides/slide465.xml"/><Relationship Id="rId473" Type="http://schemas.openxmlformats.org/officeDocument/2006/relationships/slide" Target="slides/slide466.xml"/><Relationship Id="rId474" Type="http://schemas.openxmlformats.org/officeDocument/2006/relationships/slide" Target="slides/slide467.xml"/><Relationship Id="rId475" Type="http://schemas.openxmlformats.org/officeDocument/2006/relationships/slide" Target="slides/slide468.xml"/><Relationship Id="rId476" Type="http://schemas.openxmlformats.org/officeDocument/2006/relationships/slide" Target="slides/slide469.xml"/><Relationship Id="rId477" Type="http://schemas.openxmlformats.org/officeDocument/2006/relationships/slide" Target="slides/slide470.xml"/><Relationship Id="rId478" Type="http://schemas.openxmlformats.org/officeDocument/2006/relationships/slide" Target="slides/slide471.xml"/><Relationship Id="rId479" Type="http://schemas.openxmlformats.org/officeDocument/2006/relationships/slide" Target="slides/slide472.xml"/><Relationship Id="rId480" Type="http://schemas.openxmlformats.org/officeDocument/2006/relationships/slide" Target="slides/slide473.xml"/><Relationship Id="rId481" Type="http://schemas.openxmlformats.org/officeDocument/2006/relationships/slide" Target="slides/slide474.xml"/><Relationship Id="rId482" Type="http://schemas.openxmlformats.org/officeDocument/2006/relationships/slide" Target="slides/slide475.xml"/><Relationship Id="rId483" Type="http://schemas.openxmlformats.org/officeDocument/2006/relationships/slide" Target="slides/slide476.xml"/><Relationship Id="rId484" Type="http://schemas.openxmlformats.org/officeDocument/2006/relationships/slide" Target="slides/slide477.xml"/><Relationship Id="rId485" Type="http://schemas.openxmlformats.org/officeDocument/2006/relationships/slide" Target="slides/slide478.xml"/><Relationship Id="rId486" Type="http://schemas.openxmlformats.org/officeDocument/2006/relationships/slide" Target="slides/slide479.xml"/><Relationship Id="rId487" Type="http://schemas.openxmlformats.org/officeDocument/2006/relationships/slide" Target="slides/slide480.xml"/><Relationship Id="rId488" Type="http://schemas.openxmlformats.org/officeDocument/2006/relationships/slide" Target="slides/slide481.xml"/><Relationship Id="rId489" Type="http://schemas.openxmlformats.org/officeDocument/2006/relationships/slide" Target="slides/slide482.xml"/><Relationship Id="rId490" Type="http://schemas.openxmlformats.org/officeDocument/2006/relationships/slide" Target="slides/slide483.xml"/><Relationship Id="rId491" Type="http://schemas.openxmlformats.org/officeDocument/2006/relationships/slide" Target="slides/slide484.xml"/><Relationship Id="rId492" Type="http://schemas.openxmlformats.org/officeDocument/2006/relationships/slide" Target="slides/slide485.xml"/><Relationship Id="rId493" Type="http://schemas.openxmlformats.org/officeDocument/2006/relationships/slide" Target="slides/slide486.xml"/><Relationship Id="rId494" Type="http://schemas.openxmlformats.org/officeDocument/2006/relationships/slide" Target="slides/slide487.xml"/><Relationship Id="rId495" Type="http://schemas.openxmlformats.org/officeDocument/2006/relationships/slide" Target="slides/slide488.xml"/><Relationship Id="rId496" Type="http://schemas.openxmlformats.org/officeDocument/2006/relationships/slide" Target="slides/slide489.xml"/><Relationship Id="rId497" Type="http://schemas.openxmlformats.org/officeDocument/2006/relationships/slide" Target="slides/slide490.xml"/><Relationship Id="rId498" Type="http://schemas.openxmlformats.org/officeDocument/2006/relationships/slide" Target="slides/slide491.xml"/><Relationship Id="rId499" Type="http://schemas.openxmlformats.org/officeDocument/2006/relationships/slide" Target="slides/slide492.xml"/><Relationship Id="rId500" Type="http://schemas.openxmlformats.org/officeDocument/2006/relationships/slide" Target="slides/slide493.xml"/><Relationship Id="rId501" Type="http://schemas.openxmlformats.org/officeDocument/2006/relationships/slide" Target="slides/slide494.xml"/><Relationship Id="rId502" Type="http://schemas.openxmlformats.org/officeDocument/2006/relationships/slide" Target="slides/slide495.xml"/><Relationship Id="rId503" Type="http://schemas.openxmlformats.org/officeDocument/2006/relationships/slide" Target="slides/slide496.xml"/><Relationship Id="rId504" Type="http://schemas.openxmlformats.org/officeDocument/2006/relationships/slide" Target="slides/slide497.xml"/><Relationship Id="rId505" Type="http://schemas.openxmlformats.org/officeDocument/2006/relationships/slide" Target="slides/slide498.xml"/><Relationship Id="rId506" Type="http://schemas.openxmlformats.org/officeDocument/2006/relationships/slide" Target="slides/slide499.xml"/><Relationship Id="rId507" Type="http://schemas.openxmlformats.org/officeDocument/2006/relationships/slide" Target="slides/slide500.xml"/><Relationship Id="rId508" Type="http://schemas.openxmlformats.org/officeDocument/2006/relationships/slide" Target="slides/slide501.xml"/><Relationship Id="rId509" Type="http://schemas.openxmlformats.org/officeDocument/2006/relationships/slide" Target="slides/slide502.xml"/><Relationship Id="rId510" Type="http://schemas.openxmlformats.org/officeDocument/2006/relationships/slide" Target="slides/slide503.xml"/><Relationship Id="rId511" Type="http://schemas.openxmlformats.org/officeDocument/2006/relationships/slide" Target="slides/slide504.xml"/><Relationship Id="rId512" Type="http://schemas.openxmlformats.org/officeDocument/2006/relationships/slide" Target="slides/slide505.xml"/><Relationship Id="rId513" Type="http://schemas.openxmlformats.org/officeDocument/2006/relationships/slide" Target="slides/slide506.xml"/><Relationship Id="rId514" Type="http://schemas.openxmlformats.org/officeDocument/2006/relationships/slide" Target="slides/slide507.xml"/><Relationship Id="rId515" Type="http://schemas.openxmlformats.org/officeDocument/2006/relationships/slide" Target="slides/slide508.xml"/><Relationship Id="rId516" Type="http://schemas.openxmlformats.org/officeDocument/2006/relationships/slide" Target="slides/slide509.xml"/><Relationship Id="rId517" Type="http://schemas.openxmlformats.org/officeDocument/2006/relationships/slide" Target="slides/slide510.xml"/><Relationship Id="rId518" Type="http://schemas.openxmlformats.org/officeDocument/2006/relationships/slide" Target="slides/slide511.xml"/><Relationship Id="rId519" Type="http://schemas.openxmlformats.org/officeDocument/2006/relationships/slide" Target="slides/slide512.xml"/><Relationship Id="rId520" Type="http://schemas.openxmlformats.org/officeDocument/2006/relationships/slide" Target="slides/slide513.xml"/><Relationship Id="rId521" Type="http://schemas.openxmlformats.org/officeDocument/2006/relationships/slide" Target="slides/slide514.xml"/><Relationship Id="rId522" Type="http://schemas.openxmlformats.org/officeDocument/2006/relationships/slide" Target="slides/slide515.xml"/><Relationship Id="rId523" Type="http://schemas.openxmlformats.org/officeDocument/2006/relationships/slide" Target="slides/slide516.xml"/><Relationship Id="rId524" Type="http://schemas.openxmlformats.org/officeDocument/2006/relationships/slide" Target="slides/slide517.xml"/><Relationship Id="rId525" Type="http://schemas.openxmlformats.org/officeDocument/2006/relationships/slide" Target="slides/slide518.xml"/><Relationship Id="rId526" Type="http://schemas.openxmlformats.org/officeDocument/2006/relationships/slide" Target="slides/slide519.xml"/><Relationship Id="rId527" Type="http://schemas.openxmlformats.org/officeDocument/2006/relationships/slide" Target="slides/slide520.xml"/><Relationship Id="rId528" Type="http://schemas.openxmlformats.org/officeDocument/2006/relationships/slide" Target="slides/slide521.xml"/><Relationship Id="rId529" Type="http://schemas.openxmlformats.org/officeDocument/2006/relationships/slide" Target="slides/slide522.xml"/><Relationship Id="rId530" Type="http://schemas.openxmlformats.org/officeDocument/2006/relationships/slide" Target="slides/slide523.xml"/><Relationship Id="rId531" Type="http://schemas.openxmlformats.org/officeDocument/2006/relationships/slide" Target="slides/slide524.xml"/><Relationship Id="rId532" Type="http://schemas.openxmlformats.org/officeDocument/2006/relationships/slide" Target="slides/slide525.xml"/><Relationship Id="rId533" Type="http://schemas.openxmlformats.org/officeDocument/2006/relationships/slide" Target="slides/slide526.xml"/><Relationship Id="rId534" Type="http://schemas.openxmlformats.org/officeDocument/2006/relationships/slide" Target="slides/slide527.xml"/><Relationship Id="rId535" Type="http://schemas.openxmlformats.org/officeDocument/2006/relationships/slide" Target="slides/slide528.xml"/><Relationship Id="rId536" Type="http://schemas.openxmlformats.org/officeDocument/2006/relationships/slide" Target="slides/slide529.xml"/><Relationship Id="rId537" Type="http://schemas.openxmlformats.org/officeDocument/2006/relationships/slide" Target="slides/slide530.xml"/><Relationship Id="rId538" Type="http://schemas.openxmlformats.org/officeDocument/2006/relationships/slide" Target="slides/slide531.xml"/><Relationship Id="rId539" Type="http://schemas.openxmlformats.org/officeDocument/2006/relationships/slide" Target="slides/slide532.xml"/><Relationship Id="rId540" Type="http://schemas.openxmlformats.org/officeDocument/2006/relationships/slide" Target="slides/slide533.xml"/><Relationship Id="rId541" Type="http://schemas.openxmlformats.org/officeDocument/2006/relationships/slide" Target="slides/slide534.xml"/><Relationship Id="rId542" Type="http://schemas.openxmlformats.org/officeDocument/2006/relationships/slide" Target="slides/slide535.xml"/><Relationship Id="rId543" Type="http://schemas.openxmlformats.org/officeDocument/2006/relationships/slide" Target="slides/slide536.xml"/><Relationship Id="rId544" Type="http://schemas.openxmlformats.org/officeDocument/2006/relationships/slide" Target="slides/slide537.xml"/><Relationship Id="rId545" Type="http://schemas.openxmlformats.org/officeDocument/2006/relationships/slide" Target="slides/slide538.xml"/><Relationship Id="rId546" Type="http://schemas.openxmlformats.org/officeDocument/2006/relationships/slide" Target="slides/slide539.xml"/><Relationship Id="rId547" Type="http://schemas.openxmlformats.org/officeDocument/2006/relationships/slide" Target="slides/slide540.xml"/><Relationship Id="rId548" Type="http://schemas.openxmlformats.org/officeDocument/2006/relationships/slide" Target="slides/slide541.xml"/><Relationship Id="rId549" Type="http://schemas.openxmlformats.org/officeDocument/2006/relationships/slide" Target="slides/slide542.xml"/><Relationship Id="rId550" Type="http://schemas.openxmlformats.org/officeDocument/2006/relationships/slide" Target="slides/slide543.xml"/><Relationship Id="rId551" Type="http://schemas.openxmlformats.org/officeDocument/2006/relationships/slide" Target="slides/slide544.xml"/><Relationship Id="rId552" Type="http://schemas.openxmlformats.org/officeDocument/2006/relationships/slide" Target="slides/slide545.xml"/><Relationship Id="rId553" Type="http://schemas.openxmlformats.org/officeDocument/2006/relationships/slide" Target="slides/slide546.xml"/><Relationship Id="rId554" Type="http://schemas.openxmlformats.org/officeDocument/2006/relationships/slide" Target="slides/slide547.xml"/><Relationship Id="rId555" Type="http://schemas.openxmlformats.org/officeDocument/2006/relationships/slide" Target="slides/slide548.xml"/><Relationship Id="rId556" Type="http://schemas.openxmlformats.org/officeDocument/2006/relationships/slide" Target="slides/slide549.xml"/><Relationship Id="rId557" Type="http://schemas.openxmlformats.org/officeDocument/2006/relationships/slide" Target="slides/slide550.xml"/><Relationship Id="rId558" Type="http://schemas.openxmlformats.org/officeDocument/2006/relationships/slide" Target="slides/slide551.xml"/><Relationship Id="rId559" Type="http://schemas.openxmlformats.org/officeDocument/2006/relationships/slide" Target="slides/slide552.xml"/><Relationship Id="rId560" Type="http://schemas.openxmlformats.org/officeDocument/2006/relationships/slide" Target="slides/slide553.xml"/><Relationship Id="rId561" Type="http://schemas.openxmlformats.org/officeDocument/2006/relationships/slide" Target="slides/slide554.xml"/><Relationship Id="rId562" Type="http://schemas.openxmlformats.org/officeDocument/2006/relationships/slide" Target="slides/slide555.xml"/><Relationship Id="rId563" Type="http://schemas.openxmlformats.org/officeDocument/2006/relationships/slide" Target="slides/slide556.xml"/><Relationship Id="rId564" Type="http://schemas.openxmlformats.org/officeDocument/2006/relationships/slide" Target="slides/slide557.xml"/><Relationship Id="rId565" Type="http://schemas.openxmlformats.org/officeDocument/2006/relationships/slide" Target="slides/slide558.xml"/><Relationship Id="rId566" Type="http://schemas.openxmlformats.org/officeDocument/2006/relationships/slide" Target="slides/slide559.xml"/><Relationship Id="rId567" Type="http://schemas.openxmlformats.org/officeDocument/2006/relationships/slide" Target="slides/slide560.xml"/><Relationship Id="rId568" Type="http://schemas.openxmlformats.org/officeDocument/2006/relationships/slide" Target="slides/slide561.xml"/><Relationship Id="rId569" Type="http://schemas.openxmlformats.org/officeDocument/2006/relationships/slide" Target="slides/slide562.xml"/><Relationship Id="rId570" Type="http://schemas.openxmlformats.org/officeDocument/2006/relationships/slide" Target="slides/slide563.xml"/><Relationship Id="rId571" Type="http://schemas.openxmlformats.org/officeDocument/2006/relationships/slide" Target="slides/slide564.xml"/><Relationship Id="rId572" Type="http://schemas.openxmlformats.org/officeDocument/2006/relationships/slide" Target="slides/slide565.xml"/><Relationship Id="rId573" Type="http://schemas.openxmlformats.org/officeDocument/2006/relationships/slide" Target="slides/slide566.xml"/><Relationship Id="rId574" Type="http://schemas.openxmlformats.org/officeDocument/2006/relationships/slide" Target="slides/slide567.xml"/><Relationship Id="rId575" Type="http://schemas.openxmlformats.org/officeDocument/2006/relationships/slide" Target="slides/slide568.xml"/><Relationship Id="rId576" Type="http://schemas.openxmlformats.org/officeDocument/2006/relationships/slide" Target="slides/slide569.xml"/><Relationship Id="rId577" Type="http://schemas.openxmlformats.org/officeDocument/2006/relationships/slide" Target="slides/slide570.xml"/><Relationship Id="rId578" Type="http://schemas.openxmlformats.org/officeDocument/2006/relationships/slide" Target="slides/slide571.xml"/><Relationship Id="rId579" Type="http://schemas.openxmlformats.org/officeDocument/2006/relationships/slide" Target="slides/slide572.xml"/><Relationship Id="rId580" Type="http://schemas.openxmlformats.org/officeDocument/2006/relationships/slide" Target="slides/slide573.xml"/><Relationship Id="rId581" Type="http://schemas.openxmlformats.org/officeDocument/2006/relationships/slide" Target="slides/slide574.xml"/><Relationship Id="rId582" Type="http://schemas.openxmlformats.org/officeDocument/2006/relationships/slide" Target="slides/slide575.xml"/><Relationship Id="rId583" Type="http://schemas.openxmlformats.org/officeDocument/2006/relationships/slide" Target="slides/slide576.xml"/><Relationship Id="rId584" Type="http://schemas.openxmlformats.org/officeDocument/2006/relationships/slide" Target="slides/slide577.xml"/><Relationship Id="rId585" Type="http://schemas.openxmlformats.org/officeDocument/2006/relationships/slide" Target="slides/slide578.xml"/><Relationship Id="rId586" Type="http://schemas.openxmlformats.org/officeDocument/2006/relationships/slide" Target="slides/slide579.xml"/><Relationship Id="rId587" Type="http://schemas.openxmlformats.org/officeDocument/2006/relationships/slide" Target="slides/slide580.xml"/><Relationship Id="rId588" Type="http://schemas.openxmlformats.org/officeDocument/2006/relationships/slide" Target="slides/slide581.xml"/><Relationship Id="rId589" Type="http://schemas.openxmlformats.org/officeDocument/2006/relationships/slide" Target="slides/slide582.xml"/><Relationship Id="rId590" Type="http://schemas.openxmlformats.org/officeDocument/2006/relationships/slide" Target="slides/slide583.xml"/><Relationship Id="rId591" Type="http://schemas.openxmlformats.org/officeDocument/2006/relationships/slide" Target="slides/slide584.xml"/><Relationship Id="rId592" Type="http://schemas.openxmlformats.org/officeDocument/2006/relationships/slide" Target="slides/slide585.xml"/><Relationship Id="rId593" Type="http://schemas.openxmlformats.org/officeDocument/2006/relationships/slide" Target="slides/slide586.xml"/><Relationship Id="rId594" Type="http://schemas.openxmlformats.org/officeDocument/2006/relationships/slide" Target="slides/slide587.xml"/><Relationship Id="rId595" Type="http://schemas.openxmlformats.org/officeDocument/2006/relationships/slide" Target="slides/slide588.xml"/><Relationship Id="rId596" Type="http://schemas.openxmlformats.org/officeDocument/2006/relationships/slide" Target="slides/slide589.xml"/><Relationship Id="rId597" Type="http://schemas.openxmlformats.org/officeDocument/2006/relationships/slide" Target="slides/slide590.xml"/><Relationship Id="rId598" Type="http://schemas.openxmlformats.org/officeDocument/2006/relationships/slide" Target="slides/slide591.xml"/><Relationship Id="rId599" Type="http://schemas.openxmlformats.org/officeDocument/2006/relationships/slide" Target="slides/slide592.xml"/><Relationship Id="rId600" Type="http://schemas.openxmlformats.org/officeDocument/2006/relationships/slide" Target="slides/slide593.xml"/><Relationship Id="rId601" Type="http://schemas.openxmlformats.org/officeDocument/2006/relationships/slide" Target="slides/slide594.xml"/><Relationship Id="rId602" Type="http://schemas.openxmlformats.org/officeDocument/2006/relationships/slide" Target="slides/slide595.xml"/><Relationship Id="rId603" Type="http://schemas.openxmlformats.org/officeDocument/2006/relationships/slide" Target="slides/slide596.xml"/><Relationship Id="rId604" Type="http://schemas.openxmlformats.org/officeDocument/2006/relationships/slide" Target="slides/slide597.xml"/><Relationship Id="rId605" Type="http://schemas.openxmlformats.org/officeDocument/2006/relationships/slide" Target="slides/slide598.xml"/><Relationship Id="rId606" Type="http://schemas.openxmlformats.org/officeDocument/2006/relationships/slide" Target="slides/slide599.xml"/><Relationship Id="rId607" Type="http://schemas.openxmlformats.org/officeDocument/2006/relationships/slide" Target="slides/slide600.xml"/><Relationship Id="rId608" Type="http://schemas.openxmlformats.org/officeDocument/2006/relationships/slide" Target="slides/slide601.xml"/><Relationship Id="rId609" Type="http://schemas.openxmlformats.org/officeDocument/2006/relationships/slide" Target="slides/slide602.xml"/><Relationship Id="rId610" Type="http://schemas.openxmlformats.org/officeDocument/2006/relationships/slide" Target="slides/slide603.xml"/><Relationship Id="rId611" Type="http://schemas.openxmlformats.org/officeDocument/2006/relationships/slide" Target="slides/slide604.xml"/><Relationship Id="rId612" Type="http://schemas.openxmlformats.org/officeDocument/2006/relationships/slide" Target="slides/slide605.xml"/><Relationship Id="rId613" Type="http://schemas.openxmlformats.org/officeDocument/2006/relationships/slide" Target="slides/slide606.xml"/><Relationship Id="rId614" Type="http://schemas.openxmlformats.org/officeDocument/2006/relationships/slide" Target="slides/slide607.xml"/><Relationship Id="rId615" Type="http://schemas.openxmlformats.org/officeDocument/2006/relationships/slide" Target="slides/slide608.xml"/><Relationship Id="rId616" Type="http://schemas.openxmlformats.org/officeDocument/2006/relationships/slide" Target="slides/slide609.xml"/><Relationship Id="rId617" Type="http://schemas.openxmlformats.org/officeDocument/2006/relationships/slide" Target="slides/slide610.xml"/><Relationship Id="rId618" Type="http://schemas.openxmlformats.org/officeDocument/2006/relationships/slide" Target="slides/slide611.xml"/><Relationship Id="rId619" Type="http://schemas.openxmlformats.org/officeDocument/2006/relationships/slide" Target="slides/slide612.xml"/><Relationship Id="rId620" Type="http://schemas.openxmlformats.org/officeDocument/2006/relationships/slide" Target="slides/slide613.xml"/><Relationship Id="rId621" Type="http://schemas.openxmlformats.org/officeDocument/2006/relationships/slide" Target="slides/slide614.xml"/><Relationship Id="rId622" Type="http://schemas.openxmlformats.org/officeDocument/2006/relationships/slide" Target="slides/slide615.xml"/><Relationship Id="rId623" Type="http://schemas.openxmlformats.org/officeDocument/2006/relationships/slide" Target="slides/slide616.xml"/><Relationship Id="rId624" Type="http://schemas.openxmlformats.org/officeDocument/2006/relationships/slide" Target="slides/slide617.xml"/><Relationship Id="rId625" Type="http://schemas.openxmlformats.org/officeDocument/2006/relationships/slide" Target="slides/slide618.xml"/><Relationship Id="rId626" Type="http://schemas.openxmlformats.org/officeDocument/2006/relationships/slide" Target="slides/slide619.xml"/><Relationship Id="rId627" Type="http://schemas.openxmlformats.org/officeDocument/2006/relationships/slide" Target="slides/slide6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9.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7.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2.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3.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4.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9.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0.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6.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7.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8.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2.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3.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4.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5.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0.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1.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2.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3.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8.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9.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0.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1.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2.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3.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8.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9.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0.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1.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2.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3.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4.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8.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9.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4.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5.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6.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7.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8.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9.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3.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4.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9.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0.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4.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5.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6.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0.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1.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3.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4.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5.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6.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7.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8.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9.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3.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4.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5.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6.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7.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1.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2.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3.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4.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5.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6.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0.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1.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5.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6.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7.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8.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9.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0.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1.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2.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3.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7.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8.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2.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3.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4.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5.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6.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7.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1.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2.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3.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4.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8.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9.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0.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1.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2.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6.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7.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8.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9.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0.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4.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6.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7.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8.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9.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0.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1.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2.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3.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4.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5.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6.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7.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8.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1.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2.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3.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5.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7.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8.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9.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BRD-1 New Business sign-off set, release set v2.1,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(BRD-1 approval sheets (New Business BRD 05132026): IT Walkthrough Addendum pp.8-10; Fire and Motor BRD ID consolidation p.138-139; Workshop Addendum p.32 (copy p.54));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(BRD-1 approval sheets (New Business BRD 05132026): IT Walkthrough Addendum pp.8-10; Fire and Motor BRD ID consolidation p.138-139; Workshop Addendum p.32 (copy p.54));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NAV-NB-01_menu.png.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menu entries in all; entries of the other BRDs: -: 12; BRD-2: 4; BRD-3: 6; BRD-4: 10; BRD-5: 4;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menu entries in all; entries of the other BRDs: -: 12; BRD-2: 4; BRD-3: 6; BRD-4: 10; BRD-5: 4;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NAV-NB-02_menu.png.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NAV-NB-02_menu.png.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 13; BRD-2: 12; BRD-3: 7; BRD-4: 12; BRD-5: 2;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 13; BRD-2: 12; BRD-3: 7; BRD-4: 12; BRD-5: 2;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NAV-NB-03_menu.png.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menu entries in all; entries of the other BRDs: -: 1; BRD-3: 8;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NAV-NB-04_menu.png.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NAV-NB-04_menu.png.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 12; BRD-2: 4; BRD-3: 1; BRD-4: 9;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 12; BRD-2: 4; BRD-3: 1; BRD-4: 9;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NAV-NB-05_menu.png.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NAV-NB-05_menu.png.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menu entries in all; entries of the other BRDs: -: 6;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menu entries in all; entries of the other BRDs: -: 6;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NAV-NB-06_menu.png.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NAV-NB-06_menu.png.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menu entries in all; entries of the other BRDs: BRD-11: 4; BRD-2: 1; BRD-3: 9; BRD-4: 1;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menu entries in all; entries of the other BRDs: BRD-11: 4; BRD-2: 1; BRD-3: 9; BRD-4: 1;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NAV-NB-07_menu.png.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menu entries in all; entries of the other BRDs: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NAV-NB-08_menu.png.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menu entries in all; entries of the other BRDs: BRD-2: 10;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NAV-NB-09_menu.png.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NAV-NB-09_menu.png.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NAV-NB-09_menu.png.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 3; BRD-11: 6; BRD-2: 5; BRD-3: 10; BRD-4: 11; BRD-5: 14;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NAV-NB-10_menu.png.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NAV-NB-10_menu.png.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NAV-NB-10_menu.png.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 10; BRD-10: 6; BRD-11: 5; BRD-2: 7; BRD-3: 8; BRD-4: 12; BRD-5: 28;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NAV-NB-11_menu.png.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NAV-NB-11_menu.png.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NAV-NB-11_menu.png.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NAV-NB-11_menu.png.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 12; BRD-10: 7; BRD-11: 4; BRD-2: 6; BRD-3: 10; BRD-4: 10; BRD-5: 55;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 12; BRD-10: 7; BRD-11: 4; BRD-2: 6; BRD-3: 10; BRD-4: 10; BRD-5: 55;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Account Officer. Menu and landing page: NAV-NB-01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TL / TH / UH. Menu and landing page: NAV-NB-02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Support Unit. Menu and landing page: NAV-NB-03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Menu and landing page: NAV-NB-04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Team Leader. Menu and landing page: NAV-NB-05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Approver. Menu and landing page: NAV-NB-06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E-policy Sender. Menu and landing page: NAV-NB-07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Adjustment. Menu and landing page: NAV-NB-08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NAV-NB-09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NAV-NB-10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NAV-NB-11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Operations (BRD-2): Operations › Invoice Search lists the invoice with its premium components and the ARN; Invoice 360 opens it.; Collections (BRD-4): the premium receivable appears on the PR Worklist of the account's collector when due.; Accounting (BRD-5): the journal posted at booking is in General Ledger › Journals; the commission service invoice is on Service Invoices.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Opens Clients › New Client, enters the individual's identity, contact, address and segment, and clicks Save as prospect</a:t>
            </a:r>
          </a:p>
          <a:p>
            <a:r>
              <a:t>2. Marketing Account Officer: Opens the client, uploads the KYC form and a valid ID on the KYC &amp; Documents tab and clicks Submit KYC</a:t>
            </a:r>
          </a:p>
          <a:p>
            <a:r>
              <a:t>3. Marketing TL / TH / UH: Opens the client from My Work and clicks Verify KYC</a:t>
            </a:r>
          </a:p>
          <a:p>
            <a:r>
              <a:t>4. Marketing Account Officer: Clicks Confirm client</a:t>
            </a:r>
          </a:p>
          <a:p>
            <a:r>
              <a:t>5. Marketing Account Officer: Clicks Generate Quotation, checks the market segment taken from the client, chooses PAR01, the insurer and its branch, adds the location with its sum insured, reviews the live premium and clicks Submit for Review</a:t>
            </a:r>
          </a:p>
          <a:p>
            <a:r>
              <a:t>6. Marketing TL / TH / UH: Opens the quotation from the For Review tab and clicks Approve</a:t>
            </a:r>
          </a:p>
          <a:p>
            <a:r>
              <a:t>7. Marketing Account Officer: Clicks Send via Email, keeps the proposed e-mail and clicks Send</a:t>
            </a:r>
          </a:p>
          <a:p>
            <a:r>
              <a:t>8. Marketing Account Officer: Clicks Record acceptance, uploads the client's reply and clicks Record Acceptance, then Create accounts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Marketing Account Officer: Opens the draft account, completes the mortgagee bank and PN number, reviews the completeness check and clicks Submit to Processing</a:t>
            </a:r>
          </a:p>
          <a:p>
            <a:r>
              <a:t>10. Processing: Opens the account from My Work and clicks Validate</a:t>
            </a:r>
          </a:p>
          <a:p>
            <a:r>
              <a:t>11. Processing: Bills the account on CLPC Billing, downloads the file, uploads CLPC's payment report and confirms the matches</a:t>
            </a:r>
          </a:p>
          <a:p>
            <a:r>
              <a:t>12. Processing: Selects the account on the Placement Workbench, clicks For Placement, then Generate Slips, then Send Slips</a:t>
            </a:r>
          </a:p>
          <a:p>
            <a:r>
              <a:t>13. Processing: Uploads the insurer's e-policy PDF with the ARN</a:t>
            </a:r>
          </a:p>
          <a:p>
            <a:r>
              <a:t>14. Processing: Checks the extracted policy number against the account and clicks Confirm Policy</a:t>
            </a:r>
          </a:p>
          <a:p>
            <a:r>
              <a:t>15. E-policy Sender: Sends the e-policy to the client from Ready to Dispatch</a:t>
            </a:r>
          </a:p>
          <a:p>
            <a:r>
              <a:t>16. Processing: Opens the account from Ready to Book, checks the invoice and the journal preview, and clicks Book Account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Processing: Reviews the Journal and Open Items tabs of the booked invoice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SCR-NB-02_wt-a-step-01.png.</a:t>
            </a:r>
          </a:p>
          <a:p>
            <a:r>
              <a:t>Persona does: Opens Clients › New Client, enters the individual's identity, contact, address and segment, and clicks Save as prospect</a:t>
            </a:r>
          </a:p>
          <a:p>
            <a:r>
              <a:t>System does: Prospect created</a:t>
            </a:r>
          </a:p>
          <a:p>
            <a:r>
              <a:t>Shown: The Prospect saved panel with the prospect code PR-yyyy-nnnnnn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SCR-NB-03_wt-a-step-02.png.</a:t>
            </a:r>
          </a:p>
          <a:p>
            <a:r>
              <a:t>Persona does: Opens the client, uploads the KYC form and a valid ID on the KYC &amp; Documents tab and clicks Submit KYC</a:t>
            </a:r>
          </a:p>
          <a:p>
            <a:r>
              <a:t>System does: KYC review</a:t>
            </a:r>
          </a:p>
          <a:p>
            <a:r>
              <a:t>Shown: The checklist shows every document Uploaded; the workflow panel moves to KYC for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SCR-NB-03_wt-a-step-03.png.</a:t>
            </a:r>
          </a:p>
          <a:p>
            <a:r>
              <a:t>Persona does: Opens the client from My Work and clicks Verify KYC</a:t>
            </a:r>
          </a:p>
          <a:p>
            <a:r>
              <a:t>System does: KYC verified</a:t>
            </a:r>
          </a:p>
          <a:p>
            <a:r>
              <a:t>Shown: Toast: &lt;code&gt;: KYC verified, next review &lt;date&gt;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SCR-NB-03_wt-a-step-04.png.</a:t>
            </a:r>
          </a:p>
          <a:p>
            <a:r>
              <a:t>Persona does: Clicks Confirm client</a:t>
            </a:r>
          </a:p>
          <a:p>
            <a:r>
              <a:t>System does: Client confirmed</a:t>
            </a:r>
          </a:p>
          <a:p>
            <a:r>
              <a:t>Shown: Toast: Client confirmed as CL-yyyy-nnnnnn; the client code appears in the header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SCR-NB-06_wt-a-step-05.png.</a:t>
            </a:r>
          </a:p>
          <a:p>
            <a:r>
              <a:t>Persona does: Clicks Generate Quotation, checks the market segment taken from the client, chooses PAR01, the insurer and its branch, adds the location with its sum insured, reviews the live premium and clicks Submit for Review</a:t>
            </a:r>
          </a:p>
          <a:p>
            <a:r>
              <a:t>System does: Quotation for review</a:t>
            </a:r>
          </a:p>
          <a:p>
            <a:r>
              <a:t>Shown: Toast: QT-yyyy-nnnnnn submitted for review; the quotation shows For review</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SCR-NB-07_wt-a-step-06.png.</a:t>
            </a:r>
          </a:p>
          <a:p>
            <a:r>
              <a:t>Persona does: Opens the quotation from the For Review tab and clicks Approve</a:t>
            </a:r>
          </a:p>
          <a:p>
            <a:r>
              <a:t>System does: Quotation approved</a:t>
            </a:r>
          </a:p>
          <a:p>
            <a:r>
              <a:t>Shown: Toast: Approve: QT-yyyy-nnnnnn is now approved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SCR-NB-07_wt-a-step-07.png.</a:t>
            </a:r>
          </a:p>
          <a:p>
            <a:r>
              <a:t>Persona does: Clicks Send via Email, keeps the proposed e-mail and clicks Send</a:t>
            </a:r>
          </a:p>
          <a:p>
            <a:r>
              <a:t>System does: Sent to client</a:t>
            </a:r>
          </a:p>
          <a:p>
            <a:r>
              <a:t>Shown: The quotation is Sent to client; the E-mails tab lists the quotation e-mail and the password e-mail</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SCR-NB-07_wt-a-step-08.png.</a:t>
            </a:r>
          </a:p>
          <a:p>
            <a:r>
              <a:t>Persona does: Clicks Record acceptance, uploads the client's reply and clicks Record Acceptance, then Create accounts</a:t>
            </a:r>
          </a:p>
          <a:p>
            <a:r>
              <a:t>System does: Draft account created</a:t>
            </a:r>
          </a:p>
          <a:p>
            <a:r>
              <a:t>Shown: The quotation is Converted; the Control card lists the account ARN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SCR-NB-14_wt-a-step-09.png.</a:t>
            </a:r>
          </a:p>
          <a:p>
            <a:r>
              <a:t>Persona does: Opens the draft account, completes the mortgagee bank and PN number, reviews the completeness check and clicks Submit to Processing</a:t>
            </a:r>
          </a:p>
          <a:p>
            <a:r>
              <a:t>System does: Account submitted</a:t>
            </a:r>
          </a:p>
          <a:p>
            <a:r>
              <a:t>Shown: Complete: the account can be submitted; toast ARN-yyyy-nnnnnn submitted to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SCR-NB-15_wt-a-step-10.png.</a:t>
            </a:r>
          </a:p>
          <a:p>
            <a:r>
              <a:t>Persona does: Opens the account from My Work and clicks Validate</a:t>
            </a:r>
          </a:p>
          <a:p>
            <a:r>
              <a:t>System does: Account validated</a:t>
            </a:r>
          </a:p>
          <a:p>
            <a:r>
              <a:t>Shown: The account moves to Awaiting payment (CBG Fire) or Ready for placement (after the gate)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SCR-NB-21_wt-a-step-11.png.</a:t>
            </a:r>
          </a:p>
          <a:p>
            <a:r>
              <a:t>Persona does: Bills the account on CLPC Billing, downloads the file, uploads CLPC's payment report and confirms the matches</a:t>
            </a:r>
          </a:p>
          <a:p>
            <a:r>
              <a:t>System does: Ready for placement</a:t>
            </a:r>
          </a:p>
          <a:p>
            <a:r>
              <a:t>Shown: Payment Report: the line is Matched; Confirm Matches opens the payment gate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SCR-NB-18_wt-a-step-12.png.</a:t>
            </a:r>
          </a:p>
          <a:p>
            <a:r>
              <a:t>Persona does: Selects the account on the Placement Workbench, clicks For Placement, then Generate Slips, then Send Slips</a:t>
            </a:r>
          </a:p>
          <a:p>
            <a:r>
              <a:t>System does: Placed</a:t>
            </a:r>
          </a:p>
          <a:p>
            <a:r>
              <a:t>Shown: Generate Placement Slips shows every prerequisite valid; the result list shows the slip sent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SCR-NB-18_wt-a-step-12.png.</a:t>
            </a:r>
          </a:p>
          <a:p>
            <a:r>
              <a:t>Persona does: Selects the account on the Placement Workbench, clicks For Placement, then Generate Slips, then Send Slips</a:t>
            </a:r>
          </a:p>
          <a:p>
            <a:r>
              <a:t>System does: Placed</a:t>
            </a:r>
          </a:p>
          <a:p>
            <a:r>
              <a:t>Shown: Generate Placement Slips shows every prerequisite valid; the result list shows the slip sent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SCR-NB-18_wt-a-step-12.png.</a:t>
            </a:r>
          </a:p>
          <a:p>
            <a:r>
              <a:t>Persona does: Selects the account on the Placement Workbench, clicks For Placement, then Generate Slips, then Send Slips</a:t>
            </a:r>
          </a:p>
          <a:p>
            <a:r>
              <a:t>System does: Placed</a:t>
            </a:r>
          </a:p>
          <a:p>
            <a:r>
              <a:t>Shown: Generate Placement Slips shows every prerequisite valid; the result list shows the slip sent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SCR-NB-24_wt-a-step-13.png.</a:t>
            </a:r>
          </a:p>
          <a:p>
            <a:r>
              <a:t>Persona does: Uploads the insurer's e-policy PDF with the ARN</a:t>
            </a:r>
          </a:p>
          <a:p>
            <a:r>
              <a:t>System does: E-policy received</a:t>
            </a:r>
          </a:p>
          <a:p>
            <a:r>
              <a:t>Shown: Toast: &lt;file&gt; stored on ARN-yyyy-nnnnnn; the Extraction Review opens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SCR-NB-25_wt-a-step-14.png.</a:t>
            </a:r>
          </a:p>
          <a:p>
            <a:r>
              <a:t>Persona does: Checks the extracted policy number against the account and clicks Confirm Policy</a:t>
            </a:r>
          </a:p>
          <a:p>
            <a:r>
              <a:t>System does: Policy issued</a:t>
            </a:r>
          </a:p>
          <a:p>
            <a:r>
              <a:t>Shown: Policy &lt;no&gt; confirmed; the account is policy issued; the Insurance Advice is generated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SCR-NB-27_wt-a-step-15.png.</a:t>
            </a:r>
          </a:p>
          <a:p>
            <a:r>
              <a:t>Persona does: Sends the e-policy to the client from Ready to Dispatch</a:t>
            </a:r>
          </a:p>
          <a:p>
            <a:r>
              <a:t>System does: E-policy sent</a:t>
            </a:r>
          </a:p>
          <a:p>
            <a:r>
              <a:t>Shown: Toast: E-policy of ARN-yyyy-nnnnnn sent; the Dispatch Report shows it Queued, then Sent when the mail server has delivered it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SCR-NB-29_wt-a-step-16.png.</a:t>
            </a:r>
          </a:p>
          <a:p>
            <a:r>
              <a:t>Persona does: Opens the account from Ready to Book, checks the invoice and the journal preview, and clicks Book Account</a:t>
            </a:r>
          </a:p>
          <a:p>
            <a:r>
              <a:t>System does: Booked</a:t>
            </a:r>
          </a:p>
          <a:p>
            <a:r>
              <a:t>Shown: Toast: ARN-yyyy-nnnnnn booked as &lt;invoice&gt;; the Booked Invoice opens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SCR-NB-30_wt-a-step-17.png.</a:t>
            </a:r>
          </a:p>
          <a:p>
            <a:r>
              <a:t>Persona does: Reviews the Journal and Open Items tabs of the booked invoice</a:t>
            </a:r>
          </a:p>
          <a:p>
            <a:r>
              <a:t>System does: Hand-off to Accounting</a:t>
            </a:r>
          </a:p>
          <a:p>
            <a:r>
              <a:t>Shown: The GL entry and the receivable from the client, the payable to the insurer and the commission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account then follows the placement, issuance and booking steps of walkthrough A (steps 9 to 17).</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Opens New Proposal Request, chooses the client and CAR00, describes the risk, adds the item, ticks three insurers, attaches the mandatory documents and clicks Submit for Approval</a:t>
            </a:r>
          </a:p>
          <a:p>
            <a:r>
              <a:t>2. Marketing TL / TH / UH: Opens the PRF and clicks Approve and send to TSU</a:t>
            </a:r>
          </a:p>
          <a:p>
            <a:r>
              <a:t>3. Technical Support Unit: Claims the PRF on the TSU Workbench and opens it</a:t>
            </a:r>
          </a:p>
          <a:p>
            <a:r>
              <a:t>4. Technical Support Unit: Clicks Accept and Prepare Quotation Slip, confirms the insurers on the Quotation Slip tab and clicks Submit quotation slip with the reply date</a:t>
            </a:r>
          </a:p>
          <a:p>
            <a:r>
              <a:t>5. Technical Support Unit: A second TSU officer clicks Approve and send to insurers</a:t>
            </a:r>
          </a:p>
          <a:p>
            <a:r>
              <a:t>6. Technical Support Unit: Keys in the terms of each insurer on the Insurer Responses tab (one declines), recommends the lowest premium and clicks Insurer terms complete</a:t>
            </a:r>
          </a:p>
          <a:p>
            <a:r>
              <a:t>7. Technical Support Unit: Clicks Submit proposal slip for the recommended insurer; a second TSU officer approves and releases it</a:t>
            </a:r>
          </a:p>
          <a:p>
            <a:r>
              <a:t>8. Marketing Account Officer: Clicks Send via Email to send the proposal slip and the comparative table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Marketing Account Officer: Records the client's acceptance and clicks Create accounts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SCR-NB-10_wt-b-step-01.png.</a:t>
            </a:r>
          </a:p>
          <a:p>
            <a:r>
              <a:t>Persona does: Opens New Proposal Request, chooses the client and CAR00, describes the risk, adds the item, ticks three insurers, attaches the mandatory documents and clicks Submit for Approval</a:t>
            </a:r>
          </a:p>
          <a:p>
            <a:r>
              <a:t>System does: For Marketing approval</a:t>
            </a:r>
          </a:p>
          <a:p>
            <a:r>
              <a:t>Shown: Toast: PRF-yyyy-nnnnnn submitted for Marketing approval</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SCR-NB-11_wt-b-step-02.png.</a:t>
            </a:r>
          </a:p>
          <a:p>
            <a:r>
              <a:t>Persona does: Opens the PRF and clicks Approve and send to TSU</a:t>
            </a:r>
          </a:p>
          <a:p>
            <a:r>
              <a:t>System does: With TSU</a:t>
            </a:r>
          </a:p>
          <a:p>
            <a:r>
              <a:t>Shown: The PRF is Received by TSU</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SCR-NB-12_wt-b-step-03.png.</a:t>
            </a:r>
          </a:p>
          <a:p>
            <a:r>
              <a:t>Persona does: Claims the PRF on the TSU Workbench and opens it</a:t>
            </a:r>
          </a:p>
          <a:p>
            <a:r>
              <a:t>System does: Assigned</a:t>
            </a:r>
          </a:p>
          <a:p>
            <a:r>
              <a:t>Shown: Toast: PRF-yyyy-nnnnnn is now yours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SCR-NB-12_wt-b-step-03.png.</a:t>
            </a:r>
          </a:p>
          <a:p>
            <a:r>
              <a:t>Persona does: Claims the PRF on the TSU Workbench and opens it</a:t>
            </a:r>
          </a:p>
          <a:p>
            <a:r>
              <a:t>System does: Assigned</a:t>
            </a:r>
          </a:p>
          <a:p>
            <a:r>
              <a:t>Shown: Toast: PRF-yyyy-nnnnnn is now yours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SCR-NB-11_wt-b-step-04.png.</a:t>
            </a:r>
          </a:p>
          <a:p>
            <a:r>
              <a:t>Persona does: Clicks Accept and Prepare Quotation Slip, confirms the insurers on the Quotation Slip tab and clicks Submit quotation slip with the reply date</a:t>
            </a:r>
          </a:p>
          <a:p>
            <a:r>
              <a:t>System does: QS for approval</a:t>
            </a:r>
          </a:p>
          <a:p>
            <a:r>
              <a:t>Shown: The PRF is Quotation slip for approval with its QS number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SCR-NB-11_wt-b-step-05.png.</a:t>
            </a:r>
          </a:p>
          <a:p>
            <a:r>
              <a:t>Persona does: A second TSU officer clicks Approve and send to insurers</a:t>
            </a:r>
          </a:p>
          <a:p>
            <a:r>
              <a:t>System does: QS sent</a:t>
            </a:r>
          </a:p>
          <a:p>
            <a:r>
              <a:t>Shown: The PRF is Awaiting insurer terms; the E-mails tab lists one e-mail per insurer</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SCR-NB-11_wt-b-step-06.png.</a:t>
            </a:r>
          </a:p>
          <a:p>
            <a:r>
              <a:t>Persona does: Keys in the terms of each insurer on the Insurer Responses tab (one declines), recommends the lowest premium and clicks Insurer terms complete</a:t>
            </a:r>
          </a:p>
          <a:p>
            <a:r>
              <a:t>System does: Terms received</a:t>
            </a:r>
          </a:p>
          <a:p>
            <a:r>
              <a:t>Shown: The responses and the Comparative Table with the lowest premium marked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SCR-NB-11_wt-b-step-07.png.</a:t>
            </a:r>
          </a:p>
          <a:p>
            <a:r>
              <a:t>Persona does: Clicks Submit proposal slip for the recommended insurer; a second TSU officer approves and releases it</a:t>
            </a:r>
          </a:p>
          <a:p>
            <a:r>
              <a:t>System does: PS released</a:t>
            </a:r>
          </a:p>
          <a:p>
            <a:r>
              <a:t>Shown: The PRF is Proposal slip released to Marketing with its PS number</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SCR-NB-11_wt-b-step-08.png.</a:t>
            </a:r>
          </a:p>
          <a:p>
            <a:r>
              <a:t>Persona does: Clicks Send via Email to send the proposal slip and the comparative table to the client</a:t>
            </a:r>
          </a:p>
          <a:p>
            <a:r>
              <a:t>System does: Sent to client</a:t>
            </a:r>
          </a:p>
          <a:p>
            <a:r>
              <a:t>Shown: The PRF is Sent to client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SCR-NB-11_wt-b-step-09.png.</a:t>
            </a:r>
          </a:p>
          <a:p>
            <a:r>
              <a:t>Persona does: Records the client's acceptance and clicks Create accounts</a:t>
            </a:r>
          </a:p>
          <a:p>
            <a:r>
              <a:t>System does: Account created</a:t>
            </a:r>
          </a:p>
          <a:p>
            <a:r>
              <a:t>Shown: The PRF is Converted; the account is created in draft under the PRF's ARN with the chosen insurer's rate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paths where a record goes back to its maker: a KYC returned by the verifier, a quotation returned by the approver, an account returned by Processing, and an account returned by the insurer, with the messages and notices on screen.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Clicks Submit KYC on a prospect without the mandatory documents</a:t>
            </a:r>
          </a:p>
          <a:p>
            <a:r>
              <a:t>2. Marketing TL / TH / UH: Opens a client in KYC review and clicks Return To Account Officer, selects the reason and writes the comment</a:t>
            </a:r>
          </a:p>
          <a:p>
            <a:r>
              <a:t>3. Marketing TL / TH / UH: Makes a quotation, submits it for review and then tries to approve it himself</a:t>
            </a:r>
          </a:p>
          <a:p>
            <a:r>
              <a:t>4. Marketing TL / TH / UH: Clicks Return To Maker on the quotation with the reason Rate or terms to be reviewed</a:t>
            </a:r>
          </a:p>
          <a:p>
            <a:r>
              <a:t>5. Processing: Clicks Validate on an account whose client is not confirmed (the Account Officer submitted it with the valid ID attached)</a:t>
            </a:r>
          </a:p>
          <a:p>
            <a:r>
              <a:t>6. Processing: Clicks Return To Marketing with the reason Missing supporting documents</a:t>
            </a:r>
          </a:p>
          <a:p>
            <a:r>
              <a:t>7. Marketing Account Officer: Opens the Returned to Me tab, opens the account, attaches the document and clicks Resubmit to Processing</a:t>
            </a:r>
          </a:p>
          <a:p>
            <a:r>
              <a:t>8. Processing: Records an insurer return on a placed account with the reason Additional insurer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Processing: Clicks Resubmit for Placement, then Generate Placement Slip, and sends the new slip from the Placement Slips tab</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SCR-NB-03_wt-c-step-01.png.</a:t>
            </a:r>
          </a:p>
          <a:p>
            <a:r>
              <a:t>Persona does: Clicks Submit KYC on a prospect without the mandatory documents</a:t>
            </a:r>
          </a:p>
          <a:p>
            <a:r>
              <a:t>System does: Refused</a:t>
            </a:r>
          </a:p>
          <a:p>
            <a:r>
              <a:t>Shown: Message: Upload the mandatory KYC documents before you submit the KYC: &lt;documents&gt;</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SCR-NB-03_wt-c-step-02.png.</a:t>
            </a:r>
          </a:p>
          <a:p>
            <a:r>
              <a:t>Persona does: Opens a client in KYC review and clicks Return To Account Officer, selects the reason and writes the comment</a:t>
            </a:r>
          </a:p>
          <a:p>
            <a:r>
              <a:t>System does: KYC returned</a:t>
            </a:r>
          </a:p>
          <a:p>
            <a:r>
              <a:t>Shown: The client is back to Prospect; the Account Officer's bell shows the notice with the comment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SCR-NB-07_wt-c-step-03.png.</a:t>
            </a:r>
          </a:p>
          <a:p>
            <a:r>
              <a:t>Persona does: Makes a quotation, submits it for review and then tries to approve it himself</a:t>
            </a:r>
          </a:p>
          <a:p>
            <a:r>
              <a:t>System does: Refused</a:t>
            </a:r>
          </a:p>
          <a:p>
            <a:r>
              <a:t>Shown: Message: A quotation is approved by someone other than its maker</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SCR-NB-07_wt-c-step-04.png.</a:t>
            </a:r>
          </a:p>
          <a:p>
            <a:r>
              <a:t>Persona does: Clicks Return To Maker on the quotation with the reason Rate or terms to be reviewed</a:t>
            </a:r>
          </a:p>
          <a:p>
            <a:r>
              <a:t>System does: Quotation returned</a:t>
            </a:r>
          </a:p>
          <a:p>
            <a:r>
              <a:t>Shown: The quotation is a Draft again; the History tab shows the reason and comment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SCR-NB-15_wt-c-step-05.png.</a:t>
            </a:r>
          </a:p>
          <a:p>
            <a:r>
              <a:t>Persona does: Clicks Validate on an account whose client is not confirmed (the Account Officer submitted it with the valid ID attached)</a:t>
            </a:r>
          </a:p>
          <a:p>
            <a:r>
              <a:t>System does: Refused</a:t>
            </a:r>
          </a:p>
          <a:p>
            <a:r>
              <a:t>Shown: Message: Client &lt;code&gt; is not yet confirmed (onboarding and KYC incomplete)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SCR-NB-15_wt-c-step-06.png.</a:t>
            </a:r>
          </a:p>
          <a:p>
            <a:r>
              <a:t>Persona does: Clicks Return To Marketing with the reason Missing supporting documents</a:t>
            </a:r>
          </a:p>
          <a:p>
            <a:r>
              <a:t>System does: Account returned</a:t>
            </a:r>
          </a:p>
          <a:p>
            <a:r>
              <a:t>Shown: The account is Returned to Marketing</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SCR-NB-13_wt-c-step-07.png.</a:t>
            </a:r>
          </a:p>
          <a:p>
            <a:r>
              <a:t>Persona does: Opens the Returned to Me tab, opens the account, attaches the document and clicks Resubmit to Processing</a:t>
            </a:r>
          </a:p>
          <a:p>
            <a:r>
              <a:t>System does: Resubmitted</a:t>
            </a:r>
          </a:p>
          <a:p>
            <a:r>
              <a:t>Shown: Toast: ARN-yyyy-nnnnnn submitted to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SCR-NB-19_wt-c-step-08.png.</a:t>
            </a:r>
          </a:p>
          <a:p>
            <a:r>
              <a:t>Persona does: Records an insurer return on a placed account with the reason Additional insurer requirements</a:t>
            </a:r>
          </a:p>
          <a:p>
            <a:r>
              <a:t>System does: Returned by insurer</a:t>
            </a:r>
          </a:p>
          <a:p>
            <a:r>
              <a:t>Shown: The account is Returned by insurer; the Insurer Returns tab lists the return</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SCR-NB-19_wt-c-step-09.png.</a:t>
            </a:r>
          </a:p>
          <a:p>
            <a:r>
              <a:t>Persona does: Clicks Resubmit for Placement, then Generate Placement Slip, and sends the new slip from the Placement Slips tab</a:t>
            </a:r>
          </a:p>
          <a:p>
            <a:r>
              <a:t>System does: Placed again</a:t>
            </a:r>
          </a:p>
          <a:p>
            <a:r>
              <a:t>Shown: The account is back For placement; the slip is generated again as its next version (PL-yyyy-nnnnnn v2) and sent; the earlier version shows Superseded</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SCR-NB-01: SCR-NB-01_list.png, SCR-NB-01_filters.png, SCR-NB-01_empty.png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SCR-NB-01_list.png;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SCR-NB-01_filters.png;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SCR-NB-01_filters.png;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SCR-NB-01_filters.png;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SCR-NB-01_filters.png;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SCR-NB-01_filters.png; FRS section 13.1.1.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SCR-NB-01_empty.png; FRS section 13.1.1.</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SCR-NB-02: SCR-NB-02_empty.png, SCR-NB-02_filled.png, SCR-NB-02_error.png, SCR-NB-02_duplicate.png, SCR-NB-02_wt-a-step-01.png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SCR-NB-02_filled.png;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SCR-NB-02_filled.png;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SCR-NB-02_filled.png;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SCR-NB-02_error.png;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SCR-NB-02_error.png;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SCR-NB-02_error.png;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SCR-NB-02_duplicate.png;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SCR-NB-02_duplicate.png;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SCR-NB-02_duplicate.png;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SCR-NB-02_empty.png;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SCR-NB-02_empty.png;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SCR-NB-02_empty.png; FRS section 13.1.2.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SCR-NB-03: SCR-NB-03_record.png, SCR-NB-03_kyc.png, SCR-NB-03_notes.png, SCR-NB-03_approval.png, SCR-NB-03_wt-a-step-02.png, SCR-NB-03_wt-a-step-03.png, SCR-NB-03_wt-a-step-04.png, SCR-NB-03_wt-c-step-01.png, SCR-NB-03_wt-c-step-02.png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SCR-NB-03_record.png;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SCR-NB-03_record.png;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SCR-NB-03_record.png;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SCR-NB-03_kyc.png;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SCR-NB-03_kyc.png;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SCR-NB-03_kyc.png;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SCR-NB-03_kyc.png;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SCR-NB-03_notes.png;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SCR-NB-03_notes.png;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SCR-NB-03_notes.png;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SCR-NB-03_approval.png; FRS section 13.1.3.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SCR-NB-03_approval.png; FRS section 13.1.3.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SCR-NB-03_approval.png; FRS section 13.1.3.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SCR-NB-03_approval.png; FRS section 13.1.3.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SCR-NB-04: SCR-NB-04_list.png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SCR-NB-04_list.png; FRS section 13.1.4.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SCR-NB-05: SCR-NB-05_list.png, SCR-NB-05_review.png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SCR-NB-05_list.png; FRS section 13.2.1.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SCR-NB-05_list.png; FRS section 13.2.1.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SCR-NB-05_review.png; FRS section 13.2.1.</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SCR-NB-05_review.png; FRS section 13.2.1.</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SCR-NB-06: SCR-NB-06_empty.png, SCR-NB-06_terms.png, SCR-NB-06_items.png, SCR-NB-06_error.png, SCR-NB-06_wt-a-step-05.png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SCR-NB-06_terms.png;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SCR-NB-06_items.png;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SCR-NB-06_items.png;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SCR-NB-06_items.png;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SCR-NB-06_error.png;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SCR-NB-06_error.png;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SCR-NB-06_empty.png; FRS section 13.2.2.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SCR-NB-07: SCR-NB-07_record.png, SCR-NB-07_items.png, SCR-NB-07_approval.png, SCR-NB-07_send.png, SCR-NB-07_wt-a-step-06.png, SCR-NB-07_wt-a-step-07.png, SCR-NB-07_wt-a-step-08.png, SCR-NB-07_wt-c-step-03.png, SCR-NB-07_wt-c-step-04.png, SCR-NB-07_auditor.png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SCR-NB-07_record.png;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SCR-NB-07_record.png;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SCR-NB-07_record.png;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SCR-NB-07_items.png;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SCR-NB-07_items.png;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SCR-NB-07_items.png;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SCR-NB-07_send.png;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SCR-NB-07_send.png;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SCR-NB-07_send.png; FRS section 13.2.3.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SCR-NB-07_auditor.png; FRS section 13.2.3.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SCR-NB-07_auditor.png; FRS section 13.2.3.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SCR-NB-07_auditor.png; FRS section 13.2.3.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SCR-NB-07_approval.png; FRS section 13.2.3.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SCR-NB-07_approval.png; FRS section 13.2.3.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SCR-NB-07_approval.png; FRS section 13.2.3.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SCR-NB-08: SCR-NB-08_list.png, SCR-NB-08_capture.png, SCR-NB-08_close.png, SCR-NB-08_actions.png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SCR-NB-08_list.png; FRS section 13.2.4.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SCR-NB-08_capture.png; FRS section 13.2.4.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SCR-NB-08_capture.png; FRS section 13.2.4.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SCR-NB-08_actions.png; FRS section 13.2.4.</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SCR-NB-08_close.png; FRS section 13.2.4.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SCR-NB-09: SCR-NB-09_list.png, SCR-NB-09_tsu.png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SCR-NB-09_list.png; FRS section 13.3.1.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SCR-NB-09_tsu.png; FRS section 13.3.1.</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SCR-NB-10: SCR-NB-10_empty.png, SCR-NB-10_filled.png, SCR-NB-10_error.png, SCR-NB-10_wt-b-step-01.png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SCR-NB-10_filled.png;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SCR-NB-10_filled.png;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SCR-NB-10_filled.png;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SCR-NB-10_filled.png;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SCR-NB-10_error.png;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SCR-NB-10_error.png;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SCR-NB-10_error.png;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SCR-NB-10_error.png;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SCR-NB-10_empty.png;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SCR-NB-10_empty.png;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SCR-NB-10_empty.png;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SCR-NB-10_empty.png; FRS section 13.3.2.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SCR-NB-11: SCR-NB-11_record.png, SCR-NB-11_qs.png, SCR-NB-11_responses.png, SCR-NB-11_comparative.png, SCR-NB-11_terms.png, SCR-NB-11_wt-b-step-02.png, SCR-NB-11_wt-b-step-04.png, SCR-NB-11_wt-b-step-05.png, SCR-NB-11_wt-b-step-06.png, SCR-NB-11_wt-b-step-07.png, SCR-NB-11_wt-b-step-08.png, SCR-NB-11_wt-b-step-09.png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SCR-NB-11_record.png; FRS section 13.3.3.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SCR-NB-11_record.png; FRS section 13.3.3.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SCR-NB-11_record.png; FRS section 13.3.3.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SCR-NB-11_record.png; FRS section 13.3.3.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SCR-NB-11_qs.png;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SCR-NB-11_qs.png;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SCR-NB-11_qs.png;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SCR-NB-11_responses.png;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SCR-NB-11_responses.png;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SCR-NB-11_responses.png;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SCR-NB-11_responses.png;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SCR-NB-11_comparative.png;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SCR-NB-11_comparative.png;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SCR-NB-11_comparative.png;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SCR-NB-11_terms.png; FRS section 13.3.3.</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SCR-NB-12: SCR-NB-12_list.png, SCR-NB-12_wt-b-step-03.png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SCR-NB-12_list.png; FRS section 13.3.4.</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SCR-NB-12_list.png; FRS section 13.3.4.</a:t>
            </a:r>
          </a:p>
          <a:p>
            <a:r>
              <a:t>Personas: Technical Support Unit.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SCR-NB-13: SCR-NB-13_list.png, SCR-NB-13_returned.png, SCR-NB-13_filters.png, SCR-NB-13_wt-c-step-07.png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SCR-NB-13_list.png;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SCR-NB-13_list.png;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SCR-NB-13_list.png;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SCR-NB-13_list.png;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SCR-NB-13_filters.png;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SCR-NB-13_filters.png;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SCR-NB-13_filters.png;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SCR-NB-13_filters.png;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SCR-NB-13_returned.png; FRS section 13.4.1.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SCR-NB-14: SCR-NB-14_empty.png, SCR-NB-14_period.png, SCR-NB-14_review.png, SCR-NB-14_duplicate.png, SCR-NB-14_wt-a-step-09.png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SCR-NB-14_period.png;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SCR-NB-14_duplicate.png;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SCR-NB-14_review.png;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SCR-NB-14_review.png;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SCR-NB-14_review.png;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SCR-NB-14_empty.png; FRS section 13.4.2.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SCR-NB-15: SCR-NB-15_record.png, SCR-NB-15_processing.png, SCR-NB-15_return.png, SCR-NB-15_wt-a-step-10.png, SCR-NB-15_wt-c-step-05.png, SCR-NB-15_wt-c-step-06.png, SCR-NB-15_auditor.png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SCR-NB-15_record.png; FRS section 13.4.3.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SCR-NB-15_record.png; FRS section 13.4.3.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SCR-NB-15_record.png; FRS section 13.4.3.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SCR-NB-15_record.png; FRS section 13.4.3.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SCR-NB-15_return.png;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SCR-NB-15_auditor.png; FRS section 13.4.3.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SCR-NB-15_auditor.png; FRS section 13.4.3.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SCR-NB-15_auditor.png; FRS section 13.4.3.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SCR-NB-15_auditor.png; FRS section 13.4.3.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SCR-NB-15_processing.png;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SCR-NB-15_processing.png;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SCR-NB-15_processing.png;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SCR-NB-15_processing.png; FRS section 13.4.3.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SCR-NB-16: SCR-NB-16_list.png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SCR-NB-16_list.png; FRS section 13.4.4.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SCR-NB-17: SCR-NB-17_list.png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SCR-NB-17_list.png; FRS section 13.4.5.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SCR-NB-17_list.png; FRS section 13.4.5.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SCR-NB-18: SCR-NB-18_list.png, SCR-NB-18_generate.png, SCR-NB-18_cancelled.png, SCR-NB-18_wt-a-step-12.png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SCR-NB-18_list.png;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SCR-NB-18_list.png;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SCR-NB-18_list.png;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SCR-NB-18_list.png;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SCR-NB-18_generate.png;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SCR-NB-18_cancelled.png;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SCR-NB-18_cancelled.png; FRS section 13.5.1.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SCR-NB-19: SCR-NB-19_gate.png, SCR-NB-19_hold.png, SCR-NB-19_confirm.png, SCR-NB-19_wt-c-step-08.png, SCR-NB-19_wt-c-step-09.png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SCR-NB-19_gate.png;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SCR-NB-19_gate.png;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SCR-NB-19_gate.png;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SCR-NB-19_hold.png;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SCR-NB-19_hold.png;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SCR-NB-19_hold.png;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SCR-NB-19_confirm.png; FRS section 13.5.2.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SCR-NB-20: SCR-NB-20_list.png, SCR-NB-20_send.png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SCR-NB-20_list.png;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SCR-NB-20_list.png;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SCR-NB-20_send.png;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SCR-NB-20_send.png;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SCR-NB-20_send.png; FRS section 13.5.3.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SCR-NB-21: SCR-NB-21_list.png, SCR-NB-21_upload.png, SCR-NB-21_wt-a-step-11.png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SCR-NB-21_list.png; FRS section 13.5.4.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SCR-NB-21_list.png; FRS section 13.5.4.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SCR-NB-21_upload.png; FRS section 13.5.4.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SCR-NB-22: SCR-NB-22_review.png, SCR-NB-22_match.png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SCR-NB-22_match.png; FRS section 13.5.5.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SCR-NB-22_review.png; FRS section 13.5.5.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SCR-NB-23: SCR-NB-23_list.png, SCR-NB-23_review.png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SCR-NB-23_review.png; FRS section 13.6.1.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SCR-NB-23_list.png; FRS section 13.6.1.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SCR-NB-24: SCR-NB-24_empty.png, SCR-NB-24_bulk.png, SCR-NB-24_wt-a-step-13.png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SCR-NB-24_bulk.png;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SCR-NB-24_bulk.png;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SCR-NB-24_bulk.png;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SCR-NB-24_empty.png;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SCR-NB-24_empty.png; FRS section 13.6.2.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SCR-NB-25: SCR-NB-25_review.png, SCR-NB-25_wt-a-step-14.png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SCR-NB-25_review.png; FRS section 13.6.3.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SCR-NB-25_review.png; FRS section 13.6.3.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SCR-NB-26: SCR-NB-26_list.png, SCR-NB-26_send.png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SCR-NB-26_list.png; FRS section 13.6.4.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SCR-NB-26_send.png; FRS section 13.6.4.</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SCR-NB-27: SCR-NB-27_list.png, SCR-NB-27_report.png, SCR-NB-27_wt-a-step-15.png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SCR-NB-27_list.png; FRS section 13.6.5.</a:t>
            </a:r>
          </a:p>
          <a:p>
            <a:r>
              <a:t>Personas: E-policy Sender.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SCR-NB-27_report.png; FRS section 13.6.5.</a:t>
            </a:r>
          </a:p>
          <a:p>
            <a:r>
              <a:t>Personas: E-policy Sender.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SCR-NB-28: SCR-NB-28_list.png, SCR-NB-28_queued.png, SCR-NB-28_booknow.png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SCR-NB-28_list.png; FRS section 13.7.1.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SCR-NB-28_list.png; FRS section 13.7.1.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SCR-NB-28_queued.png; FRS section 13.7.1.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SCR-NB-28_booknow.png; FRS section 13.7.1.</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SCR-NB-29: SCR-NB-29_record.png, SCR-NB-29_wt-a-step-16.png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SCR-NB-29_record.png; FRS section 13.7.2.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SCR-NB-29_record.png; FRS section 13.7.2.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SCR-NB-29_record.png; FRS section 13.7.2.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SCR-NB-29_record.png; FRS section 13.7.2.</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SCR-NB-30: SCR-NB-30_record.png, SCR-NB-30_cancel.png, SCR-NB-30_wt-a-step-17.png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SCR-NB-30_record.png; FRS section 13.7.3.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SCR-NB-30_record.png; FRS section 13.7.3.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SCR-NB-30_record.png; FRS section 13.7.3.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SCR-NB-30_record.png; FRS section 13.7.3.</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SCR-NB-30_cancel.png; FRS section 13.7.3.</a:t>
            </a:r>
          </a:p>
          <a:p>
            <a:r>
              <a:t>Personas: Adjustment.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SCR-NB-31: SCR-NB-31_list.png, SCR-NB-31_new.png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SCR-NB-31_list.png; FRS section 13.7.4.</a:t>
            </a:r>
          </a:p>
          <a:p>
            <a:r>
              <a:t>Personas: Adjustment.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SCR-NB-31_new.png; FRS section 13.7.4.</a:t>
            </a:r>
          </a:p>
          <a:p>
            <a:r>
              <a:t>Personas: Adjustment.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SCR-NB-32: SCR-NB-32_list.png, SCR-NB-32_record.png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SCR-NB-32_list.png;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SCR-NB-32_list.png;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SCR-NB-32_list.png;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SCR-NB-32_record.png;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SCR-NB-32_record.png; FRS section 13.7.5.</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SCR-NB-33: SCR-NB-33_list.png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SCR-NB-33_list.png; FRS section 13.7.6.</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SCR-NB-34: SCR-NB-34_list.png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SCR-NB-34_list.png; FRS section 13.7.7.</a:t>
            </a:r>
          </a:p>
          <a:p>
            <a:r>
              <a:t>Personas: Processing.</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SCR-NB-35: SCR-NB-35_list.png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SCR-NB-35_list.png; FRS section 13.8.1.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SCR-NB-35_list.png; FRS section 13.8.1.</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SCR-NB-36: SCR-NB-36_empty.png, SCR-NB-36_review.png, SCR-NB-36_processed.png, SCR-NB-36_errorfile.png, SCR-NB-36_corrected.png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SCR-NB-36_review.png;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SCR-NB-36_review.png;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SCR-NB-36_processed.png;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SCR-NB-36_processed.png;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SCR-NB-36_corrected.png;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SCR-NB-36_corrected.png;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SCR-NB-36_empty.png;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SCR-NB-36_empty.png;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SCR-NB-36_errorfile.png; FRS section 13.8.2.</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SCR-NB-37: SCR-NB-37_list.png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SCR-NB-37_list.png; FRS section 13.8.3.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SCR-NB-37_list.png; FRS section 13.8.3.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SCR-NB-37_list.png; FRS section 13.8.3.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SCR-NB-37_list.png; FRS section 13.8.3.</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SCR-NB-38: SCR-NB-38_list.png, SCR-NB-38_assign.png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SCR-NB-38_list.png; FRS section 13.8.4.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SCR-NB-38_list.png; FRS section 13.8.4.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SCR-NB-38_list.png; FRS section 13.8.4.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SCR-NB-38_list.png; FRS section 13.8.4.</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SCR-NB-38_assign.png; FRS section 13.8.4.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SCR-NB-39: SCR-NB-39_list.png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SCR-NB-39_list.png; FRS section 13.8.5.</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SCR-NB-40: SCR-NB-40_list.png, SCR-NB-40_run.png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SCR-NB-40_list.png;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SCR-NB-40_list.png;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SCR-NB-40_list.png;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SCR-NB-40_run.png;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SCR-NB-40_run.png;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SCR-NB-40_run.png;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SCR-NB-40_run.png;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SCR-NB-40_run.png; FRS section 13.8.6.</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SCR-NB-41: SCR-NB-41_list.png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SCR-NB-41_list.png; FRS section 13.8.7.</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SCR-NB-42: SCR-NB-42_list.png, SCR-NB-42_new.png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SCR-NB-42_list.png;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SCR-NB-42_list.png;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SCR-NB-42_list.png;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SCR-NB-42_list.png;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SCR-NB-42_new.png; FRS section 13.8.8.</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SCR-NB-43: SCR-NB-43_list.png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SCR-NB-43_list.png; FRS section 13.8.9.</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SCR-NB-43_list.png; FRS section 13.8.9.</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SCR-NB-43_list.png; FRS section 13.8.9.</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SCR-NB-44: SCR-NB-44_list.png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SCR-NB-44_list.png; FRS section 13.8.10.</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SCR-NB-44_list.png; FRS section 13.8.10.</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SCR-NB-44_list.png; FRS section 13.8.10.</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SCR-NB-44_list.png; FRS section 13.8.10.</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SCR-NB-45: SCR-NB-45_list.png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SCR-NB-45_list.png; FRS section 13.8.11.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SCR-NB-45_list.png; FRS section 13.8.11.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SCR-NB-45_list.png; FRS section 13.8.11.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SCR-NB-45_list.png; FRS section 13.8.11.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SCR-NB-46: SCR-NB-46_empty.png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SCR-NB-46_empty.png; FRS section 13.8.12.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Quotation: Quotation no., ARN, Version, Client (code – name), Product, Insurer (or To be advised), Period, Valid until, Premium payment (Via BDOI / Directly to the insurer) – from the quotation; Risk items: #, Group, Risk, Sum insured, Rate %, Premium – from the current version's items; Premium: Net premium, Documentary stamp tax, Premium tax, VAT, Fire service tax, Local government tax, Gross premium – from the premium computation (Appendix A); Letter text and terms and conditions – from the templates QUOTATION_LETTER and QUOTATION_TERMS in force; Signatures: Prepared by, Approved by – the maker and the approver</a:t>
            </a:r>
          </a:p>
        </p:txBody>
      </p:sp>
      <p:sp>
        <p:nvSpPr>
          <p:cNvPr id="4" name="Slide Number Placeholder 3"/>
          <p:cNvSpPr>
            <a:spLocks noGrp="1"/>
          </p:cNvSpPr>
          <p:nvPr>
            <p:ph type="sldNum" idx="5" sz="quarter"/>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QS number, PRF, ARN, client, product, period, reply date – from the PRF and the slip; Risk details and risk items with sums insured – from the PRF; Request text with the reply date – from the template QUOTATION_SLIP</a:t>
            </a:r>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One row per insurer: Insurer, Response, Premium (lowest marked), Rate %, Deductibles, Conditions, Valid until, Remarks – from the insurer responses; Recommended insurer – from the TSU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PRF, ARN, Client, Product, Period, Total sum insured – from the PRF; Insurer and proposed terms: Rate %, Deductibles, Conditions, Valid until – from the chosen insurer's response; Risk items – from the PRF; text from the template PROPOSAL_SLIP; Signatures: Prepared by, Approved by – the TSU preparer and approver</a:t>
            </a:r>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Slip, Insurer, Branch – from the slip and the insurer master; Accounts: ARN, Insured, Product, Period, Sum insured, Gross premium; hold cover when requested – from the accounts; Excel: Slip No., ARN, Client Code, Insured, Product, Line, Cover Type, Period From, Period To, Sum Insured, Net Premium, Gross Premium, Mortgagee Bank, Risk Items; Placement text – from the template PLACEMENT_SLIP</a:t>
            </a:r>
          </a:p>
        </p:txBody>
      </p:sp>
      <p:sp>
        <p:nvSpPr>
          <p:cNvPr id="4" name="Slide Number Placeholder 3"/>
          <p:cNvSpPr>
            <a:spLocks noGrp="1"/>
          </p:cNvSpPr>
          <p:nvPr>
            <p:ph type="sldNum" idx="5" sz="quarter"/>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ARN, insured, insurer, start of the hold cover and its expiry (HOLD_COVER_DAYS) – from the account and the request; Request text – from the template HOLD_COVER_REQUEST</a:t>
            </a:r>
          </a:p>
        </p:txBody>
      </p:sp>
      <p:sp>
        <p:nvSpPr>
          <p:cNvPr id="4" name="Slide Number Placeholder 3"/>
          <p:cNvSpPr>
            <a:spLocks noGrp="1"/>
          </p:cNvSpPr>
          <p:nvPr>
            <p:ph type="sldNum" idx="5" sz="quarter"/>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DO-07_document.png.</a:t>
            </a:r>
          </a:p>
          <a:p>
            <a:r>
              <a:t>Fields: IA number, Account Reference Number, Insured, Insurer, Policy no., Period, Mortgagee, Loan application no. – from the account and the issued policy; Insured items: No., Item, Sum insured – from the account's risk items; Advice text – from the template INSURANCE_ADVICE; Authorized signatory</a:t>
            </a:r>
          </a:p>
        </p:txBody>
      </p:sp>
      <p:sp>
        <p:nvSpPr>
          <p:cNvPr id="4" name="Slide Number Placeholder 3"/>
          <p:cNvSpPr>
            <a:spLocks noGrp="1"/>
          </p:cNvSpPr>
          <p:nvPr>
            <p:ph type="sldNum" idx="5" sz="quarter"/>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DO-08_document.png.</a:t>
            </a:r>
          </a:p>
          <a:p>
            <a:r>
              <a:t>Fields: Service invoice no., Recipient, Code, Issue date, Booked invoice, Account (ARN), Credit of – from the service invoice; Lines: Brokerage commission, VAT on commission, Less withholding tax, Net amount – from the booking's commission (BOOKING_WTAX_RATE); Signatures: Prepared by,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DO-09_document.png.</a:t>
            </a:r>
          </a:p>
          <a:p>
            <a:r>
              <a:t>Fields: Columns: PN No., Loan Application No., Booking Date, Borrower, Originating Unit, Premium, Reference (the ARN), BDOI Location, Amortised – from the CBG Fire accounts of the batch</a:t>
            </a:r>
          </a:p>
        </p:txBody>
      </p:sp>
      <p:sp>
        <p:nvSpPr>
          <p:cNvPr id="4" name="Slide Number Placeholder 3"/>
          <p:cNvSpPr>
            <a:spLocks noGrp="1"/>
          </p:cNvSpPr>
          <p:nvPr>
            <p:ph type="sldNum" idx="5" sz="quarter"/>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DO-10_document.png.</a:t>
            </a:r>
          </a:p>
          <a:p>
            <a:r>
              <a:t>Fields: Header: report title, company, parameters, run by and time; columns of each report as in section Reports and documents of the FRS</a:t>
            </a:r>
          </a:p>
        </p:txBody>
      </p:sp>
      <p:sp>
        <p:nvSpPr>
          <p:cNvPr id="4" name="Slide Number Placeholder 3"/>
          <p:cNvSpPr>
            <a:spLocks noGrp="1"/>
          </p:cNvSpPr>
          <p:nvPr>
            <p:ph type="sldNum" idx="5" sz="quarter"/>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4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8.png"/><Relationship Id="rId4"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9.png"/><Relationship Id="rId4"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7.png"/><Relationship Id="rId4"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6.png"/><Relationship Id="rId4"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5.png"/><Relationship Id="rId4"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6.png"/><Relationship Id="rId4"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9.png"/><Relationship Id="rId4"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2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2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3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3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3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3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3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3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3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3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3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4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4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4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4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4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4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4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4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50.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5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5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5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5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5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5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5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6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6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6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6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6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6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6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6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68.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69.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70.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7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7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7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75.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7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78.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79.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80.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8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8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8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8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8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8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8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9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93.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94.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9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96.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9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98.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199.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200.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20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20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03.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04.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05.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0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08.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09.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10.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11.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1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14.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15.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18.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19.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20.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21.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2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2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24.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25.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26.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2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28.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29.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3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3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3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3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3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3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3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3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4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4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4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4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4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4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7.png"/><Relationship Id="rId4" Type="http://schemas.openxmlformats.org/officeDocument/2006/relationships/notesSlide" Target="../notesSlides/notesSlide24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8.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8.png"/><Relationship Id="rId4" Type="http://schemas.openxmlformats.org/officeDocument/2006/relationships/notesSlide" Target="../notesSlides/notesSlide249.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9.png"/><Relationship Id="rId4" Type="http://schemas.openxmlformats.org/officeDocument/2006/relationships/notesSlide" Target="../notesSlides/notesSlide250.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0.png"/><Relationship Id="rId4" Type="http://schemas.openxmlformats.org/officeDocument/2006/relationships/notesSlide" Target="../notesSlides/notesSlide253.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1.png"/><Relationship Id="rId4" Type="http://schemas.openxmlformats.org/officeDocument/2006/relationships/notesSlide" Target="../notesSlides/notesSlide254.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2.png"/><Relationship Id="rId4" Type="http://schemas.openxmlformats.org/officeDocument/2006/relationships/notesSlide" Target="../notesSlides/notesSlide255.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3.png"/><Relationship Id="rId4" Type="http://schemas.openxmlformats.org/officeDocument/2006/relationships/notesSlide" Target="../notesSlides/notesSlide256.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4.png"/><Relationship Id="rId4" Type="http://schemas.openxmlformats.org/officeDocument/2006/relationships/notesSlide" Target="../notesSlides/notesSlide25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5.png"/><Relationship Id="rId4" Type="http://schemas.openxmlformats.org/officeDocument/2006/relationships/notesSlide" Target="../notesSlides/notesSlide258.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6.png"/><Relationship Id="rId4" Type="http://schemas.openxmlformats.org/officeDocument/2006/relationships/notesSlide" Target="../notesSlides/notesSlide259.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7.png"/><Relationship Id="rId4" Type="http://schemas.openxmlformats.org/officeDocument/2006/relationships/notesSlide" Target="../notesSlides/notesSlide260.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8.png"/><Relationship Id="rId4" Type="http://schemas.openxmlformats.org/officeDocument/2006/relationships/notesSlide" Target="../notesSlides/notesSlide261.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9.png"/><Relationship Id="rId4" Type="http://schemas.openxmlformats.org/officeDocument/2006/relationships/notesSlide" Target="../notesSlides/notesSlide264.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0.png"/><Relationship Id="rId4" Type="http://schemas.openxmlformats.org/officeDocument/2006/relationships/notesSlide" Target="../notesSlides/notesSlide265.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1.png"/><Relationship Id="rId4" Type="http://schemas.openxmlformats.org/officeDocument/2006/relationships/notesSlide" Target="../notesSlides/notesSlide266.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2.png"/><Relationship Id="rId4" Type="http://schemas.openxmlformats.org/officeDocument/2006/relationships/notesSlide" Target="../notesSlides/notesSlide26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3.png"/><Relationship Id="rId4" Type="http://schemas.openxmlformats.org/officeDocument/2006/relationships/notesSlide" Target="../notesSlides/notesSlide268.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4.png"/><Relationship Id="rId4" Type="http://schemas.openxmlformats.org/officeDocument/2006/relationships/notesSlide" Target="../notesSlides/notesSlide269.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0.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1.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5.png"/><Relationship Id="rId4" Type="http://schemas.openxmlformats.org/officeDocument/2006/relationships/notesSlide" Target="../notesSlides/notesSlide27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6.png"/><Relationship Id="rId4" Type="http://schemas.openxmlformats.org/officeDocument/2006/relationships/notesSlide" Target="../notesSlides/notesSlide273.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7.png"/><Relationship Id="rId4" Type="http://schemas.openxmlformats.org/officeDocument/2006/relationships/notesSlide" Target="../notesSlides/notesSlide274.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8.png"/><Relationship Id="rId4" Type="http://schemas.openxmlformats.org/officeDocument/2006/relationships/notesSlide" Target="../notesSlides/notesSlide275.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9.png"/><Relationship Id="rId4" Type="http://schemas.openxmlformats.org/officeDocument/2006/relationships/notesSlide" Target="../notesSlides/notesSlide276.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0.png"/><Relationship Id="rId4" Type="http://schemas.openxmlformats.org/officeDocument/2006/relationships/notesSlide" Target="../notesSlides/notesSlide27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1.png"/><Relationship Id="rId4" Type="http://schemas.openxmlformats.org/officeDocument/2006/relationships/notesSlide" Target="../notesSlides/notesSlide278.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2.png"/><Relationship Id="rId4" Type="http://schemas.openxmlformats.org/officeDocument/2006/relationships/notesSlide" Target="../notesSlides/notesSlide279.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3.png"/><Relationship Id="rId4" Type="http://schemas.openxmlformats.org/officeDocument/2006/relationships/notesSlide" Target="../notesSlides/notesSlide280.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4.png"/><Relationship Id="rId4" Type="http://schemas.openxmlformats.org/officeDocument/2006/relationships/notesSlide" Target="../notesSlides/notesSlide281.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5.png"/><Relationship Id="rId4" Type="http://schemas.openxmlformats.org/officeDocument/2006/relationships/notesSlide" Target="../notesSlides/notesSlide28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6.png"/><Relationship Id="rId4" Type="http://schemas.openxmlformats.org/officeDocument/2006/relationships/notesSlide" Target="../notesSlides/notesSlide283.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7.png"/><Relationship Id="rId4" Type="http://schemas.openxmlformats.org/officeDocument/2006/relationships/notesSlide" Target="../notesSlides/notesSlide284.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5.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8.png"/><Relationship Id="rId4" Type="http://schemas.openxmlformats.org/officeDocument/2006/relationships/notesSlide" Target="../notesSlides/notesSlide286.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9.png"/><Relationship Id="rId4" Type="http://schemas.openxmlformats.org/officeDocument/2006/relationships/notesSlide" Target="../notesSlides/notesSlide288.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0.png"/><Relationship Id="rId4" Type="http://schemas.openxmlformats.org/officeDocument/2006/relationships/notesSlide" Target="../notesSlides/notesSlide289.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0.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1.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1.png"/><Relationship Id="rId4" Type="http://schemas.openxmlformats.org/officeDocument/2006/relationships/notesSlide" Target="../notesSlides/notesSlide29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2.png"/><Relationship Id="rId4" Type="http://schemas.openxmlformats.org/officeDocument/2006/relationships/notesSlide" Target="../notesSlides/notesSlide293.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3.png"/><Relationship Id="rId4" Type="http://schemas.openxmlformats.org/officeDocument/2006/relationships/notesSlide" Target="../notesSlides/notesSlide294.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4.png"/><Relationship Id="rId4" Type="http://schemas.openxmlformats.org/officeDocument/2006/relationships/notesSlide" Target="../notesSlides/notesSlide295.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5.png"/><Relationship Id="rId4" Type="http://schemas.openxmlformats.org/officeDocument/2006/relationships/notesSlide" Target="../notesSlides/notesSlide296.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6.png"/><Relationship Id="rId4" Type="http://schemas.openxmlformats.org/officeDocument/2006/relationships/notesSlide" Target="../notesSlides/notesSlide29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7.png"/><Relationship Id="rId4" Type="http://schemas.openxmlformats.org/officeDocument/2006/relationships/notesSlide" Target="../notesSlides/notesSlide298.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9.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0.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8.png"/><Relationship Id="rId4" Type="http://schemas.openxmlformats.org/officeDocument/2006/relationships/notesSlide" Target="../notesSlides/notesSlide301.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9.png"/><Relationship Id="rId4" Type="http://schemas.openxmlformats.org/officeDocument/2006/relationships/notesSlide" Target="../notesSlides/notesSlide30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0.png"/><Relationship Id="rId4" Type="http://schemas.openxmlformats.org/officeDocument/2006/relationships/notesSlide" Target="../notesSlides/notesSlide303.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1.png"/><Relationship Id="rId4" Type="http://schemas.openxmlformats.org/officeDocument/2006/relationships/notesSlide" Target="../notesSlides/notesSlide304.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2.png"/><Relationship Id="rId4" Type="http://schemas.openxmlformats.org/officeDocument/2006/relationships/notesSlide" Target="../notesSlides/notesSlide305.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3.png"/><Relationship Id="rId4" Type="http://schemas.openxmlformats.org/officeDocument/2006/relationships/notesSlide" Target="../notesSlides/notesSlide306.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4.png"/><Relationship Id="rId4" Type="http://schemas.openxmlformats.org/officeDocument/2006/relationships/notesSlide" Target="../notesSlides/notesSlide30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8.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5.png"/><Relationship Id="rId4" Type="http://schemas.openxmlformats.org/officeDocument/2006/relationships/notesSlide" Target="../notesSlides/notesSlide309.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6.png"/><Relationship Id="rId4" Type="http://schemas.openxmlformats.org/officeDocument/2006/relationships/notesSlide" Target="../notesSlides/notesSlide310.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7.png"/><Relationship Id="rId4" Type="http://schemas.openxmlformats.org/officeDocument/2006/relationships/notesSlide" Target="../notesSlides/notesSlide311.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8.png"/><Relationship Id="rId4" Type="http://schemas.openxmlformats.org/officeDocument/2006/relationships/notesSlide" Target="../notesSlides/notesSlide31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9.png"/><Relationship Id="rId4" Type="http://schemas.openxmlformats.org/officeDocument/2006/relationships/notesSlide" Target="../notesSlides/notesSlide313.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4.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5.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0.png"/><Relationship Id="rId4" Type="http://schemas.openxmlformats.org/officeDocument/2006/relationships/notesSlide" Target="../notesSlides/notesSlide316.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1.png"/><Relationship Id="rId4" Type="http://schemas.openxmlformats.org/officeDocument/2006/relationships/notesSlide" Target="../notesSlides/notesSlide31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2.png"/><Relationship Id="rId4" Type="http://schemas.openxmlformats.org/officeDocument/2006/relationships/notesSlide" Target="../notesSlides/notesSlide318.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9.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3.png"/><Relationship Id="rId4" Type="http://schemas.openxmlformats.org/officeDocument/2006/relationships/notesSlide" Target="../notesSlides/notesSlide320.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4.png"/><Relationship Id="rId4" Type="http://schemas.openxmlformats.org/officeDocument/2006/relationships/notesSlide" Target="../notesSlides/notesSlide321.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5.png"/><Relationship Id="rId4" Type="http://schemas.openxmlformats.org/officeDocument/2006/relationships/notesSlide" Target="../notesSlides/notesSlide32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6.png"/><Relationship Id="rId4" Type="http://schemas.openxmlformats.org/officeDocument/2006/relationships/notesSlide" Target="../notesSlides/notesSlide324.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5.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6.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7.png"/><Relationship Id="rId4" Type="http://schemas.openxmlformats.org/officeDocument/2006/relationships/notesSlide" Target="../notesSlides/notesSlide32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8.png"/><Relationship Id="rId4" Type="http://schemas.openxmlformats.org/officeDocument/2006/relationships/notesSlide" Target="../notesSlides/notesSlide328.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9.png"/><Relationship Id="rId4" Type="http://schemas.openxmlformats.org/officeDocument/2006/relationships/notesSlide" Target="../notesSlides/notesSlide329.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0.png"/><Relationship Id="rId4" Type="http://schemas.openxmlformats.org/officeDocument/2006/relationships/notesSlide" Target="../notesSlides/notesSlide330.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1.png"/><Relationship Id="rId4" Type="http://schemas.openxmlformats.org/officeDocument/2006/relationships/notesSlide" Target="../notesSlides/notesSlide331.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3.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2.png"/><Relationship Id="rId4" Type="http://schemas.openxmlformats.org/officeDocument/2006/relationships/notesSlide" Target="../notesSlides/notesSlide334.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3.png"/><Relationship Id="rId4" Type="http://schemas.openxmlformats.org/officeDocument/2006/relationships/notesSlide" Target="../notesSlides/notesSlide335.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6.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4.png"/><Relationship Id="rId4" Type="http://schemas.openxmlformats.org/officeDocument/2006/relationships/notesSlide" Target="../notesSlides/notesSlide33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5.png"/><Relationship Id="rId4" Type="http://schemas.openxmlformats.org/officeDocument/2006/relationships/notesSlide" Target="../notesSlides/notesSlide338.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9.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0.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6.png"/><Relationship Id="rId4" Type="http://schemas.openxmlformats.org/officeDocument/2006/relationships/notesSlide" Target="../notesSlides/notesSlide341.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7.png"/><Relationship Id="rId4" Type="http://schemas.openxmlformats.org/officeDocument/2006/relationships/notesSlide" Target="../notesSlides/notesSlide34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3.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8.png"/><Relationship Id="rId4" Type="http://schemas.openxmlformats.org/officeDocument/2006/relationships/notesSlide" Target="../notesSlides/notesSlide344.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9.png"/><Relationship Id="rId4" Type="http://schemas.openxmlformats.org/officeDocument/2006/relationships/notesSlide" Target="../notesSlides/notesSlide345.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0.png"/><Relationship Id="rId4" Type="http://schemas.openxmlformats.org/officeDocument/2006/relationships/notesSlide" Target="../notesSlides/notesSlide346.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1.png"/><Relationship Id="rId4" Type="http://schemas.openxmlformats.org/officeDocument/2006/relationships/notesSlide" Target="../notesSlides/notesSlide34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8.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9.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2.png"/><Relationship Id="rId4" Type="http://schemas.openxmlformats.org/officeDocument/2006/relationships/notesSlide" Target="../notesSlides/notesSlide350.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3.png"/><Relationship Id="rId4" Type="http://schemas.openxmlformats.org/officeDocument/2006/relationships/notesSlide" Target="../notesSlides/notesSlide351.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4.png"/><Relationship Id="rId4" Type="http://schemas.openxmlformats.org/officeDocument/2006/relationships/notesSlide" Target="../notesSlides/notesSlide35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5.png"/><Relationship Id="rId4" Type="http://schemas.openxmlformats.org/officeDocument/2006/relationships/notesSlide" Target="../notesSlides/notesSlide353.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4.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5.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6.png"/><Relationship Id="rId4" Type="http://schemas.openxmlformats.org/officeDocument/2006/relationships/notesSlide" Target="../notesSlides/notesSlide356.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7.png"/><Relationship Id="rId4" Type="http://schemas.openxmlformats.org/officeDocument/2006/relationships/notesSlide" Target="../notesSlides/notesSlide35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8.png"/><Relationship Id="rId4" Type="http://schemas.openxmlformats.org/officeDocument/2006/relationships/notesSlide" Target="../notesSlides/notesSlide358.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9.png"/><Relationship Id="rId4" Type="http://schemas.openxmlformats.org/officeDocument/2006/relationships/notesSlide" Target="../notesSlides/notesSlide359.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0.png"/><Relationship Id="rId4" Type="http://schemas.openxmlformats.org/officeDocument/2006/relationships/notesSlide" Target="../notesSlides/notesSlide360.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1.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1.png"/><Relationship Id="rId4" Type="http://schemas.openxmlformats.org/officeDocument/2006/relationships/notesSlide" Target="../notesSlides/notesSlide36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2.png"/><Relationship Id="rId4" Type="http://schemas.openxmlformats.org/officeDocument/2006/relationships/notesSlide" Target="../notesSlides/notesSlide363.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4.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3.png"/><Relationship Id="rId4" Type="http://schemas.openxmlformats.org/officeDocument/2006/relationships/notesSlide" Target="../notesSlides/notesSlide365.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4.png"/><Relationship Id="rId4" Type="http://schemas.openxmlformats.org/officeDocument/2006/relationships/notesSlide" Target="../notesSlides/notesSlide366.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5.png"/><Relationship Id="rId4" Type="http://schemas.openxmlformats.org/officeDocument/2006/relationships/notesSlide" Target="../notesSlides/notesSlide36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6.png"/><Relationship Id="rId4" Type="http://schemas.openxmlformats.org/officeDocument/2006/relationships/notesSlide" Target="../notesSlides/notesSlide368.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7.png"/><Relationship Id="rId4" Type="http://schemas.openxmlformats.org/officeDocument/2006/relationships/notesSlide" Target="../notesSlides/notesSlide369.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0.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8.png"/><Relationship Id="rId4" Type="http://schemas.openxmlformats.org/officeDocument/2006/relationships/notesSlide" Target="../notesSlides/notesSlide371.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9.png"/><Relationship Id="rId4" Type="http://schemas.openxmlformats.org/officeDocument/2006/relationships/notesSlide" Target="../notesSlides/notesSlide373.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4.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0.png"/><Relationship Id="rId4" Type="http://schemas.openxmlformats.org/officeDocument/2006/relationships/notesSlide" Target="../notesSlides/notesSlide375.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1.png"/><Relationship Id="rId4" Type="http://schemas.openxmlformats.org/officeDocument/2006/relationships/notesSlide" Target="../notesSlides/notesSlide376.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2.png"/><Relationship Id="rId4" Type="http://schemas.openxmlformats.org/officeDocument/2006/relationships/notesSlide" Target="../notesSlides/notesSlide378.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3.png"/><Relationship Id="rId4" Type="http://schemas.openxmlformats.org/officeDocument/2006/relationships/notesSlide" Target="../notesSlides/notesSlide379.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4.png"/><Relationship Id="rId4" Type="http://schemas.openxmlformats.org/officeDocument/2006/relationships/notesSlide" Target="../notesSlides/notesSlide380.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5.png"/><Relationship Id="rId4" Type="http://schemas.openxmlformats.org/officeDocument/2006/relationships/notesSlide" Target="../notesSlides/notesSlide381.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6.png"/><Relationship Id="rId4" Type="http://schemas.openxmlformats.org/officeDocument/2006/relationships/notesSlide" Target="../notesSlides/notesSlide38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7.png"/><Relationship Id="rId4" Type="http://schemas.openxmlformats.org/officeDocument/2006/relationships/notesSlide" Target="../notesSlides/notesSlide383.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8.png"/><Relationship Id="rId4" Type="http://schemas.openxmlformats.org/officeDocument/2006/relationships/notesSlide" Target="../notesSlides/notesSlide384.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9.png"/><Relationship Id="rId4" Type="http://schemas.openxmlformats.org/officeDocument/2006/relationships/notesSlide" Target="../notesSlides/notesSlide385.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0.png"/><Relationship Id="rId4" Type="http://schemas.openxmlformats.org/officeDocument/2006/relationships/notesSlide" Target="../notesSlides/notesSlide386.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1.png"/><Relationship Id="rId4" Type="http://schemas.openxmlformats.org/officeDocument/2006/relationships/notesSlide" Target="../notesSlides/notesSlide388.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2.png"/><Relationship Id="rId4" Type="http://schemas.openxmlformats.org/officeDocument/2006/relationships/notesSlide" Target="../notesSlides/notesSlide389.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3.png"/><Relationship Id="rId4" Type="http://schemas.openxmlformats.org/officeDocument/2006/relationships/notesSlide" Target="../notesSlides/notesSlide390.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4.png"/><Relationship Id="rId4" Type="http://schemas.openxmlformats.org/officeDocument/2006/relationships/notesSlide" Target="../notesSlides/notesSlide391.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2.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5.png"/><Relationship Id="rId4" Type="http://schemas.openxmlformats.org/officeDocument/2006/relationships/notesSlide" Target="../notesSlides/notesSlide393.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6.png"/><Relationship Id="rId4" Type="http://schemas.openxmlformats.org/officeDocument/2006/relationships/notesSlide" Target="../notesSlides/notesSlide394.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7.png"/><Relationship Id="rId4" Type="http://schemas.openxmlformats.org/officeDocument/2006/relationships/notesSlide" Target="../notesSlides/notesSlide395.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8.png"/><Relationship Id="rId4" Type="http://schemas.openxmlformats.org/officeDocument/2006/relationships/notesSlide" Target="../notesSlides/notesSlide396.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9.png"/><Relationship Id="rId4" Type="http://schemas.openxmlformats.org/officeDocument/2006/relationships/notesSlide" Target="../notesSlides/notesSlide39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8.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0.png"/><Relationship Id="rId4" Type="http://schemas.openxmlformats.org/officeDocument/2006/relationships/notesSlide" Target="../notesSlides/notesSlide399.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0.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1.png"/><Relationship Id="rId4" Type="http://schemas.openxmlformats.org/officeDocument/2006/relationships/notesSlide" Target="../notesSlides/notesSlide401.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2.png"/><Relationship Id="rId4" Type="http://schemas.openxmlformats.org/officeDocument/2006/relationships/notesSlide" Target="../notesSlides/notesSlide402.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3.png"/><Relationship Id="rId4" Type="http://schemas.openxmlformats.org/officeDocument/2006/relationships/notesSlide" Target="../notesSlides/notesSlide403.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4.png"/><Relationship Id="rId4" Type="http://schemas.openxmlformats.org/officeDocument/2006/relationships/notesSlide" Target="../notesSlides/notesSlide404.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5.png"/><Relationship Id="rId4" Type="http://schemas.openxmlformats.org/officeDocument/2006/relationships/notesSlide" Target="../notesSlides/notesSlide405.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6.png"/><Relationship Id="rId4" Type="http://schemas.openxmlformats.org/officeDocument/2006/relationships/notesSlide" Target="../notesSlides/notesSlide406.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7.png"/><Relationship Id="rId4" Type="http://schemas.openxmlformats.org/officeDocument/2006/relationships/notesSlide" Target="../notesSlides/notesSlide40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8.png"/><Relationship Id="rId4" Type="http://schemas.openxmlformats.org/officeDocument/2006/relationships/notesSlide" Target="../notesSlides/notesSlide408.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9.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9.png"/><Relationship Id="rId4" Type="http://schemas.openxmlformats.org/officeDocument/2006/relationships/notesSlide" Target="../notesSlides/notesSlide410.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1.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0.png"/><Relationship Id="rId4" Type="http://schemas.openxmlformats.org/officeDocument/2006/relationships/notesSlide" Target="../notesSlides/notesSlide41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1.png"/><Relationship Id="rId4" Type="http://schemas.openxmlformats.org/officeDocument/2006/relationships/notesSlide" Target="../notesSlides/notesSlide413.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2.png"/><Relationship Id="rId4" Type="http://schemas.openxmlformats.org/officeDocument/2006/relationships/notesSlide" Target="../notesSlides/notesSlide414.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3.png"/><Relationship Id="rId4" Type="http://schemas.openxmlformats.org/officeDocument/2006/relationships/notesSlide" Target="../notesSlides/notesSlide415.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4.png"/><Relationship Id="rId4" Type="http://schemas.openxmlformats.org/officeDocument/2006/relationships/notesSlide" Target="../notesSlides/notesSlide416.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5.png"/><Relationship Id="rId4" Type="http://schemas.openxmlformats.org/officeDocument/2006/relationships/notesSlide" Target="../notesSlides/notesSlide418.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6.png"/><Relationship Id="rId4" Type="http://schemas.openxmlformats.org/officeDocument/2006/relationships/notesSlide" Target="../notesSlides/notesSlide419.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7.png"/><Relationship Id="rId4" Type="http://schemas.openxmlformats.org/officeDocument/2006/relationships/notesSlide" Target="../notesSlides/notesSlide420.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1.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8.png"/><Relationship Id="rId4" Type="http://schemas.openxmlformats.org/officeDocument/2006/relationships/notesSlide" Target="../notesSlides/notesSlide422.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9.png"/><Relationship Id="rId4" Type="http://schemas.openxmlformats.org/officeDocument/2006/relationships/notesSlide" Target="../notesSlides/notesSlide423.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0.png"/><Relationship Id="rId4" Type="http://schemas.openxmlformats.org/officeDocument/2006/relationships/notesSlide" Target="../notesSlides/notesSlide424.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1.png"/><Relationship Id="rId4" Type="http://schemas.openxmlformats.org/officeDocument/2006/relationships/notesSlide" Target="../notesSlides/notesSlide425.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6.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2.png"/><Relationship Id="rId4" Type="http://schemas.openxmlformats.org/officeDocument/2006/relationships/notesSlide" Target="../notesSlides/notesSlide42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3.png"/><Relationship Id="rId4" Type="http://schemas.openxmlformats.org/officeDocument/2006/relationships/notesSlide" Target="../notesSlides/notesSlide428.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4.png"/><Relationship Id="rId4" Type="http://schemas.openxmlformats.org/officeDocument/2006/relationships/notesSlide" Target="../notesSlides/notesSlide429.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5.png"/><Relationship Id="rId4" Type="http://schemas.openxmlformats.org/officeDocument/2006/relationships/notesSlide" Target="../notesSlides/notesSlide430.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1.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6.png"/><Relationship Id="rId4" Type="http://schemas.openxmlformats.org/officeDocument/2006/relationships/notesSlide" Target="../notesSlides/notesSlide432.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7.png"/><Relationship Id="rId4" Type="http://schemas.openxmlformats.org/officeDocument/2006/relationships/notesSlide" Target="../notesSlides/notesSlide433.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8.png"/><Relationship Id="rId4" Type="http://schemas.openxmlformats.org/officeDocument/2006/relationships/notesSlide" Target="../notesSlides/notesSlide434.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9.png"/><Relationship Id="rId4" Type="http://schemas.openxmlformats.org/officeDocument/2006/relationships/notesSlide" Target="../notesSlides/notesSlide435.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0.png"/><Relationship Id="rId4" Type="http://schemas.openxmlformats.org/officeDocument/2006/relationships/notesSlide" Target="../notesSlides/notesSlide436.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1.png"/><Relationship Id="rId4" Type="http://schemas.openxmlformats.org/officeDocument/2006/relationships/notesSlide" Target="../notesSlides/notesSlide437.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2.png"/><Relationship Id="rId4" Type="http://schemas.openxmlformats.org/officeDocument/2006/relationships/notesSlide" Target="../notesSlides/notesSlide438.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3.png"/><Relationship Id="rId4" Type="http://schemas.openxmlformats.org/officeDocument/2006/relationships/notesSlide" Target="../notesSlides/notesSlide439.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4.png"/><Relationship Id="rId4" Type="http://schemas.openxmlformats.org/officeDocument/2006/relationships/notesSlide" Target="../notesSlides/notesSlide440.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5.png"/><Relationship Id="rId4" Type="http://schemas.openxmlformats.org/officeDocument/2006/relationships/notesSlide" Target="../notesSlides/notesSlide441.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6.png"/><Relationship Id="rId4" Type="http://schemas.openxmlformats.org/officeDocument/2006/relationships/notesSlide" Target="../notesSlides/notesSlide442.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3.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4.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5.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6.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8.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9.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0.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1.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2.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BRD-1 New Business</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 New Business: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BRD-1 New Business as the FRS v2.1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46 screens, 170 screen images, 100 screen states, 11 personas, 3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(v2.1, 8 October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323088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762000">
                <a:tc>
                  <a:txBody>
                    <a:bodyPr/>
                    <a:lstStyle/>
                    <a:p>
                      <a:r>
                        <a:rPr sz="1100" b="0">
                          <a:solidFill>
                            <a:srgbClr val="4B4B4B"/>
                          </a:solidFill>
                          <a:latin typeface="Arial"/>
                        </a:rPr>
                        <a:t>CHG-NB-2.1-01</a:t>
                      </a:r>
                    </a:p>
                  </a:txBody>
                  <a:tcPr marL="54864" marR="54864" marT="27432" marB="27432">
                    <a:solidFill>
                      <a:srgbClr val="FFFFFF"/>
                    </a:solidFill>
                  </a:tcPr>
                </a:tc>
                <a:tc>
                  <a:txBody>
                    <a:bodyPr/>
                    <a:lstStyle/>
                    <a:p>
                      <a:r>
                        <a:rPr sz="1100" b="0">
                          <a:solidFill>
                            <a:srgbClr val="4B4B4B"/>
                          </a:solidFill>
                          <a:latin typeface="Arial"/>
                        </a:rPr>
                        <a:t>Send via Email of quotations: one or more quotations to one or more recipients with the supporting documents ticked in the dialog or sent on their own; a batch sends the valid quotations and lists the others with their reason; each quotation shows the delivery status of its last sending (FR-NB-044, BRNB.042)</a:t>
                      </a:r>
                    </a:p>
                  </a:txBody>
                  <a:tcPr marL="54864" marR="54864" marT="27432" marB="27432">
                    <a:solidFill>
                      <a:srgbClr val="FFFFFF"/>
                    </a:solidFill>
                  </a:tcPr>
                </a:tc>
                <a:tc>
                  <a:txBody>
                    <a:bodyPr/>
                    <a:lstStyle/>
                    <a:p>
                      <a:r>
                        <a:rPr sz="1100" b="0">
                          <a:solidFill>
                            <a:srgbClr val="4B4B4B"/>
                          </a:solidFill>
                          <a:latin typeface="Arial"/>
                        </a:rPr>
                        <a:t>SCR-NB-05, SCR-NB-07</a:t>
                      </a:r>
                    </a:p>
                  </a:txBody>
                  <a:tcPr marL="54864" marR="54864" marT="27432" marB="27432">
                    <a:solidFill>
                      <a:srgbClr val="FFFFFF"/>
                    </a:solidFill>
                  </a:tcPr>
                </a:tc>
                <a:tc>
                  <a:txBody>
                    <a:bodyPr/>
                    <a:lstStyle/>
                    <a:p>
                      <a:r>
                        <a:rPr sz="1100" b="0">
                          <a:solidFill>
                            <a:srgbClr val="4B4B4B"/>
                          </a:solidFill>
                          <a:latin typeface="Arial"/>
                        </a:rPr>
                        <a:t>12</a:t>
                      </a:r>
                    </a:p>
                  </a:txBody>
                  <a:tcPr marL="54864" marR="54864" marT="27432" marB="27432">
                    <a:solidFill>
                      <a:srgbClr val="FFFFFF"/>
                    </a:solidFill>
                  </a:tcPr>
                </a:tc>
              </a:tr>
              <a:tr h="594360">
                <a:tc>
                  <a:txBody>
                    <a:bodyPr/>
                    <a:lstStyle/>
                    <a:p>
                      <a:r>
                        <a:rPr sz="1100" b="0">
                          <a:solidFill>
                            <a:srgbClr val="4B4B4B"/>
                          </a:solidFill>
                          <a:latin typeface="Arial"/>
                        </a:rPr>
                        <a:t>CHG-NB-2.1-02</a:t>
                      </a:r>
                    </a:p>
                  </a:txBody>
                  <a:tcPr marL="54864" marR="54864" marT="27432" marB="27432">
                    <a:solidFill>
                      <a:srgbClr val="E5F5FF"/>
                    </a:solidFill>
                  </a:tcPr>
                </a:tc>
                <a:tc>
                  <a:txBody>
                    <a:bodyPr/>
                    <a:lstStyle/>
                    <a:p>
                      <a:r>
                        <a:rPr sz="1100" b="0">
                          <a:solidFill>
                            <a:srgbClr val="4B4B4B"/>
                          </a:solidFill>
                          <a:latin typeface="Arial"/>
                        </a:rPr>
                        <a:t>Placement slips carry the EOPT details of each client (taxpayer name, TIN, registered address); the Generate Placement Slips dialog shows them or a notice when they are not on record; a slip whose details changed is regenerated before sending (FR-NB-087, BRNB.100)</a:t>
                      </a:r>
                    </a:p>
                  </a:txBody>
                  <a:tcPr marL="54864" marR="54864" marT="27432" marB="27432">
                    <a:solidFill>
                      <a:srgbClr val="E5F5FF"/>
                    </a:solidFill>
                  </a:tcPr>
                </a:tc>
                <a:tc>
                  <a:txBody>
                    <a:bodyPr/>
                    <a:lstStyle/>
                    <a:p>
                      <a:r>
                        <a:rPr sz="1100" b="0">
                          <a:solidFill>
                            <a:srgbClr val="4B4B4B"/>
                          </a:solidFill>
                          <a:latin typeface="Arial"/>
                        </a:rPr>
                        <a:t>SCR-NB-18, SCR-NB-20</a:t>
                      </a:r>
                    </a:p>
                  </a:txBody>
                  <a:tcPr marL="54864" marR="54864" marT="27432" marB="27432">
                    <a:solidFill>
                      <a:srgbClr val="E5F5FF"/>
                    </a:solidFill>
                  </a:tcPr>
                </a:tc>
                <a:tc>
                  <a:txBody>
                    <a:bodyPr/>
                    <a:lstStyle/>
                    <a:p>
                      <a:r>
                        <a:rPr sz="1100" b="0">
                          <a:solidFill>
                            <a:srgbClr val="4B4B4B"/>
                          </a:solidFill>
                          <a:latin typeface="Arial"/>
                        </a:rPr>
                        <a:t>6</a:t>
                      </a:r>
                    </a:p>
                  </a:txBody>
                  <a:tcPr marL="54864" marR="54864" marT="27432" marB="27432">
                    <a:solidFill>
                      <a:srgbClr val="E5F5FF"/>
                    </a:solidFill>
                  </a:tcPr>
                </a:tc>
              </a:tr>
              <a:tr h="594360">
                <a:tc>
                  <a:txBody>
                    <a:bodyPr/>
                    <a:lstStyle/>
                    <a:p>
                      <a:r>
                        <a:rPr sz="1100" b="0">
                          <a:solidFill>
                            <a:srgbClr val="4B4B4B"/>
                          </a:solidFill>
                          <a:latin typeface="Arial"/>
                        </a:rPr>
                        <a:t>CHG-NB-2.1-03</a:t>
                      </a:r>
                    </a:p>
                  </a:txBody>
                  <a:tcPr marL="54864" marR="54864" marT="27432" marB="27432">
                    <a:solidFill>
                      <a:srgbClr val="FFFFFF"/>
                    </a:solidFill>
                  </a:tcPr>
                </a:tc>
                <a:tc>
                  <a:txBody>
                    <a:bodyPr/>
                    <a:lstStyle/>
                    <a:p>
                      <a:r>
                        <a:rPr sz="1100" b="0">
                          <a:solidFill>
                            <a:srgbClr val="4B4B4B"/>
                          </a:solidFill>
                          <a:latin typeface="Arial"/>
                        </a:rPr>
                        <a:t>Insurance Advice register: the sending of each advice shows Manual or Automatic; advices of a mortgagee enrolled in the MIS set-up are sent when they are generated (FR-NB-107, BRNB.060)</a:t>
                      </a:r>
                    </a:p>
                  </a:txBody>
                  <a:tcPr marL="54864" marR="54864" marT="27432" marB="27432">
                    <a:solidFill>
                      <a:srgbClr val="FFFFFF"/>
                    </a:solidFill>
                  </a:tcPr>
                </a:tc>
                <a:tc>
                  <a:txBody>
                    <a:bodyPr/>
                    <a:lstStyle/>
                    <a:p>
                      <a:r>
                        <a:rPr sz="1100" b="0">
                          <a:solidFill>
                            <a:srgbClr val="4B4B4B"/>
                          </a:solidFill>
                          <a:latin typeface="Arial"/>
                        </a:rPr>
                        <a:t>SCR-NB-26</a:t>
                      </a:r>
                    </a:p>
                  </a:txBody>
                  <a:tcPr marL="54864" marR="54864" marT="27432" marB="27432">
                    <a:solidFill>
                      <a:srgbClr val="FFFFFF"/>
                    </a:solidFill>
                  </a:tcPr>
                </a:tc>
                <a:tc>
                  <a:txBody>
                    <a:bodyPr/>
                    <a:lstStyle/>
                    <a:p>
                      <a:r>
                        <a:rPr sz="1100" b="0">
                          <a:solidFill>
                            <a:srgbClr val="4B4B4B"/>
                          </a:solidFill>
                          <a:latin typeface="Arial"/>
                        </a:rPr>
                        <a:t>2</a:t>
                      </a:r>
                    </a:p>
                  </a:txBody>
                  <a:tcPr marL="54864" marR="54864" marT="27432" marB="27432">
                    <a:solidFill>
                      <a:srgbClr val="FFFFFF"/>
                    </a:solidFill>
                  </a:tcPr>
                </a:tc>
              </a:tr>
              <a:tr h="594360">
                <a:tc>
                  <a:txBody>
                    <a:bodyPr/>
                    <a:lstStyle/>
                    <a:p>
                      <a:r>
                        <a:rPr sz="1100" b="0">
                          <a:solidFill>
                            <a:srgbClr val="4B4B4B"/>
                          </a:solidFill>
                          <a:latin typeface="Arial"/>
                        </a:rPr>
                        <a:t>CHG-NB-2.1-04</a:t>
                      </a:r>
                    </a:p>
                  </a:txBody>
                  <a:tcPr marL="54864" marR="54864" marT="27432" marB="27432">
                    <a:solidFill>
                      <a:srgbClr val="E5F5FF"/>
                    </a:solidFill>
                  </a:tcPr>
                </a:tc>
                <a:tc>
                  <a:txBody>
                    <a:bodyPr/>
                    <a:lstStyle/>
                    <a:p>
                      <a:r>
                        <a:rPr sz="1100" b="0">
                          <a:solidFill>
                            <a:srgbClr val="4B4B4B"/>
                          </a:solidFill>
                          <a:latin typeface="Arial"/>
                        </a:rPr>
                        <a:t>Incentive indicator: Pending until the booked invoice is fully paid, then Eligible or Not eligible with the criterion code; evaluated again on endorsement and cancellation (FR-NB-118, BRNB.107)</a:t>
                      </a:r>
                    </a:p>
                  </a:txBody>
                  <a:tcPr marL="54864" marR="54864" marT="27432" marB="27432">
                    <a:solidFill>
                      <a:srgbClr val="E5F5FF"/>
                    </a:solidFill>
                  </a:tcPr>
                </a:tc>
                <a:tc>
                  <a:txBody>
                    <a:bodyPr/>
                    <a:lstStyle/>
                    <a:p>
                      <a:r>
                        <a:rPr sz="1100" b="0">
                          <a:solidFill>
                            <a:srgbClr val="4B4B4B"/>
                          </a:solidFill>
                          <a:latin typeface="Arial"/>
                        </a:rPr>
                        <a:t>SCR-NB-29, SCR-NB-30</a:t>
                      </a:r>
                    </a:p>
                  </a:txBody>
                  <a:tcPr marL="54864" marR="54864" marT="27432" marB="27432">
                    <a:solidFill>
                      <a:srgbClr val="E5F5FF"/>
                    </a:solidFill>
                  </a:tcPr>
                </a:tc>
                <a:tc>
                  <a:txBody>
                    <a:bodyPr/>
                    <a:lstStyle/>
                    <a:p>
                      <a:r>
                        <a:rPr sz="1100" b="0">
                          <a:solidFill>
                            <a:srgbClr val="4B4B4B"/>
                          </a:solidFill>
                          <a:latin typeface="Arial"/>
                        </a:rPr>
                        <a:t>5</a:t>
                      </a:r>
                    </a:p>
                  </a:txBody>
                  <a:tcPr marL="54864" marR="54864" marT="27432" marB="27432">
                    <a:solidFill>
                      <a:srgbClr val="E5F5FF"/>
                    </a:solidFill>
                  </a:tcPr>
                </a:tc>
              </a:tr>
              <a:tr h="426720">
                <a:tc>
                  <a:txBody>
                    <a:bodyPr/>
                    <a:lstStyle/>
                    <a:p>
                      <a:r>
                        <a:rPr sz="1100" b="0">
                          <a:solidFill>
                            <a:srgbClr val="4B4B4B"/>
                          </a:solidFill>
                          <a:latin typeface="Arial"/>
                        </a:rPr>
                        <a:t>CHG-NB-2.1-05</a:t>
                      </a:r>
                    </a:p>
                  </a:txBody>
                  <a:tcPr marL="54864" marR="54864" marT="27432" marB="27432">
                    <a:solidFill>
                      <a:srgbClr val="FFFFFF"/>
                    </a:solidFill>
                  </a:tcPr>
                </a:tc>
                <a:tc>
                  <a:txBody>
                    <a:bodyPr/>
                    <a:lstStyle/>
                    <a:p>
                      <a:r>
                        <a:rPr sz="1100" b="0">
                          <a:solidFill>
                            <a:srgbClr val="4B4B4B"/>
                          </a:solidFill>
                          <a:latin typeface="Arial"/>
                        </a:rPr>
                        <a:t>Service Invoices: the owner is notified of every sending, successful or failed, and the register keeps the status, owner and time (FR-NB-117, BRNB.100.1)</a:t>
                      </a:r>
                    </a:p>
                  </a:txBody>
                  <a:tcPr marL="54864" marR="54864" marT="27432" marB="27432">
                    <a:solidFill>
                      <a:srgbClr val="FFFFFF"/>
                    </a:solidFill>
                  </a:tcPr>
                </a:tc>
                <a:tc>
                  <a:txBody>
                    <a:bodyPr/>
                    <a:lstStyle/>
                    <a:p>
                      <a:r>
                        <a:rPr sz="1100" b="0">
                          <a:solidFill>
                            <a:srgbClr val="4B4B4B"/>
                          </a:solidFill>
                          <a:latin typeface="Arial"/>
                        </a:rPr>
                        <a:t>SCR-NB-32</a:t>
                      </a:r>
                    </a:p>
                  </a:txBody>
                  <a:tcPr marL="54864" marR="54864" marT="27432" marB="27432">
                    <a:solidFill>
                      <a:srgbClr val="FFFFFF"/>
                    </a:solidFill>
                  </a:tcPr>
                </a:tc>
                <a:tc>
                  <a:txBody>
                    <a:bodyPr/>
                    <a:lstStyle/>
                    <a:p>
                      <a:r>
                        <a:rPr sz="1100" b="0">
                          <a:solidFill>
                            <a:srgbClr val="4B4B4B"/>
                          </a:solidFill>
                          <a:latin typeface="Arial"/>
                        </a:rPr>
                        <a:t>2</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75488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Group - Business Project Services (BPS)</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36576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Marketing Business Services and System Support (MBS), BU representatives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screens, fields, rules and messages of New Business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Technical Support Unit (TSU), BU representatives</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PRF, quotation slip, insurer terms and proposal slip screens match the business input</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Program Manager, Enterprise Services Group - Business Project Services (BPS)</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BA Unit Head, Enterprise Services Group - Business Project Services (BPS)</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requirements of the IT Walkthrough Addendum are stated in the set as approved, and every departure is listed for confirmation</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BDOI Information Technology Group (BDOI IT)</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Interfaces, user access and menus, and the Technical Specification (a separate document); not the business screens</a:t>
                      </a:r>
                    </a:p>
                  </a:txBody>
                  <a:tcPr marL="54864" marR="54864" marT="27432" marB="27432">
                    <a:solidFill>
                      <a:srgbClr val="FFFFFF"/>
                    </a:solidFill>
                  </a:tcPr>
                </a:tc>
              </a:tr>
              <a:tr h="22860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Compliance Officer</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KYC, the screening hand-off and record retention</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Marketing Business System</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Owns the set and approves all of its contents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Processing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Payment, placement, issuance and booking</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Unit Head - Combank and Corbank</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Clients, quotations, PRFs and accounts of Combank and Corbank</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Retail Marketing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Clients, quotations and accounts of Retail Marketing</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of Institutional Banking, SM and BDO Accounts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Clients, quotations and accounts of the institutional accounts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Comptrollership</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Booking entries, service invoices and the hand-off to Accounting</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Officer-in-Charge (OIC), BDO Insurance and Reinsurance Brokers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requirements of the IT Walkthrough Addendum and the proposed rules that follow from them</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25880"/>
          <a:ext cx="11094414" cy="59436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Receives 07 to 09</a:t>
                      </a:r>
                    </a:p>
                  </a:txBody>
                  <a:tcPr marL="54864" marR="54864" marT="27432" marB="27432">
                    <a:solidFill>
                      <a:srgbClr val="FFFFFF"/>
                    </a:solidFill>
                  </a:tcPr>
                </a:tc>
                <a:tc>
                  <a:txBody>
                    <a:bodyPr/>
                    <a:lstStyle/>
                    <a:p>
                      <a:r>
                        <a:rPr sz="900" b="0">
                          <a:solidFill>
                            <a:srgbClr val="4B4B4B"/>
                          </a:solidFill>
                          <a:latin typeface="Arial"/>
                        </a:rPr>
                        <a:t>BDOI UX Design team (UXD)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493776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tags (for example a client tag such as BDO employee)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5486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Rate Exceptions of a quotation: Exception No., Requested Rate, Scheme Rate, Difference, Valid Until, Requested By, Decided By, Status);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a:t>
                      </a:r>
                    </a:p>
                  </a:txBody>
                  <a:tcPr marL="54864" marR="54864" marT="27432" marB="27432">
                    <a:solidFill>
                      <a:srgbClr val="FFFFFF"/>
                    </a:solidFill>
                  </a:tcPr>
                </a:tc>
              </a:tr>
              <a:tr h="396240">
                <a:tc>
                  <a:txBody>
                    <a:bodyPr/>
                    <a:lstStyle/>
                    <a:p>
                      <a:r>
                        <a:rPr sz="1000" b="1">
                          <a:solidFill>
                            <a:srgbClr val="4B4B4B"/>
                          </a:solidFill>
                          <a:latin typeface="Arial"/>
                        </a:rPr>
                        <a:t>Row actions</a:t>
                      </a:r>
                    </a:p>
                  </a:txBody>
                  <a:tcPr marL="54864" marR="54864" marT="27432" marB="27432">
                    <a:solidFill>
                      <a:srgbClr val="E5F5FF"/>
                    </a:solidFill>
                  </a:tcPr>
                </a:tc>
                <a:tc>
                  <a:txBody>
                    <a:bodyPr/>
                    <a:lstStyle/>
                    <a:p>
                      <a:r>
                        <a:rPr sz="1000" b="0">
                          <a:solidFill>
                            <a:srgbClr val="4B4B4B"/>
                          </a:solidFill>
                          <a:latin typeface="Arial"/>
                        </a:rPr>
                        <a:t>The actions on a record of a list are in one row action menu at the end of the row (the three-dot button), never buttons or links in the row; a destructive action is listed last, in red, and asks for confirmation.</a:t>
                      </a:r>
                    </a:p>
                  </a:txBody>
                  <a:tcPr marL="54864" marR="54864" marT="27432" marB="27432">
                    <a:solidFill>
                      <a:srgbClr val="E5F5FF"/>
                    </a:solidFill>
                  </a:tcPr>
                </a:tc>
              </a:tr>
              <a:tr h="548640">
                <a:tc>
                  <a:txBody>
                    <a:bodyPr/>
                    <a:lstStyle/>
                    <a:p>
                      <a:r>
                        <a:rPr sz="1000" b="1">
                          <a:solidFill>
                            <a:srgbClr val="4B4B4B"/>
                          </a:solidFill>
                          <a:latin typeface="Arial"/>
                        </a:rPr>
                        <a:t>Status labels</a:t>
                      </a:r>
                    </a:p>
                  </a:txBody>
                  <a:tcPr marL="54864" marR="54864" marT="27432" marB="27432">
                    <a:solidFill>
                      <a:srgbClr val="FFFF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Returned to Marketing, Pending Authorization); an agreed short form, with the full label in the tooltip, only for a label longer than 21 characters.</a:t>
                      </a:r>
                    </a:p>
                  </a:txBody>
                  <a:tcPr marL="54864" marR="54864" marT="27432" marB="27432">
                    <a:solidFill>
                      <a:srgbClr val="FFFFFF"/>
                    </a:solidFill>
                  </a:tcPr>
                </a:tc>
              </a:tr>
              <a:tr h="396240">
                <a:tc>
                  <a:txBody>
                    <a:bodyPr/>
                    <a:lstStyle/>
                    <a:p>
                      <a:r>
                        <a:rPr sz="1000" b="1">
                          <a:solidFill>
                            <a:srgbClr val="4B4B4B"/>
                          </a:solidFill>
                          <a:latin typeface="Arial"/>
                        </a:rPr>
                        <a:t>Labels and names</a:t>
                      </a:r>
                    </a:p>
                  </a:txBody>
                  <a:tcPr marL="54864" marR="54864" marT="27432" marB="27432">
                    <a:solidFill>
                      <a:srgbClr val="E5F5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E5F5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25880"/>
          <a:ext cx="11094414" cy="316992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Dates, amounts and rates</a:t>
                      </a:r>
                    </a:p>
                  </a:txBody>
                  <a:tcPr marL="54864" marR="54864" marT="27432" marB="27432">
                    <a:solidFill>
                      <a:srgbClr val="FFFF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FFFFFF"/>
                    </a:solidFill>
                  </a:tcPr>
                </a:tc>
              </a:tr>
              <a:tr h="396240">
                <a:tc>
                  <a:txBody>
                    <a:bodyPr/>
                    <a:lstStyle/>
                    <a:p>
                      <a:r>
                        <a:rPr sz="1000" b="1">
                          <a:solidFill>
                            <a:srgbClr val="4B4B4B"/>
                          </a:solidFill>
                          <a:latin typeface="Arial"/>
                        </a:rPr>
                        <a:t>Period cell</a:t>
                      </a:r>
                    </a:p>
                  </a:txBody>
                  <a:tcPr marL="54864" marR="54864" marT="27432" marB="27432">
                    <a:solidFill>
                      <a:srgbClr val="E5F5FF"/>
                    </a:solidFill>
                  </a:tcPr>
                </a:tc>
                <a:tc>
                  <a:txBody>
                    <a:bodyPr/>
                    <a:lstStyle/>
                    <a:p>
                      <a:r>
                        <a:rPr sz="1000" b="0">
                          <a:solidFill>
                            <a:srgbClr val="4B4B4B"/>
                          </a:solidFill>
                          <a:latin typeface="Arial"/>
                        </a:rPr>
                        <a:t>A period (period of cover, package term, statement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E5F5FF"/>
                    </a:solidFill>
                  </a:tcPr>
                </a:tc>
              </a:tr>
              <a:tr h="396240">
                <a:tc>
                  <a:txBody>
                    <a:bodyPr/>
                    <a:lstStyle/>
                    <a:p>
                      <a:r>
                        <a:rPr sz="1000" b="1">
                          <a:solidFill>
                            <a:srgbClr val="4B4B4B"/>
                          </a:solidFill>
                          <a:latin typeface="Arial"/>
                        </a:rPr>
                        <a:t>Forms</a:t>
                      </a:r>
                    </a:p>
                  </a:txBody>
                  <a:tcPr marL="54864" marR="54864" marT="27432" marB="27432">
                    <a:solidFill>
                      <a:srgbClr val="FFFF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FFFFFF"/>
                    </a:solidFill>
                  </a:tcPr>
                </a:tc>
              </a:tr>
              <a:tr h="548640">
                <a:tc>
                  <a:txBody>
                    <a:bodyPr/>
                    <a:lstStyle/>
                    <a:p>
                      <a:r>
                        <a:rPr sz="1000" b="1">
                          <a:solidFill>
                            <a:srgbClr val="4B4B4B"/>
                          </a:solidFill>
                          <a:latin typeface="Arial"/>
                        </a:rPr>
                        <a:t>Uploads</a:t>
                      </a:r>
                    </a:p>
                  </a:txBody>
                  <a:tcPr marL="54864" marR="54864" marT="27432" marB="27432">
                    <a:solidFill>
                      <a:srgbClr val="E5F5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E5F5FF"/>
                    </a:solidFill>
                  </a:tcPr>
                </a:tc>
              </a:tr>
              <a:tr h="548640">
                <a:tc>
                  <a:txBody>
                    <a:bodyPr/>
                    <a:lstStyle/>
                    <a:p>
                      <a:r>
                        <a:rPr sz="1000" b="1">
                          <a:solidFill>
                            <a:srgbClr val="4B4B4B"/>
                          </a:solidFill>
                          <a:latin typeface="Arial"/>
                        </a:rPr>
                        <a:t>Confirmations and reasons</a:t>
                      </a:r>
                    </a:p>
                  </a:txBody>
                  <a:tcPr marL="54864" marR="54864" marT="27432" marB="27432">
                    <a:solidFill>
                      <a:srgbClr val="FFFF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FFFFFF"/>
                    </a:solidFill>
                  </a:tcPr>
                </a:tc>
              </a:tr>
              <a:tr h="396240">
                <a:tc>
                  <a:txBody>
                    <a:bodyPr/>
                    <a:lstStyle/>
                    <a:p>
                      <a:r>
                        <a:rPr sz="1000" b="1">
                          <a:solidFill>
                            <a:srgbClr val="4B4B4B"/>
                          </a:solidFill>
                          <a:latin typeface="Arial"/>
                        </a:rPr>
                        <a:t>Notifications</a:t>
                      </a:r>
                    </a:p>
                  </a:txBody>
                  <a:tcPr marL="54864" marR="54864" marT="27432" marB="27432">
                    <a:solidFill>
                      <a:srgbClr val="E5F5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E5F5FF"/>
                    </a:solidFill>
                  </a:tcPr>
                </a:tc>
              </a:tr>
              <a:tr h="243840">
                <a:tc>
                  <a:txBody>
                    <a:bodyPr/>
                    <a:lstStyle/>
                    <a:p>
                      <a:r>
                        <a:rPr sz="1000" b="1">
                          <a:solidFill>
                            <a:srgbClr val="4B4B4B"/>
                          </a:solidFill>
                          <a:latin typeface="Arial"/>
                        </a:rPr>
                        <a:t>Documents</a:t>
                      </a:r>
                    </a:p>
                  </a:txBody>
                  <a:tcPr marL="54864" marR="54864" marT="27432" marB="27432">
                    <a:solidFill>
                      <a:srgbClr val="FFFF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NAV-NB-01 The page Marketing Account Officer sees after sign-in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61991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NAV-NB-01 Every group of the menu open (part 1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4865027" y="1261872"/>
            <a:ext cx="2461641" cy="4715256"/>
          </a:xfrm>
          <a:prstGeom prst="rect">
            <a:avLst/>
          </a:prstGeom>
          <a:ln w="9525">
            <a:solidFill>
              <a:srgbClr val="C2C2C1"/>
            </a:solidFill>
          </a:ln>
        </p:spPr>
      </p:pic>
      <p:pic>
        <p:nvPicPr>
          <p:cNvPr id="12" name="Picture 11" descr="slice-00007.png"/>
          <p:cNvPicPr>
            <a:picLocks noChangeAspect="1"/>
          </p:cNvPicPr>
          <p:nvPr/>
        </p:nvPicPr>
        <p:blipFill>
          <a:blip r:embed="rId5"/>
          <a:stretch>
            <a:fillRect/>
          </a:stretch>
        </p:blipFill>
        <p:spPr>
          <a:xfrm>
            <a:off x="7555268" y="1261872"/>
            <a:ext cx="2461641" cy="192857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NAV-NB-01 Every group of the menu open (part 2 of 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Account Officer: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New Client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KYC Reviews Due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New Quotation</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New Account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FFY Register</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Direct Payment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Non-Package Management</a:t>
                      </a:r>
                    </a:p>
                  </a:txBody>
                  <a:tcPr marL="54864" marR="54864" marT="27432" marB="27432">
                    <a:solidFill>
                      <a:srgbClr val="FFFFFF"/>
                    </a:solidFill>
                  </a:tcPr>
                </a:tc>
                <a:tc>
                  <a:txBody>
                    <a:bodyPr/>
                    <a:lstStyle/>
                    <a:p>
                      <a:r>
                        <a:rPr sz="1100" b="0">
                          <a:solidFill>
                            <a:srgbClr val="4B4B4B"/>
                          </a:solidFill>
                          <a:latin typeface="Arial"/>
                        </a:rPr>
                        <a:t>Proposal Requests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Non-Package Management</a:t>
                      </a:r>
                    </a:p>
                  </a:txBody>
                  <a:tcPr marL="54864" marR="54864" marT="27432" marB="27432">
                    <a:solidFill>
                      <a:srgbClr val="E5F5FF"/>
                    </a:solidFill>
                  </a:tcPr>
                </a:tc>
                <a:tc>
                  <a:txBody>
                    <a:bodyPr/>
                    <a:lstStyle/>
                    <a:p>
                      <a:r>
                        <a:rPr sz="1100" b="0">
                          <a:solidFill>
                            <a:srgbClr val="4B4B4B"/>
                          </a:solidFill>
                          <a:latin typeface="Arial"/>
                        </a:rPr>
                        <a:t>New Proposal Request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Slips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Issuance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Insurance Advice</a:t>
                      </a:r>
                    </a:p>
                  </a:txBody>
                  <a:tcPr marL="54864" marR="54864" marT="27432" marB="27432">
                    <a:solidFill>
                      <a:srgbClr val="E5F5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Account Officer: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NAV-NB-02 The page Marketing TL / TH / UH sees after sign-in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8.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0.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1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NAV-NB-02 Every group of the menu open (part 1 of 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4.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15.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NAV-NB-02 Every group of the menu open (part 2 of 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TL / TH / UH: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New Client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KYC Reviews Due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New Quotation</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New Account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FFY Register</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Direct Payment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Non-Package Management</a:t>
                      </a:r>
                    </a:p>
                  </a:txBody>
                  <a:tcPr marL="54864" marR="54864" marT="27432" marB="27432">
                    <a:solidFill>
                      <a:srgbClr val="FFFFFF"/>
                    </a:solidFill>
                  </a:tcPr>
                </a:tc>
                <a:tc>
                  <a:txBody>
                    <a:bodyPr/>
                    <a:lstStyle/>
                    <a:p>
                      <a:r>
                        <a:rPr sz="1100" b="0">
                          <a:solidFill>
                            <a:srgbClr val="4B4B4B"/>
                          </a:solidFill>
                          <a:latin typeface="Arial"/>
                        </a:rPr>
                        <a:t>Proposal Requests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Non-Package Management</a:t>
                      </a:r>
                    </a:p>
                  </a:txBody>
                  <a:tcPr marL="54864" marR="54864" marT="27432" marB="27432">
                    <a:solidFill>
                      <a:srgbClr val="E5F5FF"/>
                    </a:solidFill>
                  </a:tcPr>
                </a:tc>
                <a:tc>
                  <a:txBody>
                    <a:bodyPr/>
                    <a:lstStyle/>
                    <a:p>
                      <a:r>
                        <a:rPr sz="1100" b="0">
                          <a:solidFill>
                            <a:srgbClr val="4B4B4B"/>
                          </a:solidFill>
                          <a:latin typeface="Arial"/>
                        </a:rPr>
                        <a:t>New Proposal Request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Slips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Issuance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Insurance Advice</a:t>
                      </a:r>
                    </a:p>
                  </a:txBody>
                  <a:tcPr marL="54864" marR="54864" marT="27432" marB="27432">
                    <a:solidFill>
                      <a:srgbClr val="E5F5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TL / TH / UH: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Production Targets</a:t>
                      </a:r>
                    </a:p>
                  </a:txBody>
                  <a:tcPr marL="54864" marR="54864" marT="27432" marB="27432">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Technical Support Unit: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NAV-NB-03 The page Technical Support Unit sees after sign-in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Technical Support Unit: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28257"/>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NAV-NB-03 Every group of the menu open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Technical Support Unit: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Non-Package Management</a:t>
                      </a:r>
                    </a:p>
                  </a:txBody>
                  <a:tcPr marL="54864" marR="54864" marT="27432" marB="27432">
                    <a:solidFill>
                      <a:srgbClr val="E5F5FF"/>
                    </a:solidFill>
                  </a:tcPr>
                </a:tc>
                <a:tc>
                  <a:txBody>
                    <a:bodyPr/>
                    <a:lstStyle/>
                    <a:p>
                      <a:r>
                        <a:rPr sz="1100" b="0">
                          <a:solidFill>
                            <a:srgbClr val="4B4B4B"/>
                          </a:solidFill>
                          <a:latin typeface="Arial"/>
                        </a:rPr>
                        <a:t>Proposal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Non-Package Management</a:t>
                      </a:r>
                    </a:p>
                  </a:txBody>
                  <a:tcPr marL="54864" marR="54864" marT="27432" marB="27432">
                    <a:solidFill>
                      <a:srgbClr val="FFFFFF"/>
                    </a:solidFill>
                  </a:tcPr>
                </a:tc>
                <a:tc>
                  <a:txBody>
                    <a:bodyPr/>
                    <a:lstStyle/>
                    <a:p>
                      <a:r>
                        <a:rPr sz="1100" b="0">
                          <a:solidFill>
                            <a:srgbClr val="4B4B4B"/>
                          </a:solidFill>
                          <a:latin typeface="Arial"/>
                        </a:rPr>
                        <a:t>TSU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NAV-NB-04 The page Processing sees after sign-in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693586"/>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NAV-NB-04 Every group of the menu open (part 1 of 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25.png"/>
          <p:cNvPicPr>
            <a:picLocks noChangeAspect="1"/>
          </p:cNvPicPr>
          <p:nvPr/>
        </p:nvPicPr>
        <p:blipFill>
          <a:blip r:embed="rId4"/>
          <a:stretch>
            <a:fillRect/>
          </a:stretch>
        </p:blipFill>
        <p:spPr>
          <a:xfrm>
            <a:off x="6210147" y="1261872"/>
            <a:ext cx="2461641" cy="276067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NAV-NB-04 Every group of the menu open (part 2 of 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Processing: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New Account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FFY Register</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Direct Payment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Slips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CLPC Billing</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E-policy Upload</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Insurance Advice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E-policy Dispatch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Workbench</a:t>
                      </a:r>
                    </a:p>
                  </a:txBody>
                  <a:tcPr marL="54864" marR="54864" marT="27432" marB="27432">
                    <a:solidFill>
                      <a:srgbClr val="E5F5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Processing: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Endorsements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Service Invoices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Batch Runs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NAV-NB-05 The page Processing Team Leader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Team Leader: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8.png"/>
          <p:cNvPicPr>
            <a:picLocks noChangeAspect="1"/>
          </p:cNvPicPr>
          <p:nvPr/>
        </p:nvPicPr>
        <p:blipFill>
          <a:blip r:embed="rId5"/>
          <a:stretch>
            <a:fillRect/>
          </a:stretch>
        </p:blipFill>
        <p:spPr>
          <a:xfrm>
            <a:off x="6210147" y="1261872"/>
            <a:ext cx="2461641" cy="4693586"/>
          </a:xfrm>
          <a:prstGeom prst="rect">
            <a:avLst/>
          </a:prstGeom>
          <a:ln w="9525">
            <a:solidFill>
              <a:srgbClr val="C2C2C1"/>
            </a:solidFill>
          </a:ln>
        </p:spPr>
      </p:pic>
      <p:pic>
        <p:nvPicPr>
          <p:cNvPr id="13" name="Picture 12" descr="slice-0002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NAV-NB-05 Every group of the menu open (part 1 of 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Team Leader: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0.png"/>
          <p:cNvPicPr>
            <a:picLocks noChangeAspect="1"/>
          </p:cNvPicPr>
          <p:nvPr/>
        </p:nvPicPr>
        <p:blipFill>
          <a:blip r:embed="rId3"/>
          <a:stretch>
            <a:fillRect/>
          </a:stretch>
        </p:blipFill>
        <p:spPr>
          <a:xfrm>
            <a:off x="4865027" y="1261872"/>
            <a:ext cx="2461641" cy="18418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NAV-NB-05 Every group of the menu open (part 2 of 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Processing Team Leader: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New Account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FFY Register</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Direct Payment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Slips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CLPC Billing</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E-policy Upload</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Insurance Advice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E-policy Dispatch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Workbench</a:t>
                      </a:r>
                    </a:p>
                  </a:txBody>
                  <a:tcPr marL="54864" marR="54864" marT="27432" marB="27432">
                    <a:solidFill>
                      <a:srgbClr val="E5F5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Processing Team Leader: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Endorsements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Service Invoices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Batch Runs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Production Targets</a:t>
                      </a:r>
                    </a:p>
                  </a:txBody>
                  <a:tcPr marL="54864" marR="54864" marT="27432" marB="27432">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NAV-NB-06 The page New Business Approver sees after sign-in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3.png"/>
          <p:cNvPicPr>
            <a:picLocks noChangeAspect="1"/>
          </p:cNvPicPr>
          <p:nvPr/>
        </p:nvPicPr>
        <p:blipFill>
          <a:blip r:embed="rId5"/>
          <a:stretch>
            <a:fillRect/>
          </a:stretch>
        </p:blipFill>
        <p:spPr>
          <a:xfrm>
            <a:off x="6210147" y="1261872"/>
            <a:ext cx="2461641" cy="4728257"/>
          </a:xfrm>
          <a:prstGeom prst="rect">
            <a:avLst/>
          </a:prstGeom>
          <a:ln w="9525">
            <a:solidFill>
              <a:srgbClr val="C2C2C1"/>
            </a:solidFill>
          </a:ln>
        </p:spPr>
      </p:pic>
      <p:pic>
        <p:nvPicPr>
          <p:cNvPr id="13" name="Picture 12" descr="slice-0003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NAV-NB-06 Every group of the menu open (part 1 of 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5.png"/>
          <p:cNvPicPr>
            <a:picLocks noChangeAspect="1"/>
          </p:cNvPicPr>
          <p:nvPr/>
        </p:nvPicPr>
        <p:blipFill>
          <a:blip r:embed="rId3"/>
          <a:stretch>
            <a:fillRect/>
          </a:stretch>
        </p:blipFill>
        <p:spPr>
          <a:xfrm>
            <a:off x="2174786" y="1261872"/>
            <a:ext cx="2461641" cy="4602575"/>
          </a:xfrm>
          <a:prstGeom prst="rect">
            <a:avLst/>
          </a:prstGeom>
          <a:ln w="9525">
            <a:solidFill>
              <a:srgbClr val="C2C2C1"/>
            </a:solidFill>
          </a:ln>
        </p:spPr>
      </p:pic>
      <p:pic>
        <p:nvPicPr>
          <p:cNvPr id="11" name="Picture 10" descr="slice-00036.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37.png"/>
          <p:cNvPicPr>
            <a:picLocks noChangeAspect="1"/>
          </p:cNvPicPr>
          <p:nvPr/>
        </p:nvPicPr>
        <p:blipFill>
          <a:blip r:embed="rId5"/>
          <a:stretch>
            <a:fillRect/>
          </a:stretch>
        </p:blipFill>
        <p:spPr>
          <a:xfrm>
            <a:off x="7555268" y="1261872"/>
            <a:ext cx="2461641" cy="1694545"/>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NAV-NB-06 Every group of the menu open (part 2 of 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New Business Approver: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Production Targets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Lists of Values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Data Retention</a:t>
                      </a:r>
                    </a:p>
                  </a:txBody>
                  <a:tcPr marL="54864" marR="54864" marT="27432" marB="27432">
                    <a:solidFill>
                      <a:srgbClr val="E5F5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New Business Approver: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Document Templates</a:t>
                      </a:r>
                    </a:p>
                  </a:txBody>
                  <a:tcPr marL="54864" marR="54864" marT="27432" marB="27432">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E-policy Sender: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NAV-NB-07 The page E-policy Sender sees after sign-in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E-policy Sender: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8.png"/>
          <p:cNvPicPr>
            <a:picLocks noChangeAspect="1"/>
          </p:cNvPicPr>
          <p:nvPr/>
        </p:nvPicPr>
        <p:blipFill>
          <a:blip r:embed="rId3"/>
          <a:stretch>
            <a:fillRect/>
          </a:stretch>
        </p:blipFill>
        <p:spPr>
          <a:xfrm>
            <a:off x="2174786" y="1261872"/>
            <a:ext cx="2461641" cy="4710922"/>
          </a:xfrm>
          <a:prstGeom prst="rect">
            <a:avLst/>
          </a:prstGeom>
          <a:ln w="9525">
            <a:solidFill>
              <a:srgbClr val="C2C2C1"/>
            </a:solidFill>
          </a:ln>
        </p:spPr>
      </p:pic>
      <p:pic>
        <p:nvPicPr>
          <p:cNvPr id="11" name="Picture 10" descr="slice-00039.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40.png"/>
          <p:cNvPicPr>
            <a:picLocks noChangeAspect="1"/>
          </p:cNvPicPr>
          <p:nvPr/>
        </p:nvPicPr>
        <p:blipFill>
          <a:blip r:embed="rId5"/>
          <a:stretch>
            <a:fillRect/>
          </a:stretch>
        </p:blipFill>
        <p:spPr>
          <a:xfrm>
            <a:off x="7555268" y="1261872"/>
            <a:ext cx="2461641" cy="1824561"/>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NAV-NB-07 Every group of the menu open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E-policy Sender: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325880"/>
          <a:ext cx="11094414" cy="36271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E-policy Dispatch</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NAV-NB-08 The page Adjustment sees after sign-in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3.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44.png"/>
          <p:cNvPicPr>
            <a:picLocks noChangeAspect="1"/>
          </p:cNvPicPr>
          <p:nvPr/>
        </p:nvPicPr>
        <p:blipFill>
          <a:blip r:embed="rId6"/>
          <a:stretch>
            <a:fillRect/>
          </a:stretch>
        </p:blipFill>
        <p:spPr>
          <a:xfrm>
            <a:off x="8900388" y="1261872"/>
            <a:ext cx="2461641" cy="379214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NAV-NB-08 Every group of the menu open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Endorsements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Service Invoices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Batch Runs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Bulk Processing</a:t>
                      </a:r>
                    </a:p>
                  </a:txBody>
                  <a:tcPr marL="54864" marR="54864" marT="27432" marB="27432">
                    <a:solidFill>
                      <a:srgbClr val="FFFFFF"/>
                    </a:solidFill>
                  </a:tcPr>
                </a:tc>
                <a:tc>
                  <a:txBody>
                    <a:bodyPr/>
                    <a:lstStyle/>
                    <a:p>
                      <a:r>
                        <a:rPr sz="1100" b="0">
                          <a:solidFill>
                            <a:srgbClr val="4B4B4B"/>
                          </a:solidFill>
                          <a:latin typeface="Arial"/>
                        </a:rPr>
                        <a:t>Bulk Uploads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NAV-NB-09 The page Business Administrator sees after sign-in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5.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6.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NAV-NB-09 Every group of the menu open (part 1 of 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9.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050.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051.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2.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NAV-NB-09 Every group of the menu open (part 2 of 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3.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NAV-NB-09 Every group of the menu open (part 3 of 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Business Administrator: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Booking Setup</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Bulk Processing</a:t>
                      </a:r>
                    </a:p>
                  </a:txBody>
                  <a:tcPr marL="54864" marR="54864" marT="27432" marB="27432">
                    <a:solidFill>
                      <a:srgbClr val="E5F5FF"/>
                    </a:solidFill>
                  </a:tcPr>
                </a:tc>
                <a:tc>
                  <a:txBody>
                    <a:bodyPr/>
                    <a:lstStyle/>
                    <a:p>
                      <a:r>
                        <a:rPr sz="1100" b="0">
                          <a:solidFill>
                            <a:srgbClr val="4B4B4B"/>
                          </a:solidFill>
                          <a:latin typeface="Arial"/>
                        </a:rPr>
                        <a:t>Bulk Uploads</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Production Targets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Lists of Values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Data Retention</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Document Templates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Outbound Messages</a:t>
                      </a:r>
                    </a:p>
                  </a:txBody>
                  <a:tcPr marL="54864" marR="54864" marT="27432" marB="27432">
                    <a:solidFill>
                      <a:srgbClr val="E5F5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NAV-NB-10 The page System Administrator sees after sign-in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4.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NAV-NB-10 Every group of the menu open (part 1 of 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9.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6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NAV-NB-10 Every group of the menu open (part 2 of 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4.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65.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NAV-NB-10 Every group of the menu open (part 3 of 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System Administrator: menu entries of New Business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Booking</a:t>
                      </a:r>
                    </a:p>
                  </a:txBody>
                  <a:tcPr marL="54864" marR="54864" marT="27432" marB="27432">
                    <a:solidFill>
                      <a:srgbClr val="FFFFFF"/>
                    </a:solidFill>
                  </a:tcPr>
                </a:tc>
                <a:tc>
                  <a:txBody>
                    <a:bodyPr/>
                    <a:lstStyle/>
                    <a:p>
                      <a:r>
                        <a:rPr sz="1100" b="0">
                          <a:solidFill>
                            <a:srgbClr val="4B4B4B"/>
                          </a:solidFill>
                          <a:latin typeface="Arial"/>
                        </a:rPr>
                        <a:t>Booking Setup</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Bulk Processing</a:t>
                      </a:r>
                    </a:p>
                  </a:txBody>
                  <a:tcPr marL="54864" marR="54864" marT="27432" marB="27432">
                    <a:solidFill>
                      <a:srgbClr val="E5F5FF"/>
                    </a:solidFill>
                  </a:tcPr>
                </a:tc>
                <a:tc>
                  <a:txBody>
                    <a:bodyPr/>
                    <a:lstStyle/>
                    <a:p>
                      <a:r>
                        <a:rPr sz="1100" b="0">
                          <a:solidFill>
                            <a:srgbClr val="4B4B4B"/>
                          </a:solidFill>
                          <a:latin typeface="Arial"/>
                        </a:rPr>
                        <a:t>Bulk Uploads</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Production Targets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Lists of Values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Data Retention</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Document Templates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Outbound Messages</a:t>
                      </a:r>
                    </a:p>
                  </a:txBody>
                  <a:tcPr marL="54864" marR="54864" marT="27432" marB="27432">
                    <a:solidFill>
                      <a:srgbClr val="E5F5FF"/>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The page Auditor sees after sign-in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6.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6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8.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6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Every group of the menu open (part 1 of 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7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3.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Every group of the menu open (part 2 of 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5.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7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Every group of the menu open (part 3 of 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80.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081.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NAV-NB-11 Every group of the menu open (part 4 of 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New Business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Home</a:t>
                      </a:r>
                    </a:p>
                  </a:txBody>
                  <a:tcPr marL="54864" marR="54864" marT="27432" marB="27432">
                    <a:solidFill>
                      <a:srgbClr val="FFFFFF"/>
                    </a:solidFill>
                  </a:tcPr>
                </a:tc>
                <a:tc>
                  <a:txBody>
                    <a:bodyPr/>
                    <a:lstStyle/>
                    <a:p>
                      <a:r>
                        <a:rPr sz="1100" b="0">
                          <a:solidFill>
                            <a:srgbClr val="4B4B4B"/>
                          </a:solidFill>
                          <a:latin typeface="Arial"/>
                        </a:rPr>
                        <a:t>New Business Dashboard</a:t>
                      </a:r>
                    </a:p>
                  </a:txBody>
                  <a:tcPr marL="54864" marR="54864" marT="27432" marB="27432">
                    <a:solidFill>
                      <a:srgbClr val="FFFFFF"/>
                    </a:solidFill>
                  </a:tcPr>
                </a:tc>
                <a:tc>
                  <a:txBody>
                    <a:bodyPr/>
                    <a:lstStyle/>
                    <a:p>
                      <a:r>
                        <a:rPr sz="1100" b="0">
                          <a:solidFill>
                            <a:srgbClr val="4B4B4B"/>
                          </a:solidFill>
                          <a:latin typeface="Arial"/>
                        </a:rPr>
                        <a:t>NB Dashboard</a:t>
                      </a:r>
                    </a:p>
                  </a:txBody>
                  <a:tcPr marL="54864" marR="54864" marT="27432" marB="27432">
                    <a:solidFill>
                      <a:srgbClr val="FFFFFF"/>
                    </a:solidFill>
                  </a:tcPr>
                </a:tc>
              </a:tr>
              <a:tr h="259080">
                <a:tc>
                  <a:txBody>
                    <a:bodyPr/>
                    <a:lstStyle/>
                    <a:p>
                      <a:r>
                        <a:rPr sz="1100" b="0">
                          <a:solidFill>
                            <a:srgbClr val="4B4B4B"/>
                          </a:solidFill>
                          <a:latin typeface="Arial"/>
                        </a:rPr>
                        <a:t>Home</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c>
                  <a:txBody>
                    <a:bodyPr/>
                    <a:lstStyle/>
                    <a:p>
                      <a:r>
                        <a:rPr sz="1100" b="0">
                          <a:solidFill>
                            <a:srgbClr val="4B4B4B"/>
                          </a:solidFill>
                          <a:latin typeface="Arial"/>
                        </a:rPr>
                        <a:t>My Work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c>
                  <a:txBody>
                    <a:bodyPr/>
                    <a:lstStyle/>
                    <a:p>
                      <a:r>
                        <a:rPr sz="1100" b="0">
                          <a:solidFill>
                            <a:srgbClr val="4B4B4B"/>
                          </a:solidFill>
                          <a:latin typeface="Arial"/>
                        </a:rPr>
                        <a:t>Clients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Clients</a:t>
                      </a:r>
                    </a:p>
                  </a:txBody>
                  <a:tcPr marL="54864" marR="54864" marT="27432" marB="27432">
                    <a:solidFill>
                      <a:srgbClr val="E5F5FF"/>
                    </a:solidFill>
                  </a:tcPr>
                </a:tc>
                <a:tc>
                  <a:txBody>
                    <a:bodyPr/>
                    <a:lstStyle/>
                    <a:p>
                      <a:r>
                        <a:rPr sz="1100" b="0">
                          <a:solidFill>
                            <a:srgbClr val="4B4B4B"/>
                          </a:solidFill>
                          <a:latin typeface="Arial"/>
                        </a:rPr>
                        <a:t>KYC Reviews Due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Quotation / Proposal</a:t>
                      </a:r>
                    </a:p>
                  </a:txBody>
                  <a:tcPr marL="54864" marR="54864" marT="27432" marB="27432">
                    <a:solidFill>
                      <a:srgbClr val="FFFFFF"/>
                    </a:solidFill>
                  </a:tcPr>
                </a:tc>
                <a:tc>
                  <a:txBody>
                    <a:bodyPr/>
                    <a:lstStyle/>
                    <a:p>
                      <a:r>
                        <a:rPr sz="1100" b="0">
                          <a:solidFill>
                            <a:srgbClr val="4B4B4B"/>
                          </a:solidFill>
                          <a:latin typeface="Arial"/>
                        </a:rPr>
                        <a:t>Quotations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Quotation / Proposal</a:t>
                      </a:r>
                    </a:p>
                  </a:txBody>
                  <a:tcPr marL="54864" marR="54864" marT="27432" marB="27432">
                    <a:solidFill>
                      <a:srgbClr val="E5F5FF"/>
                    </a:solidFill>
                  </a:tcPr>
                </a:tc>
                <a:tc>
                  <a:txBody>
                    <a:bodyPr/>
                    <a:lstStyle/>
                    <a:p>
                      <a:r>
                        <a:rPr sz="1100" b="0">
                          <a:solidFill>
                            <a:srgbClr val="4B4B4B"/>
                          </a:solidFill>
                          <a:latin typeface="Arial"/>
                        </a:rPr>
                        <a:t>Quotation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Accounts &amp; Placement</a:t>
                      </a:r>
                    </a:p>
                  </a:txBody>
                  <a:tcPr marL="54864" marR="54864" marT="27432" marB="27432">
                    <a:solidFill>
                      <a:srgbClr val="E5F5FF"/>
                    </a:solidFill>
                  </a:tcPr>
                </a:tc>
                <a:tc>
                  <a:txBody>
                    <a:bodyPr/>
                    <a:lstStyle/>
                    <a:p>
                      <a:r>
                        <a:rPr sz="1100" b="0">
                          <a:solidFill>
                            <a:srgbClr val="4B4B4B"/>
                          </a:solidFill>
                          <a:latin typeface="Arial"/>
                        </a:rPr>
                        <a:t>FFY Register</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Accounts &amp; Placement</a:t>
                      </a:r>
                    </a:p>
                  </a:txBody>
                  <a:tcPr marL="54864" marR="54864" marT="27432" marB="27432">
                    <a:solidFill>
                      <a:srgbClr val="FFFFFF"/>
                    </a:solidFill>
                  </a:tcPr>
                </a:tc>
                <a:tc>
                  <a:txBody>
                    <a:bodyPr/>
                    <a:lstStyle/>
                    <a:p>
                      <a:r>
                        <a:rPr sz="1100" b="0">
                          <a:solidFill>
                            <a:srgbClr val="4B4B4B"/>
                          </a:solidFill>
                          <a:latin typeface="Arial"/>
                        </a:rPr>
                        <a:t>Direct Payment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Placement &amp; Booking</a:t>
                      </a:r>
                    </a:p>
                  </a:txBody>
                  <a:tcPr marL="54864" marR="54864" marT="27432" marB="27432">
                    <a:solidFill>
                      <a:srgbClr val="E5F5FF"/>
                    </a:solidFill>
                  </a:tcPr>
                </a:tc>
                <a:tc>
                  <a:txBody>
                    <a:bodyPr/>
                    <a:lstStyle/>
                    <a:p>
                      <a:r>
                        <a:rPr sz="1100" b="0">
                          <a:solidFill>
                            <a:srgbClr val="4B4B4B"/>
                          </a:solidFill>
                          <a:latin typeface="Arial"/>
                        </a:rPr>
                        <a:t>Placement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Placement &amp; Booking</a:t>
                      </a:r>
                    </a:p>
                  </a:txBody>
                  <a:tcPr marL="54864" marR="54864" marT="27432" marB="27432">
                    <a:solidFill>
                      <a:srgbClr val="FFFFFF"/>
                    </a:solidFill>
                  </a:tcPr>
                </a:tc>
                <a:tc>
                  <a:txBody>
                    <a:bodyPr/>
                    <a:lstStyle/>
                    <a:p>
                      <a:r>
                        <a:rPr sz="1100" b="0">
                          <a:solidFill>
                            <a:srgbClr val="4B4B4B"/>
                          </a:solidFill>
                          <a:latin typeface="Arial"/>
                        </a:rPr>
                        <a:t>Placement Slips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Policy Issuance</a:t>
                      </a:r>
                    </a:p>
                  </a:txBody>
                  <a:tcPr marL="54864" marR="54864" marT="27432" marB="27432">
                    <a:solidFill>
                      <a:srgbClr val="E5F5FF"/>
                    </a:solidFill>
                  </a:tcPr>
                </a:tc>
                <a:tc>
                  <a:txBody>
                    <a:bodyPr/>
                    <a:lstStyle/>
                    <a:p>
                      <a:r>
                        <a:rPr sz="1100" b="0">
                          <a:solidFill>
                            <a:srgbClr val="4B4B4B"/>
                          </a:solidFill>
                          <a:latin typeface="Arial"/>
                        </a:rPr>
                        <a:t>Issuance Workbench</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Policy Issuance</a:t>
                      </a:r>
                    </a:p>
                  </a:txBody>
                  <a:tcPr marL="54864" marR="54864" marT="27432" marB="27432">
                    <a:solidFill>
                      <a:srgbClr val="FFFFFF"/>
                    </a:solidFill>
                  </a:tcPr>
                </a:tc>
                <a:tc>
                  <a:txBody>
                    <a:bodyPr/>
                    <a:lstStyle/>
                    <a:p>
                      <a:r>
                        <a:rPr sz="1100" b="0">
                          <a:solidFill>
                            <a:srgbClr val="4B4B4B"/>
                          </a:solidFill>
                          <a:latin typeface="Arial"/>
                        </a:rPr>
                        <a:t>Insurance Advice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Booking</a:t>
                      </a:r>
                    </a:p>
                  </a:txBody>
                  <a:tcPr marL="54864" marR="54864" marT="27432" marB="27432">
                    <a:solidFill>
                      <a:srgbClr val="E5F5FF"/>
                    </a:solidFill>
                  </a:tcPr>
                </a:tc>
                <a:tc>
                  <a:txBody>
                    <a:bodyPr/>
                    <a:lstStyle/>
                    <a:p>
                      <a:r>
                        <a:rPr sz="1100" b="0">
                          <a:solidFill>
                            <a:srgbClr val="4B4B4B"/>
                          </a:solidFill>
                          <a:latin typeface="Arial"/>
                        </a:rPr>
                        <a:t>Booking Setup</a:t>
                      </a:r>
                    </a:p>
                  </a:txBody>
                  <a:tcPr marL="54864" marR="54864" marT="27432" marB="27432">
                    <a:solidFill>
                      <a:srgbClr val="E5F5FF"/>
                    </a:solidFill>
                  </a:tcPr>
                </a:tc>
              </a:tr>
              <a:tr h="259080">
                <a:tc>
                  <a:txBody>
                    <a:bodyPr/>
                    <a:lstStyle/>
                    <a:p>
                      <a:r>
                        <a:rPr sz="1100" b="0">
                          <a:solidFill>
                            <a:srgbClr val="4B4B4B"/>
                          </a:solidFill>
                          <a:latin typeface="Arial"/>
                        </a:rPr>
                        <a:t>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c>
                  <a:txBody>
                    <a:bodyPr/>
                    <a:lstStyle/>
                    <a:p>
                      <a:r>
                        <a:rPr sz="1100" b="0">
                          <a:solidFill>
                            <a:srgbClr val="4B4B4B"/>
                          </a:solidFill>
                          <a:latin typeface="Arial"/>
                        </a:rPr>
                        <a:t>New Business Reports</a:t>
                      </a:r>
                    </a:p>
                  </a:txBody>
                  <a:tcPr marL="54864" marR="54864" marT="27432" marB="27432">
                    <a:solidFill>
                      <a:srgbClr val="FFFFFF"/>
                    </a:solidFill>
                  </a:tcPr>
                </a:tc>
              </a:tr>
              <a:tr h="259080">
                <a:tc>
                  <a:txBody>
                    <a:bodyPr/>
                    <a:lstStyle/>
                    <a:p>
                      <a:r>
                        <a:rPr sz="1100" b="0">
                          <a:solidFill>
                            <a:srgbClr val="4B4B4B"/>
                          </a:solidFill>
                          <a:latin typeface="Arial"/>
                        </a:rPr>
                        <a:t>Reports</a:t>
                      </a:r>
                    </a:p>
                  </a:txBody>
                  <a:tcPr marL="54864" marR="54864" marT="27432" marB="27432">
                    <a:solidFill>
                      <a:srgbClr val="E5F5FF"/>
                    </a:solidFill>
                  </a:tcPr>
                </a:tc>
                <a:tc>
                  <a:txBody>
                    <a:bodyPr/>
                    <a:lstStyle/>
                    <a:p>
                      <a:r>
                        <a:rPr sz="1100" b="0">
                          <a:solidFill>
                            <a:srgbClr val="4B4B4B"/>
                          </a:solidFill>
                          <a:latin typeface="Arial"/>
                        </a:rPr>
                        <a:t>New Business Reports</a:t>
                      </a:r>
                    </a:p>
                  </a:txBody>
                  <a:tcPr marL="54864" marR="54864" marT="27432" marB="27432">
                    <a:solidFill>
                      <a:srgbClr val="E5F5FF"/>
                    </a:solidFill>
                  </a:tcPr>
                </a:tc>
                <a:tc>
                  <a:txBody>
                    <a:bodyPr/>
                    <a:lstStyle/>
                    <a:p>
                      <a:r>
                        <a:rPr sz="1100" b="0">
                          <a:solidFill>
                            <a:srgbClr val="4B4B4B"/>
                          </a:solidFill>
                          <a:latin typeface="Arial"/>
                        </a:rPr>
                        <a:t>Production Targets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Data Retention</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Broking Setup</a:t>
                      </a:r>
                    </a:p>
                  </a:txBody>
                  <a:tcPr marL="54864" marR="54864" marT="27432" marB="27432">
                    <a:solidFill>
                      <a:srgbClr val="E5F5FF"/>
                    </a:solidFill>
                  </a:tcPr>
                </a:tc>
                <a:tc>
                  <a:txBody>
                    <a:bodyPr/>
                    <a:lstStyle/>
                    <a:p>
                      <a:r>
                        <a:rPr sz="1100" b="0">
                          <a:solidFill>
                            <a:srgbClr val="4B4B4B"/>
                          </a:solidFill>
                          <a:latin typeface="Arial"/>
                        </a:rPr>
                        <a:t>Document Templates</a:t>
                      </a:r>
                    </a:p>
                  </a:txBody>
                  <a:tcPr marL="54864" marR="54864" marT="27432" marB="27432">
                    <a:solidFill>
                      <a:srgbClr val="E5F5FF"/>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New Business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Broking Setup</a:t>
                      </a:r>
                    </a:p>
                  </a:txBody>
                  <a:tcPr marL="54864" marR="54864" marT="27432" marB="27432">
                    <a:solidFill>
                      <a:srgbClr val="FFFFFF"/>
                    </a:solidFill>
                  </a:tcPr>
                </a:tc>
                <a:tc>
                  <a:txBody>
                    <a:bodyPr/>
                    <a:lstStyle/>
                    <a:p>
                      <a:r>
                        <a:rPr sz="1100" b="0">
                          <a:solidFill>
                            <a:srgbClr val="4B4B4B"/>
                          </a:solidFill>
                          <a:latin typeface="Arial"/>
                        </a:rPr>
                        <a:t>Outbound Messages</a:t>
                      </a:r>
                    </a:p>
                  </a:txBody>
                  <a:tcPr marL="54864" marR="54864" marT="27432" marB="27432">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Account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07592"/>
          <a:ext cx="5410047" cy="187452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Account Officer of the head office or of a branch who serves the clients and brings in the business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Captures requests; creates clients, quotations, PRFs and accounts; uploads bulk files; handles returned accounts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NAV-NB-01</a:t>
                      </a:r>
                    </a:p>
                  </a:txBody>
                  <a:tcPr marL="54864" marR="54864" marT="27432" marB="27432">
                    <a:solidFill>
                      <a:srgbClr val="FFFFFF"/>
                    </a:solidFill>
                  </a:tcPr>
                </a:tc>
              </a:tr>
              <a:tr h="42672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 2, 4, 5, 7, 8, 9; WT-B steps 1, 8, 9; WT-C steps 1,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SCR-NB-02 New Client and Edit Client</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SCR-NB-06 New Quotation and Edit Quotation</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SCR-NB-09 Proposal Requests</a:t>
            </a:r>
          </a:p>
          <a:p>
            <a:pPr>
              <a:spcAft>
                <a:spcPts val="600"/>
              </a:spcAft>
            </a:pPr>
            <a:r>
              <a:rPr sz="800">
                <a:solidFill>
                  <a:srgbClr val="004EA8"/>
                </a:solidFill>
                <a:latin typeface="Arial"/>
              </a:rPr>
              <a:t>•  </a:t>
            </a:r>
            <a:r>
              <a:rPr sz="800">
                <a:solidFill>
                  <a:srgbClr val="4B4B4B"/>
                </a:solidFill>
                <a:latin typeface="Arial"/>
              </a:rPr>
              <a:t>SCR-NB-10 New Proposal Request and Edit Proposal Request</a:t>
            </a:r>
          </a:p>
          <a:p>
            <a:pPr>
              <a:spcAft>
                <a:spcPts val="600"/>
              </a:spcAft>
            </a:pPr>
            <a:r>
              <a:rPr sz="800">
                <a:solidFill>
                  <a:srgbClr val="004EA8"/>
                </a:solidFill>
                <a:latin typeface="Arial"/>
              </a:rPr>
              <a:t>•  </a:t>
            </a:r>
            <a:r>
              <a:rPr sz="800">
                <a:solidFill>
                  <a:srgbClr val="4B4B4B"/>
                </a:solidFill>
                <a:latin typeface="Arial"/>
              </a:rPr>
              <a:t>SCR-NB-11 Proposal Request record</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SCR-NB-14 New Account and Edit Account</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TL / TH / UH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team leader, team head or unit head, who approves the quotations and proposal requests of the team and verifies the KYC</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AO, and approves quotations and PRFs, verifies KYC, assigns work</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3, 6; WT-B steps 2; WT-C steps 2, 3,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SCR-NB-02 New Client and Edit Client</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SCR-NB-06 New Quotation and Edit Quotation</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SCR-NB-09 Proposal Requests</a:t>
            </a:r>
          </a:p>
          <a:p>
            <a:pPr>
              <a:spcAft>
                <a:spcPts val="600"/>
              </a:spcAft>
            </a:pPr>
            <a:r>
              <a:rPr sz="800">
                <a:solidFill>
                  <a:srgbClr val="004EA8"/>
                </a:solidFill>
                <a:latin typeface="Arial"/>
              </a:rPr>
              <a:t>•  </a:t>
            </a:r>
            <a:r>
              <a:rPr sz="800">
                <a:solidFill>
                  <a:srgbClr val="4B4B4B"/>
                </a:solidFill>
                <a:latin typeface="Arial"/>
              </a:rPr>
              <a:t>SCR-NB-10 New Proposal Request and Edit Proposal Request</a:t>
            </a:r>
          </a:p>
          <a:p>
            <a:pPr>
              <a:spcAft>
                <a:spcPts val="600"/>
              </a:spcAft>
            </a:pPr>
            <a:r>
              <a:rPr sz="800">
                <a:solidFill>
                  <a:srgbClr val="004EA8"/>
                </a:solidFill>
                <a:latin typeface="Arial"/>
              </a:rPr>
              <a:t>•  </a:t>
            </a:r>
            <a:r>
              <a:rPr sz="800">
                <a:solidFill>
                  <a:srgbClr val="4B4B4B"/>
                </a:solidFill>
                <a:latin typeface="Arial"/>
              </a:rPr>
              <a:t>SCR-NB-11 Proposal Request record</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SCR-NB-14 New Account and Edit Account</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a:p>
            <a:pPr>
              <a:spcAft>
                <a:spcPts val="600"/>
              </a:spcAft>
            </a:pPr>
            <a:r>
              <a:rPr sz="800">
                <a:solidFill>
                  <a:srgbClr val="004EA8"/>
                </a:solidFill>
                <a:latin typeface="Arial"/>
              </a:rPr>
              <a:t>•  </a:t>
            </a:r>
            <a:r>
              <a:rPr sz="800">
                <a:solidFill>
                  <a:srgbClr val="4B4B4B"/>
                </a:solidFill>
                <a:latin typeface="Arial"/>
              </a:rPr>
              <a:t>SCR-NB-41 Production Targets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Technical Support Unit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underwriter of the Technical Support Unit who prepares the quotation and proposal slips of the non-package risks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Receives PRFs; prepares and approves quotation and proposal slips (never both on the same slip); keys in insurer terms; clears accounts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3, 4, 5, 6,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SCR-NB-09 Proposal Requests</a:t>
            </a:r>
          </a:p>
          <a:p>
            <a:pPr>
              <a:spcAft>
                <a:spcPts val="600"/>
              </a:spcAft>
            </a:pPr>
            <a:r>
              <a:rPr sz="800">
                <a:solidFill>
                  <a:srgbClr val="004EA8"/>
                </a:solidFill>
                <a:latin typeface="Arial"/>
              </a:rPr>
              <a:t>•  </a:t>
            </a:r>
            <a:r>
              <a:rPr sz="800">
                <a:solidFill>
                  <a:srgbClr val="4B4B4B"/>
                </a:solidFill>
                <a:latin typeface="Arial"/>
              </a:rPr>
              <a:t>SCR-NB-11 Proposal Request record</a:t>
            </a:r>
          </a:p>
          <a:p>
            <a:pPr>
              <a:spcAft>
                <a:spcPts val="600"/>
              </a:spcAft>
            </a:pPr>
            <a:r>
              <a:rPr sz="800">
                <a:solidFill>
                  <a:srgbClr val="004EA8"/>
                </a:solidFill>
                <a:latin typeface="Arial"/>
              </a:rPr>
              <a:t>•  </a:t>
            </a:r>
            <a:r>
              <a:rPr sz="800">
                <a:solidFill>
                  <a:srgbClr val="4B4B4B"/>
                </a:solidFill>
                <a:latin typeface="Arial"/>
              </a:rPr>
              <a:t>SCR-NB-12 TSU Workbench</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Processing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graphicFrame>
        <p:nvGraphicFramePr>
          <p:cNvPr id="9" name="Table 8"/>
          <p:cNvGraphicFramePr>
            <a:graphicFrameLocks noGrp="1"/>
          </p:cNvGraphicFramePr>
          <p:nvPr/>
        </p:nvGraphicFramePr>
        <p:xfrm>
          <a:off x="548640" y="1307592"/>
          <a:ext cx="5410047" cy="187452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Processing officer who validates the accounts, confirms the payments, places the accounts, receives the e-policies and books the accounts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Validates accounts; billing and payment matching; placement, hold cover, returns; e-policy receipt, Insurance Advice; booking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NAV-NB-04</a:t>
                      </a:r>
                    </a:p>
                  </a:txBody>
                  <a:tcPr marL="54864" marR="54864" marT="27432" marB="27432">
                    <a:solidFill>
                      <a:srgbClr val="FFFFFF"/>
                    </a:solidFill>
                  </a:tcPr>
                </a:tc>
              </a:tr>
              <a:tr h="42672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10, 11, 12, 13, 14, 16, 17; WT-C steps 5, 6, 8,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(34)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SCR-NB-14 New Account and Edit Account</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SCR-NB-21 CLPC Billing</a:t>
            </a:r>
          </a:p>
          <a:p>
            <a:pPr>
              <a:spcAft>
                <a:spcPts val="600"/>
              </a:spcAft>
            </a:pPr>
            <a:r>
              <a:rPr sz="800">
                <a:solidFill>
                  <a:srgbClr val="004EA8"/>
                </a:solidFill>
                <a:latin typeface="Arial"/>
              </a:rPr>
              <a:t>•  </a:t>
            </a:r>
            <a:r>
              <a:rPr sz="800">
                <a:solidFill>
                  <a:srgbClr val="4B4B4B"/>
                </a:solidFill>
                <a:latin typeface="Arial"/>
              </a:rPr>
              <a:t>SCR-NB-22 Payment Report</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SCR-NB-24 E-policy Upload</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SCR-NB-27 E-policy Dispatch</a:t>
            </a:r>
          </a:p>
          <a:p>
            <a:pPr>
              <a:spcAft>
                <a:spcPts val="600"/>
              </a:spcAft>
            </a:pPr>
            <a:r>
              <a:rPr sz="800">
                <a:solidFill>
                  <a:srgbClr val="004EA8"/>
                </a:solidFill>
                <a:latin typeface="Arial"/>
              </a:rPr>
              <a:t>•  </a:t>
            </a:r>
            <a:r>
              <a:rPr sz="800">
                <a:solidFill>
                  <a:srgbClr val="4B4B4B"/>
                </a:solidFill>
                <a:latin typeface="Arial"/>
              </a:rPr>
              <a:t>SCR-NB-28 Booking Workbench</a:t>
            </a:r>
          </a:p>
          <a:p>
            <a:pPr>
              <a:spcAft>
                <a:spcPts val="600"/>
              </a:spcAft>
            </a:pPr>
            <a:r>
              <a:rPr sz="800">
                <a:solidFill>
                  <a:srgbClr val="004EA8"/>
                </a:solidFill>
                <a:latin typeface="Arial"/>
              </a:rPr>
              <a:t>•  </a:t>
            </a:r>
            <a:r>
              <a:rPr sz="800">
                <a:solidFill>
                  <a:srgbClr val="4B4B4B"/>
                </a:solidFill>
                <a:latin typeface="Arial"/>
              </a:rPr>
              <a:t>SCR-NB-29 Pre-booking Confirmation</a:t>
            </a:r>
          </a:p>
          <a:p>
            <a:pPr>
              <a:spcAft>
                <a:spcPts val="600"/>
              </a:spcAft>
            </a:pPr>
            <a:r>
              <a:rPr sz="800">
                <a:solidFill>
                  <a:srgbClr val="004EA8"/>
                </a:solidFill>
                <a:latin typeface="Arial"/>
              </a:rPr>
              <a:t>•  </a:t>
            </a:r>
            <a:r>
              <a:rPr sz="800">
                <a:solidFill>
                  <a:srgbClr val="4B4B4B"/>
                </a:solidFill>
                <a:latin typeface="Arial"/>
              </a:rPr>
              <a:t>SCR-NB-30 Booked Invoice</a:t>
            </a:r>
          </a:p>
          <a:p>
            <a:pPr>
              <a:spcAft>
                <a:spcPts val="600"/>
              </a:spcAft>
            </a:pPr>
            <a:r>
              <a:rPr sz="800">
                <a:solidFill>
                  <a:srgbClr val="004EA8"/>
                </a:solidFill>
                <a:latin typeface="Arial"/>
              </a:rPr>
              <a:t>•  </a:t>
            </a:r>
            <a:r>
              <a:rPr sz="800">
                <a:solidFill>
                  <a:srgbClr val="4B4B4B"/>
                </a:solidFill>
                <a:latin typeface="Arial"/>
              </a:rPr>
              <a:t>SCR-NB-31 Endorsements and New Endorsement</a:t>
            </a:r>
          </a:p>
          <a:p>
            <a:pPr>
              <a:spcAft>
                <a:spcPts val="600"/>
              </a:spcAft>
            </a:pPr>
            <a:r>
              <a:rPr sz="800">
                <a:solidFill>
                  <a:srgbClr val="004EA8"/>
                </a:solidFill>
                <a:latin typeface="Arial"/>
              </a:rPr>
              <a:t>•  </a:t>
            </a:r>
            <a:r>
              <a:rPr sz="800">
                <a:solidFill>
                  <a:srgbClr val="4B4B4B"/>
                </a:solidFill>
                <a:latin typeface="Arial"/>
              </a:rPr>
              <a:t>SCR-NB-32 Service Invoices</a:t>
            </a:r>
          </a:p>
          <a:p>
            <a:pPr>
              <a:spcAft>
                <a:spcPts val="600"/>
              </a:spcAft>
            </a:pPr>
            <a:r>
              <a:rPr sz="800">
                <a:solidFill>
                  <a:srgbClr val="004EA8"/>
                </a:solidFill>
                <a:latin typeface="Arial"/>
              </a:rPr>
              <a:t>•  </a:t>
            </a:r>
            <a:r>
              <a:rPr sz="800">
                <a:solidFill>
                  <a:srgbClr val="4B4B4B"/>
                </a:solidFill>
                <a:latin typeface="Arial"/>
              </a:rPr>
              <a:t>SCR-NB-33 Batch Runs</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Processing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of Processing, who assigns the work of the team</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Processing, and assigns work</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(35)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SCR-NB-14 New Account and Edit Account</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SCR-NB-21 CLPC Billing</a:t>
            </a:r>
          </a:p>
          <a:p>
            <a:pPr>
              <a:spcAft>
                <a:spcPts val="600"/>
              </a:spcAft>
            </a:pPr>
            <a:r>
              <a:rPr sz="800">
                <a:solidFill>
                  <a:srgbClr val="004EA8"/>
                </a:solidFill>
                <a:latin typeface="Arial"/>
              </a:rPr>
              <a:t>•  </a:t>
            </a:r>
            <a:r>
              <a:rPr sz="800">
                <a:solidFill>
                  <a:srgbClr val="4B4B4B"/>
                </a:solidFill>
                <a:latin typeface="Arial"/>
              </a:rPr>
              <a:t>SCR-NB-22 Payment Report</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SCR-NB-24 E-policy Upload</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SCR-NB-27 E-policy Dispatch</a:t>
            </a:r>
          </a:p>
          <a:p>
            <a:pPr>
              <a:spcAft>
                <a:spcPts val="600"/>
              </a:spcAft>
            </a:pPr>
            <a:r>
              <a:rPr sz="800">
                <a:solidFill>
                  <a:srgbClr val="004EA8"/>
                </a:solidFill>
                <a:latin typeface="Arial"/>
              </a:rPr>
              <a:t>•  </a:t>
            </a:r>
            <a:r>
              <a:rPr sz="800">
                <a:solidFill>
                  <a:srgbClr val="4B4B4B"/>
                </a:solidFill>
                <a:latin typeface="Arial"/>
              </a:rPr>
              <a:t>SCR-NB-28 Booking Workbench</a:t>
            </a:r>
          </a:p>
          <a:p>
            <a:pPr>
              <a:spcAft>
                <a:spcPts val="600"/>
              </a:spcAft>
            </a:pPr>
            <a:r>
              <a:rPr sz="800">
                <a:solidFill>
                  <a:srgbClr val="004EA8"/>
                </a:solidFill>
                <a:latin typeface="Arial"/>
              </a:rPr>
              <a:t>•  </a:t>
            </a:r>
            <a:r>
              <a:rPr sz="800">
                <a:solidFill>
                  <a:srgbClr val="4B4B4B"/>
                </a:solidFill>
                <a:latin typeface="Arial"/>
              </a:rPr>
              <a:t>SCR-NB-29 Pre-booking Confirmation</a:t>
            </a:r>
          </a:p>
          <a:p>
            <a:pPr>
              <a:spcAft>
                <a:spcPts val="600"/>
              </a:spcAft>
            </a:pPr>
            <a:r>
              <a:rPr sz="800">
                <a:solidFill>
                  <a:srgbClr val="004EA8"/>
                </a:solidFill>
                <a:latin typeface="Arial"/>
              </a:rPr>
              <a:t>•  </a:t>
            </a:r>
            <a:r>
              <a:rPr sz="800">
                <a:solidFill>
                  <a:srgbClr val="4B4B4B"/>
                </a:solidFill>
                <a:latin typeface="Arial"/>
              </a:rPr>
              <a:t>SCR-NB-30 Booked Invoice</a:t>
            </a:r>
          </a:p>
          <a:p>
            <a:pPr>
              <a:spcAft>
                <a:spcPts val="600"/>
              </a:spcAft>
            </a:pPr>
            <a:r>
              <a:rPr sz="800">
                <a:solidFill>
                  <a:srgbClr val="004EA8"/>
                </a:solidFill>
                <a:latin typeface="Arial"/>
              </a:rPr>
              <a:t>•  </a:t>
            </a:r>
            <a:r>
              <a:rPr sz="800">
                <a:solidFill>
                  <a:srgbClr val="4B4B4B"/>
                </a:solidFill>
                <a:latin typeface="Arial"/>
              </a:rPr>
              <a:t>SCR-NB-31 Endorsements and New Endorsement</a:t>
            </a:r>
          </a:p>
          <a:p>
            <a:pPr>
              <a:spcAft>
                <a:spcPts val="600"/>
              </a:spcAft>
            </a:pPr>
            <a:r>
              <a:rPr sz="800">
                <a:solidFill>
                  <a:srgbClr val="004EA8"/>
                </a:solidFill>
                <a:latin typeface="Arial"/>
              </a:rPr>
              <a:t>•  </a:t>
            </a:r>
            <a:r>
              <a:rPr sz="800">
                <a:solidFill>
                  <a:srgbClr val="4B4B4B"/>
                </a:solidFill>
                <a:latin typeface="Arial"/>
              </a:rPr>
              <a:t>SCR-NB-32 Service Invoices</a:t>
            </a:r>
          </a:p>
          <a:p>
            <a:pPr>
              <a:spcAft>
                <a:spcPts val="600"/>
              </a:spcAft>
            </a:pPr>
            <a:r>
              <a:rPr sz="800">
                <a:solidFill>
                  <a:srgbClr val="004EA8"/>
                </a:solidFill>
                <a:latin typeface="Arial"/>
              </a:rPr>
              <a:t>•  </a:t>
            </a:r>
            <a:r>
              <a:rPr sz="800">
                <a:solidFill>
                  <a:srgbClr val="4B4B4B"/>
                </a:solidFill>
                <a:latin typeface="Arial"/>
              </a:rPr>
              <a:t>SCR-NB-33 Batch Runs</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a:p>
            <a:pPr>
              <a:spcAft>
                <a:spcPts val="600"/>
              </a:spcAft>
            </a:pPr>
            <a:r>
              <a:rPr sz="800">
                <a:solidFill>
                  <a:srgbClr val="004EA8"/>
                </a:solidFill>
                <a:latin typeface="Arial"/>
              </a:rPr>
              <a:t>•  </a:t>
            </a:r>
            <a:r>
              <a:rPr sz="800">
                <a:solidFill>
                  <a:srgbClr val="4B4B4B"/>
                </a:solidFill>
                <a:latin typeface="Arial"/>
              </a:rPr>
              <a:t>SCR-NB-41 Production Targets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New Business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New Business approver who authorises the master records and the changes that need a second user</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quotations, access requests and master records; assigns work</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a:p>
            <a:pPr>
              <a:spcAft>
                <a:spcPts val="600"/>
              </a:spcAft>
            </a:pPr>
            <a:r>
              <a:rPr sz="800">
                <a:solidFill>
                  <a:srgbClr val="004EA8"/>
                </a:solidFill>
                <a:latin typeface="Arial"/>
              </a:rPr>
              <a:t>•  </a:t>
            </a:r>
            <a:r>
              <a:rPr sz="800">
                <a:solidFill>
                  <a:srgbClr val="4B4B4B"/>
                </a:solidFill>
                <a:latin typeface="Arial"/>
              </a:rPr>
              <a:t>SCR-NB-41 Production Targets</a:t>
            </a:r>
          </a:p>
          <a:p>
            <a:pPr>
              <a:spcAft>
                <a:spcPts val="600"/>
              </a:spcAft>
            </a:pPr>
            <a:r>
              <a:rPr sz="800">
                <a:solidFill>
                  <a:srgbClr val="004EA8"/>
                </a:solidFill>
                <a:latin typeface="Arial"/>
              </a:rPr>
              <a:t>•  </a:t>
            </a:r>
            <a:r>
              <a:rPr sz="800">
                <a:solidFill>
                  <a:srgbClr val="4B4B4B"/>
                </a:solidFill>
                <a:latin typeface="Arial"/>
              </a:rPr>
              <a:t>SCR-NB-42 Lists of Values</a:t>
            </a:r>
          </a:p>
          <a:p>
            <a:pPr>
              <a:spcAft>
                <a:spcPts val="600"/>
              </a:spcAft>
            </a:pPr>
            <a:r>
              <a:rPr sz="800">
                <a:solidFill>
                  <a:srgbClr val="004EA8"/>
                </a:solidFill>
                <a:latin typeface="Arial"/>
              </a:rPr>
              <a:t>•  </a:t>
            </a:r>
            <a:r>
              <a:rPr sz="800">
                <a:solidFill>
                  <a:srgbClr val="4B4B4B"/>
                </a:solidFill>
                <a:latin typeface="Arial"/>
              </a:rPr>
              <a:t>SCR-NB-43 Data Retention</a:t>
            </a:r>
          </a:p>
          <a:p>
            <a:pPr>
              <a:spcAft>
                <a:spcPts val="600"/>
              </a:spcAft>
            </a:pPr>
            <a:r>
              <a:rPr sz="800">
                <a:solidFill>
                  <a:srgbClr val="004EA8"/>
                </a:solidFill>
                <a:latin typeface="Arial"/>
              </a:rPr>
              <a:t>•  </a:t>
            </a:r>
            <a:r>
              <a:rPr sz="800">
                <a:solidFill>
                  <a:srgbClr val="4B4B4B"/>
                </a:solidFill>
                <a:latin typeface="Arial"/>
              </a:rPr>
              <a:t>SCR-NB-44 Document Templates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E-policy Sender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officer who sends the e-policies and Insurance Advices to the clients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Sends e-policies and Insurance Advices to clients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SCR-NB-01 Clients</a:t>
            </a:r>
          </a:p>
          <a:p>
            <a:pPr>
              <a:spcAft>
                <a:spcPts val="600"/>
              </a:spcAft>
            </a:pPr>
            <a:r>
              <a:rPr sz="900">
                <a:solidFill>
                  <a:srgbClr val="004EA8"/>
                </a:solidFill>
                <a:latin typeface="Arial"/>
              </a:rPr>
              <a:t>•  </a:t>
            </a:r>
            <a:r>
              <a:rPr sz="900">
                <a:solidFill>
                  <a:srgbClr val="4B4B4B"/>
                </a:solidFill>
                <a:latin typeface="Arial"/>
              </a:rPr>
              <a:t>SCR-NB-03 Client record</a:t>
            </a:r>
          </a:p>
          <a:p>
            <a:pPr>
              <a:spcAft>
                <a:spcPts val="600"/>
              </a:spcAft>
            </a:pPr>
            <a:r>
              <a:rPr sz="900">
                <a:solidFill>
                  <a:srgbClr val="004EA8"/>
                </a:solidFill>
                <a:latin typeface="Arial"/>
              </a:rPr>
              <a:t>•  </a:t>
            </a:r>
            <a:r>
              <a:rPr sz="900">
                <a:solidFill>
                  <a:srgbClr val="4B4B4B"/>
                </a:solidFill>
                <a:latin typeface="Arial"/>
              </a:rPr>
              <a:t>SCR-NB-04 KYC Reviews Due</a:t>
            </a:r>
          </a:p>
          <a:p>
            <a:pPr>
              <a:spcAft>
                <a:spcPts val="600"/>
              </a:spcAft>
            </a:pPr>
            <a:r>
              <a:rPr sz="900">
                <a:solidFill>
                  <a:srgbClr val="004EA8"/>
                </a:solidFill>
                <a:latin typeface="Arial"/>
              </a:rPr>
              <a:t>•  </a:t>
            </a:r>
            <a:r>
              <a:rPr sz="900">
                <a:solidFill>
                  <a:srgbClr val="4B4B4B"/>
                </a:solidFill>
                <a:latin typeface="Arial"/>
              </a:rPr>
              <a:t>SCR-NB-13 Accounts</a:t>
            </a:r>
          </a:p>
          <a:p>
            <a:pPr>
              <a:spcAft>
                <a:spcPts val="600"/>
              </a:spcAft>
            </a:pPr>
            <a:r>
              <a:rPr sz="900">
                <a:solidFill>
                  <a:srgbClr val="004EA8"/>
                </a:solidFill>
                <a:latin typeface="Arial"/>
              </a:rPr>
              <a:t>•  </a:t>
            </a:r>
            <a:r>
              <a:rPr sz="900">
                <a:solidFill>
                  <a:srgbClr val="4B4B4B"/>
                </a:solidFill>
                <a:latin typeface="Arial"/>
              </a:rPr>
              <a:t>SCR-NB-15 Account record</a:t>
            </a:r>
          </a:p>
          <a:p>
            <a:pPr>
              <a:spcAft>
                <a:spcPts val="600"/>
              </a:spcAft>
            </a:pPr>
            <a:r>
              <a:rPr sz="900">
                <a:solidFill>
                  <a:srgbClr val="004EA8"/>
                </a:solidFill>
                <a:latin typeface="Arial"/>
              </a:rPr>
              <a:t>•  </a:t>
            </a:r>
            <a:r>
              <a:rPr sz="900">
                <a:solidFill>
                  <a:srgbClr val="4B4B4B"/>
                </a:solidFill>
                <a:latin typeface="Arial"/>
              </a:rPr>
              <a:t>SCR-NB-16 FFY Register</a:t>
            </a:r>
          </a:p>
          <a:p>
            <a:pPr>
              <a:spcAft>
                <a:spcPts val="600"/>
              </a:spcAft>
            </a:pPr>
            <a:r>
              <a:rPr sz="900">
                <a:solidFill>
                  <a:srgbClr val="004EA8"/>
                </a:solidFill>
                <a:latin typeface="Arial"/>
              </a:rPr>
              <a:t>•  </a:t>
            </a:r>
            <a:r>
              <a:rPr sz="900">
                <a:solidFill>
                  <a:srgbClr val="4B4B4B"/>
                </a:solidFill>
                <a:latin typeface="Arial"/>
              </a:rPr>
              <a:t>SCR-NB-17 Direct Payment</a:t>
            </a:r>
          </a:p>
          <a:p>
            <a:pPr>
              <a:spcAft>
                <a:spcPts val="600"/>
              </a:spcAft>
            </a:pPr>
            <a:r>
              <a:rPr sz="900">
                <a:solidFill>
                  <a:srgbClr val="004EA8"/>
                </a:solidFill>
                <a:latin typeface="Arial"/>
              </a:rPr>
              <a:t>•  </a:t>
            </a:r>
            <a:r>
              <a:rPr sz="900">
                <a:solidFill>
                  <a:srgbClr val="4B4B4B"/>
                </a:solidFill>
                <a:latin typeface="Arial"/>
              </a:rPr>
              <a:t>SCR-NB-18 Placement Workbench</a:t>
            </a:r>
          </a:p>
          <a:p>
            <a:pPr>
              <a:spcAft>
                <a:spcPts val="600"/>
              </a:spcAft>
            </a:pPr>
            <a:r>
              <a:rPr sz="900">
                <a:solidFill>
                  <a:srgbClr val="004EA8"/>
                </a:solidFill>
                <a:latin typeface="Arial"/>
              </a:rPr>
              <a:t>•  </a:t>
            </a:r>
            <a:r>
              <a:rPr sz="900">
                <a:solidFill>
                  <a:srgbClr val="4B4B4B"/>
                </a:solidFill>
                <a:latin typeface="Arial"/>
              </a:rPr>
              <a:t>SCR-NB-19 Account Placement</a:t>
            </a:r>
          </a:p>
          <a:p>
            <a:pPr>
              <a:spcAft>
                <a:spcPts val="600"/>
              </a:spcAft>
            </a:pPr>
            <a:r>
              <a:rPr sz="900">
                <a:solidFill>
                  <a:srgbClr val="004EA8"/>
                </a:solidFill>
                <a:latin typeface="Arial"/>
              </a:rPr>
              <a:t>•  </a:t>
            </a:r>
            <a:r>
              <a:rPr sz="900">
                <a:solidFill>
                  <a:srgbClr val="4B4B4B"/>
                </a:solidFill>
                <a:latin typeface="Arial"/>
              </a:rPr>
              <a:t>SCR-NB-20 Placement Slips</a:t>
            </a:r>
          </a:p>
          <a:p>
            <a:pPr>
              <a:spcAft>
                <a:spcPts val="600"/>
              </a:spcAft>
            </a:pPr>
            <a:r>
              <a:rPr sz="900">
                <a:solidFill>
                  <a:srgbClr val="004EA8"/>
                </a:solidFill>
                <a:latin typeface="Arial"/>
              </a:rPr>
              <a:t>•  </a:t>
            </a:r>
            <a:r>
              <a:rPr sz="900">
                <a:solidFill>
                  <a:srgbClr val="4B4B4B"/>
                </a:solidFill>
                <a:latin typeface="Arial"/>
              </a:rPr>
              <a:t>SCR-NB-23 Issuance Workbench</a:t>
            </a:r>
          </a:p>
          <a:p>
            <a:pPr>
              <a:spcAft>
                <a:spcPts val="600"/>
              </a:spcAft>
            </a:pPr>
            <a:r>
              <a:rPr sz="900">
                <a:solidFill>
                  <a:srgbClr val="004EA8"/>
                </a:solidFill>
                <a:latin typeface="Arial"/>
              </a:rPr>
              <a:t>•  </a:t>
            </a:r>
            <a:r>
              <a:rPr sz="900">
                <a:solidFill>
                  <a:srgbClr val="4B4B4B"/>
                </a:solidFill>
                <a:latin typeface="Arial"/>
              </a:rPr>
              <a:t>SCR-NB-25 Extraction Review</a:t>
            </a:r>
          </a:p>
          <a:p>
            <a:pPr>
              <a:spcAft>
                <a:spcPts val="600"/>
              </a:spcAft>
            </a:pPr>
            <a:r>
              <a:rPr sz="900">
                <a:solidFill>
                  <a:srgbClr val="004EA8"/>
                </a:solidFill>
                <a:latin typeface="Arial"/>
              </a:rPr>
              <a:t>•  </a:t>
            </a:r>
            <a:r>
              <a:rPr sz="900">
                <a:solidFill>
                  <a:srgbClr val="4B4B4B"/>
                </a:solidFill>
                <a:latin typeface="Arial"/>
              </a:rPr>
              <a:t>SCR-NB-26 Insurance Advice</a:t>
            </a:r>
          </a:p>
          <a:p>
            <a:pPr>
              <a:spcAft>
                <a:spcPts val="600"/>
              </a:spcAft>
            </a:pPr>
            <a:r>
              <a:rPr sz="900">
                <a:solidFill>
                  <a:srgbClr val="004EA8"/>
                </a:solidFill>
                <a:latin typeface="Arial"/>
              </a:rPr>
              <a:t>•  </a:t>
            </a:r>
            <a:r>
              <a:rPr sz="900">
                <a:solidFill>
                  <a:srgbClr val="4B4B4B"/>
                </a:solidFill>
                <a:latin typeface="Arial"/>
              </a:rPr>
              <a:t>SCR-NB-27 E-policy Dispatch</a:t>
            </a:r>
          </a:p>
          <a:p>
            <a:pPr>
              <a:spcAft>
                <a:spcPts val="600"/>
              </a:spcAft>
            </a:pPr>
            <a:r>
              <a:rPr sz="900">
                <a:solidFill>
                  <a:srgbClr val="004EA8"/>
                </a:solidFill>
                <a:latin typeface="Arial"/>
              </a:rPr>
              <a:t>•  </a:t>
            </a:r>
            <a:r>
              <a:rPr sz="900">
                <a:solidFill>
                  <a:srgbClr val="4B4B4B"/>
                </a:solidFill>
                <a:latin typeface="Arial"/>
              </a:rPr>
              <a:t>SCR-NB-37 NB Dashboard</a:t>
            </a:r>
          </a:p>
          <a:p>
            <a:pPr>
              <a:spcAft>
                <a:spcPts val="600"/>
              </a:spcAft>
            </a:pPr>
            <a:r>
              <a:rPr sz="900">
                <a:solidFill>
                  <a:srgbClr val="004EA8"/>
                </a:solidFill>
                <a:latin typeface="Arial"/>
              </a:rPr>
              <a:t>•  </a:t>
            </a:r>
            <a:r>
              <a:rPr sz="900">
                <a:solidFill>
                  <a:srgbClr val="4B4B4B"/>
                </a:solidFill>
                <a:latin typeface="Arial"/>
              </a:rPr>
              <a:t>SCR-NB-38 My Work</a:t>
            </a:r>
          </a:p>
          <a:p>
            <a:pPr>
              <a:spcAft>
                <a:spcPts val="600"/>
              </a:spcAft>
            </a:pPr>
            <a:r>
              <a:rPr sz="900">
                <a:solidFill>
                  <a:srgbClr val="004EA8"/>
                </a:solidFill>
                <a:latin typeface="Arial"/>
              </a:rPr>
              <a:t>•  </a:t>
            </a:r>
            <a:r>
              <a:rPr sz="900">
                <a:solidFill>
                  <a:srgbClr val="4B4B4B"/>
                </a:solidFill>
                <a:latin typeface="Arial"/>
              </a:rPr>
              <a:t>SCR-NB-39 My Approvals</a:t>
            </a:r>
          </a:p>
          <a:p>
            <a:pPr>
              <a:spcAft>
                <a:spcPts val="600"/>
              </a:spcAft>
            </a:pPr>
            <a:r>
              <a:rPr sz="900">
                <a:solidFill>
                  <a:srgbClr val="004EA8"/>
                </a:solidFill>
                <a:latin typeface="Arial"/>
              </a:rPr>
              <a:t>•  </a:t>
            </a:r>
            <a:r>
              <a:rPr sz="900">
                <a:solidFill>
                  <a:srgbClr val="4B4B4B"/>
                </a:solidFill>
                <a:latin typeface="Arial"/>
              </a:rPr>
              <a:t>SCR-NB-40 New Business Reports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Adjustment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Adjustment officer who cancels bookings and posts the endorsements of booked accounts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Cancels bookings; posts negative and non-financial endorsements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SCR-NB-28 Booking Workbench</a:t>
            </a:r>
          </a:p>
          <a:p>
            <a:pPr>
              <a:spcAft>
                <a:spcPts val="600"/>
              </a:spcAft>
            </a:pPr>
            <a:r>
              <a:rPr sz="800">
                <a:solidFill>
                  <a:srgbClr val="004EA8"/>
                </a:solidFill>
                <a:latin typeface="Arial"/>
              </a:rPr>
              <a:t>•  </a:t>
            </a:r>
            <a:r>
              <a:rPr sz="800">
                <a:solidFill>
                  <a:srgbClr val="4B4B4B"/>
                </a:solidFill>
                <a:latin typeface="Arial"/>
              </a:rPr>
              <a:t>SCR-NB-30 Booked Invoice</a:t>
            </a:r>
          </a:p>
          <a:p>
            <a:pPr>
              <a:spcAft>
                <a:spcPts val="600"/>
              </a:spcAft>
            </a:pPr>
            <a:r>
              <a:rPr sz="800">
                <a:solidFill>
                  <a:srgbClr val="004EA8"/>
                </a:solidFill>
                <a:latin typeface="Arial"/>
              </a:rPr>
              <a:t>•  </a:t>
            </a:r>
            <a:r>
              <a:rPr sz="800">
                <a:solidFill>
                  <a:srgbClr val="4B4B4B"/>
                </a:solidFill>
                <a:latin typeface="Arial"/>
              </a:rPr>
              <a:t>SCR-NB-31 Endorsements and New Endorsement</a:t>
            </a:r>
          </a:p>
          <a:p>
            <a:pPr>
              <a:spcAft>
                <a:spcPts val="600"/>
              </a:spcAft>
            </a:pPr>
            <a:r>
              <a:rPr sz="800">
                <a:solidFill>
                  <a:srgbClr val="004EA8"/>
                </a:solidFill>
                <a:latin typeface="Arial"/>
              </a:rPr>
              <a:t>•  </a:t>
            </a:r>
            <a:r>
              <a:rPr sz="800">
                <a:solidFill>
                  <a:srgbClr val="4B4B4B"/>
                </a:solidFill>
                <a:latin typeface="Arial"/>
              </a:rPr>
              <a:t>SCR-NB-32 Service Invoices</a:t>
            </a:r>
          </a:p>
          <a:p>
            <a:pPr>
              <a:spcAft>
                <a:spcPts val="600"/>
              </a:spcAft>
            </a:pPr>
            <a:r>
              <a:rPr sz="800">
                <a:solidFill>
                  <a:srgbClr val="004EA8"/>
                </a:solidFill>
                <a:latin typeface="Arial"/>
              </a:rPr>
              <a:t>•  </a:t>
            </a:r>
            <a:r>
              <a:rPr sz="800">
                <a:solidFill>
                  <a:srgbClr val="4B4B4B"/>
                </a:solidFill>
                <a:latin typeface="Arial"/>
              </a:rPr>
              <a:t>SCR-NB-33 Batch Runs</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SCR-NB-35 Bulk Uploads</a:t>
            </a:r>
          </a:p>
          <a:p>
            <a:pPr>
              <a:spcAft>
                <a:spcPts val="600"/>
              </a:spcAft>
            </a:pPr>
            <a:r>
              <a:rPr sz="800">
                <a:solidFill>
                  <a:srgbClr val="004EA8"/>
                </a:solidFill>
                <a:latin typeface="Arial"/>
              </a:rPr>
              <a:t>•  </a:t>
            </a:r>
            <a:r>
              <a:rPr sz="800">
                <a:solidFill>
                  <a:srgbClr val="4B4B4B"/>
                </a:solidFill>
                <a:latin typeface="Arial"/>
              </a:rPr>
              <a:t>SCR-NB-36 Bulk upload wizard</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of New Business, who keeps the lists of values, the targets and the message texts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Maintains lists of values and masters; submits access requests; views audit logs and messages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SCR-NB-34 Booking Setup</a:t>
            </a:r>
          </a:p>
          <a:p>
            <a:pPr>
              <a:spcAft>
                <a:spcPts val="600"/>
              </a:spcAft>
            </a:pPr>
            <a:r>
              <a:rPr sz="1100">
                <a:solidFill>
                  <a:srgbClr val="004EA8"/>
                </a:solidFill>
                <a:latin typeface="Arial"/>
              </a:rPr>
              <a:t>•  </a:t>
            </a:r>
            <a:r>
              <a:rPr sz="1100">
                <a:solidFill>
                  <a:srgbClr val="4B4B4B"/>
                </a:solidFill>
                <a:latin typeface="Arial"/>
              </a:rPr>
              <a:t>SCR-NB-35 Bulk Uploads</a:t>
            </a:r>
          </a:p>
          <a:p>
            <a:pPr>
              <a:spcAft>
                <a:spcPts val="600"/>
              </a:spcAft>
            </a:pPr>
            <a:r>
              <a:rPr sz="1100">
                <a:solidFill>
                  <a:srgbClr val="004EA8"/>
                </a:solidFill>
                <a:latin typeface="Arial"/>
              </a:rPr>
              <a:t>•  </a:t>
            </a:r>
            <a:r>
              <a:rPr sz="1100">
                <a:solidFill>
                  <a:srgbClr val="4B4B4B"/>
                </a:solidFill>
                <a:latin typeface="Arial"/>
              </a:rPr>
              <a:t>SCR-NB-36 Bulk upload wizard</a:t>
            </a:r>
          </a:p>
          <a:p>
            <a:pPr>
              <a:spcAft>
                <a:spcPts val="600"/>
              </a:spcAft>
            </a:pPr>
            <a:r>
              <a:rPr sz="1100">
                <a:solidFill>
                  <a:srgbClr val="004EA8"/>
                </a:solidFill>
                <a:latin typeface="Arial"/>
              </a:rPr>
              <a:t>•  </a:t>
            </a:r>
            <a:r>
              <a:rPr sz="1100">
                <a:solidFill>
                  <a:srgbClr val="4B4B4B"/>
                </a:solidFill>
                <a:latin typeface="Arial"/>
              </a:rPr>
              <a:t>SCR-NB-37 NB Dashboard</a:t>
            </a:r>
          </a:p>
          <a:p>
            <a:pPr>
              <a:spcAft>
                <a:spcPts val="600"/>
              </a:spcAft>
            </a:pPr>
            <a:r>
              <a:rPr sz="1100">
                <a:solidFill>
                  <a:srgbClr val="004EA8"/>
                </a:solidFill>
                <a:latin typeface="Arial"/>
              </a:rPr>
              <a:t>•  </a:t>
            </a:r>
            <a:r>
              <a:rPr sz="1100">
                <a:solidFill>
                  <a:srgbClr val="4B4B4B"/>
                </a:solidFill>
                <a:latin typeface="Arial"/>
              </a:rPr>
              <a:t>SCR-NB-38 My Work</a:t>
            </a:r>
          </a:p>
          <a:p>
            <a:pPr>
              <a:spcAft>
                <a:spcPts val="600"/>
              </a:spcAft>
            </a:pPr>
            <a:r>
              <a:rPr sz="1100">
                <a:solidFill>
                  <a:srgbClr val="004EA8"/>
                </a:solidFill>
                <a:latin typeface="Arial"/>
              </a:rPr>
              <a:t>•  </a:t>
            </a:r>
            <a:r>
              <a:rPr sz="1100">
                <a:solidFill>
                  <a:srgbClr val="4B4B4B"/>
                </a:solidFill>
                <a:latin typeface="Arial"/>
              </a:rPr>
              <a:t>SCR-NB-39 My Approvals</a:t>
            </a:r>
          </a:p>
          <a:p>
            <a:pPr>
              <a:spcAft>
                <a:spcPts val="600"/>
              </a:spcAft>
            </a:pPr>
            <a:r>
              <a:rPr sz="1100">
                <a:solidFill>
                  <a:srgbClr val="004EA8"/>
                </a:solidFill>
                <a:latin typeface="Arial"/>
              </a:rPr>
              <a:t>•  </a:t>
            </a:r>
            <a:r>
              <a:rPr sz="1100">
                <a:solidFill>
                  <a:srgbClr val="4B4B4B"/>
                </a:solidFill>
                <a:latin typeface="Arial"/>
              </a:rPr>
              <a:t>SCR-NB-40 New Business Reports</a:t>
            </a:r>
          </a:p>
          <a:p>
            <a:pPr>
              <a:spcAft>
                <a:spcPts val="600"/>
              </a:spcAft>
            </a:pPr>
            <a:r>
              <a:rPr sz="1100">
                <a:solidFill>
                  <a:srgbClr val="004EA8"/>
                </a:solidFill>
                <a:latin typeface="Arial"/>
              </a:rPr>
              <a:t>•  </a:t>
            </a:r>
            <a:r>
              <a:rPr sz="1100">
                <a:solidFill>
                  <a:srgbClr val="4B4B4B"/>
                </a:solidFill>
                <a:latin typeface="Arial"/>
              </a:rPr>
              <a:t>SCR-NB-41 Production Targets</a:t>
            </a:r>
          </a:p>
          <a:p>
            <a:pPr>
              <a:spcAft>
                <a:spcPts val="600"/>
              </a:spcAft>
            </a:pPr>
            <a:r>
              <a:rPr sz="1100">
                <a:solidFill>
                  <a:srgbClr val="004EA8"/>
                </a:solidFill>
                <a:latin typeface="Arial"/>
              </a:rPr>
              <a:t>•  </a:t>
            </a:r>
            <a:r>
              <a:rPr sz="1100">
                <a:solidFill>
                  <a:srgbClr val="4B4B4B"/>
                </a:solidFill>
                <a:latin typeface="Arial"/>
              </a:rPr>
              <a:t>SCR-NB-42 Lists of Values</a:t>
            </a:r>
          </a:p>
          <a:p>
            <a:pPr>
              <a:spcAft>
                <a:spcPts val="600"/>
              </a:spcAft>
            </a:pPr>
            <a:r>
              <a:rPr sz="1100">
                <a:solidFill>
                  <a:srgbClr val="004EA8"/>
                </a:solidFill>
                <a:latin typeface="Arial"/>
              </a:rPr>
              <a:t>•  </a:t>
            </a:r>
            <a:r>
              <a:rPr sz="1100">
                <a:solidFill>
                  <a:srgbClr val="4B4B4B"/>
                </a:solidFill>
                <a:latin typeface="Arial"/>
              </a:rPr>
              <a:t>SCR-NB-43 Data Retention</a:t>
            </a:r>
          </a:p>
          <a:p>
            <a:pPr>
              <a:spcAft>
                <a:spcPts val="600"/>
              </a:spcAft>
            </a:pPr>
            <a:r>
              <a:rPr sz="1100">
                <a:solidFill>
                  <a:srgbClr val="004EA8"/>
                </a:solidFill>
                <a:latin typeface="Arial"/>
              </a:rPr>
              <a:t>•  </a:t>
            </a:r>
            <a:r>
              <a:rPr sz="1100">
                <a:solidFill>
                  <a:srgbClr val="4B4B4B"/>
                </a:solidFill>
                <a:latin typeface="Arial"/>
              </a:rPr>
              <a:t>SCR-NB-44 Document Templates</a:t>
            </a:r>
          </a:p>
          <a:p>
            <a:pPr>
              <a:spcAft>
                <a:spcPts val="600"/>
              </a:spcAft>
            </a:pPr>
            <a:r>
              <a:rPr sz="1100">
                <a:solidFill>
                  <a:srgbClr val="004EA8"/>
                </a:solidFill>
                <a:latin typeface="Arial"/>
              </a:rPr>
              <a:t>•  </a:t>
            </a:r>
            <a:r>
              <a:rPr sz="1100">
                <a:solidFill>
                  <a:srgbClr val="4B4B4B"/>
                </a:solidFill>
                <a:latin typeface="Arial"/>
              </a:rPr>
              <a:t>SCR-NB-45 Outbound Messages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 who keeps the users, the parameters and the jobs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Users, roles, parameters, jobs; submits access requests; maintains lists of values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SCR-NB-34 Booking Setup</a:t>
            </a:r>
          </a:p>
          <a:p>
            <a:pPr>
              <a:spcAft>
                <a:spcPts val="600"/>
              </a:spcAft>
            </a:pPr>
            <a:r>
              <a:rPr sz="1100">
                <a:solidFill>
                  <a:srgbClr val="004EA8"/>
                </a:solidFill>
                <a:latin typeface="Arial"/>
              </a:rPr>
              <a:t>•  </a:t>
            </a:r>
            <a:r>
              <a:rPr sz="1100">
                <a:solidFill>
                  <a:srgbClr val="4B4B4B"/>
                </a:solidFill>
                <a:latin typeface="Arial"/>
              </a:rPr>
              <a:t>SCR-NB-35 Bulk Uploads</a:t>
            </a:r>
          </a:p>
          <a:p>
            <a:pPr>
              <a:spcAft>
                <a:spcPts val="600"/>
              </a:spcAft>
            </a:pPr>
            <a:r>
              <a:rPr sz="1100">
                <a:solidFill>
                  <a:srgbClr val="004EA8"/>
                </a:solidFill>
                <a:latin typeface="Arial"/>
              </a:rPr>
              <a:t>•  </a:t>
            </a:r>
            <a:r>
              <a:rPr sz="1100">
                <a:solidFill>
                  <a:srgbClr val="4B4B4B"/>
                </a:solidFill>
                <a:latin typeface="Arial"/>
              </a:rPr>
              <a:t>SCR-NB-36 Bulk upload wizard</a:t>
            </a:r>
          </a:p>
          <a:p>
            <a:pPr>
              <a:spcAft>
                <a:spcPts val="600"/>
              </a:spcAft>
            </a:pPr>
            <a:r>
              <a:rPr sz="1100">
                <a:solidFill>
                  <a:srgbClr val="004EA8"/>
                </a:solidFill>
                <a:latin typeface="Arial"/>
              </a:rPr>
              <a:t>•  </a:t>
            </a:r>
            <a:r>
              <a:rPr sz="1100">
                <a:solidFill>
                  <a:srgbClr val="4B4B4B"/>
                </a:solidFill>
                <a:latin typeface="Arial"/>
              </a:rPr>
              <a:t>SCR-NB-37 NB Dashboard</a:t>
            </a:r>
          </a:p>
          <a:p>
            <a:pPr>
              <a:spcAft>
                <a:spcPts val="600"/>
              </a:spcAft>
            </a:pPr>
            <a:r>
              <a:rPr sz="1100">
                <a:solidFill>
                  <a:srgbClr val="004EA8"/>
                </a:solidFill>
                <a:latin typeface="Arial"/>
              </a:rPr>
              <a:t>•  </a:t>
            </a:r>
            <a:r>
              <a:rPr sz="1100">
                <a:solidFill>
                  <a:srgbClr val="4B4B4B"/>
                </a:solidFill>
                <a:latin typeface="Arial"/>
              </a:rPr>
              <a:t>SCR-NB-38 My Work</a:t>
            </a:r>
          </a:p>
          <a:p>
            <a:pPr>
              <a:spcAft>
                <a:spcPts val="600"/>
              </a:spcAft>
            </a:pPr>
            <a:r>
              <a:rPr sz="1100">
                <a:solidFill>
                  <a:srgbClr val="004EA8"/>
                </a:solidFill>
                <a:latin typeface="Arial"/>
              </a:rPr>
              <a:t>•  </a:t>
            </a:r>
            <a:r>
              <a:rPr sz="1100">
                <a:solidFill>
                  <a:srgbClr val="4B4B4B"/>
                </a:solidFill>
                <a:latin typeface="Arial"/>
              </a:rPr>
              <a:t>SCR-NB-39 My Approvals</a:t>
            </a:r>
          </a:p>
          <a:p>
            <a:pPr>
              <a:spcAft>
                <a:spcPts val="600"/>
              </a:spcAft>
            </a:pPr>
            <a:r>
              <a:rPr sz="1100">
                <a:solidFill>
                  <a:srgbClr val="004EA8"/>
                </a:solidFill>
                <a:latin typeface="Arial"/>
              </a:rPr>
              <a:t>•  </a:t>
            </a:r>
            <a:r>
              <a:rPr sz="1100">
                <a:solidFill>
                  <a:srgbClr val="4B4B4B"/>
                </a:solidFill>
                <a:latin typeface="Arial"/>
              </a:rPr>
              <a:t>SCR-NB-40 New Business Reports</a:t>
            </a:r>
          </a:p>
          <a:p>
            <a:pPr>
              <a:spcAft>
                <a:spcPts val="600"/>
              </a:spcAft>
            </a:pPr>
            <a:r>
              <a:rPr sz="1100">
                <a:solidFill>
                  <a:srgbClr val="004EA8"/>
                </a:solidFill>
                <a:latin typeface="Arial"/>
              </a:rPr>
              <a:t>•  </a:t>
            </a:r>
            <a:r>
              <a:rPr sz="1100">
                <a:solidFill>
                  <a:srgbClr val="4B4B4B"/>
                </a:solidFill>
                <a:latin typeface="Arial"/>
              </a:rPr>
              <a:t>SCR-NB-41 Production Targets</a:t>
            </a:r>
          </a:p>
          <a:p>
            <a:pPr>
              <a:spcAft>
                <a:spcPts val="600"/>
              </a:spcAft>
            </a:pPr>
            <a:r>
              <a:rPr sz="1100">
                <a:solidFill>
                  <a:srgbClr val="004EA8"/>
                </a:solidFill>
                <a:latin typeface="Arial"/>
              </a:rPr>
              <a:t>•  </a:t>
            </a:r>
            <a:r>
              <a:rPr sz="1100">
                <a:solidFill>
                  <a:srgbClr val="4B4B4B"/>
                </a:solidFill>
                <a:latin typeface="Arial"/>
              </a:rPr>
              <a:t>SCR-NB-42 Lists of Values</a:t>
            </a:r>
          </a:p>
          <a:p>
            <a:pPr>
              <a:spcAft>
                <a:spcPts val="600"/>
              </a:spcAft>
            </a:pPr>
            <a:r>
              <a:rPr sz="1100">
                <a:solidFill>
                  <a:srgbClr val="004EA8"/>
                </a:solidFill>
                <a:latin typeface="Arial"/>
              </a:rPr>
              <a:t>•  </a:t>
            </a:r>
            <a:r>
              <a:rPr sz="1100">
                <a:solidFill>
                  <a:srgbClr val="4B4B4B"/>
                </a:solidFill>
                <a:latin typeface="Arial"/>
              </a:rPr>
              <a:t>SCR-NB-43 Data Retention</a:t>
            </a:r>
          </a:p>
          <a:p>
            <a:pPr>
              <a:spcAft>
                <a:spcPts val="600"/>
              </a:spcAft>
            </a:pPr>
            <a:r>
              <a:rPr sz="1100">
                <a:solidFill>
                  <a:srgbClr val="004EA8"/>
                </a:solidFill>
                <a:latin typeface="Arial"/>
              </a:rPr>
              <a:t>•  </a:t>
            </a:r>
            <a:r>
              <a:rPr sz="1100">
                <a:solidFill>
                  <a:srgbClr val="4B4B4B"/>
                </a:solidFill>
                <a:latin typeface="Arial"/>
              </a:rPr>
              <a:t>SCR-NB-44 Document Templates</a:t>
            </a:r>
          </a:p>
          <a:p>
            <a:pPr>
              <a:spcAft>
                <a:spcPts val="600"/>
              </a:spcAft>
            </a:pPr>
            <a:r>
              <a:rPr sz="1100">
                <a:solidFill>
                  <a:srgbClr val="004EA8"/>
                </a:solidFill>
                <a:latin typeface="Arial"/>
              </a:rPr>
              <a:t>•  </a:t>
            </a:r>
            <a:r>
              <a:rPr sz="1100">
                <a:solidFill>
                  <a:srgbClr val="4B4B4B"/>
                </a:solidFill>
                <a:latin typeface="Arial"/>
              </a:rPr>
              <a:t>SCR-NB-45 Outbound Messages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 to the clients, quotations, accounts and work queues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clients, quotations, accounts, work queues and messages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NAV-NB-11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SCR-NB-01 Clients</a:t>
            </a:r>
          </a:p>
          <a:p>
            <a:pPr>
              <a:spcAft>
                <a:spcPts val="600"/>
              </a:spcAft>
            </a:pPr>
            <a:r>
              <a:rPr sz="800">
                <a:solidFill>
                  <a:srgbClr val="004EA8"/>
                </a:solidFill>
                <a:latin typeface="Arial"/>
              </a:rPr>
              <a:t>•  </a:t>
            </a:r>
            <a:r>
              <a:rPr sz="800">
                <a:solidFill>
                  <a:srgbClr val="4B4B4B"/>
                </a:solidFill>
                <a:latin typeface="Arial"/>
              </a:rPr>
              <a:t>SCR-NB-03 Client record</a:t>
            </a:r>
          </a:p>
          <a:p>
            <a:pPr>
              <a:spcAft>
                <a:spcPts val="600"/>
              </a:spcAft>
            </a:pPr>
            <a:r>
              <a:rPr sz="800">
                <a:solidFill>
                  <a:srgbClr val="004EA8"/>
                </a:solidFill>
                <a:latin typeface="Arial"/>
              </a:rPr>
              <a:t>•  </a:t>
            </a:r>
            <a:r>
              <a:rPr sz="800">
                <a:solidFill>
                  <a:srgbClr val="4B4B4B"/>
                </a:solidFill>
                <a:latin typeface="Arial"/>
              </a:rPr>
              <a:t>SCR-NB-04 KYC Reviews Due</a:t>
            </a:r>
          </a:p>
          <a:p>
            <a:pPr>
              <a:spcAft>
                <a:spcPts val="600"/>
              </a:spcAft>
            </a:pPr>
            <a:r>
              <a:rPr sz="800">
                <a:solidFill>
                  <a:srgbClr val="004EA8"/>
                </a:solidFill>
                <a:latin typeface="Arial"/>
              </a:rPr>
              <a:t>•  </a:t>
            </a:r>
            <a:r>
              <a:rPr sz="800">
                <a:solidFill>
                  <a:srgbClr val="4B4B4B"/>
                </a:solidFill>
                <a:latin typeface="Arial"/>
              </a:rPr>
              <a:t>SCR-NB-05 Quotations</a:t>
            </a:r>
          </a:p>
          <a:p>
            <a:pPr>
              <a:spcAft>
                <a:spcPts val="600"/>
              </a:spcAft>
            </a:pPr>
            <a:r>
              <a:rPr sz="800">
                <a:solidFill>
                  <a:srgbClr val="004EA8"/>
                </a:solidFill>
                <a:latin typeface="Arial"/>
              </a:rPr>
              <a:t>•  </a:t>
            </a:r>
            <a:r>
              <a:rPr sz="800">
                <a:solidFill>
                  <a:srgbClr val="4B4B4B"/>
                </a:solidFill>
                <a:latin typeface="Arial"/>
              </a:rPr>
              <a:t>SCR-NB-07 Quotation record</a:t>
            </a:r>
          </a:p>
          <a:p>
            <a:pPr>
              <a:spcAft>
                <a:spcPts val="600"/>
              </a:spcAft>
            </a:pPr>
            <a:r>
              <a:rPr sz="800">
                <a:solidFill>
                  <a:srgbClr val="004EA8"/>
                </a:solidFill>
                <a:latin typeface="Arial"/>
              </a:rPr>
              <a:t>•  </a:t>
            </a:r>
            <a:r>
              <a:rPr sz="800">
                <a:solidFill>
                  <a:srgbClr val="4B4B4B"/>
                </a:solidFill>
                <a:latin typeface="Arial"/>
              </a:rPr>
              <a:t>SCR-NB-08 Quotation Requests</a:t>
            </a:r>
          </a:p>
          <a:p>
            <a:pPr>
              <a:spcAft>
                <a:spcPts val="600"/>
              </a:spcAft>
            </a:pPr>
            <a:r>
              <a:rPr sz="800">
                <a:solidFill>
                  <a:srgbClr val="004EA8"/>
                </a:solidFill>
                <a:latin typeface="Arial"/>
              </a:rPr>
              <a:t>•  </a:t>
            </a:r>
            <a:r>
              <a:rPr sz="800">
                <a:solidFill>
                  <a:srgbClr val="4B4B4B"/>
                </a:solidFill>
                <a:latin typeface="Arial"/>
              </a:rPr>
              <a:t>SCR-NB-13 Accounts</a:t>
            </a:r>
          </a:p>
          <a:p>
            <a:pPr>
              <a:spcAft>
                <a:spcPts val="600"/>
              </a:spcAft>
            </a:pPr>
            <a:r>
              <a:rPr sz="800">
                <a:solidFill>
                  <a:srgbClr val="004EA8"/>
                </a:solidFill>
                <a:latin typeface="Arial"/>
              </a:rPr>
              <a:t>•  </a:t>
            </a:r>
            <a:r>
              <a:rPr sz="800">
                <a:solidFill>
                  <a:srgbClr val="4B4B4B"/>
                </a:solidFill>
                <a:latin typeface="Arial"/>
              </a:rPr>
              <a:t>SCR-NB-15 Account record</a:t>
            </a:r>
          </a:p>
          <a:p>
            <a:pPr>
              <a:spcAft>
                <a:spcPts val="600"/>
              </a:spcAft>
            </a:pPr>
            <a:r>
              <a:rPr sz="800">
                <a:solidFill>
                  <a:srgbClr val="004EA8"/>
                </a:solidFill>
                <a:latin typeface="Arial"/>
              </a:rPr>
              <a:t>•  </a:t>
            </a:r>
            <a:r>
              <a:rPr sz="800">
                <a:solidFill>
                  <a:srgbClr val="4B4B4B"/>
                </a:solidFill>
                <a:latin typeface="Arial"/>
              </a:rPr>
              <a:t>SCR-NB-16 FFY Register</a:t>
            </a:r>
          </a:p>
          <a:p>
            <a:pPr>
              <a:spcAft>
                <a:spcPts val="600"/>
              </a:spcAft>
            </a:pPr>
            <a:r>
              <a:rPr sz="800">
                <a:solidFill>
                  <a:srgbClr val="004EA8"/>
                </a:solidFill>
                <a:latin typeface="Arial"/>
              </a:rPr>
              <a:t>•  </a:t>
            </a:r>
            <a:r>
              <a:rPr sz="800">
                <a:solidFill>
                  <a:srgbClr val="4B4B4B"/>
                </a:solidFill>
                <a:latin typeface="Arial"/>
              </a:rPr>
              <a:t>SCR-NB-17 Direct Payment</a:t>
            </a:r>
          </a:p>
          <a:p>
            <a:pPr>
              <a:spcAft>
                <a:spcPts val="600"/>
              </a:spcAft>
            </a:pPr>
            <a:r>
              <a:rPr sz="800">
                <a:solidFill>
                  <a:srgbClr val="004EA8"/>
                </a:solidFill>
                <a:latin typeface="Arial"/>
              </a:rPr>
              <a:t>•  </a:t>
            </a:r>
            <a:r>
              <a:rPr sz="800">
                <a:solidFill>
                  <a:srgbClr val="4B4B4B"/>
                </a:solidFill>
                <a:latin typeface="Arial"/>
              </a:rPr>
              <a:t>SCR-NB-18 Placement Workbench</a:t>
            </a:r>
          </a:p>
          <a:p>
            <a:pPr>
              <a:spcAft>
                <a:spcPts val="600"/>
              </a:spcAft>
            </a:pPr>
            <a:r>
              <a:rPr sz="800">
                <a:solidFill>
                  <a:srgbClr val="004EA8"/>
                </a:solidFill>
                <a:latin typeface="Arial"/>
              </a:rPr>
              <a:t>•  </a:t>
            </a:r>
            <a:r>
              <a:rPr sz="800">
                <a:solidFill>
                  <a:srgbClr val="4B4B4B"/>
                </a:solidFill>
                <a:latin typeface="Arial"/>
              </a:rPr>
              <a:t>SCR-NB-19 Account Placement</a:t>
            </a:r>
          </a:p>
          <a:p>
            <a:pPr>
              <a:spcAft>
                <a:spcPts val="600"/>
              </a:spcAft>
            </a:pPr>
            <a:r>
              <a:rPr sz="800">
                <a:solidFill>
                  <a:srgbClr val="004EA8"/>
                </a:solidFill>
                <a:latin typeface="Arial"/>
              </a:rPr>
              <a:t>•  </a:t>
            </a:r>
            <a:r>
              <a:rPr sz="800">
                <a:solidFill>
                  <a:srgbClr val="4B4B4B"/>
                </a:solidFill>
                <a:latin typeface="Arial"/>
              </a:rPr>
              <a:t>SCR-NB-20 Placement Slips</a:t>
            </a:r>
          </a:p>
          <a:p>
            <a:pPr>
              <a:spcAft>
                <a:spcPts val="600"/>
              </a:spcAft>
            </a:pPr>
            <a:r>
              <a:rPr sz="800">
                <a:solidFill>
                  <a:srgbClr val="004EA8"/>
                </a:solidFill>
                <a:latin typeface="Arial"/>
              </a:rPr>
              <a:t>•  </a:t>
            </a:r>
            <a:r>
              <a:rPr sz="800">
                <a:solidFill>
                  <a:srgbClr val="4B4B4B"/>
                </a:solidFill>
                <a:latin typeface="Arial"/>
              </a:rPr>
              <a:t>SCR-NB-23 Issuance Workbench</a:t>
            </a:r>
          </a:p>
          <a:p>
            <a:pPr>
              <a:spcAft>
                <a:spcPts val="600"/>
              </a:spcAft>
            </a:pPr>
            <a:r>
              <a:rPr sz="800">
                <a:solidFill>
                  <a:srgbClr val="004EA8"/>
                </a:solidFill>
                <a:latin typeface="Arial"/>
              </a:rPr>
              <a:t>•  </a:t>
            </a:r>
            <a:r>
              <a:rPr sz="800">
                <a:solidFill>
                  <a:srgbClr val="4B4B4B"/>
                </a:solidFill>
                <a:latin typeface="Arial"/>
              </a:rPr>
              <a:t>SCR-NB-25 Extraction Review</a:t>
            </a:r>
          </a:p>
          <a:p>
            <a:pPr>
              <a:spcAft>
                <a:spcPts val="600"/>
              </a:spcAft>
            </a:pPr>
            <a:r>
              <a:rPr sz="800">
                <a:solidFill>
                  <a:srgbClr val="004EA8"/>
                </a:solidFill>
                <a:latin typeface="Arial"/>
              </a:rPr>
              <a:t>•  </a:t>
            </a:r>
            <a:r>
              <a:rPr sz="800">
                <a:solidFill>
                  <a:srgbClr val="4B4B4B"/>
                </a:solidFill>
                <a:latin typeface="Arial"/>
              </a:rPr>
              <a:t>SCR-NB-26 Insurance Advice</a:t>
            </a:r>
          </a:p>
          <a:p>
            <a:pPr>
              <a:spcAft>
                <a:spcPts val="600"/>
              </a:spcAft>
            </a:pPr>
            <a:r>
              <a:rPr sz="800">
                <a:solidFill>
                  <a:srgbClr val="004EA8"/>
                </a:solidFill>
                <a:latin typeface="Arial"/>
              </a:rPr>
              <a:t>•  </a:t>
            </a:r>
            <a:r>
              <a:rPr sz="800">
                <a:solidFill>
                  <a:srgbClr val="4B4B4B"/>
                </a:solidFill>
                <a:latin typeface="Arial"/>
              </a:rPr>
              <a:t>SCR-NB-34 Booking Setup</a:t>
            </a:r>
          </a:p>
          <a:p>
            <a:pPr>
              <a:spcAft>
                <a:spcPts val="600"/>
              </a:spcAft>
            </a:pPr>
            <a:r>
              <a:rPr sz="800">
                <a:solidFill>
                  <a:srgbClr val="004EA8"/>
                </a:solidFill>
                <a:latin typeface="Arial"/>
              </a:rPr>
              <a:t>•  </a:t>
            </a:r>
            <a:r>
              <a:rPr sz="800">
                <a:solidFill>
                  <a:srgbClr val="4B4B4B"/>
                </a:solidFill>
                <a:latin typeface="Arial"/>
              </a:rPr>
              <a:t>SCR-NB-37 NB Dashboard</a:t>
            </a:r>
          </a:p>
          <a:p>
            <a:pPr>
              <a:spcAft>
                <a:spcPts val="600"/>
              </a:spcAft>
            </a:pPr>
            <a:r>
              <a:rPr sz="800">
                <a:solidFill>
                  <a:srgbClr val="004EA8"/>
                </a:solidFill>
                <a:latin typeface="Arial"/>
              </a:rPr>
              <a:t>•  </a:t>
            </a:r>
            <a:r>
              <a:rPr sz="800">
                <a:solidFill>
                  <a:srgbClr val="4B4B4B"/>
                </a:solidFill>
                <a:latin typeface="Arial"/>
              </a:rPr>
              <a:t>SCR-NB-38 My Work</a:t>
            </a:r>
          </a:p>
          <a:p>
            <a:pPr>
              <a:spcAft>
                <a:spcPts val="600"/>
              </a:spcAft>
            </a:pPr>
            <a:r>
              <a:rPr sz="800">
                <a:solidFill>
                  <a:srgbClr val="004EA8"/>
                </a:solidFill>
                <a:latin typeface="Arial"/>
              </a:rPr>
              <a:t>•  </a:t>
            </a:r>
            <a:r>
              <a:rPr sz="800">
                <a:solidFill>
                  <a:srgbClr val="4B4B4B"/>
                </a:solidFill>
                <a:latin typeface="Arial"/>
              </a:rPr>
              <a:t>SCR-NB-39 My Approvals</a:t>
            </a:r>
          </a:p>
          <a:p>
            <a:pPr>
              <a:spcAft>
                <a:spcPts val="600"/>
              </a:spcAft>
            </a:pPr>
            <a:r>
              <a:rPr sz="800">
                <a:solidFill>
                  <a:srgbClr val="004EA8"/>
                </a:solidFill>
                <a:latin typeface="Arial"/>
              </a:rPr>
              <a:t>•  </a:t>
            </a:r>
            <a:r>
              <a:rPr sz="800">
                <a:solidFill>
                  <a:srgbClr val="4B4B4B"/>
                </a:solidFill>
                <a:latin typeface="Arial"/>
              </a:rPr>
              <a:t>SCR-NB-40 New Business Reports</a:t>
            </a:r>
          </a:p>
          <a:p>
            <a:pPr>
              <a:spcAft>
                <a:spcPts val="600"/>
              </a:spcAft>
            </a:pPr>
            <a:r>
              <a:rPr sz="800">
                <a:solidFill>
                  <a:srgbClr val="004EA8"/>
                </a:solidFill>
                <a:latin typeface="Arial"/>
              </a:rPr>
              <a:t>•  </a:t>
            </a:r>
            <a:r>
              <a:rPr sz="800">
                <a:solidFill>
                  <a:srgbClr val="4B4B4B"/>
                </a:solidFill>
                <a:latin typeface="Arial"/>
              </a:rPr>
              <a:t>SCR-NB-41 Production Targets</a:t>
            </a:r>
          </a:p>
          <a:p>
            <a:pPr>
              <a:spcAft>
                <a:spcPts val="600"/>
              </a:spcAft>
            </a:pPr>
            <a:r>
              <a:rPr sz="800">
                <a:solidFill>
                  <a:srgbClr val="004EA8"/>
                </a:solidFill>
                <a:latin typeface="Arial"/>
              </a:rPr>
              <a:t>•  </a:t>
            </a:r>
            <a:r>
              <a:rPr sz="800">
                <a:solidFill>
                  <a:srgbClr val="4B4B4B"/>
                </a:solidFill>
                <a:latin typeface="Arial"/>
              </a:rPr>
              <a:t>SCR-NB-43 Data Retention</a:t>
            </a:r>
          </a:p>
          <a:p>
            <a:pPr>
              <a:spcAft>
                <a:spcPts val="600"/>
              </a:spcAft>
            </a:pPr>
            <a:r>
              <a:rPr sz="800">
                <a:solidFill>
                  <a:srgbClr val="004EA8"/>
                </a:solidFill>
                <a:latin typeface="Arial"/>
              </a:rPr>
              <a:t>•  </a:t>
            </a:r>
            <a:r>
              <a:rPr sz="800">
                <a:solidFill>
                  <a:srgbClr val="4B4B4B"/>
                </a:solidFill>
                <a:latin typeface="Arial"/>
              </a:rPr>
              <a:t>SCR-NB-44 Document Templates</a:t>
            </a:r>
          </a:p>
          <a:p>
            <a:pPr>
              <a:spcAft>
                <a:spcPts val="600"/>
              </a:spcAft>
            </a:pPr>
            <a:r>
              <a:rPr sz="800">
                <a:solidFill>
                  <a:srgbClr val="004EA8"/>
                </a:solidFill>
                <a:latin typeface="Arial"/>
              </a:rPr>
              <a:t>•  </a:t>
            </a:r>
            <a:r>
              <a:rPr sz="800">
                <a:solidFill>
                  <a:srgbClr val="4B4B4B"/>
                </a:solidFill>
                <a:latin typeface="Arial"/>
              </a:rPr>
              <a:t>SCR-NB-45 Outbound Messages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Retail package policy from a new client to booking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Retail package policy from a new client to booking</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 walk-in individual asks for a Fire cover of a home under a BDO home loan. Marketing onboards the client with KYC, quotes the package product, sends the quotation and records the acceptance; Processing validates, confirms the payment, places the account, receives the e-policy, issues the Insurance Advice, sends the e-policy and books the account; Operations and Accounting then see the booked invoice.</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a new individual prospect (fictitious name), product PAR01 (Property), insurer INS-MGIC, mortgagee BDO Home Loans</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Marketing TL / TH / UH, Processing, E-policy Sender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17 steps, 7 hand-offs, 1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Client and Edit Client</a:t>
            </a:r>
          </a:p>
        </p:txBody>
      </p:sp>
      <p:sp>
        <p:nvSpPr>
          <p:cNvPr id="16" name="Rounded Rectangle 15"/>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Client record</a:t>
            </a:r>
          </a:p>
        </p:txBody>
      </p:sp>
      <p:sp>
        <p:nvSpPr>
          <p:cNvPr id="17" name="Rounded Rectangle 16"/>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Client record</a:t>
            </a:r>
          </a:p>
        </p:txBody>
      </p:sp>
      <p:sp>
        <p:nvSpPr>
          <p:cNvPr id="18" name="Rounded Rectangle 17"/>
          <p:cNvSpPr/>
          <p:nvPr/>
        </p:nvSpPr>
        <p:spPr>
          <a:xfrm>
            <a:off x="5924052"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Client record</a:t>
            </a:r>
          </a:p>
        </p:txBody>
      </p:sp>
      <p:sp>
        <p:nvSpPr>
          <p:cNvPr id="19" name="Rounded Rectangle 18"/>
          <p:cNvSpPr/>
          <p:nvPr/>
        </p:nvSpPr>
        <p:spPr>
          <a:xfrm>
            <a:off x="7087968"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New Quotation and Edit Quotation</a:t>
            </a:r>
          </a:p>
        </p:txBody>
      </p:sp>
      <p:sp>
        <p:nvSpPr>
          <p:cNvPr id="20" name="Rounded Rectangle 19"/>
          <p:cNvSpPr/>
          <p:nvPr/>
        </p:nvSpPr>
        <p:spPr>
          <a:xfrm>
            <a:off x="8251884"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Quotation record</a:t>
            </a:r>
          </a:p>
        </p:txBody>
      </p:sp>
      <p:sp>
        <p:nvSpPr>
          <p:cNvPr id="21" name="Rounded Rectangle 20"/>
          <p:cNvSpPr/>
          <p:nvPr/>
        </p:nvSpPr>
        <p:spPr>
          <a:xfrm>
            <a:off x="8556264"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2" name="Rounded Rectangle 21"/>
          <p:cNvSpPr/>
          <p:nvPr/>
        </p:nvSpPr>
        <p:spPr>
          <a:xfrm>
            <a:off x="941580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Quotation record</a:t>
            </a:r>
          </a:p>
        </p:txBody>
      </p:sp>
      <p:sp>
        <p:nvSpPr>
          <p:cNvPr id="23" name="Rounded Rectangle 22"/>
          <p:cNvSpPr/>
          <p:nvPr/>
        </p:nvSpPr>
        <p:spPr>
          <a:xfrm>
            <a:off x="1057971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Quotation record</a:t>
            </a:r>
          </a:p>
        </p:txBody>
      </p:sp>
      <p:cxnSp>
        <p:nvCxnSpPr>
          <p:cNvPr id="24" name="Connector 23"/>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72288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86800"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050716"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21463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378548"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Processing</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E-policy Sender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New Account and Edit Account</a:t>
            </a:r>
          </a:p>
        </p:txBody>
      </p:sp>
      <p:sp>
        <p:nvSpPr>
          <p:cNvPr id="19" name="Rounded Rectangle 18"/>
          <p:cNvSpPr/>
          <p:nvPr/>
        </p:nvSpPr>
        <p:spPr>
          <a:xfrm>
            <a:off x="359622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Account record</a:t>
            </a:r>
          </a:p>
        </p:txBody>
      </p:sp>
      <p:sp>
        <p:nvSpPr>
          <p:cNvPr id="20" name="Rounded Rectangle 19"/>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CLPC Billing</a:t>
            </a:r>
          </a:p>
        </p:txBody>
      </p:sp>
      <p:sp>
        <p:nvSpPr>
          <p:cNvPr id="21" name="Rounded Rectangle 20"/>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Placement Workbench</a:t>
            </a:r>
          </a:p>
        </p:txBody>
      </p:sp>
      <p:sp>
        <p:nvSpPr>
          <p:cNvPr id="22" name="Rounded Rectangle 21"/>
          <p:cNvSpPr/>
          <p:nvPr/>
        </p:nvSpPr>
        <p:spPr>
          <a:xfrm>
            <a:off x="7087968"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13. </a:t>
            </a:r>
            <a:r>
              <a:rPr sz="800">
                <a:solidFill>
                  <a:srgbClr val="2E2E2E"/>
                </a:solidFill>
                <a:latin typeface="Arial"/>
              </a:rPr>
              <a:t>E-policy Upload</a:t>
            </a:r>
          </a:p>
        </p:txBody>
      </p:sp>
      <p:sp>
        <p:nvSpPr>
          <p:cNvPr id="23" name="Rounded Rectangle 22"/>
          <p:cNvSpPr/>
          <p:nvPr/>
        </p:nvSpPr>
        <p:spPr>
          <a:xfrm>
            <a:off x="8251884"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14. </a:t>
            </a:r>
            <a:r>
              <a:rPr sz="800">
                <a:solidFill>
                  <a:srgbClr val="2E2E2E"/>
                </a:solidFill>
                <a:latin typeface="Arial"/>
              </a:rPr>
              <a:t>Extraction Review</a:t>
            </a:r>
          </a:p>
        </p:txBody>
      </p:sp>
      <p:sp>
        <p:nvSpPr>
          <p:cNvPr id="24" name="Rounded Rectangle 23"/>
          <p:cNvSpPr/>
          <p:nvPr/>
        </p:nvSpPr>
        <p:spPr>
          <a:xfrm>
            <a:off x="9415800"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15. </a:t>
            </a:r>
            <a:r>
              <a:rPr sz="800">
                <a:solidFill>
                  <a:srgbClr val="2E2E2E"/>
                </a:solidFill>
                <a:latin typeface="Arial"/>
              </a:rPr>
              <a:t>E-policy Dispatch</a:t>
            </a:r>
          </a:p>
        </p:txBody>
      </p:sp>
      <p:sp>
        <p:nvSpPr>
          <p:cNvPr id="25" name="Rounded Rectangle 24"/>
          <p:cNvSpPr/>
          <p:nvPr/>
        </p:nvSpPr>
        <p:spPr>
          <a:xfrm>
            <a:off x="1057971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16. </a:t>
            </a:r>
            <a:r>
              <a:rPr sz="800">
                <a:solidFill>
                  <a:srgbClr val="2E2E2E"/>
                </a:solidFill>
                <a:latin typeface="Arial"/>
              </a:rPr>
              <a:t>Pre-booking Confirmation</a:t>
            </a:r>
          </a:p>
        </p:txBody>
      </p:sp>
      <p:cxnSp>
        <p:nvCxnSpPr>
          <p:cNvPr id="26" name="Connector 25"/>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558968"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86800"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050716"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21463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0378548"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Processing</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9110167"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17. </a:t>
            </a:r>
            <a:r>
              <a:rPr sz="800">
                <a:solidFill>
                  <a:srgbClr val="2E2E2E"/>
                </a:solidFill>
                <a:latin typeface="Arial"/>
              </a:rPr>
              <a:t>Booked Invoice</a:t>
            </a:r>
          </a:p>
        </p:txBody>
      </p:sp>
      <p:sp>
        <p:nvSpPr>
          <p:cNvPr id="13" name="TextBox 1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17: New Client and Edit Client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1.png"/>
          <p:cNvPicPr>
            <a:picLocks noChangeAspect="1"/>
          </p:cNvPicPr>
          <p:nvPr/>
        </p:nvPicPr>
        <p:blipFill>
          <a:blip r:embed="rId3"/>
          <a:stretch>
            <a:fillRect/>
          </a:stretch>
        </p:blipFill>
        <p:spPr>
          <a:xfrm>
            <a:off x="548640" y="1261872"/>
            <a:ext cx="7665415" cy="366207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Clients › New Client, enters the individual's identity, contact, address and segment, and clicks Save as prospect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Prospect created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Prospect saved panel with the prospect code PR-yyyy-nnnnnn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Account Officer on Client record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17: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client, uploads the KYC form and a valid ID on the KYC &amp; Documents tab and clicks Submit KYC</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KYC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checklist shows every document Uploaded; the workflow panel moves to KYC for verification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TL / TH / UH on Client record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17: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the client from My Work and clicks Verify KYC</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KYC verified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&lt;code&gt;: KYC verified, next review &lt;date&gt;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Account Officer on Client record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17: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Confirm client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Client confirmed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Client confirmed as CL-yyyy-nnnnnn; the client code appears in the header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Marketing Account Officer on New Quotation and Edit Quotation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5 of 17: New Quotation and Edit Quotation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Account Officer: Clicks Generate Quotation, checks the market segment taken from the client, chooses PAR01, the insurer and its branch, adds the location with its sum insured, reviews the live premium and clicks Submit for Review</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Quotation for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QT-yyyy-nnnnnn submitted for review; the quotation shows For review</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Marketing TL / TH / UH on Quotation record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6 of 17: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the quotation from the For Review tab and clicks Approve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Quotation approved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Approve: QT-yyyy-nnnnnn is now approved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Marketing Account Officer on Quotation record</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7 of 17: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wt-a-07.png"/>
          <p:cNvPicPr>
            <a:picLocks noChangeAspect="1"/>
          </p:cNvPicPr>
          <p:nvPr/>
        </p:nvPicPr>
        <p:blipFill>
          <a:blip r:embed="rId3"/>
          <a:stretch>
            <a:fillRect/>
          </a:stretch>
        </p:blipFill>
        <p:spPr>
          <a:xfrm>
            <a:off x="548640" y="1261872"/>
            <a:ext cx="7665415" cy="2723584"/>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Send via Email, keeps the proposed e-mail and clicks Send</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Sent to client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quotation is Sent to client; the E-mails tab lists the quotation e-mail and the password e-mail</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Marketing Account Officer on Quotation record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8 of 17: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wt-a-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Record acceptance, uploads the client's reply and clicks Record Acceptance, then Create accounts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 account created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quotation is Converted; the Control card lists the account ARN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Marketing Account Officer on New Account and Edit Account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9 of 17: New Account and Edit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draft account, completes the mortgagee bank and PN number, reviews the completeness check and clicks Submit to Processing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submitted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Complete: the account can be submitted; toast ARN-yyyy-nnnnnn submitted to Processing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Processing on Account record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10 of 17: Account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10.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Opens the account from My Work and clicks Validate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validated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account moves to Awaiting payment (CBG Fire) or Ready for placement (after the gate)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Processing on CLPC Billing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11 of 17: CLPC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1.png"/>
          <p:cNvPicPr>
            <a:picLocks noChangeAspect="1"/>
          </p:cNvPicPr>
          <p:nvPr/>
        </p:nvPicPr>
        <p:blipFill>
          <a:blip r:embed="rId3"/>
          <a:stretch>
            <a:fillRect/>
          </a:stretch>
        </p:blipFill>
        <p:spPr>
          <a:xfrm>
            <a:off x="548640" y="1261872"/>
            <a:ext cx="7665415" cy="311079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Bills the account on CLPC Billing, downloads the file, uploads CLPC's payment report and confirms the matches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Ready for placement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Payment Report: the line is Matched; Confirm Matches opens the payment gate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Processing on Placement Workbench</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12 of 17: Placement Workbench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2.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SCR-NB-18 (part 1 of 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Selects the account on the Placement Workbench, clicks For Placement, then Generate Slips, then Send Slips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Placed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Generate Placement Slips shows every prerequisite valid; the result list shows the slip sent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13: Processing on E-policy Upload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12 of 17: Placement Workbench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3.png"/>
          <p:cNvPicPr>
            <a:picLocks noChangeAspect="1"/>
          </p:cNvPicPr>
          <p:nvPr/>
        </p:nvPicPr>
        <p:blipFill>
          <a:blip r:embed="rId3"/>
          <a:stretch>
            <a:fillRect/>
          </a:stretch>
        </p:blipFill>
        <p:spPr>
          <a:xfrm>
            <a:off x="548640" y="1261872"/>
            <a:ext cx="7665415" cy="4609161"/>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SCR-NB-18 (part 2 of 3)</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12 of 17: Placement Workbench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4.png"/>
          <p:cNvPicPr>
            <a:picLocks noChangeAspect="1"/>
          </p:cNvPicPr>
          <p:nvPr/>
        </p:nvPicPr>
        <p:blipFill>
          <a:blip r:embed="rId3"/>
          <a:stretch>
            <a:fillRect/>
          </a:stretch>
        </p:blipFill>
        <p:spPr>
          <a:xfrm>
            <a:off x="548640" y="1261872"/>
            <a:ext cx="7665415" cy="1962610"/>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SCR-NB-18 (part 3 of 3)</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13 of 17: E-policy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3.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Uploads the insurer's e-policy PDF with the ARN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E-policy received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&lt;file&gt; stored on ARN-yyyy-nnnnnn; the Extraction Review opens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14: Processing on Extraction Review</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14 of 17: Extraction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4.png"/>
          <p:cNvPicPr>
            <a:picLocks noChangeAspect="1"/>
          </p:cNvPicPr>
          <p:nvPr/>
        </p:nvPicPr>
        <p:blipFill>
          <a:blip r:embed="rId3"/>
          <a:stretch>
            <a:fillRect/>
          </a:stretch>
        </p:blipFill>
        <p:spPr>
          <a:xfrm>
            <a:off x="548640" y="1261872"/>
            <a:ext cx="7665415" cy="431179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Checks the extracted policy number against the account and clicks Confirm Policy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Policy issued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Policy &lt;no&gt; confirmed; the account is policy issued; the Insurance Advice is generated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15: E-policy Sender on E-policy Dispatch</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15 of 17: E-policy Dispatch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5.png"/>
          <p:cNvPicPr>
            <a:picLocks noChangeAspect="1"/>
          </p:cNvPicPr>
          <p:nvPr/>
        </p:nvPicPr>
        <p:blipFill>
          <a:blip r:embed="rId3"/>
          <a:stretch>
            <a:fillRect/>
          </a:stretch>
        </p:blipFill>
        <p:spPr>
          <a:xfrm>
            <a:off x="548640" y="1261872"/>
            <a:ext cx="7665415" cy="396396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E-policy Sender: Sends the e-policy to the client from Ready to Dispatch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E-policy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E-policy of ARN-yyyy-nnnnnn sent; the Dispatch Report shows it Queued, then Sent when the mail server has delivered it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16: Processing on Pre-booking Confirmation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16 of 17: Pre-booking Confirmation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16.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SCR-NB-29</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Opens the account from Ready to Book, checks the invoice and the journal preview, and clicks Book Account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Booked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ARN-yyyy-nnnnnn booked as &lt;invoice&gt;; the Booked Invoice opens</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17: Processing on Booked Invoice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17 of 17: Booked Invoice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wt-a-17.png"/>
          <p:cNvPicPr>
            <a:picLocks noChangeAspect="1"/>
          </p:cNvPicPr>
          <p:nvPr/>
        </p:nvPicPr>
        <p:blipFill>
          <a:blip r:embed="rId3"/>
          <a:stretch>
            <a:fillRect/>
          </a:stretch>
        </p:blipFill>
        <p:spPr>
          <a:xfrm>
            <a:off x="628310" y="1261872"/>
            <a:ext cx="7506074"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SCR-NB-30</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Reviews the Journal and Open Items tabs of the booked invoice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Hand-off to Accounting</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GL entry and the receivable from the client, the payable to the insurer and the commission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Non-package commercial risk through a PRF with insurer quotations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graphicFrame>
        <p:nvGraphicFramePr>
          <p:cNvPr id="9" name="Table 8"/>
          <p:cNvGraphicFramePr>
            <a:graphicFrameLocks noGrp="1"/>
          </p:cNvGraphicFramePr>
          <p:nvPr/>
        </p:nvGraphicFramePr>
        <p:xfrm>
          <a:off x="548640" y="1307592"/>
          <a:ext cx="11094415" cy="2011672"/>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Non-package commercial risk through a PRF with insurer quotations</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 corporate client needs a Contractor's All Risks cover that no package covers. Marketing raises a PRF, the Marketing TL approves it, TSU sends the quotation slip to three insurers, keys in their terms, compares them and releases the proposal slip; Marketing sends the proposal, records the acceptance and creates the account.</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corporate client CL-2026-000003 (fictitious), product CAR00 (Engineering), insurers INS-MGIC, INS-LAC, INS-VMI</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Marketing TL / TH / UH, Technical Support Unit</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9 steps, 3 hand-offs, 3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Technical Support Unit</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Proposal Request and Edit Proposal Request</a:t>
            </a:r>
          </a:p>
        </p:txBody>
      </p:sp>
      <p:sp>
        <p:nvSpPr>
          <p:cNvPr id="19" name="Rounded Rectangle 18"/>
          <p:cNvSpPr/>
          <p:nvPr/>
        </p:nvSpPr>
        <p:spPr>
          <a:xfrm>
            <a:off x="3596220"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Proposal Request record</a:t>
            </a:r>
          </a:p>
        </p:txBody>
      </p:sp>
      <p:sp>
        <p:nvSpPr>
          <p:cNvPr id="20" name="Rounded Rectangle 19"/>
          <p:cNvSpPr/>
          <p:nvPr/>
        </p:nvSpPr>
        <p:spPr>
          <a:xfrm>
            <a:off x="3900600"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1" name="Rounded Rectangle 20"/>
          <p:cNvSpPr/>
          <p:nvPr/>
        </p:nvSpPr>
        <p:spPr>
          <a:xfrm>
            <a:off x="4760136"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TSU Workbench</a:t>
            </a:r>
          </a:p>
        </p:txBody>
      </p:sp>
      <p:sp>
        <p:nvSpPr>
          <p:cNvPr id="22" name="Rounded Rectangle 21"/>
          <p:cNvSpPr/>
          <p:nvPr/>
        </p:nvSpPr>
        <p:spPr>
          <a:xfrm>
            <a:off x="5924052"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Proposal Request record</a:t>
            </a:r>
          </a:p>
        </p:txBody>
      </p:sp>
      <p:sp>
        <p:nvSpPr>
          <p:cNvPr id="23" name="Rounded Rectangle 22"/>
          <p:cNvSpPr/>
          <p:nvPr/>
        </p:nvSpPr>
        <p:spPr>
          <a:xfrm>
            <a:off x="7087968"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Proposal Request record</a:t>
            </a:r>
          </a:p>
        </p:txBody>
      </p:sp>
      <p:sp>
        <p:nvSpPr>
          <p:cNvPr id="24" name="Rounded Rectangle 23"/>
          <p:cNvSpPr/>
          <p:nvPr/>
        </p:nvSpPr>
        <p:spPr>
          <a:xfrm>
            <a:off x="739234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5" name="Rounded Rectangle 24"/>
          <p:cNvSpPr/>
          <p:nvPr/>
        </p:nvSpPr>
        <p:spPr>
          <a:xfrm>
            <a:off x="8251884"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Proposal Request record</a:t>
            </a:r>
          </a:p>
        </p:txBody>
      </p:sp>
      <p:sp>
        <p:nvSpPr>
          <p:cNvPr id="26" name="Rounded Rectangle 25"/>
          <p:cNvSpPr/>
          <p:nvPr/>
        </p:nvSpPr>
        <p:spPr>
          <a:xfrm>
            <a:off x="9415800"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Proposal Request record</a:t>
            </a:r>
          </a:p>
        </p:txBody>
      </p:sp>
      <p:sp>
        <p:nvSpPr>
          <p:cNvPr id="27" name="Rounded Rectangle 26"/>
          <p:cNvSpPr/>
          <p:nvPr/>
        </p:nvSpPr>
        <p:spPr>
          <a:xfrm>
            <a:off x="9720180"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1057971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Proposal Request record</a:t>
            </a:r>
          </a:p>
        </p:txBody>
      </p:sp>
      <p:cxnSp>
        <p:nvCxnSpPr>
          <p:cNvPr id="29" name="Connector 28"/>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558968"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22884"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886800"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050716"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14632"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378548"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9110167"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Proposal Request record</a:t>
            </a:r>
          </a:p>
        </p:txBody>
      </p:sp>
      <p:sp>
        <p:nvSpPr>
          <p:cNvPr id="13" name="TextBox 1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1 of 9: New Proposal Request and Edit Proposal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Account Officer: Opens New Proposal Request, chooses the client and CAR00, describes the risk, adds the item, ticks three insurers, attaches the mandatory documents and clicks Submit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Marketing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PRF-yyyy-nnnnnn submitted for Marketing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TL / TH / UH on Proposal Request record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the PRF and clicks Approve and send to TSU</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With TSU</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Received by TSU</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Technical Support Unit on TSU Workbench</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9: TSU Workbench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85.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SCR-NB-12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Claims the PRF on the TSU Workbench and opens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Assigned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PRF-yyyy-nnnnnn is now yours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Technical Support Unit on Proposal Request record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9: TSU Workbench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86.png"/>
          <p:cNvPicPr>
            <a:picLocks noChangeAspect="1"/>
          </p:cNvPicPr>
          <p:nvPr/>
        </p:nvPicPr>
        <p:blipFill>
          <a:blip r:embed="rId3"/>
          <a:stretch>
            <a:fillRect/>
          </a:stretch>
        </p:blipFill>
        <p:spPr>
          <a:xfrm>
            <a:off x="548640" y="1261872"/>
            <a:ext cx="7665415" cy="242497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SCR-NB-12 (part 2 of 2)</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Clicks Accept and Prepare Quotation Slip, confirms the insurers on the Quotation Slip tab and clicks Submit quotation slip with the reply date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QS 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Quotation slip for approval with its QS number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Technical Support Unit on Proposal Request record</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5.png"/>
          <p:cNvPicPr>
            <a:picLocks noChangeAspect="1"/>
          </p:cNvPicPr>
          <p:nvPr/>
        </p:nvPicPr>
        <p:blipFill>
          <a:blip r:embed="rId3"/>
          <a:stretch>
            <a:fillRect/>
          </a:stretch>
        </p:blipFill>
        <p:spPr>
          <a:xfrm>
            <a:off x="548640" y="1261872"/>
            <a:ext cx="7665415" cy="445617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A second TSU officer clicks Approve and send to insurers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QS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Awaiting insurer terms; the E-mails tab lists one e-mail per insurer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Technical Support Unit on Proposal Request record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6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6.png"/>
          <p:cNvPicPr>
            <a:picLocks noChangeAspect="1"/>
          </p:cNvPicPr>
          <p:nvPr/>
        </p:nvPicPr>
        <p:blipFill>
          <a:blip r:embed="rId3"/>
          <a:stretch>
            <a:fillRect/>
          </a:stretch>
        </p:blipFill>
        <p:spPr>
          <a:xfrm>
            <a:off x="548640" y="1261872"/>
            <a:ext cx="7665415" cy="393771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Keys in the terms of each insurer on the Insurer Responses tab (one declines), recommends the lowest premium and clicks Insurer terms complete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Terms received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responses and the Comparative Table with the lowest premium marked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Technical Support Unit on Proposal Request record</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7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7.png"/>
          <p:cNvPicPr>
            <a:picLocks noChangeAspect="1"/>
          </p:cNvPicPr>
          <p:nvPr/>
        </p:nvPicPr>
        <p:blipFill>
          <a:blip r:embed="rId3"/>
          <a:stretch>
            <a:fillRect/>
          </a:stretch>
        </p:blipFill>
        <p:spPr>
          <a:xfrm>
            <a:off x="548640" y="1261872"/>
            <a:ext cx="7665415" cy="393115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Technical Support Unit: Clicks Submit proposal slip for the recommended insurer; a second TSU officer approves and releases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PS released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Proposal slip released to Marketing with its PS number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Marketing Account Officer on Proposal Request record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8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Send via Email to send the proposal slip and the comparative table to the client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Sent to client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Sent to client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Marketing Account Officer on Proposal Request record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9 of 9: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Records the client's acceptance and clicks Create accounts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created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PRF is Converted; the account is created in draft under the PRF's ARN with the chosen insurer's rate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WT-C Returns for correction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Returns for correction and the messages the user sees</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paths where a record goes back to its maker: a KYC returned by the verifier, a quotation returned by the approver, an account returned by Processing, and an account returned by the insurer, with the messages and notices on screen.</a:t>
                      </a:r>
                    </a:p>
                  </a:txBody>
                  <a:tcPr marL="54864" marR="54864" marT="27432" marB="27432">
                    <a:solidFill>
                      <a:srgbClr val="FFFFFF"/>
                    </a:solidFill>
                  </a:tcPr>
                </a:tc>
              </a:tr>
              <a:tr h="640077">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prospects PR-2026-000011 (no KYC documents) and PR-2026-000007 (KYC in review), quotation QT-2026-900002 (for review) and a quotation made by the Marketing Team Leader, account ARN-2026-900008 (of a prospect) and ARN-2026-910001 (placed)</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Marketing TL / TH / UH, Processing</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9 steps, 4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Processing</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Client record</a:t>
            </a:r>
          </a:p>
        </p:txBody>
      </p:sp>
      <p:sp>
        <p:nvSpPr>
          <p:cNvPr id="19" name="Rounded Rectangle 18"/>
          <p:cNvSpPr/>
          <p:nvPr/>
        </p:nvSpPr>
        <p:spPr>
          <a:xfrm>
            <a:off x="359622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Client record</a:t>
            </a:r>
          </a:p>
        </p:txBody>
      </p:sp>
      <p:sp>
        <p:nvSpPr>
          <p:cNvPr id="20" name="Rounded Rectangle 19"/>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Quotation record</a:t>
            </a:r>
          </a:p>
        </p:txBody>
      </p:sp>
      <p:sp>
        <p:nvSpPr>
          <p:cNvPr id="21" name="Rounded Rectangle 20"/>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Quotation record</a:t>
            </a:r>
          </a:p>
        </p:txBody>
      </p:sp>
      <p:sp>
        <p:nvSpPr>
          <p:cNvPr id="22" name="Rounded Rectangle 21"/>
          <p:cNvSpPr/>
          <p:nvPr/>
        </p:nvSpPr>
        <p:spPr>
          <a:xfrm>
            <a:off x="7087968"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Account record</a:t>
            </a:r>
          </a:p>
        </p:txBody>
      </p:sp>
      <p:sp>
        <p:nvSpPr>
          <p:cNvPr id="23" name="Rounded Rectangle 22"/>
          <p:cNvSpPr/>
          <p:nvPr/>
        </p:nvSpPr>
        <p:spPr>
          <a:xfrm>
            <a:off x="8251884"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Account record</a:t>
            </a:r>
          </a:p>
        </p:txBody>
      </p:sp>
      <p:sp>
        <p:nvSpPr>
          <p:cNvPr id="24" name="Rounded Rectangle 23"/>
          <p:cNvSpPr/>
          <p:nvPr/>
        </p:nvSpPr>
        <p:spPr>
          <a:xfrm>
            <a:off x="941580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Accounts</a:t>
            </a:r>
          </a:p>
        </p:txBody>
      </p:sp>
      <p:sp>
        <p:nvSpPr>
          <p:cNvPr id="25" name="Rounded Rectangle 24"/>
          <p:cNvSpPr/>
          <p:nvPr/>
        </p:nvSpPr>
        <p:spPr>
          <a:xfrm>
            <a:off x="10579716"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Account Placement</a:t>
            </a:r>
          </a:p>
        </p:txBody>
      </p:sp>
      <p:cxnSp>
        <p:nvCxnSpPr>
          <p:cNvPr id="26" name="Connector 25"/>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558968"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050716"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214632"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378548"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Processing</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9110167"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Account Placement</a:t>
            </a:r>
          </a:p>
        </p:txBody>
      </p:sp>
      <p:sp>
        <p:nvSpPr>
          <p:cNvPr id="13" name="TextBox 12"/>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 of 9: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1.png"/>
          <p:cNvPicPr>
            <a:picLocks noChangeAspect="1"/>
          </p:cNvPicPr>
          <p:nvPr/>
        </p:nvPicPr>
        <p:blipFill>
          <a:blip r:embed="rId3"/>
          <a:stretch>
            <a:fillRect/>
          </a:stretch>
        </p:blipFill>
        <p:spPr>
          <a:xfrm>
            <a:off x="548640" y="1261872"/>
            <a:ext cx="7665415" cy="325617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Clicks Submit KYC on a prospect without the mandatory documents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Upload the mandatory KYC documents before you submit the KYC: &lt;documents&gt;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TL / TH / UH on Client record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2 of 9: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c-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a client in KYC review and clicks Return To Account Officer, selects the reason and writes the comment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KYC returned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client is back to Prospect; the Account Officer's bell shows the notice with the comment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TL / TH / UH on Quotation record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9: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03.png"/>
          <p:cNvPicPr>
            <a:picLocks noChangeAspect="1"/>
          </p:cNvPicPr>
          <p:nvPr/>
        </p:nvPicPr>
        <p:blipFill>
          <a:blip r:embed="rId3"/>
          <a:stretch>
            <a:fillRect/>
          </a:stretch>
        </p:blipFill>
        <p:spPr>
          <a:xfrm>
            <a:off x="548640" y="1261872"/>
            <a:ext cx="7665415" cy="324805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Makes a quotation, submits it for review and then tries to approve it himself</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A quotation is approved by someone other than its maker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TL / TH / UH on Quotation record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4 of 9: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6284671"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1" name="Picture 10" descr="wt-c-04.png"/>
          <p:cNvPicPr>
            <a:picLocks noChangeAspect="1"/>
          </p:cNvPicPr>
          <p:nvPr/>
        </p:nvPicPr>
        <p:blipFill>
          <a:blip r:embed="rId3"/>
          <a:stretch>
            <a:fillRect/>
          </a:stretch>
        </p:blipFill>
        <p:spPr>
          <a:xfrm>
            <a:off x="548640" y="1261872"/>
            <a:ext cx="7665415" cy="3438936"/>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Clicks Return To Maker on the quotation with the reason Rate or terms to be reviewed</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Quotation returned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quotation is a Draft again; the History tab shows the reason and comment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Processing on Account record</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5 of 9: Account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c-05.png"/>
          <p:cNvPicPr>
            <a:picLocks noChangeAspect="1"/>
          </p:cNvPicPr>
          <p:nvPr/>
        </p:nvPicPr>
        <p:blipFill>
          <a:blip r:embed="rId3"/>
          <a:stretch>
            <a:fillRect/>
          </a:stretch>
        </p:blipFill>
        <p:spPr>
          <a:xfrm>
            <a:off x="548640" y="1261872"/>
            <a:ext cx="7665415" cy="324805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Clicks Validate on an account whose client is not confirmed (the Account Officer submitted it with the valid ID attached)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Client &lt;code&gt; is not yet confirmed (onboarding and KYC incomplete)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Processing on Account record</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9: Account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c-0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Clicks Return To Marketing with the reason Missing supporting documents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returned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account is Returned to Marketing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Marketing Account Officer on Accounts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9: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Returned to Me tab, opens the account, attaches the document and clicks Resubmit to Processing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Resubmitted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ARN-yyyy-nnnnnn submitted to Processing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Processing on Account Placement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9: Account Placement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c-08.png"/>
          <p:cNvPicPr>
            <a:picLocks noChangeAspect="1"/>
          </p:cNvPicPr>
          <p:nvPr/>
        </p:nvPicPr>
        <p:blipFill>
          <a:blip r:embed="rId3"/>
          <a:stretch>
            <a:fillRect/>
          </a:stretch>
        </p:blipFill>
        <p:spPr>
          <a:xfrm>
            <a:off x="548640" y="1261872"/>
            <a:ext cx="7665415" cy="219199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Records an insurer return on a placed account with the reason Additional insurer requirements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by insurer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account is Returned by insurer; the Insurer Returns tab lists the return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Processing on Account Placement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9: Account Placement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c-09.png"/>
          <p:cNvPicPr>
            <a:picLocks noChangeAspect="1"/>
          </p:cNvPicPr>
          <p:nvPr/>
        </p:nvPicPr>
        <p:blipFill>
          <a:blip r:embed="rId3"/>
          <a:stretch>
            <a:fillRect/>
          </a:stretch>
        </p:blipFill>
        <p:spPr>
          <a:xfrm>
            <a:off x="548640" y="1261872"/>
            <a:ext cx="7665415" cy="261857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SCR-NB-19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Clicks Resubmit for Placement, then Generate Placement Slip, and sends the new slip from the Placement Slips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Placed again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account is back For placement; the slip is generated again as its next version (PL-yyyy-nnnnnn v2) and sent; the earlier version shows Superseded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Client onboarding and KYC</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prospects and confirmed clients of the company. The user finds a client by code, name, TIN, ID number, e-mail or mobile, sees its onboarding and KYC status at a glance and opens the client record.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Clients</a:t>
                      </a:r>
                    </a:p>
                    <a:p>
                      <a:r>
                        <a:rPr sz="950" b="0">
                          <a:solidFill>
                            <a:srgbClr val="4B4B4B"/>
                          </a:solidFill>
                          <a:latin typeface="Arial"/>
                        </a:rPr>
                        <a:t>The Clients link of the client record header and of the Linked Records tab</a:t>
                      </a:r>
                    </a:p>
                    <a:p>
                      <a:r>
                        <a:rPr sz="950" b="0">
                          <a:solidFill>
                            <a:srgbClr val="4B4B4B"/>
                          </a:solidFill>
                          <a:latin typeface="Arial"/>
                        </a:rPr>
                        <a:t>The KYC Review Due tab replaces the separate KYC list for users who work from this list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FR-NB-030, FR-NB-046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finds any client in one search and opens the complete client record.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SCR-NB-01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graphicFrame>
        <p:nvGraphicFramePr>
          <p:cNvPr id="9" name="Table 8"/>
          <p:cNvGraphicFramePr>
            <a:graphicFrameLocks noGrp="1"/>
          </p:cNvGraphicFramePr>
          <p:nvPr/>
        </p:nvGraphicFramePr>
        <p:xfrm>
          <a:off x="548640" y="1325880"/>
          <a:ext cx="11094411" cy="488439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Clients / Prospects / Confirmed / KYC Review Due</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tab narrows the list: status Prospect, status Confirmed, or KYC review due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client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 on the client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Prospect or Client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PR-yyyy-nnnnnn or CL-yyyy-nnnnnn, part of a code allowed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Name Contains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 on last, first, middle or registered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TIN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000-000-000-000</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Exact match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ID Number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Exact match on the ID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name@domain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Exact match, case ignored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Mobile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09xxxxxxxxx</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Exact match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Prospect, Confirmed, Inactive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KYC 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Not started, Pending, Verified, Expired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BDO Bank Client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Bank clients, Non-bank clients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code once confirmed, otherwise the prospect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Last, first middle (individual) or registered name (corporate)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Type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Individual or Corporate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Segment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Bank</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Yes / No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SCR-NB-01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graphicFrame>
        <p:nvGraphicFramePr>
          <p:cNvPr id="9" name="Table 8"/>
          <p:cNvGraphicFramePr>
            <a:graphicFrameLocks noGrp="1"/>
          </p:cNvGraphicFramePr>
          <p:nvPr/>
        </p:nvGraphicFramePr>
        <p:xfrm>
          <a:off x="548640" y="1325880"/>
          <a:ext cx="11094411" cy="123443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Prospect, Confirmed,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KYC</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Not started, Pending, Verified, Expired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KYC Review</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Contact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Mobile, otherwise e-mail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Client</a:t>
                      </a:r>
                    </a:p>
                  </a:txBody>
                  <a:tcPr marL="54864" marR="54864" marT="27432" marB="27432">
                    <a:solidFill>
                      <a:srgbClr val="FFFFFF"/>
                    </a:solidFill>
                  </a:tcPr>
                </a:tc>
                <a:tc>
                  <a:txBody>
                    <a:bodyPr/>
                    <a:lstStyle/>
                    <a:p>
                      <a:r>
                        <a:rPr sz="850" b="0">
                          <a:solidFill>
                            <a:srgbClr val="4B4B4B"/>
                          </a:solidFill>
                          <a:latin typeface="Arial"/>
                        </a:rPr>
                        <a:t>CLIENT_MAINTAIN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Client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Bulk Upload</a:t>
                      </a:r>
                    </a:p>
                  </a:txBody>
                  <a:tcPr marL="54864" marR="54864" marT="27432" marB="27432">
                    <a:solidFill>
                      <a:srgbClr val="E5F5FF"/>
                    </a:solidFill>
                  </a:tcPr>
                </a:tc>
                <a:tc>
                  <a:txBody>
                    <a:bodyPr/>
                    <a:lstStyle/>
                    <a:p>
                      <a:r>
                        <a:rPr sz="850" b="0">
                          <a:solidFill>
                            <a:srgbClr val="4B4B4B"/>
                          </a:solidFill>
                          <a:latin typeface="Arial"/>
                        </a:rPr>
                        <a:t>BULK_PROCESS and CLIENT_MAINTAIN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Bulk Upload wizard of type Create or update clients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Filters / Apply Filters / Clear Filters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the advanced filters, applies them, or clears them and lists every client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client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list shows the clients of the company selected in the page header only (FR-NB-030).</a:t>
                      </a:r>
                    </a:p>
                  </a:txBody>
                  <a:tcPr marL="54864" marR="54864" marT="27432" marB="27432">
                    <a:solidFill>
                      <a:srgbClr val="FFFFFF"/>
                    </a:solidFill>
                  </a:tcPr>
                </a:tc>
              </a:tr>
              <a:tr h="243840">
                <a:tc>
                  <a:txBody>
                    <a:bodyPr/>
                    <a:lstStyle/>
                    <a:p>
                      <a:r>
                        <a:rPr sz="1000" b="0">
                          <a:solidFill>
                            <a:srgbClr val="4B4B4B"/>
                          </a:solidFill>
                          <a:latin typeface="Arial"/>
                        </a:rPr>
                        <a:t>Every criterion can be combined; the quick tab wins over the Status filter (FR-NB-030).</a:t>
                      </a:r>
                    </a:p>
                  </a:txBody>
                  <a:tcPr marL="54864" marR="54864" marT="27432" marB="27432">
                    <a:solidFill>
                      <a:srgbClr val="E5F5FF"/>
                    </a:solidFill>
                  </a:tcPr>
                </a:tc>
              </a:tr>
              <a:tr h="243840">
                <a:tc>
                  <a:txBody>
                    <a:bodyPr/>
                    <a:lstStyle/>
                    <a:p>
                      <a:r>
                        <a:rPr sz="1000" b="0">
                          <a:solidFill>
                            <a:srgbClr val="4B4B4B"/>
                          </a:solidFill>
                          <a:latin typeface="Arial"/>
                        </a:rPr>
                        <a:t>Inactive clients stay searchable; they cannot be quoted or changed (FR-NB-031, FR-NB-034).</a:t>
                      </a:r>
                    </a:p>
                  </a:txBody>
                  <a:tcPr marL="54864" marR="54864" marT="27432" marB="27432">
                    <a:solidFill>
                      <a:srgbClr val="FFFF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1-01-list.png"/>
          <p:cNvPicPr>
            <a:picLocks noChangeAspect="1"/>
          </p:cNvPicPr>
          <p:nvPr/>
        </p:nvPicPr>
        <p:blipFill>
          <a:blip r:embed="rId3"/>
          <a:stretch>
            <a:fillRect/>
          </a:stretch>
        </p:blipFill>
        <p:spPr>
          <a:xfrm>
            <a:off x="4390674" y="1261872"/>
            <a:ext cx="341034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All Clients tab</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7.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with the advanced filters open (part 1 of 5)</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with the advanced filters open (part 2 of 5)</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9.png"/>
          <p:cNvPicPr>
            <a:picLocks noChangeAspect="1"/>
          </p:cNvPicPr>
          <p:nvPr/>
        </p:nvPicPr>
        <p:blipFill>
          <a:blip r:embed="rId3"/>
          <a:stretch>
            <a:fillRect/>
          </a:stretch>
        </p:blipFill>
        <p:spPr>
          <a:xfrm>
            <a:off x="548640" y="1261872"/>
            <a:ext cx="11094415" cy="43708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with the advanced filters open (part 3 of 5)</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0.png"/>
          <p:cNvPicPr>
            <a:picLocks noChangeAspect="1"/>
          </p:cNvPicPr>
          <p:nvPr/>
        </p:nvPicPr>
        <p:blipFill>
          <a:blip r:embed="rId3"/>
          <a:stretch>
            <a:fillRect/>
          </a:stretch>
        </p:blipFill>
        <p:spPr>
          <a:xfrm>
            <a:off x="548640" y="1261872"/>
            <a:ext cx="11094415" cy="44473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with the advanced filters open (part 4 of 5)</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1.png"/>
          <p:cNvPicPr>
            <a:picLocks noChangeAspect="1"/>
          </p:cNvPicPr>
          <p:nvPr/>
        </p:nvPicPr>
        <p:blipFill>
          <a:blip r:embed="rId3"/>
          <a:stretch>
            <a:fillRect/>
          </a:stretch>
        </p:blipFill>
        <p:spPr>
          <a:xfrm>
            <a:off x="548640" y="1261872"/>
            <a:ext cx="11094415" cy="3921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work list with the advanced filters open (part 5 of 5)</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SCR-NB-01 Clients: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nb-01-empty.png"/>
          <p:cNvPicPr>
            <a:picLocks noChangeAspect="1"/>
          </p:cNvPicPr>
          <p:nvPr/>
        </p:nvPicPr>
        <p:blipFill>
          <a:blip r:embed="rId3"/>
          <a:stretch>
            <a:fillRect/>
          </a:stretch>
        </p:blipFill>
        <p:spPr>
          <a:xfrm>
            <a:off x="1524760" y="1261872"/>
            <a:ext cx="914217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client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SCR-NB-02 New Client and Edit Client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Client onboarding and KYC</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Creates a prospect with its identity, contact and address, market segment and KYC profile, or changes an existing client. Only the client type and name are needed to save a prospect; the rest is completed before the KYC is submitted. Possible duplicates are shown while the user types.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New Client</a:t>
                      </a:r>
                    </a:p>
                    <a:p>
                      <a:r>
                        <a:rPr sz="950" b="0">
                          <a:solidFill>
                            <a:srgbClr val="4B4B4B"/>
                          </a:solidFill>
                          <a:latin typeface="Arial"/>
                        </a:rPr>
                        <a:t>Clients › New Client button</a:t>
                      </a:r>
                    </a:p>
                    <a:p>
                      <a:r>
                        <a:rPr sz="950" b="0">
                          <a:solidFill>
                            <a:srgbClr val="4B4B4B"/>
                          </a:solidFill>
                          <a:latin typeface="Arial"/>
                        </a:rPr>
                        <a:t>Client record › Edit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FR-NB-031, FR-NB-032, FR-NB-033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prospect exists with its code and can be quoted at once; the Account Officer continues with the KYC documents on the client record.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fields and columns (No. = callout on the first image)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Client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Individual or Corporate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confirmed client keeps its type</a:t>
                      </a:r>
                    </a:p>
                  </a:txBody>
                  <a:tcPr marL="54864" marR="54864" marT="27432" marB="27432">
                    <a:solidFill>
                      <a:srgbClr val="FFFFFF"/>
                    </a:solidFill>
                  </a:tcPr>
                </a:tc>
                <a:tc>
                  <a:txBody>
                    <a:bodyPr/>
                    <a:lstStyle/>
                    <a:p>
                      <a:r>
                        <a:rPr sz="850" b="0">
                          <a:solidFill>
                            <a:srgbClr val="4B4B4B"/>
                          </a:solidFill>
                          <a:latin typeface="Arial"/>
                        </a:rPr>
                        <a:t>The client type of a confirmed client cannot be changed</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Last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 characters</a:t>
                      </a:r>
                    </a:p>
                  </a:txBody>
                  <a:tcPr marL="54864" marR="54864" marT="27432" marB="27432">
                    <a:solidFill>
                      <a:srgbClr val="E5F5FF"/>
                    </a:solidFill>
                  </a:tcPr>
                </a:tc>
                <a:tc>
                  <a:txBody>
                    <a:bodyPr/>
                    <a:lstStyle/>
                    <a:p>
                      <a:r>
                        <a:rPr sz="850" b="0">
                          <a:solidFill>
                            <a:srgbClr val="4B4B4B"/>
                          </a:solidFill>
                          <a:latin typeface="Arial"/>
                        </a:rPr>
                        <a:t>Y (individual)</a:t>
                      </a:r>
                    </a:p>
                  </a:txBody>
                  <a:tcPr marL="54864" marR="54864" marT="27432" marB="27432">
                    <a:solidFill>
                      <a:srgbClr val="E5F5FF"/>
                    </a:solidFill>
                  </a:tcPr>
                </a:tc>
                <a:tc>
                  <a:txBody>
                    <a:bodyPr/>
                    <a:lstStyle/>
                    <a:p>
                      <a:r>
                        <a:rPr sz="850" b="0">
                          <a:solidFill>
                            <a:srgbClr val="4B4B4B"/>
                          </a:solidFill>
                          <a:latin typeface="Arial"/>
                        </a:rPr>
                        <a:t>Not blank for an individual</a:t>
                      </a:r>
                    </a:p>
                  </a:txBody>
                  <a:tcPr marL="54864" marR="54864" marT="27432" marB="27432">
                    <a:solidFill>
                      <a:srgbClr val="E5F5FF"/>
                    </a:solidFill>
                  </a:tcPr>
                </a:tc>
                <a:tc>
                  <a:txBody>
                    <a:bodyPr/>
                    <a:lstStyle/>
                    <a:p>
                      <a:r>
                        <a:rPr sz="850" b="0">
                          <a:solidFill>
                            <a:srgbClr val="4B4B4B"/>
                          </a:solidFill>
                          <a:latin typeface="Arial"/>
                        </a:rPr>
                        <a:t>Enter the last name</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First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100 characters</a:t>
                      </a:r>
                    </a:p>
                  </a:txBody>
                  <a:tcPr marL="54864" marR="54864" marT="27432" marB="27432">
                    <a:solidFill>
                      <a:srgbClr val="FFFFFF"/>
                    </a:solidFill>
                  </a:tcPr>
                </a:tc>
                <a:tc>
                  <a:txBody>
                    <a:bodyPr/>
                    <a:lstStyle/>
                    <a:p>
                      <a:r>
                        <a:rPr sz="850" b="0">
                          <a:solidFill>
                            <a:srgbClr val="4B4B4B"/>
                          </a:solidFill>
                          <a:latin typeface="Arial"/>
                        </a:rPr>
                        <a:t>Y (individual)</a:t>
                      </a:r>
                    </a:p>
                  </a:txBody>
                  <a:tcPr marL="54864" marR="54864" marT="27432" marB="27432">
                    <a:solidFill>
                      <a:srgbClr val="FFFFFF"/>
                    </a:solidFill>
                  </a:tcPr>
                </a:tc>
                <a:tc>
                  <a:txBody>
                    <a:bodyPr/>
                    <a:lstStyle/>
                    <a:p>
                      <a:r>
                        <a:rPr sz="850" b="0">
                          <a:solidFill>
                            <a:srgbClr val="4B4B4B"/>
                          </a:solidFill>
                          <a:latin typeface="Arial"/>
                        </a:rPr>
                        <a:t>Not blank for an individual</a:t>
                      </a:r>
                    </a:p>
                  </a:txBody>
                  <a:tcPr marL="54864" marR="54864" marT="27432" marB="27432">
                    <a:solidFill>
                      <a:srgbClr val="FFFFFF"/>
                    </a:solidFill>
                  </a:tcPr>
                </a:tc>
                <a:tc>
                  <a:txBody>
                    <a:bodyPr/>
                    <a:lstStyle/>
                    <a:p>
                      <a:r>
                        <a:rPr sz="850" b="0">
                          <a:solidFill>
                            <a:srgbClr val="4B4B4B"/>
                          </a:solidFill>
                          <a:latin typeface="Arial"/>
                        </a:rPr>
                        <a:t>Enter the first name</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Middle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Suffix</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 characters (Jr., III)</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Birth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Cond.: before the KYC is submitted (individual)</a:t>
                      </a:r>
                    </a:p>
                  </a:txBody>
                  <a:tcPr marL="54864" marR="54864" marT="27432" marB="27432">
                    <a:solidFill>
                      <a:srgbClr val="E5F5FF"/>
                    </a:solidFill>
                  </a:tcPr>
                </a:tc>
                <a:tc>
                  <a:txBody>
                    <a:bodyPr/>
                    <a:lstStyle/>
                    <a:p>
                      <a:r>
                        <a:rPr sz="850" b="0">
                          <a:solidFill>
                            <a:srgbClr val="4B4B4B"/>
                          </a:solidFill>
                          <a:latin typeface="Arial"/>
                        </a:rPr>
                        <a:t>In the past; the holder is at least CLIENT_MIN_AGE (18) years old</a:t>
                      </a:r>
                    </a:p>
                  </a:txBody>
                  <a:tcPr marL="54864" marR="54864" marT="27432" marB="27432">
                    <a:solidFill>
                      <a:srgbClr val="E5F5FF"/>
                    </a:solidFill>
                  </a:tcPr>
                </a:tc>
                <a:tc>
                  <a:txBody>
                    <a:bodyPr/>
                    <a:lstStyle/>
                    <a:p>
                      <a:r>
                        <a:rPr sz="850" b="0">
                          <a:solidFill>
                            <a:srgbClr val="4B4B4B"/>
                          </a:solidFill>
                          <a:latin typeface="Arial"/>
                        </a:rPr>
                        <a:t>The birth date must be in the past / An individual policyholder must be at least 18 years old</a:t>
                      </a:r>
                    </a:p>
                  </a:txBody>
                  <a:tcPr marL="54864" marR="54864" marT="27432" marB="27432">
                    <a:solidFill>
                      <a:srgbClr val="E5F5FF"/>
                    </a:solidFill>
                  </a:tcPr>
                </a:tc>
              </a:tr>
              <a:tr h="739135">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Nationality</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Cond.: when set as a minimum field</a:t>
                      </a:r>
                    </a:p>
                  </a:txBody>
                  <a:tcPr marL="54864" marR="54864" marT="27432" marB="27432">
                    <a:solidFill>
                      <a:srgbClr val="FFFFFF"/>
                    </a:solidFill>
                  </a:tcPr>
                </a:tc>
                <a:tc>
                  <a:txBody>
                    <a:bodyPr/>
                    <a:lstStyle/>
                    <a:p>
                      <a:r>
                        <a:rPr sz="850" b="0">
                          <a:solidFill>
                            <a:srgbClr val="4B4B4B"/>
                          </a:solidFill>
                          <a:latin typeface="Arial"/>
                        </a:rPr>
                        <a:t>An active value of the list</a:t>
                      </a:r>
                    </a:p>
                  </a:txBody>
                  <a:tcPr marL="54864" marR="54864" marT="27432" marB="27432">
                    <a:solidFill>
                      <a:srgbClr val="FFFFFF"/>
                    </a:solidFill>
                  </a:tcPr>
                </a:tc>
                <a:tc>
                  <a:txBody>
                    <a:bodyPr/>
                    <a:lstStyle/>
                    <a:p>
                      <a:r>
                        <a:rPr sz="850" b="0">
                          <a:solidFill>
                            <a:srgbClr val="4B4B4B"/>
                          </a:solidFill>
                          <a:latin typeface="Arial"/>
                        </a:rPr>
                        <a:t>'&lt;code&gt;' is not a valid value of NATIONALITY on &lt;date&gt;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Civil 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An active value of the list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Occupation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a:t>
                      </a:r>
                    </a:p>
                  </a:txBody>
                  <a:tcPr marL="54864" marR="54864" marT="27432" marB="27432">
                    <a:solidFill>
                      <a:srgbClr val="FFFFFF"/>
                    </a:solidFill>
                  </a:tcPr>
                </a:tc>
                <a:tc>
                  <a:txBody>
                    <a:bodyPr/>
                    <a:lstStyle/>
                    <a:p>
                      <a:r>
                        <a:rPr sz="850" b="0">
                          <a:solidFill>
                            <a:srgbClr val="4B4B4B"/>
                          </a:solidFill>
                          <a:latin typeface="Arial"/>
                        </a:rPr>
                        <a:t>Cond.: when set as a minimum field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Registered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 (corporate)</a:t>
                      </a:r>
                    </a:p>
                  </a:txBody>
                  <a:tcPr marL="54864" marR="54864" marT="27432" marB="27432">
                    <a:solidFill>
                      <a:srgbClr val="E5F5FF"/>
                    </a:solidFill>
                  </a:tcPr>
                </a:tc>
                <a:tc>
                  <a:txBody>
                    <a:bodyPr/>
                    <a:lstStyle/>
                    <a:p>
                      <a:r>
                        <a:rPr sz="850" b="0">
                          <a:solidFill>
                            <a:srgbClr val="4B4B4B"/>
                          </a:solidFill>
                          <a:latin typeface="Arial"/>
                        </a:rPr>
                        <a:t>Not blank for a corporate client</a:t>
                      </a:r>
                    </a:p>
                  </a:txBody>
                  <a:tcPr marL="54864" marR="54864" marT="27432" marB="27432">
                    <a:solidFill>
                      <a:srgbClr val="E5F5FF"/>
                    </a:solidFill>
                  </a:tcPr>
                </a:tc>
                <a:tc>
                  <a:txBody>
                    <a:bodyPr/>
                    <a:lstStyle/>
                    <a:p>
                      <a:r>
                        <a:rPr sz="850" b="0">
                          <a:solidFill>
                            <a:srgbClr val="4B4B4B"/>
                          </a:solidFill>
                          <a:latin typeface="Arial"/>
                        </a:rPr>
                        <a:t>Enter the corporate name</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Nature of business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fields and columns (No. = callout on the first image)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graphicFrame>
        <p:nvGraphicFramePr>
          <p:cNvPr id="9" name="Table 8"/>
          <p:cNvGraphicFramePr>
            <a:graphicFrameLocks noGrp="1"/>
          </p:cNvGraphicFramePr>
          <p:nvPr/>
        </p:nvGraphicFramePr>
        <p:xfrm>
          <a:off x="548640" y="1325880"/>
          <a:ext cx="11094411" cy="478532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TIN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000-000-000-000 (formatted as typed)</a:t>
                      </a:r>
                    </a:p>
                  </a:txBody>
                  <a:tcPr marL="54864" marR="54864" marT="27432" marB="27432">
                    <a:solidFill>
                      <a:srgbClr val="FFFFFF"/>
                    </a:solidFill>
                  </a:tcPr>
                </a:tc>
                <a:tc>
                  <a:txBody>
                    <a:bodyPr/>
                    <a:lstStyle/>
                    <a:p>
                      <a:r>
                        <a:rPr sz="850" b="0">
                          <a:solidFill>
                            <a:srgbClr val="4B4B4B"/>
                          </a:solidFill>
                          <a:latin typeface="Arial"/>
                        </a:rPr>
                        <a:t>Cond.: before the KYC is submitted</a:t>
                      </a:r>
                    </a:p>
                  </a:txBody>
                  <a:tcPr marL="54864" marR="54864" marT="27432" marB="27432">
                    <a:solidFill>
                      <a:srgbClr val="FFFFFF"/>
                    </a:solidFill>
                  </a:tcPr>
                </a:tc>
                <a:tc>
                  <a:txBody>
                    <a:bodyPr/>
                    <a:lstStyle/>
                    <a:p>
                      <a:r>
                        <a:rPr sz="850" b="0">
                          <a:solidFill>
                            <a:srgbClr val="4B4B4B"/>
                          </a:solidFill>
                          <a:latin typeface="Arial"/>
                        </a:rPr>
                        <a:t>Four groups of three digits; unique in the company</a:t>
                      </a:r>
                    </a:p>
                  </a:txBody>
                  <a:tcPr marL="54864" marR="54864" marT="27432" marB="27432">
                    <a:solidFill>
                      <a:srgbClr val="FFFFFF"/>
                    </a:solidFill>
                  </a:tcPr>
                </a:tc>
                <a:tc>
                  <a:txBody>
                    <a:bodyPr/>
                    <a:lstStyle/>
                    <a:p>
                      <a:r>
                        <a:rPr sz="850" b="0">
                          <a:solidFill>
                            <a:srgbClr val="4B4B4B"/>
                          </a:solidFill>
                          <a:latin typeface="Arial"/>
                        </a:rPr>
                        <a:t>Use the format 000-000-000-000</a:t>
                      </a:r>
                    </a:p>
                  </a:txBody>
                  <a:tcPr marL="54864" marR="54864" marT="27432" marB="27432">
                    <a:solidFill>
                      <a:srgbClr val="FFFFFF"/>
                    </a:solidFill>
                  </a:tcPr>
                </a:tc>
              </a:tr>
              <a:tr h="739135">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Identity</a:t>
                      </a:r>
                    </a:p>
                  </a:txBody>
                  <a:tcPr marL="54864" marR="54864" marT="27432" marB="27432">
                    <a:solidFill>
                      <a:srgbClr val="E5F5FF"/>
                    </a:solidFill>
                  </a:tcPr>
                </a:tc>
                <a:tc>
                  <a:txBody>
                    <a:bodyPr/>
                    <a:lstStyle/>
                    <a:p>
                      <a:r>
                        <a:rPr sz="850" b="0">
                          <a:solidFill>
                            <a:srgbClr val="4B4B4B"/>
                          </a:solidFill>
                          <a:latin typeface="Arial"/>
                        </a:rPr>
                        <a:t>ID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Cond.: when an ID number is entered</a:t>
                      </a:r>
                    </a:p>
                  </a:txBody>
                  <a:tcPr marL="54864" marR="54864" marT="27432" marB="27432">
                    <a:solidFill>
                      <a:srgbClr val="E5F5FF"/>
                    </a:solidFill>
                  </a:tcPr>
                </a:tc>
                <a:tc>
                  <a:txBody>
                    <a:bodyPr/>
                    <a:lstStyle/>
                    <a:p>
                      <a:r>
                        <a:rPr sz="850" b="0">
                          <a:solidFill>
                            <a:srgbClr val="4B4B4B"/>
                          </a:solidFill>
                          <a:latin typeface="Arial"/>
                        </a:rPr>
                        <a:t>Needed with the ID number</a:t>
                      </a:r>
                    </a:p>
                  </a:txBody>
                  <a:tcPr marL="54864" marR="54864" marT="27432" marB="27432">
                    <a:solidFill>
                      <a:srgbClr val="E5F5FF"/>
                    </a:solidFill>
                  </a:tcPr>
                </a:tc>
                <a:tc>
                  <a:txBody>
                    <a:bodyPr/>
                    <a:lstStyle/>
                    <a:p>
                      <a:r>
                        <a:rPr sz="850" b="0">
                          <a:solidFill>
                            <a:srgbClr val="4B4B4B"/>
                          </a:solidFill>
                          <a:latin typeface="Arial"/>
                        </a:rPr>
                        <a:t>Select the ID type</a:t>
                      </a:r>
                    </a:p>
                  </a:txBody>
                  <a:tcPr marL="54864" marR="54864" marT="27432" marB="27432">
                    <a:solidFill>
                      <a:srgbClr val="E5F5FF"/>
                    </a:solidFill>
                  </a:tcPr>
                </a:tc>
              </a:tr>
              <a:tr h="868674">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Identity</a:t>
                      </a:r>
                    </a:p>
                  </a:txBody>
                  <a:tcPr marL="54864" marR="54864" marT="27432" marB="27432">
                    <a:solidFill>
                      <a:srgbClr val="FFFFFF"/>
                    </a:solidFill>
                  </a:tcPr>
                </a:tc>
                <a:tc>
                  <a:txBody>
                    <a:bodyPr/>
                    <a:lstStyle/>
                    <a:p>
                      <a:r>
                        <a:rPr sz="850" b="0">
                          <a:solidFill>
                            <a:srgbClr val="4B4B4B"/>
                          </a:solidFill>
                          <a:latin typeface="Arial"/>
                        </a:rPr>
                        <a:t>ID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60 characters</a:t>
                      </a:r>
                    </a:p>
                  </a:txBody>
                  <a:tcPr marL="54864" marR="54864" marT="27432" marB="27432">
                    <a:solidFill>
                      <a:srgbClr val="FFFFFF"/>
                    </a:solidFill>
                  </a:tcPr>
                </a:tc>
                <a:tc>
                  <a:txBody>
                    <a:bodyPr/>
                    <a:lstStyle/>
                    <a:p>
                      <a:r>
                        <a:rPr sz="850" b="0">
                          <a:solidFill>
                            <a:srgbClr val="4B4B4B"/>
                          </a:solidFill>
                          <a:latin typeface="Arial"/>
                        </a:rPr>
                        <a:t>Cond.: before the KYC is submitted (individual)</a:t>
                      </a:r>
                    </a:p>
                  </a:txBody>
                  <a:tcPr marL="54864" marR="54864" marT="27432" marB="27432">
                    <a:solidFill>
                      <a:srgbClr val="FFFFFF"/>
                    </a:solidFill>
                  </a:tcPr>
                </a:tc>
                <a:tc>
                  <a:txBody>
                    <a:bodyPr/>
                    <a:lstStyle/>
                    <a:p>
                      <a:r>
                        <a:rPr sz="850" b="0">
                          <a:solidFill>
                            <a:srgbClr val="4B4B4B"/>
                          </a:solidFill>
                          <a:latin typeface="Arial"/>
                        </a:rPr>
                        <a:t>ID type and number unique in the company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Contact &amp; Address</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name@domain, up to 120 characters</a:t>
                      </a:r>
                    </a:p>
                  </a:txBody>
                  <a:tcPr marL="54864" marR="54864" marT="27432" marB="27432">
                    <a:solidFill>
                      <a:srgbClr val="E5F5FF"/>
                    </a:solidFill>
                  </a:tcPr>
                </a:tc>
                <a:tc>
                  <a:txBody>
                    <a:bodyPr/>
                    <a:lstStyle/>
                    <a:p>
                      <a:r>
                        <a:rPr sz="850" b="0">
                          <a:solidFill>
                            <a:srgbClr val="4B4B4B"/>
                          </a:solidFill>
                          <a:latin typeface="Arial"/>
                        </a:rPr>
                        <a:t>Cond.: e-mail or mobile before the KYC is submitted</a:t>
                      </a:r>
                    </a:p>
                  </a:txBody>
                  <a:tcPr marL="54864" marR="54864" marT="27432" marB="27432">
                    <a:solidFill>
                      <a:srgbClr val="E5F5FF"/>
                    </a:solidFill>
                  </a:tcPr>
                </a:tc>
                <a:tc>
                  <a:txBody>
                    <a:bodyPr/>
                    <a:lstStyle/>
                    <a:p>
                      <a:r>
                        <a:rPr sz="850" b="0">
                          <a:solidFill>
                            <a:srgbClr val="4B4B4B"/>
                          </a:solidFill>
                          <a:latin typeface="Arial"/>
                        </a:rPr>
                        <a:t>One @ and a dotted domain</a:t>
                      </a:r>
                    </a:p>
                  </a:txBody>
                  <a:tcPr marL="54864" marR="54864" marT="27432" marB="27432">
                    <a:solidFill>
                      <a:srgbClr val="E5F5FF"/>
                    </a:solidFill>
                  </a:tcPr>
                </a:tc>
                <a:tc>
                  <a:txBody>
                    <a:bodyPr/>
                    <a:lstStyle/>
                    <a:p>
                      <a:r>
                        <a:rPr sz="850" b="0">
                          <a:solidFill>
                            <a:srgbClr val="4B4B4B"/>
                          </a:solidFill>
                          <a:latin typeface="Arial"/>
                        </a:rPr>
                        <a:t>Enter a valid e-mail address</a:t>
                      </a:r>
                    </a:p>
                  </a:txBody>
                  <a:tcPr marL="54864" marR="54864" marT="27432" marB="27432">
                    <a:solidFill>
                      <a:srgbClr val="E5F5FF"/>
                    </a:solidFill>
                  </a:tcPr>
                </a:tc>
              </a:tr>
              <a:tr h="998213">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Contact &amp; Address</a:t>
                      </a:r>
                    </a:p>
                  </a:txBody>
                  <a:tcPr marL="54864" marR="54864" marT="27432" marB="27432">
                    <a:solidFill>
                      <a:srgbClr val="FFFFFF"/>
                    </a:solidFill>
                  </a:tcPr>
                </a:tc>
                <a:tc>
                  <a:txBody>
                    <a:bodyPr/>
                    <a:lstStyle/>
                    <a:p>
                      <a:r>
                        <a:rPr sz="850" b="0">
                          <a:solidFill>
                            <a:srgbClr val="4B4B4B"/>
                          </a:solidFill>
                          <a:latin typeface="Arial"/>
                        </a:rPr>
                        <a:t>Mobile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09xxxxxxxxx or +639xxxxxxxxx</a:t>
                      </a:r>
                    </a:p>
                  </a:txBody>
                  <a:tcPr marL="54864" marR="54864" marT="27432" marB="27432">
                    <a:solidFill>
                      <a:srgbClr val="FFFFFF"/>
                    </a:solidFill>
                  </a:tcPr>
                </a:tc>
                <a:tc>
                  <a:txBody>
                    <a:bodyPr/>
                    <a:lstStyle/>
                    <a:p>
                      <a:r>
                        <a:rPr sz="850" b="0">
                          <a:solidFill>
                            <a:srgbClr val="4B4B4B"/>
                          </a:solidFill>
                          <a:latin typeface="Arial"/>
                        </a:rPr>
                        <a:t>Cond.: e-mail or mobile before the KYC is submitted</a:t>
                      </a:r>
                    </a:p>
                  </a:txBody>
                  <a:tcPr marL="54864" marR="54864" marT="27432" marB="27432">
                    <a:solidFill>
                      <a:srgbClr val="FFFFFF"/>
                    </a:solidFill>
                  </a:tcPr>
                </a:tc>
                <a:tc>
                  <a:txBody>
                    <a:bodyPr/>
                    <a:lstStyle/>
                    <a:p>
                      <a:r>
                        <a:rPr sz="850" b="0">
                          <a:solidFill>
                            <a:srgbClr val="4B4B4B"/>
                          </a:solidFill>
                          <a:latin typeface="Arial"/>
                        </a:rPr>
                        <a:t>Philippine mobile format</a:t>
                      </a:r>
                    </a:p>
                  </a:txBody>
                  <a:tcPr marL="54864" marR="54864" marT="27432" marB="27432">
                    <a:solidFill>
                      <a:srgbClr val="FFFFFF"/>
                    </a:solidFill>
                  </a:tcPr>
                </a:tc>
                <a:tc>
                  <a:txBody>
                    <a:bodyPr/>
                    <a:lstStyle/>
                    <a:p>
                      <a:r>
                        <a:rPr sz="850" b="0">
                          <a:solidFill>
                            <a:srgbClr val="4B4B4B"/>
                          </a:solidFill>
                          <a:latin typeface="Arial"/>
                        </a:rPr>
                        <a:t>Use 09xxxxxxxxx or +639xxxxxxxxx</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Contact &amp; Address</a:t>
                      </a:r>
                    </a:p>
                  </a:txBody>
                  <a:tcPr marL="54864" marR="54864" marT="27432" marB="27432">
                    <a:solidFill>
                      <a:srgbClr val="E5F5FF"/>
                    </a:solidFill>
                  </a:tcPr>
                </a:tc>
                <a:tc>
                  <a:txBody>
                    <a:bodyPr/>
                    <a:lstStyle/>
                    <a:p>
                      <a:r>
                        <a:rPr sz="850" b="0">
                          <a:solidFill>
                            <a:srgbClr val="4B4B4B"/>
                          </a:solidFill>
                          <a:latin typeface="Arial"/>
                        </a:rPr>
                        <a:t>Landline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fields and columns (No. = callout on the first image)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graphicFrame>
        <p:nvGraphicFramePr>
          <p:cNvPr id="9" name="Table 8"/>
          <p:cNvGraphicFramePr>
            <a:graphicFrameLocks noGrp="1"/>
          </p:cNvGraphicFramePr>
          <p:nvPr/>
        </p:nvGraphicFramePr>
        <p:xfrm>
          <a:off x="548640" y="1325880"/>
          <a:ext cx="11094411" cy="47091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Contact &amp; Address</a:t>
                      </a:r>
                    </a:p>
                  </a:txBody>
                  <a:tcPr marL="54864" marR="54864" marT="27432" marB="27432">
                    <a:solidFill>
                      <a:srgbClr val="FFFFFF"/>
                    </a:solidFill>
                  </a:tcPr>
                </a:tc>
                <a:tc>
                  <a:txBody>
                    <a:bodyPr/>
                    <a:lstStyle/>
                    <a:p>
                      <a:r>
                        <a:rPr sz="850" b="0">
                          <a:solidFill>
                            <a:srgbClr val="4B4B4B"/>
                          </a:solidFill>
                          <a:latin typeface="Arial"/>
                        </a:rPr>
                        <a:t>Street address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300 characters</a:t>
                      </a:r>
                    </a:p>
                  </a:txBody>
                  <a:tcPr marL="54864" marR="54864" marT="27432" marB="27432">
                    <a:solidFill>
                      <a:srgbClr val="FFFFFF"/>
                    </a:solidFill>
                  </a:tcPr>
                </a:tc>
                <a:tc>
                  <a:txBody>
                    <a:bodyPr/>
                    <a:lstStyle/>
                    <a:p>
                      <a:r>
                        <a:rPr sz="850" b="0">
                          <a:solidFill>
                            <a:srgbClr val="4B4B4B"/>
                          </a:solidFill>
                          <a:latin typeface="Arial"/>
                        </a:rPr>
                        <a:t>Cond.: before the KYC is submitted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Contact &amp; Address</a:t>
                      </a:r>
                    </a:p>
                  </a:txBody>
                  <a:tcPr marL="54864" marR="54864" marT="27432" marB="27432">
                    <a:solidFill>
                      <a:srgbClr val="E5F5FF"/>
                    </a:solidFill>
                  </a:tcPr>
                </a:tc>
                <a:tc>
                  <a:txBody>
                    <a:bodyPr/>
                    <a:lstStyle/>
                    <a:p>
                      <a:r>
                        <a:rPr sz="850" b="0">
                          <a:solidFill>
                            <a:srgbClr val="4B4B4B"/>
                          </a:solidFill>
                          <a:latin typeface="Arial"/>
                        </a:rPr>
                        <a:t>City / municipality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80 characters</a:t>
                      </a:r>
                    </a:p>
                  </a:txBody>
                  <a:tcPr marL="54864" marR="54864" marT="27432" marB="27432">
                    <a:solidFill>
                      <a:srgbClr val="E5F5FF"/>
                    </a:solidFill>
                  </a:tcPr>
                </a:tc>
                <a:tc>
                  <a:txBody>
                    <a:bodyPr/>
                    <a:lstStyle/>
                    <a:p>
                      <a:r>
                        <a:rPr sz="850" b="0">
                          <a:solidFill>
                            <a:srgbClr val="4B4B4B"/>
                          </a:solidFill>
                          <a:latin typeface="Arial"/>
                        </a:rPr>
                        <a:t>Cond.: before the KYC is submitted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Contact &amp; Address</a:t>
                      </a:r>
                    </a:p>
                  </a:txBody>
                  <a:tcPr marL="54864" marR="54864" marT="27432" marB="27432">
                    <a:solidFill>
                      <a:srgbClr val="FFFFFF"/>
                    </a:solidFill>
                  </a:tcPr>
                </a:tc>
                <a:tc>
                  <a:txBody>
                    <a:bodyPr/>
                    <a:lstStyle/>
                    <a:p>
                      <a:r>
                        <a:rPr sz="850" b="0">
                          <a:solidFill>
                            <a:srgbClr val="4B4B4B"/>
                          </a:solidFill>
                          <a:latin typeface="Arial"/>
                        </a:rPr>
                        <a:t>Province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80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Contact &amp; Address</a:t>
                      </a:r>
                    </a:p>
                  </a:txBody>
                  <a:tcPr marL="54864" marR="54864" marT="27432" marB="27432">
                    <a:solidFill>
                      <a:srgbClr val="E5F5FF"/>
                    </a:solidFill>
                  </a:tcPr>
                </a:tc>
                <a:tc>
                  <a:txBody>
                    <a:bodyPr/>
                    <a:lstStyle/>
                    <a:p>
                      <a:r>
                        <a:rPr sz="850" b="0">
                          <a:solidFill>
                            <a:srgbClr val="4B4B4B"/>
                          </a:solidFill>
                          <a:latin typeface="Arial"/>
                        </a:rPr>
                        <a:t>Postal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Segment &amp; Bank relationship</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Cond.: before the KYC is submitted</a:t>
                      </a:r>
                    </a:p>
                  </a:txBody>
                  <a:tcPr marL="54864" marR="54864" marT="27432" marB="27432">
                    <a:solidFill>
                      <a:srgbClr val="FFFFFF"/>
                    </a:solidFill>
                  </a:tcPr>
                </a:tc>
                <a:tc>
                  <a:txBody>
                    <a:bodyPr/>
                    <a:lstStyle/>
                    <a:p>
                      <a:r>
                        <a:rPr sz="850" b="0">
                          <a:solidFill>
                            <a:srgbClr val="4B4B4B"/>
                          </a:solidFill>
                          <a:latin typeface="Arial"/>
                        </a:rPr>
                        <a:t>An active value of the list</a:t>
                      </a:r>
                    </a:p>
                  </a:txBody>
                  <a:tcPr marL="54864" marR="54864" marT="27432" marB="27432">
                    <a:solidFill>
                      <a:srgbClr val="FFFFFF"/>
                    </a:solidFill>
                  </a:tcPr>
                </a:tc>
                <a:tc>
                  <a:txBody>
                    <a:bodyPr/>
                    <a:lstStyle/>
                    <a:p>
                      <a:r>
                        <a:rPr sz="850" b="0">
                          <a:solidFill>
                            <a:srgbClr val="4B4B4B"/>
                          </a:solidFill>
                          <a:latin typeface="Arial"/>
                        </a:rPr>
                        <a:t>'&lt;code&gt;' is not a valid value of MARKET_SEGMENT on &lt;date&gt;</a:t>
                      </a:r>
                    </a:p>
                  </a:txBody>
                  <a:tcPr marL="54864" marR="54864" marT="27432" marB="27432">
                    <a:solidFill>
                      <a:srgbClr val="FFFFFF"/>
                    </a:solidFill>
                  </a:tcPr>
                </a:tc>
              </a:tr>
              <a:tr h="350518">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Segment &amp; Bank relationship</a:t>
                      </a:r>
                    </a:p>
                  </a:txBody>
                  <a:tcPr marL="54864" marR="54864" marT="27432" marB="27432">
                    <a:solidFill>
                      <a:srgbClr val="E5F5FF"/>
                    </a:solidFill>
                  </a:tcPr>
                </a:tc>
                <a:tc>
                  <a:txBody>
                    <a:bodyPr/>
                    <a:lstStyle/>
                    <a:p>
                      <a:r>
                        <a:rPr sz="850" b="0">
                          <a:solidFill>
                            <a:srgbClr val="4B4B4B"/>
                          </a:solidFill>
                          <a:latin typeface="Arial"/>
                        </a:rPr>
                        <a:t>BDO bank client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The client banks with the group bank</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Segment &amp; Bank relationship</a:t>
                      </a:r>
                    </a:p>
                  </a:txBody>
                  <a:tcPr marL="54864" marR="54864" marT="27432" marB="27432">
                    <a:solidFill>
                      <a:srgbClr val="FFFFFF"/>
                    </a:solidFill>
                  </a:tcPr>
                </a:tc>
                <a:tc>
                  <a:txBody>
                    <a:bodyPr/>
                    <a:lstStyle/>
                    <a:p>
                      <a:r>
                        <a:rPr sz="850" b="0">
                          <a:solidFill>
                            <a:srgbClr val="4B4B4B"/>
                          </a:solidFill>
                          <a:latin typeface="Arial"/>
                        </a:rPr>
                        <a:t>BDO CIF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40 characters</a:t>
                      </a:r>
                    </a:p>
                  </a:txBody>
                  <a:tcPr marL="54864" marR="54864" marT="27432" marB="27432">
                    <a:solidFill>
                      <a:srgbClr val="FFFFFF"/>
                    </a:solidFill>
                  </a:tcPr>
                </a:tc>
                <a:tc>
                  <a:txBody>
                    <a:bodyPr/>
                    <a:lstStyle/>
                    <a:p>
                      <a:r>
                        <a:rPr sz="850" b="0">
                          <a:solidFill>
                            <a:srgbClr val="4B4B4B"/>
                          </a:solidFill>
                          <a:latin typeface="Arial"/>
                        </a:rPr>
                        <a:t>N (shown when BDO bank client is ticked)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25</a:t>
                      </a:r>
                    </a:p>
                  </a:txBody>
                  <a:tcPr marL="54864" marR="54864" marT="27432" marB="27432">
                    <a:solidFill>
                      <a:srgbClr val="E5F5FF"/>
                    </a:solidFill>
                  </a:tcPr>
                </a:tc>
                <a:tc>
                  <a:txBody>
                    <a:bodyPr/>
                    <a:lstStyle/>
                    <a:p>
                      <a:r>
                        <a:rPr sz="850" b="0">
                          <a:solidFill>
                            <a:srgbClr val="4B4B4B"/>
                          </a:solidFill>
                          <a:latin typeface="Arial"/>
                        </a:rPr>
                        <a:t>Segment &amp; Bank relationship</a:t>
                      </a:r>
                    </a:p>
                  </a:txBody>
                  <a:tcPr marL="54864" marR="54864" marT="27432" marB="27432">
                    <a:solidFill>
                      <a:srgbClr val="E5F5FF"/>
                    </a:solidFill>
                  </a:tcPr>
                </a:tc>
                <a:tc>
                  <a:txBody>
                    <a:bodyPr/>
                    <a:lstStyle/>
                    <a:p>
                      <a:r>
                        <a:rPr sz="850" b="0">
                          <a:solidFill>
                            <a:srgbClr val="4B4B4B"/>
                          </a:solidFill>
                          <a:latin typeface="Arial"/>
                        </a:rPr>
                        <a:t>Source of funds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Cond.: when set as a minimum field</a:t>
                      </a:r>
                    </a:p>
                  </a:txBody>
                  <a:tcPr marL="54864" marR="54864" marT="27432" marB="27432">
                    <a:solidFill>
                      <a:srgbClr val="E5F5FF"/>
                    </a:solidFill>
                  </a:tcPr>
                </a:tc>
                <a:tc>
                  <a:txBody>
                    <a:bodyPr/>
                    <a:lstStyle/>
                    <a:p>
                      <a:r>
                        <a:rPr sz="850" b="0">
                          <a:solidFill>
                            <a:srgbClr val="4B4B4B"/>
                          </a:solidFill>
                          <a:latin typeface="Arial"/>
                        </a:rPr>
                        <a:t>An active value of the list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fields and columns (No. = callout on the first image)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26</a:t>
                      </a:r>
                    </a:p>
                  </a:txBody>
                  <a:tcPr marL="54864" marR="54864" marT="27432" marB="27432">
                    <a:solidFill>
                      <a:srgbClr val="FFFFFF"/>
                    </a:solidFill>
                  </a:tcPr>
                </a:tc>
                <a:tc>
                  <a:txBody>
                    <a:bodyPr/>
                    <a:lstStyle/>
                    <a:p>
                      <a:r>
                        <a:rPr sz="850" b="0">
                          <a:solidFill>
                            <a:srgbClr val="4B4B4B"/>
                          </a:solidFill>
                          <a:latin typeface="Arial"/>
                        </a:rPr>
                        <a:t>Segment &amp; Bank relationship</a:t>
                      </a:r>
                    </a:p>
                  </a:txBody>
                  <a:tcPr marL="54864" marR="54864" marT="27432" marB="27432">
                    <a:solidFill>
                      <a:srgbClr val="FFFFFF"/>
                    </a:solidFill>
                  </a:tcPr>
                </a:tc>
                <a:tc>
                  <a:txBody>
                    <a:bodyPr/>
                    <a:lstStyle/>
                    <a:p>
                      <a:r>
                        <a:rPr sz="850" b="0">
                          <a:solidFill>
                            <a:srgbClr val="4B4B4B"/>
                          </a:solidFill>
                          <a:latin typeface="Arial"/>
                        </a:rPr>
                        <a:t>KYC risk rating</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Low, Standard, High</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An active value of the list; High sets the 12-month review cycle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Save as prospect</a:t>
                      </a:r>
                    </a:p>
                  </a:txBody>
                  <a:tcPr marL="54864" marR="54864" marT="27432" marB="27432">
                    <a:solidFill>
                      <a:srgbClr val="FFFFFF"/>
                    </a:solidFill>
                  </a:tcPr>
                </a:tc>
                <a:tc>
                  <a:txBody>
                    <a:bodyPr/>
                    <a:lstStyle/>
                    <a:p>
                      <a:r>
                        <a:rPr sz="850" b="0">
                          <a:solidFill>
                            <a:srgbClr val="4B4B4B"/>
                          </a:solidFill>
                          <a:latin typeface="Arial"/>
                        </a:rPr>
                        <a:t>CLIENT_MAINTAIN</a:t>
                      </a:r>
                    </a:p>
                  </a:txBody>
                  <a:tcPr marL="54864" marR="54864" marT="27432" marB="27432">
                    <a:solidFill>
                      <a:srgbClr val="FFFFFF"/>
                    </a:solidFill>
                  </a:tcPr>
                </a:tc>
                <a:tc>
                  <a:txBody>
                    <a:bodyPr/>
                    <a:lstStyle/>
                    <a:p>
                      <a:r>
                        <a:rPr sz="850" b="0">
                          <a:solidFill>
                            <a:srgbClr val="4B4B4B"/>
                          </a:solidFill>
                          <a:latin typeface="Arial"/>
                        </a:rPr>
                        <a:t>No blocking duplicate is shown</a:t>
                      </a:r>
                    </a:p>
                  </a:txBody>
                  <a:tcPr marL="54864" marR="54864" marT="27432" marB="27432">
                    <a:solidFill>
                      <a:srgbClr val="FFFFFF"/>
                    </a:solidFill>
                  </a:tcPr>
                </a:tc>
                <a:tc>
                  <a:txBody>
                    <a:bodyPr/>
                    <a:lstStyle/>
                    <a:p>
                      <a:r>
                        <a:rPr sz="850" b="0">
                          <a:solidFill>
                            <a:srgbClr val="4B4B4B"/>
                          </a:solidFill>
                          <a:latin typeface="Arial"/>
                        </a:rPr>
                        <a:t>Checks the fields, saves the prospect with a PR-yyyy-nnnnnn code and shows the Prospect saved panel with Open Client and Create Another</a:t>
                      </a:r>
                    </a:p>
                  </a:txBody>
                  <a:tcPr marL="54864" marR="54864" marT="27432" marB="27432">
                    <a:solidFill>
                      <a:srgbClr val="FFFFFF"/>
                    </a:solidFill>
                  </a:tcPr>
                </a:tc>
                <a:tc>
                  <a:txBody>
                    <a:bodyPr/>
                    <a:lstStyle/>
                    <a:p>
                      <a:r>
                        <a:rPr sz="850" b="0">
                          <a:solidFill>
                            <a:srgbClr val="4B4B4B"/>
                          </a:solidFill>
                          <a:latin typeface="Arial"/>
                        </a:rPr>
                        <a:t>Prospect (onboarding stage Prospect)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changes</a:t>
                      </a:r>
                    </a:p>
                  </a:txBody>
                  <a:tcPr marL="54864" marR="54864" marT="27432" marB="27432">
                    <a:solidFill>
                      <a:srgbClr val="E5F5FF"/>
                    </a:solidFill>
                  </a:tcPr>
                </a:tc>
                <a:tc>
                  <a:txBody>
                    <a:bodyPr/>
                    <a:lstStyle/>
                    <a:p>
                      <a:r>
                        <a:rPr sz="850" b="0">
                          <a:solidFill>
                            <a:srgbClr val="4B4B4B"/>
                          </a:solidFill>
                          <a:latin typeface="Arial"/>
                        </a:rPr>
                        <a:t>CLIENT_MAINTAIN</a:t>
                      </a:r>
                    </a:p>
                  </a:txBody>
                  <a:tcPr marL="54864" marR="54864" marT="27432" marB="27432">
                    <a:solidFill>
                      <a:srgbClr val="E5F5FF"/>
                    </a:solidFill>
                  </a:tcPr>
                </a:tc>
                <a:tc>
                  <a:txBody>
                    <a:bodyPr/>
                    <a:lstStyle/>
                    <a:p>
                      <a:r>
                        <a:rPr sz="850" b="0">
                          <a:solidFill>
                            <a:srgbClr val="4B4B4B"/>
                          </a:solidFill>
                          <a:latin typeface="Arial"/>
                        </a:rPr>
                        <a:t>Edit of an active client; no blocking duplicate</a:t>
                      </a:r>
                    </a:p>
                  </a:txBody>
                  <a:tcPr marL="54864" marR="54864" marT="27432" marB="27432">
                    <a:solidFill>
                      <a:srgbClr val="E5F5FF"/>
                    </a:solidFill>
                  </a:tcPr>
                </a:tc>
                <a:tc>
                  <a:txBody>
                    <a:bodyPr/>
                    <a:lstStyle/>
                    <a:p>
                      <a:r>
                        <a:rPr sz="850" b="0">
                          <a:solidFill>
                            <a:srgbClr val="4B4B4B"/>
                          </a:solidFill>
                          <a:latin typeface="Arial"/>
                        </a:rPr>
                        <a:t>Saves the changes and returns to the client record</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Cancel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Leaves without saving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client type and the name are needed to save a prospect; a prospect can be quoted (FR-NB-031, FR-NB-041).</a:t>
                      </a:r>
                    </a:p>
                  </a:txBody>
                  <a:tcPr marL="54864" marR="54864" marT="27432" marB="27432">
                    <a:solidFill>
                      <a:srgbClr val="FFFFFF"/>
                    </a:solidFill>
                  </a:tcPr>
                </a:tc>
              </a:tr>
              <a:tr h="396240">
                <a:tc>
                  <a:txBody>
                    <a:bodyPr/>
                    <a:lstStyle/>
                    <a:p>
                      <a:r>
                        <a:rPr sz="1000" b="0">
                          <a:solidFill>
                            <a:srgbClr val="4B4B4B"/>
                          </a:solidFill>
                          <a:latin typeface="Arial"/>
                        </a:rPr>
                        <a:t>The minimum fields that must be complete before the KYC is submitted are the parameters CLIENT_MIN_FIELDS_INDIVIDUAL (birth date, TIN, ID, contact, address, market segment) and CLIENT_MIN_FIELDS_CORPORATE (TIN, contact, address, market segment) (FR-NB-031, FR-NB-034).</a:t>
                      </a:r>
                    </a:p>
                  </a:txBody>
                  <a:tcPr marL="54864" marR="54864" marT="27432" marB="27432">
                    <a:solidFill>
                      <a:srgbClr val="E5F5FF"/>
                    </a:solidFill>
                  </a:tcPr>
                </a:tc>
              </a:tr>
              <a:tr h="243840">
                <a:tc>
                  <a:txBody>
                    <a:bodyPr/>
                    <a:lstStyle/>
                    <a:p>
                      <a:r>
                        <a:rPr sz="1000" b="0">
                          <a:solidFill>
                            <a:srgbClr val="4B4B4B"/>
                          </a:solidFill>
                          <a:latin typeface="Arial"/>
                        </a:rPr>
                        <a:t>A match on TIN, ID type and number, or name with birth date blocks saving; a match on e-mail, mobile or corporate name is a warning (FR-NB-033).</a:t>
                      </a:r>
                    </a:p>
                  </a:txBody>
                  <a:tcPr marL="54864" marR="54864" marT="27432" marB="27432">
                    <a:solidFill>
                      <a:srgbClr val="FFFFFF"/>
                    </a:solidFill>
                  </a:tcPr>
                </a:tc>
              </a:tr>
              <a:tr h="243840">
                <a:tc>
                  <a:txBody>
                    <a:bodyPr/>
                    <a:lstStyle/>
                    <a:p>
                      <a:r>
                        <a:rPr sz="1000" b="0">
                          <a:solidFill>
                            <a:srgbClr val="4B4B4B"/>
                          </a:solidFill>
                          <a:latin typeface="Arial"/>
                        </a:rPr>
                        <a:t>An inactive client cannot be changed (FR-NB-032).</a:t>
                      </a:r>
                    </a:p>
                  </a:txBody>
                  <a:tcPr marL="54864" marR="54864" marT="27432" marB="27432">
                    <a:solidFill>
                      <a:srgbClr val="E5F5FF"/>
                    </a:solidFill>
                  </a:tcPr>
                </a:tc>
              </a:tr>
              <a:tr h="243840">
                <a:tc>
                  <a:txBody>
                    <a:bodyPr/>
                    <a:lstStyle/>
                    <a:p>
                      <a:r>
                        <a:rPr sz="1000" b="0">
                          <a:solidFill>
                            <a:srgbClr val="4B4B4B"/>
                          </a:solidFill>
                          <a:latin typeface="Arial"/>
                        </a:rPr>
                        <a:t>Every change is written to the client's audit history (FR-NB-016, FR-NB-032).</a:t>
                      </a:r>
                    </a:p>
                  </a:txBody>
                  <a:tcPr marL="54864" marR="54864" marT="27432" marB="27432">
                    <a:solidFill>
                      <a:srgbClr val="FFFFFF"/>
                    </a:solidFill>
                  </a:tcPr>
                </a:tc>
              </a:tr>
            </a:tbl>
          </a:graphicData>
        </a:graphic>
      </p:graphicFrame>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a:t>
                      </a:r>
                    </a:p>
                  </a:txBody>
                  <a:tcPr marL="54864" marR="54864" marT="27432" marB="27432">
                    <a:solidFill>
                      <a:srgbClr val="FFFFFF"/>
                    </a:solidFill>
                  </a:tcPr>
                </a:tc>
                <a:tc>
                  <a:txBody>
                    <a:bodyPr/>
                    <a:lstStyle/>
                    <a:p>
                      <a:r>
                        <a:rPr sz="900" b="0">
                          <a:solidFill>
                            <a:srgbClr val="4B4B4B"/>
                          </a:solidFill>
                          <a:latin typeface="Arial"/>
                        </a:rPr>
                        <a:t>Opens Clients › New Client, enters the individual's identity, contact, address and segment, and clicks Save as prospect</a:t>
                      </a:r>
                    </a:p>
                  </a:txBody>
                  <a:tcPr marL="54864" marR="54864" marT="27432" marB="27432">
                    <a:solidFill>
                      <a:srgbClr val="FFFFFF"/>
                    </a:solidFill>
                  </a:tcPr>
                </a:tc>
                <a:tc>
                  <a:txBody>
                    <a:bodyPr/>
                    <a:lstStyle/>
                    <a:p>
                      <a:r>
                        <a:rPr sz="900" b="0">
                          <a:solidFill>
                            <a:srgbClr val="4B4B4B"/>
                          </a:solidFill>
                          <a:latin typeface="Arial"/>
                        </a:rPr>
                        <a:t>SCR-NB-02_wt-a-step-01.png</a:t>
                      </a:r>
                    </a:p>
                  </a:txBody>
                  <a:tcPr marL="54864" marR="54864" marT="27432" marB="27432">
                    <a:solidFill>
                      <a:srgbClr val="FFFFFF"/>
                    </a:solidFill>
                  </a:tcPr>
                </a:tc>
              </a:tr>
            </a:tbl>
          </a:graphicData>
        </a:graphic>
      </p:graphicFrame>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9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with the identity, contact and segment entered (part 1 of 3)</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93.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with the identity, contact and segment entered (part 2 of 3)</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94.png"/>
          <p:cNvPicPr>
            <a:picLocks noChangeAspect="1"/>
          </p:cNvPicPr>
          <p:nvPr/>
        </p:nvPicPr>
        <p:blipFill>
          <a:blip r:embed="rId3"/>
          <a:stretch>
            <a:fillRect/>
          </a:stretch>
        </p:blipFill>
        <p:spPr>
          <a:xfrm>
            <a:off x="548640" y="1261872"/>
            <a:ext cx="11094415" cy="19223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with the identity, contact and segment entered (part 3 of 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5.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as prospect with an invalid TIN and mobile (part 1 of 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as prospect with an invalid TIN and mobile (part 2 of 3)</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7.png"/>
          <p:cNvPicPr>
            <a:picLocks noChangeAspect="1"/>
          </p:cNvPicPr>
          <p:nvPr/>
        </p:nvPicPr>
        <p:blipFill>
          <a:blip r:embed="rId3"/>
          <a:stretch>
            <a:fillRect/>
          </a:stretch>
        </p:blipFill>
        <p:spPr>
          <a:xfrm>
            <a:off x="548640" y="1261872"/>
            <a:ext cx="11094415" cy="29840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as prospect with an invalid TIN and mobile (part 3 of 3)</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Duplicate warning: the TIN belongs to an existing client (part 1 of 3)</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9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Duplicate warning: the TIN belongs to an existing client (part 2 of 3)</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SCR-NB-02 New Client and Edit Client: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00.png"/>
          <p:cNvPicPr>
            <a:picLocks noChangeAspect="1"/>
          </p:cNvPicPr>
          <p:nvPr/>
        </p:nvPicPr>
        <p:blipFill>
          <a:blip r:embed="rId3"/>
          <a:stretch>
            <a:fillRect/>
          </a:stretch>
        </p:blipFill>
        <p:spPr>
          <a:xfrm>
            <a:off x="548640" y="1261872"/>
            <a:ext cx="11094415" cy="26875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Duplicate warning: the TIN belongs to an existing client (part 3 of 3)</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Empty list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0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(individual) (part 1 of 3)</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Empty list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0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(individual) (part 2 of 3)</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SCR-NB-02 New Client and Edit Client: Empty list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03.png"/>
          <p:cNvPicPr>
            <a:picLocks noChangeAspect="1"/>
          </p:cNvPicPr>
          <p:nvPr/>
        </p:nvPicPr>
        <p:blipFill>
          <a:blip r:embed="rId3"/>
          <a:stretch>
            <a:fillRect/>
          </a:stretch>
        </p:blipFill>
        <p:spPr>
          <a:xfrm>
            <a:off x="548640" y="1261872"/>
            <a:ext cx="11094415" cy="9181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Client form (individual) (part 3 of 3)</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Client onboarding and KYC</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complete view of one client: codes, status and KYC badges, the onboarding workflow and its actions, and tabs for details, KYC documents, tags and instructions, quotations, confirmed proposals, linked records, screening and history. The Account Officer submits the KYC here and a second user verifies it; the client is then confirmed.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Clients › Client</a:t>
                      </a:r>
                    </a:p>
                    <a:p>
                      <a:r>
                        <a:rPr sz="950" b="0">
                          <a:solidFill>
                            <a:srgbClr val="4B4B4B"/>
                          </a:solidFill>
                          <a:latin typeface="Arial"/>
                        </a:rPr>
                        <a:t>Clients › open a row</a:t>
                      </a:r>
                    </a:p>
                    <a:p>
                      <a:r>
                        <a:rPr sz="950" b="0">
                          <a:solidFill>
                            <a:srgbClr val="4B4B4B"/>
                          </a:solidFill>
                          <a:latin typeface="Arial"/>
                        </a:rPr>
                        <a:t>KYC Reviews Due › open a row</a:t>
                      </a:r>
                    </a:p>
                    <a:p>
                      <a:r>
                        <a:rPr sz="950" b="0">
                          <a:solidFill>
                            <a:srgbClr val="4B4B4B"/>
                          </a:solidFill>
                          <a:latin typeface="Arial"/>
                        </a:rPr>
                        <a:t>The client link of a quotation, proposal request or account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FR-NB-034, FR-NB-036, FR-NB-037, FR-NB-017, FR-NB-018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 is confirmed with a verified KYC and a sub-ledger party, and can hold accounts; every step is in the workflow history and the audit history.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(9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graphicFrame>
        <p:nvGraphicFramePr>
          <p:cNvPr id="9" name="Table 8"/>
          <p:cNvGraphicFramePr>
            <a:graphicFrameLocks noGrp="1"/>
          </p:cNvGraphicFramePr>
          <p:nvPr/>
        </p:nvGraphicFramePr>
        <p:xfrm>
          <a:off x="548640" y="1325880"/>
          <a:ext cx="11094411" cy="45948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Prospect / Client</a:t>
                      </a:r>
                    </a:p>
                  </a:txBody>
                  <a:tcPr marL="54864" marR="54864" marT="27432" marB="27432">
                    <a:solidFill>
                      <a:srgbClr val="FFFFFF"/>
                    </a:solidFill>
                  </a:tcPr>
                </a:tc>
                <a:tc>
                  <a:txBody>
                    <a:bodyPr/>
                    <a:lstStyle/>
                    <a:p>
                      <a:r>
                        <a:rPr sz="850" b="0">
                          <a:solidFill>
                            <a:srgbClr val="4B4B4B"/>
                          </a:solidFill>
                          <a:latin typeface="Arial"/>
                        </a:rPr>
                        <a:t>Reference</a:t>
                      </a:r>
                    </a:p>
                  </a:txBody>
                  <a:tcPr marL="54864" marR="54864" marT="27432" marB="27432">
                    <a:solidFill>
                      <a:srgbClr val="FFFFFF"/>
                    </a:solidFill>
                  </a:tcPr>
                </a:tc>
                <a:tc>
                  <a:txBody>
                    <a:bodyPr/>
                    <a:lstStyle/>
                    <a:p>
                      <a:r>
                        <a:rPr sz="850" b="0">
                          <a:solidFill>
                            <a:srgbClr val="4B4B4B"/>
                          </a:solidFill>
                          <a:latin typeface="Arial"/>
                        </a:rPr>
                        <a:t>PR-yyyy-nnnnnn; CL-yyyy-nnnnnn once confirmed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Status and KYC badges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Prospect, Confirmed, Inactive; KYC Not started, Pending, Verified, Expired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Information Incomplete tag</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Lists the missing minimum fields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Client information incomplete: &lt;fields&gt;. Complete it before submitting the KYC.</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Instructions banner</a:t>
                      </a:r>
                    </a:p>
                  </a:txBody>
                  <a:tcPr marL="54864" marR="54864" marT="27432" marB="27432">
                    <a:solidFill>
                      <a:srgbClr val="E5F5FF"/>
                    </a:solidFill>
                  </a:tcPr>
                </a:tc>
                <a:tc>
                  <a:txBody>
                    <a:bodyPr/>
                    <a:lstStyle/>
                    <a:p>
                      <a:r>
                        <a:rPr sz="850" b="0">
                          <a:solidFill>
                            <a:srgbClr val="4B4B4B"/>
                          </a:solidFill>
                          <a:latin typeface="Arial"/>
                        </a:rPr>
                        <a:t>Banner</a:t>
                      </a:r>
                    </a:p>
                  </a:txBody>
                  <a:tcPr marL="54864" marR="54864" marT="27432" marB="27432">
                    <a:solidFill>
                      <a:srgbClr val="E5F5FF"/>
                    </a:solidFill>
                  </a:tcPr>
                </a:tc>
                <a:tc>
                  <a:txBody>
                    <a:bodyPr/>
                    <a:lstStyle/>
                    <a:p>
                      <a:r>
                        <a:rPr sz="850" b="0">
                          <a:solidFill>
                            <a:srgbClr val="4B4B4B"/>
                          </a:solidFill>
                          <a:latin typeface="Arial"/>
                        </a:rPr>
                        <a:t>Tags and special instructions in force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Workflow panel</a:t>
                      </a:r>
                    </a:p>
                  </a:txBody>
                  <a:tcPr marL="54864" marR="54864" marT="27432" marB="27432">
                    <a:solidFill>
                      <a:srgbClr val="FFFFFF"/>
                    </a:solidFill>
                  </a:tcPr>
                </a:tc>
                <a:tc>
                  <a:txBody>
                    <a:bodyPr/>
                    <a:lstStyle/>
                    <a:p>
                      <a:r>
                        <a:rPr sz="850" b="0">
                          <a:solidFill>
                            <a:srgbClr val="4B4B4B"/>
                          </a:solidFill>
                          <a:latin typeface="Arial"/>
                        </a:rPr>
                        <a:t>Stage, since, due, assignee</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Stage name, entry date and time, SLA due time, assignee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Identity, Contact &amp; Address, Segment &amp; Bank relationship, Onboarding</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As entered on the client form; Onboarding shows created, KYC submitted, KYC verified, next KYC review, confirmed and deactivated with user and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Sub-ledger party</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Party code of the confirmed client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KYC &amp; Documents tab</a:t>
                      </a:r>
                    </a:p>
                  </a:txBody>
                  <a:tcPr marL="54864" marR="54864" marT="27432" marB="27432">
                    <a:solidFill>
                      <a:srgbClr val="E5F5FF"/>
                    </a:solidFill>
                  </a:tcPr>
                </a:tc>
                <a:tc>
                  <a:txBody>
                    <a:bodyPr/>
                    <a:lstStyle/>
                    <a:p>
                      <a:r>
                        <a:rPr sz="850" b="0">
                          <a:solidFill>
                            <a:srgbClr val="4B4B4B"/>
                          </a:solidFill>
                          <a:latin typeface="Arial"/>
                        </a:rPr>
                        <a:t>KYC checklist</a:t>
                      </a:r>
                    </a:p>
                  </a:txBody>
                  <a:tcPr marL="54864" marR="54864" marT="27432" marB="27432">
                    <a:solidFill>
                      <a:srgbClr val="E5F5FF"/>
                    </a:solidFill>
                  </a:tcPr>
                </a:tc>
                <a:tc>
                  <a:txBody>
                    <a:bodyPr/>
                    <a:lstStyle/>
                    <a:p>
                      <a:r>
                        <a:rPr sz="850" b="0">
                          <a:solidFill>
                            <a:srgbClr val="4B4B4B"/>
                          </a:solidFill>
                          <a:latin typeface="Arial"/>
                        </a:rPr>
                        <a:t>Checklist</a:t>
                      </a:r>
                    </a:p>
                  </a:txBody>
                  <a:tcPr marL="54864" marR="54864" marT="27432" marB="27432">
                    <a:solidFill>
                      <a:srgbClr val="E5F5FF"/>
                    </a:solidFill>
                  </a:tcPr>
                </a:tc>
                <a:tc>
                  <a:txBody>
                    <a:bodyPr/>
                    <a:lstStyle/>
                    <a:p>
                      <a:r>
                        <a:rPr sz="850" b="0">
                          <a:solidFill>
                            <a:srgbClr val="4B4B4B"/>
                          </a:solidFill>
                          <a:latin typeface="Arial"/>
                        </a:rPr>
                        <a:t>One line per mandatory document of the client type, Uploaded or Not uploaded yet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Every mandatory document before the KYC is submitted</a:t>
                      </a:r>
                    </a:p>
                  </a:txBody>
                  <a:tcPr marL="54864" marR="54864" marT="27432" marB="27432">
                    <a:solidFill>
                      <a:srgbClr val="E5F5FF"/>
                    </a:solidFill>
                  </a:tcPr>
                </a:tc>
                <a:tc>
                  <a:txBody>
                    <a:bodyPr/>
                    <a:lstStyle/>
                    <a:p>
                      <a:r>
                        <a:rPr sz="850" b="0">
                          <a:solidFill>
                            <a:srgbClr val="4B4B4B"/>
                          </a:solidFill>
                          <a:latin typeface="Arial"/>
                        </a:rPr>
                        <a:t>Upload the mandatory KYC documents before you &lt;step&gt;: &lt;documents&gt;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KYC &amp; Documents tab</a:t>
                      </a:r>
                    </a:p>
                  </a:txBody>
                  <a:tcPr marL="54864" marR="54864" marT="27432" marB="27432">
                    <a:solidFill>
                      <a:srgbClr val="FFFFFF"/>
                    </a:solidFill>
                  </a:tcPr>
                </a:tc>
                <a:tc>
                  <a:txBody>
                    <a:bodyPr/>
                    <a:lstStyle/>
                    <a:p>
                      <a:r>
                        <a:rPr sz="850" b="0">
                          <a:solidFill>
                            <a:srgbClr val="4B4B4B"/>
                          </a:solidFill>
                          <a:latin typeface="Arial"/>
                        </a:rPr>
                        <a:t>Document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active value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KYC &amp; Documents tab</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PDF, image or office document; size limit of the document store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Allowed type, not empty, within the size limit, content matches the extension</a:t>
                      </a:r>
                    </a:p>
                  </a:txBody>
                  <a:tcPr marL="54864" marR="54864" marT="27432" marB="27432">
                    <a:solidFill>
                      <a:srgbClr val="E5F5FF"/>
                    </a:solidFill>
                  </a:tcPr>
                </a:tc>
                <a:tc>
                  <a:txBody>
                    <a:bodyPr/>
                    <a:lstStyle/>
                    <a:p>
                      <a:r>
                        <a:rPr sz="850" b="0">
                          <a:solidFill>
                            <a:srgbClr val="4B4B4B"/>
                          </a:solidFill>
                          <a:latin typeface="Arial"/>
                        </a:rPr>
                        <a:t>Only these file types are allowed: &lt;extensions&gt;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Tags &amp; Instructions tab</a:t>
                      </a:r>
                    </a:p>
                  </a:txBody>
                  <a:tcPr marL="54864" marR="54864" marT="27432" marB="27432">
                    <a:solidFill>
                      <a:srgbClr val="FFFFFF"/>
                    </a:solidFill>
                  </a:tcPr>
                </a:tc>
                <a:tc>
                  <a:txBody>
                    <a:bodyPr/>
                    <a:lstStyle/>
                    <a:p>
                      <a:r>
                        <a:rPr sz="850" b="0">
                          <a:solidFill>
                            <a:srgbClr val="4B4B4B"/>
                          </a:solidFill>
                          <a:latin typeface="Arial"/>
                        </a:rPr>
                        <a:t>Add a tag</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tag once per client</a:t>
                      </a:r>
                    </a:p>
                  </a:txBody>
                  <a:tcPr marL="54864" marR="54864" marT="27432" marB="27432">
                    <a:solidFill>
                      <a:srgbClr val="FFFFFF"/>
                    </a:solidFill>
                  </a:tcPr>
                </a:tc>
                <a:tc>
                  <a:txBody>
                    <a:bodyPr/>
                    <a:lstStyle/>
                    <a:p>
                      <a:r>
                        <a:rPr sz="850" b="0">
                          <a:solidFill>
                            <a:srgbClr val="4B4B4B"/>
                          </a:solidFill>
                          <a:latin typeface="Arial"/>
                        </a:rPr>
                        <a:t>The client is already tagged &lt;tag&gt;</a:t>
                      </a:r>
                    </a:p>
                  </a:txBody>
                  <a:tcPr marL="54864" marR="54864" marT="27432" marB="27432">
                    <a:solidFill>
                      <a:srgbClr val="FFFFFF"/>
                    </a:solidFill>
                  </a:tcPr>
                </a:tc>
              </a:tr>
            </a:tbl>
          </a:graphicData>
        </a:graphic>
      </p:graphicFrame>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graphicFrame>
        <p:nvGraphicFramePr>
          <p:cNvPr id="9" name="Table 8"/>
          <p:cNvGraphicFramePr>
            <a:graphicFrameLocks noGrp="1"/>
          </p:cNvGraphicFramePr>
          <p:nvPr/>
        </p:nvGraphicFramePr>
        <p:xfrm>
          <a:off x="548640" y="1325880"/>
          <a:ext cx="11094411" cy="403857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Tags &amp; Instructions tab</a:t>
                      </a:r>
                    </a:p>
                  </a:txBody>
                  <a:tcPr marL="54864" marR="54864" marT="27432" marB="27432">
                    <a:solidFill>
                      <a:srgbClr val="FFFFFF"/>
                    </a:solidFill>
                  </a:tcPr>
                </a:tc>
                <a:tc>
                  <a:txBody>
                    <a:bodyPr/>
                    <a:lstStyle/>
                    <a:p>
                      <a:r>
                        <a:rPr sz="850" b="0">
                          <a:solidFill>
                            <a:srgbClr val="4B4B4B"/>
                          </a:solidFill>
                          <a:latin typeface="Arial"/>
                        </a:rPr>
                        <a:t>Special instructions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Type, Instruction, Effective, Status (Active, Future, Inactive), Change and End in the row action menu</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Tags &amp; Instructions tab</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Drop-down (dialog)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instruction type</a:t>
                      </a:r>
                    </a:p>
                  </a:txBody>
                  <a:tcPr marL="54864" marR="54864" marT="27432" marB="27432">
                    <a:solidFill>
                      <a:srgbClr val="E5F5FF"/>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Tags &amp; Instructions tab</a:t>
                      </a:r>
                    </a:p>
                  </a:txBody>
                  <a:tcPr marL="54864" marR="54864" marT="27432" marB="27432">
                    <a:solidFill>
                      <a:srgbClr val="FFFFFF"/>
                    </a:solidFill>
                  </a:tcPr>
                </a:tc>
                <a:tc>
                  <a:txBody>
                    <a:bodyPr/>
                    <a:lstStyle/>
                    <a:p>
                      <a:r>
                        <a:rPr sz="850" b="0">
                          <a:solidFill>
                            <a:srgbClr val="4B4B4B"/>
                          </a:solidFill>
                          <a:latin typeface="Arial"/>
                        </a:rPr>
                        <a:t>Instruction</a:t>
                      </a:r>
                    </a:p>
                  </a:txBody>
                  <a:tcPr marL="54864" marR="54864" marT="27432" marB="27432">
                    <a:solidFill>
                      <a:srgbClr val="FFFFFF"/>
                    </a:solidFill>
                  </a:tcPr>
                </a:tc>
                <a:tc>
                  <a:txBody>
                    <a:bodyPr/>
                    <a:lstStyle/>
                    <a:p>
                      <a:r>
                        <a:rPr sz="850" b="0">
                          <a:solidFill>
                            <a:srgbClr val="4B4B4B"/>
                          </a:solidFill>
                          <a:latin typeface="Arial"/>
                        </a:rPr>
                        <a:t>Text area (dialog)</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instruction</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Tags &amp; Instructions tab</a:t>
                      </a:r>
                    </a:p>
                  </a:txBody>
                  <a:tcPr marL="54864" marR="54864" marT="27432" marB="27432">
                    <a:solidFill>
                      <a:srgbClr val="E5F5FF"/>
                    </a:solidFill>
                  </a:tcPr>
                </a:tc>
                <a:tc>
                  <a:txBody>
                    <a:bodyPr/>
                    <a:lstStyle/>
                    <a:p>
                      <a:r>
                        <a:rPr sz="850" b="0">
                          <a:solidFill>
                            <a:srgbClr val="4B4B4B"/>
                          </a:solidFill>
                          <a:latin typeface="Arial"/>
                        </a:rPr>
                        <a:t>Effective from</a:t>
                      </a:r>
                    </a:p>
                  </a:txBody>
                  <a:tcPr marL="54864" marR="54864" marT="27432" marB="27432">
                    <a:solidFill>
                      <a:srgbClr val="E5F5FF"/>
                    </a:solidFill>
                  </a:tcPr>
                </a:tc>
                <a:tc>
                  <a:txBody>
                    <a:bodyPr/>
                    <a:lstStyle/>
                    <a:p>
                      <a:r>
                        <a:rPr sz="850" b="0">
                          <a:solidFill>
                            <a:srgbClr val="4B4B4B"/>
                          </a:solidFill>
                          <a:latin typeface="Arial"/>
                        </a:rPr>
                        <a:t>Date (dialog)</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first day</a:t>
                      </a:r>
                    </a:p>
                  </a:txBody>
                  <a:tcPr marL="54864" marR="54864" marT="27432" marB="27432">
                    <a:solidFill>
                      <a:srgbClr val="E5F5FF"/>
                    </a:solidFill>
                  </a:tcPr>
                </a:tc>
              </a:tr>
              <a:tr h="350518">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Tags &amp; Instructions tab</a:t>
                      </a:r>
                    </a:p>
                  </a:txBody>
                  <a:tcPr marL="54864" marR="54864" marT="27432" marB="27432">
                    <a:solidFill>
                      <a:srgbClr val="FFFFFF"/>
                    </a:solidFill>
                  </a:tcPr>
                </a:tc>
                <a:tc>
                  <a:txBody>
                    <a:bodyPr/>
                    <a:lstStyle/>
                    <a:p>
                      <a:r>
                        <a:rPr sz="850" b="0">
                          <a:solidFill>
                            <a:srgbClr val="4B4B4B"/>
                          </a:solidFill>
                          <a:latin typeface="Arial"/>
                        </a:rPr>
                        <a:t>Effective to</a:t>
                      </a:r>
                    </a:p>
                  </a:txBody>
                  <a:tcPr marL="54864" marR="54864" marT="27432" marB="27432">
                    <a:solidFill>
                      <a:srgbClr val="FFFFFF"/>
                    </a:solidFill>
                  </a:tcPr>
                </a:tc>
                <a:tc>
                  <a:txBody>
                    <a:bodyPr/>
                    <a:lstStyle/>
                    <a:p>
                      <a:r>
                        <a:rPr sz="850" b="0">
                          <a:solidFill>
                            <a:srgbClr val="4B4B4B"/>
                          </a:solidFill>
                          <a:latin typeface="Arial"/>
                        </a:rPr>
                        <a:t>Date (dialog)</a:t>
                      </a:r>
                    </a:p>
                  </a:txBody>
                  <a:tcPr marL="54864" marR="54864" marT="27432" marB="27432">
                    <a:solidFill>
                      <a:srgbClr val="FFFFFF"/>
                    </a:solidFill>
                  </a:tcPr>
                </a:tc>
                <a:tc>
                  <a:txBody>
                    <a:bodyPr/>
                    <a:lstStyle/>
                    <a:p>
                      <a:r>
                        <a:rPr sz="850" b="0">
                          <a:solidFill>
                            <a:srgbClr val="4B4B4B"/>
                          </a:solidFill>
                          <a:latin typeface="Arial"/>
                        </a:rPr>
                        <a:t>dd-MMM-yyyy; blank = until further notice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before Effective from</a:t>
                      </a:r>
                    </a:p>
                  </a:txBody>
                  <a:tcPr marL="54864" marR="54864" marT="27432" marB="27432">
                    <a:solidFill>
                      <a:srgbClr val="FFFFFF"/>
                    </a:solidFill>
                  </a:tcPr>
                </a:tc>
                <a:tc>
                  <a:txBody>
                    <a:bodyPr/>
                    <a:lstStyle/>
                    <a:p>
                      <a:r>
                        <a:rPr sz="850" b="0">
                          <a:solidFill>
                            <a:srgbClr val="4B4B4B"/>
                          </a:solidFill>
                          <a:latin typeface="Arial"/>
                        </a:rPr>
                        <a:t>The end date must not be before the start date</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Tags &amp; Instructions tab</a:t>
                      </a:r>
                    </a:p>
                  </a:txBody>
                  <a:tcPr marL="54864" marR="54864" marT="27432" marB="27432">
                    <a:solidFill>
                      <a:srgbClr val="E5F5FF"/>
                    </a:solidFill>
                  </a:tcPr>
                </a:tc>
                <a:tc>
                  <a:txBody>
                    <a:bodyPr/>
                    <a:lstStyle/>
                    <a:p>
                      <a:r>
                        <a:rPr sz="850" b="0">
                          <a:solidFill>
                            <a:srgbClr val="4B4B4B"/>
                          </a:solidFill>
                          <a:latin typeface="Arial"/>
                        </a:rPr>
                        <a:t>Change history</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When, User, Item, Change, From → to</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Quotation tab</a:t>
                      </a:r>
                    </a:p>
                  </a:txBody>
                  <a:tcPr marL="54864" marR="54864" marT="27432" marB="27432">
                    <a:solidFill>
                      <a:srgbClr val="FFFFFF"/>
                    </a:solidFill>
                  </a:tcPr>
                </a:tc>
                <a:tc>
                  <a:txBody>
                    <a:bodyPr/>
                    <a:lstStyle/>
                    <a:p>
                      <a:r>
                        <a:rPr sz="850" b="0">
                          <a:solidFill>
                            <a:srgbClr val="4B4B4B"/>
                          </a:solidFill>
                          <a:latin typeface="Arial"/>
                        </a:rPr>
                        <a:t>Quotations of the client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Quotation No., status, product,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Confirmed Proposals tab</a:t>
                      </a:r>
                    </a:p>
                  </a:txBody>
                  <a:tcPr marL="54864" marR="54864" marT="27432" marB="27432">
                    <a:solidFill>
                      <a:srgbClr val="E5F5FF"/>
                    </a:solidFill>
                  </a:tcPr>
                </a:tc>
                <a:tc>
                  <a:txBody>
                    <a:bodyPr/>
                    <a:lstStyle/>
                    <a:p>
                      <a:r>
                        <a:rPr sz="850" b="0">
                          <a:solidFill>
                            <a:srgbClr val="4B4B4B"/>
                          </a:solidFill>
                          <a:latin typeface="Arial"/>
                        </a:rPr>
                        <a:t>Accepted proposal requests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PRF, status, product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Linked Records tab</a:t>
                      </a:r>
                    </a:p>
                  </a:txBody>
                  <a:tcPr marL="54864" marR="54864" marT="27432" marB="27432">
                    <a:solidFill>
                      <a:srgbClr val="FFFFFF"/>
                    </a:solidFill>
                  </a:tcPr>
                </a:tc>
                <a:tc>
                  <a:txBody>
                    <a:bodyPr/>
                    <a:lstStyle/>
                    <a:p>
                      <a:r>
                        <a:rPr sz="850" b="0">
                          <a:solidFill>
                            <a:srgbClr val="4B4B4B"/>
                          </a:solidFill>
                          <a:latin typeface="Arial"/>
                        </a:rPr>
                        <a:t>Linkage and data gaps</a:t>
                      </a:r>
                    </a:p>
                  </a:txBody>
                  <a:tcPr marL="54864" marR="54864" marT="27432" marB="27432">
                    <a:solidFill>
                      <a:srgbClr val="FFFFFF"/>
                    </a:solidFill>
                  </a:tcPr>
                </a:tc>
                <a:tc>
                  <a:txBody>
                    <a:bodyPr/>
                    <a:lstStyle/>
                    <a:p>
                      <a:r>
                        <a:rPr sz="850" b="0">
                          <a:solidFill>
                            <a:srgbClr val="4B4B4B"/>
                          </a:solidFill>
                          <a:latin typeface="Arial"/>
                        </a:rPr>
                        <a:t>Warning list</a:t>
                      </a:r>
                    </a:p>
                  </a:txBody>
                  <a:tcPr marL="54864" marR="54864" marT="27432" marB="27432">
                    <a:solidFill>
                      <a:srgbClr val="FFFFFF"/>
                    </a:solidFill>
                  </a:tcPr>
                </a:tc>
                <a:tc>
                  <a:txBody>
                    <a:bodyPr/>
                    <a:lstStyle/>
                    <a:p>
                      <a:r>
                        <a:rPr sz="850" b="0">
                          <a:solidFill>
                            <a:srgbClr val="4B4B4B"/>
                          </a:solidFill>
                          <a:latin typeface="Arial"/>
                        </a:rPr>
                        <a:t>Missing sub-ledger party, inactive party, incomplete data, expired KYC</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Confirmed client without a sub-ledger party code</a:t>
                      </a:r>
                    </a:p>
                  </a:txBody>
                  <a:tcPr marL="54864" marR="54864" marT="27432" marB="27432">
                    <a:solidFill>
                      <a:srgbClr val="FFFFFF"/>
                    </a:solidFill>
                  </a:tcPr>
                </a:tc>
              </a:tr>
              <a:tr h="350518">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Linked Records tab</a:t>
                      </a:r>
                    </a:p>
                  </a:txBody>
                  <a:tcPr marL="54864" marR="54864" marT="27432" marB="27432">
                    <a:solidFill>
                      <a:srgbClr val="E5F5FF"/>
                    </a:solidFill>
                  </a:tcPr>
                </a:tc>
                <a:tc>
                  <a:txBody>
                    <a:bodyPr/>
                    <a:lstStyle/>
                    <a:p>
                      <a:r>
                        <a:rPr sz="850" b="0">
                          <a:solidFill>
                            <a:srgbClr val="4B4B4B"/>
                          </a:solidFill>
                          <a:latin typeface="Arial"/>
                        </a:rPr>
                        <a:t>Records of the client</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Record, Reference, Description, Status,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Screening tab</a:t>
                      </a:r>
                    </a:p>
                  </a:txBody>
                  <a:tcPr marL="54864" marR="54864" marT="27432" marB="27432">
                    <a:solidFill>
                      <a:srgbClr val="FFFFFF"/>
                    </a:solidFill>
                  </a:tcPr>
                </a:tc>
                <a:tc>
                  <a:txBody>
                    <a:bodyPr/>
                    <a:lstStyle/>
                    <a:p>
                      <a:r>
                        <a:rPr sz="850" b="0">
                          <a:solidFill>
                            <a:srgbClr val="4B4B4B"/>
                          </a:solidFill>
                          <a:latin typeface="Arial"/>
                        </a:rPr>
                        <a:t>Screening cases of the client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Shown to users with the screening permission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History tab</a:t>
                      </a:r>
                    </a:p>
                  </a:txBody>
                  <a:tcPr marL="54864" marR="54864" marT="27432" marB="27432">
                    <a:solidFill>
                      <a:srgbClr val="E5F5FF"/>
                    </a:solidFill>
                  </a:tcPr>
                </a:tc>
                <a:tc>
                  <a:txBody>
                    <a:bodyPr/>
                    <a:lstStyle/>
                    <a:p>
                      <a:r>
                        <a:rPr sz="850" b="0">
                          <a:solidFill>
                            <a:srgbClr val="4B4B4B"/>
                          </a:solidFill>
                          <a:latin typeface="Arial"/>
                        </a:rPr>
                        <a:t>Audit history</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When, User, Action, Details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graphicFrame>
        <p:nvGraphicFramePr>
          <p:cNvPr id="9" name="Table 8"/>
          <p:cNvGraphicFramePr>
            <a:graphicFrameLocks noGrp="1"/>
          </p:cNvGraphicFramePr>
          <p:nvPr/>
        </p:nvGraphicFramePr>
        <p:xfrm>
          <a:off x="548640" y="1325880"/>
          <a:ext cx="11094412" cy="385569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Generate Quotation</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Quotation wizard with this client chosen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Edit</a:t>
                      </a:r>
                    </a:p>
                  </a:txBody>
                  <a:tcPr marL="54864" marR="54864" marT="27432" marB="27432">
                    <a:solidFill>
                      <a:srgbClr val="E5F5FF"/>
                    </a:solidFill>
                  </a:tcPr>
                </a:tc>
                <a:tc>
                  <a:txBody>
                    <a:bodyPr/>
                    <a:lstStyle/>
                    <a:p>
                      <a:r>
                        <a:rPr sz="850" b="0">
                          <a:solidFill>
                            <a:srgbClr val="4B4B4B"/>
                          </a:solidFill>
                          <a:latin typeface="Arial"/>
                        </a:rPr>
                        <a:t>CLIENT_MAINTAIN</a:t>
                      </a:r>
                    </a:p>
                  </a:txBody>
                  <a:tcPr marL="54864" marR="54864" marT="27432" marB="27432">
                    <a:solidFill>
                      <a:srgbClr val="E5F5FF"/>
                    </a:solidFill>
                  </a:tcPr>
                </a:tc>
                <a:tc>
                  <a:txBody>
                    <a:bodyPr/>
                    <a:lstStyle/>
                    <a:p>
                      <a:r>
                        <a:rPr sz="850" b="0">
                          <a:solidFill>
                            <a:srgbClr val="4B4B4B"/>
                          </a:solidFill>
                          <a:latin typeface="Arial"/>
                        </a:rPr>
                        <a:t>Client not inactive</a:t>
                      </a:r>
                    </a:p>
                  </a:txBody>
                  <a:tcPr marL="54864" marR="54864" marT="27432" marB="27432">
                    <a:solidFill>
                      <a:srgbClr val="E5F5FF"/>
                    </a:solidFill>
                  </a:tcPr>
                </a:tc>
                <a:tc>
                  <a:txBody>
                    <a:bodyPr/>
                    <a:lstStyle/>
                    <a:p>
                      <a:r>
                        <a:rPr sz="850" b="0">
                          <a:solidFill>
                            <a:srgbClr val="4B4B4B"/>
                          </a:solidFill>
                          <a:latin typeface="Arial"/>
                        </a:rPr>
                        <a:t>Opens the client form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Submit KYC</a:t>
                      </a:r>
                    </a:p>
                  </a:txBody>
                  <a:tcPr marL="54864" marR="54864" marT="27432" marB="27432">
                    <a:solidFill>
                      <a:srgbClr val="FFFFFF"/>
                    </a:solidFill>
                  </a:tcPr>
                </a:tc>
                <a:tc>
                  <a:txBody>
                    <a:bodyPr/>
                    <a:lstStyle/>
                    <a:p>
                      <a:r>
                        <a:rPr sz="850" b="0">
                          <a:solidFill>
                            <a:srgbClr val="4B4B4B"/>
                          </a:solidFill>
                          <a:latin typeface="Arial"/>
                        </a:rPr>
                        <a:t>CLIENT_MAINTAIN</a:t>
                      </a:r>
                    </a:p>
                  </a:txBody>
                  <a:tcPr marL="54864" marR="54864" marT="27432" marB="27432">
                    <a:solidFill>
                      <a:srgbClr val="FFFFFF"/>
                    </a:solidFill>
                  </a:tcPr>
                </a:tc>
                <a:tc>
                  <a:txBody>
                    <a:bodyPr/>
                    <a:lstStyle/>
                    <a:p>
                      <a:r>
                        <a:rPr sz="850" b="0">
                          <a:solidFill>
                            <a:srgbClr val="4B4B4B"/>
                          </a:solidFill>
                          <a:latin typeface="Arial"/>
                        </a:rPr>
                        <a:t>Stage Prospect; minimum fields complete; mandatory KYC documents uploaded</a:t>
                      </a:r>
                    </a:p>
                  </a:txBody>
                  <a:tcPr marL="54864" marR="54864" marT="27432" marB="27432">
                    <a:solidFill>
                      <a:srgbClr val="FFFFFF"/>
                    </a:solidFill>
                  </a:tcPr>
                </a:tc>
                <a:tc>
                  <a:txBody>
                    <a:bodyPr/>
                    <a:lstStyle/>
                    <a:p>
                      <a:r>
                        <a:rPr sz="850" b="0">
                          <a:solidFill>
                            <a:srgbClr val="4B4B4B"/>
                          </a:solidFill>
                          <a:latin typeface="Arial"/>
                        </a:rPr>
                        <a:t>Asks for an optional comment and sends the KYC for verification</a:t>
                      </a:r>
                    </a:p>
                  </a:txBody>
                  <a:tcPr marL="54864" marR="54864" marT="27432" marB="27432">
                    <a:solidFill>
                      <a:srgbClr val="FFFFFF"/>
                    </a:solidFill>
                  </a:tcPr>
                </a:tc>
                <a:tc>
                  <a:txBody>
                    <a:bodyPr/>
                    <a:lstStyle/>
                    <a:p>
                      <a:r>
                        <a:rPr sz="850" b="0">
                          <a:solidFill>
                            <a:srgbClr val="4B4B4B"/>
                          </a:solidFill>
                          <a:latin typeface="Arial"/>
                        </a:rPr>
                        <a:t>KYC review (KYC Pending)</a:t>
                      </a:r>
                    </a:p>
                  </a:txBody>
                  <a:tcPr marL="54864" marR="54864" marT="27432" marB="27432">
                    <a:solidFill>
                      <a:srgbClr val="FFFFFF"/>
                    </a:solidFill>
                  </a:tcPr>
                </a:tc>
                <a:tc>
                  <a:txBody>
                    <a:bodyPr/>
                    <a:lstStyle/>
                    <a:p>
                      <a:r>
                        <a:rPr sz="850" b="0">
                          <a:solidFill>
                            <a:srgbClr val="4B4B4B"/>
                          </a:solidFill>
                          <a:latin typeface="Arial"/>
                        </a:rPr>
                        <a:t>In-app notice to the verifiers' queue; the client's creator is told of each later move</a:t>
                      </a:r>
                    </a:p>
                  </a:txBody>
                  <a:tcPr marL="54864" marR="54864" marT="27432" marB="27432">
                    <a:solidFill>
                      <a:srgbClr val="FFFFFF"/>
                    </a:solidFill>
                  </a:tcPr>
                </a:tc>
              </a:tr>
              <a:tr h="480057">
                <a:tc>
                  <a:txBody>
                    <a:bodyPr/>
                    <a:lstStyle/>
                    <a:p>
                      <a:r>
                        <a:rPr sz="850" b="0">
                          <a:solidFill>
                            <a:srgbClr val="4B4B4B"/>
                          </a:solidFill>
                          <a:latin typeface="Arial"/>
                        </a:rPr>
                        <a:t>Verify KYC</a:t>
                      </a:r>
                    </a:p>
                  </a:txBody>
                  <a:tcPr marL="54864" marR="54864" marT="27432" marB="27432">
                    <a:solidFill>
                      <a:srgbClr val="E5F5FF"/>
                    </a:solidFill>
                  </a:tcPr>
                </a:tc>
                <a:tc>
                  <a:txBody>
                    <a:bodyPr/>
                    <a:lstStyle/>
                    <a:p>
                      <a:r>
                        <a:rPr sz="850" b="0">
                          <a:solidFill>
                            <a:srgbClr val="4B4B4B"/>
                          </a:solidFill>
                          <a:latin typeface="Arial"/>
                        </a:rPr>
                        <a:t>CLIENT_APPROVE; not the creator of the client or the user who submitted the KYC</a:t>
                      </a:r>
                    </a:p>
                  </a:txBody>
                  <a:tcPr marL="54864" marR="54864" marT="27432" marB="27432">
                    <a:solidFill>
                      <a:srgbClr val="E5F5FF"/>
                    </a:solidFill>
                  </a:tcPr>
                </a:tc>
                <a:tc>
                  <a:txBody>
                    <a:bodyPr/>
                    <a:lstStyle/>
                    <a:p>
                      <a:r>
                        <a:rPr sz="850" b="0">
                          <a:solidFill>
                            <a:srgbClr val="4B4B4B"/>
                          </a:solidFill>
                          <a:latin typeface="Arial"/>
                        </a:rPr>
                        <a:t>Stage KYC review, or a confirmed client whose KYC is due for its periodic review</a:t>
                      </a:r>
                    </a:p>
                  </a:txBody>
                  <a:tcPr marL="54864" marR="54864" marT="27432" marB="27432">
                    <a:solidFill>
                      <a:srgbClr val="E5F5FF"/>
                    </a:solidFill>
                  </a:tcPr>
                </a:tc>
                <a:tc>
                  <a:txBody>
                    <a:bodyPr/>
                    <a:lstStyle/>
                    <a:p>
                      <a:r>
                        <a:rPr sz="850" b="0">
                          <a:solidFill>
                            <a:srgbClr val="4B4B4B"/>
                          </a:solidFill>
                          <a:latin typeface="Arial"/>
                        </a:rPr>
                        <a:t>Records the verification and sets the next review date (36 months, 12 for high risk)</a:t>
                      </a:r>
                    </a:p>
                  </a:txBody>
                  <a:tcPr marL="54864" marR="54864" marT="27432" marB="27432">
                    <a:solidFill>
                      <a:srgbClr val="E5F5FF"/>
                    </a:solidFill>
                  </a:tcPr>
                </a:tc>
                <a:tc>
                  <a:txBody>
                    <a:bodyPr/>
                    <a:lstStyle/>
                    <a:p>
                      <a:r>
                        <a:rPr sz="850" b="0">
                          <a:solidFill>
                            <a:srgbClr val="4B4B4B"/>
                          </a:solidFill>
                          <a:latin typeface="Arial"/>
                        </a:rPr>
                        <a:t>KYC verified (KYC Verified)</a:t>
                      </a:r>
                    </a:p>
                  </a:txBody>
                  <a:tcPr marL="54864" marR="54864" marT="27432" marB="27432">
                    <a:solidFill>
                      <a:srgbClr val="E5F5FF"/>
                    </a:solidFill>
                  </a:tcPr>
                </a:tc>
                <a:tc>
                  <a:txBody>
                    <a:bodyPr/>
                    <a:lstStyle/>
                    <a:p>
                      <a:r>
                        <a:rPr sz="850" b="0">
                          <a:solidFill>
                            <a:srgbClr val="4B4B4B"/>
                          </a:solidFill>
                          <a:latin typeface="Arial"/>
                        </a:rPr>
                        <a:t>In-app notice to the creator</a:t>
                      </a:r>
                    </a:p>
                  </a:txBody>
                  <a:tcPr marL="54864" marR="54864" marT="27432" marB="27432">
                    <a:solidFill>
                      <a:srgbClr val="E5F5FF"/>
                    </a:solidFill>
                  </a:tcPr>
                </a:tc>
              </a:tr>
              <a:tr h="350518">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CLIENT_APPROVE</a:t>
                      </a:r>
                    </a:p>
                  </a:txBody>
                  <a:tcPr marL="54864" marR="54864" marT="27432" marB="27432">
                    <a:solidFill>
                      <a:srgbClr val="FFFFFF"/>
                    </a:solidFill>
                  </a:tcPr>
                </a:tc>
                <a:tc>
                  <a:txBody>
                    <a:bodyPr/>
                    <a:lstStyle/>
                    <a:p>
                      <a:r>
                        <a:rPr sz="850" b="0">
                          <a:solidFill>
                            <a:srgbClr val="4B4B4B"/>
                          </a:solidFill>
                          <a:latin typeface="Arial"/>
                        </a:rPr>
                        <a:t>Stage KYC review</a:t>
                      </a:r>
                    </a:p>
                  </a:txBody>
                  <a:tcPr marL="54864" marR="54864" marT="27432" marB="27432">
                    <a:solidFill>
                      <a:srgbClr val="FFFFFF"/>
                    </a:solidFill>
                  </a:tcPr>
                </a:tc>
                <a:tc>
                  <a:txBody>
                    <a:bodyPr/>
                    <a:lstStyle/>
                    <a:p>
                      <a:r>
                        <a:rPr sz="850" b="0">
                          <a:solidFill>
                            <a:srgbClr val="4B4B4B"/>
                          </a:solidFill>
                          <a:latin typeface="Arial"/>
                        </a:rPr>
                        <a:t>Asks for the return reason and a comment; sends the KYC back to the Account Officer</a:t>
                      </a:r>
                    </a:p>
                  </a:txBody>
                  <a:tcPr marL="54864" marR="54864" marT="27432" marB="27432">
                    <a:solidFill>
                      <a:srgbClr val="FFFFFF"/>
                    </a:solidFill>
                  </a:tcPr>
                </a:tc>
                <a:tc>
                  <a:txBody>
                    <a:bodyPr/>
                    <a:lstStyle/>
                    <a:p>
                      <a:r>
                        <a:rPr sz="850" b="0">
                          <a:solidFill>
                            <a:srgbClr val="4B4B4B"/>
                          </a:solidFill>
                          <a:latin typeface="Arial"/>
                        </a:rPr>
                        <a:t>Prospect</a:t>
                      </a:r>
                    </a:p>
                  </a:txBody>
                  <a:tcPr marL="54864" marR="54864" marT="27432" marB="27432">
                    <a:solidFill>
                      <a:srgbClr val="FFFFFF"/>
                    </a:solidFill>
                  </a:tcPr>
                </a:tc>
                <a:tc>
                  <a:txBody>
                    <a:bodyPr/>
                    <a:lstStyle/>
                    <a:p>
                      <a:r>
                        <a:rPr sz="850" b="0">
                          <a:solidFill>
                            <a:srgbClr val="4B4B4B"/>
                          </a:solidFill>
                          <a:latin typeface="Arial"/>
                        </a:rPr>
                        <a:t>In-app notice to the creator with the comment</a:t>
                      </a:r>
                    </a:p>
                  </a:txBody>
                  <a:tcPr marL="54864" marR="54864" marT="27432" marB="27432">
                    <a:solidFill>
                      <a:srgbClr val="FFFFFF"/>
                    </a:solidFill>
                  </a:tcPr>
                </a:tc>
              </a:tr>
              <a:tr h="350518">
                <a:tc>
                  <a:txBody>
                    <a:bodyPr/>
                    <a:lstStyle/>
                    <a:p>
                      <a:r>
                        <a:rPr sz="850" b="0">
                          <a:solidFill>
                            <a:srgbClr val="4B4B4B"/>
                          </a:solidFill>
                          <a:latin typeface="Arial"/>
                        </a:rPr>
                        <a:t>Confirm client</a:t>
                      </a:r>
                    </a:p>
                  </a:txBody>
                  <a:tcPr marL="54864" marR="54864" marT="27432" marB="27432">
                    <a:solidFill>
                      <a:srgbClr val="E5F5FF"/>
                    </a:solidFill>
                  </a:tcPr>
                </a:tc>
                <a:tc>
                  <a:txBody>
                    <a:bodyPr/>
                    <a:lstStyle/>
                    <a:p>
                      <a:r>
                        <a:rPr sz="850" b="0">
                          <a:solidFill>
                            <a:srgbClr val="4B4B4B"/>
                          </a:solidFill>
                          <a:latin typeface="Arial"/>
                        </a:rPr>
                        <a:t>CLIENT_MAINTAIN or CLIENT_APPROVE</a:t>
                      </a:r>
                    </a:p>
                  </a:txBody>
                  <a:tcPr marL="54864" marR="54864" marT="27432" marB="27432">
                    <a:solidFill>
                      <a:srgbClr val="E5F5FF"/>
                    </a:solidFill>
                  </a:tcPr>
                </a:tc>
                <a:tc>
                  <a:txBody>
                    <a:bodyPr/>
                    <a:lstStyle/>
                    <a:p>
                      <a:r>
                        <a:rPr sz="850" b="0">
                          <a:solidFill>
                            <a:srgbClr val="4B4B4B"/>
                          </a:solidFill>
                          <a:latin typeface="Arial"/>
                        </a:rPr>
                        <a:t>Stage KYC verified and status Prospect</a:t>
                      </a:r>
                    </a:p>
                  </a:txBody>
                  <a:tcPr marL="54864" marR="54864" marT="27432" marB="27432">
                    <a:solidFill>
                      <a:srgbClr val="E5F5FF"/>
                    </a:solidFill>
                  </a:tcPr>
                </a:tc>
                <a:tc>
                  <a:txBody>
                    <a:bodyPr/>
                    <a:lstStyle/>
                    <a:p>
                      <a:r>
                        <a:rPr sz="850" b="0">
                          <a:solidFill>
                            <a:srgbClr val="4B4B4B"/>
                          </a:solidFill>
                          <a:latin typeface="Arial"/>
                        </a:rPr>
                        <a:t>Gives the client its CL-yyyy-nnnnnn code and creates its sub-ledger party</a:t>
                      </a:r>
                    </a:p>
                  </a:txBody>
                  <a:tcPr marL="54864" marR="54864" marT="27432" marB="27432">
                    <a:solidFill>
                      <a:srgbClr val="E5F5FF"/>
                    </a:solidFill>
                  </a:tcPr>
                </a:tc>
                <a:tc>
                  <a:txBody>
                    <a:bodyPr/>
                    <a:lstStyle/>
                    <a:p>
                      <a:r>
                        <a:rPr sz="850" b="0">
                          <a:solidFill>
                            <a:srgbClr val="4B4B4B"/>
                          </a:solidFill>
                          <a:latin typeface="Arial"/>
                        </a:rPr>
                        <a:t>Confirmed</a:t>
                      </a:r>
                    </a:p>
                  </a:txBody>
                  <a:tcPr marL="54864" marR="54864" marT="27432" marB="27432">
                    <a:solidFill>
                      <a:srgbClr val="E5F5FF"/>
                    </a:solidFill>
                  </a:tcPr>
                </a:tc>
                <a:tc>
                  <a:txBody>
                    <a:bodyPr/>
                    <a:lstStyle/>
                    <a:p>
                      <a:r>
                        <a:rPr sz="850" b="0">
                          <a:solidFill>
                            <a:srgbClr val="4B4B4B"/>
                          </a:solidFill>
                          <a:latin typeface="Arial"/>
                        </a:rPr>
                        <a:t>In-app notice to the creator</a:t>
                      </a:r>
                    </a:p>
                  </a:txBody>
                  <a:tcPr marL="54864" marR="54864" marT="27432" marB="27432">
                    <a:solidFill>
                      <a:srgbClr val="E5F5FF"/>
                    </a:solidFill>
                  </a:tcPr>
                </a:tc>
              </a:tr>
              <a:tr h="350518">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CLIENT_MAINTAIN or CLIENT_APPROVE</a:t>
                      </a:r>
                    </a:p>
                  </a:txBody>
                  <a:tcPr marL="54864" marR="54864" marT="27432" marB="27432">
                    <a:solidFill>
                      <a:srgbClr val="FFFFFF"/>
                    </a:solidFill>
                  </a:tcPr>
                </a:tc>
                <a:tc>
                  <a:txBody>
                    <a:bodyPr/>
                    <a:lstStyle/>
                    <a:p>
                      <a:r>
                        <a:rPr sz="850" b="0">
                          <a:solidFill>
                            <a:srgbClr val="4B4B4B"/>
                          </a:solidFill>
                          <a:latin typeface="Arial"/>
                        </a:rPr>
                        <a:t>Client not inactive</a:t>
                      </a:r>
                    </a:p>
                  </a:txBody>
                  <a:tcPr marL="54864" marR="54864" marT="27432" marB="27432">
                    <a:solidFill>
                      <a:srgbClr val="FFFFFF"/>
                    </a:solidFill>
                  </a:tcPr>
                </a:tc>
                <a:tc>
                  <a:txBody>
                    <a:bodyPr/>
                    <a:lstStyle/>
                    <a:p>
                      <a:r>
                        <a:rPr sz="850" b="0">
                          <a:solidFill>
                            <a:srgbClr val="4B4B4B"/>
                          </a:solidFill>
                          <a:latin typeface="Arial"/>
                        </a:rPr>
                        <a:t>Asks for the deactivation reason and a comment</a:t>
                      </a:r>
                    </a:p>
                  </a:txBody>
                  <a:tcPr marL="54864" marR="54864" marT="27432" marB="27432">
                    <a:solidFill>
                      <a:srgbClr val="FFFFFF"/>
                    </a:solidFill>
                  </a:tcPr>
                </a:tc>
                <a:tc>
                  <a:txBody>
                    <a:bodyPr/>
                    <a:lstStyle/>
                    <a:p>
                      <a:r>
                        <a:rPr sz="850" b="0">
                          <a:solidFill>
                            <a:srgbClr val="4B4B4B"/>
                          </a:solidFill>
                          <a:latin typeface="Arial"/>
                        </a:rPr>
                        <a:t>Inactive</a:t>
                      </a:r>
                    </a:p>
                  </a:txBody>
                  <a:tcPr marL="54864" marR="54864" marT="27432" marB="27432">
                    <a:solidFill>
                      <a:srgbClr val="FFFFFF"/>
                    </a:solidFill>
                  </a:tcPr>
                </a:tc>
                <a:tc>
                  <a:txBody>
                    <a:bodyPr/>
                    <a:lstStyle/>
                    <a:p>
                      <a:r>
                        <a:rPr sz="850" b="0">
                          <a:solidFill>
                            <a:srgbClr val="4B4B4B"/>
                          </a:solidFill>
                          <a:latin typeface="Arial"/>
                        </a:rPr>
                        <a:t>In-app notice to the creator</a:t>
                      </a:r>
                    </a:p>
                  </a:txBody>
                  <a:tcPr marL="54864" marR="54864" marT="27432" marB="27432">
                    <a:solidFill>
                      <a:srgbClr val="FFFFFF"/>
                    </a:solidFill>
                  </a:tcPr>
                </a:tc>
              </a:tr>
              <a:tr h="350518">
                <a:tc>
                  <a:txBody>
                    <a:bodyPr/>
                    <a:lstStyle/>
                    <a:p>
                      <a:r>
                        <a:rPr sz="850" b="0">
                          <a:solidFill>
                            <a:srgbClr val="4B4B4B"/>
                          </a:solidFill>
                          <a:latin typeface="Arial"/>
                        </a:rPr>
                        <a:t>Upload KYC Document</a:t>
                      </a:r>
                    </a:p>
                  </a:txBody>
                  <a:tcPr marL="54864" marR="54864" marT="27432" marB="27432">
                    <a:solidFill>
                      <a:srgbClr val="E5F5FF"/>
                    </a:solidFill>
                  </a:tcPr>
                </a:tc>
                <a:tc>
                  <a:txBody>
                    <a:bodyPr/>
                    <a:lstStyle/>
                    <a:p>
                      <a:r>
                        <a:rPr sz="850" b="0">
                          <a:solidFill>
                            <a:srgbClr val="4B4B4B"/>
                          </a:solidFill>
                          <a:latin typeface="Arial"/>
                        </a:rPr>
                        <a:t>CLIENT_MAINTAIN</a:t>
                      </a:r>
                    </a:p>
                  </a:txBody>
                  <a:tcPr marL="54864" marR="54864" marT="27432" marB="27432">
                    <a:solidFill>
                      <a:srgbClr val="E5F5FF"/>
                    </a:solidFill>
                  </a:tcPr>
                </a:tc>
                <a:tc>
                  <a:txBody>
                    <a:bodyPr/>
                    <a:lstStyle/>
                    <a:p>
                      <a:r>
                        <a:rPr sz="850" b="0">
                          <a:solidFill>
                            <a:srgbClr val="4B4B4B"/>
                          </a:solidFill>
                          <a:latin typeface="Arial"/>
                        </a:rPr>
                        <a:t>Client not inactive; document type and file chosen</a:t>
                      </a:r>
                    </a:p>
                  </a:txBody>
                  <a:tcPr marL="54864" marR="54864" marT="27432" marB="27432">
                    <a:solidFill>
                      <a:srgbClr val="E5F5FF"/>
                    </a:solidFill>
                  </a:tcPr>
                </a:tc>
                <a:tc>
                  <a:txBody>
                    <a:bodyPr/>
                    <a:lstStyle/>
                    <a:p>
                      <a:r>
                        <a:rPr sz="850" b="0">
                          <a:solidFill>
                            <a:srgbClr val="4B4B4B"/>
                          </a:solidFill>
                          <a:latin typeface="Arial"/>
                        </a:rPr>
                        <a:t>Stores the file against the client and ticks the checklist line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Add Tag / remove tag</a:t>
                      </a:r>
                    </a:p>
                  </a:txBody>
                  <a:tcPr marL="54864" marR="54864" marT="27432" marB="27432">
                    <a:solidFill>
                      <a:srgbClr val="FFFFFF"/>
                    </a:solidFill>
                  </a:tcPr>
                </a:tc>
                <a:tc>
                  <a:txBody>
                    <a:bodyPr/>
                    <a:lstStyle/>
                    <a:p>
                      <a:r>
                        <a:rPr sz="850" b="0">
                          <a:solidFill>
                            <a:srgbClr val="4B4B4B"/>
                          </a:solidFill>
                          <a:latin typeface="Arial"/>
                        </a:rPr>
                        <a:t>CLIENT_MAINTAIN</a:t>
                      </a:r>
                    </a:p>
                  </a:txBody>
                  <a:tcPr marL="54864" marR="54864" marT="27432" marB="27432">
                    <a:solidFill>
                      <a:srgbClr val="FFFFFF"/>
                    </a:solidFill>
                  </a:tcPr>
                </a:tc>
                <a:tc>
                  <a:txBody>
                    <a:bodyPr/>
                    <a:lstStyle/>
                    <a:p>
                      <a:r>
                        <a:rPr sz="850" b="0">
                          <a:solidFill>
                            <a:srgbClr val="4B4B4B"/>
                          </a:solidFill>
                          <a:latin typeface="Arial"/>
                        </a:rPr>
                        <a:t>Client not inactive</a:t>
                      </a:r>
                    </a:p>
                  </a:txBody>
                  <a:tcPr marL="54864" marR="54864" marT="27432" marB="27432">
                    <a:solidFill>
                      <a:srgbClr val="FFFFFF"/>
                    </a:solidFill>
                  </a:tcPr>
                </a:tc>
                <a:tc>
                  <a:txBody>
                    <a:bodyPr/>
                    <a:lstStyle/>
                    <a:p>
                      <a:r>
                        <a:rPr sz="850" b="0">
                          <a:solidFill>
                            <a:srgbClr val="4B4B4B"/>
                          </a:solidFill>
                          <a:latin typeface="Arial"/>
                        </a:rPr>
                        <a:t>Adds or removes the tag; the change is kept in the change history</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New Instruction / Change / End</a:t>
                      </a:r>
                    </a:p>
                  </a:txBody>
                  <a:tcPr marL="54864" marR="54864" marT="27432" marB="27432">
                    <a:solidFill>
                      <a:srgbClr val="E5F5FF"/>
                    </a:solidFill>
                  </a:tcPr>
                </a:tc>
                <a:tc>
                  <a:txBody>
                    <a:bodyPr/>
                    <a:lstStyle/>
                    <a:p>
                      <a:r>
                        <a:rPr sz="850" b="0">
                          <a:solidFill>
                            <a:srgbClr val="4B4B4B"/>
                          </a:solidFill>
                          <a:latin typeface="Arial"/>
                        </a:rPr>
                        <a:t>CLIENT_MAINTAIN</a:t>
                      </a:r>
                    </a:p>
                  </a:txBody>
                  <a:tcPr marL="54864" marR="54864" marT="27432" marB="27432">
                    <a:solidFill>
                      <a:srgbClr val="E5F5FF"/>
                    </a:solidFill>
                  </a:tcPr>
                </a:tc>
                <a:tc>
                  <a:txBody>
                    <a:bodyPr/>
                    <a:lstStyle/>
                    <a:p>
                      <a:r>
                        <a:rPr sz="850" b="0">
                          <a:solidFill>
                            <a:srgbClr val="4B4B4B"/>
                          </a:solidFill>
                          <a:latin typeface="Arial"/>
                        </a:rPr>
                        <a:t>Client not inactive; the instruction is active (Change and End in the row action menu)</a:t>
                      </a:r>
                    </a:p>
                  </a:txBody>
                  <a:tcPr marL="54864" marR="54864" marT="27432" marB="27432">
                    <a:solidFill>
                      <a:srgbClr val="E5F5FF"/>
                    </a:solidFill>
                  </a:tcPr>
                </a:tc>
                <a:tc>
                  <a:txBody>
                    <a:bodyPr/>
                    <a:lstStyle/>
                    <a:p>
                      <a:r>
                        <a:rPr sz="850" b="0">
                          <a:solidFill>
                            <a:srgbClr val="4B4B4B"/>
                          </a:solidFill>
                          <a:latin typeface="Arial"/>
                        </a:rPr>
                        <a:t>Adds, changes or ends a special instruction</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KYC is never verified by the user who created the client or submitted the KYC (FR-NB-034).</a:t>
                      </a:r>
                    </a:p>
                  </a:txBody>
                  <a:tcPr marL="54864" marR="54864" marT="27432" marB="27432">
                    <a:solidFill>
                      <a:srgbClr val="FFFFFF"/>
                    </a:solidFill>
                  </a:tcPr>
                </a:tc>
              </a:tr>
              <a:tr h="243840">
                <a:tc>
                  <a:txBody>
                    <a:bodyPr/>
                    <a:lstStyle/>
                    <a:p>
                      <a:r>
                        <a:rPr sz="1000" b="0">
                          <a:solidFill>
                            <a:srgbClr val="4B4B4B"/>
                          </a:solidFill>
                          <a:latin typeface="Arial"/>
                        </a:rPr>
                        <a:t>A client is confirmed only after its KYC is verified; accounts need a confirmed client (FR-NB-034, FR-NB-061).</a:t>
                      </a:r>
                    </a:p>
                  </a:txBody>
                  <a:tcPr marL="54864" marR="54864" marT="27432" marB="27432">
                    <a:solidFill>
                      <a:srgbClr val="E5F5FF"/>
                    </a:solidFill>
                  </a:tcPr>
                </a:tc>
              </a:tr>
              <a:tr h="243840">
                <a:tc>
                  <a:txBody>
                    <a:bodyPr/>
                    <a:lstStyle/>
                    <a:p>
                      <a:r>
                        <a:rPr sz="1000" b="0">
                          <a:solidFill>
                            <a:srgbClr val="4B4B4B"/>
                          </a:solidFill>
                          <a:latin typeface="Arial"/>
                        </a:rPr>
                        <a:t>The next KYC review falls KYC_REVIEW_MONTHS (36) after verification, KYC_REVIEW_MONTHS_HIGH_RISK (12) for a high-risk client (FR-NB-038).</a:t>
                      </a:r>
                    </a:p>
                  </a:txBody>
                  <a:tcPr marL="54864" marR="54864" marT="27432" marB="27432">
                    <a:solidFill>
                      <a:srgbClr val="FFFFFF"/>
                    </a:solidFill>
                  </a:tcPr>
                </a:tc>
              </a:tr>
              <a:tr h="243840">
                <a:tc>
                  <a:txBody>
                    <a:bodyPr/>
                    <a:lstStyle/>
                    <a:p>
                      <a:r>
                        <a:rPr sz="1000" b="0">
                          <a:solidFill>
                            <a:srgbClr val="4B4B4B"/>
                          </a:solidFill>
                          <a:latin typeface="Arial"/>
                        </a:rPr>
                        <a:t>Tags and instructions are shown as a banner on the client, its quotations and accounts; they warn and do not block (FR-NB-036).</a:t>
                      </a:r>
                    </a:p>
                  </a:txBody>
                  <a:tcPr marL="54864" marR="54864" marT="27432" marB="27432">
                    <a:solidFill>
                      <a:srgbClr val="E5F5FF"/>
                    </a:solidFill>
                  </a:tcPr>
                </a:tc>
              </a:tr>
              <a:tr h="243840">
                <a:tc>
                  <a:txBody>
                    <a:bodyPr/>
                    <a:lstStyle/>
                    <a:p>
                      <a:r>
                        <a:rPr sz="1000" b="0">
                          <a:solidFill>
                            <a:srgbClr val="4B4B4B"/>
                          </a:solidFill>
                          <a:latin typeface="Arial"/>
                        </a:rPr>
                        <a:t>The linkage check lists what is missing for downstream processing, such as a confirmed client without a sub-ledger party (FR-NB-037).</a:t>
                      </a:r>
                    </a:p>
                  </a:txBody>
                  <a:tcPr marL="54864" marR="54864" marT="27432" marB="27432">
                    <a:solidFill>
                      <a:srgbClr val="FFFFFF"/>
                    </a:solidFill>
                  </a:tcPr>
                </a:tc>
              </a:tr>
            </a:tbl>
          </a:graphicData>
        </a:graphic>
      </p:graphicFrame>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graphicFrame>
        <p:nvGraphicFramePr>
          <p:cNvPr id="9" name="Table 8"/>
          <p:cNvGraphicFramePr>
            <a:graphicFrameLocks noGrp="1"/>
          </p:cNvGraphicFramePr>
          <p:nvPr/>
        </p:nvGraphicFramePr>
        <p:xfrm>
          <a:off x="548640" y="1325880"/>
          <a:ext cx="11094413" cy="16459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Opens the client, uploads the KYC form and a valid ID on the KYC &amp; Documents tab and clicks Submit KYC</a:t>
                      </a:r>
                    </a:p>
                  </a:txBody>
                  <a:tcPr marL="54864" marR="54864" marT="27432" marB="27432">
                    <a:solidFill>
                      <a:srgbClr val="FFFFFF"/>
                    </a:solidFill>
                  </a:tcPr>
                </a:tc>
                <a:tc>
                  <a:txBody>
                    <a:bodyPr/>
                    <a:lstStyle/>
                    <a:p>
                      <a:r>
                        <a:rPr sz="900" b="0">
                          <a:solidFill>
                            <a:srgbClr val="4B4B4B"/>
                          </a:solidFill>
                          <a:latin typeface="Arial"/>
                        </a:rPr>
                        <a:t>SCR-NB-03_wt-a-step-02.png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1</a:t>
                      </a:r>
                    </a:p>
                  </a:txBody>
                  <a:tcPr marL="54864" marR="54864" marT="27432" marB="27432">
                    <a:solidFill>
                      <a:srgbClr val="E5F5FF"/>
                    </a:solidFill>
                  </a:tcPr>
                </a:tc>
                <a:tc>
                  <a:txBody>
                    <a:bodyPr/>
                    <a:lstStyle/>
                    <a:p>
                      <a:r>
                        <a:rPr sz="900" b="0">
                          <a:solidFill>
                            <a:srgbClr val="4B4B4B"/>
                          </a:solidFill>
                          <a:latin typeface="Arial"/>
                        </a:rPr>
                        <a:t>Clicks Submit KYC on a prospect without the mandatory documents</a:t>
                      </a:r>
                    </a:p>
                  </a:txBody>
                  <a:tcPr marL="54864" marR="54864" marT="27432" marB="27432">
                    <a:solidFill>
                      <a:srgbClr val="E5F5FF"/>
                    </a:solidFill>
                  </a:tcPr>
                </a:tc>
                <a:tc>
                  <a:txBody>
                    <a:bodyPr/>
                    <a:lstStyle/>
                    <a:p>
                      <a:r>
                        <a:rPr sz="900" b="0">
                          <a:solidFill>
                            <a:srgbClr val="4B4B4B"/>
                          </a:solidFill>
                          <a:latin typeface="Arial"/>
                        </a:rPr>
                        <a:t>SCR-NB-03_wt-c-step-01.png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the client from My Work and clicks Verify KYC</a:t>
                      </a:r>
                    </a:p>
                  </a:txBody>
                  <a:tcPr marL="54864" marR="54864" marT="27432" marB="27432">
                    <a:solidFill>
                      <a:srgbClr val="FFFFFF"/>
                    </a:solidFill>
                  </a:tcPr>
                </a:tc>
                <a:tc>
                  <a:txBody>
                    <a:bodyPr/>
                    <a:lstStyle/>
                    <a:p>
                      <a:r>
                        <a:rPr sz="900" b="0">
                          <a:solidFill>
                            <a:srgbClr val="4B4B4B"/>
                          </a:solidFill>
                          <a:latin typeface="Arial"/>
                        </a:rPr>
                        <a:t>SCR-NB-03_wt-a-step-03.png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4</a:t>
                      </a:r>
                    </a:p>
                  </a:txBody>
                  <a:tcPr marL="54864" marR="54864" marT="27432" marB="27432">
                    <a:solidFill>
                      <a:srgbClr val="E5F5FF"/>
                    </a:solidFill>
                  </a:tcPr>
                </a:tc>
                <a:tc>
                  <a:txBody>
                    <a:bodyPr/>
                    <a:lstStyle/>
                    <a:p>
                      <a:r>
                        <a:rPr sz="900" b="0">
                          <a:solidFill>
                            <a:srgbClr val="4B4B4B"/>
                          </a:solidFill>
                          <a:latin typeface="Arial"/>
                        </a:rPr>
                        <a:t>Clicks Confirm client</a:t>
                      </a:r>
                    </a:p>
                  </a:txBody>
                  <a:tcPr marL="54864" marR="54864" marT="27432" marB="27432">
                    <a:solidFill>
                      <a:srgbClr val="E5F5FF"/>
                    </a:solidFill>
                  </a:tcPr>
                </a:tc>
                <a:tc>
                  <a:txBody>
                    <a:bodyPr/>
                    <a:lstStyle/>
                    <a:p>
                      <a:r>
                        <a:rPr sz="900" b="0">
                          <a:solidFill>
                            <a:srgbClr val="4B4B4B"/>
                          </a:solidFill>
                          <a:latin typeface="Arial"/>
                        </a:rPr>
                        <a:t>SCR-NB-03_wt-a-step-04.png</a:t>
                      </a:r>
                    </a:p>
                  </a:txBody>
                  <a:tcPr marL="54864" marR="54864" marT="27432" marB="27432">
                    <a:solidFill>
                      <a:srgbClr val="E5F5FF"/>
                    </a:solidFill>
                  </a:tcPr>
                </a:tc>
              </a:tr>
              <a:tr h="36576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WT-C step 2</a:t>
                      </a:r>
                    </a:p>
                  </a:txBody>
                  <a:tcPr marL="54864" marR="54864" marT="27432" marB="27432">
                    <a:solidFill>
                      <a:srgbClr val="FFFFFF"/>
                    </a:solidFill>
                  </a:tcPr>
                </a:tc>
                <a:tc>
                  <a:txBody>
                    <a:bodyPr/>
                    <a:lstStyle/>
                    <a:p>
                      <a:r>
                        <a:rPr sz="900" b="0">
                          <a:solidFill>
                            <a:srgbClr val="4B4B4B"/>
                          </a:solidFill>
                          <a:latin typeface="Arial"/>
                        </a:rPr>
                        <a:t>Opens a client in KYC review and clicks Return To Account Officer, selects the reason and writes the comment</a:t>
                      </a:r>
                    </a:p>
                  </a:txBody>
                  <a:tcPr marL="54864" marR="54864" marT="27432" marB="27432">
                    <a:solidFill>
                      <a:srgbClr val="FFFFFF"/>
                    </a:solidFill>
                  </a:tcPr>
                </a:tc>
                <a:tc>
                  <a:txBody>
                    <a:bodyPr/>
                    <a:lstStyle/>
                    <a:p>
                      <a:r>
                        <a:rPr sz="900" b="0">
                          <a:solidFill>
                            <a:srgbClr val="4B4B4B"/>
                          </a:solidFill>
                          <a:latin typeface="Arial"/>
                        </a:rPr>
                        <a:t>SCR-NB-03_wt-c-step-02.png</a:t>
                      </a:r>
                    </a:p>
                  </a:txBody>
                  <a:tcPr marL="54864" marR="54864" marT="27432" marB="27432">
                    <a:solidFill>
                      <a:srgbClr val="FFFFFF"/>
                    </a:solidFill>
                  </a:tcPr>
                </a:tc>
              </a:tr>
            </a:tbl>
          </a:graphicData>
        </a:graphic>
      </p:graphicFrame>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record, Details tab, with the onboarding workflow panel (part 1 of 3)</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record, Details tab, with the onboarding workflow panel (part 2 of 3)</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6.png"/>
          <p:cNvPicPr>
            <a:picLocks noChangeAspect="1"/>
          </p:cNvPicPr>
          <p:nvPr/>
        </p:nvPicPr>
        <p:blipFill>
          <a:blip r:embed="rId3"/>
          <a:stretch>
            <a:fillRect/>
          </a:stretch>
        </p:blipFill>
        <p:spPr>
          <a:xfrm>
            <a:off x="548640" y="1261872"/>
            <a:ext cx="11094415" cy="300314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record, Details tab, with the onboarding workflow panel (part 3 of 3)</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&amp; Documents tab: checklist and typed upload (part 1 of 4)</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8.png"/>
          <p:cNvPicPr>
            <a:picLocks noChangeAspect="1"/>
          </p:cNvPicPr>
          <p:nvPr/>
        </p:nvPicPr>
        <p:blipFill>
          <a:blip r:embed="rId3"/>
          <a:stretch>
            <a:fillRect/>
          </a:stretch>
        </p:blipFill>
        <p:spPr>
          <a:xfrm>
            <a:off x="548640" y="1261872"/>
            <a:ext cx="11094415" cy="46959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&amp; Documents tab: checklist and typed upload (part 2 of 4)</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9.png"/>
          <p:cNvPicPr>
            <a:picLocks noChangeAspect="1"/>
          </p:cNvPicPr>
          <p:nvPr/>
        </p:nvPicPr>
        <p:blipFill>
          <a:blip r:embed="rId3"/>
          <a:stretch>
            <a:fillRect/>
          </a:stretch>
        </p:blipFill>
        <p:spPr>
          <a:xfrm>
            <a:off x="548640" y="1261872"/>
            <a:ext cx="11094415" cy="41795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&amp; Documents tab: checklist and typed upload (part 3 of 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0.png"/>
          <p:cNvPicPr>
            <a:picLocks noChangeAspect="1"/>
          </p:cNvPicPr>
          <p:nvPr/>
        </p:nvPicPr>
        <p:blipFill>
          <a:blip r:embed="rId3"/>
          <a:stretch>
            <a:fillRect/>
          </a:stretch>
        </p:blipFill>
        <p:spPr>
          <a:xfrm>
            <a:off x="548640" y="1261872"/>
            <a:ext cx="11094415" cy="15972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&amp; Documents tab: checklist and typed upload (part 4 of 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Tags &amp; Instructions tab (part 1 of 3)</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2.png"/>
          <p:cNvPicPr>
            <a:picLocks noChangeAspect="1"/>
          </p:cNvPicPr>
          <p:nvPr/>
        </p:nvPicPr>
        <p:blipFill>
          <a:blip r:embed="rId3"/>
          <a:stretch>
            <a:fillRect/>
          </a:stretch>
        </p:blipFill>
        <p:spPr>
          <a:xfrm>
            <a:off x="548640" y="1261872"/>
            <a:ext cx="11094415" cy="45716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Tags &amp; Instructions tab (part 2 of 3)</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SCR-NB-03 Client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3.png"/>
          <p:cNvPicPr>
            <a:picLocks noChangeAspect="1"/>
          </p:cNvPicPr>
          <p:nvPr/>
        </p:nvPicPr>
        <p:blipFill>
          <a:blip r:embed="rId3"/>
          <a:stretch>
            <a:fillRect/>
          </a:stretch>
        </p:blipFill>
        <p:spPr>
          <a:xfrm>
            <a:off x="548640" y="1261872"/>
            <a:ext cx="11094415" cy="46959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Tags &amp; Instructions tab (part 3 of 3)</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SCR-NB-03 Client record: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4.png"/>
          <p:cNvPicPr>
            <a:picLocks noChangeAspect="1"/>
          </p:cNvPicPr>
          <p:nvPr/>
        </p:nvPicPr>
        <p:blipFill>
          <a:blip r:embed="rId3"/>
          <a:stretch>
            <a:fillRect/>
          </a:stretch>
        </p:blipFill>
        <p:spPr>
          <a:xfrm>
            <a:off x="548640" y="1261872"/>
            <a:ext cx="11094415" cy="44951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in KYC review as seen by the verifier (Verify KYC offered) (part 1 of 4)</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SCR-NB-03 Client record: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5.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in KYC review as seen by the verifier (Verify KYC offered) (part 2 of 4)</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SCR-NB-03 Client record: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in KYC review as seen by the verifier (Verify KYC offered) (part 3 of 4)</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SCR-NB-03 Client record: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7.png"/>
          <p:cNvPicPr>
            <a:picLocks noChangeAspect="1"/>
          </p:cNvPicPr>
          <p:nvPr/>
        </p:nvPicPr>
        <p:blipFill>
          <a:blip r:embed="rId3"/>
          <a:stretch>
            <a:fillRect/>
          </a:stretch>
        </p:blipFill>
        <p:spPr>
          <a:xfrm>
            <a:off x="548640" y="1261872"/>
            <a:ext cx="11094415" cy="27927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in KYC review as seen by the verifier (Verify KYC offered) (part 4 of 4)</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SCR-NB-04 KYC Reviews Due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Client onboarding and KYC</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monthly list of clients whose periodic KYC review is overdue or falls due within the review window, by default the non-bank clients. The list is downloaded in Excel or PDF, or printed.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KYC Reviews Due</a:t>
                      </a:r>
                    </a:p>
                    <a:p>
                      <a:r>
                        <a:rPr sz="950" b="0">
                          <a:solidFill>
                            <a:srgbClr val="4B4B4B"/>
                          </a:solidFill>
                          <a:latin typeface="Arial"/>
                        </a:rPr>
                        <a:t>The monthly KYC review notification links to this list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FR-NB-038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sees every KYC review to be done this month and works it from the client record.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graphicFrame>
        <p:nvGraphicFramePr>
          <p:cNvPr id="9" name="Table 8"/>
          <p:cNvGraphicFramePr>
            <a:graphicFrameLocks noGrp="1"/>
          </p:cNvGraphicFramePr>
          <p:nvPr/>
        </p:nvGraphicFramePr>
        <p:xfrm>
          <a:off x="548640" y="1325880"/>
          <a:ext cx="11094411" cy="291082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Due by</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blank = overdue and due within KYC_DUE_WINDOW_DAYS (30)</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Clients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Non-bank clients, BDO bank clients, All clients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Risk rating</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Client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Segment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Risk</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KYC risk rating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Last Verified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Review Due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KYC</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Verified or Expired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Excel / PDF</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list as report NB-KYC-DUE with the filters shown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Prints the page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client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 the first day of the month the KYC_REVIEW_DUE job expires overdue KYC and notifies the Account Officers of the list (FR-NB-038).</a:t>
                      </a:r>
                    </a:p>
                  </a:txBody>
                  <a:tcPr marL="54864" marR="54864" marT="27432" marB="27432">
                    <a:solidFill>
                      <a:srgbClr val="FFFFFF"/>
                    </a:solidFill>
                  </a:tcPr>
                </a:tc>
              </a:tr>
              <a:tr h="243840">
                <a:tc>
                  <a:txBody>
                    <a:bodyPr/>
                    <a:lstStyle/>
                    <a:p>
                      <a:r>
                        <a:rPr sz="1000" b="0">
                          <a:solidFill>
                            <a:srgbClr val="4B4B4B"/>
                          </a:solidFill>
                          <a:latin typeface="Arial"/>
                        </a:rPr>
                        <a:t>A client with an expired KYC keeps its code; its KYC is verified again from the client record (FR-NB-038).</a:t>
                      </a:r>
                    </a:p>
                  </a:txBody>
                  <a:tcPr marL="54864" marR="54864" marT="27432" marB="27432">
                    <a:solidFill>
                      <a:srgbClr val="E5F5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SCR-NB-04 KYC Reviews Due: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4-01-list.png"/>
          <p:cNvPicPr>
            <a:picLocks noChangeAspect="1"/>
          </p:cNvPicPr>
          <p:nvPr/>
        </p:nvPicPr>
        <p:blipFill>
          <a:blip r:embed="rId3"/>
          <a:stretch>
            <a:fillRect/>
          </a:stretch>
        </p:blipFill>
        <p:spPr>
          <a:xfrm>
            <a:off x="1224884" y="1261872"/>
            <a:ext cx="974192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KYC Reviews Due with the default filters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graphicFrame>
        <p:nvGraphicFramePr>
          <p:cNvPr id="10" name="Table 9"/>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quotation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package quotations from draft to acceptance, with status tabs, quick filters and a search by Quotation No., ARN or client. Approved quotations are selected here and sent in one batch, one e-mail per client.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Quotations</a:t>
                      </a:r>
                    </a:p>
                    <a:p>
                      <a:r>
                        <a:rPr sz="950" b="0">
                          <a:solidFill>
                            <a:srgbClr val="4B4B4B"/>
                          </a:solidFill>
                          <a:latin typeface="Arial"/>
                        </a:rPr>
                        <a:t>Client record › Quotation tab</a:t>
                      </a:r>
                    </a:p>
                    <a:p>
                      <a:r>
                        <a:rPr sz="950" b="0">
                          <a:solidFill>
                            <a:srgbClr val="4B4B4B"/>
                          </a:solidFill>
                          <a:latin typeface="Arial"/>
                        </a:rPr>
                        <a:t>The quotation links of My Work and the NB Dashboard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FR-NB-010, FR-NB-042, FR-NB-044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sees every quotation by stage and sends the approved ones in one step.</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25880"/>
          <a:ext cx="11094411" cy="48158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Quick filters</a:t>
                      </a:r>
                    </a:p>
                  </a:txBody>
                  <a:tcPr marL="54864" marR="54864" marT="27432" marB="27432">
                    <a:solidFill>
                      <a:srgbClr val="FFFFFF"/>
                    </a:solidFill>
                  </a:tcPr>
                </a:tc>
                <a:tc>
                  <a:txBody>
                    <a:bodyPr/>
                    <a:lstStyle/>
                    <a:p>
                      <a:r>
                        <a:rPr sz="850" b="0">
                          <a:solidFill>
                            <a:srgbClr val="4B4B4B"/>
                          </a:solidFill>
                          <a:latin typeface="Arial"/>
                        </a:rPr>
                        <a:t>My Drafts / For Review / Sent / Accepted / Expiring</a:t>
                      </a:r>
                    </a:p>
                  </a:txBody>
                  <a:tcPr marL="54864" marR="54864" marT="27432" marB="27432">
                    <a:solidFill>
                      <a:srgbClr val="FFFFFF"/>
                    </a:solidFill>
                  </a:tcPr>
                </a:tc>
                <a:tc>
                  <a:txBody>
                    <a:bodyPr/>
                    <a:lstStyle/>
                    <a:p>
                      <a:r>
                        <a:rPr sz="850" b="0">
                          <a:solidFill>
                            <a:srgbClr val="4B4B4B"/>
                          </a:solidFill>
                          <a:latin typeface="Arial"/>
                        </a:rPr>
                        <a:t>Toggle buttons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selects a tab; My Drafts shows the user's own drafts; Expiring shows approved and sent quotations whose validity ends within QUOTATION_EXPIRING_DAYS (7)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Drafts / For Review / Sent to Client / Accepted / Not Proceeded</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For Review also lists approved quotations; Accepted also lists converted ones; Not Proceeded also lists voided ones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Quotation No., ARN or client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Quotation No., ARN or client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Only My Drafts / Expiring within 7 days</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Same as the quick filters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Select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One per row, plus select all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Only approved quotations are sent in the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Quotation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QT-yyyy-nnnnnn with its version (v1, v2...)</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ARN-yyyy-nnnnnn, copy chip</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Client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and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Product / 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Product name, with the insurer's name or To be advised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Gross Premium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Amount, 2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Valid Until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days left or Expired when 7 days or less remain on an approved or sent quotation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Status badge; Direct Payment badge when paid directly to the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Request Inbox</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Quotation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Bulk Upload</a:t>
                      </a:r>
                    </a:p>
                  </a:txBody>
                  <a:tcPr marL="54864" marR="54864" marT="27432" marB="27432">
                    <a:solidFill>
                      <a:srgbClr val="E5F5FF"/>
                    </a:solidFill>
                  </a:tcPr>
                </a:tc>
                <a:tc>
                  <a:txBody>
                    <a:bodyPr/>
                    <a:lstStyle/>
                    <a:p>
                      <a:r>
                        <a:rPr sz="850" b="0">
                          <a:solidFill>
                            <a:srgbClr val="4B4B4B"/>
                          </a:solidFill>
                          <a:latin typeface="Arial"/>
                        </a:rPr>
                        <a:t>QUOTE_MAINTAIN and BULK_PROCESS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Bulk Quotations upload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New Quotation</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Quotation wizard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Send via Email (n)</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At least one approved quotation selected</a:t>
                      </a:r>
                    </a:p>
                  </a:txBody>
                  <a:tcPr marL="54864" marR="54864" marT="27432" marB="27432">
                    <a:solidFill>
                      <a:srgbClr val="E5F5FF"/>
                    </a:solidFill>
                  </a:tcPr>
                </a:tc>
                <a:tc>
                  <a:txBody>
                    <a:bodyPr/>
                    <a:lstStyle/>
                    <a:p>
                      <a:r>
                        <a:rPr sz="850" b="0">
                          <a:solidFill>
                            <a:srgbClr val="4B4B4B"/>
                          </a:solidFill>
                          <a:latin typeface="Arial"/>
                        </a:rPr>
                        <a:t>Opens the batch send dialog: the list of quotations and an optional password hint; Send n Quotation(s) sends one e-mail per client with the protected PDF and Excel of each quotation, and the password in a separate e-mail</a:t>
                      </a:r>
                    </a:p>
                  </a:txBody>
                  <a:tcPr marL="54864" marR="54864" marT="27432" marB="27432">
                    <a:solidFill>
                      <a:srgbClr val="E5F5FF"/>
                    </a:solidFill>
                  </a:tcPr>
                </a:tc>
                <a:tc>
                  <a:txBody>
                    <a:bodyPr/>
                    <a:lstStyle/>
                    <a:p>
                      <a:r>
                        <a:rPr sz="850" b="0">
                          <a:solidFill>
                            <a:srgbClr val="4B4B4B"/>
                          </a:solidFill>
                          <a:latin typeface="Arial"/>
                        </a:rPr>
                        <a:t>Sent to client</a:t>
                      </a:r>
                    </a:p>
                  </a:txBody>
                  <a:tcPr marL="54864" marR="54864" marT="27432" marB="27432">
                    <a:solidFill>
                      <a:srgbClr val="E5F5FF"/>
                    </a:solidFill>
                  </a:tcPr>
                </a:tc>
                <a:tc>
                  <a:txBody>
                    <a:bodyPr/>
                    <a:lstStyle/>
                    <a:p>
                      <a:r>
                        <a:rPr sz="850" b="0">
                          <a:solidFill>
                            <a:srgbClr val="4B4B4B"/>
                          </a:solidFill>
                          <a:latin typeface="Arial"/>
                        </a:rPr>
                        <a:t>E-mail to each client and the password e-mail</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quotation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Only approved quotations are sent. A batch is sent quotation by quotation: the quotations that pass are sent and the others (not approved, expired, without a recipient e-mail or without a supporting document the product requires) are listed with their reason; when none passes nothing is sent (FR-NB-044, BRNB.042 as restated on 13-May-2026, CLR-NB-47).</a:t>
                      </a:r>
                    </a:p>
                  </a:txBody>
                  <a:tcPr marL="54864" marR="54864" marT="27432" marB="27432">
                    <a:solidFill>
                      <a:srgbClr val="FFFFFF"/>
                    </a:solidFill>
                  </a:tcPr>
                </a:tc>
              </a:tr>
              <a:tr h="243840">
                <a:tc>
                  <a:txBody>
                    <a:bodyPr/>
                    <a:lstStyle/>
                    <a:p>
                      <a:r>
                        <a:rPr sz="1000" b="0">
                          <a:solidFill>
                            <a:srgbClr val="4B4B4B"/>
                          </a:solidFill>
                          <a:latin typeface="Arial"/>
                        </a:rPr>
                        <a:t>A batch send groups the quotations of the same client into one e-mail, with the supporting documents ticked in the dialog; one action can address one or more recipients (FR-NB-044).</a:t>
                      </a:r>
                    </a:p>
                  </a:txBody>
                  <a:tcPr marL="54864" marR="54864" marT="27432" marB="27432">
                    <a:solidFill>
                      <a:srgbClr val="E5F5FF"/>
                    </a:solidFill>
                  </a:tcPr>
                </a:tc>
              </a:tr>
              <a:tr h="243840">
                <a:tc>
                  <a:txBody>
                    <a:bodyPr/>
                    <a:lstStyle/>
                    <a:p>
                      <a:r>
                        <a:rPr sz="1000" b="0">
                          <a:solidFill>
                            <a:srgbClr val="4B4B4B"/>
                          </a:solidFill>
                          <a:latin typeface="Arial"/>
                        </a:rPr>
                        <a:t>Each quotation shows the delivery status of its last sending (FR-NB-044, FR-NB-013).</a:t>
                      </a:r>
                    </a:p>
                  </a:txBody>
                  <a:tcPr marL="54864" marR="54864" marT="27432" marB="27432">
                    <a:solidFill>
                      <a:srgbClr val="FFFFFF"/>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1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Quotations work list, Drafts tab (part 1 of 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19.png"/>
          <p:cNvPicPr>
            <a:picLocks noChangeAspect="1"/>
          </p:cNvPicPr>
          <p:nvPr/>
        </p:nvPicPr>
        <p:blipFill>
          <a:blip r:embed="rId3"/>
          <a:stretch>
            <a:fillRect/>
          </a:stretch>
        </p:blipFill>
        <p:spPr>
          <a:xfrm>
            <a:off x="548640" y="1261872"/>
            <a:ext cx="11094415" cy="195108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Quotations work list, Drafts tab (part 2 of 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2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Review tab as seen by the approver (part 1 of 2)</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SCR-NB-05 Quotations: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21.png"/>
          <p:cNvPicPr>
            <a:picLocks noChangeAspect="1"/>
          </p:cNvPicPr>
          <p:nvPr/>
        </p:nvPicPr>
        <p:blipFill>
          <a:blip r:embed="rId3"/>
          <a:stretch>
            <a:fillRect/>
          </a:stretch>
        </p:blipFill>
        <p:spPr>
          <a:xfrm>
            <a:off x="548640" y="1261872"/>
            <a:ext cx="11094415" cy="266839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Review tab as seen by the approver (part 2 of 2)</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SCR-NB-06 New Quotation and Edit Quotation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quotation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 five-step wizard that prepares a package quotation for a client or prospect: client, product and terms, risk items with their risk groups, the premium computed live with the rates in force, and a review before submission for approval. A change after submission opens the next version.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a:t>
                      </a:r>
                    </a:p>
                  </a:txBody>
                  <a:tcPr marL="54864" marR="54864" marT="27432" marB="27432">
                    <a:solidFill>
                      <a:srgbClr val="FFFFFF"/>
                    </a:solidFill>
                  </a:tcPr>
                </a:tc>
              </a:tr>
              <a:tr h="9601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New Quotation</a:t>
                      </a:r>
                    </a:p>
                    <a:p>
                      <a:r>
                        <a:rPr sz="950" b="0">
                          <a:solidFill>
                            <a:srgbClr val="4B4B4B"/>
                          </a:solidFill>
                          <a:latin typeface="Arial"/>
                        </a:rPr>
                        <a:t>Quotations › New Quotation</a:t>
                      </a:r>
                    </a:p>
                    <a:p>
                      <a:r>
                        <a:rPr sz="950" b="0">
                          <a:solidFill>
                            <a:srgbClr val="4B4B4B"/>
                          </a:solidFill>
                          <a:latin typeface="Arial"/>
                        </a:rPr>
                        <a:t>Client record › Generate Quotation (the client is chosen)</a:t>
                      </a:r>
                    </a:p>
                    <a:p>
                      <a:r>
                        <a:rPr sz="950" b="0">
                          <a:solidFill>
                            <a:srgbClr val="4B4B4B"/>
                          </a:solidFill>
                          <a:latin typeface="Arial"/>
                        </a:rPr>
                        <a:t>Quotation Requests › Create Quotation (client, product, segment and channel are carried over)</a:t>
                      </a:r>
                    </a:p>
                    <a:p>
                      <a:r>
                        <a:rPr sz="950" b="0">
                          <a:solidFill>
                            <a:srgbClr val="4B4B4B"/>
                          </a:solidFill>
                          <a:latin typeface="Arial"/>
                        </a:rPr>
                        <a:t>Quotation record › Edit (draft only)</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FR-NB-041, FR-NB-042, FR-NB-047, FR-NB-005, FR-NB-062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quotation is priced, numbered and waiting for the approver in the For Review tab.</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graphicFrame>
        <p:nvGraphicFramePr>
          <p:cNvPr id="9" name="Table 8"/>
          <p:cNvGraphicFramePr>
            <a:graphicFrameLocks noGrp="1"/>
          </p:cNvGraphicFramePr>
          <p:nvPr/>
        </p:nvGraphicFramePr>
        <p:xfrm>
          <a:off x="548640" y="1325880"/>
          <a:ext cx="11094411" cy="48158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Client</a:t>
                      </a:r>
                    </a:p>
                  </a:txBody>
                  <a:tcPr marL="54864" marR="54864" marT="27432" marB="27432">
                    <a:solidFill>
                      <a:srgbClr val="FFFFFF"/>
                    </a:solidFill>
                  </a:tcPr>
                </a:tc>
                <a:tc>
                  <a:txBody>
                    <a:bodyPr/>
                    <a:lstStyle/>
                    <a:p>
                      <a:r>
                        <a:rPr sz="850" b="0">
                          <a:solidFill>
                            <a:srgbClr val="4B4B4B"/>
                          </a:solidFill>
                          <a:latin typeface="Arial"/>
                        </a:rPr>
                        <a:t>Client or prospect</a:t>
                      </a:r>
                    </a:p>
                  </a:txBody>
                  <a:tcPr marL="54864" marR="54864" marT="27432" marB="27432">
                    <a:solidFill>
                      <a:srgbClr val="FFFFFF"/>
                    </a:solidFill>
                  </a:tcPr>
                </a:tc>
                <a:tc>
                  <a:txBody>
                    <a:bodyPr/>
                    <a:lstStyle/>
                    <a:p>
                      <a:r>
                        <a:rPr sz="850" b="0">
                          <a:solidFill>
                            <a:srgbClr val="4B4B4B"/>
                          </a:solidFill>
                          <a:latin typeface="Arial"/>
                        </a:rPr>
                        <a:t>Look-up</a:t>
                      </a:r>
                    </a:p>
                  </a:txBody>
                  <a:tcPr marL="54864" marR="54864" marT="27432" marB="27432">
                    <a:solidFill>
                      <a:srgbClr val="FFFFFF"/>
                    </a:solidFill>
                  </a:tcPr>
                </a:tc>
                <a:tc>
                  <a:txBody>
                    <a:bodyPr/>
                    <a:lstStyle/>
                    <a:p>
                      <a:r>
                        <a:rPr sz="850" b="0">
                          <a:solidFill>
                            <a:srgbClr val="4B4B4B"/>
                          </a:solidFill>
                          <a:latin typeface="Arial"/>
                        </a:rPr>
                        <a:t>Type 2 or more characters of a code or name; shows the status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client or prospect is chosen</a:t>
                      </a:r>
                    </a:p>
                  </a:txBody>
                  <a:tcPr marL="54864" marR="54864" marT="27432" marB="27432">
                    <a:solidFill>
                      <a:srgbClr val="FFFFFF"/>
                    </a:solidFill>
                  </a:tcPr>
                </a:tc>
                <a:tc>
                  <a:txBody>
                    <a:bodyPr/>
                    <a:lstStyle/>
                    <a:p>
                      <a:r>
                        <a:rPr sz="850" b="0">
                          <a:solidFill>
                            <a:srgbClr val="4B4B4B"/>
                          </a:solidFill>
                          <a:latin typeface="Arial"/>
                        </a:rPr>
                        <a:t>Select the client or prospect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1. Client</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 at submission</a:t>
                      </a:r>
                    </a:p>
                  </a:txBody>
                  <a:tcPr marL="54864" marR="54864" marT="27432" marB="27432">
                    <a:solidFill>
                      <a:srgbClr val="E5F5FF"/>
                    </a:solidFill>
                  </a:tcPr>
                </a:tc>
                <a:tc>
                  <a:txBody>
                    <a:bodyPr/>
                    <a:lstStyle/>
                    <a:p>
                      <a:r>
                        <a:rPr sz="850" b="0">
                          <a:solidFill>
                            <a:srgbClr val="4B4B4B"/>
                          </a:solidFill>
                          <a:latin typeface="Arial"/>
                        </a:rPr>
                        <a:t>The product must be offered to the segment; required to submit</a:t>
                      </a:r>
                    </a:p>
                  </a:txBody>
                  <a:tcPr marL="54864" marR="54864" marT="27432" marB="27432">
                    <a:solidFill>
                      <a:srgbClr val="E5F5FF"/>
                    </a:solidFill>
                  </a:tcPr>
                </a:tc>
                <a:tc>
                  <a:txBody>
                    <a:bodyPr/>
                    <a:lstStyle/>
                    <a:p>
                      <a:r>
                        <a:rPr sz="850" b="0">
                          <a:solidFill>
                            <a:srgbClr val="4B4B4B"/>
                          </a:solidFill>
                          <a:latin typeface="Arial"/>
                        </a:rPr>
                        <a:t>Product &lt;code&gt; is not offered to segment &lt;segment&gt; / Choose the market segment on the Client step before you submit the quotation</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1. Client</a:t>
                      </a:r>
                    </a:p>
                  </a:txBody>
                  <a:tcPr marL="54864" marR="54864" marT="27432" marB="27432">
                    <a:solidFill>
                      <a:srgbClr val="FFFFFF"/>
                    </a:solidFill>
                  </a:tcPr>
                </a:tc>
                <a:tc>
                  <a:txBody>
                    <a:bodyPr/>
                    <a:lstStyle/>
                    <a:p>
                      <a:r>
                        <a:rPr sz="850" b="0">
                          <a:solidFill>
                            <a:srgbClr val="4B4B4B"/>
                          </a:solidFill>
                          <a:latin typeface="Arial"/>
                        </a:rPr>
                        <a:t>Source channel</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Code – name; (non-package) marked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product cannot change after the first save</a:t>
                      </a:r>
                    </a:p>
                  </a:txBody>
                  <a:tcPr marL="54864" marR="54864" marT="27432" marB="27432">
                    <a:solidFill>
                      <a:srgbClr val="E5F5FF"/>
                    </a:solidFill>
                  </a:tcPr>
                </a:tc>
                <a:tc>
                  <a:txBody>
                    <a:bodyPr/>
                    <a:lstStyle/>
                    <a:p>
                      <a:r>
                        <a:rPr sz="850" b="0">
                          <a:solidFill>
                            <a:srgbClr val="4B4B4B"/>
                          </a:solidFill>
                          <a:latin typeface="Arial"/>
                        </a:rPr>
                        <a:t>Select the product / The product of a quotation cannot change</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2. Product &amp; Terms</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Insurer branch (LGT)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branch sets the local government tax rate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2. Product &amp; Terms</a:t>
                      </a:r>
                    </a:p>
                  </a:txBody>
                  <a:tcPr marL="54864" marR="54864" marT="27432" marB="27432">
                    <a:solidFill>
                      <a:srgbClr val="FFFFFF"/>
                    </a:solidFill>
                  </a:tcPr>
                </a:tc>
                <a:tc>
                  <a:txBody>
                    <a:bodyPr/>
                    <a:lstStyle/>
                    <a:p>
                      <a:r>
                        <a:rPr sz="850" b="0">
                          <a:solidFill>
                            <a:srgbClr val="4B4B4B"/>
                          </a:solidFill>
                          <a:latin typeface="Arial"/>
                        </a:rPr>
                        <a:t>Period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Period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After Period from</a:t>
                      </a:r>
                    </a:p>
                  </a:txBody>
                  <a:tcPr marL="54864" marR="54864" marT="27432" marB="27432">
                    <a:solidFill>
                      <a:srgbClr val="E5F5FF"/>
                    </a:solidFill>
                  </a:tcPr>
                </a:tc>
                <a:tc>
                  <a:txBody>
                    <a:bodyPr/>
                    <a:lstStyle/>
                    <a:p>
                      <a:r>
                        <a:rPr sz="850" b="0">
                          <a:solidFill>
                            <a:srgbClr val="4B4B4B"/>
                          </a:solidFill>
                          <a:latin typeface="Arial"/>
                        </a:rPr>
                        <a:t>The period end must be after the period start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2. Product &amp; Terms</a:t>
                      </a:r>
                    </a:p>
                  </a:txBody>
                  <a:tcPr marL="54864" marR="54864" marT="27432" marB="27432">
                    <a:solidFill>
                      <a:srgbClr val="FFFFFF"/>
                    </a:solidFill>
                  </a:tcPr>
                </a:tc>
                <a:tc>
                  <a:txBody>
                    <a:bodyPr/>
                    <a:lstStyle/>
                    <a:p>
                      <a:r>
                        <a:rPr sz="850" b="0">
                          <a:solidFill>
                            <a:srgbClr val="4B4B4B"/>
                          </a:solidFill>
                          <a:latin typeface="Arial"/>
                        </a:rPr>
                        <a:t>Valid until</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in the past, on save and on submission</a:t>
                      </a:r>
                    </a:p>
                  </a:txBody>
                  <a:tcPr marL="54864" marR="54864" marT="27432" marB="27432">
                    <a:solidFill>
                      <a:srgbClr val="FFFFFF"/>
                    </a:solidFill>
                  </a:tcPr>
                </a:tc>
                <a:tc>
                  <a:txBody>
                    <a:bodyPr/>
                    <a:lstStyle/>
                    <a:p>
                      <a:r>
                        <a:rPr sz="850" b="0">
                          <a:solidFill>
                            <a:srgbClr val="4B4B4B"/>
                          </a:solidFill>
                          <a:latin typeface="Arial"/>
                        </a:rPr>
                        <a:t>The validity date cannot be in the past / The validity date has passed: change it before submitting</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Rating basis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Annual, Pro-rata (days), Short period (table)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2. Product &amp; Terms</a:t>
                      </a:r>
                    </a:p>
                  </a:txBody>
                  <a:tcPr marL="54864" marR="54864" marT="27432" marB="27432">
                    <a:solidFill>
                      <a:srgbClr val="FFFFFF"/>
                    </a:solidFill>
                  </a:tcPr>
                </a:tc>
                <a:tc>
                  <a:txBody>
                    <a:bodyPr/>
                    <a:lstStyle/>
                    <a:p>
                      <a:r>
                        <a:rPr sz="850" b="0">
                          <a:solidFill>
                            <a:srgbClr val="4B4B4B"/>
                          </a:solidFill>
                          <a:latin typeface="Arial"/>
                        </a:rPr>
                        <a:t>Premium paid directly to the insurer</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 (shown for products eligible for direct payment)</a:t>
                      </a:r>
                    </a:p>
                  </a:txBody>
                  <a:tcPr marL="54864" marR="54864" marT="27432" marB="27432">
                    <a:solidFill>
                      <a:srgbClr val="FFFFFF"/>
                    </a:solidFill>
                  </a:tcPr>
                </a:tc>
                <a:tc>
                  <a:txBody>
                    <a:bodyPr/>
                    <a:lstStyle/>
                    <a:p>
                      <a:r>
                        <a:rPr sz="850" b="0">
                          <a:solidFill>
                            <a:srgbClr val="4B4B4B"/>
                          </a:solidFill>
                          <a:latin typeface="Arial"/>
                        </a:rPr>
                        <a:t>The product allows direct payment</a:t>
                      </a:r>
                    </a:p>
                  </a:txBody>
                  <a:tcPr marL="54864" marR="54864" marT="27432" marB="27432">
                    <a:solidFill>
                      <a:srgbClr val="FFFFFF"/>
                    </a:solidFill>
                  </a:tcPr>
                </a:tc>
                <a:tc>
                  <a:txBody>
                    <a:bodyPr/>
                    <a:lstStyle/>
                    <a:p>
                      <a:r>
                        <a:rPr sz="850" b="0">
                          <a:solidFill>
                            <a:srgbClr val="4B4B4B"/>
                          </a:solidFill>
                          <a:latin typeface="Arial"/>
                        </a:rPr>
                        <a:t>Product &lt;code&gt; cannot be paid directly to the insurer</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2. Product &amp; Terms</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graphicFrame>
        <p:nvGraphicFramePr>
          <p:cNvPr id="9" name="Table 8"/>
          <p:cNvGraphicFramePr>
            <a:graphicFrameLocks noGrp="1"/>
          </p:cNvGraphicFramePr>
          <p:nvPr/>
        </p:nvGraphicFramePr>
        <p:xfrm>
          <a:off x="548640" y="1325880"/>
          <a:ext cx="11094411" cy="45262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51636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Vehicle: Plate no., Conduction sticker, Engine no., Chassis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Upper case; plate and sticker up to 20, engine and chassis up to 40 characters</a:t>
                      </a:r>
                    </a:p>
                  </a:txBody>
                  <a:tcPr marL="54864" marR="54864" marT="27432" marB="27432">
                    <a:solidFill>
                      <a:srgbClr val="FFFFFF"/>
                    </a:solidFill>
                  </a:tcPr>
                </a:tc>
                <a:tc>
                  <a:txBody>
                    <a:bodyPr/>
                    <a:lstStyle/>
                    <a:p>
                      <a:r>
                        <a:rPr sz="850" b="0">
                          <a:solidFill>
                            <a:srgbClr val="4B4B4B"/>
                          </a:solidFill>
                          <a:latin typeface="Arial"/>
                        </a:rPr>
                        <a:t>Cond.: plate no. or conduction sticker per vehicle; others per the product's field rules</a:t>
                      </a:r>
                    </a:p>
                  </a:txBody>
                  <a:tcPr marL="54864" marR="54864" marT="27432" marB="27432">
                    <a:solidFill>
                      <a:srgbClr val="FFFFFF"/>
                    </a:solidFill>
                  </a:tcPr>
                </a:tc>
                <a:tc>
                  <a:txBody>
                    <a:bodyPr/>
                    <a:lstStyle/>
                    <a:p>
                      <a:r>
                        <a:rPr sz="850" b="0">
                          <a:solidFill>
                            <a:srgbClr val="4B4B4B"/>
                          </a:solidFill>
                          <a:latin typeface="Arial"/>
                        </a:rPr>
                        <a:t>Product field rules (BRD-3)</a:t>
                      </a:r>
                    </a:p>
                  </a:txBody>
                  <a:tcPr marL="54864" marR="54864" marT="27432" marB="27432">
                    <a:solidFill>
                      <a:srgbClr val="FFFFFF"/>
                    </a:solidFill>
                  </a:tcPr>
                </a:tc>
                <a:tc>
                  <a:txBody>
                    <a:bodyPr/>
                    <a:lstStyle/>
                    <a:p>
                      <a:r>
                        <a:rPr sz="850" b="0">
                          <a:solidFill>
                            <a:srgbClr val="4B4B4B"/>
                          </a:solidFill>
                          <a:latin typeface="Arial"/>
                        </a:rPr>
                        <a:t>Complete the mandatory fields of &lt;product&gt;: &lt;fields&gt;</a:t>
                      </a:r>
                    </a:p>
                  </a:txBody>
                  <a:tcPr marL="54864" marR="54864" marT="27432" marB="27432">
                    <a:solidFill>
                      <a:srgbClr val="FFFFFF"/>
                    </a:solidFill>
                  </a:tcPr>
                </a:tc>
              </a:tr>
              <a:tr h="739135">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Vehicle: Make, Model, Year model, Body type, Colour, Seats</a:t>
                      </a:r>
                    </a:p>
                  </a:txBody>
                  <a:tcPr marL="54864" marR="54864" marT="27432" marB="27432">
                    <a:solidFill>
                      <a:srgbClr val="E5F5FF"/>
                    </a:solidFill>
                  </a:tcPr>
                </a:tc>
                <a:tc>
                  <a:txBody>
                    <a:bodyPr/>
                    <a:lstStyle/>
                    <a:p>
                      <a:r>
                        <a:rPr sz="850" b="0">
                          <a:solidFill>
                            <a:srgbClr val="4B4B4B"/>
                          </a:solidFill>
                          <a:latin typeface="Arial"/>
                        </a:rPr>
                        <a:t>Text / Number / Drop-down</a:t>
                      </a:r>
                    </a:p>
                  </a:txBody>
                  <a:tcPr marL="54864" marR="54864" marT="27432" marB="27432">
                    <a:solidFill>
                      <a:srgbClr val="E5F5FF"/>
                    </a:solidFill>
                  </a:tcPr>
                </a:tc>
                <a:tc>
                  <a:txBody>
                    <a:bodyPr/>
                    <a:lstStyle/>
                    <a:p>
                      <a:r>
                        <a:rPr sz="850" b="0">
                          <a:solidFill>
                            <a:srgbClr val="4B4B4B"/>
                          </a:solidFill>
                          <a:latin typeface="Arial"/>
                        </a:rPr>
                        <a:t>Year 1900-2100; seats 1-100; body type from VEHICLE_BODY_TYPE</a:t>
                      </a:r>
                    </a:p>
                  </a:txBody>
                  <a:tcPr marL="54864" marR="54864" marT="27432" marB="27432">
                    <a:solidFill>
                      <a:srgbClr val="E5F5FF"/>
                    </a:solidFill>
                  </a:tcPr>
                </a:tc>
                <a:tc>
                  <a:txBody>
                    <a:bodyPr/>
                    <a:lstStyle/>
                    <a:p>
                      <a:r>
                        <a:rPr sz="850" b="0">
                          <a:solidFill>
                            <a:srgbClr val="4B4B4B"/>
                          </a:solidFill>
                          <a:latin typeface="Arial"/>
                        </a:rPr>
                        <a:t>Cond.: per the product's field rules</a:t>
                      </a:r>
                    </a:p>
                  </a:txBody>
                  <a:tcPr marL="54864" marR="54864" marT="27432" marB="27432">
                    <a:solidFill>
                      <a:srgbClr val="E5F5FF"/>
                    </a:solidFill>
                  </a:tcPr>
                </a:tc>
                <a:tc>
                  <a:txBody>
                    <a:bodyPr/>
                    <a:lstStyle/>
                    <a:p>
                      <a:r>
                        <a:rPr sz="850" b="0">
                          <a:solidFill>
                            <a:srgbClr val="4B4B4B"/>
                          </a:solidFill>
                          <a:latin typeface="Arial"/>
                        </a:rPr>
                        <a:t>Product field rules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998213">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Location: Address, City, Province, Occupancy, Construction class</a:t>
                      </a:r>
                    </a:p>
                  </a:txBody>
                  <a:tcPr marL="54864" marR="54864" marT="27432" marB="27432">
                    <a:solidFill>
                      <a:srgbClr val="FFFFFF"/>
                    </a:solidFill>
                  </a:tcPr>
                </a:tc>
                <a:tc>
                  <a:txBody>
                    <a:bodyPr/>
                    <a:lstStyle/>
                    <a:p>
                      <a:r>
                        <a:rPr sz="850" b="0">
                          <a:solidFill>
                            <a:srgbClr val="4B4B4B"/>
                          </a:solidFill>
                          <a:latin typeface="Arial"/>
                        </a:rPr>
                        <a:t>Text / Drop-down</a:t>
                      </a:r>
                    </a:p>
                  </a:txBody>
                  <a:tcPr marL="54864" marR="54864" marT="27432" marB="27432">
                    <a:solidFill>
                      <a:srgbClr val="FFFFFF"/>
                    </a:solidFill>
                  </a:tcPr>
                </a:tc>
                <a:tc>
                  <a:txBody>
                    <a:bodyPr/>
                    <a:lstStyle/>
                    <a:p>
                      <a:r>
                        <a:rPr sz="850" b="0">
                          <a:solidFill>
                            <a:srgbClr val="4B4B4B"/>
                          </a:solidFill>
                          <a:latin typeface="Arial"/>
                        </a:rPr>
                        <a:t>Address up to 300 characters</a:t>
                      </a:r>
                    </a:p>
                  </a:txBody>
                  <a:tcPr marL="54864" marR="54864" marT="27432" marB="27432">
                    <a:solidFill>
                      <a:srgbClr val="FFFFFF"/>
                    </a:solidFill>
                  </a:tcPr>
                </a:tc>
                <a:tc>
                  <a:txBody>
                    <a:bodyPr/>
                    <a:lstStyle/>
                    <a:p>
                      <a:r>
                        <a:rPr sz="850" b="0">
                          <a:solidFill>
                            <a:srgbClr val="4B4B4B"/>
                          </a:solidFill>
                          <a:latin typeface="Arial"/>
                        </a:rPr>
                        <a:t>Address Y for a location; others per the field rules</a:t>
                      </a:r>
                    </a:p>
                  </a:txBody>
                  <a:tcPr marL="54864" marR="54864" marT="27432" marB="27432">
                    <a:solidFill>
                      <a:srgbClr val="FFFFFF"/>
                    </a:solidFill>
                  </a:tcPr>
                </a:tc>
                <a:tc>
                  <a:txBody>
                    <a:bodyPr/>
                    <a:lstStyle/>
                    <a:p>
                      <a:r>
                        <a:rPr sz="850" b="0">
                          <a:solidFill>
                            <a:srgbClr val="4B4B4B"/>
                          </a:solidFill>
                          <a:latin typeface="Arial"/>
                        </a:rPr>
                        <a:t>Product field rules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Location: Insured items (description, sum insured)</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Description up to 200 characters; up to 50 items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Each row has a description and a sum insured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Person: Name, Birth date, Relationship</a:t>
                      </a:r>
                    </a:p>
                  </a:txBody>
                  <a:tcPr marL="54864" marR="54864" marT="27432" marB="27432">
                    <a:solidFill>
                      <a:srgbClr val="FFFFFF"/>
                    </a:solidFill>
                  </a:tcPr>
                </a:tc>
                <a:tc>
                  <a:txBody>
                    <a:bodyPr/>
                    <a:lstStyle/>
                    <a:p>
                      <a:r>
                        <a:rPr sz="850" b="0">
                          <a:solidFill>
                            <a:srgbClr val="4B4B4B"/>
                          </a:solidFill>
                          <a:latin typeface="Arial"/>
                        </a:rPr>
                        <a:t>Text / Date</a:t>
                      </a:r>
                    </a:p>
                  </a:txBody>
                  <a:tcPr marL="54864" marR="54864" marT="27432" marB="27432">
                    <a:solidFill>
                      <a:srgbClr val="FFFFFF"/>
                    </a:solidFill>
                  </a:tcPr>
                </a:tc>
                <a:tc>
                  <a:txBody>
                    <a:bodyPr/>
                    <a:lstStyle/>
                    <a:p>
                      <a:r>
                        <a:rPr sz="850" b="0">
                          <a:solidFill>
                            <a:srgbClr val="4B4B4B"/>
                          </a:solidFill>
                          <a:latin typeface="Arial"/>
                        </a:rPr>
                        <a:t>Name up to 200 characters</a:t>
                      </a:r>
                    </a:p>
                  </a:txBody>
                  <a:tcPr marL="54864" marR="54864" marT="27432" marB="27432">
                    <a:solidFill>
                      <a:srgbClr val="FFFFFF"/>
                    </a:solidFill>
                  </a:tcPr>
                </a:tc>
                <a:tc>
                  <a:txBody>
                    <a:bodyPr/>
                    <a:lstStyle/>
                    <a:p>
                      <a:r>
                        <a:rPr sz="850" b="0">
                          <a:solidFill>
                            <a:srgbClr val="4B4B4B"/>
                          </a:solidFill>
                          <a:latin typeface="Arial"/>
                        </a:rPr>
                        <a:t>Name Y for a person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graphicFrame>
        <p:nvGraphicFramePr>
          <p:cNvPr id="9" name="Table 8"/>
          <p:cNvGraphicFramePr>
            <a:graphicFrameLocks noGrp="1"/>
          </p:cNvGraphicFramePr>
          <p:nvPr/>
        </p:nvGraphicFramePr>
        <p:xfrm>
          <a:off x="548640" y="1325880"/>
          <a:ext cx="11094411" cy="371091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19</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Sum insured</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0 or more</a:t>
                      </a:r>
                    </a:p>
                  </a:txBody>
                  <a:tcPr marL="54864" marR="54864" marT="27432" marB="27432">
                    <a:solidFill>
                      <a:srgbClr val="FFFFFF"/>
                    </a:solidFill>
                  </a:tcPr>
                </a:tc>
                <a:tc>
                  <a:txBody>
                    <a:bodyPr/>
                    <a:lstStyle/>
                    <a:p>
                      <a:r>
                        <a:rPr sz="850" b="0">
                          <a:solidFill>
                            <a:srgbClr val="4B4B4B"/>
                          </a:solidFill>
                          <a:latin typeface="Arial"/>
                        </a:rPr>
                        <a:t>Y to rate the premium</a:t>
                      </a:r>
                    </a:p>
                  </a:txBody>
                  <a:tcPr marL="54864" marR="54864" marT="27432" marB="27432">
                    <a:solidFill>
                      <a:srgbClr val="FFFFFF"/>
                    </a:solidFill>
                  </a:tcPr>
                </a:tc>
                <a:tc>
                  <a:txBody>
                    <a:bodyPr/>
                    <a:lstStyle/>
                    <a:p>
                      <a:r>
                        <a:rPr sz="850" b="0">
                          <a:solidFill>
                            <a:srgbClr val="4B4B4B"/>
                          </a:solidFill>
                          <a:latin typeface="Arial"/>
                        </a:rPr>
                        <a:t>Every item is given a sum insured</a:t>
                      </a:r>
                    </a:p>
                  </a:txBody>
                  <a:tcPr marL="54864" marR="54864" marT="27432" marB="27432">
                    <a:solidFill>
                      <a:srgbClr val="FFFFFF"/>
                    </a:solidFill>
                  </a:tcPr>
                </a:tc>
                <a:tc>
                  <a:txBody>
                    <a:bodyPr/>
                    <a:lstStyle/>
                    <a:p>
                      <a:r>
                        <a:rPr sz="850" b="0">
                          <a:solidFill>
                            <a:srgbClr val="4B4B4B"/>
                          </a:solidFill>
                          <a:latin typeface="Arial"/>
                        </a:rPr>
                        <a:t>Enter the sum insured of every item</a:t>
                      </a:r>
                    </a:p>
                  </a:txBody>
                  <a:tcPr marL="54864" marR="54864" marT="27432" marB="27432">
                    <a:solidFill>
                      <a:srgbClr val="FFFFFF"/>
                    </a:solidFill>
                  </a:tcPr>
                </a:tc>
              </a:tr>
              <a:tr h="480057">
                <a:tc>
                  <a:txBody>
                    <a:bodyPr/>
                    <a:lstStyle/>
                    <a:p>
                      <a:r>
                        <a:rPr sz="850" b="0">
                          <a:solidFill>
                            <a:srgbClr val="4B4B4B"/>
                          </a:solidFill>
                          <a:latin typeface="Arial"/>
                        </a:rPr>
                        <a:t>20</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Rate % (non-motor)</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0 to 100, 4 decimals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rate different from the package scheme rate needs an approved rate exception</a:t>
                      </a:r>
                    </a:p>
                  </a:txBody>
                  <a:tcPr marL="54864" marR="54864" marT="27432" marB="27432">
                    <a:solidFill>
                      <a:srgbClr val="E5F5FF"/>
                    </a:solidFill>
                  </a:tcPr>
                </a:tc>
                <a:tc>
                  <a:txBody>
                    <a:bodyPr/>
                    <a:lstStyle/>
                    <a:p>
                      <a:r>
                        <a:rPr sz="850" b="0">
                          <a:solidFill>
                            <a:srgbClr val="4B4B4B"/>
                          </a:solidFill>
                          <a:latin typeface="Arial"/>
                        </a:rPr>
                        <a:t>An item rate differs from the scheme rate: submission needs an approved rate exception.</a:t>
                      </a:r>
                    </a:p>
                  </a:txBody>
                  <a:tcPr marL="54864" marR="54864" marT="27432" marB="27432">
                    <a:solidFill>
                      <a:srgbClr val="E5F5FF"/>
                    </a:solidFill>
                  </a:tcPr>
                </a:tc>
              </a:tr>
              <a:tr h="350518">
                <a:tc>
                  <a:txBody>
                    <a:bodyPr/>
                    <a:lstStyle/>
                    <a:p>
                      <a:r>
                        <a:rPr sz="850" b="0">
                          <a:solidFill>
                            <a:srgbClr val="4B4B4B"/>
                          </a:solidFill>
                          <a:latin typeface="Arial"/>
                        </a:rPr>
                        <a:t>21</a:t>
                      </a:r>
                    </a:p>
                  </a:txBody>
                  <a:tcPr marL="54864" marR="54864" marT="27432" marB="27432">
                    <a:solidFill>
                      <a:srgbClr val="FFFFFF"/>
                    </a:solidFill>
                  </a:tcPr>
                </a:tc>
                <a:tc>
                  <a:txBody>
                    <a:bodyPr/>
                    <a:lstStyle/>
                    <a:p>
                      <a:r>
                        <a:rPr sz="850" b="0">
                          <a:solidFill>
                            <a:srgbClr val="4B4B4B"/>
                          </a:solidFill>
                          <a:latin typeface="Arial"/>
                        </a:rPr>
                        <a:t>3. Risk Items</a:t>
                      </a:r>
                    </a:p>
                  </a:txBody>
                  <a:tcPr marL="54864" marR="54864" marT="27432" marB="27432">
                    <a:solidFill>
                      <a:srgbClr val="FFFFFF"/>
                    </a:solidFill>
                  </a:tcPr>
                </a:tc>
                <a:tc>
                  <a:txBody>
                    <a:bodyPr/>
                    <a:lstStyle/>
                    <a:p>
                      <a:r>
                        <a:rPr sz="850" b="0">
                          <a:solidFill>
                            <a:srgbClr val="4B4B4B"/>
                          </a:solidFill>
                          <a:latin typeface="Arial"/>
                        </a:rPr>
                        <a:t>Excess BI limit, PD limit (motor)</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0 or more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22</a:t>
                      </a:r>
                    </a:p>
                  </a:txBody>
                  <a:tcPr marL="54864" marR="54864" marT="27432" marB="27432">
                    <a:solidFill>
                      <a:srgbClr val="E5F5FF"/>
                    </a:solidFill>
                  </a:tcPr>
                </a:tc>
                <a:tc>
                  <a:txBody>
                    <a:bodyPr/>
                    <a:lstStyle/>
                    <a:p>
                      <a:r>
                        <a:rPr sz="850" b="0">
                          <a:solidFill>
                            <a:srgbClr val="4B4B4B"/>
                          </a:solidFill>
                          <a:latin typeface="Arial"/>
                        </a:rPr>
                        <a:t>3. Risk Items</a:t>
                      </a:r>
                    </a:p>
                  </a:txBody>
                  <a:tcPr marL="54864" marR="54864" marT="27432" marB="27432">
                    <a:solidFill>
                      <a:srgbClr val="E5F5FF"/>
                    </a:solidFill>
                  </a:tcPr>
                </a:tc>
                <a:tc>
                  <a:txBody>
                    <a:bodyPr/>
                    <a:lstStyle/>
                    <a:p>
                      <a:r>
                        <a:rPr sz="850" b="0">
                          <a:solidFill>
                            <a:srgbClr val="4B4B4B"/>
                          </a:solidFill>
                          <a:latin typeface="Arial"/>
                        </a:rPr>
                        <a:t>Item n: risk group</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1-99</a:t>
                      </a:r>
                    </a:p>
                  </a:txBody>
                  <a:tcPr marL="54864" marR="54864" marT="27432" marB="27432">
                    <a:solidFill>
                      <a:srgbClr val="E5F5FF"/>
                    </a:solidFill>
                  </a:tcPr>
                </a:tc>
                <a:tc>
                  <a:txBody>
                    <a:bodyPr/>
                    <a:lstStyle/>
                    <a:p>
                      <a:r>
                        <a:rPr sz="850" b="0">
                          <a:solidFill>
                            <a:srgbClr val="4B4B4B"/>
                          </a:solidFill>
                          <a:latin typeface="Arial"/>
                        </a:rPr>
                        <a:t>N (shown with 2 or more items)</a:t>
                      </a:r>
                    </a:p>
                  </a:txBody>
                  <a:tcPr marL="54864" marR="54864" marT="27432" marB="27432">
                    <a:solidFill>
                      <a:srgbClr val="E5F5FF"/>
                    </a:solidFill>
                  </a:tcPr>
                </a:tc>
                <a:tc>
                  <a:txBody>
                    <a:bodyPr/>
                    <a:lstStyle/>
                    <a:p>
                      <a:r>
                        <a:rPr sz="850" b="0">
                          <a:solidFill>
                            <a:srgbClr val="4B4B4B"/>
                          </a:solidFill>
                          <a:latin typeface="Arial"/>
                        </a:rPr>
                        <a:t>Items of the same group become one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23</a:t>
                      </a:r>
                    </a:p>
                  </a:txBody>
                  <a:tcPr marL="54864" marR="54864" marT="27432" marB="27432">
                    <a:solidFill>
                      <a:srgbClr val="FFFFFF"/>
                    </a:solidFill>
                  </a:tcPr>
                </a:tc>
                <a:tc>
                  <a:txBody>
                    <a:bodyPr/>
                    <a:lstStyle/>
                    <a:p>
                      <a:r>
                        <a:rPr sz="850" b="0">
                          <a:solidFill>
                            <a:srgbClr val="4B4B4B"/>
                          </a:solidFill>
                          <a:latin typeface="Arial"/>
                        </a:rPr>
                        <a:t>4. Premium</a:t>
                      </a:r>
                    </a:p>
                  </a:txBody>
                  <a:tcPr marL="54864" marR="54864" marT="27432" marB="27432">
                    <a:solidFill>
                      <a:srgbClr val="FFFFFF"/>
                    </a:solidFill>
                  </a:tcPr>
                </a:tc>
                <a:tc>
                  <a:txBody>
                    <a:bodyPr/>
                    <a:lstStyle/>
                    <a:p>
                      <a:r>
                        <a:rPr sz="850" b="0">
                          <a:solidFill>
                            <a:srgbClr val="4B4B4B"/>
                          </a:solidFill>
                          <a:latin typeface="Arial"/>
                        </a:rPr>
                        <a:t>Live premium</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Rating basis, net premium, DST, premium tax, VAT, FST, LGT, total charges, gross premium, commission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 rated until every item has a sum insured</a:t>
                      </a:r>
                    </a:p>
                  </a:txBody>
                  <a:tcPr marL="54864" marR="54864" marT="27432" marB="27432">
                    <a:solidFill>
                      <a:srgbClr val="FFFFFF"/>
                    </a:solidFill>
                  </a:tcPr>
                </a:tc>
                <a:tc>
                  <a:txBody>
                    <a:bodyPr/>
                    <a:lstStyle/>
                    <a:p>
                      <a:r>
                        <a:rPr sz="850" b="0">
                          <a:solidFill>
                            <a:srgbClr val="4B4B4B"/>
                          </a:solidFill>
                          <a:latin typeface="Arial"/>
                        </a:rPr>
                        <a:t>Not rated yet: give every item a sum insured (and a rate when the product has no default rate).</a:t>
                      </a:r>
                    </a:p>
                  </a:txBody>
                  <a:tcPr marL="54864" marR="54864" marT="27432" marB="27432">
                    <a:solidFill>
                      <a:srgbClr val="FFFFFF"/>
                    </a:solidFill>
                  </a:tcPr>
                </a:tc>
              </a:tr>
              <a:tr h="609596">
                <a:tc>
                  <a:txBody>
                    <a:bodyPr/>
                    <a:lstStyle/>
                    <a:p>
                      <a:r>
                        <a:rPr sz="850" b="0">
                          <a:solidFill>
                            <a:srgbClr val="4B4B4B"/>
                          </a:solidFill>
                          <a:latin typeface="Arial"/>
                        </a:rPr>
                        <a:t>24</a:t>
                      </a:r>
                    </a:p>
                  </a:txBody>
                  <a:tcPr marL="54864" marR="54864" marT="27432" marB="27432">
                    <a:solidFill>
                      <a:srgbClr val="E5F5FF"/>
                    </a:solidFill>
                  </a:tcPr>
                </a:tc>
                <a:tc>
                  <a:txBody>
                    <a:bodyPr/>
                    <a:lstStyle/>
                    <a:p>
                      <a:r>
                        <a:rPr sz="850" b="0">
                          <a:solidFill>
                            <a:srgbClr val="4B4B4B"/>
                          </a:solidFill>
                          <a:latin typeface="Arial"/>
                        </a:rPr>
                        <a:t>4. Premium</a:t>
                      </a:r>
                    </a:p>
                  </a:txBody>
                  <a:tcPr marL="54864" marR="54864" marT="27432" marB="27432">
                    <a:solidFill>
                      <a:srgbClr val="E5F5FF"/>
                    </a:solidFill>
                  </a:tcPr>
                </a:tc>
                <a:tc>
                  <a:txBody>
                    <a:bodyPr/>
                    <a:lstStyle/>
                    <a:p>
                      <a:r>
                        <a:rPr sz="850" b="0">
                          <a:solidFill>
                            <a:srgbClr val="4B4B4B"/>
                          </a:solidFill>
                          <a:latin typeface="Arial"/>
                        </a:rPr>
                        <a:t>TSU routing notice</a:t>
                      </a:r>
                    </a:p>
                  </a:txBody>
                  <a:tcPr marL="54864" marR="54864" marT="27432" marB="27432">
                    <a:solidFill>
                      <a:srgbClr val="E5F5FF"/>
                    </a:solidFill>
                  </a:tcPr>
                </a:tc>
                <a:tc>
                  <a:txBody>
                    <a:bodyPr/>
                    <a:lstStyle/>
                    <a:p>
                      <a:r>
                        <a:rPr sz="850" b="0">
                          <a:solidFill>
                            <a:srgbClr val="4B4B4B"/>
                          </a:solidFill>
                          <a:latin typeface="Arial"/>
                        </a:rPr>
                        <a:t>Banner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Shown when a TSU rule applies</a:t>
                      </a:r>
                    </a:p>
                  </a:txBody>
                  <a:tcPr marL="54864" marR="54864" marT="27432" marB="27432">
                    <a:solidFill>
                      <a:srgbClr val="E5F5FF"/>
                    </a:solidFill>
                  </a:tcPr>
                </a:tc>
                <a:tc>
                  <a:txBody>
                    <a:bodyPr/>
                    <a:lstStyle/>
                    <a:p>
                      <a:r>
                        <a:rPr sz="850" b="0">
                          <a:solidFill>
                            <a:srgbClr val="4B4B4B"/>
                          </a:solidFill>
                          <a:latin typeface="Arial"/>
                        </a:rPr>
                        <a:t>TSU routing applies: &lt;reason&gt;. Consider a Proposal Request (PRF) for TSU to price the risk with the insurers.</a:t>
                      </a:r>
                    </a:p>
                  </a:txBody>
                  <a:tcPr marL="54864" marR="54864" marT="27432" marB="27432">
                    <a:solidFill>
                      <a:srgbClr val="E5F5FF"/>
                    </a:solidFill>
                  </a:tcPr>
                </a:tc>
              </a:tr>
              <a:tr h="480057">
                <a:tc>
                  <a:txBody>
                    <a:bodyPr/>
                    <a:lstStyle/>
                    <a:p>
                      <a:r>
                        <a:rPr sz="850" b="0">
                          <a:solidFill>
                            <a:srgbClr val="4B4B4B"/>
                          </a:solidFill>
                          <a:latin typeface="Arial"/>
                        </a:rPr>
                        <a:t>25</a:t>
                      </a:r>
                    </a:p>
                  </a:txBody>
                  <a:tcPr marL="54864" marR="54864" marT="27432" marB="27432">
                    <a:solidFill>
                      <a:srgbClr val="FFFFFF"/>
                    </a:solidFill>
                  </a:tcPr>
                </a:tc>
                <a:tc>
                  <a:txBody>
                    <a:bodyPr/>
                    <a:lstStyle/>
                    <a:p>
                      <a:r>
                        <a:rPr sz="850" b="0">
                          <a:solidFill>
                            <a:srgbClr val="4B4B4B"/>
                          </a:solidFill>
                          <a:latin typeface="Arial"/>
                        </a:rPr>
                        <a:t>5. Review</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Client, product, insurer, period, valid until, risk items, accounts (risk groups), direct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Client and product chosen</a:t>
                      </a:r>
                    </a:p>
                  </a:txBody>
                  <a:tcPr marL="54864" marR="54864" marT="27432" marB="27432">
                    <a:solidFill>
                      <a:srgbClr val="FFFFFF"/>
                    </a:solidFill>
                  </a:tcPr>
                </a:tc>
                <a:tc>
                  <a:txBody>
                    <a:bodyPr/>
                    <a:lstStyle/>
                    <a:p>
                      <a:r>
                        <a:rPr sz="850" b="0">
                          <a:solidFill>
                            <a:srgbClr val="4B4B4B"/>
                          </a:solidFill>
                          <a:latin typeface="Arial"/>
                        </a:rPr>
                        <a:t>Saves the draft; the first save gives the Quotation No. (QT-yyyy-nnnnnn) and the ARN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Next / Back</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Moves between steps; Next checks the step first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for Review</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Step 5, client and product chosen</a:t>
                      </a:r>
                    </a:p>
                  </a:txBody>
                  <a:tcPr marL="54864" marR="54864" marT="27432" marB="27432">
                    <a:solidFill>
                      <a:srgbClr val="FFFFFF"/>
                    </a:solidFill>
                  </a:tcPr>
                </a:tc>
                <a:tc>
                  <a:txBody>
                    <a:bodyPr/>
                    <a:lstStyle/>
                    <a:p>
                      <a:r>
                        <a:rPr sz="850" b="0">
                          <a:solidFill>
                            <a:srgbClr val="4B4B4B"/>
                          </a:solidFill>
                          <a:latin typeface="Arial"/>
                        </a:rPr>
                        <a:t>Saves, checks items, premium and validity, freezes the version and sends it for approval</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prospect is enough to quote; the client must be confirmed before accounts are created (FR-NB-041, FR-NB-045).</a:t>
                      </a:r>
                    </a:p>
                  </a:txBody>
                  <a:tcPr marL="54864" marR="54864" marT="27432" marB="27432">
                    <a:solidFill>
                      <a:srgbClr val="FFFFFF"/>
                    </a:solidFill>
                  </a:tcPr>
                </a:tc>
              </a:tr>
              <a:tr h="243840">
                <a:tc>
                  <a:txBody>
                    <a:bodyPr/>
                    <a:lstStyle/>
                    <a:p>
                      <a:r>
                        <a:rPr sz="1000" b="0">
                          <a:solidFill>
                            <a:srgbClr val="4B4B4B"/>
                          </a:solidFill>
                          <a:latin typeface="Arial"/>
                        </a:rPr>
                        <a:t>The premium is computed on the server with the rates and taxes in force (Appendix A) and stored with the version (FR-NB-041, FR-NB-062).</a:t>
                      </a:r>
                    </a:p>
                  </a:txBody>
                  <a:tcPr marL="54864" marR="54864" marT="27432" marB="27432">
                    <a:solidFill>
                      <a:srgbClr val="E5F5FF"/>
                    </a:solidFill>
                  </a:tcPr>
                </a:tc>
              </a:tr>
              <a:tr h="243840">
                <a:tc>
                  <a:txBody>
                    <a:bodyPr/>
                    <a:lstStyle/>
                    <a:p>
                      <a:r>
                        <a:rPr sz="1000" b="0">
                          <a:solidFill>
                            <a:srgbClr val="4B4B4B"/>
                          </a:solidFill>
                          <a:latin typeface="Arial"/>
                        </a:rPr>
                        <a:t>The quotation keeps one ARN from the first save to the invoice (FR-NB-047).</a:t>
                      </a:r>
                    </a:p>
                  </a:txBody>
                  <a:tcPr marL="54864" marR="54864" marT="27432" marB="27432">
                    <a:solidFill>
                      <a:srgbClr val="FFFFFF"/>
                    </a:solidFill>
                  </a:tcPr>
                </a:tc>
              </a:tr>
              <a:tr h="243840">
                <a:tc>
                  <a:txBody>
                    <a:bodyPr/>
                    <a:lstStyle/>
                    <a:p>
                      <a:r>
                        <a:rPr sz="1000" b="0">
                          <a:solidFill>
                            <a:srgbClr val="4B4B4B"/>
                          </a:solidFill>
                          <a:latin typeface="Arial"/>
                        </a:rPr>
                        <a:t>Each submission freezes its version; a later change opens version n+1 (FR-NB-042).</a:t>
                      </a:r>
                    </a:p>
                  </a:txBody>
                  <a:tcPr marL="54864" marR="54864" marT="27432" marB="27432">
                    <a:solidFill>
                      <a:srgbClr val="E5F5FF"/>
                    </a:solidFill>
                  </a:tcPr>
                </a:tc>
              </a:tr>
              <a:tr h="243840">
                <a:tc>
                  <a:txBody>
                    <a:bodyPr/>
                    <a:lstStyle/>
                    <a:p>
                      <a:r>
                        <a:rPr sz="1000" b="0">
                          <a:solidFill>
                            <a:srgbClr val="4B4B4B"/>
                          </a:solidFill>
                          <a:latin typeface="Arial"/>
                        </a:rPr>
                        <a:t>A TSU routing rule is shown as a notice; the risk can be moved to a PRF (FR-NB-005).</a:t>
                      </a:r>
                    </a:p>
                  </a:txBody>
                  <a:tcPr marL="54864" marR="54864" marT="27432" marB="27432">
                    <a:solidFill>
                      <a:srgbClr val="FFFFFF"/>
                    </a:solidFill>
                  </a:tcPr>
                </a:tc>
              </a:tr>
            </a:tbl>
          </a:graphicData>
        </a:graphic>
      </p:graphicFrame>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graphicFrame>
        <p:nvGraphicFramePr>
          <p:cNvPr id="9" name="Table 8"/>
          <p:cNvGraphicFramePr>
            <a:graphicFrameLocks noGrp="1"/>
          </p:cNvGraphicFramePr>
          <p:nvPr/>
        </p:nvGraphicFramePr>
        <p:xfrm>
          <a:off x="548640" y="1325880"/>
          <a:ext cx="11094413" cy="7315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50292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Clicks Generate Quotation, checks the market segment taken from the client, chooses PAR01, the insurer and its branch, adds the location with its sum insured, reviews the live premium and clicks Submit for Review</a:t>
                      </a:r>
                    </a:p>
                  </a:txBody>
                  <a:tcPr marL="54864" marR="54864" marT="27432" marB="27432">
                    <a:solidFill>
                      <a:srgbClr val="FFFFFF"/>
                    </a:solidFill>
                  </a:tcPr>
                </a:tc>
                <a:tc>
                  <a:txBody>
                    <a:bodyPr/>
                    <a:lstStyle/>
                    <a:p>
                      <a:r>
                        <a:rPr sz="900" b="0">
                          <a:solidFill>
                            <a:srgbClr val="4B4B4B"/>
                          </a:solidFill>
                          <a:latin typeface="Arial"/>
                        </a:rPr>
                        <a:t>SCR-NB-06_wt-a-step-05.png</a:t>
                      </a:r>
                    </a:p>
                  </a:txBody>
                  <a:tcPr marL="54864" marR="54864" marT="27432" marB="27432">
                    <a:solidFill>
                      <a:srgbClr val="FFFFFF"/>
                    </a:solidFill>
                  </a:tcPr>
                </a:tc>
              </a:tr>
            </a:tbl>
          </a:graphicData>
        </a:graphic>
      </p:graphicFrame>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6-02-terms.png"/>
          <p:cNvPicPr>
            <a:picLocks noChangeAspect="1"/>
          </p:cNvPicPr>
          <p:nvPr/>
        </p:nvPicPr>
        <p:blipFill>
          <a:blip r:embed="rId3"/>
          <a:stretch>
            <a:fillRect/>
          </a:stretch>
        </p:blipFill>
        <p:spPr>
          <a:xfrm>
            <a:off x="1383629" y="1261872"/>
            <a:ext cx="942443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Product &amp; Terms</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2.png"/>
          <p:cNvPicPr>
            <a:picLocks noChangeAspect="1"/>
          </p:cNvPicPr>
          <p:nvPr/>
        </p:nvPicPr>
        <p:blipFill>
          <a:blip r:embed="rId3"/>
          <a:stretch>
            <a:fillRect/>
          </a:stretch>
        </p:blipFill>
        <p:spPr>
          <a:xfrm>
            <a:off x="548640" y="1261872"/>
            <a:ext cx="11094415" cy="45716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Risk Items with the live premium (part 1 of 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Risk Items with the live premium (part 2 of 3)</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4.png"/>
          <p:cNvPicPr>
            <a:picLocks noChangeAspect="1"/>
          </p:cNvPicPr>
          <p:nvPr/>
        </p:nvPicPr>
        <p:blipFill>
          <a:blip r:embed="rId3"/>
          <a:stretch>
            <a:fillRect/>
          </a:stretch>
        </p:blipFill>
        <p:spPr>
          <a:xfrm>
            <a:off x="548640" y="1261872"/>
            <a:ext cx="11094415" cy="19319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Risk Items with the live premium (part 3 of 3)</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New Quotation and Edit Quotation: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2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 when the user leaves Risk Items without an item (part 1 of 2)</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SCR-NB-06 New Quotation and Edit Quotation: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26.png"/>
          <p:cNvPicPr>
            <a:picLocks noChangeAspect="1"/>
          </p:cNvPicPr>
          <p:nvPr/>
        </p:nvPicPr>
        <p:blipFill>
          <a:blip r:embed="rId3"/>
          <a:stretch>
            <a:fillRect/>
          </a:stretch>
        </p:blipFill>
        <p:spPr>
          <a:xfrm>
            <a:off x="548640" y="1261872"/>
            <a:ext cx="11094415" cy="20754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 when the user leaves Risk Items without an item (part 2 of 2)</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SCR-NB-06 New Quotation and Edit Quotation: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cr-nb-06-01-empty.png"/>
          <p:cNvPicPr>
            <a:picLocks noChangeAspect="1"/>
          </p:cNvPicPr>
          <p:nvPr/>
        </p:nvPicPr>
        <p:blipFill>
          <a:blip r:embed="rId3"/>
          <a:stretch>
            <a:fillRect/>
          </a:stretch>
        </p:blipFill>
        <p:spPr>
          <a:xfrm>
            <a:off x="590390" y="1261872"/>
            <a:ext cx="1101091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Quotation, step 1 Client</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graphicFrame>
        <p:nvGraphicFramePr>
          <p:cNvPr id="10" name="Table 9"/>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quotation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quotation with its Quotation No., ARN, status and version selector, the client's instructions, the rate scheme panel, the workflow panel with the business actions, and tabs for details, items and premium, versions and their differences, documents, e-mails and history.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Quotations › Quotation</a:t>
                      </a:r>
                    </a:p>
                    <a:p>
                      <a:r>
                        <a:rPr sz="950" b="0">
                          <a:solidFill>
                            <a:srgbClr val="4B4B4B"/>
                          </a:solidFill>
                          <a:latin typeface="Arial"/>
                        </a:rPr>
                        <a:t>Quotations › open a row</a:t>
                      </a:r>
                    </a:p>
                    <a:p>
                      <a:r>
                        <a:rPr sz="950" b="0">
                          <a:solidFill>
                            <a:srgbClr val="4B4B4B"/>
                          </a:solidFill>
                          <a:latin typeface="Arial"/>
                        </a:rPr>
                        <a:t>Client record › Quotation tab</a:t>
                      </a:r>
                    </a:p>
                    <a:p>
                      <a:r>
                        <a:rPr sz="950" b="0">
                          <a:solidFill>
                            <a:srgbClr val="4B4B4B"/>
                          </a:solidFill>
                          <a:latin typeface="Arial"/>
                        </a:rPr>
                        <a:t>My Work and notification links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FR-NB-042, FR-NB-043, FR-NB-044, FR-NB-045, FR-NB-012, FR-NB-013, FR-NB-014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accepted quotation is converted into draft accounts under its ARN, ready for Marketing to complete and submit to Processing.</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(10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Version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v1 ... vn, current marked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Client, Product, Insurer, Period, Valid until, Gross premium</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Direct Payment / TSU Rule Applies tags</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Rate Exceptions card</a:t>
                      </a:r>
                    </a:p>
                  </a:txBody>
                  <a:tcPr marL="54864" marR="54864" marT="27432" marB="27432">
                    <a:solidFill>
                      <a:srgbClr val="E5F5FF"/>
                    </a:solidFill>
                  </a:tcPr>
                </a:tc>
                <a:tc>
                  <a:txBody>
                    <a:bodyPr/>
                    <a:lstStyle/>
                    <a:p>
                      <a:r>
                        <a:rPr sz="850" b="0">
                          <a:solidFill>
                            <a:srgbClr val="4B4B4B"/>
                          </a:solidFill>
                          <a:latin typeface="Arial"/>
                        </a:rPr>
                        <a:t>Priced on package version n</a:t>
                      </a:r>
                    </a:p>
                  </a:txBody>
                  <a:tcPr marL="54864" marR="54864" marT="27432" marB="27432">
                    <a:solidFill>
                      <a:srgbClr val="E5F5FF"/>
                    </a:solidFill>
                  </a:tcPr>
                </a:tc>
                <a:tc>
                  <a:txBody>
                    <a:bodyPr/>
                    <a:lstStyle/>
                    <a:p>
                      <a:r>
                        <a:rPr sz="850" b="0">
                          <a:solidFill>
                            <a:srgbClr val="4B4B4B"/>
                          </a:solidFill>
                          <a:latin typeface="Arial"/>
                        </a:rPr>
                        <a:t>Notice</a:t>
                      </a:r>
                    </a:p>
                  </a:txBody>
                  <a:tcPr marL="54864" marR="54864" marT="27432" marB="27432">
                    <a:solidFill>
                      <a:srgbClr val="E5F5FF"/>
                    </a:solidFill>
                  </a:tcPr>
                </a:tc>
                <a:tc>
                  <a:txBody>
                    <a:bodyPr/>
                    <a:lstStyle/>
                    <a:p>
                      <a:r>
                        <a:rPr sz="850" b="0">
                          <a:solidFill>
                            <a:srgbClr val="4B4B4B"/>
                          </a:solidFill>
                          <a:latin typeface="Arial"/>
                        </a:rPr>
                        <a:t>Shown when an item rate differs from the scheme rate or a rate exception exists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Submission needs an approved rate exception when a rate differs</a:t>
                      </a:r>
                    </a:p>
                  </a:txBody>
                  <a:tcPr marL="54864" marR="54864" marT="27432" marB="27432">
                    <a:solidFill>
                      <a:srgbClr val="E5F5FF"/>
                    </a:solidFill>
                  </a:tcPr>
                </a:tc>
                <a:tc>
                  <a:txBody>
                    <a:bodyPr/>
                    <a:lstStyle/>
                    <a:p>
                      <a:r>
                        <a:rPr sz="850" b="0">
                          <a:solidFill>
                            <a:srgbClr val="4B4B4B"/>
                          </a:solidFill>
                          <a:latin typeface="Arial"/>
                        </a:rPr>
                        <a:t>The quotation is priced on version &lt;n&gt; of &lt;product&gt;; version &lt;m&gt; is current: save the quotation again to re-price it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Rate Exceptions card</a:t>
                      </a:r>
                    </a:p>
                  </a:txBody>
                  <a:tcPr marL="54864" marR="54864" marT="27432" marB="27432">
                    <a:solidFill>
                      <a:srgbClr val="FFFFFF"/>
                    </a:solidFill>
                  </a:tcPr>
                </a:tc>
                <a:tc>
                  <a:txBody>
                    <a:bodyPr/>
                    <a:lstStyle/>
                    <a:p>
                      <a:r>
                        <a:rPr sz="850" b="0">
                          <a:solidFill>
                            <a:srgbClr val="4B4B4B"/>
                          </a:solidFill>
                          <a:latin typeface="Arial"/>
                        </a:rPr>
                        <a:t>Rate exceptions table</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One row per exception: Exception No., Requested Rate (%), Scheme Rate (%), Difference (%), Valid Until, Requested By, Decided By,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Quotation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Quotation No., ARN, client, client e-mail, product, segment, channel, insurer and branch, period, valid until, premium payment, remarks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Control</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Intake template, version (open or submitted), created, submitted, approved, sent, accepted, accepted risk groups,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Items &amp; Premium tab</a:t>
                      </a:r>
                    </a:p>
                  </a:txBody>
                  <a:tcPr marL="54864" marR="54864" marT="27432" marB="27432">
                    <a:solidFill>
                      <a:srgbClr val="E5F5FF"/>
                    </a:solidFill>
                  </a:tcPr>
                </a:tc>
                <a:tc>
                  <a:txBody>
                    <a:bodyPr/>
                    <a:lstStyle/>
                    <a:p>
                      <a:r>
                        <a:rPr sz="850" b="0">
                          <a:solidFill>
                            <a:srgbClr val="4B4B4B"/>
                          </a:solidFill>
                          <a:latin typeface="Arial"/>
                        </a:rPr>
                        <a:t>Risk items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 Risk Group, Risk, Sum Insured, Rate %, Premium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Items &amp; Premium tab</a:t>
                      </a:r>
                    </a:p>
                  </a:txBody>
                  <a:tcPr marL="54864" marR="54864" marT="27432" marB="27432">
                    <a:solidFill>
                      <a:srgbClr val="FFFFFF"/>
                    </a:solidFill>
                  </a:tcPr>
                </a:tc>
                <a:tc>
                  <a:txBody>
                    <a:bodyPr/>
                    <a:lstStyle/>
                    <a:p>
                      <a:r>
                        <a:rPr sz="850" b="0">
                          <a:solidFill>
                            <a:srgbClr val="4B4B4B"/>
                          </a:solidFill>
                          <a:latin typeface="Arial"/>
                        </a:rPr>
                        <a:t>Premium</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Appendix A breakdown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Versions tab</a:t>
                      </a:r>
                    </a:p>
                  </a:txBody>
                  <a:tcPr marL="54864" marR="54864" marT="27432" marB="27432">
                    <a:solidFill>
                      <a:srgbClr val="E5F5FF"/>
                    </a:solidFill>
                  </a:tcPr>
                </a:tc>
                <a:tc>
                  <a:txBody>
                    <a:bodyPr/>
                    <a:lstStyle/>
                    <a:p>
                      <a:r>
                        <a:rPr sz="850" b="0">
                          <a:solidFill>
                            <a:srgbClr val="4B4B4B"/>
                          </a:solidFill>
                          <a:latin typeface="Arial"/>
                        </a:rPr>
                        <a:t>Versions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Version, State, Sum Insured, Gross Premium, Submitted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Versions tab</a:t>
                      </a:r>
                    </a:p>
                  </a:txBody>
                  <a:tcPr marL="54864" marR="54864" marT="27432" marB="27432">
                    <a:solidFill>
                      <a:srgbClr val="FFFFFF"/>
                    </a:solidFill>
                  </a:tcPr>
                </a:tc>
                <a:tc>
                  <a:txBody>
                    <a:bodyPr/>
                    <a:lstStyle/>
                    <a:p>
                      <a:r>
                        <a:rPr sz="850" b="0">
                          <a:solidFill>
                            <a:srgbClr val="4B4B4B"/>
                          </a:solidFill>
                          <a:latin typeface="Arial"/>
                        </a:rPr>
                        <a:t>Compare versions (From, To)</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Changed terms and item changes with the gross premium difference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graphicFrame>
        <p:nvGraphicFramePr>
          <p:cNvPr id="9" name="Table 8"/>
          <p:cNvGraphicFramePr>
            <a:graphicFrameLocks noGrp="1"/>
          </p:cNvGraphicFramePr>
          <p:nvPr/>
        </p:nvGraphicFramePr>
        <p:xfrm>
          <a:off x="548640" y="1325880"/>
          <a:ext cx="11094411" cy="363471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Documents tab</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E-mails tab</a:t>
                      </a:r>
                    </a:p>
                  </a:txBody>
                  <a:tcPr marL="54864" marR="54864" marT="27432" marB="27432">
                    <a:solidFill>
                      <a:srgbClr val="E5F5FF"/>
                    </a:solidFill>
                  </a:tcPr>
                </a:tc>
                <a:tc>
                  <a:txBody>
                    <a:bodyPr/>
                    <a:lstStyle/>
                    <a:p>
                      <a:r>
                        <a:rPr sz="850" b="0">
                          <a:solidFill>
                            <a:srgbClr val="4B4B4B"/>
                          </a:solidFill>
                          <a:latin typeface="Arial"/>
                        </a:rPr>
                        <a:t>E-mails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Sent and queued e-mails of the quotation with their outcome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History tab</a:t>
                      </a:r>
                    </a:p>
                  </a:txBody>
                  <a:tcPr marL="54864" marR="54864" marT="27432" marB="27432">
                    <a:solidFill>
                      <a:srgbClr val="FFFFFF"/>
                    </a:solidFill>
                  </a:tcPr>
                </a:tc>
                <a:tc>
                  <a:txBody>
                    <a:bodyPr/>
                    <a:lstStyle/>
                    <a:p>
                      <a:r>
                        <a:rPr sz="850" b="0">
                          <a:solidFill>
                            <a:srgbClr val="4B4B4B"/>
                          </a:solidFill>
                          <a:latin typeface="Arial"/>
                        </a:rPr>
                        <a:t>History</a:t>
                      </a:r>
                    </a:p>
                  </a:txBody>
                  <a:tcPr marL="54864" marR="54864" marT="27432" marB="27432">
                    <a:solidFill>
                      <a:srgbClr val="FFFFFF"/>
                    </a:solidFill>
                  </a:tcPr>
                </a:tc>
                <a:tc>
                  <a:txBody>
                    <a:bodyPr/>
                    <a:lstStyle/>
                    <a:p>
                      <a:r>
                        <a:rPr sz="850" b="0">
                          <a:solidFill>
                            <a:srgbClr val="4B4B4B"/>
                          </a:solidFill>
                          <a:latin typeface="Arial"/>
                        </a:rPr>
                        <a:t>Timeline</a:t>
                      </a:r>
                    </a:p>
                  </a:txBody>
                  <a:tcPr marL="54864" marR="54864" marT="27432" marB="27432">
                    <a:solidFill>
                      <a:srgbClr val="FFFFFF"/>
                    </a:solidFill>
                  </a:tcPr>
                </a:tc>
                <a:tc>
                  <a:txBody>
                    <a:bodyPr/>
                    <a:lstStyle/>
                    <a:p>
                      <a:r>
                        <a:rPr sz="850" b="0">
                          <a:solidFill>
                            <a:srgbClr val="4B4B4B"/>
                          </a:solidFill>
                          <a:latin typeface="Arial"/>
                        </a:rPr>
                        <a:t>Stage, action, user, time, reason and comment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Send via Email dialog</a:t>
                      </a:r>
                    </a:p>
                  </a:txBody>
                  <a:tcPr marL="54864" marR="54864" marT="27432" marB="27432">
                    <a:solidFill>
                      <a:srgbClr val="E5F5FF"/>
                    </a:solidFill>
                  </a:tcPr>
                </a:tc>
                <a:tc>
                  <a:txBody>
                    <a:bodyPr/>
                    <a:lstStyle/>
                    <a:p>
                      <a:r>
                        <a:rPr sz="850" b="0">
                          <a:solidFill>
                            <a:srgbClr val="4B4B4B"/>
                          </a:solidFill>
                          <a:latin typeface="Arial"/>
                        </a:rPr>
                        <a:t>To, Cc, Subject, Message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Separate several addresses with commas</a:t>
                      </a:r>
                    </a:p>
                  </a:txBody>
                  <a:tcPr marL="54864" marR="54864" marT="27432" marB="27432">
                    <a:solidFill>
                      <a:srgbClr val="E5F5FF"/>
                    </a:solidFill>
                  </a:tcPr>
                </a:tc>
                <a:tc>
                  <a:txBody>
                    <a:bodyPr/>
                    <a:lstStyle/>
                    <a:p>
                      <a:r>
                        <a:rPr sz="850" b="0">
                          <a:solidFill>
                            <a:srgbClr val="4B4B4B"/>
                          </a:solidFill>
                          <a:latin typeface="Arial"/>
                        </a:rPr>
                        <a:t>To, Subject and Message Y</a:t>
                      </a:r>
                    </a:p>
                  </a:txBody>
                  <a:tcPr marL="54864" marR="54864" marT="27432" marB="27432">
                    <a:solidFill>
                      <a:srgbClr val="E5F5FF"/>
                    </a:solidFill>
                  </a:tcPr>
                </a:tc>
                <a:tc>
                  <a:txBody>
                    <a:bodyPr/>
                    <a:lstStyle/>
                    <a:p>
                      <a:r>
                        <a:rPr sz="850" b="0">
                          <a:solidFill>
                            <a:srgbClr val="4B4B4B"/>
                          </a:solidFill>
                          <a:latin typeface="Arial"/>
                        </a:rPr>
                        <a:t>At least one valid address</a:t>
                      </a:r>
                    </a:p>
                  </a:txBody>
                  <a:tcPr marL="54864" marR="54864" marT="27432" marB="27432">
                    <a:solidFill>
                      <a:srgbClr val="E5F5FF"/>
                    </a:solidFill>
                  </a:tcPr>
                </a:tc>
                <a:tc>
                  <a:txBody>
                    <a:bodyPr/>
                    <a:lstStyle/>
                    <a:p>
                      <a:r>
                        <a:rPr sz="850" b="0">
                          <a:solidFill>
                            <a:srgbClr val="4B4B4B"/>
                          </a:solidFill>
                          <a:latin typeface="Arial"/>
                        </a:rPr>
                        <a:t>Enter at least one recipient / Invalid e-mail address: &lt;address&gt;</a:t>
                      </a:r>
                    </a:p>
                  </a:txBody>
                  <a:tcPr marL="54864" marR="54864" marT="27432" marB="27432">
                    <a:solidFill>
                      <a:srgbClr val="E5F5FF"/>
                    </a:solidFill>
                  </a:tcPr>
                </a:tc>
              </a:tr>
              <a:tr h="220979">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Send via Email dialog</a:t>
                      </a:r>
                    </a:p>
                  </a:txBody>
                  <a:tcPr marL="54864" marR="54864" marT="27432" marB="27432">
                    <a:solidFill>
                      <a:srgbClr val="FFFFFF"/>
                    </a:solidFill>
                  </a:tcPr>
                </a:tc>
                <a:tc>
                  <a:txBody>
                    <a:bodyPr/>
                    <a:lstStyle/>
                    <a:p>
                      <a:r>
                        <a:rPr sz="850" b="0">
                          <a:solidFill>
                            <a:srgbClr val="4B4B4B"/>
                          </a:solidFill>
                          <a:latin typeface="Arial"/>
                        </a:rPr>
                        <a:t>Password hint for the recipient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Record Acceptance dialog</a:t>
                      </a:r>
                    </a:p>
                  </a:txBody>
                  <a:tcPr marL="54864" marR="54864" marT="27432" marB="27432">
                    <a:solidFill>
                      <a:srgbClr val="E5F5FF"/>
                    </a:solidFill>
                  </a:tcPr>
                </a:tc>
                <a:tc>
                  <a:txBody>
                    <a:bodyPr/>
                    <a:lstStyle/>
                    <a:p>
                      <a:r>
                        <a:rPr sz="850" b="0">
                          <a:solidFill>
                            <a:srgbClr val="4B4B4B"/>
                          </a:solidFill>
                          <a:latin typeface="Arial"/>
                        </a:rPr>
                        <a:t>Client's acceptance e-mail</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.eml, .msg or PDF</a:t>
                      </a:r>
                    </a:p>
                  </a:txBody>
                  <a:tcPr marL="54864" marR="54864" marT="27432" marB="27432">
                    <a:solidFill>
                      <a:srgbClr val="E5F5FF"/>
                    </a:solidFill>
                  </a:tcPr>
                </a:tc>
                <a:tc>
                  <a:txBody>
                    <a:bodyPr/>
                    <a:lstStyle/>
                    <a:p>
                      <a:r>
                        <a:rPr sz="850" b="0">
                          <a:solidFill>
                            <a:srgbClr val="4B4B4B"/>
                          </a:solidFill>
                          <a:latin typeface="Arial"/>
                        </a:rPr>
                        <a:t>Cond.: unless already attached</a:t>
                      </a:r>
                    </a:p>
                  </a:txBody>
                  <a:tcPr marL="54864" marR="54864" marT="27432" marB="27432">
                    <a:solidFill>
                      <a:srgbClr val="E5F5FF"/>
                    </a:solidFill>
                  </a:tcPr>
                </a:tc>
                <a:tc>
                  <a:txBody>
                    <a:bodyPr/>
                    <a:lstStyle/>
                    <a:p>
                      <a:r>
                        <a:rPr sz="850" b="0">
                          <a:solidFill>
                            <a:srgbClr val="4B4B4B"/>
                          </a:solidFill>
                          <a:latin typeface="Arial"/>
                        </a:rPr>
                        <a:t>The acceptance e-mail is attached before acceptance is recorded</a:t>
                      </a:r>
                    </a:p>
                  </a:txBody>
                  <a:tcPr marL="54864" marR="54864" marT="27432" marB="27432">
                    <a:solidFill>
                      <a:srgbClr val="E5F5FF"/>
                    </a:solidFill>
                  </a:tcPr>
                </a:tc>
                <a:tc>
                  <a:txBody>
                    <a:bodyPr/>
                    <a:lstStyle/>
                    <a:p>
                      <a:r>
                        <a:rPr sz="850" b="0">
                          <a:solidFill>
                            <a:srgbClr val="4B4B4B"/>
                          </a:solidFill>
                          <a:latin typeface="Arial"/>
                        </a:rPr>
                        <a:t>Attach the client's acceptance e-mail (document type Client acceptance e-mail) first</a:t>
                      </a:r>
                    </a:p>
                  </a:txBody>
                  <a:tcPr marL="54864" marR="54864" marT="27432" marB="27432">
                    <a:solidFill>
                      <a:srgbClr val="E5F5FF"/>
                    </a:solidFill>
                  </a:tcPr>
                </a:tc>
              </a:tr>
              <a:tr h="350518">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Record Acceptance dialog</a:t>
                      </a:r>
                    </a:p>
                  </a:txBody>
                  <a:tcPr marL="54864" marR="54864" marT="27432" marB="27432">
                    <a:solidFill>
                      <a:srgbClr val="FFFFFF"/>
                    </a:solidFill>
                  </a:tcPr>
                </a:tc>
                <a:tc>
                  <a:txBody>
                    <a:bodyPr/>
                    <a:lstStyle/>
                    <a:p>
                      <a:r>
                        <a:rPr sz="850" b="0">
                          <a:solidFill>
                            <a:srgbClr val="4B4B4B"/>
                          </a:solidFill>
                          <a:latin typeface="Arial"/>
                        </a:rPr>
                        <a:t>Risk groups accepted</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One per risk group; shown with 2 or more groups</a:t>
                      </a:r>
                    </a:p>
                  </a:txBody>
                  <a:tcPr marL="54864" marR="54864" marT="27432" marB="27432">
                    <a:solidFill>
                      <a:srgbClr val="FFFFFF"/>
                    </a:solidFill>
                  </a:tcPr>
                </a:tc>
                <a:tc>
                  <a:txBody>
                    <a:bodyPr/>
                    <a:lstStyle/>
                    <a:p>
                      <a:r>
                        <a:rPr sz="850" b="0">
                          <a:solidFill>
                            <a:srgbClr val="4B4B4B"/>
                          </a:solidFill>
                          <a:latin typeface="Arial"/>
                        </a:rPr>
                        <a:t>Y (at least one)</a:t>
                      </a:r>
                    </a:p>
                  </a:txBody>
                  <a:tcPr marL="54864" marR="54864" marT="27432" marB="27432">
                    <a:solidFill>
                      <a:srgbClr val="FFFFFF"/>
                    </a:solidFill>
                  </a:tcPr>
                </a:tc>
                <a:tc>
                  <a:txBody>
                    <a:bodyPr/>
                    <a:lstStyle/>
                    <a:p>
                      <a:r>
                        <a:rPr sz="850" b="0">
                          <a:solidFill>
                            <a:srgbClr val="4B4B4B"/>
                          </a:solidFill>
                          <a:latin typeface="Arial"/>
                        </a:rPr>
                        <a:t>Only the offered groups</a:t>
                      </a:r>
                    </a:p>
                  </a:txBody>
                  <a:tcPr marL="54864" marR="54864" marT="27432" marB="27432">
                    <a:solidFill>
                      <a:srgbClr val="FFFFFF"/>
                    </a:solidFill>
                  </a:tcPr>
                </a:tc>
                <a:tc>
                  <a:txBody>
                    <a:bodyPr/>
                    <a:lstStyle/>
                    <a:p>
                      <a:r>
                        <a:rPr sz="850" b="0">
                          <a:solidFill>
                            <a:srgbClr val="4B4B4B"/>
                          </a:solidFill>
                          <a:latin typeface="Arial"/>
                        </a:rPr>
                        <a:t>The quotation offers risk groups &lt;groups&gt; only</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Record Acceptance dialog</a:t>
                      </a:r>
                    </a:p>
                  </a:txBody>
                  <a:tcPr marL="54864" marR="54864" marT="27432" marB="27432">
                    <a:solidFill>
                      <a:srgbClr val="E5F5FF"/>
                    </a:solidFill>
                  </a:tcPr>
                </a:tc>
                <a:tc>
                  <a:txBody>
                    <a:bodyPr/>
                    <a:lstStyle/>
                    <a:p>
                      <a:r>
                        <a:rPr sz="850" b="0">
                          <a:solidFill>
                            <a:srgbClr val="4B4B4B"/>
                          </a:solidFill>
                          <a:latin typeface="Arial"/>
                        </a:rPr>
                        <a:t>Comment</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Rate exception dialog</a:t>
                      </a:r>
                    </a:p>
                  </a:txBody>
                  <a:tcPr marL="54864" marR="54864" marT="27432" marB="27432">
                    <a:solidFill>
                      <a:srgbClr val="FFFFFF"/>
                    </a:solidFill>
                  </a:tcPr>
                </a:tc>
                <a:tc>
                  <a:txBody>
                    <a:bodyPr/>
                    <a:lstStyle/>
                    <a:p>
                      <a:r>
                        <a:rPr sz="850" b="0">
                          <a:solidFill>
                            <a:srgbClr val="4B4B4B"/>
                          </a:solidFill>
                          <a:latin typeface="Arial"/>
                        </a:rPr>
                        <a:t>Item rate %, Valid until, Reason</a:t>
                      </a:r>
                    </a:p>
                  </a:txBody>
                  <a:tcPr marL="54864" marR="54864" marT="27432" marB="27432">
                    <a:solidFill>
                      <a:srgbClr val="FFFFFF"/>
                    </a:solidFill>
                  </a:tcPr>
                </a:tc>
                <a:tc>
                  <a:txBody>
                    <a:bodyPr/>
                    <a:lstStyle/>
                    <a:p>
                      <a:r>
                        <a:rPr sz="850" b="0">
                          <a:solidFill>
                            <a:srgbClr val="4B4B4B"/>
                          </a:solidFill>
                          <a:latin typeface="Arial"/>
                        </a:rPr>
                        <a:t>Number / Date / Text</a:t>
                      </a:r>
                    </a:p>
                  </a:txBody>
                  <a:tcPr marL="54864" marR="54864" marT="27432" marB="27432">
                    <a:solidFill>
                      <a:srgbClr val="FFFFFF"/>
                    </a:solidFill>
                  </a:tcPr>
                </a:tc>
                <a:tc>
                  <a:txBody>
                    <a:bodyPr/>
                    <a:lstStyle/>
                    <a:p>
                      <a:r>
                        <a:rPr sz="850" b="0">
                          <a:solidFill>
                            <a:srgbClr val="4B4B4B"/>
                          </a:solidFill>
                          <a:latin typeface="Arial"/>
                        </a:rPr>
                        <a:t>Rate 0-100</a:t>
                      </a:r>
                    </a:p>
                  </a:txBody>
                  <a:tcPr marL="54864" marR="54864" marT="27432" marB="27432">
                    <a:solidFill>
                      <a:srgbClr val="FFFFFF"/>
                    </a:solidFill>
                  </a:tcPr>
                </a:tc>
                <a:tc>
                  <a:txBody>
                    <a:bodyPr/>
                    <a:lstStyle/>
                    <a:p>
                      <a:r>
                        <a:rPr sz="850" b="0">
                          <a:solidFill>
                            <a:srgbClr val="4B4B4B"/>
                          </a:solidFill>
                          <a:latin typeface="Arial"/>
                        </a:rPr>
                        <a:t>Rate and reason Y</a:t>
                      </a:r>
                    </a:p>
                  </a:txBody>
                  <a:tcPr marL="54864" marR="54864" marT="27432" marB="27432">
                    <a:solidFill>
                      <a:srgbClr val="FFFFFF"/>
                    </a:solidFill>
                  </a:tcPr>
                </a:tc>
                <a:tc>
                  <a:txBody>
                    <a:bodyPr/>
                    <a:lstStyle/>
                    <a:p>
                      <a:r>
                        <a:rPr sz="850" b="0">
                          <a:solidFill>
                            <a:srgbClr val="4B4B4B"/>
                          </a:solidFill>
                          <a:latin typeface="Arial"/>
                        </a:rPr>
                        <a:t>Rate between 0 and 100; reason given</a:t>
                      </a:r>
                    </a:p>
                  </a:txBody>
                  <a:tcPr marL="54864" marR="54864" marT="27432" marB="27432">
                    <a:solidFill>
                      <a:srgbClr val="FFFFFF"/>
                    </a:solidFill>
                  </a:tcPr>
                </a:tc>
                <a:tc>
                  <a:txBody>
                    <a:bodyPr/>
                    <a:lstStyle/>
                    <a:p>
                      <a:r>
                        <a:rPr sz="850" b="0">
                          <a:solidFill>
                            <a:srgbClr val="4B4B4B"/>
                          </a:solidFill>
                          <a:latin typeface="Arial"/>
                        </a:rPr>
                        <a:t>Enter the item rate between 0 and 100 / Explain why the scheme rate cannot be used</a:t>
                      </a:r>
                    </a:p>
                  </a:txBody>
                  <a:tcPr marL="54864" marR="54864" marT="27432" marB="27432">
                    <a:solidFill>
                      <a:srgbClr val="FFFF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graphicFrame>
        <p:nvGraphicFramePr>
          <p:cNvPr id="9" name="Table 8"/>
          <p:cNvGraphicFramePr>
            <a:graphicFrameLocks noGrp="1"/>
          </p:cNvGraphicFramePr>
          <p:nvPr/>
        </p:nvGraphicFramePr>
        <p:xfrm>
          <a:off x="548640" y="1325880"/>
          <a:ext cx="11094412" cy="390903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PDF /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quotation letter (PDF) or schedule (Excel) of the current version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Edit</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Opens the wizard on the 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Submit for review</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See New Quotation</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QUOTE_APPROVE; not the maker or the submitter</a:t>
                      </a:r>
                    </a:p>
                  </a:txBody>
                  <a:tcPr marL="54864" marR="54864" marT="27432" marB="27432">
                    <a:solidFill>
                      <a:srgbClr val="E5F5FF"/>
                    </a:solidFill>
                  </a:tcPr>
                </a:tc>
                <a:tc>
                  <a:txBody>
                    <a:bodyPr/>
                    <a:lstStyle/>
                    <a:p>
                      <a:r>
                        <a:rPr sz="850" b="0">
                          <a:solidFill>
                            <a:srgbClr val="4B4B4B"/>
                          </a:solidFill>
                          <a:latin typeface="Arial"/>
                        </a:rPr>
                        <a:t>For review</a:t>
                      </a:r>
                    </a:p>
                  </a:txBody>
                  <a:tcPr marL="54864" marR="54864" marT="27432" marB="27432">
                    <a:solidFill>
                      <a:srgbClr val="E5F5FF"/>
                    </a:solidFill>
                  </a:tcPr>
                </a:tc>
                <a:tc>
                  <a:txBody>
                    <a:bodyPr/>
                    <a:lstStyle/>
                    <a:p>
                      <a:r>
                        <a:rPr sz="850" b="0">
                          <a:solidFill>
                            <a:srgbClr val="4B4B4B"/>
                          </a:solidFill>
                          <a:latin typeface="Arial"/>
                        </a:rPr>
                        <a:t>Asks for an optional comment and approves the version</a:t>
                      </a:r>
                    </a:p>
                  </a:txBody>
                  <a:tcPr marL="54864" marR="54864" marT="27432" marB="27432">
                    <a:solidFill>
                      <a:srgbClr val="E5F5FF"/>
                    </a:solidFill>
                  </a:tcPr>
                </a:tc>
                <a:tc>
                  <a:txBody>
                    <a:bodyPr/>
                    <a:lstStyle/>
                    <a:p>
                      <a:r>
                        <a:rPr sz="850" b="0">
                          <a:solidFill>
                            <a:srgbClr val="4B4B4B"/>
                          </a:solidFill>
                          <a:latin typeface="Arial"/>
                        </a:rPr>
                        <a:t>Approved</a:t>
                      </a:r>
                    </a:p>
                  </a:txBody>
                  <a:tcPr marL="54864" marR="54864" marT="27432" marB="27432">
                    <a:solidFill>
                      <a:srgbClr val="E5F5FF"/>
                    </a:solidFill>
                  </a:tcPr>
                </a:tc>
                <a:tc>
                  <a:txBody>
                    <a:bodyPr/>
                    <a:lstStyle/>
                    <a:p>
                      <a:r>
                        <a:rPr sz="850" b="0">
                          <a:solidFill>
                            <a:srgbClr val="4B4B4B"/>
                          </a:solidFill>
                          <a:latin typeface="Arial"/>
                        </a:rPr>
                        <a:t>Workflow notice to the maker</a:t>
                      </a:r>
                    </a:p>
                  </a:txBody>
                  <a:tcPr marL="54864" marR="54864" marT="27432" marB="27432">
                    <a:solidFill>
                      <a:srgbClr val="E5F5FF"/>
                    </a:solidFill>
                  </a:tcPr>
                </a:tc>
              </a:tr>
              <a:tr h="350518">
                <a:tc>
                  <a:txBody>
                    <a:bodyPr/>
                    <a:lstStyle/>
                    <a:p>
                      <a:r>
                        <a:rPr sz="850" b="0">
                          <a:solidFill>
                            <a:srgbClr val="4B4B4B"/>
                          </a:solidFill>
                          <a:latin typeface="Arial"/>
                        </a:rPr>
                        <a:t>Return To Maker</a:t>
                      </a:r>
                    </a:p>
                  </a:txBody>
                  <a:tcPr marL="54864" marR="54864" marT="27432" marB="27432">
                    <a:solidFill>
                      <a:srgbClr val="FFFFFF"/>
                    </a:solidFill>
                  </a:tcPr>
                </a:tc>
                <a:tc>
                  <a:txBody>
                    <a:bodyPr/>
                    <a:lstStyle/>
                    <a:p>
                      <a:r>
                        <a:rPr sz="850" b="0">
                          <a:solidFill>
                            <a:srgbClr val="4B4B4B"/>
                          </a:solidFill>
                          <a:latin typeface="Arial"/>
                        </a:rPr>
                        <a:t>QUOTE_APPROVE</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Asks for the return reason and a comment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Workflow notice to the maker with the comment</a:t>
                      </a:r>
                    </a:p>
                  </a:txBody>
                  <a:tcPr marL="54864" marR="54864" marT="27432" marB="27432">
                    <a:solidFill>
                      <a:srgbClr val="FFFFFF"/>
                    </a:solidFill>
                  </a:tcPr>
                </a:tc>
              </a:tr>
              <a:tr h="350518">
                <a:tc>
                  <a:txBody>
                    <a:bodyPr/>
                    <a:lstStyle/>
                    <a:p>
                      <a:r>
                        <a:rPr sz="850" b="0">
                          <a:solidFill>
                            <a:srgbClr val="4B4B4B"/>
                          </a:solidFill>
                          <a:latin typeface="Arial"/>
                        </a:rPr>
                        <a:t>Send via Email</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Approved</a:t>
                      </a:r>
                    </a:p>
                  </a:txBody>
                  <a:tcPr marL="54864" marR="54864" marT="27432" marB="27432">
                    <a:solidFill>
                      <a:srgbClr val="E5F5FF"/>
                    </a:solidFill>
                  </a:tcPr>
                </a:tc>
                <a:tc>
                  <a:txBody>
                    <a:bodyPr/>
                    <a:lstStyle/>
                    <a:p>
                      <a:r>
                        <a:rPr sz="850" b="0">
                          <a:solidFill>
                            <a:srgbClr val="4B4B4B"/>
                          </a:solidFill>
                          <a:latin typeface="Arial"/>
                        </a:rPr>
                        <a:t>Opens the Send via Email dialog; sends the protected PDF and Excel and the password e-mail</a:t>
                      </a:r>
                    </a:p>
                  </a:txBody>
                  <a:tcPr marL="54864" marR="54864" marT="27432" marB="27432">
                    <a:solidFill>
                      <a:srgbClr val="E5F5FF"/>
                    </a:solidFill>
                  </a:tcPr>
                </a:tc>
                <a:tc>
                  <a:txBody>
                    <a:bodyPr/>
                    <a:lstStyle/>
                    <a:p>
                      <a:r>
                        <a:rPr sz="850" b="0">
                          <a:solidFill>
                            <a:srgbClr val="4B4B4B"/>
                          </a:solidFill>
                          <a:latin typeface="Arial"/>
                        </a:rPr>
                        <a:t>Sent to client</a:t>
                      </a:r>
                    </a:p>
                  </a:txBody>
                  <a:tcPr marL="54864" marR="54864" marT="27432" marB="27432">
                    <a:solidFill>
                      <a:srgbClr val="E5F5FF"/>
                    </a:solidFill>
                  </a:tcPr>
                </a:tc>
                <a:tc>
                  <a:txBody>
                    <a:bodyPr/>
                    <a:lstStyle/>
                    <a:p>
                      <a:r>
                        <a:rPr sz="850" b="0">
                          <a:solidFill>
                            <a:srgbClr val="4B4B4B"/>
                          </a:solidFill>
                          <a:latin typeface="Arial"/>
                        </a:rPr>
                        <a:t>E-mail to the client and the password e-mail</a:t>
                      </a:r>
                    </a:p>
                  </a:txBody>
                  <a:tcPr marL="54864" marR="54864" marT="27432" marB="27432">
                    <a:solidFill>
                      <a:srgbClr val="E5F5FF"/>
                    </a:solidFill>
                  </a:tcPr>
                </a:tc>
              </a:tr>
              <a:tr h="220979">
                <a:tc>
                  <a:txBody>
                    <a:bodyPr/>
                    <a:lstStyle/>
                    <a:p>
                      <a:r>
                        <a:rPr sz="850" b="0">
                          <a:solidFill>
                            <a:srgbClr val="4B4B4B"/>
                          </a:solidFill>
                          <a:latin typeface="Arial"/>
                        </a:rPr>
                        <a:t>Revise (new version)</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Approved or sent to client</a:t>
                      </a:r>
                    </a:p>
                  </a:txBody>
                  <a:tcPr marL="54864" marR="54864" marT="27432" marB="27432">
                    <a:solidFill>
                      <a:srgbClr val="FFFFFF"/>
                    </a:solidFill>
                  </a:tcPr>
                </a:tc>
                <a:tc>
                  <a:txBody>
                    <a:bodyPr/>
                    <a:lstStyle/>
                    <a:p>
                      <a:r>
                        <a:rPr sz="850" b="0">
                          <a:solidFill>
                            <a:srgbClr val="4B4B4B"/>
                          </a:solidFill>
                          <a:latin typeface="Arial"/>
                        </a:rPr>
                        <a:t>Reopens the quotation as a draft; the next save is version n+1</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Record acceptance</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Sent to client</a:t>
                      </a:r>
                    </a:p>
                  </a:txBody>
                  <a:tcPr marL="54864" marR="54864" marT="27432" marB="27432">
                    <a:solidFill>
                      <a:srgbClr val="E5F5FF"/>
                    </a:solidFill>
                  </a:tcPr>
                </a:tc>
                <a:tc>
                  <a:txBody>
                    <a:bodyPr/>
                    <a:lstStyle/>
                    <a:p>
                      <a:r>
                        <a:rPr sz="850" b="0">
                          <a:solidFill>
                            <a:srgbClr val="4B4B4B"/>
                          </a:solidFill>
                          <a:latin typeface="Arial"/>
                        </a:rPr>
                        <a:t>Opens the Record Acceptance dialog; stores the e-mail and the accepted risk groups</a:t>
                      </a:r>
                    </a:p>
                  </a:txBody>
                  <a:tcPr marL="54864" marR="54864" marT="27432" marB="27432">
                    <a:solidFill>
                      <a:srgbClr val="E5F5FF"/>
                    </a:solidFill>
                  </a:tcPr>
                </a:tc>
                <a:tc>
                  <a:txBody>
                    <a:bodyPr/>
                    <a:lstStyle/>
                    <a:p>
                      <a:r>
                        <a:rPr sz="850" b="0">
                          <a:solidFill>
                            <a:srgbClr val="4B4B4B"/>
                          </a:solidFill>
                          <a:latin typeface="Arial"/>
                        </a:rPr>
                        <a:t>Accepted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220979">
                <a:tc>
                  <a:txBody>
                    <a:bodyPr/>
                    <a:lstStyle/>
                    <a:p>
                      <a:r>
                        <a:rPr sz="850" b="0">
                          <a:solidFill>
                            <a:srgbClr val="4B4B4B"/>
                          </a:solidFill>
                          <a:latin typeface="Arial"/>
                        </a:rPr>
                        <a:t>Client Declined</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Sent to client</a:t>
                      </a:r>
                    </a:p>
                  </a:txBody>
                  <a:tcPr marL="54864" marR="54864" marT="27432" marB="27432">
                    <a:solidFill>
                      <a:srgbClr val="FFFFFF"/>
                    </a:solidFill>
                  </a:tcPr>
                </a:tc>
                <a:tc>
                  <a:txBody>
                    <a:bodyPr/>
                    <a:lstStyle/>
                    <a:p>
                      <a:r>
                        <a:rPr sz="850" b="0">
                          <a:solidFill>
                            <a:srgbClr val="4B4B4B"/>
                          </a:solidFill>
                          <a:latin typeface="Arial"/>
                        </a:rPr>
                        <a:t>Asks for a comment</a:t>
                      </a:r>
                    </a:p>
                  </a:txBody>
                  <a:tcPr marL="54864" marR="54864" marT="27432" marB="27432">
                    <a:solidFill>
                      <a:srgbClr val="FFFFFF"/>
                    </a:solidFill>
                  </a:tcPr>
                </a:tc>
                <a:tc>
                  <a:txBody>
                    <a:bodyPr/>
                    <a:lstStyle/>
                    <a:p>
                      <a:r>
                        <a:rPr sz="850" b="0">
                          <a:solidFill>
                            <a:srgbClr val="4B4B4B"/>
                          </a:solidFill>
                          <a:latin typeface="Arial"/>
                        </a:rPr>
                        <a:t>Not proceeded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Create accounts</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Accepted; the client is confirmed</a:t>
                      </a:r>
                    </a:p>
                  </a:txBody>
                  <a:tcPr marL="54864" marR="54864" marT="27432" marB="27432">
                    <a:solidFill>
                      <a:srgbClr val="E5F5FF"/>
                    </a:solidFill>
                  </a:tcPr>
                </a:tc>
                <a:tc>
                  <a:txBody>
                    <a:bodyPr/>
                    <a:lstStyle/>
                    <a:p>
                      <a:r>
                        <a:rPr sz="850" b="0">
                          <a:solidFill>
                            <a:srgbClr val="4B4B4B"/>
                          </a:solidFill>
                          <a:latin typeface="Arial"/>
                        </a:rPr>
                        <a:t>Creates one draft account per accepted risk group, all under the quotation's ARN</a:t>
                      </a:r>
                    </a:p>
                  </a:txBody>
                  <a:tcPr marL="54864" marR="54864" marT="27432" marB="27432">
                    <a:solidFill>
                      <a:srgbClr val="E5F5FF"/>
                    </a:solidFill>
                  </a:tcPr>
                </a:tc>
                <a:tc>
                  <a:txBody>
                    <a:bodyPr/>
                    <a:lstStyle/>
                    <a:p>
                      <a:r>
                        <a:rPr sz="850" b="0">
                          <a:solidFill>
                            <a:srgbClr val="4B4B4B"/>
                          </a:solidFill>
                          <a:latin typeface="Arial"/>
                        </a:rPr>
                        <a:t>Converted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Void</a:t>
                      </a:r>
                    </a:p>
                  </a:txBody>
                  <a:tcPr marL="54864" marR="54864" marT="27432" marB="27432">
                    <a:solidFill>
                      <a:srgbClr val="FFFFFF"/>
                    </a:solidFill>
                  </a:tcPr>
                </a:tc>
                <a:tc>
                  <a:txBody>
                    <a:bodyPr/>
                    <a:lstStyle/>
                    <a:p>
                      <a:r>
                        <a:rPr sz="850" b="0">
                          <a:solidFill>
                            <a:srgbClr val="4B4B4B"/>
                          </a:solidFill>
                          <a:latin typeface="Arial"/>
                        </a:rPr>
                        <a:t>QUOTE_MAINTAIN (and QUOTE_APPROVE for review)</a:t>
                      </a:r>
                    </a:p>
                  </a:txBody>
                  <a:tcPr marL="54864" marR="54864" marT="27432" marB="27432">
                    <a:solidFill>
                      <a:srgbClr val="FFFFFF"/>
                    </a:solidFill>
                  </a:tcPr>
                </a:tc>
                <a:tc>
                  <a:txBody>
                    <a:bodyPr/>
                    <a:lstStyle/>
                    <a:p>
                      <a:r>
                        <a:rPr sz="850" b="0">
                          <a:solidFill>
                            <a:srgbClr val="4B4B4B"/>
                          </a:solidFill>
                          <a:latin typeface="Arial"/>
                        </a:rPr>
                        <a:t>Draft or for review</a:t>
                      </a:r>
                    </a:p>
                  </a:txBody>
                  <a:tcPr marL="54864" marR="54864" marT="27432" marB="27432">
                    <a:solidFill>
                      <a:srgbClr val="FFFFFF"/>
                    </a:solidFill>
                  </a:tcPr>
                </a:tc>
                <a:tc>
                  <a:txBody>
                    <a:bodyPr/>
                    <a:lstStyle/>
                    <a:p>
                      <a:r>
                        <a:rPr sz="850" b="0">
                          <a:solidFill>
                            <a:srgbClr val="4B4B4B"/>
                          </a:solidFill>
                          <a:latin typeface="Arial"/>
                        </a:rPr>
                        <a:t>Asks for the void reason and a comment; the record is kept</a:t>
                      </a:r>
                    </a:p>
                  </a:txBody>
                  <a:tcPr marL="54864" marR="54864" marT="27432" marB="27432">
                    <a:solidFill>
                      <a:srgbClr val="FFFFFF"/>
                    </a:solidFill>
                  </a:tcPr>
                </a:tc>
                <a:tc>
                  <a:txBody>
                    <a:bodyPr/>
                    <a:lstStyle/>
                    <a:p>
                      <a:r>
                        <a:rPr sz="850" b="0">
                          <a:solidFill>
                            <a:srgbClr val="4B4B4B"/>
                          </a:solidFill>
                          <a:latin typeface="Arial"/>
                        </a:rPr>
                        <a:t>Voided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Request Rate Exception</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Draft with an item rate that differs from the scheme rate</a:t>
                      </a:r>
                    </a:p>
                  </a:txBody>
                  <a:tcPr marL="54864" marR="54864" marT="27432" marB="27432">
                    <a:solidFill>
                      <a:srgbClr val="E5F5FF"/>
                    </a:solidFill>
                  </a:tcPr>
                </a:tc>
                <a:tc>
                  <a:txBody>
                    <a:bodyPr/>
                    <a:lstStyle/>
                    <a:p>
                      <a:r>
                        <a:rPr sz="850" b="0">
                          <a:solidFill>
                            <a:srgbClr val="4B4B4B"/>
                          </a:solidFill>
                          <a:latin typeface="Arial"/>
                        </a:rPr>
                        <a:t>Sends a rate exception request to My Approvals (Product Maintenance)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Pending item in My Approvals</a:t>
                      </a:r>
                    </a:p>
                  </a:txBody>
                  <a:tcPr marL="54864" marR="54864" marT="27432" marB="27432">
                    <a:solidFill>
                      <a:srgbClr val="E5F5FF"/>
                    </a:solidFill>
                  </a:tcPr>
                </a:tc>
              </a:tr>
            </a:tbl>
          </a:graphicData>
        </a:graphic>
      </p:graphicFrame>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maker and the submitter never approve their own quotation (FR-NB-043).</a:t>
                      </a:r>
                    </a:p>
                  </a:txBody>
                  <a:tcPr marL="54864" marR="54864" marT="27432" marB="27432">
                    <a:solidFill>
                      <a:srgbClr val="FFFFFF"/>
                    </a:solidFill>
                  </a:tcPr>
                </a:tc>
              </a:tr>
              <a:tr h="243840">
                <a:tc>
                  <a:txBody>
                    <a:bodyPr/>
                    <a:lstStyle/>
                    <a:p>
                      <a:r>
                        <a:rPr sz="1000" b="0">
                          <a:solidFill>
                            <a:srgbClr val="4B4B4B"/>
                          </a:solidFill>
                          <a:latin typeface="Arial"/>
                        </a:rPr>
                        <a:t>Documents that leave BIBS are password protected; the password follows in a separate e-mail (FR-NB-013, FR-NB-044).</a:t>
                      </a:r>
                    </a:p>
                  </a:txBody>
                  <a:tcPr marL="54864" marR="54864" marT="27432" marB="27432">
                    <a:solidFill>
                      <a:srgbClr val="E5F5FF"/>
                    </a:solidFill>
                  </a:tcPr>
                </a:tc>
              </a:tr>
              <a:tr h="243840">
                <a:tc>
                  <a:txBody>
                    <a:bodyPr/>
                    <a:lstStyle/>
                    <a:p>
                      <a:r>
                        <a:rPr sz="1000" b="0">
                          <a:solidFill>
                            <a:srgbClr val="4B4B4B"/>
                          </a:solidFill>
                          <a:latin typeface="Arial"/>
                        </a:rPr>
                        <a:t>Supporting documents of the quotation or its client are sent with the quotation or on their own, and the quotation shows the delivery status of each sending (FR-NB-044).</a:t>
                      </a:r>
                    </a:p>
                  </a:txBody>
                  <a:tcPr marL="54864" marR="54864" marT="27432" marB="27432">
                    <a:solidFill>
                      <a:srgbClr val="FFFFFF"/>
                    </a:solidFill>
                  </a:tcPr>
                </a:tc>
              </a:tr>
              <a:tr h="396240">
                <a:tc>
                  <a:txBody>
                    <a:bodyPr/>
                    <a:lstStyle/>
                    <a:p>
                      <a:r>
                        <a:rPr sz="1000" b="0">
                          <a:solidFill>
                            <a:srgbClr val="4B4B4B"/>
                          </a:solidFill>
                          <a:latin typeface="Arial"/>
                        </a:rPr>
                        <a:t>A quotation in For Review is read-only; an approved quotation changes only through a new version (FR-NB-042, CLR-NB-49). The approver approves or returns to the maker; a quotation that will not proceed is voided (FR-NB-043, CLR-NB-50).</a:t>
                      </a:r>
                    </a:p>
                  </a:txBody>
                  <a:tcPr marL="54864" marR="54864" marT="27432" marB="27432">
                    <a:solidFill>
                      <a:srgbClr val="E5F5FF"/>
                    </a:solidFill>
                  </a:tcPr>
                </a:tc>
              </a:tr>
              <a:tr h="243840">
                <a:tc>
                  <a:txBody>
                    <a:bodyPr/>
                    <a:lstStyle/>
                    <a:p>
                      <a:r>
                        <a:rPr sz="1000" b="0">
                          <a:solidFill>
                            <a:srgbClr val="4B4B4B"/>
                          </a:solidFill>
                          <a:latin typeface="Arial"/>
                        </a:rPr>
                        <a:t>Accounts are created only for a confirmed client and only for the accepted risk groups (FR-NB-045).</a:t>
                      </a:r>
                    </a:p>
                  </a:txBody>
                  <a:tcPr marL="54864" marR="54864" marT="27432" marB="27432">
                    <a:solidFill>
                      <a:srgbClr val="FFFFFF"/>
                    </a:solidFill>
                  </a:tcPr>
                </a:tc>
              </a:tr>
              <a:tr h="243840">
                <a:tc>
                  <a:txBody>
                    <a:bodyPr/>
                    <a:lstStyle/>
                    <a:p>
                      <a:r>
                        <a:rPr sz="1000" b="0">
                          <a:solidFill>
                            <a:srgbClr val="4B4B4B"/>
                          </a:solidFill>
                          <a:latin typeface="Arial"/>
                        </a:rPr>
                        <a:t>Void keeps the record with its reason; nothing is deleted (FR-NB-012).</a:t>
                      </a:r>
                    </a:p>
                  </a:txBody>
                  <a:tcPr marL="54864" marR="54864" marT="27432" marB="27432">
                    <a:solidFill>
                      <a:srgbClr val="E5F5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graphicFrame>
        <p:nvGraphicFramePr>
          <p:cNvPr id="9" name="Table 8"/>
          <p:cNvGraphicFramePr>
            <a:graphicFrameLocks noGrp="1"/>
          </p:cNvGraphicFramePr>
          <p:nvPr/>
        </p:nvGraphicFramePr>
        <p:xfrm>
          <a:off x="548640" y="1325880"/>
          <a:ext cx="11094413" cy="15087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7</a:t>
                      </a:r>
                    </a:p>
                  </a:txBody>
                  <a:tcPr marL="54864" marR="54864" marT="27432" marB="27432">
                    <a:solidFill>
                      <a:srgbClr val="FFFFFF"/>
                    </a:solidFill>
                  </a:tcPr>
                </a:tc>
                <a:tc>
                  <a:txBody>
                    <a:bodyPr/>
                    <a:lstStyle/>
                    <a:p>
                      <a:r>
                        <a:rPr sz="900" b="0">
                          <a:solidFill>
                            <a:srgbClr val="4B4B4B"/>
                          </a:solidFill>
                          <a:latin typeface="Arial"/>
                        </a:rPr>
                        <a:t>Clicks Send via Email, keeps the proposed e-mail and clicks Send</a:t>
                      </a:r>
                    </a:p>
                  </a:txBody>
                  <a:tcPr marL="54864" marR="54864" marT="27432" marB="27432">
                    <a:solidFill>
                      <a:srgbClr val="FFFFFF"/>
                    </a:solidFill>
                  </a:tcPr>
                </a:tc>
                <a:tc>
                  <a:txBody>
                    <a:bodyPr/>
                    <a:lstStyle/>
                    <a:p>
                      <a:r>
                        <a:rPr sz="900" b="0">
                          <a:solidFill>
                            <a:srgbClr val="4B4B4B"/>
                          </a:solidFill>
                          <a:latin typeface="Arial"/>
                        </a:rPr>
                        <a:t>SCR-NB-07_wt-a-step-07.png</a:t>
                      </a:r>
                    </a:p>
                  </a:txBody>
                  <a:tcPr marL="54864" marR="54864" marT="27432" marB="27432">
                    <a:solidFill>
                      <a:srgbClr val="FFFFFF"/>
                    </a:solidFill>
                  </a:tcPr>
                </a:tc>
              </a:tr>
              <a:tr h="36576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WT-A step 8</a:t>
                      </a:r>
                    </a:p>
                  </a:txBody>
                  <a:tcPr marL="54864" marR="54864" marT="27432" marB="27432">
                    <a:solidFill>
                      <a:srgbClr val="E5F5FF"/>
                    </a:solidFill>
                  </a:tcPr>
                </a:tc>
                <a:tc>
                  <a:txBody>
                    <a:bodyPr/>
                    <a:lstStyle/>
                    <a:p>
                      <a:r>
                        <a:rPr sz="900" b="0">
                          <a:solidFill>
                            <a:srgbClr val="4B4B4B"/>
                          </a:solidFill>
                          <a:latin typeface="Arial"/>
                        </a:rPr>
                        <a:t>Clicks Record acceptance, uploads the client's reply and clicks Record Acceptance, then Create accounts</a:t>
                      </a:r>
                    </a:p>
                  </a:txBody>
                  <a:tcPr marL="54864" marR="54864" marT="27432" marB="27432">
                    <a:solidFill>
                      <a:srgbClr val="E5F5FF"/>
                    </a:solidFill>
                  </a:tcPr>
                </a:tc>
                <a:tc>
                  <a:txBody>
                    <a:bodyPr/>
                    <a:lstStyle/>
                    <a:p>
                      <a:r>
                        <a:rPr sz="900" b="0">
                          <a:solidFill>
                            <a:srgbClr val="4B4B4B"/>
                          </a:solidFill>
                          <a:latin typeface="Arial"/>
                        </a:rPr>
                        <a:t>SCR-NB-07_wt-a-step-08.png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3</a:t>
                      </a:r>
                    </a:p>
                  </a:txBody>
                  <a:tcPr marL="54864" marR="54864" marT="27432" marB="27432">
                    <a:solidFill>
                      <a:srgbClr val="FFFFFF"/>
                    </a:solidFill>
                  </a:tcPr>
                </a:tc>
                <a:tc>
                  <a:txBody>
                    <a:bodyPr/>
                    <a:lstStyle/>
                    <a:p>
                      <a:r>
                        <a:rPr sz="900" b="0">
                          <a:solidFill>
                            <a:srgbClr val="4B4B4B"/>
                          </a:solidFill>
                          <a:latin typeface="Arial"/>
                        </a:rPr>
                        <a:t>Makes a quotation, submits it for review and then tries to approve it himself</a:t>
                      </a:r>
                    </a:p>
                  </a:txBody>
                  <a:tcPr marL="54864" marR="54864" marT="27432" marB="27432">
                    <a:solidFill>
                      <a:srgbClr val="FFFFFF"/>
                    </a:solidFill>
                  </a:tcPr>
                </a:tc>
                <a:tc>
                  <a:txBody>
                    <a:bodyPr/>
                    <a:lstStyle/>
                    <a:p>
                      <a:r>
                        <a:rPr sz="900" b="0">
                          <a:solidFill>
                            <a:srgbClr val="4B4B4B"/>
                          </a:solidFill>
                          <a:latin typeface="Arial"/>
                        </a:rPr>
                        <a:t>SCR-NB-07_wt-c-step-03.png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6</a:t>
                      </a:r>
                    </a:p>
                  </a:txBody>
                  <a:tcPr marL="54864" marR="54864" marT="27432" marB="27432">
                    <a:solidFill>
                      <a:srgbClr val="E5F5FF"/>
                    </a:solidFill>
                  </a:tcPr>
                </a:tc>
                <a:tc>
                  <a:txBody>
                    <a:bodyPr/>
                    <a:lstStyle/>
                    <a:p>
                      <a:r>
                        <a:rPr sz="900" b="0">
                          <a:solidFill>
                            <a:srgbClr val="4B4B4B"/>
                          </a:solidFill>
                          <a:latin typeface="Arial"/>
                        </a:rPr>
                        <a:t>Opens the quotation from the For Review tab and clicks Approve</a:t>
                      </a:r>
                    </a:p>
                  </a:txBody>
                  <a:tcPr marL="54864" marR="54864" marT="27432" marB="27432">
                    <a:solidFill>
                      <a:srgbClr val="E5F5FF"/>
                    </a:solidFill>
                  </a:tcPr>
                </a:tc>
                <a:tc>
                  <a:txBody>
                    <a:bodyPr/>
                    <a:lstStyle/>
                    <a:p>
                      <a:r>
                        <a:rPr sz="900" b="0">
                          <a:solidFill>
                            <a:srgbClr val="4B4B4B"/>
                          </a:solidFill>
                          <a:latin typeface="Arial"/>
                        </a:rPr>
                        <a:t>SCR-NB-07_wt-a-step-06.png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WT-C step 4</a:t>
                      </a:r>
                    </a:p>
                  </a:txBody>
                  <a:tcPr marL="54864" marR="54864" marT="27432" marB="27432">
                    <a:solidFill>
                      <a:srgbClr val="FFFFFF"/>
                    </a:solidFill>
                  </a:tcPr>
                </a:tc>
                <a:tc>
                  <a:txBody>
                    <a:bodyPr/>
                    <a:lstStyle/>
                    <a:p>
                      <a:r>
                        <a:rPr sz="900" b="0">
                          <a:solidFill>
                            <a:srgbClr val="4B4B4B"/>
                          </a:solidFill>
                          <a:latin typeface="Arial"/>
                        </a:rPr>
                        <a:t>Clicks Return To Maker on the quotation with the reason Rate or terms to be reviewed</a:t>
                      </a:r>
                    </a:p>
                  </a:txBody>
                  <a:tcPr marL="54864" marR="54864" marT="27432" marB="27432">
                    <a:solidFill>
                      <a:srgbClr val="FFFFFF"/>
                    </a:solidFill>
                  </a:tcPr>
                </a:tc>
                <a:tc>
                  <a:txBody>
                    <a:bodyPr/>
                    <a:lstStyle/>
                    <a:p>
                      <a:r>
                        <a:rPr sz="900" b="0">
                          <a:solidFill>
                            <a:srgbClr val="4B4B4B"/>
                          </a:solidFill>
                          <a:latin typeface="Arial"/>
                        </a:rPr>
                        <a:t>SCR-NB-07_wt-c-step-04.png</a:t>
                      </a:r>
                    </a:p>
                  </a:txBody>
                  <a:tcPr marL="54864" marR="54864" marT="27432" marB="27432">
                    <a:solidFill>
                      <a:srgbClr val="FFFFFF"/>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27.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record, Details tab (part 1 of 3)</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2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record, Details tab (part 2 of 3)</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29.png"/>
          <p:cNvPicPr>
            <a:picLocks noChangeAspect="1"/>
          </p:cNvPicPr>
          <p:nvPr/>
        </p:nvPicPr>
        <p:blipFill>
          <a:blip r:embed="rId3"/>
          <a:stretch>
            <a:fillRect/>
          </a:stretch>
        </p:blipFill>
        <p:spPr>
          <a:xfrm>
            <a:off x="548640" y="1261872"/>
            <a:ext cx="11094415" cy="160199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record, Details tab (part 3 of 3)</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0.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Items &amp; Premium tab (part 1 of 3)</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1.png"/>
          <p:cNvPicPr>
            <a:picLocks noChangeAspect="1"/>
          </p:cNvPicPr>
          <p:nvPr/>
        </p:nvPicPr>
        <p:blipFill>
          <a:blip r:embed="rId3"/>
          <a:stretch>
            <a:fillRect/>
          </a:stretch>
        </p:blipFill>
        <p:spPr>
          <a:xfrm>
            <a:off x="548640" y="1261872"/>
            <a:ext cx="11094415" cy="464339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Items &amp; Premium tab (part 2 of 3)</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2.png"/>
          <p:cNvPicPr>
            <a:picLocks noChangeAspect="1"/>
          </p:cNvPicPr>
          <p:nvPr/>
        </p:nvPicPr>
        <p:blipFill>
          <a:blip r:embed="rId3"/>
          <a:stretch>
            <a:fillRect/>
          </a:stretch>
        </p:blipFill>
        <p:spPr>
          <a:xfrm>
            <a:off x="548640" y="1261872"/>
            <a:ext cx="11094415" cy="10424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Items &amp; Premium tab (part 3 of 3)</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33.png"/>
          <p:cNvPicPr>
            <a:picLocks noChangeAspect="1"/>
          </p:cNvPicPr>
          <p:nvPr/>
        </p:nvPicPr>
        <p:blipFill>
          <a:blip r:embed="rId3"/>
          <a:stretch>
            <a:fillRect/>
          </a:stretch>
        </p:blipFill>
        <p:spPr>
          <a:xfrm>
            <a:off x="548640" y="1261872"/>
            <a:ext cx="11094415" cy="457103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via Email dialog of an approved quotation (part 1 of 3)</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34.png"/>
          <p:cNvPicPr>
            <a:picLocks noChangeAspect="1"/>
          </p:cNvPicPr>
          <p:nvPr/>
        </p:nvPicPr>
        <p:blipFill>
          <a:blip r:embed="rId3"/>
          <a:stretch>
            <a:fillRect/>
          </a:stretch>
        </p:blipFill>
        <p:spPr>
          <a:xfrm>
            <a:off x="548640" y="1261872"/>
            <a:ext cx="11094415" cy="413848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via Email dialog of an approved quotation (part 2 of 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SCR-NB-07 Quotation record: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35.png"/>
          <p:cNvPicPr>
            <a:picLocks noChangeAspect="1"/>
          </p:cNvPicPr>
          <p:nvPr/>
        </p:nvPicPr>
        <p:blipFill>
          <a:blip r:embed="rId3"/>
          <a:stretch>
            <a:fillRect/>
          </a:stretch>
        </p:blipFill>
        <p:spPr>
          <a:xfrm>
            <a:off x="548640" y="1261872"/>
            <a:ext cx="11094415" cy="102877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via Email dialog of an approved quotation (part 3 of 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36.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quotation as the Auditor sees it, without the actions (part 1 of 3)</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3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quotation as the Auditor sees it, without the actions (part 2 of 3)</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38.png"/>
          <p:cNvPicPr>
            <a:picLocks noChangeAspect="1"/>
          </p:cNvPicPr>
          <p:nvPr/>
        </p:nvPicPr>
        <p:blipFill>
          <a:blip r:embed="rId3"/>
          <a:stretch>
            <a:fillRect/>
          </a:stretch>
        </p:blipFill>
        <p:spPr>
          <a:xfrm>
            <a:off x="548640" y="1261872"/>
            <a:ext cx="11094415" cy="160199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quotation as the Auditor sees it, without the actions (part 3 of 3)</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3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for review as seen by the approver (Approve, Return To Maker) (part 1 of 3)</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40.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for review as seen by the approver (Approve, Return To Maker) (part 2 of 3)</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SCR-NB-07 Quotation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41.png"/>
          <p:cNvPicPr>
            <a:picLocks noChangeAspect="1"/>
          </p:cNvPicPr>
          <p:nvPr/>
        </p:nvPicPr>
        <p:blipFill>
          <a:blip r:embed="rId3"/>
          <a:stretch>
            <a:fillRect/>
          </a:stretch>
        </p:blipFill>
        <p:spPr>
          <a:xfrm>
            <a:off x="548640" y="1261872"/>
            <a:ext cx="11094415" cy="268752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for review as seen by the approver (Approve, Return To Maker) (part 3 of 3)</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quotation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inbox of quotation requests received by e-mail, bulk upload or a source system. Marketing captures an e-mailed request with the e-mail attached, creates the prospect when the requester is not a client, and opens the quotation wizard with the request's details.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Quotation Requests</a:t>
                      </a:r>
                    </a:p>
                    <a:p>
                      <a:r>
                        <a:rPr sz="950" b="0">
                          <a:solidFill>
                            <a:srgbClr val="4B4B4B"/>
                          </a:solidFill>
                          <a:latin typeface="Arial"/>
                        </a:rPr>
                        <a:t>Quotations › Request Inbox</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FR-NB-040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request is numbered and traced to its quotation, or closed with a reason.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SCR-NB-08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To Quote / Quoted /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Request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Request No., prospect or cover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REQ-yyyy-nnnnnn and the time 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Channel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Channel and source 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Client / Prospect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Prospect name, or the client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Requested product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Requested Cover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New, Quoted, Closed with the close reason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Actions</a:t>
                      </a:r>
                    </a:p>
                  </a:txBody>
                  <a:tcPr marL="54864" marR="54864" marT="27432" marB="27432">
                    <a:solidFill>
                      <a:srgbClr val="FFFFFF"/>
                    </a:solidFill>
                  </a:tcPr>
                </a:tc>
                <a:tc>
                  <a:txBody>
                    <a:bodyPr/>
                    <a:lstStyle/>
                    <a:p>
                      <a:r>
                        <a:rPr sz="850" b="0">
                          <a:solidFill>
                            <a:srgbClr val="4B4B4B"/>
                          </a:solidFill>
                          <a:latin typeface="Arial"/>
                        </a:rPr>
                        <a:t>Row action menu</a:t>
                      </a:r>
                    </a:p>
                  </a:txBody>
                  <a:tcPr marL="54864" marR="54864" marT="27432" marB="27432">
                    <a:solidFill>
                      <a:srgbClr val="FFFFFF"/>
                    </a:solidFill>
                  </a:tcPr>
                </a:tc>
                <a:tc>
                  <a:txBody>
                    <a:bodyPr/>
                    <a:lstStyle/>
                    <a:p>
                      <a:r>
                        <a:rPr sz="850" b="0">
                          <a:solidFill>
                            <a:srgbClr val="4B4B4B"/>
                          </a:solidFill>
                          <a:latin typeface="Arial"/>
                        </a:rPr>
                        <a:t>The actions of the request the user may take now: Create Prospect or Create Quotation, Close (last, in red); Open Quotation once quoted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Channel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Source reference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E-mail subject or source-system reference, up to 60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reference already received on the same channel is refused</a:t>
                      </a:r>
                    </a:p>
                  </a:txBody>
                  <a:tcPr marL="54864" marR="54864" marT="27432" marB="27432">
                    <a:solidFill>
                      <a:srgbClr val="FFFFFF"/>
                    </a:solidFill>
                  </a:tcPr>
                </a:tc>
                <a:tc>
                  <a:txBody>
                    <a:bodyPr/>
                    <a:lstStyle/>
                    <a:p>
                      <a:r>
                        <a:rPr sz="850" b="0">
                          <a:solidFill>
                            <a:srgbClr val="4B4B4B"/>
                          </a:solidFill>
                          <a:latin typeface="Arial"/>
                        </a:rPr>
                        <a:t>Request &lt;reference&gt; of &lt;channel&gt; was already received</a:t>
                      </a:r>
                    </a:p>
                  </a:txBody>
                  <a:tcPr marL="54864" marR="54864" marT="27432" marB="27432">
                    <a:solidFill>
                      <a:srgbClr val="FFFFFF"/>
                    </a:solidFill>
                  </a:tcPr>
                </a:tc>
              </a:tr>
              <a:tr h="739135">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Existing client</a:t>
                      </a:r>
                    </a:p>
                  </a:txBody>
                  <a:tcPr marL="54864" marR="54864" marT="27432" marB="27432">
                    <a:solidFill>
                      <a:srgbClr val="E5F5FF"/>
                    </a:solidFill>
                  </a:tcPr>
                </a:tc>
                <a:tc>
                  <a:txBody>
                    <a:bodyPr/>
                    <a:lstStyle/>
                    <a:p>
                      <a:r>
                        <a:rPr sz="850" b="0">
                          <a:solidFill>
                            <a:srgbClr val="4B4B4B"/>
                          </a:solidFill>
                          <a:latin typeface="Arial"/>
                        </a:rPr>
                        <a:t>Look-up</a:t>
                      </a:r>
                    </a:p>
                  </a:txBody>
                  <a:tcPr marL="54864" marR="54864" marT="27432" marB="27432">
                    <a:solidFill>
                      <a:srgbClr val="E5F5FF"/>
                    </a:solidFill>
                  </a:tcPr>
                </a:tc>
                <a:tc>
                  <a:txBody>
                    <a:bodyPr/>
                    <a:lstStyle/>
                    <a:p>
                      <a:r>
                        <a:rPr sz="850" b="0">
                          <a:solidFill>
                            <a:srgbClr val="4B4B4B"/>
                          </a:solidFill>
                          <a:latin typeface="Arial"/>
                        </a:rPr>
                        <a:t>Code or name</a:t>
                      </a:r>
                    </a:p>
                  </a:txBody>
                  <a:tcPr marL="54864" marR="54864" marT="27432" marB="27432">
                    <a:solidFill>
                      <a:srgbClr val="E5F5FF"/>
                    </a:solidFill>
                  </a:tcPr>
                </a:tc>
                <a:tc>
                  <a:txBody>
                    <a:bodyPr/>
                    <a:lstStyle/>
                    <a:p>
                      <a:r>
                        <a:rPr sz="850" b="0">
                          <a:solidFill>
                            <a:srgbClr val="4B4B4B"/>
                          </a:solidFill>
                          <a:latin typeface="Arial"/>
                        </a:rPr>
                        <a:t>Cond.: the client or the prospect name</a:t>
                      </a:r>
                    </a:p>
                  </a:txBody>
                  <a:tcPr marL="54864" marR="54864" marT="27432" marB="27432">
                    <a:solidFill>
                      <a:srgbClr val="E5F5FF"/>
                    </a:solidFill>
                  </a:tcPr>
                </a:tc>
                <a:tc>
                  <a:txBody>
                    <a:bodyPr/>
                    <a:lstStyle/>
                    <a:p>
                      <a:r>
                        <a:rPr sz="850" b="0">
                          <a:solidFill>
                            <a:srgbClr val="4B4B4B"/>
                          </a:solidFill>
                          <a:latin typeface="Arial"/>
                        </a:rPr>
                        <a:t>A client or a prospect name is given</a:t>
                      </a:r>
                    </a:p>
                  </a:txBody>
                  <a:tcPr marL="54864" marR="54864" marT="27432" marB="27432">
                    <a:solidFill>
                      <a:srgbClr val="E5F5FF"/>
                    </a:solidFill>
                  </a:tcPr>
                </a:tc>
                <a:tc>
                  <a:txBody>
                    <a:bodyPr/>
                    <a:lstStyle/>
                    <a:p>
                      <a:r>
                        <a:rPr sz="850" b="0">
                          <a:solidFill>
                            <a:srgbClr val="4B4B4B"/>
                          </a:solidFill>
                          <a:latin typeface="Arial"/>
                        </a:rPr>
                        <a:t>Choose the client or give the prospect name</a:t>
                      </a:r>
                    </a:p>
                  </a:txBody>
                  <a:tcPr marL="54864" marR="54864" marT="27432" marB="27432">
                    <a:solidFill>
                      <a:srgbClr val="E5F5FF"/>
                    </a:solidFill>
                  </a:tcPr>
                </a:tc>
              </a:tr>
              <a:tr h="609596">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Prospect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'Last, First' for a person; up to 250 characters</a:t>
                      </a:r>
                    </a:p>
                  </a:txBody>
                  <a:tcPr marL="54864" marR="54864" marT="27432" marB="27432">
                    <a:solidFill>
                      <a:srgbClr val="FFFFFF"/>
                    </a:solidFill>
                  </a:tcPr>
                </a:tc>
                <a:tc>
                  <a:txBody>
                    <a:bodyPr/>
                    <a:lstStyle/>
                    <a:p>
                      <a:r>
                        <a:rPr sz="850" b="0">
                          <a:solidFill>
                            <a:srgbClr val="4B4B4B"/>
                          </a:solidFill>
                          <a:latin typeface="Arial"/>
                        </a:rPr>
                        <a:t>Cond.: when no client is chosen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SCR-NB-08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graphicFrame>
        <p:nvGraphicFramePr>
          <p:cNvPr id="9" name="Table 8"/>
          <p:cNvGraphicFramePr>
            <a:graphicFrameLocks noGrp="1"/>
          </p:cNvGraphicFramePr>
          <p:nvPr/>
        </p:nvGraphicFramePr>
        <p:xfrm>
          <a:off x="548640" y="1325880"/>
          <a:ext cx="11094411" cy="20269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Prospect e-mail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name@domain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Valid e-mail format</a:t>
                      </a:r>
                    </a:p>
                  </a:txBody>
                  <a:tcPr marL="54864" marR="54864" marT="27432" marB="27432">
                    <a:solidFill>
                      <a:srgbClr val="FFFFFF"/>
                    </a:solidFill>
                  </a:tcPr>
                </a:tc>
                <a:tc>
                  <a:txBody>
                    <a:bodyPr/>
                    <a:lstStyle/>
                    <a:p>
                      <a:r>
                        <a:rPr sz="850" b="0">
                          <a:solidFill>
                            <a:srgbClr val="4B4B4B"/>
                          </a:solidFill>
                          <a:latin typeface="Arial"/>
                        </a:rPr>
                        <a:t>Enter a valid e-mail address</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Prospect mobile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Requested product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Capture dialog</a:t>
                      </a:r>
                    </a:p>
                  </a:txBody>
                  <a:tcPr marL="54864" marR="54864" marT="27432" marB="27432">
                    <a:solidFill>
                      <a:srgbClr val="FFFFFF"/>
                    </a:solidFill>
                  </a:tcPr>
                </a:tc>
                <a:tc>
                  <a:txBody>
                    <a:bodyPr/>
                    <a:lstStyle/>
                    <a:p>
                      <a:r>
                        <a:rPr sz="850" b="0">
                          <a:solidFill>
                            <a:srgbClr val="4B4B4B"/>
                          </a:solidFill>
                          <a:latin typeface="Arial"/>
                        </a:rPr>
                        <a:t>Requested cover</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2,000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Describe the requested cover</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Capture dialog</a:t>
                      </a:r>
                    </a:p>
                  </a:txBody>
                  <a:tcPr marL="54864" marR="54864" marT="27432" marB="27432">
                    <a:solidFill>
                      <a:srgbClr val="E5F5FF"/>
                    </a:solidFill>
                  </a:tcPr>
                </a:tc>
                <a:tc>
                  <a:txBody>
                    <a:bodyPr/>
                    <a:lstStyle/>
                    <a:p>
                      <a:r>
                        <a:rPr sz="850" b="0">
                          <a:solidFill>
                            <a:srgbClr val="4B4B4B"/>
                          </a:solidFill>
                          <a:latin typeface="Arial"/>
                        </a:rPr>
                        <a:t>Request e-mail</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.eml, .msg or PDF</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Stored as document type Request e-mail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Close dialog</a:t>
                      </a:r>
                    </a:p>
                  </a:txBody>
                  <a:tcPr marL="54864" marR="54864" marT="27432" marB="27432">
                    <a:solidFill>
                      <a:srgbClr val="FFFFFF"/>
                    </a:solidFill>
                  </a:tcPr>
                </a:tc>
                <a:tc>
                  <a:txBody>
                    <a:bodyPr/>
                    <a:lstStyle/>
                    <a:p>
                      <a:r>
                        <a:rPr sz="850" b="0">
                          <a:solidFill>
                            <a:srgbClr val="4B4B4B"/>
                          </a:solidFill>
                          <a:latin typeface="Arial"/>
                        </a:rPr>
                        <a:t>Reason for Closing</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Close Request stays unavailable until the reason is entered</a:t>
                      </a:r>
                    </a:p>
                  </a:txBody>
                  <a:tcPr marL="54864" marR="54864" marT="27432" marB="27432">
                    <a:solidFill>
                      <a:srgbClr val="FFFFFF"/>
                    </a:solidFill>
                  </a:tcPr>
                </a:tc>
              </a:tr>
            </a:tbl>
          </a:graphicData>
        </a:graphic>
      </p:graphicFrame>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graphicFrame>
        <p:nvGraphicFramePr>
          <p:cNvPr id="9" name="Table 8"/>
          <p:cNvGraphicFramePr>
            <a:graphicFrameLocks noGrp="1"/>
          </p:cNvGraphicFramePr>
          <p:nvPr/>
        </p:nvGraphicFramePr>
        <p:xfrm>
          <a:off x="548640" y="1325880"/>
          <a:ext cx="11094412" cy="158495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Capture Request</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capture dialog; Save Request numbers the request</a:t>
                      </a:r>
                    </a:p>
                  </a:txBody>
                  <a:tcPr marL="54864" marR="54864" marT="27432" marB="27432">
                    <a:solidFill>
                      <a:srgbClr val="FFFFFF"/>
                    </a:solidFill>
                  </a:tcPr>
                </a:tc>
                <a:tc>
                  <a:txBody>
                    <a:bodyPr/>
                    <a:lstStyle/>
                    <a:p>
                      <a:r>
                        <a:rPr sz="850" b="0">
                          <a:solidFill>
                            <a:srgbClr val="4B4B4B"/>
                          </a:solidFill>
                          <a:latin typeface="Arial"/>
                        </a:rPr>
                        <a:t>New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Create Prospect</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New request without a client</a:t>
                      </a:r>
                    </a:p>
                  </a:txBody>
                  <a:tcPr marL="54864" marR="54864" marT="27432" marB="27432">
                    <a:solidFill>
                      <a:srgbClr val="E5F5FF"/>
                    </a:solidFill>
                  </a:tcPr>
                </a:tc>
                <a:tc>
                  <a:txBody>
                    <a:bodyPr/>
                    <a:lstStyle/>
                    <a:p>
                      <a:r>
                        <a:rPr sz="850" b="0">
                          <a:solidFill>
                            <a:srgbClr val="4B4B4B"/>
                          </a:solidFill>
                          <a:latin typeface="Arial"/>
                        </a:rPr>
                        <a:t>Creates a prospect from the request's details</a:t>
                      </a:r>
                    </a:p>
                  </a:txBody>
                  <a:tcPr marL="54864" marR="54864" marT="27432" marB="27432">
                    <a:solidFill>
                      <a:srgbClr val="E5F5FF"/>
                    </a:solidFill>
                  </a:tcPr>
                </a:tc>
                <a:tc>
                  <a:txBody>
                    <a:bodyPr/>
                    <a:lstStyle/>
                    <a:p>
                      <a:r>
                        <a:rPr sz="850" b="0">
                          <a:solidFill>
                            <a:srgbClr val="4B4B4B"/>
                          </a:solidFill>
                          <a:latin typeface="Arial"/>
                        </a:rPr>
                        <a:t>New (with a prospect)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Create Quotation</a:t>
                      </a:r>
                    </a:p>
                  </a:txBody>
                  <a:tcPr marL="54864" marR="54864" marT="27432" marB="27432">
                    <a:solidFill>
                      <a:srgbClr val="FFFFFF"/>
                    </a:solidFill>
                  </a:tcPr>
                </a:tc>
                <a:tc>
                  <a:txBody>
                    <a:bodyPr/>
                    <a:lstStyle/>
                    <a:p>
                      <a:r>
                        <a:rPr sz="850" b="0">
                          <a:solidFill>
                            <a:srgbClr val="4B4B4B"/>
                          </a:solidFill>
                          <a:latin typeface="Arial"/>
                        </a:rPr>
                        <a:t>QUOTE_MAINTAIN</a:t>
                      </a:r>
                    </a:p>
                  </a:txBody>
                  <a:tcPr marL="54864" marR="54864" marT="27432" marB="27432">
                    <a:solidFill>
                      <a:srgbClr val="FFFFFF"/>
                    </a:solidFill>
                  </a:tcPr>
                </a:tc>
                <a:tc>
                  <a:txBody>
                    <a:bodyPr/>
                    <a:lstStyle/>
                    <a:p>
                      <a:r>
                        <a:rPr sz="850" b="0">
                          <a:solidFill>
                            <a:srgbClr val="4B4B4B"/>
                          </a:solidFill>
                          <a:latin typeface="Arial"/>
                        </a:rPr>
                        <a:t>New request with a client or prospect</a:t>
                      </a:r>
                    </a:p>
                  </a:txBody>
                  <a:tcPr marL="54864" marR="54864" marT="27432" marB="27432">
                    <a:solidFill>
                      <a:srgbClr val="FFFFFF"/>
                    </a:solidFill>
                  </a:tcPr>
                </a:tc>
                <a:tc>
                  <a:txBody>
                    <a:bodyPr/>
                    <a:lstStyle/>
                    <a:p>
                      <a:r>
                        <a:rPr sz="850" b="0">
                          <a:solidFill>
                            <a:srgbClr val="4B4B4B"/>
                          </a:solidFill>
                          <a:latin typeface="Arial"/>
                        </a:rPr>
                        <a:t>Opens the New Quotation wizard with the client, product, segment and channel of the request</a:t>
                      </a:r>
                    </a:p>
                  </a:txBody>
                  <a:tcPr marL="54864" marR="54864" marT="27432" marB="27432">
                    <a:solidFill>
                      <a:srgbClr val="FFFFFF"/>
                    </a:solidFill>
                  </a:tcPr>
                </a:tc>
                <a:tc>
                  <a:txBody>
                    <a:bodyPr/>
                    <a:lstStyle/>
                    <a:p>
                      <a:r>
                        <a:rPr sz="850" b="0">
                          <a:solidFill>
                            <a:srgbClr val="4B4B4B"/>
                          </a:solidFill>
                          <a:latin typeface="Arial"/>
                        </a:rPr>
                        <a:t>Quoted once the quotation is saved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Close</a:t>
                      </a:r>
                    </a:p>
                  </a:txBody>
                  <a:tcPr marL="54864" marR="54864" marT="27432" marB="27432">
                    <a:solidFill>
                      <a:srgbClr val="E5F5FF"/>
                    </a:solidFill>
                  </a:tcPr>
                </a:tc>
                <a:tc>
                  <a:txBody>
                    <a:bodyPr/>
                    <a:lstStyle/>
                    <a:p>
                      <a:r>
                        <a:rPr sz="850" b="0">
                          <a:solidFill>
                            <a:srgbClr val="4B4B4B"/>
                          </a:solidFill>
                          <a:latin typeface="Arial"/>
                        </a:rPr>
                        <a:t>QUOTE_MAINTAIN</a:t>
                      </a:r>
                    </a:p>
                  </a:txBody>
                  <a:tcPr marL="54864" marR="54864" marT="27432" marB="27432">
                    <a:solidFill>
                      <a:srgbClr val="E5F5FF"/>
                    </a:solidFill>
                  </a:tcPr>
                </a:tc>
                <a:tc>
                  <a:txBody>
                    <a:bodyPr/>
                    <a:lstStyle/>
                    <a:p>
                      <a:r>
                        <a:rPr sz="850" b="0">
                          <a:solidFill>
                            <a:srgbClr val="4B4B4B"/>
                          </a:solidFill>
                          <a:latin typeface="Arial"/>
                        </a:rPr>
                        <a:t>New request</a:t>
                      </a:r>
                    </a:p>
                  </a:txBody>
                  <a:tcPr marL="54864" marR="54864" marT="27432" marB="27432">
                    <a:solidFill>
                      <a:srgbClr val="E5F5FF"/>
                    </a:solidFill>
                  </a:tcPr>
                </a:tc>
                <a:tc>
                  <a:txBody>
                    <a:bodyPr/>
                    <a:lstStyle/>
                    <a:p>
                      <a:r>
                        <a:rPr sz="850" b="0">
                          <a:solidFill>
                            <a:srgbClr val="4B4B4B"/>
                          </a:solidFill>
                          <a:latin typeface="Arial"/>
                        </a:rPr>
                        <a:t>Opens the Close dialog; the Reason for Closing is required and Close Request closes the request with it</a:t>
                      </a:r>
                    </a:p>
                  </a:txBody>
                  <a:tcPr marL="54864" marR="54864" marT="27432" marB="27432">
                    <a:solidFill>
                      <a:srgbClr val="E5F5FF"/>
                    </a:solidFill>
                  </a:tcPr>
                </a:tc>
                <a:tc>
                  <a:txBody>
                    <a:bodyPr/>
                    <a:lstStyle/>
                    <a:p>
                      <a:r>
                        <a:rPr sz="850" b="0">
                          <a:solidFill>
                            <a:srgbClr val="4B4B4B"/>
                          </a:solidFill>
                          <a:latin typeface="Arial"/>
                        </a:rPr>
                        <a:t>Closed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Quotation</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Quoted request</a:t>
                      </a:r>
                    </a:p>
                  </a:txBody>
                  <a:tcPr marL="54864" marR="54864" marT="27432" marB="27432">
                    <a:solidFill>
                      <a:srgbClr val="FFFFFF"/>
                    </a:solidFill>
                  </a:tcPr>
                </a:tc>
                <a:tc>
                  <a:txBody>
                    <a:bodyPr/>
                    <a:lstStyle/>
                    <a:p>
                      <a:r>
                        <a:rPr sz="850" b="0">
                          <a:solidFill>
                            <a:srgbClr val="4B4B4B"/>
                          </a:solidFill>
                          <a:latin typeface="Arial"/>
                        </a:rPr>
                        <a:t>Opens the quotation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Requests from HLS and other source systems arrive in the same inbox through the upload of the extract; the direct interface waits for the interface specification (FR-NB-040).</a:t>
                      </a:r>
                    </a:p>
                  </a:txBody>
                  <a:tcPr marL="54864" marR="54864" marT="27432" marB="27432">
                    <a:solidFill>
                      <a:srgbClr val="FFFFFF"/>
                    </a:solidFill>
                  </a:tcPr>
                </a:tc>
              </a:tr>
              <a:tr h="243840">
                <a:tc>
                  <a:txBody>
                    <a:bodyPr/>
                    <a:lstStyle/>
                    <a:p>
                      <a:r>
                        <a:rPr sz="1000" b="0">
                          <a:solidFill>
                            <a:srgbClr val="4B4B4B"/>
                          </a:solidFill>
                          <a:latin typeface="Arial"/>
                        </a:rPr>
                        <a:t>The same source reference on the same channel is not accepted twice (FR-NB-040).</a:t>
                      </a:r>
                    </a:p>
                  </a:txBody>
                  <a:tcPr marL="54864" marR="54864" marT="27432" marB="27432">
                    <a:solidFill>
                      <a:srgbClr val="E5F5FF"/>
                    </a:solidFill>
                  </a:tcPr>
                </a:tc>
              </a:tr>
            </a:tbl>
          </a:graphicData>
        </a:graphic>
      </p:graphicFrame>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8-01-list.png"/>
          <p:cNvPicPr>
            <a:picLocks noChangeAspect="1"/>
          </p:cNvPicPr>
          <p:nvPr/>
        </p:nvPicPr>
        <p:blipFill>
          <a:blip r:embed="rId3"/>
          <a:stretch>
            <a:fillRect/>
          </a:stretch>
        </p:blipFill>
        <p:spPr>
          <a:xfrm>
            <a:off x="1569944" y="1261872"/>
            <a:ext cx="905180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Requests, To Quote tab</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2.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Capture Quotation Request dialog (part 1 of 2)</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3.png"/>
          <p:cNvPicPr>
            <a:picLocks noChangeAspect="1"/>
          </p:cNvPicPr>
          <p:nvPr/>
        </p:nvPicPr>
        <p:blipFill>
          <a:blip r:embed="rId3"/>
          <a:stretch>
            <a:fillRect/>
          </a:stretch>
        </p:blipFill>
        <p:spPr>
          <a:xfrm>
            <a:off x="548640" y="1261872"/>
            <a:ext cx="11094415" cy="327337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Capture Quotation Request dialog (part 2 of 2)</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SCR-NB-08 Quotation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ux-scr-nb-08-actions.png"/>
          <p:cNvPicPr>
            <a:picLocks noChangeAspect="1"/>
          </p:cNvPicPr>
          <p:nvPr/>
        </p:nvPicPr>
        <p:blipFill>
          <a:blip r:embed="rId3"/>
          <a:stretch>
            <a:fillRect/>
          </a:stretch>
        </p:blipFill>
        <p:spPr>
          <a:xfrm>
            <a:off x="1569944" y="1261872"/>
            <a:ext cx="905180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 request, opened from the more button of its row</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SCR-NB-08 Quotation Requests: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08-03-close.png"/>
          <p:cNvPicPr>
            <a:picLocks noChangeAspect="1"/>
          </p:cNvPicPr>
          <p:nvPr/>
        </p:nvPicPr>
        <p:blipFill>
          <a:blip r:embed="rId3"/>
          <a:stretch>
            <a:fillRect/>
          </a:stretch>
        </p:blipFill>
        <p:spPr>
          <a:xfrm>
            <a:off x="548640" y="1261872"/>
            <a:ext cx="11094415" cy="36942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Close dialog with the required Reason for Closing, opened from the row action menu</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Proposal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Non-package placement (PRF)</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Proposal Request Forms by stage, from the Account Officer's draft to the client's acceptance, with the PRF reference, the ARN, the quotation and proposal slip numbers and the chosen insurer.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Non-Package Management › Proposal Requests</a:t>
                      </a:r>
                    </a:p>
                    <a:p>
                      <a:r>
                        <a:rPr sz="950" b="0">
                          <a:solidFill>
                            <a:srgbClr val="4B4B4B"/>
                          </a:solidFill>
                          <a:latin typeface="Arial"/>
                        </a:rPr>
                        <a:t>Client record › Confirmed Proposals tab</a:t>
                      </a:r>
                    </a:p>
                    <a:p>
                      <a:r>
                        <a:rPr sz="950" b="0">
                          <a:solidFill>
                            <a:srgbClr val="4B4B4B"/>
                          </a:solidFill>
                          <a:latin typeface="Arial"/>
                        </a:rPr>
                        <a:t>My Work links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FR-NB-050, FR-NB-052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and TSU follow every non-package request from draft to acceptance.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graphicFrame>
        <p:nvGraphicFramePr>
          <p:cNvPr id="9" name="Table 8"/>
          <p:cNvGraphicFramePr>
            <a:graphicFrameLocks noGrp="1"/>
          </p:cNvGraphicFramePr>
          <p:nvPr/>
        </p:nvGraphicFramePr>
        <p:xfrm>
          <a:off x="548640" y="1325880"/>
          <a:ext cx="11094411" cy="307846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Drafts / For Approval / With TSU / With Client / Accepted / Not Proceeded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With TSU lists every TSU stage; With Client lists released and sent proposals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PRF No., ARN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PRF No., ARN or client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Only My PRFs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PRFs created by the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PRF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PRF-yyyy-nnnnnn and the creation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ARN-yyyy-nnnnnn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Client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and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Product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Product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Sum Insured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Total sum insured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Slips / Chosen 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QS-yyyy-nnnnnn / PS-yyyy-nnnnnn, with the insurer of the proposal slip under them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badge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TSU Workbench</a:t>
                      </a:r>
                    </a:p>
                  </a:txBody>
                  <a:tcPr marL="54864" marR="54864" marT="27432" marB="27432">
                    <a:solidFill>
                      <a:srgbClr val="FFFFFF"/>
                    </a:solidFill>
                  </a:tcPr>
                </a:tc>
                <a:tc>
                  <a:txBody>
                    <a:bodyPr/>
                    <a:lstStyle/>
                    <a:p>
                      <a:r>
                        <a:rPr sz="850" b="0">
                          <a:solidFill>
                            <a:srgbClr val="4B4B4B"/>
                          </a:solidFill>
                          <a:latin typeface="Arial"/>
                        </a:rPr>
                        <a:t>TSU_PROCESS or TSU_APPROVE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TSU Workbench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New PRF</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New Proposal Request form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PRF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list is shared by Marketing and TSU; each sees and acts on the stages its permissions allow (FR-NB-050, FR-NB-052).</a:t>
                      </a:r>
                    </a:p>
                  </a:txBody>
                  <a:tcPr marL="54864" marR="54864" marT="27432" marB="27432">
                    <a:solidFill>
                      <a:srgbClr val="FFFFFF"/>
                    </a:solidFill>
                  </a:tcPr>
                </a:tc>
              </a:tr>
            </a:tbl>
          </a:graphicData>
        </a:graphic>
      </p:graphicFrame>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Proposal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9-01-list.png"/>
          <p:cNvPicPr>
            <a:picLocks noChangeAspect="1"/>
          </p:cNvPicPr>
          <p:nvPr/>
        </p:nvPicPr>
        <p:blipFill>
          <a:blip r:embed="rId3"/>
          <a:stretch>
            <a:fillRect/>
          </a:stretch>
        </p:blipFill>
        <p:spPr>
          <a:xfrm>
            <a:off x="812726" y="1261872"/>
            <a:ext cx="1056624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Proposal Requests, Drafts tab</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SCR-NB-09 Proposal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09-02-tsu.png"/>
          <p:cNvPicPr>
            <a:picLocks noChangeAspect="1"/>
          </p:cNvPicPr>
          <p:nvPr/>
        </p:nvPicPr>
        <p:blipFill>
          <a:blip r:embed="rId3"/>
          <a:stretch>
            <a:fillRect/>
          </a:stretch>
        </p:blipFill>
        <p:spPr>
          <a:xfrm>
            <a:off x="1796593" y="1261872"/>
            <a:ext cx="859850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With TSU tab as seen by the TSU officer</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SCR-NB-10 New Proposal Request and Edit Proposal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Non-package placement (PRF)</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Proposal Request Form: client and product line, risk details in free-form sections, the risk items, the insurers Marketing asks TSU to approach, and the mandatory documents of the product. Marketing edits a draft; TSU edits the PRF while it is in the TSU queue.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Non-Package Management › New Proposal Request</a:t>
                      </a:r>
                    </a:p>
                    <a:p>
                      <a:r>
                        <a:rPr sz="950" b="0">
                          <a:solidFill>
                            <a:srgbClr val="4B4B4B"/>
                          </a:solidFill>
                          <a:latin typeface="Arial"/>
                        </a:rPr>
                        <a:t>Non-Package Management › New Proposal Request</a:t>
                      </a:r>
                    </a:p>
                    <a:p>
                      <a:r>
                        <a:rPr sz="950" b="0">
                          <a:solidFill>
                            <a:srgbClr val="4B4B4B"/>
                          </a:solidFill>
                          <a:latin typeface="Arial"/>
                        </a:rPr>
                        <a:t>Proposal Requests › New PRF</a:t>
                      </a:r>
                    </a:p>
                    <a:p>
                      <a:r>
                        <a:rPr sz="950" b="0">
                          <a:solidFill>
                            <a:srgbClr val="4B4B4B"/>
                          </a:solidFill>
                          <a:latin typeface="Arial"/>
                        </a:rPr>
                        <a:t>PRF record › Edit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FR-NB-050, FR-NB-005, FR-NB-017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PRF is complete with its documents and waits for Marketing approval.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graphicFrame>
        <p:nvGraphicFramePr>
          <p:cNvPr id="9" name="Table 8"/>
          <p:cNvGraphicFramePr>
            <a:graphicFrameLocks noGrp="1"/>
          </p:cNvGraphicFramePr>
          <p:nvPr/>
        </p:nvGraphicFramePr>
        <p:xfrm>
          <a:off x="548640" y="1325880"/>
          <a:ext cx="11094411" cy="476247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Client and product</a:t>
                      </a:r>
                    </a:p>
                  </a:txBody>
                  <a:tcPr marL="54864" marR="54864" marT="27432" marB="27432">
                    <a:solidFill>
                      <a:srgbClr val="FFFFFF"/>
                    </a:solidFill>
                  </a:tcPr>
                </a:tc>
                <a:tc>
                  <a:txBody>
                    <a:bodyPr/>
                    <a:lstStyle/>
                    <a:p>
                      <a:r>
                        <a:rPr sz="850" b="0">
                          <a:solidFill>
                            <a:srgbClr val="4B4B4B"/>
                          </a:solidFill>
                          <a:latin typeface="Arial"/>
                        </a:rPr>
                        <a:t>Client or prospect</a:t>
                      </a:r>
                    </a:p>
                  </a:txBody>
                  <a:tcPr marL="54864" marR="54864" marT="27432" marB="27432">
                    <a:solidFill>
                      <a:srgbClr val="FFFFFF"/>
                    </a:solidFill>
                  </a:tcPr>
                </a:tc>
                <a:tc>
                  <a:txBody>
                    <a:bodyPr/>
                    <a:lstStyle/>
                    <a:p>
                      <a:r>
                        <a:rPr sz="850" b="0">
                          <a:solidFill>
                            <a:srgbClr val="4B4B4B"/>
                          </a:solidFill>
                          <a:latin typeface="Arial"/>
                        </a:rPr>
                        <a:t>Look-up</a:t>
                      </a:r>
                    </a:p>
                  </a:txBody>
                  <a:tcPr marL="54864" marR="54864" marT="27432" marB="27432">
                    <a:solidFill>
                      <a:srgbClr val="FFFFFF"/>
                    </a:solidFill>
                  </a:tcPr>
                </a:tc>
                <a:tc>
                  <a:txBody>
                    <a:bodyPr/>
                    <a:lstStyle/>
                    <a:p>
                      <a:r>
                        <a:rPr sz="850" b="0">
                          <a:solidFill>
                            <a:srgbClr val="4B4B4B"/>
                          </a:solidFill>
                          <a:latin typeface="Arial"/>
                        </a:rPr>
                        <a:t>Code or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client or prospect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Client and product</a:t>
                      </a:r>
                    </a:p>
                  </a:txBody>
                  <a:tcPr marL="54864" marR="54864" marT="27432" marB="27432">
                    <a:solidFill>
                      <a:srgbClr val="E5F5FF"/>
                    </a:solidFill>
                  </a:tcPr>
                </a:tc>
                <a:tc>
                  <a:txBody>
                    <a:bodyPr/>
                    <a:lstStyle/>
                    <a:p>
                      <a:r>
                        <a:rPr sz="850" b="0">
                          <a:solidFill>
                            <a:srgbClr val="4B4B4B"/>
                          </a:solidFill>
                          <a:latin typeface="Arial"/>
                        </a:rPr>
                        <a:t>Product line and risk code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Code – name; (non-package) marked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Non-package risks always go to TSU; a package risk only when a TSU rule applies</a:t>
                      </a:r>
                    </a:p>
                  </a:txBody>
                  <a:tcPr marL="54864" marR="54864" marT="27432" marB="27432">
                    <a:solidFill>
                      <a:srgbClr val="E5F5FF"/>
                    </a:solidFill>
                  </a:tcPr>
                </a:tc>
                <a:tc>
                  <a:txBody>
                    <a:bodyPr/>
                    <a:lstStyle/>
                    <a:p>
                      <a:r>
                        <a:rPr sz="850" b="0">
                          <a:solidFill>
                            <a:srgbClr val="4B4B4B"/>
                          </a:solidFill>
                          <a:latin typeface="Arial"/>
                        </a:rPr>
                        <a:t>Select the product / No TSU rule applies to this package risk: quote it directly as a package quotation</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Client and product</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The product must be offered to the segment</a:t>
                      </a:r>
                    </a:p>
                  </a:txBody>
                  <a:tcPr marL="54864" marR="54864" marT="27432" marB="27432">
                    <a:solidFill>
                      <a:srgbClr val="FFFFFF"/>
                    </a:solidFill>
                  </a:tcPr>
                </a:tc>
                <a:tc>
                  <a:txBody>
                    <a:bodyPr/>
                    <a:lstStyle/>
                    <a:p>
                      <a:r>
                        <a:rPr sz="850" b="0">
                          <a:solidFill>
                            <a:srgbClr val="4B4B4B"/>
                          </a:solidFill>
                          <a:latin typeface="Arial"/>
                        </a:rPr>
                        <a:t>Product &lt;code&gt; is not offered to segment &lt;segment&gt;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Client and product</a:t>
                      </a:r>
                    </a:p>
                  </a:txBody>
                  <a:tcPr marL="54864" marR="54864" marT="27432" marB="27432">
                    <a:solidFill>
                      <a:srgbClr val="E5F5FF"/>
                    </a:solidFill>
                  </a:tcPr>
                </a:tc>
                <a:tc>
                  <a:txBody>
                    <a:bodyPr/>
                    <a:lstStyle/>
                    <a:p>
                      <a:r>
                        <a:rPr sz="850" b="0">
                          <a:solidFill>
                            <a:srgbClr val="4B4B4B"/>
                          </a:solidFill>
                          <a:latin typeface="Arial"/>
                        </a:rPr>
                        <a:t>Period from</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Client and product</a:t>
                      </a:r>
                    </a:p>
                  </a:txBody>
                  <a:tcPr marL="54864" marR="54864" marT="27432" marB="27432">
                    <a:solidFill>
                      <a:srgbClr val="FFFFFF"/>
                    </a:solidFill>
                  </a:tcPr>
                </a:tc>
                <a:tc>
                  <a:txBody>
                    <a:bodyPr/>
                    <a:lstStyle/>
                    <a:p>
                      <a:r>
                        <a:rPr sz="850" b="0">
                          <a:solidFill>
                            <a:srgbClr val="4B4B4B"/>
                          </a:solidFill>
                          <a:latin typeface="Arial"/>
                        </a:rPr>
                        <a:t>Period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After Period from</a:t>
                      </a:r>
                    </a:p>
                  </a:txBody>
                  <a:tcPr marL="54864" marR="54864" marT="27432" marB="27432">
                    <a:solidFill>
                      <a:srgbClr val="FFFFFF"/>
                    </a:solidFill>
                  </a:tcPr>
                </a:tc>
                <a:tc>
                  <a:txBody>
                    <a:bodyPr/>
                    <a:lstStyle/>
                    <a:p>
                      <a:r>
                        <a:rPr sz="850" b="0">
                          <a:solidFill>
                            <a:srgbClr val="4B4B4B"/>
                          </a:solidFill>
                          <a:latin typeface="Arial"/>
                        </a:rPr>
                        <a:t>The period end must be after the period start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Risk details</a:t>
                      </a:r>
                    </a:p>
                  </a:txBody>
                  <a:tcPr marL="54864" marR="54864" marT="27432" marB="27432">
                    <a:solidFill>
                      <a:srgbClr val="E5F5FF"/>
                    </a:solidFill>
                  </a:tcPr>
                </a:tc>
                <a:tc>
                  <a:txBody>
                    <a:bodyPr/>
                    <a:lstStyle/>
                    <a:p>
                      <a:r>
                        <a:rPr sz="850" b="0">
                          <a:solidFill>
                            <a:srgbClr val="4B4B4B"/>
                          </a:solidFill>
                          <a:latin typeface="Arial"/>
                        </a:rPr>
                        <a:t>Heading</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Suggested headings: Description of the risk, Occupancy / operations, Loss history, Requested cover and limits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998213">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Risk details</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4,000 characters per section</a:t>
                      </a:r>
                    </a:p>
                  </a:txBody>
                  <a:tcPr marL="54864" marR="54864" marT="27432" marB="27432">
                    <a:solidFill>
                      <a:srgbClr val="FFFFFF"/>
                    </a:solidFill>
                  </a:tcPr>
                </a:tc>
                <a:tc>
                  <a:txBody>
                    <a:bodyPr/>
                    <a:lstStyle/>
                    <a:p>
                      <a:r>
                        <a:rPr sz="850" b="0">
                          <a:solidFill>
                            <a:srgbClr val="4B4B4B"/>
                          </a:solidFill>
                          <a:latin typeface="Arial"/>
                        </a:rPr>
                        <a:t>Cond.: risk details or risk items before submission</a:t>
                      </a:r>
                    </a:p>
                  </a:txBody>
                  <a:tcPr marL="54864" marR="54864" marT="27432" marB="27432">
                    <a:solidFill>
                      <a:srgbClr val="FFFFFF"/>
                    </a:solidFill>
                  </a:tcPr>
                </a:tc>
                <a:tc>
                  <a:txBody>
                    <a:bodyPr/>
                    <a:lstStyle/>
                    <a:p>
                      <a:r>
                        <a:rPr sz="850" b="0">
                          <a:solidFill>
                            <a:srgbClr val="4B4B4B"/>
                          </a:solidFill>
                          <a:latin typeface="Arial"/>
                        </a:rPr>
                        <a:t>Sections without text are not saved</a:t>
                      </a:r>
                    </a:p>
                  </a:txBody>
                  <a:tcPr marL="54864" marR="54864" marT="27432" marB="27432">
                    <a:solidFill>
                      <a:srgbClr val="FFFFFF"/>
                    </a:solidFill>
                  </a:tcPr>
                </a:tc>
                <a:tc>
                  <a:txBody>
                    <a:bodyPr/>
                    <a:lstStyle/>
                    <a:p>
                      <a:r>
                        <a:rPr sz="850" b="0">
                          <a:solidFill>
                            <a:srgbClr val="4B4B4B"/>
                          </a:solidFill>
                          <a:latin typeface="Arial"/>
                        </a:rPr>
                        <a:t>Describe the risk (sections or risk items) before submitting</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Risk items</a:t>
                      </a:r>
                    </a:p>
                  </a:txBody>
                  <a:tcPr marL="54864" marR="54864" marT="27432" marB="27432">
                    <a:solidFill>
                      <a:srgbClr val="E5F5FF"/>
                    </a:solidFill>
                  </a:tcPr>
                </a:tc>
                <a:tc>
                  <a:txBody>
                    <a:bodyPr/>
                    <a:lstStyle/>
                    <a:p>
                      <a:r>
                        <a:rPr sz="850" b="0">
                          <a:solidFill>
                            <a:srgbClr val="4B4B4B"/>
                          </a:solidFill>
                          <a:latin typeface="Arial"/>
                        </a:rPr>
                        <a:t>Vehicle, location, person or item fields</a:t>
                      </a:r>
                    </a:p>
                  </a:txBody>
                  <a:tcPr marL="54864" marR="54864" marT="27432" marB="27432">
                    <a:solidFill>
                      <a:srgbClr val="E5F5FF"/>
                    </a:solidFill>
                  </a:tcPr>
                </a:tc>
                <a:tc>
                  <a:txBody>
                    <a:bodyPr/>
                    <a:lstStyle/>
                    <a:p>
                      <a:r>
                        <a:rPr sz="850" b="0">
                          <a:solidFill>
                            <a:srgbClr val="4B4B4B"/>
                          </a:solidFill>
                          <a:latin typeface="Arial"/>
                        </a:rPr>
                        <a:t>As on New Quotation</a:t>
                      </a:r>
                    </a:p>
                  </a:txBody>
                  <a:tcPr marL="54864" marR="54864" marT="27432" marB="27432">
                    <a:solidFill>
                      <a:srgbClr val="E5F5FF"/>
                    </a:solidFill>
                  </a:tcPr>
                </a:tc>
                <a:tc>
                  <a:txBody>
                    <a:bodyPr/>
                    <a:lstStyle/>
                    <a:p>
                      <a:r>
                        <a:rPr sz="850" b="0">
                          <a:solidFill>
                            <a:srgbClr val="4B4B4B"/>
                          </a:solidFill>
                          <a:latin typeface="Arial"/>
                        </a:rPr>
                        <a:t>As on New Quotation</a:t>
                      </a:r>
                    </a:p>
                  </a:txBody>
                  <a:tcPr marL="54864" marR="54864" marT="27432" marB="27432">
                    <a:solidFill>
                      <a:srgbClr val="E5F5FF"/>
                    </a:solidFill>
                  </a:tcPr>
                </a:tc>
                <a:tc>
                  <a:txBody>
                    <a:bodyPr/>
                    <a:lstStyle/>
                    <a:p>
                      <a:r>
                        <a:rPr sz="850" b="0">
                          <a:solidFill>
                            <a:srgbClr val="4B4B4B"/>
                          </a:solidFill>
                          <a:latin typeface="Arial"/>
                        </a:rPr>
                        <a:t>Per the product's field rules</a:t>
                      </a:r>
                    </a:p>
                  </a:txBody>
                  <a:tcPr marL="54864" marR="54864" marT="27432" marB="27432">
                    <a:solidFill>
                      <a:srgbClr val="E5F5FF"/>
                    </a:solidFill>
                  </a:tcPr>
                </a:tc>
                <a:tc>
                  <a:txBody>
                    <a:bodyPr/>
                    <a:lstStyle/>
                    <a:p>
                      <a:r>
                        <a:rPr sz="850" b="0">
                          <a:solidFill>
                            <a:srgbClr val="4B4B4B"/>
                          </a:solidFill>
                          <a:latin typeface="Arial"/>
                        </a:rPr>
                        <a:t>As on New Quotation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Insurers requested</a:t>
                      </a:r>
                    </a:p>
                  </a:txBody>
                  <a:tcPr marL="54864" marR="54864" marT="27432" marB="27432">
                    <a:solidFill>
                      <a:srgbClr val="FFFFFF"/>
                    </a:solidFill>
                  </a:tcPr>
                </a:tc>
                <a:tc>
                  <a:txBody>
                    <a:bodyPr/>
                    <a:lstStyle/>
                    <a:p>
                      <a:r>
                        <a:rPr sz="850" b="0">
                          <a:solidFill>
                            <a:srgbClr val="4B4B4B"/>
                          </a:solidFill>
                          <a:latin typeface="Arial"/>
                        </a:rPr>
                        <a:t>Insurer check boxes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One per active insurer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TSU confirms the list on the Quotation Slip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Mandatory documents</a:t>
                      </a:r>
                    </a:p>
                  </a:txBody>
                  <a:tcPr marL="54864" marR="54864" marT="27432" marB="27432">
                    <a:solidFill>
                      <a:srgbClr val="E5F5FF"/>
                    </a:solidFill>
                  </a:tcPr>
                </a:tc>
                <a:tc>
                  <a:txBody>
                    <a:bodyPr/>
                    <a:lstStyle/>
                    <a:p>
                      <a:r>
                        <a:rPr sz="850" b="0">
                          <a:solidFill>
                            <a:srgbClr val="4B4B4B"/>
                          </a:solidFill>
                          <a:latin typeface="Arial"/>
                        </a:rPr>
                        <a:t>Checklist</a:t>
                      </a:r>
                    </a:p>
                  </a:txBody>
                  <a:tcPr marL="54864" marR="54864" marT="27432" marB="27432">
                    <a:solidFill>
                      <a:srgbClr val="E5F5FF"/>
                    </a:solidFill>
                  </a:tcPr>
                </a:tc>
                <a:tc>
                  <a:txBody>
                    <a:bodyPr/>
                    <a:lstStyle/>
                    <a:p>
                      <a:r>
                        <a:rPr sz="850" b="0">
                          <a:solidFill>
                            <a:srgbClr val="4B4B4B"/>
                          </a:solidFill>
                          <a:latin typeface="Arial"/>
                        </a:rPr>
                        <a:t>Checklist</a:t>
                      </a:r>
                    </a:p>
                  </a:txBody>
                  <a:tcPr marL="54864" marR="54864" marT="27432" marB="27432">
                    <a:solidFill>
                      <a:srgbClr val="E5F5FF"/>
                    </a:solidFill>
                  </a:tcPr>
                </a:tc>
                <a:tc>
                  <a:txBody>
                    <a:bodyPr/>
                    <a:lstStyle/>
                    <a:p>
                      <a:r>
                        <a:rPr sz="850" b="0">
                          <a:solidFill>
                            <a:srgbClr val="4B4B4B"/>
                          </a:solidFill>
                          <a:latin typeface="Arial"/>
                        </a:rPr>
                        <a:t>One line per mandatory document of the product, Attached or Missing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Every mandatory document before submission</a:t>
                      </a:r>
                    </a:p>
                  </a:txBody>
                  <a:tcPr marL="54864" marR="54864" marT="27432" marB="27432">
                    <a:solidFill>
                      <a:srgbClr val="E5F5FF"/>
                    </a:solidFill>
                  </a:tcPr>
                </a:tc>
                <a:tc>
                  <a:txBody>
                    <a:bodyPr/>
                    <a:lstStyle/>
                    <a:p>
                      <a:r>
                        <a:rPr sz="850" b="0">
                          <a:solidFill>
                            <a:srgbClr val="4B4B4B"/>
                          </a:solidFill>
                          <a:latin typeface="Arial"/>
                        </a:rPr>
                        <a:t>Attach the mandatory documents: &lt;documents&gt;</a:t>
                      </a:r>
                    </a:p>
                  </a:txBody>
                  <a:tcPr marL="54864" marR="54864" marT="27432" marB="27432">
                    <a:solidFill>
                      <a:srgbClr val="E5F5FF"/>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graphicFrame>
        <p:nvGraphicFramePr>
          <p:cNvPr id="9" name="Table 8"/>
          <p:cNvGraphicFramePr>
            <a:graphicFrameLocks noGrp="1"/>
          </p:cNvGraphicFramePr>
          <p:nvPr/>
        </p:nvGraphicFramePr>
        <p:xfrm>
          <a:off x="548640" y="1325880"/>
          <a:ext cx="11094411" cy="44195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PROPOSAL_REQUEST (TSU_PROCESS in the TSU queue)</a:t>
                      </a:r>
                    </a:p>
                  </a:txBody>
                  <a:tcPr marL="54864" marR="54864" marT="27432" marB="27432">
                    <a:solidFill>
                      <a:srgbClr val="FFFFFF"/>
                    </a:solidFill>
                  </a:tcPr>
                </a:tc>
                <a:tc>
                  <a:txBody>
                    <a:bodyPr/>
                    <a:lstStyle/>
                    <a:p>
                      <a:r>
                        <a:rPr sz="850" b="0">
                          <a:solidFill>
                            <a:srgbClr val="4B4B4B"/>
                          </a:solidFill>
                          <a:latin typeface="Arial"/>
                        </a:rPr>
                        <a:t>Client and product chosen</a:t>
                      </a:r>
                    </a:p>
                  </a:txBody>
                  <a:tcPr marL="54864" marR="54864" marT="27432" marB="27432">
                    <a:solidFill>
                      <a:srgbClr val="FFFFFF"/>
                    </a:solidFill>
                  </a:tcPr>
                </a:tc>
                <a:tc>
                  <a:txBody>
                    <a:bodyPr/>
                    <a:lstStyle/>
                    <a:p>
                      <a:r>
                        <a:rPr sz="850" b="0">
                          <a:solidFill>
                            <a:srgbClr val="4B4B4B"/>
                          </a:solidFill>
                          <a:latin typeface="Arial"/>
                        </a:rPr>
                        <a:t>Saves the PRF; the first save gives the PRF reference and the ARN</a:t>
                      </a:r>
                    </a:p>
                  </a:txBody>
                  <a:tcPr marL="54864" marR="54864" marT="27432" marB="27432">
                    <a:solidFill>
                      <a:srgbClr val="FFFFFF"/>
                    </a:solidFill>
                  </a:tcPr>
                </a:tc>
                <a:tc>
                  <a:txBody>
                    <a:bodyPr/>
                    <a:lstStyle/>
                    <a:p>
                      <a:r>
                        <a:rPr sz="850" b="0">
                          <a:solidFill>
                            <a:srgbClr val="4B4B4B"/>
                          </a:solidFill>
                          <a:latin typeface="Arial"/>
                        </a:rPr>
                        <a:t>Draft PRF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Saves, checks the risk details and the mandatory documents, and sends the PRF for Marketing approval</a:t>
                      </a:r>
                    </a:p>
                  </a:txBody>
                  <a:tcPr marL="54864" marR="54864" marT="27432" marB="27432">
                    <a:solidFill>
                      <a:srgbClr val="E5F5FF"/>
                    </a:solidFill>
                  </a:tcPr>
                </a:tc>
                <a:tc>
                  <a:txBody>
                    <a:bodyPr/>
                    <a:lstStyle/>
                    <a:p>
                      <a:r>
                        <a:rPr sz="850" b="0">
                          <a:solidFill>
                            <a:srgbClr val="4B4B4B"/>
                          </a:solidFill>
                          <a:latin typeface="Arial"/>
                        </a:rPr>
                        <a:t>For Marketing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PRF is approved by a Marketing TL, TH or UH other than its maker (FR-NB-051).</a:t>
                      </a:r>
                    </a:p>
                  </a:txBody>
                  <a:tcPr marL="54864" marR="54864" marT="27432" marB="27432">
                    <a:solidFill>
                      <a:srgbClr val="FFFFFF"/>
                    </a:solidFill>
                  </a:tcPr>
                </a:tc>
              </a:tr>
              <a:tr h="243840">
                <a:tc>
                  <a:txBody>
                    <a:bodyPr/>
                    <a:lstStyle/>
                    <a:p>
                      <a:r>
                        <a:rPr sz="1000" b="0">
                          <a:solidFill>
                            <a:srgbClr val="4B4B4B"/>
                          </a:solidFill>
                          <a:latin typeface="Arial"/>
                        </a:rPr>
                        <a:t>The PRF carries the ARN used for every account created from it (FR-NB-047, FR-NB-050).</a:t>
                      </a:r>
                    </a:p>
                  </a:txBody>
                  <a:tcPr marL="54864" marR="54864" marT="27432" marB="27432">
                    <a:solidFill>
                      <a:srgbClr val="E5F5FF"/>
                    </a:solidFill>
                  </a:tcPr>
                </a:tc>
              </a:tr>
              <a:tr h="243840">
                <a:tc>
                  <a:txBody>
                    <a:bodyPr/>
                    <a:lstStyle/>
                    <a:p>
                      <a:r>
                        <a:rPr sz="1000" b="0">
                          <a:solidFill>
                            <a:srgbClr val="4B4B4B"/>
                          </a:solidFill>
                          <a:latin typeface="Arial"/>
                        </a:rPr>
                        <a:t>A package risk is sent to TSU only when a TSU routing rule applies (FR-NB-005).</a:t>
                      </a:r>
                    </a:p>
                  </a:txBody>
                  <a:tcPr marL="54864" marR="54864" marT="27432" marB="27432">
                    <a:solidFill>
                      <a:srgbClr val="FFFFFF"/>
                    </a:solidFill>
                  </a:tcPr>
                </a:tc>
              </a:tr>
            </a:tbl>
          </a:graphicData>
        </a:graphic>
      </p:graphicFrame>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1</a:t>
                      </a:r>
                    </a:p>
                  </a:txBody>
                  <a:tcPr marL="54864" marR="54864" marT="27432" marB="27432">
                    <a:solidFill>
                      <a:srgbClr val="FFFFFF"/>
                    </a:solidFill>
                  </a:tcPr>
                </a:tc>
                <a:tc>
                  <a:txBody>
                    <a:bodyPr/>
                    <a:lstStyle/>
                    <a:p>
                      <a:r>
                        <a:rPr sz="900" b="0">
                          <a:solidFill>
                            <a:srgbClr val="4B4B4B"/>
                          </a:solidFill>
                          <a:latin typeface="Arial"/>
                        </a:rPr>
                        <a:t>Opens New Proposal Request, chooses the client and CAR00, describes the risk, adds the item, ticks three insurers, attaches the mandatory documents and clicks Submit for Approval</a:t>
                      </a:r>
                    </a:p>
                  </a:txBody>
                  <a:tcPr marL="54864" marR="54864" marT="27432" marB="27432">
                    <a:solidFill>
                      <a:srgbClr val="FFFFFF"/>
                    </a:solidFill>
                  </a:tcPr>
                </a:tc>
                <a:tc>
                  <a:txBody>
                    <a:bodyPr/>
                    <a:lstStyle/>
                    <a:p>
                      <a:r>
                        <a:rPr sz="900" b="0">
                          <a:solidFill>
                            <a:srgbClr val="4B4B4B"/>
                          </a:solidFill>
                          <a:latin typeface="Arial"/>
                        </a:rPr>
                        <a:t>SCR-NB-10_wt-b-step-01.png</a:t>
                      </a:r>
                    </a:p>
                  </a:txBody>
                  <a:tcPr marL="54864" marR="54864" marT="27432" marB="27432">
                    <a:solidFill>
                      <a:srgbClr val="FFFFFF"/>
                    </a:solidFill>
                  </a:tcPr>
                </a:tc>
              </a:tr>
            </a:tbl>
          </a:graphicData>
        </a:graphic>
      </p:graphicFrame>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with risk details, items and requested insurers (part 1 of 4)</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with risk details, items and requested insurers (part 2 of 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6.png"/>
          <p:cNvPicPr>
            <a:picLocks noChangeAspect="1"/>
          </p:cNvPicPr>
          <p:nvPr/>
        </p:nvPicPr>
        <p:blipFill>
          <a:blip r:embed="rId3"/>
          <a:stretch>
            <a:fillRect/>
          </a:stretch>
        </p:blipFill>
        <p:spPr>
          <a:xfrm>
            <a:off x="548640" y="1261872"/>
            <a:ext cx="11094415" cy="46529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with risk details, items and requested insurers (part 3 of 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7.png"/>
          <p:cNvPicPr>
            <a:picLocks noChangeAspect="1"/>
          </p:cNvPicPr>
          <p:nvPr/>
        </p:nvPicPr>
        <p:blipFill>
          <a:blip r:embed="rId3"/>
          <a:stretch>
            <a:fillRect/>
          </a:stretch>
        </p:blipFill>
        <p:spPr>
          <a:xfrm>
            <a:off x="548640" y="1261872"/>
            <a:ext cx="11094415" cy="443298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with risk details, items and requested insurers (part 4 of 4)</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Validation error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48.png"/>
          <p:cNvPicPr>
            <a:picLocks noChangeAspect="1"/>
          </p:cNvPicPr>
          <p:nvPr/>
        </p:nvPicPr>
        <p:blipFill>
          <a:blip r:embed="rId3"/>
          <a:stretch>
            <a:fillRect/>
          </a:stretch>
        </p:blipFill>
        <p:spPr>
          <a:xfrm>
            <a:off x="548640" y="1261872"/>
            <a:ext cx="11094415" cy="45907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Messages when the PRF is submitted without client and product (part 1 of 4)</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Validation error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4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Messages when the PRF is submitted without client and product (part 2 of 4)</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Validation error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Messages when the PRF is submitted without client and product (part 3 of 4)</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Validation error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1.png"/>
          <p:cNvPicPr>
            <a:picLocks noChangeAspect="1"/>
          </p:cNvPicPr>
          <p:nvPr/>
        </p:nvPicPr>
        <p:blipFill>
          <a:blip r:embed="rId3"/>
          <a:stretch>
            <a:fillRect/>
          </a:stretch>
        </p:blipFill>
        <p:spPr>
          <a:xfrm>
            <a:off x="548640" y="1261872"/>
            <a:ext cx="11094415" cy="175023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Messages when the PRF is submitted without client and product (part 4 of 4)</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Empty list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5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Proposal Request form (part 1 of 4)</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Empty list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53.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Proposal Request form (part 2 of 4)</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Empty list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5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Proposal Request form (part 3 of 4)</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SCR-NB-10 New Proposal Request and Edit Proposal Request: Empty list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55.png"/>
          <p:cNvPicPr>
            <a:picLocks noChangeAspect="1"/>
          </p:cNvPicPr>
          <p:nvPr/>
        </p:nvPicPr>
        <p:blipFill>
          <a:blip r:embed="rId3"/>
          <a:stretch>
            <a:fillRect/>
          </a:stretch>
        </p:blipFill>
        <p:spPr>
          <a:xfrm>
            <a:off x="548640" y="1261872"/>
            <a:ext cx="11094415" cy="14250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Proposal Request form (part 4 of 4)</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Proposal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Non-package placement (PRF)</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PRF through all its stages. Marketing approves it; TSU accepts it, selects the insurers, prepares the quotation slip for approval by a second TSU officer, keys in the insurer terms, recommends an insurer and prepares the proposal slip; Marketing sends the proposal to the client, records the acceptance and creates the accounts.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Non-Package Management › Proposal Requests › Proposal Request</a:t>
                      </a:r>
                    </a:p>
                    <a:p>
                      <a:r>
                        <a:rPr sz="950" b="0">
                          <a:solidFill>
                            <a:srgbClr val="4B4B4B"/>
                          </a:solidFill>
                          <a:latin typeface="Arial"/>
                        </a:rPr>
                        <a:t>Proposal Requests › open a row</a:t>
                      </a:r>
                    </a:p>
                    <a:p>
                      <a:r>
                        <a:rPr sz="950" b="0">
                          <a:solidFill>
                            <a:srgbClr val="4B4B4B"/>
                          </a:solidFill>
                          <a:latin typeface="Arial"/>
                        </a:rPr>
                        <a:t>TSU Workbench › open a row</a:t>
                      </a:r>
                    </a:p>
                    <a:p>
                      <a:r>
                        <a:rPr sz="950" b="0">
                          <a:solidFill>
                            <a:srgbClr val="4B4B4B"/>
                          </a:solidFill>
                          <a:latin typeface="Arial"/>
                        </a:rPr>
                        <a:t>Client record › Confirmed Proposals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FR-NB-051, FR-NB-052, FR-NB-053, FR-NB-054, FR-NB-055, FR-NB-056, FR-NB-057</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 has accepted the proposal and its accounts exist in draft under the PRF's ARN.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8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SCR-NB-11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graphicFrame>
        <p:nvGraphicFramePr>
          <p:cNvPr id="9" name="Table 8"/>
          <p:cNvGraphicFramePr>
            <a:graphicFrameLocks noGrp="1"/>
          </p:cNvGraphicFramePr>
          <p:nvPr/>
        </p:nvGraphicFramePr>
        <p:xfrm>
          <a:off x="548640" y="1325880"/>
          <a:ext cx="11094411" cy="48158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Client, Product, Period, Total sum insured, Insurers, Slips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TSU tag</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The TSU routing reason on hover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Risk details, Risk items, Routing and insurers, Mandatory documents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TSU routing, requested insurers, submitted, approved (Marketing),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Quotation Slip tab</a:t>
                      </a:r>
                    </a:p>
                  </a:txBody>
                  <a:tcPr marL="54864" marR="54864" marT="27432" marB="27432">
                    <a:solidFill>
                      <a:srgbClr val="E5F5FF"/>
                    </a:solidFill>
                  </a:tcPr>
                </a:tc>
                <a:tc>
                  <a:txBody>
                    <a:bodyPr/>
                    <a:lstStyle/>
                    <a:p>
                      <a:r>
                        <a:rPr sz="850" b="0">
                          <a:solidFill>
                            <a:srgbClr val="4B4B4B"/>
                          </a:solidFill>
                          <a:latin typeface="Arial"/>
                        </a:rPr>
                        <a:t>Insurers approached</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Active insurers of the panel</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Insurers are chosen before the slip is submitted; each needs a placement e-mail address</a:t>
                      </a:r>
                    </a:p>
                  </a:txBody>
                  <a:tcPr marL="54864" marR="54864" marT="27432" marB="27432">
                    <a:solidFill>
                      <a:srgbClr val="E5F5FF"/>
                    </a:solidFill>
                  </a:tcPr>
                </a:tc>
                <a:tc>
                  <a:txBody>
                    <a:bodyPr/>
                    <a:lstStyle/>
                    <a:p>
                      <a:r>
                        <a:rPr sz="850" b="0">
                          <a:solidFill>
                            <a:srgbClr val="4B4B4B"/>
                          </a:solidFill>
                          <a:latin typeface="Arial"/>
                        </a:rPr>
                        <a:t>Select at least one insurer of the panel for the quotation slip / &lt;insurer&gt; has no placement e-mail address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Quotation Slip tab</a:t>
                      </a:r>
                    </a:p>
                  </a:txBody>
                  <a:tcPr marL="54864" marR="54864" marT="27432" marB="27432">
                    <a:solidFill>
                      <a:srgbClr val="FFFFFF"/>
                    </a:solidFill>
                  </a:tcPr>
                </a:tc>
                <a:tc>
                  <a:txBody>
                    <a:bodyPr/>
                    <a:lstStyle/>
                    <a:p>
                      <a:r>
                        <a:rPr sz="850" b="0">
                          <a:solidFill>
                            <a:srgbClr val="4B4B4B"/>
                          </a:solidFill>
                          <a:latin typeface="Arial"/>
                        </a:rPr>
                        <a:t>Quotation slip</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QS number, reply date, PDF per insurer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Quotation slip dialog</a:t>
                      </a:r>
                    </a:p>
                  </a:txBody>
                  <a:tcPr marL="54864" marR="54864" marT="27432" marB="27432">
                    <a:solidFill>
                      <a:srgbClr val="E5F5FF"/>
                    </a:solidFill>
                  </a:tcPr>
                </a:tc>
                <a:tc>
                  <a:txBody>
                    <a:bodyPr/>
                    <a:lstStyle/>
                    <a:p>
                      <a:r>
                        <a:rPr sz="850" b="0">
                          <a:solidFill>
                            <a:srgbClr val="4B4B4B"/>
                          </a:solidFill>
                          <a:latin typeface="Arial"/>
                        </a:rPr>
                        <a:t>Insurers reply by</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Insurer Responses tab</a:t>
                      </a:r>
                    </a:p>
                  </a:txBody>
                  <a:tcPr marL="54864" marR="54864" marT="27432" marB="27432">
                    <a:solidFill>
                      <a:srgbClr val="FFFFFF"/>
                    </a:solidFill>
                  </a:tcPr>
                </a:tc>
                <a:tc>
                  <a:txBody>
                    <a:bodyPr/>
                    <a:lstStyle/>
                    <a:p>
                      <a:r>
                        <a:rPr sz="850" b="0">
                          <a:solidFill>
                            <a:srgbClr val="4B4B4B"/>
                          </a:solidFill>
                          <a:latin typeface="Arial"/>
                        </a:rPr>
                        <a:t>Responses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Response (with the Recommended pill under it), Premium, Rate %, Deductibles, Conditions, Valid Until, Document, Actions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Terms dialog</a:t>
                      </a:r>
                    </a:p>
                  </a:txBody>
                  <a:tcPr marL="54864" marR="54864" marT="27432" marB="27432">
                    <a:solidFill>
                      <a:srgbClr val="E5F5FF"/>
                    </a:solidFill>
                  </a:tcPr>
                </a:tc>
                <a:tc>
                  <a:txBody>
                    <a:bodyPr/>
                    <a:lstStyle/>
                    <a:p>
                      <a:r>
                        <a:rPr sz="850" b="0">
                          <a:solidFill>
                            <a:srgbClr val="4B4B4B"/>
                          </a:solidFill>
                          <a:latin typeface="Arial"/>
                        </a:rPr>
                        <a:t>Response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Terms received, Declined to quote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Terms are keyed in after the quotation slip is sent</a:t>
                      </a:r>
                    </a:p>
                  </a:txBody>
                  <a:tcPr marL="54864" marR="54864" marT="27432" marB="27432">
                    <a:solidFill>
                      <a:srgbClr val="E5F5FF"/>
                    </a:solidFill>
                  </a:tcPr>
                </a:tc>
                <a:tc>
                  <a:txBody>
                    <a:bodyPr/>
                    <a:lstStyle/>
                    <a:p>
                      <a:r>
                        <a:rPr sz="850" b="0">
                          <a:solidFill>
                            <a:srgbClr val="4B4B4B"/>
                          </a:solidFill>
                          <a:latin typeface="Arial"/>
                        </a:rPr>
                        <a:t>Insurer terms are keyed in after the quotation slip is sent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Terms dialog</a:t>
                      </a:r>
                    </a:p>
                  </a:txBody>
                  <a:tcPr marL="54864" marR="54864" marT="27432" marB="27432">
                    <a:solidFill>
                      <a:srgbClr val="FFFFFF"/>
                    </a:solidFill>
                  </a:tcPr>
                </a:tc>
                <a:tc>
                  <a:txBody>
                    <a:bodyPr/>
                    <a:lstStyle/>
                    <a:p>
                      <a:r>
                        <a:rPr sz="850" b="0">
                          <a:solidFill>
                            <a:srgbClr val="4B4B4B"/>
                          </a:solidFill>
                          <a:latin typeface="Arial"/>
                        </a:rPr>
                        <a:t>Premium</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0 or more</a:t>
                      </a:r>
                    </a:p>
                  </a:txBody>
                  <a:tcPr marL="54864" marR="54864" marT="27432" marB="27432">
                    <a:solidFill>
                      <a:srgbClr val="FFFFFF"/>
                    </a:solidFill>
                  </a:tcPr>
                </a:tc>
                <a:tc>
                  <a:txBody>
                    <a:bodyPr/>
                    <a:lstStyle/>
                    <a:p>
                      <a:r>
                        <a:rPr sz="850" b="0">
                          <a:solidFill>
                            <a:srgbClr val="4B4B4B"/>
                          </a:solidFill>
                          <a:latin typeface="Arial"/>
                        </a:rPr>
                        <a:t>Y when terms are received</a:t>
                      </a:r>
                    </a:p>
                  </a:txBody>
                  <a:tcPr marL="54864" marR="54864" marT="27432" marB="27432">
                    <a:solidFill>
                      <a:srgbClr val="FFFFFF"/>
                    </a:solidFill>
                  </a:tcPr>
                </a:tc>
                <a:tc>
                  <a:txBody>
                    <a:bodyPr/>
                    <a:lstStyle/>
                    <a:p>
                      <a:r>
                        <a:rPr sz="850" b="0">
                          <a:solidFill>
                            <a:srgbClr val="4B4B4B"/>
                          </a:solidFill>
                          <a:latin typeface="Arial"/>
                        </a:rPr>
                        <a:t>Needed for received terms</a:t>
                      </a:r>
                    </a:p>
                  </a:txBody>
                  <a:tcPr marL="54864" marR="54864" marT="27432" marB="27432">
                    <a:solidFill>
                      <a:srgbClr val="FFFFFF"/>
                    </a:solidFill>
                  </a:tcPr>
                </a:tc>
                <a:tc>
                  <a:txBody>
                    <a:bodyPr/>
                    <a:lstStyle/>
                    <a:p>
                      <a:r>
                        <a:rPr sz="850" b="0">
                          <a:solidFill>
                            <a:srgbClr val="4B4B4B"/>
                          </a:solidFill>
                          <a:latin typeface="Arial"/>
                        </a:rPr>
                        <a:t>Enter the premium quoted</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Terms dialog</a:t>
                      </a:r>
                    </a:p>
                  </a:txBody>
                  <a:tcPr marL="54864" marR="54864" marT="27432" marB="27432">
                    <a:solidFill>
                      <a:srgbClr val="E5F5FF"/>
                    </a:solidFill>
                  </a:tcPr>
                </a:tc>
                <a:tc>
                  <a:txBody>
                    <a:bodyPr/>
                    <a:lstStyle/>
                    <a:p>
                      <a:r>
                        <a:rPr sz="850" b="0">
                          <a:solidFill>
                            <a:srgbClr val="4B4B4B"/>
                          </a:solidFill>
                          <a:latin typeface="Arial"/>
                        </a:rPr>
                        <a:t>Rate %, Valid until, Deductibles, Conditions, Remarks</a:t>
                      </a:r>
                    </a:p>
                  </a:txBody>
                  <a:tcPr marL="54864" marR="54864" marT="27432" marB="27432">
                    <a:solidFill>
                      <a:srgbClr val="E5F5FF"/>
                    </a:solidFill>
                  </a:tcPr>
                </a:tc>
                <a:tc>
                  <a:txBody>
                    <a:bodyPr/>
                    <a:lstStyle/>
                    <a:p>
                      <a:r>
                        <a:rPr sz="850" b="0">
                          <a:solidFill>
                            <a:srgbClr val="4B4B4B"/>
                          </a:solidFill>
                          <a:latin typeface="Arial"/>
                        </a:rPr>
                        <a:t>Number / Date / Text</a:t>
                      </a:r>
                    </a:p>
                  </a:txBody>
                  <a:tcPr marL="54864" marR="54864" marT="27432" marB="27432">
                    <a:solidFill>
                      <a:srgbClr val="E5F5FF"/>
                    </a:solidFill>
                  </a:tcPr>
                </a:tc>
                <a:tc>
                  <a:txBody>
                    <a:bodyPr/>
                    <a:lstStyle/>
                    <a:p>
                      <a:r>
                        <a:rPr sz="850" b="0">
                          <a:solidFill>
                            <a:srgbClr val="4B4B4B"/>
                          </a:solidFill>
                          <a:latin typeface="Arial"/>
                        </a:rPr>
                        <a:t>Rate 4 decimals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Terms dialog</a:t>
                      </a:r>
                    </a:p>
                  </a:txBody>
                  <a:tcPr marL="54864" marR="54864" marT="27432" marB="27432">
                    <a:solidFill>
                      <a:srgbClr val="FFFFFF"/>
                    </a:solidFill>
                  </a:tcPr>
                </a:tc>
                <a:tc>
                  <a:txBody>
                    <a:bodyPr/>
                    <a:lstStyle/>
                    <a:p>
                      <a:r>
                        <a:rPr sz="850" b="0">
                          <a:solidFill>
                            <a:srgbClr val="4B4B4B"/>
                          </a:solidFill>
                          <a:latin typeface="Arial"/>
                        </a:rPr>
                        <a:t>Response document</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The insurer's quotation or e-mail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Stored as document type Insurer response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Insurer Responses tab</a:t>
                      </a:r>
                    </a:p>
                  </a:txBody>
                  <a:tcPr marL="54864" marR="54864" marT="27432" marB="27432">
                    <a:solidFill>
                      <a:srgbClr val="E5F5FF"/>
                    </a:solidFill>
                  </a:tcPr>
                </a:tc>
                <a:tc>
                  <a:txBody>
                    <a:bodyPr/>
                    <a:lstStyle/>
                    <a:p>
                      <a:r>
                        <a:rPr sz="850" b="0">
                          <a:solidFill>
                            <a:srgbClr val="4B4B4B"/>
                          </a:solidFill>
                          <a:latin typeface="Arial"/>
                        </a:rPr>
                        <a:t>Version history</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Changed, Response / Revision, Status, Premium, Valid Until, Recommended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SCR-NB-11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graphicFrame>
        <p:nvGraphicFramePr>
          <p:cNvPr id="9" name="Table 8"/>
          <p:cNvGraphicFramePr>
            <a:graphicFrameLocks noGrp="1"/>
          </p:cNvGraphicFramePr>
          <p:nvPr/>
        </p:nvGraphicFramePr>
        <p:xfrm>
          <a:off x="548640" y="1325880"/>
          <a:ext cx="11094411" cy="262126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Comparative Table tab</a:t>
                      </a:r>
                    </a:p>
                  </a:txBody>
                  <a:tcPr marL="54864" marR="54864" marT="27432" marB="27432">
                    <a:solidFill>
                      <a:srgbClr val="FFFFFF"/>
                    </a:solidFill>
                  </a:tcPr>
                </a:tc>
                <a:tc>
                  <a:txBody>
                    <a:bodyPr/>
                    <a:lstStyle/>
                    <a:p>
                      <a:r>
                        <a:rPr sz="850" b="0">
                          <a:solidFill>
                            <a:srgbClr val="4B4B4B"/>
                          </a:solidFill>
                          <a:latin typeface="Arial"/>
                        </a:rPr>
                        <a:t>Comparative table</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Response, Premium (lowest marked), Rate %, Deductibles, Conditions, Valid Until, Remarks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Proposal slip dialog</a:t>
                      </a:r>
                    </a:p>
                  </a:txBody>
                  <a:tcPr marL="54864" marR="54864" marT="27432" marB="27432">
                    <a:solidFill>
                      <a:srgbClr val="E5F5FF"/>
                    </a:solidFill>
                  </a:tcPr>
                </a:tc>
                <a:tc>
                  <a:txBody>
                    <a:bodyPr/>
                    <a:lstStyle/>
                    <a:p>
                      <a:r>
                        <a:rPr sz="850" b="0">
                          <a:solidFill>
                            <a:srgbClr val="4B4B4B"/>
                          </a:solidFill>
                          <a:latin typeface="Arial"/>
                        </a:rPr>
                        <a:t>Insurer of the proposal slip</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with terms received, with premium; recommended marked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An insurer with terms must be chosen or recommended</a:t>
                      </a:r>
                    </a:p>
                  </a:txBody>
                  <a:tcPr marL="54864" marR="54864" marT="27432" marB="27432">
                    <a:solidFill>
                      <a:srgbClr val="E5F5FF"/>
                    </a:solidFill>
                  </a:tcPr>
                </a:tc>
                <a:tc>
                  <a:txBody>
                    <a:bodyPr/>
                    <a:lstStyle/>
                    <a:p>
                      <a:r>
                        <a:rPr sz="850" b="0">
                          <a:solidFill>
                            <a:srgbClr val="4B4B4B"/>
                          </a:solidFill>
                          <a:latin typeface="Arial"/>
                        </a:rPr>
                        <a:t>Choose the insurer (or flag the recommended one) for the proposal slip</a:t>
                      </a:r>
                    </a:p>
                  </a:txBody>
                  <a:tcPr marL="54864" marR="54864" marT="27432" marB="27432">
                    <a:solidFill>
                      <a:srgbClr val="E5F5FF"/>
                    </a:solidFill>
                  </a:tcPr>
                </a:tc>
              </a:tr>
              <a:tr h="609596">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Proposal Slip tab</a:t>
                      </a:r>
                    </a:p>
                  </a:txBody>
                  <a:tcPr marL="54864" marR="54864" marT="27432" marB="27432">
                    <a:solidFill>
                      <a:srgbClr val="FFFFFF"/>
                    </a:solidFill>
                  </a:tcPr>
                </a:tc>
                <a:tc>
                  <a:txBody>
                    <a:bodyPr/>
                    <a:lstStyle/>
                    <a:p>
                      <a:r>
                        <a:rPr sz="850" b="0">
                          <a:solidFill>
                            <a:srgbClr val="4B4B4B"/>
                          </a:solidFill>
                          <a:latin typeface="Arial"/>
                        </a:rPr>
                        <a:t>Proposal slip and archived versions</a:t>
                      </a:r>
                    </a:p>
                  </a:txBody>
                  <a:tcPr marL="54864" marR="54864" marT="27432" marB="27432">
                    <a:solidFill>
                      <a:srgbClr val="FFFFFF"/>
                    </a:solidFill>
                  </a:tcPr>
                </a:tc>
                <a:tc>
                  <a:txBody>
                    <a:bodyPr/>
                    <a:lstStyle/>
                    <a:p>
                      <a:r>
                        <a:rPr sz="850" b="0">
                          <a:solidFill>
                            <a:srgbClr val="4B4B4B"/>
                          </a:solidFill>
                          <a:latin typeface="Arial"/>
                        </a:rPr>
                        <a:t>Display / Table</a:t>
                      </a:r>
                    </a:p>
                  </a:txBody>
                  <a:tcPr marL="54864" marR="54864" marT="27432" marB="27432">
                    <a:solidFill>
                      <a:srgbClr val="FFFFFF"/>
                    </a:solidFill>
                  </a:tcPr>
                </a:tc>
                <a:tc>
                  <a:txBody>
                    <a:bodyPr/>
                    <a:lstStyle/>
                    <a:p>
                      <a:r>
                        <a:rPr sz="850" b="0">
                          <a:solidFill>
                            <a:srgbClr val="4B4B4B"/>
                          </a:solidFill>
                          <a:latin typeface="Arial"/>
                        </a:rPr>
                        <a:t>PS number and version, chosen insurer; File, Description, Archived (name and time), Download in the row action menu</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Send via Email dialog</a:t>
                      </a:r>
                    </a:p>
                  </a:txBody>
                  <a:tcPr marL="54864" marR="54864" marT="27432" marB="27432">
                    <a:solidFill>
                      <a:srgbClr val="E5F5FF"/>
                    </a:solidFill>
                  </a:tcPr>
                </a:tc>
                <a:tc>
                  <a:txBody>
                    <a:bodyPr/>
                    <a:lstStyle/>
                    <a:p>
                      <a:r>
                        <a:rPr sz="850" b="0">
                          <a:solidFill>
                            <a:srgbClr val="4B4B4B"/>
                          </a:solidFill>
                          <a:latin typeface="Arial"/>
                        </a:rPr>
                        <a:t>To, Cc, Subject, Message, Password hint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As on the quotation</a:t>
                      </a:r>
                    </a:p>
                  </a:txBody>
                  <a:tcPr marL="54864" marR="54864" marT="27432" marB="27432">
                    <a:solidFill>
                      <a:srgbClr val="E5F5FF"/>
                    </a:solidFill>
                  </a:tcPr>
                </a:tc>
                <a:tc>
                  <a:txBody>
                    <a:bodyPr/>
                    <a:lstStyle/>
                    <a:p>
                      <a:r>
                        <a:rPr sz="850" b="0">
                          <a:solidFill>
                            <a:srgbClr val="4B4B4B"/>
                          </a:solidFill>
                          <a:latin typeface="Arial"/>
                        </a:rPr>
                        <a:t>To, Subject and Message Y</a:t>
                      </a:r>
                    </a:p>
                  </a:txBody>
                  <a:tcPr marL="54864" marR="54864" marT="27432" marB="27432">
                    <a:solidFill>
                      <a:srgbClr val="E5F5FF"/>
                    </a:solidFill>
                  </a:tcPr>
                </a:tc>
                <a:tc>
                  <a:txBody>
                    <a:bodyPr/>
                    <a:lstStyle/>
                    <a:p>
                      <a:r>
                        <a:rPr sz="850" b="0">
                          <a:solidFill>
                            <a:srgbClr val="4B4B4B"/>
                          </a:solidFill>
                          <a:latin typeface="Arial"/>
                        </a:rPr>
                        <a:t>At least one valid address</a:t>
                      </a:r>
                    </a:p>
                  </a:txBody>
                  <a:tcPr marL="54864" marR="54864" marT="27432" marB="27432">
                    <a:solidFill>
                      <a:srgbClr val="E5F5FF"/>
                    </a:solidFill>
                  </a:tcPr>
                </a:tc>
                <a:tc>
                  <a:txBody>
                    <a:bodyPr/>
                    <a:lstStyle/>
                    <a:p>
                      <a:r>
                        <a:rPr sz="850" b="0">
                          <a:solidFill>
                            <a:srgbClr val="4B4B4B"/>
                          </a:solidFill>
                          <a:latin typeface="Arial"/>
                        </a:rPr>
                        <a:t>Enter at least one recipient</a:t>
                      </a:r>
                    </a:p>
                  </a:txBody>
                  <a:tcPr marL="54864" marR="54864" marT="27432" marB="27432">
                    <a:solidFill>
                      <a:srgbClr val="E5F5FF"/>
                    </a:solidFill>
                  </a:tcPr>
                </a:tc>
              </a:tr>
              <a:tr h="480057">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Record Acceptance dialog</a:t>
                      </a:r>
                    </a:p>
                  </a:txBody>
                  <a:tcPr marL="54864" marR="54864" marT="27432" marB="27432">
                    <a:solidFill>
                      <a:srgbClr val="FFFFFF"/>
                    </a:solidFill>
                  </a:tcPr>
                </a:tc>
                <a:tc>
                  <a:txBody>
                    <a:bodyPr/>
                    <a:lstStyle/>
                    <a:p>
                      <a:r>
                        <a:rPr sz="850" b="0">
                          <a:solidFill>
                            <a:srgbClr val="4B4B4B"/>
                          </a:solidFill>
                          <a:latin typeface="Arial"/>
                        </a:rPr>
                        <a:t>Client's acceptance e-mail, Risk groups accepted, Comment</a:t>
                      </a:r>
                    </a:p>
                  </a:txBody>
                  <a:tcPr marL="54864" marR="54864" marT="27432" marB="27432">
                    <a:solidFill>
                      <a:srgbClr val="FFFFFF"/>
                    </a:solidFill>
                  </a:tcPr>
                </a:tc>
                <a:tc>
                  <a:txBody>
                    <a:bodyPr/>
                    <a:lstStyle/>
                    <a:p>
                      <a:r>
                        <a:rPr sz="850" b="0">
                          <a:solidFill>
                            <a:srgbClr val="4B4B4B"/>
                          </a:solidFill>
                          <a:latin typeface="Arial"/>
                        </a:rPr>
                        <a:t>File / Check boxes / Text area</a:t>
                      </a:r>
                    </a:p>
                  </a:txBody>
                  <a:tcPr marL="54864" marR="54864" marT="27432" marB="27432">
                    <a:solidFill>
                      <a:srgbClr val="FFFFFF"/>
                    </a:solidFill>
                  </a:tcPr>
                </a:tc>
                <a:tc>
                  <a:txBody>
                    <a:bodyPr/>
                    <a:lstStyle/>
                    <a:p>
                      <a:r>
                        <a:rPr sz="850" b="0">
                          <a:solidFill>
                            <a:srgbClr val="4B4B4B"/>
                          </a:solidFill>
                          <a:latin typeface="Arial"/>
                        </a:rPr>
                        <a:t>As on the quotation</a:t>
                      </a:r>
                    </a:p>
                  </a:txBody>
                  <a:tcPr marL="54864" marR="54864" marT="27432" marB="27432">
                    <a:solidFill>
                      <a:srgbClr val="FFFFFF"/>
                    </a:solidFill>
                  </a:tcPr>
                </a:tc>
                <a:tc>
                  <a:txBody>
                    <a:bodyPr/>
                    <a:lstStyle/>
                    <a:p>
                      <a:r>
                        <a:rPr sz="850" b="0">
                          <a:solidFill>
                            <a:srgbClr val="4B4B4B"/>
                          </a:solidFill>
                          <a:latin typeface="Arial"/>
                        </a:rPr>
                        <a:t>As on the quotation</a:t>
                      </a:r>
                    </a:p>
                  </a:txBody>
                  <a:tcPr marL="54864" marR="54864" marT="27432" marB="27432">
                    <a:solidFill>
                      <a:srgbClr val="FFFFFF"/>
                    </a:solidFill>
                  </a:tcPr>
                </a:tc>
                <a:tc>
                  <a:txBody>
                    <a:bodyPr/>
                    <a:lstStyle/>
                    <a:p>
                      <a:r>
                        <a:rPr sz="850" b="0">
                          <a:solidFill>
                            <a:srgbClr val="4B4B4B"/>
                          </a:solidFill>
                          <a:latin typeface="Arial"/>
                        </a:rPr>
                        <a:t>The acceptance e-mail is attached first</a:t>
                      </a:r>
                    </a:p>
                  </a:txBody>
                  <a:tcPr marL="54864" marR="54864" marT="27432" marB="27432">
                    <a:solidFill>
                      <a:srgbClr val="FFFFFF"/>
                    </a:solidFill>
                  </a:tcPr>
                </a:tc>
                <a:tc>
                  <a:txBody>
                    <a:bodyPr/>
                    <a:lstStyle/>
                    <a:p>
                      <a:r>
                        <a:rPr sz="850" b="0">
                          <a:solidFill>
                            <a:srgbClr val="4B4B4B"/>
                          </a:solidFill>
                          <a:latin typeface="Arial"/>
                        </a:rPr>
                        <a:t>Attach the client's acceptance e-mail first</a:t>
                      </a:r>
                    </a:p>
                  </a:txBody>
                  <a:tcPr marL="54864" marR="54864" marT="27432" marB="27432">
                    <a:solidFill>
                      <a:srgbClr val="FFFFFF"/>
                    </a:solidFill>
                  </a:tcPr>
                </a:tc>
              </a:tr>
            </a:tbl>
          </a:graphicData>
        </a:graphic>
      </p:graphicFrame>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actions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graphicFrame>
        <p:nvGraphicFramePr>
          <p:cNvPr id="9" name="Table 8"/>
          <p:cNvGraphicFramePr>
            <a:graphicFrameLocks noGrp="1"/>
          </p:cNvGraphicFramePr>
          <p:nvPr/>
        </p:nvGraphicFramePr>
        <p:xfrm>
          <a:off x="548640" y="1325880"/>
          <a:ext cx="11094412" cy="46862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PROPOSAL_REQUEST in Draft; TSU_PROCESS with TSU or in quotation slip preparation</a:t>
                      </a:r>
                    </a:p>
                  </a:txBody>
                  <a:tcPr marL="54864" marR="54864" marT="27432" marB="27432">
                    <a:solidFill>
                      <a:srgbClr val="FFFFFF"/>
                    </a:solidFill>
                  </a:tcPr>
                </a:tc>
                <a:tc>
                  <a:txBody>
                    <a:bodyPr/>
                    <a:lstStyle/>
                    <a:p>
                      <a:r>
                        <a:rPr sz="850" b="0">
                          <a:solidFill>
                            <a:srgbClr val="4B4B4B"/>
                          </a:solidFill>
                          <a:latin typeface="Arial"/>
                        </a:rPr>
                        <a:t>As stated</a:t>
                      </a:r>
                    </a:p>
                  </a:txBody>
                  <a:tcPr marL="54864" marR="54864" marT="27432" marB="27432">
                    <a:solidFill>
                      <a:srgbClr val="FFFFFF"/>
                    </a:solidFill>
                  </a:tcPr>
                </a:tc>
                <a:tc>
                  <a:txBody>
                    <a:bodyPr/>
                    <a:lstStyle/>
                    <a:p>
                      <a:r>
                        <a:rPr sz="850" b="0">
                          <a:solidFill>
                            <a:srgbClr val="4B4B4B"/>
                          </a:solidFill>
                          <a:latin typeface="Arial"/>
                        </a:rPr>
                        <a:t>Opens the PRF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Checks the risk details and documents</a:t>
                      </a:r>
                    </a:p>
                  </a:txBody>
                  <a:tcPr marL="54864" marR="54864" marT="27432" marB="27432">
                    <a:solidFill>
                      <a:srgbClr val="E5F5FF"/>
                    </a:solidFill>
                  </a:tcPr>
                </a:tc>
                <a:tc>
                  <a:txBody>
                    <a:bodyPr/>
                    <a:lstStyle/>
                    <a:p>
                      <a:r>
                        <a:rPr sz="850" b="0">
                          <a:solidFill>
                            <a:srgbClr val="4B4B4B"/>
                          </a:solidFill>
                          <a:latin typeface="Arial"/>
                        </a:rPr>
                        <a:t>For Marketing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Approve and send to TSU</a:t>
                      </a:r>
                    </a:p>
                  </a:txBody>
                  <a:tcPr marL="54864" marR="54864" marT="27432" marB="27432">
                    <a:solidFill>
                      <a:srgbClr val="FFFFFF"/>
                    </a:solidFill>
                  </a:tcPr>
                </a:tc>
                <a:tc>
                  <a:txBody>
                    <a:bodyPr/>
                    <a:lstStyle/>
                    <a:p>
                      <a:r>
                        <a:rPr sz="850" b="0">
                          <a:solidFill>
                            <a:srgbClr val="4B4B4B"/>
                          </a:solidFill>
                          <a:latin typeface="Arial"/>
                        </a:rPr>
                        <a:t>PROPOSAL_APPROVE; not the maker</a:t>
                      </a:r>
                    </a:p>
                  </a:txBody>
                  <a:tcPr marL="54864" marR="54864" marT="27432" marB="27432">
                    <a:solidFill>
                      <a:srgbClr val="FFFFFF"/>
                    </a:solidFill>
                  </a:tcPr>
                </a:tc>
                <a:tc>
                  <a:txBody>
                    <a:bodyPr/>
                    <a:lstStyle/>
                    <a:p>
                      <a:r>
                        <a:rPr sz="850" b="0">
                          <a:solidFill>
                            <a:srgbClr val="4B4B4B"/>
                          </a:solidFill>
                          <a:latin typeface="Arial"/>
                        </a:rPr>
                        <a:t>For Marketing approval</a:t>
                      </a:r>
                    </a:p>
                  </a:txBody>
                  <a:tcPr marL="54864" marR="54864" marT="27432" marB="27432">
                    <a:solidFill>
                      <a:srgbClr val="FFFFFF"/>
                    </a:solidFill>
                  </a:tcPr>
                </a:tc>
                <a:tc>
                  <a:txBody>
                    <a:bodyPr/>
                    <a:lstStyle/>
                    <a:p>
                      <a:r>
                        <a:rPr sz="850" b="0">
                          <a:solidFill>
                            <a:srgbClr val="4B4B4B"/>
                          </a:solidFill>
                          <a:latin typeface="Arial"/>
                        </a:rPr>
                        <a:t>Approves the PRF and places it in the TSU queue</a:t>
                      </a:r>
                    </a:p>
                  </a:txBody>
                  <a:tcPr marL="54864" marR="54864" marT="27432" marB="27432">
                    <a:solidFill>
                      <a:srgbClr val="FFFFFF"/>
                    </a:solidFill>
                  </a:tcPr>
                </a:tc>
                <a:tc>
                  <a:txBody>
                    <a:bodyPr/>
                    <a:lstStyle/>
                    <a:p>
                      <a:r>
                        <a:rPr sz="850" b="0">
                          <a:solidFill>
                            <a:srgbClr val="4B4B4B"/>
                          </a:solidFill>
                          <a:latin typeface="Arial"/>
                        </a:rPr>
                        <a:t>Received by TSU</a:t>
                      </a:r>
                    </a:p>
                  </a:txBody>
                  <a:tcPr marL="54864" marR="54864" marT="27432" marB="27432">
                    <a:solidFill>
                      <a:srgbClr val="FFFFFF"/>
                    </a:solidFill>
                  </a:tcPr>
                </a:tc>
                <a:tc>
                  <a:txBody>
                    <a:bodyPr/>
                    <a:lstStyle/>
                    <a:p>
                      <a:r>
                        <a:rPr sz="850" b="0">
                          <a:solidFill>
                            <a:srgbClr val="4B4B4B"/>
                          </a:solidFill>
                          <a:latin typeface="Arial"/>
                        </a:rPr>
                        <a:t>Workflow notice to the maker</a:t>
                      </a:r>
                    </a:p>
                  </a:txBody>
                  <a:tcPr marL="54864" marR="54864" marT="27432" marB="27432">
                    <a:solidFill>
                      <a:srgbClr val="FFFFFF"/>
                    </a:solidFill>
                  </a:tcPr>
                </a:tc>
              </a:tr>
              <a:tr h="350518">
                <a:tc>
                  <a:txBody>
                    <a:bodyPr/>
                    <a:lstStyle/>
                    <a:p>
                      <a:r>
                        <a:rPr sz="850" b="0">
                          <a:solidFill>
                            <a:srgbClr val="4B4B4B"/>
                          </a:solidFill>
                          <a:latin typeface="Arial"/>
                        </a:rPr>
                        <a:t>Return To Account Officer</a:t>
                      </a:r>
                    </a:p>
                  </a:txBody>
                  <a:tcPr marL="54864" marR="54864" marT="27432" marB="27432">
                    <a:solidFill>
                      <a:srgbClr val="E5F5FF"/>
                    </a:solidFill>
                  </a:tcPr>
                </a:tc>
                <a:tc>
                  <a:txBody>
                    <a:bodyPr/>
                    <a:lstStyle/>
                    <a:p>
                      <a:r>
                        <a:rPr sz="850" b="0">
                          <a:solidFill>
                            <a:srgbClr val="4B4B4B"/>
                          </a:solidFill>
                          <a:latin typeface="Arial"/>
                        </a:rPr>
                        <a:t>PROPOSAL_APPROVE</a:t>
                      </a:r>
                    </a:p>
                  </a:txBody>
                  <a:tcPr marL="54864" marR="54864" marT="27432" marB="27432">
                    <a:solidFill>
                      <a:srgbClr val="E5F5FF"/>
                    </a:solidFill>
                  </a:tcPr>
                </a:tc>
                <a:tc>
                  <a:txBody>
                    <a:bodyPr/>
                    <a:lstStyle/>
                    <a:p>
                      <a:r>
                        <a:rPr sz="850" b="0">
                          <a:solidFill>
                            <a:srgbClr val="4B4B4B"/>
                          </a:solidFill>
                          <a:latin typeface="Arial"/>
                        </a:rPr>
                        <a:t>For Marketing approval</a:t>
                      </a:r>
                    </a:p>
                  </a:txBody>
                  <a:tcPr marL="54864" marR="54864" marT="27432" marB="27432">
                    <a:solidFill>
                      <a:srgbClr val="E5F5FF"/>
                    </a:solidFill>
                  </a:tcPr>
                </a:tc>
                <a:tc>
                  <a:txBody>
                    <a:bodyPr/>
                    <a:lstStyle/>
                    <a:p>
                      <a:r>
                        <a:rPr sz="850" b="0">
                          <a:solidFill>
                            <a:srgbClr val="4B4B4B"/>
                          </a:solidFill>
                          <a:latin typeface="Arial"/>
                        </a:rPr>
                        <a:t>Asks for the return reason and a comment</a:t>
                      </a:r>
                    </a:p>
                  </a:txBody>
                  <a:tcPr marL="54864" marR="54864" marT="27432" marB="27432">
                    <a:solidFill>
                      <a:srgbClr val="E5F5FF"/>
                    </a:solidFill>
                  </a:tcPr>
                </a:tc>
                <a:tc>
                  <a:txBody>
                    <a:bodyPr/>
                    <a:lstStyle/>
                    <a:p>
                      <a:r>
                        <a:rPr sz="850" b="0">
                          <a:solidFill>
                            <a:srgbClr val="4B4B4B"/>
                          </a:solidFill>
                          <a:latin typeface="Arial"/>
                        </a:rPr>
                        <a:t>Draft PRF</a:t>
                      </a:r>
                    </a:p>
                  </a:txBody>
                  <a:tcPr marL="54864" marR="54864" marT="27432" marB="27432">
                    <a:solidFill>
                      <a:srgbClr val="E5F5FF"/>
                    </a:solidFill>
                  </a:tcPr>
                </a:tc>
                <a:tc>
                  <a:txBody>
                    <a:bodyPr/>
                    <a:lstStyle/>
                    <a:p>
                      <a:r>
                        <a:rPr sz="850" b="0">
                          <a:solidFill>
                            <a:srgbClr val="4B4B4B"/>
                          </a:solidFill>
                          <a:latin typeface="Arial"/>
                        </a:rPr>
                        <a:t>Workflow notice to the maker</a:t>
                      </a:r>
                    </a:p>
                  </a:txBody>
                  <a:tcPr marL="54864" marR="54864" marT="27432" marB="27432">
                    <a:solidFill>
                      <a:srgbClr val="E5F5FF"/>
                    </a:solidFill>
                  </a:tcPr>
                </a:tc>
              </a:tr>
              <a:tr h="350518">
                <a:tc>
                  <a:txBody>
                    <a:bodyPr/>
                    <a:lstStyle/>
                    <a:p>
                      <a:r>
                        <a:rPr sz="850" b="0">
                          <a:solidFill>
                            <a:srgbClr val="4B4B4B"/>
                          </a:solidFill>
                          <a:latin typeface="Arial"/>
                        </a:rPr>
                        <a:t>Accept and Prepare Quotation Slip</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Received by TSU</a:t>
                      </a:r>
                    </a:p>
                  </a:txBody>
                  <a:tcPr marL="54864" marR="54864" marT="27432" marB="27432">
                    <a:solidFill>
                      <a:srgbClr val="FFFFFF"/>
                    </a:solidFill>
                  </a:tcPr>
                </a:tc>
                <a:tc>
                  <a:txBody>
                    <a:bodyPr/>
                    <a:lstStyle/>
                    <a:p>
                      <a:r>
                        <a:rPr sz="850" b="0">
                          <a:solidFill>
                            <a:srgbClr val="4B4B4B"/>
                          </a:solidFill>
                          <a:latin typeface="Arial"/>
                        </a:rPr>
                        <a:t>Accepts the PRF into quotation slip preparation</a:t>
                      </a:r>
                    </a:p>
                  </a:txBody>
                  <a:tcPr marL="54864" marR="54864" marT="27432" marB="27432">
                    <a:solidFill>
                      <a:srgbClr val="FFFFFF"/>
                    </a:solidFill>
                  </a:tcPr>
                </a:tc>
                <a:tc>
                  <a:txBody>
                    <a:bodyPr/>
                    <a:lstStyle/>
                    <a:p>
                      <a:r>
                        <a:rPr sz="850" b="0">
                          <a:solidFill>
                            <a:srgbClr val="4B4B4B"/>
                          </a:solidFill>
                          <a:latin typeface="Arial"/>
                        </a:rPr>
                        <a:t>Quotation slip in preparation</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Return to Marketing</a:t>
                      </a:r>
                    </a:p>
                  </a:txBody>
                  <a:tcPr marL="54864" marR="54864" marT="27432" marB="27432">
                    <a:solidFill>
                      <a:srgbClr val="E5F5FF"/>
                    </a:solidFill>
                  </a:tcPr>
                </a:tc>
                <a:tc>
                  <a:txBody>
                    <a:bodyPr/>
                    <a:lstStyle/>
                    <a:p>
                      <a:r>
                        <a:rPr sz="850" b="0">
                          <a:solidFill>
                            <a:srgbClr val="4B4B4B"/>
                          </a:solidFill>
                          <a:latin typeface="Arial"/>
                        </a:rPr>
                        <a:t>TSU_PROCESS</a:t>
                      </a:r>
                    </a:p>
                  </a:txBody>
                  <a:tcPr marL="54864" marR="54864" marT="27432" marB="27432">
                    <a:solidFill>
                      <a:srgbClr val="E5F5FF"/>
                    </a:solidFill>
                  </a:tcPr>
                </a:tc>
                <a:tc>
                  <a:txBody>
                    <a:bodyPr/>
                    <a:lstStyle/>
                    <a:p>
                      <a:r>
                        <a:rPr sz="850" b="0">
                          <a:solidFill>
                            <a:srgbClr val="4B4B4B"/>
                          </a:solidFill>
                          <a:latin typeface="Arial"/>
                        </a:rPr>
                        <a:t>Received by TSU</a:t>
                      </a:r>
                    </a:p>
                  </a:txBody>
                  <a:tcPr marL="54864" marR="54864" marT="27432" marB="27432">
                    <a:solidFill>
                      <a:srgbClr val="E5F5FF"/>
                    </a:solidFill>
                  </a:tcPr>
                </a:tc>
                <a:tc>
                  <a:txBody>
                    <a:bodyPr/>
                    <a:lstStyle/>
                    <a:p>
                      <a:r>
                        <a:rPr sz="850" b="0">
                          <a:solidFill>
                            <a:srgbClr val="4B4B4B"/>
                          </a:solidFill>
                          <a:latin typeface="Arial"/>
                        </a:rPr>
                        <a:t>Asks for the return reason and a comment</a:t>
                      </a:r>
                    </a:p>
                  </a:txBody>
                  <a:tcPr marL="54864" marR="54864" marT="27432" marB="27432">
                    <a:solidFill>
                      <a:srgbClr val="E5F5FF"/>
                    </a:solidFill>
                  </a:tcPr>
                </a:tc>
                <a:tc>
                  <a:txBody>
                    <a:bodyPr/>
                    <a:lstStyle/>
                    <a:p>
                      <a:r>
                        <a:rPr sz="850" b="0">
                          <a:solidFill>
                            <a:srgbClr val="4B4B4B"/>
                          </a:solidFill>
                          <a:latin typeface="Arial"/>
                        </a:rPr>
                        <a:t>Draft PRF</a:t>
                      </a:r>
                    </a:p>
                  </a:txBody>
                  <a:tcPr marL="54864" marR="54864" marT="27432" marB="27432">
                    <a:solidFill>
                      <a:srgbClr val="E5F5FF"/>
                    </a:solidFill>
                  </a:tcPr>
                </a:tc>
                <a:tc>
                  <a:txBody>
                    <a:bodyPr/>
                    <a:lstStyle/>
                    <a:p>
                      <a:r>
                        <a:rPr sz="850" b="0">
                          <a:solidFill>
                            <a:srgbClr val="4B4B4B"/>
                          </a:solidFill>
                          <a:latin typeface="Arial"/>
                        </a:rPr>
                        <a:t>Workflow notice to the maker</a:t>
                      </a:r>
                    </a:p>
                  </a:txBody>
                  <a:tcPr marL="54864" marR="54864" marT="27432" marB="27432">
                    <a:solidFill>
                      <a:srgbClr val="E5F5FF"/>
                    </a:solidFill>
                  </a:tcPr>
                </a:tc>
              </a:tr>
              <a:tr h="350518">
                <a:tc>
                  <a:txBody>
                    <a:bodyPr/>
                    <a:lstStyle/>
                    <a:p>
                      <a:r>
                        <a:rPr sz="850" b="0">
                          <a:solidFill>
                            <a:srgbClr val="4B4B4B"/>
                          </a:solidFill>
                          <a:latin typeface="Arial"/>
                        </a:rPr>
                        <a:t>Save Selection</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With TSU; quotation slip in preparation</a:t>
                      </a:r>
                    </a:p>
                  </a:txBody>
                  <a:tcPr marL="54864" marR="54864" marT="27432" marB="27432">
                    <a:solidFill>
                      <a:srgbClr val="FFFFFF"/>
                    </a:solidFill>
                  </a:tcPr>
                </a:tc>
                <a:tc>
                  <a:txBody>
                    <a:bodyPr/>
                    <a:lstStyle/>
                    <a:p>
                      <a:r>
                        <a:rPr sz="850" b="0">
                          <a:solidFill>
                            <a:srgbClr val="4B4B4B"/>
                          </a:solidFill>
                          <a:latin typeface="Arial"/>
                        </a:rPr>
                        <a:t>Saves the insurers approached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quotation slip</a:t>
                      </a:r>
                    </a:p>
                  </a:txBody>
                  <a:tcPr marL="54864" marR="54864" marT="27432" marB="27432">
                    <a:solidFill>
                      <a:srgbClr val="E5F5FF"/>
                    </a:solidFill>
                  </a:tcPr>
                </a:tc>
                <a:tc>
                  <a:txBody>
                    <a:bodyPr/>
                    <a:lstStyle/>
                    <a:p>
                      <a:r>
                        <a:rPr sz="850" b="0">
                          <a:solidFill>
                            <a:srgbClr val="4B4B4B"/>
                          </a:solidFill>
                          <a:latin typeface="Arial"/>
                        </a:rPr>
                        <a:t>TSU_PROCESS</a:t>
                      </a:r>
                    </a:p>
                  </a:txBody>
                  <a:tcPr marL="54864" marR="54864" marT="27432" marB="27432">
                    <a:solidFill>
                      <a:srgbClr val="E5F5FF"/>
                    </a:solidFill>
                  </a:tcPr>
                </a:tc>
                <a:tc>
                  <a:txBody>
                    <a:bodyPr/>
                    <a:lstStyle/>
                    <a:p>
                      <a:r>
                        <a:rPr sz="850" b="0">
                          <a:solidFill>
                            <a:srgbClr val="4B4B4B"/>
                          </a:solidFill>
                          <a:latin typeface="Arial"/>
                        </a:rPr>
                        <a:t>Quotation slip in preparation</a:t>
                      </a:r>
                    </a:p>
                  </a:txBody>
                  <a:tcPr marL="54864" marR="54864" marT="27432" marB="27432">
                    <a:solidFill>
                      <a:srgbClr val="E5F5FF"/>
                    </a:solidFill>
                  </a:tcPr>
                </a:tc>
                <a:tc>
                  <a:txBody>
                    <a:bodyPr/>
                    <a:lstStyle/>
                    <a:p>
                      <a:r>
                        <a:rPr sz="850" b="0">
                          <a:solidFill>
                            <a:srgbClr val="4B4B4B"/>
                          </a:solidFill>
                          <a:latin typeface="Arial"/>
                        </a:rPr>
                        <a:t>Asks for the reply date; numbers the quotation slip and sends it for approval</a:t>
                      </a:r>
                    </a:p>
                  </a:txBody>
                  <a:tcPr marL="54864" marR="54864" marT="27432" marB="27432">
                    <a:solidFill>
                      <a:srgbClr val="E5F5FF"/>
                    </a:solidFill>
                  </a:tcPr>
                </a:tc>
                <a:tc>
                  <a:txBody>
                    <a:bodyPr/>
                    <a:lstStyle/>
                    <a:p>
                      <a:r>
                        <a:rPr sz="850" b="0">
                          <a:solidFill>
                            <a:srgbClr val="4B4B4B"/>
                          </a:solidFill>
                          <a:latin typeface="Arial"/>
                        </a:rPr>
                        <a:t>Quotation slip 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Approve and send to insurers</a:t>
                      </a:r>
                    </a:p>
                  </a:txBody>
                  <a:tcPr marL="54864" marR="54864" marT="27432" marB="27432">
                    <a:solidFill>
                      <a:srgbClr val="FFFFFF"/>
                    </a:solidFill>
                  </a:tcPr>
                </a:tc>
                <a:tc>
                  <a:txBody>
                    <a:bodyPr/>
                    <a:lstStyle/>
                    <a:p>
                      <a:r>
                        <a:rPr sz="850" b="0">
                          <a:solidFill>
                            <a:srgbClr val="4B4B4B"/>
                          </a:solidFill>
                          <a:latin typeface="Arial"/>
                        </a:rPr>
                        <a:t>TSU_APPROVE; not the preparer</a:t>
                      </a:r>
                    </a:p>
                  </a:txBody>
                  <a:tcPr marL="54864" marR="54864" marT="27432" marB="27432">
                    <a:solidFill>
                      <a:srgbClr val="FFFFFF"/>
                    </a:solidFill>
                  </a:tcPr>
                </a:tc>
                <a:tc>
                  <a:txBody>
                    <a:bodyPr/>
                    <a:lstStyle/>
                    <a:p>
                      <a:r>
                        <a:rPr sz="850" b="0">
                          <a:solidFill>
                            <a:srgbClr val="4B4B4B"/>
                          </a:solidFill>
                          <a:latin typeface="Arial"/>
                        </a:rPr>
                        <a:t>Quotation slip for approval</a:t>
                      </a:r>
                    </a:p>
                  </a:txBody>
                  <a:tcPr marL="54864" marR="54864" marT="27432" marB="27432">
                    <a:solidFill>
                      <a:srgbClr val="FFFFFF"/>
                    </a:solidFill>
                  </a:tcPr>
                </a:tc>
                <a:tc>
                  <a:txBody>
                    <a:bodyPr/>
                    <a:lstStyle/>
                    <a:p>
                      <a:r>
                        <a:rPr sz="850" b="0">
                          <a:solidFill>
                            <a:srgbClr val="4B4B4B"/>
                          </a:solidFill>
                          <a:latin typeface="Arial"/>
                        </a:rPr>
                        <a:t>Approves the slip and e-mails it to each insurer's placement address</a:t>
                      </a:r>
                    </a:p>
                  </a:txBody>
                  <a:tcPr marL="54864" marR="54864" marT="27432" marB="27432">
                    <a:solidFill>
                      <a:srgbClr val="FFFFFF"/>
                    </a:solidFill>
                  </a:tcPr>
                </a:tc>
                <a:tc>
                  <a:txBody>
                    <a:bodyPr/>
                    <a:lstStyle/>
                    <a:p>
                      <a:r>
                        <a:rPr sz="850" b="0">
                          <a:solidFill>
                            <a:srgbClr val="4B4B4B"/>
                          </a:solidFill>
                          <a:latin typeface="Arial"/>
                        </a:rPr>
                        <a:t>Awaiting insurer terms</a:t>
                      </a:r>
                    </a:p>
                  </a:txBody>
                  <a:tcPr marL="54864" marR="54864" marT="27432" marB="27432">
                    <a:solidFill>
                      <a:srgbClr val="FFFFFF"/>
                    </a:solidFill>
                  </a:tcPr>
                </a:tc>
                <a:tc>
                  <a:txBody>
                    <a:bodyPr/>
                    <a:lstStyle/>
                    <a:p>
                      <a:r>
                        <a:rPr sz="850" b="0">
                          <a:solidFill>
                            <a:srgbClr val="4B4B4B"/>
                          </a:solidFill>
                          <a:latin typeface="Arial"/>
                        </a:rPr>
                        <a:t>E-mail to each insurer; workflow notice</a:t>
                      </a:r>
                    </a:p>
                  </a:txBody>
                  <a:tcPr marL="54864" marR="54864" marT="27432" marB="27432">
                    <a:solidFill>
                      <a:srgbClr val="FFFFFF"/>
                    </a:solidFill>
                  </a:tcPr>
                </a:tc>
              </a:tr>
              <a:tr h="350518">
                <a:tc>
                  <a:txBody>
                    <a:bodyPr/>
                    <a:lstStyle/>
                    <a:p>
                      <a:r>
                        <a:rPr sz="850" b="0">
                          <a:solidFill>
                            <a:srgbClr val="4B4B4B"/>
                          </a:solidFill>
                          <a:latin typeface="Arial"/>
                        </a:rPr>
                        <a:t>Return for correction</a:t>
                      </a:r>
                    </a:p>
                  </a:txBody>
                  <a:tcPr marL="54864" marR="54864" marT="27432" marB="27432">
                    <a:solidFill>
                      <a:srgbClr val="E5F5FF"/>
                    </a:solidFill>
                  </a:tcPr>
                </a:tc>
                <a:tc>
                  <a:txBody>
                    <a:bodyPr/>
                    <a:lstStyle/>
                    <a:p>
                      <a:r>
                        <a:rPr sz="850" b="0">
                          <a:solidFill>
                            <a:srgbClr val="4B4B4B"/>
                          </a:solidFill>
                          <a:latin typeface="Arial"/>
                        </a:rPr>
                        <a:t>TSU_APPROVE</a:t>
                      </a:r>
                    </a:p>
                  </a:txBody>
                  <a:tcPr marL="54864" marR="54864" marT="27432" marB="27432">
                    <a:solidFill>
                      <a:srgbClr val="E5F5FF"/>
                    </a:solidFill>
                  </a:tcPr>
                </a:tc>
                <a:tc>
                  <a:txBody>
                    <a:bodyPr/>
                    <a:lstStyle/>
                    <a:p>
                      <a:r>
                        <a:rPr sz="850" b="0">
                          <a:solidFill>
                            <a:srgbClr val="4B4B4B"/>
                          </a:solidFill>
                          <a:latin typeface="Arial"/>
                        </a:rPr>
                        <a:t>Quotation slip or proposal slip for approval</a:t>
                      </a:r>
                    </a:p>
                  </a:txBody>
                  <a:tcPr marL="54864" marR="54864" marT="27432" marB="27432">
                    <a:solidFill>
                      <a:srgbClr val="E5F5FF"/>
                    </a:solidFill>
                  </a:tcPr>
                </a:tc>
                <a:tc>
                  <a:txBody>
                    <a:bodyPr/>
                    <a:lstStyle/>
                    <a:p>
                      <a:r>
                        <a:rPr sz="850" b="0">
                          <a:solidFill>
                            <a:srgbClr val="4B4B4B"/>
                          </a:solidFill>
                          <a:latin typeface="Arial"/>
                        </a:rPr>
                        <a:t>Asks for the return reason and a comment</a:t>
                      </a:r>
                    </a:p>
                  </a:txBody>
                  <a:tcPr marL="54864" marR="54864" marT="27432" marB="27432">
                    <a:solidFill>
                      <a:srgbClr val="E5F5FF"/>
                    </a:solidFill>
                  </a:tcPr>
                </a:tc>
                <a:tc>
                  <a:txBody>
                    <a:bodyPr/>
                    <a:lstStyle/>
                    <a:p>
                      <a:r>
                        <a:rPr sz="850" b="0">
                          <a:solidFill>
                            <a:srgbClr val="4B4B4B"/>
                          </a:solidFill>
                          <a:latin typeface="Arial"/>
                        </a:rPr>
                        <a:t>Previous preparation stage</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Terms / Recommend</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Awaiting insurer terms; insurer terms received (row action menu)</a:t>
                      </a:r>
                    </a:p>
                  </a:txBody>
                  <a:tcPr marL="54864" marR="54864" marT="27432" marB="27432">
                    <a:solidFill>
                      <a:srgbClr val="FFFFFF"/>
                    </a:solidFill>
                  </a:tcPr>
                </a:tc>
                <a:tc>
                  <a:txBody>
                    <a:bodyPr/>
                    <a:lstStyle/>
                    <a:p>
                      <a:r>
                        <a:rPr sz="850" b="0">
                          <a:solidFill>
                            <a:srgbClr val="4B4B4B"/>
                          </a:solidFill>
                          <a:latin typeface="Arial"/>
                        </a:rPr>
                        <a:t>Records or changes one insurer's terms (each change is a revision); marks the recommended insurer</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Insurer terms complete</a:t>
                      </a:r>
                    </a:p>
                  </a:txBody>
                  <a:tcPr marL="54864" marR="54864" marT="27432" marB="27432">
                    <a:solidFill>
                      <a:srgbClr val="E5F5FF"/>
                    </a:solidFill>
                  </a:tcPr>
                </a:tc>
                <a:tc>
                  <a:txBody>
                    <a:bodyPr/>
                    <a:lstStyle/>
                    <a:p>
                      <a:r>
                        <a:rPr sz="850" b="0">
                          <a:solidFill>
                            <a:srgbClr val="4B4B4B"/>
                          </a:solidFill>
                          <a:latin typeface="Arial"/>
                        </a:rPr>
                        <a:t>TSU_PROCESS</a:t>
                      </a:r>
                    </a:p>
                  </a:txBody>
                  <a:tcPr marL="54864" marR="54864" marT="27432" marB="27432">
                    <a:solidFill>
                      <a:srgbClr val="E5F5FF"/>
                    </a:solidFill>
                  </a:tcPr>
                </a:tc>
                <a:tc>
                  <a:txBody>
                    <a:bodyPr/>
                    <a:lstStyle/>
                    <a:p>
                      <a:r>
                        <a:rPr sz="850" b="0">
                          <a:solidFill>
                            <a:srgbClr val="4B4B4B"/>
                          </a:solidFill>
                          <a:latin typeface="Arial"/>
                        </a:rPr>
                        <a:t>Awaiting insurer terms</a:t>
                      </a:r>
                    </a:p>
                  </a:txBody>
                  <a:tcPr marL="54864" marR="54864" marT="27432" marB="27432">
                    <a:solidFill>
                      <a:srgbClr val="E5F5FF"/>
                    </a:solidFill>
                  </a:tcPr>
                </a:tc>
                <a:tc>
                  <a:txBody>
                    <a:bodyPr/>
                    <a:lstStyle/>
                    <a:p>
                      <a:r>
                        <a:rPr sz="850" b="0">
                          <a:solidFill>
                            <a:srgbClr val="4B4B4B"/>
                          </a:solidFill>
                          <a:latin typeface="Arial"/>
                        </a:rPr>
                        <a:t>Closes the request for terms; with the option ticked, closes it although insurers have not answered</a:t>
                      </a:r>
                    </a:p>
                  </a:txBody>
                  <a:tcPr marL="54864" marR="54864" marT="27432" marB="27432">
                    <a:solidFill>
                      <a:srgbClr val="E5F5FF"/>
                    </a:solidFill>
                  </a:tcPr>
                </a:tc>
                <a:tc>
                  <a:txBody>
                    <a:bodyPr/>
                    <a:lstStyle/>
                    <a:p>
                      <a:r>
                        <a:rPr sz="850" b="0">
                          <a:solidFill>
                            <a:srgbClr val="4B4B4B"/>
                          </a:solidFill>
                          <a:latin typeface="Arial"/>
                        </a:rPr>
                        <a:t>Insurer terms received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actions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graphicFrame>
        <p:nvGraphicFramePr>
          <p:cNvPr id="9" name="Table 8"/>
          <p:cNvGraphicFramePr>
            <a:graphicFrameLocks noGrp="1"/>
          </p:cNvGraphicFramePr>
          <p:nvPr/>
        </p:nvGraphicFramePr>
        <p:xfrm>
          <a:off x="548640" y="1325880"/>
          <a:ext cx="11094412" cy="280414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proposal slip</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Insurer terms received</a:t>
                      </a:r>
                    </a:p>
                  </a:txBody>
                  <a:tcPr marL="54864" marR="54864" marT="27432" marB="27432">
                    <a:solidFill>
                      <a:srgbClr val="FFFFFF"/>
                    </a:solidFill>
                  </a:tcPr>
                </a:tc>
                <a:tc>
                  <a:txBody>
                    <a:bodyPr/>
                    <a:lstStyle/>
                    <a:p>
                      <a:r>
                        <a:rPr sz="850" b="0">
                          <a:solidFill>
                            <a:srgbClr val="4B4B4B"/>
                          </a:solidFill>
                          <a:latin typeface="Arial"/>
                        </a:rPr>
                        <a:t>Asks for the insurer of the slip; generates the proposal slip for approval</a:t>
                      </a:r>
                    </a:p>
                  </a:txBody>
                  <a:tcPr marL="54864" marR="54864" marT="27432" marB="27432">
                    <a:solidFill>
                      <a:srgbClr val="FFFFFF"/>
                    </a:solidFill>
                  </a:tcPr>
                </a:tc>
                <a:tc>
                  <a:txBody>
                    <a:bodyPr/>
                    <a:lstStyle/>
                    <a:p>
                      <a:r>
                        <a:rPr sz="850" b="0">
                          <a:solidFill>
                            <a:srgbClr val="4B4B4B"/>
                          </a:solidFill>
                          <a:latin typeface="Arial"/>
                        </a:rPr>
                        <a:t>Proposal slip for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Approve and release to Marketing</a:t>
                      </a:r>
                    </a:p>
                  </a:txBody>
                  <a:tcPr marL="54864" marR="54864" marT="27432" marB="27432">
                    <a:solidFill>
                      <a:srgbClr val="E5F5FF"/>
                    </a:solidFill>
                  </a:tcPr>
                </a:tc>
                <a:tc>
                  <a:txBody>
                    <a:bodyPr/>
                    <a:lstStyle/>
                    <a:p>
                      <a:r>
                        <a:rPr sz="850" b="0">
                          <a:solidFill>
                            <a:srgbClr val="4B4B4B"/>
                          </a:solidFill>
                          <a:latin typeface="Arial"/>
                        </a:rPr>
                        <a:t>TSU_APPROVE; not the preparer</a:t>
                      </a:r>
                    </a:p>
                  </a:txBody>
                  <a:tcPr marL="54864" marR="54864" marT="27432" marB="27432">
                    <a:solidFill>
                      <a:srgbClr val="E5F5FF"/>
                    </a:solidFill>
                  </a:tcPr>
                </a:tc>
                <a:tc>
                  <a:txBody>
                    <a:bodyPr/>
                    <a:lstStyle/>
                    <a:p>
                      <a:r>
                        <a:rPr sz="850" b="0">
                          <a:solidFill>
                            <a:srgbClr val="4B4B4B"/>
                          </a:solidFill>
                          <a:latin typeface="Arial"/>
                        </a:rPr>
                        <a:t>Proposal slip for approval</a:t>
                      </a:r>
                    </a:p>
                  </a:txBody>
                  <a:tcPr marL="54864" marR="54864" marT="27432" marB="27432">
                    <a:solidFill>
                      <a:srgbClr val="E5F5FF"/>
                    </a:solidFill>
                  </a:tcPr>
                </a:tc>
                <a:tc>
                  <a:txBody>
                    <a:bodyPr/>
                    <a:lstStyle/>
                    <a:p>
                      <a:r>
                        <a:rPr sz="850" b="0">
                          <a:solidFill>
                            <a:srgbClr val="4B4B4B"/>
                          </a:solidFill>
                          <a:latin typeface="Arial"/>
                        </a:rPr>
                        <a:t>Releases the proposal slip to Marketing</a:t>
                      </a:r>
                    </a:p>
                  </a:txBody>
                  <a:tcPr marL="54864" marR="54864" marT="27432" marB="27432">
                    <a:solidFill>
                      <a:srgbClr val="E5F5FF"/>
                    </a:solidFill>
                  </a:tcPr>
                </a:tc>
                <a:tc>
                  <a:txBody>
                    <a:bodyPr/>
                    <a:lstStyle/>
                    <a:p>
                      <a:r>
                        <a:rPr sz="850" b="0">
                          <a:solidFill>
                            <a:srgbClr val="4B4B4B"/>
                          </a:solidFill>
                          <a:latin typeface="Arial"/>
                        </a:rPr>
                        <a:t>Proposal slip released to Marketing</a:t>
                      </a:r>
                    </a:p>
                  </a:txBody>
                  <a:tcPr marL="54864" marR="54864" marT="27432" marB="27432">
                    <a:solidFill>
                      <a:srgbClr val="E5F5FF"/>
                    </a:solidFill>
                  </a:tcPr>
                </a:tc>
                <a:tc>
                  <a:txBody>
                    <a:bodyPr/>
                    <a:lstStyle/>
                    <a:p>
                      <a:r>
                        <a:rPr sz="850" b="0">
                          <a:solidFill>
                            <a:srgbClr val="4B4B4B"/>
                          </a:solidFill>
                          <a:latin typeface="Arial"/>
                        </a:rPr>
                        <a:t>Workflow notice to the maker</a:t>
                      </a:r>
                    </a:p>
                  </a:txBody>
                  <a:tcPr marL="54864" marR="54864" marT="27432" marB="27432">
                    <a:solidFill>
                      <a:srgbClr val="E5F5FF"/>
                    </a:solidFill>
                  </a:tcPr>
                </a:tc>
              </a:tr>
              <a:tr h="350518">
                <a:tc>
                  <a:txBody>
                    <a:bodyPr/>
                    <a:lstStyle/>
                    <a:p>
                      <a:r>
                        <a:rPr sz="850" b="0">
                          <a:solidFill>
                            <a:srgbClr val="4B4B4B"/>
                          </a:solidFill>
                          <a:latin typeface="Arial"/>
                        </a:rPr>
                        <a:t>PDF / Excel (comparative table, slips)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Once the slip exists</a:t>
                      </a:r>
                    </a:p>
                  </a:txBody>
                  <a:tcPr marL="54864" marR="54864" marT="27432" marB="27432">
                    <a:solidFill>
                      <a:srgbClr val="FFFFFF"/>
                    </a:solidFill>
                  </a:tcPr>
                </a:tc>
                <a:tc>
                  <a:txBody>
                    <a:bodyPr/>
                    <a:lstStyle/>
                    <a:p>
                      <a:r>
                        <a:rPr sz="850" b="0">
                          <a:solidFill>
                            <a:srgbClr val="4B4B4B"/>
                          </a:solidFill>
                          <a:latin typeface="Arial"/>
                        </a:rPr>
                        <a:t>Downloads the document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via Email</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Proposal slip released</a:t>
                      </a:r>
                    </a:p>
                  </a:txBody>
                  <a:tcPr marL="54864" marR="54864" marT="27432" marB="27432">
                    <a:solidFill>
                      <a:srgbClr val="E5F5FF"/>
                    </a:solidFill>
                  </a:tcPr>
                </a:tc>
                <a:tc>
                  <a:txBody>
                    <a:bodyPr/>
                    <a:lstStyle/>
                    <a:p>
                      <a:r>
                        <a:rPr sz="850" b="0">
                          <a:solidFill>
                            <a:srgbClr val="4B4B4B"/>
                          </a:solidFill>
                          <a:latin typeface="Arial"/>
                        </a:rPr>
                        <a:t>Sends the protected proposal slip and comparative table, and the password e-mail</a:t>
                      </a:r>
                    </a:p>
                  </a:txBody>
                  <a:tcPr marL="54864" marR="54864" marT="27432" marB="27432">
                    <a:solidFill>
                      <a:srgbClr val="E5F5FF"/>
                    </a:solidFill>
                  </a:tcPr>
                </a:tc>
                <a:tc>
                  <a:txBody>
                    <a:bodyPr/>
                    <a:lstStyle/>
                    <a:p>
                      <a:r>
                        <a:rPr sz="850" b="0">
                          <a:solidFill>
                            <a:srgbClr val="4B4B4B"/>
                          </a:solidFill>
                          <a:latin typeface="Arial"/>
                        </a:rPr>
                        <a:t>Sent to client</a:t>
                      </a:r>
                    </a:p>
                  </a:txBody>
                  <a:tcPr marL="54864" marR="54864" marT="27432" marB="27432">
                    <a:solidFill>
                      <a:srgbClr val="E5F5FF"/>
                    </a:solidFill>
                  </a:tcPr>
                </a:tc>
                <a:tc>
                  <a:txBody>
                    <a:bodyPr/>
                    <a:lstStyle/>
                    <a:p>
                      <a:r>
                        <a:rPr sz="850" b="0">
                          <a:solidFill>
                            <a:srgbClr val="4B4B4B"/>
                          </a:solidFill>
                          <a:latin typeface="Arial"/>
                        </a:rPr>
                        <a:t>E-mail to the client and the password e-mail</a:t>
                      </a:r>
                    </a:p>
                  </a:txBody>
                  <a:tcPr marL="54864" marR="54864" marT="27432" marB="27432">
                    <a:solidFill>
                      <a:srgbClr val="E5F5FF"/>
                    </a:solidFill>
                  </a:tcPr>
                </a:tc>
              </a:tr>
              <a:tr h="350518">
                <a:tc>
                  <a:txBody>
                    <a:bodyPr/>
                    <a:lstStyle/>
                    <a:p>
                      <a:r>
                        <a:rPr sz="850" b="0">
                          <a:solidFill>
                            <a:srgbClr val="4B4B4B"/>
                          </a:solidFill>
                          <a:latin typeface="Arial"/>
                        </a:rPr>
                        <a:t>Record acceptance / Client Declined</a:t>
                      </a:r>
                    </a:p>
                  </a:txBody>
                  <a:tcPr marL="54864" marR="54864" marT="27432" marB="27432">
                    <a:solidFill>
                      <a:srgbClr val="FFFFFF"/>
                    </a:solidFill>
                  </a:tcPr>
                </a:tc>
                <a:tc>
                  <a:txBody>
                    <a:bodyPr/>
                    <a:lstStyle/>
                    <a:p>
                      <a:r>
                        <a:rPr sz="850" b="0">
                          <a:solidFill>
                            <a:srgbClr val="4B4B4B"/>
                          </a:solidFill>
                          <a:latin typeface="Arial"/>
                        </a:rPr>
                        <a:t>PROPOSAL_REQUEST</a:t>
                      </a:r>
                    </a:p>
                  </a:txBody>
                  <a:tcPr marL="54864" marR="54864" marT="27432" marB="27432">
                    <a:solidFill>
                      <a:srgbClr val="FFFFFF"/>
                    </a:solidFill>
                  </a:tcPr>
                </a:tc>
                <a:tc>
                  <a:txBody>
                    <a:bodyPr/>
                    <a:lstStyle/>
                    <a:p>
                      <a:r>
                        <a:rPr sz="850" b="0">
                          <a:solidFill>
                            <a:srgbClr val="4B4B4B"/>
                          </a:solidFill>
                          <a:latin typeface="Arial"/>
                        </a:rPr>
                        <a:t>Sent to client</a:t>
                      </a:r>
                    </a:p>
                  </a:txBody>
                  <a:tcPr marL="54864" marR="54864" marT="27432" marB="27432">
                    <a:solidFill>
                      <a:srgbClr val="FFFFFF"/>
                    </a:solidFill>
                  </a:tcPr>
                </a:tc>
                <a:tc>
                  <a:txBody>
                    <a:bodyPr/>
                    <a:lstStyle/>
                    <a:p>
                      <a:r>
                        <a:rPr sz="850" b="0">
                          <a:solidFill>
                            <a:srgbClr val="4B4B4B"/>
                          </a:solidFill>
                          <a:latin typeface="Arial"/>
                        </a:rPr>
                        <a:t>As on the quotation</a:t>
                      </a:r>
                    </a:p>
                  </a:txBody>
                  <a:tcPr marL="54864" marR="54864" marT="27432" marB="27432">
                    <a:solidFill>
                      <a:srgbClr val="FFFFFF"/>
                    </a:solidFill>
                  </a:tcPr>
                </a:tc>
                <a:tc>
                  <a:txBody>
                    <a:bodyPr/>
                    <a:lstStyle/>
                    <a:p>
                      <a:r>
                        <a:rPr sz="850" b="0">
                          <a:solidFill>
                            <a:srgbClr val="4B4B4B"/>
                          </a:solidFill>
                          <a:latin typeface="Arial"/>
                        </a:rPr>
                        <a:t>Accepted / Not proceeded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Create accounts</a:t>
                      </a:r>
                    </a:p>
                  </a:txBody>
                  <a:tcPr marL="54864" marR="54864" marT="27432" marB="27432">
                    <a:solidFill>
                      <a:srgbClr val="E5F5FF"/>
                    </a:solidFill>
                  </a:tcPr>
                </a:tc>
                <a:tc>
                  <a:txBody>
                    <a:bodyPr/>
                    <a:lstStyle/>
                    <a:p>
                      <a:r>
                        <a:rPr sz="850" b="0">
                          <a:solidFill>
                            <a:srgbClr val="4B4B4B"/>
                          </a:solidFill>
                          <a:latin typeface="Arial"/>
                        </a:rPr>
                        <a:t>PROPOSAL_REQUEST</a:t>
                      </a:r>
                    </a:p>
                  </a:txBody>
                  <a:tcPr marL="54864" marR="54864" marT="27432" marB="27432">
                    <a:solidFill>
                      <a:srgbClr val="E5F5FF"/>
                    </a:solidFill>
                  </a:tcPr>
                </a:tc>
                <a:tc>
                  <a:txBody>
                    <a:bodyPr/>
                    <a:lstStyle/>
                    <a:p>
                      <a:r>
                        <a:rPr sz="850" b="0">
                          <a:solidFill>
                            <a:srgbClr val="4B4B4B"/>
                          </a:solidFill>
                          <a:latin typeface="Arial"/>
                        </a:rPr>
                        <a:t>Accepted; the client is confirmed</a:t>
                      </a:r>
                    </a:p>
                  </a:txBody>
                  <a:tcPr marL="54864" marR="54864" marT="27432" marB="27432">
                    <a:solidFill>
                      <a:srgbClr val="E5F5FF"/>
                    </a:solidFill>
                  </a:tcPr>
                </a:tc>
                <a:tc>
                  <a:txBody>
                    <a:bodyPr/>
                    <a:lstStyle/>
                    <a:p>
                      <a:r>
                        <a:rPr sz="850" b="0">
                          <a:solidFill>
                            <a:srgbClr val="4B4B4B"/>
                          </a:solidFill>
                          <a:latin typeface="Arial"/>
                        </a:rPr>
                        <a:t>Creates one draft account per accepted risk group under the PRF's ARN, priced on the chosen insurer's terms</a:t>
                      </a:r>
                    </a:p>
                  </a:txBody>
                  <a:tcPr marL="54864" marR="54864" marT="27432" marB="27432">
                    <a:solidFill>
                      <a:srgbClr val="E5F5FF"/>
                    </a:solidFill>
                  </a:tcPr>
                </a:tc>
                <a:tc>
                  <a:txBody>
                    <a:bodyPr/>
                    <a:lstStyle/>
                    <a:p>
                      <a:r>
                        <a:rPr sz="850" b="0">
                          <a:solidFill>
                            <a:srgbClr val="4B4B4B"/>
                          </a:solidFill>
                          <a:latin typeface="Arial"/>
                        </a:rPr>
                        <a:t>Converted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Void</a:t>
                      </a:r>
                    </a:p>
                  </a:txBody>
                  <a:tcPr marL="54864" marR="54864" marT="27432" marB="27432">
                    <a:solidFill>
                      <a:srgbClr val="FFFFFF"/>
                    </a:solidFill>
                  </a:tcPr>
                </a:tc>
                <a:tc>
                  <a:txBody>
                    <a:bodyPr/>
                    <a:lstStyle/>
                    <a:p>
                      <a:r>
                        <a:rPr sz="850" b="0">
                          <a:solidFill>
                            <a:srgbClr val="4B4B4B"/>
                          </a:solidFill>
                          <a:latin typeface="Arial"/>
                        </a:rPr>
                        <a:t>PROPOSAL_REQUEST (with PROPOSAL_APPROVE or TSU_PROCESS in their stages)</a:t>
                      </a:r>
                    </a:p>
                  </a:txBody>
                  <a:tcPr marL="54864" marR="54864" marT="27432" marB="27432">
                    <a:solidFill>
                      <a:srgbClr val="FFFFFF"/>
                    </a:solidFill>
                  </a:tcPr>
                </a:tc>
                <a:tc>
                  <a:txBody>
                    <a:bodyPr/>
                    <a:lstStyle/>
                    <a:p>
                      <a:r>
                        <a:rPr sz="850" b="0">
                          <a:solidFill>
                            <a:srgbClr val="4B4B4B"/>
                          </a:solidFill>
                          <a:latin typeface="Arial"/>
                        </a:rPr>
                        <a:t>Draft, for Marketing approval, received by TSU</a:t>
                      </a:r>
                    </a:p>
                  </a:txBody>
                  <a:tcPr marL="54864" marR="54864" marT="27432" marB="27432">
                    <a:solidFill>
                      <a:srgbClr val="FFFFFF"/>
                    </a:solidFill>
                  </a:tcPr>
                </a:tc>
                <a:tc>
                  <a:txBody>
                    <a:bodyPr/>
                    <a:lstStyle/>
                    <a:p>
                      <a:r>
                        <a:rPr sz="850" b="0">
                          <a:solidFill>
                            <a:srgbClr val="4B4B4B"/>
                          </a:solidFill>
                          <a:latin typeface="Arial"/>
                        </a:rPr>
                        <a:t>Asks for the void reason and a comment</a:t>
                      </a:r>
                    </a:p>
                  </a:txBody>
                  <a:tcPr marL="54864" marR="54864" marT="27432" marB="27432">
                    <a:solidFill>
                      <a:srgbClr val="FFFFFF"/>
                    </a:solidFill>
                  </a:tcPr>
                </a:tc>
                <a:tc>
                  <a:txBody>
                    <a:bodyPr/>
                    <a:lstStyle/>
                    <a:p>
                      <a:r>
                        <a:rPr sz="850" b="0">
                          <a:solidFill>
                            <a:srgbClr val="4B4B4B"/>
                          </a:solidFill>
                          <a:latin typeface="Arial"/>
                        </a:rPr>
                        <a:t>Voided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quotation slip or a proposal slip is never approved by the TSU officer who prepared it (FR-NB-053, FR-NB-056).</a:t>
                      </a:r>
                    </a:p>
                  </a:txBody>
                  <a:tcPr marL="54864" marR="54864" marT="27432" marB="27432">
                    <a:solidFill>
                      <a:srgbClr val="FFFFFF"/>
                    </a:solidFill>
                  </a:tcPr>
                </a:tc>
              </a:tr>
              <a:tr h="243840">
                <a:tc>
                  <a:txBody>
                    <a:bodyPr/>
                    <a:lstStyle/>
                    <a:p>
                      <a:r>
                        <a:rPr sz="1000" b="0">
                          <a:solidFill>
                            <a:srgbClr val="4B4B4B"/>
                          </a:solidFill>
                          <a:latin typeface="Arial"/>
                        </a:rPr>
                        <a:t>Insurer terms are kept with every revision; the comparative table marks the lowest premium and the recommended insurer (FR-NB-054, FR-NB-055).</a:t>
                      </a:r>
                    </a:p>
                  </a:txBody>
                  <a:tcPr marL="54864" marR="54864" marT="27432" marB="27432">
                    <a:solidFill>
                      <a:srgbClr val="E5F5FF"/>
                    </a:solidFill>
                  </a:tcPr>
                </a:tc>
              </a:tr>
              <a:tr h="243840">
                <a:tc>
                  <a:txBody>
                    <a:bodyPr/>
                    <a:lstStyle/>
                    <a:p>
                      <a:r>
                        <a:rPr sz="1000" b="0">
                          <a:solidFill>
                            <a:srgbClr val="4B4B4B"/>
                          </a:solidFill>
                          <a:latin typeface="Arial"/>
                        </a:rPr>
                        <a:t>Documents sent to the client are password protected (FR-NB-013, FR-NB-057).</a:t>
                      </a:r>
                    </a:p>
                  </a:txBody>
                  <a:tcPr marL="54864" marR="54864" marT="27432" marB="27432">
                    <a:solidFill>
                      <a:srgbClr val="FFFFFF"/>
                    </a:solidFill>
                  </a:tcPr>
                </a:tc>
              </a:tr>
              <a:tr h="243840">
                <a:tc>
                  <a:txBody>
                    <a:bodyPr/>
                    <a:lstStyle/>
                    <a:p>
                      <a:r>
                        <a:rPr sz="1000" b="0">
                          <a:solidFill>
                            <a:srgbClr val="4B4B4B"/>
                          </a:solidFill>
                          <a:latin typeface="Arial"/>
                        </a:rPr>
                        <a:t>Accounts are created only for a confirmed client (FR-NB-057).</a:t>
                      </a:r>
                    </a:p>
                  </a:txBody>
                  <a:tcPr marL="54864" marR="54864" marT="27432" marB="27432">
                    <a:solidFill>
                      <a:srgbClr val="E5F5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graphicFrame>
        <p:nvGraphicFramePr>
          <p:cNvPr id="9" name="Table 8"/>
          <p:cNvGraphicFramePr>
            <a:graphicFrameLocks noGrp="1"/>
          </p:cNvGraphicFramePr>
          <p:nvPr/>
        </p:nvGraphicFramePr>
        <p:xfrm>
          <a:off x="548640" y="1325880"/>
          <a:ext cx="11094413" cy="224028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WT-B step 2</a:t>
                      </a:r>
                    </a:p>
                  </a:txBody>
                  <a:tcPr marL="54864" marR="54864" marT="27432" marB="27432">
                    <a:solidFill>
                      <a:srgbClr val="FFFFFF"/>
                    </a:solidFill>
                  </a:tcPr>
                </a:tc>
                <a:tc>
                  <a:txBody>
                    <a:bodyPr/>
                    <a:lstStyle/>
                    <a:p>
                      <a:r>
                        <a:rPr sz="900" b="0">
                          <a:solidFill>
                            <a:srgbClr val="4B4B4B"/>
                          </a:solidFill>
                          <a:latin typeface="Arial"/>
                        </a:rPr>
                        <a:t>Opens the PRF and clicks Approve and send to TSU</a:t>
                      </a:r>
                    </a:p>
                  </a:txBody>
                  <a:tcPr marL="54864" marR="54864" marT="27432" marB="27432">
                    <a:solidFill>
                      <a:srgbClr val="FFFFFF"/>
                    </a:solidFill>
                  </a:tcPr>
                </a:tc>
                <a:tc>
                  <a:txBody>
                    <a:bodyPr/>
                    <a:lstStyle/>
                    <a:p>
                      <a:r>
                        <a:rPr sz="900" b="0">
                          <a:solidFill>
                            <a:srgbClr val="4B4B4B"/>
                          </a:solidFill>
                          <a:latin typeface="Arial"/>
                        </a:rPr>
                        <a:t>SCR-NB-11_wt-b-step-02.png</a:t>
                      </a:r>
                    </a:p>
                  </a:txBody>
                  <a:tcPr marL="54864" marR="54864" marT="27432" marB="27432">
                    <a:solidFill>
                      <a:srgbClr val="FFFFFF"/>
                    </a:solidFill>
                  </a:tcPr>
                </a:tc>
              </a:tr>
              <a:tr h="36576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WT-B step 6</a:t>
                      </a:r>
                    </a:p>
                  </a:txBody>
                  <a:tcPr marL="54864" marR="54864" marT="27432" marB="27432">
                    <a:solidFill>
                      <a:srgbClr val="E5F5FF"/>
                    </a:solidFill>
                  </a:tcPr>
                </a:tc>
                <a:tc>
                  <a:txBody>
                    <a:bodyPr/>
                    <a:lstStyle/>
                    <a:p>
                      <a:r>
                        <a:rPr sz="900" b="0">
                          <a:solidFill>
                            <a:srgbClr val="4B4B4B"/>
                          </a:solidFill>
                          <a:latin typeface="Arial"/>
                        </a:rPr>
                        <a:t>Keys in the terms of each insurer on the Insurer Responses tab (one declines), recommends the lowest premium and clicks Insurer terms complete</a:t>
                      </a:r>
                    </a:p>
                  </a:txBody>
                  <a:tcPr marL="54864" marR="54864" marT="27432" marB="27432">
                    <a:solidFill>
                      <a:srgbClr val="E5F5FF"/>
                    </a:solidFill>
                  </a:tcPr>
                </a:tc>
                <a:tc>
                  <a:txBody>
                    <a:bodyPr/>
                    <a:lstStyle/>
                    <a:p>
                      <a:r>
                        <a:rPr sz="900" b="0">
                          <a:solidFill>
                            <a:srgbClr val="4B4B4B"/>
                          </a:solidFill>
                          <a:latin typeface="Arial"/>
                        </a:rPr>
                        <a:t>SCR-NB-11_wt-b-step-06.png</a:t>
                      </a:r>
                    </a:p>
                  </a:txBody>
                  <a:tcPr marL="54864" marR="54864" marT="27432" marB="27432">
                    <a:solidFill>
                      <a:srgbClr val="E5F5FF"/>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WT-B step 8</a:t>
                      </a:r>
                    </a:p>
                  </a:txBody>
                  <a:tcPr marL="54864" marR="54864" marT="27432" marB="27432">
                    <a:solidFill>
                      <a:srgbClr val="FFFFFF"/>
                    </a:solidFill>
                  </a:tcPr>
                </a:tc>
                <a:tc>
                  <a:txBody>
                    <a:bodyPr/>
                    <a:lstStyle/>
                    <a:p>
                      <a:r>
                        <a:rPr sz="900" b="0">
                          <a:solidFill>
                            <a:srgbClr val="4B4B4B"/>
                          </a:solidFill>
                          <a:latin typeface="Arial"/>
                        </a:rPr>
                        <a:t>Clicks Send via Email to send the proposal slip and the comparative table to the client</a:t>
                      </a:r>
                    </a:p>
                  </a:txBody>
                  <a:tcPr marL="54864" marR="54864" marT="27432" marB="27432">
                    <a:solidFill>
                      <a:srgbClr val="FFFFFF"/>
                    </a:solidFill>
                  </a:tcPr>
                </a:tc>
                <a:tc>
                  <a:txBody>
                    <a:bodyPr/>
                    <a:lstStyle/>
                    <a:p>
                      <a:r>
                        <a:rPr sz="900" b="0">
                          <a:solidFill>
                            <a:srgbClr val="4B4B4B"/>
                          </a:solidFill>
                          <a:latin typeface="Arial"/>
                        </a:rPr>
                        <a:t>SCR-NB-11_wt-b-step-08.png</a:t>
                      </a:r>
                    </a:p>
                  </a:txBody>
                  <a:tcPr marL="54864" marR="54864" marT="27432" marB="27432">
                    <a:solidFill>
                      <a:srgbClr val="FFFFFF"/>
                    </a:solidFill>
                  </a:tcPr>
                </a:tc>
              </a:tr>
              <a:tr h="22860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WT-B step 9</a:t>
                      </a:r>
                    </a:p>
                  </a:txBody>
                  <a:tcPr marL="54864" marR="54864" marT="27432" marB="27432">
                    <a:solidFill>
                      <a:srgbClr val="E5F5FF"/>
                    </a:solidFill>
                  </a:tcPr>
                </a:tc>
                <a:tc>
                  <a:txBody>
                    <a:bodyPr/>
                    <a:lstStyle/>
                    <a:p>
                      <a:r>
                        <a:rPr sz="900" b="0">
                          <a:solidFill>
                            <a:srgbClr val="4B4B4B"/>
                          </a:solidFill>
                          <a:latin typeface="Arial"/>
                        </a:rPr>
                        <a:t>Records the client's acceptance and clicks Create accounts</a:t>
                      </a:r>
                    </a:p>
                  </a:txBody>
                  <a:tcPr marL="54864" marR="54864" marT="27432" marB="27432">
                    <a:solidFill>
                      <a:srgbClr val="E5F5FF"/>
                    </a:solidFill>
                  </a:tcPr>
                </a:tc>
                <a:tc>
                  <a:txBody>
                    <a:bodyPr/>
                    <a:lstStyle/>
                    <a:p>
                      <a:r>
                        <a:rPr sz="900" b="0">
                          <a:solidFill>
                            <a:srgbClr val="4B4B4B"/>
                          </a:solidFill>
                          <a:latin typeface="Arial"/>
                        </a:rPr>
                        <a:t>SCR-NB-11_wt-b-step-09.png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7</a:t>
                      </a:r>
                    </a:p>
                  </a:txBody>
                  <a:tcPr marL="54864" marR="54864" marT="27432" marB="27432">
                    <a:solidFill>
                      <a:srgbClr val="FFFFFF"/>
                    </a:solidFill>
                  </a:tcPr>
                </a:tc>
                <a:tc>
                  <a:txBody>
                    <a:bodyPr/>
                    <a:lstStyle/>
                    <a:p>
                      <a:r>
                        <a:rPr sz="900" b="0">
                          <a:solidFill>
                            <a:srgbClr val="4B4B4B"/>
                          </a:solidFill>
                          <a:latin typeface="Arial"/>
                        </a:rPr>
                        <a:t>Clicks Submit proposal slip for the recommended insurer; a second TSU officer approves and releases it</a:t>
                      </a:r>
                    </a:p>
                  </a:txBody>
                  <a:tcPr marL="54864" marR="54864" marT="27432" marB="27432">
                    <a:solidFill>
                      <a:srgbClr val="FFFFFF"/>
                    </a:solidFill>
                  </a:tcPr>
                </a:tc>
                <a:tc>
                  <a:txBody>
                    <a:bodyPr/>
                    <a:lstStyle/>
                    <a:p>
                      <a:r>
                        <a:rPr sz="900" b="0">
                          <a:solidFill>
                            <a:srgbClr val="4B4B4B"/>
                          </a:solidFill>
                          <a:latin typeface="Arial"/>
                        </a:rPr>
                        <a:t>SCR-NB-11_wt-b-step-07.png</a:t>
                      </a:r>
                    </a:p>
                  </a:txBody>
                  <a:tcPr marL="54864" marR="54864" marT="27432" marB="27432">
                    <a:solidFill>
                      <a:srgbClr val="FFFFFF"/>
                    </a:solidFill>
                  </a:tcPr>
                </a:tc>
              </a:tr>
              <a:tr h="36576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Clicks Accept and Prepare Quotation Slip, confirms the insurers on the Quotation Slip tab and clicks Submit quotation slip with the reply date</a:t>
                      </a:r>
                    </a:p>
                  </a:txBody>
                  <a:tcPr marL="54864" marR="54864" marT="27432" marB="27432">
                    <a:solidFill>
                      <a:srgbClr val="E5F5FF"/>
                    </a:solidFill>
                  </a:tcPr>
                </a:tc>
                <a:tc>
                  <a:txBody>
                    <a:bodyPr/>
                    <a:lstStyle/>
                    <a:p>
                      <a:r>
                        <a:rPr sz="900" b="0">
                          <a:solidFill>
                            <a:srgbClr val="4B4B4B"/>
                          </a:solidFill>
                          <a:latin typeface="Arial"/>
                        </a:rPr>
                        <a:t>SCR-NB-11_wt-b-step-04.png</a:t>
                      </a:r>
                    </a:p>
                  </a:txBody>
                  <a:tcPr marL="54864" marR="54864" marT="27432" marB="27432">
                    <a:solidFill>
                      <a:srgbClr val="E5F5FF"/>
                    </a:solidFill>
                  </a:tcPr>
                </a:tc>
              </a:tr>
              <a:tr h="22860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WT-B step 5</a:t>
                      </a:r>
                    </a:p>
                  </a:txBody>
                  <a:tcPr marL="54864" marR="54864" marT="27432" marB="27432">
                    <a:solidFill>
                      <a:srgbClr val="FFFFFF"/>
                    </a:solidFill>
                  </a:tcPr>
                </a:tc>
                <a:tc>
                  <a:txBody>
                    <a:bodyPr/>
                    <a:lstStyle/>
                    <a:p>
                      <a:r>
                        <a:rPr sz="900" b="0">
                          <a:solidFill>
                            <a:srgbClr val="4B4B4B"/>
                          </a:solidFill>
                          <a:latin typeface="Arial"/>
                        </a:rPr>
                        <a:t>A second TSU officer clicks Approve and send to insurers</a:t>
                      </a:r>
                    </a:p>
                  </a:txBody>
                  <a:tcPr marL="54864" marR="54864" marT="27432" marB="27432">
                    <a:solidFill>
                      <a:srgbClr val="FFFFFF"/>
                    </a:solidFill>
                  </a:tcPr>
                </a:tc>
                <a:tc>
                  <a:txBody>
                    <a:bodyPr/>
                    <a:lstStyle/>
                    <a:p>
                      <a:r>
                        <a:rPr sz="900" b="0">
                          <a:solidFill>
                            <a:srgbClr val="4B4B4B"/>
                          </a:solidFill>
                          <a:latin typeface="Arial"/>
                        </a:rPr>
                        <a:t>SCR-NB-11_wt-b-step-05.png</a:t>
                      </a:r>
                    </a:p>
                  </a:txBody>
                  <a:tcPr marL="54864" marR="54864" marT="27432" marB="27432">
                    <a:solidFill>
                      <a:srgbClr val="FFFF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record, Details tab (part 1 of 4)</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7.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record, Details tab (part 2 of 4)</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record, Details tab (part 3 of 4)</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9.png"/>
          <p:cNvPicPr>
            <a:picLocks noChangeAspect="1"/>
          </p:cNvPicPr>
          <p:nvPr/>
        </p:nvPicPr>
        <p:blipFill>
          <a:blip r:embed="rId3"/>
          <a:stretch>
            <a:fillRect/>
          </a:stretch>
        </p:blipFill>
        <p:spPr>
          <a:xfrm>
            <a:off x="548640" y="1261872"/>
            <a:ext cx="11094415" cy="16641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PRF record, Details tab (part 4 of 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0.png"/>
          <p:cNvPicPr>
            <a:picLocks noChangeAspect="1"/>
          </p:cNvPicPr>
          <p:nvPr/>
        </p:nvPicPr>
        <p:blipFill>
          <a:blip r:embed="rId3"/>
          <a:stretch>
            <a:fillRect/>
          </a:stretch>
        </p:blipFill>
        <p:spPr>
          <a:xfrm>
            <a:off x="548640" y="1261872"/>
            <a:ext cx="11094415" cy="46959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Slip tab: insurers approached (part 1 of 3)</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1.png"/>
          <p:cNvPicPr>
            <a:picLocks noChangeAspect="1"/>
          </p:cNvPicPr>
          <p:nvPr/>
        </p:nvPicPr>
        <p:blipFill>
          <a:blip r:embed="rId3"/>
          <a:stretch>
            <a:fillRect/>
          </a:stretch>
        </p:blipFill>
        <p:spPr>
          <a:xfrm>
            <a:off x="548640" y="1261872"/>
            <a:ext cx="11094415" cy="459557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Slip tab: insurers approached (part 2 of 3)</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2.png"/>
          <p:cNvPicPr>
            <a:picLocks noChangeAspect="1"/>
          </p:cNvPicPr>
          <p:nvPr/>
        </p:nvPicPr>
        <p:blipFill>
          <a:blip r:embed="rId3"/>
          <a:stretch>
            <a:fillRect/>
          </a:stretch>
        </p:blipFill>
        <p:spPr>
          <a:xfrm>
            <a:off x="548640" y="1261872"/>
            <a:ext cx="11094415" cy="186022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Quotation Slip tab: insurers approached (part 3 of 3)</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3.png"/>
          <p:cNvPicPr>
            <a:picLocks noChangeAspect="1"/>
          </p:cNvPicPr>
          <p:nvPr/>
        </p:nvPicPr>
        <p:blipFill>
          <a:blip r:embed="rId3"/>
          <a:stretch>
            <a:fillRect/>
          </a:stretch>
        </p:blipFill>
        <p:spPr>
          <a:xfrm>
            <a:off x="548640" y="1261872"/>
            <a:ext cx="11094415" cy="42082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tab with the terms received (part 1 of 4)</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4.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tab with the terms received (part 2 of 4)</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tab with the terms received (part 3 of 4)</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6.png"/>
          <p:cNvPicPr>
            <a:picLocks noChangeAspect="1"/>
          </p:cNvPicPr>
          <p:nvPr/>
        </p:nvPicPr>
        <p:blipFill>
          <a:blip r:embed="rId3"/>
          <a:stretch>
            <a:fillRect/>
          </a:stretch>
        </p:blipFill>
        <p:spPr>
          <a:xfrm>
            <a:off x="548640" y="1261872"/>
            <a:ext cx="11094415" cy="6121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tab with the terms received (part 4 of 4)</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7.png"/>
          <p:cNvPicPr>
            <a:picLocks noChangeAspect="1"/>
          </p:cNvPicPr>
          <p:nvPr/>
        </p:nvPicPr>
        <p:blipFill>
          <a:blip r:embed="rId3"/>
          <a:stretch>
            <a:fillRect/>
          </a:stretch>
        </p:blipFill>
        <p:spPr>
          <a:xfrm>
            <a:off x="548640" y="1261872"/>
            <a:ext cx="11094415" cy="42082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Table tab (part 1 of 3)</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8.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Table tab (part 2 of 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SCR-NB-11 Proposal Request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9.png"/>
          <p:cNvPicPr>
            <a:picLocks noChangeAspect="1"/>
          </p:cNvPicPr>
          <p:nvPr/>
        </p:nvPicPr>
        <p:blipFill>
          <a:blip r:embed="rId3"/>
          <a:stretch>
            <a:fillRect/>
          </a:stretch>
        </p:blipFill>
        <p:spPr>
          <a:xfrm>
            <a:off x="548640" y="1261872"/>
            <a:ext cx="11094415" cy="231930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Table tab (part 3 of 3)</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SCR-NB-11 Proposal Request record: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nb-11-05-terms.png"/>
          <p:cNvPicPr>
            <a:picLocks noChangeAspect="1"/>
          </p:cNvPicPr>
          <p:nvPr/>
        </p:nvPicPr>
        <p:blipFill>
          <a:blip r:embed="rId3"/>
          <a:stretch>
            <a:fillRect/>
          </a:stretch>
        </p:blipFill>
        <p:spPr>
          <a:xfrm>
            <a:off x="1344235" y="1261872"/>
            <a:ext cx="950322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Terms dialog of one insurer, opened from the row action menu</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TSU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Non-package placement (PRF)</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queues of the Technical Support Unit: one tile per PRF stage with open and overdue counts, and the work items oldest due first. A TSU officer claims a PRF and opens it; a team leader assigns PRFs.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Technical Support Unit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Non-Package Management › TSU Workbench</a:t>
                      </a:r>
                    </a:p>
                    <a:p>
                      <a:r>
                        <a:rPr sz="950" b="0">
                          <a:solidFill>
                            <a:srgbClr val="4B4B4B"/>
                          </a:solidFill>
                          <a:latin typeface="Arial"/>
                        </a:rPr>
                        <a:t>Proposal Requests › TSU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FR-NB-052, FR-NB-011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TSU works its PRFs by due time and nothing waits unnoticed.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graphicFrame>
        <p:nvGraphicFramePr>
          <p:cNvPr id="9" name="Table 8"/>
          <p:cNvGraphicFramePr>
            <a:graphicFrameLocks noGrp="1"/>
          </p:cNvGraphicFramePr>
          <p:nvPr/>
        </p:nvGraphicFramePr>
        <p:xfrm>
          <a:off x="548640" y="1325880"/>
          <a:ext cx="11094411" cy="15697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Stage tiles</a:t>
                      </a:r>
                    </a:p>
                  </a:txBody>
                  <a:tcPr marL="54864" marR="54864" marT="27432" marB="27432">
                    <a:solidFill>
                      <a:srgbClr val="FFFFFF"/>
                    </a:solidFill>
                  </a:tcPr>
                </a:tc>
                <a:tc>
                  <a:txBody>
                    <a:bodyPr/>
                    <a:lstStyle/>
                    <a:p>
                      <a:r>
                        <a:rPr sz="850" b="0">
                          <a:solidFill>
                            <a:srgbClr val="4B4B4B"/>
                          </a:solidFill>
                          <a:latin typeface="Arial"/>
                        </a:rPr>
                        <a:t>Received by TSU, Quotation slip in preparation, Quotation slip for approval, Awaiting insurer terms, Insurer terms received, Proposal slip for approval</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Open and overdue 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filters the list to its stage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Reference, Description, Stage, From, In Stage, Due, Assignee,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with the workflow under it; From names the segment or sales unit; Due in red when overdue; Claim and Assign in the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Claim</a:t>
                      </a:r>
                    </a:p>
                  </a:txBody>
                  <a:tcPr marL="54864" marR="54864" marT="27432" marB="27432">
                    <a:solidFill>
                      <a:srgbClr val="FFFFFF"/>
                    </a:solidFill>
                  </a:tcPr>
                </a:tc>
                <a:tc>
                  <a:txBody>
                    <a:bodyPr/>
                    <a:lstStyle/>
                    <a:p>
                      <a:r>
                        <a:rPr sz="850" b="0">
                          <a:solidFill>
                            <a:srgbClr val="4B4B4B"/>
                          </a:solidFill>
                          <a:latin typeface="Arial"/>
                        </a:rPr>
                        <a:t>Holder of the stage's permission</a:t>
                      </a:r>
                    </a:p>
                  </a:txBody>
                  <a:tcPr marL="54864" marR="54864" marT="27432" marB="27432">
                    <a:solidFill>
                      <a:srgbClr val="FFFFFF"/>
                    </a:solidFill>
                  </a:tcPr>
                </a:tc>
                <a:tc>
                  <a:txBody>
                    <a:bodyPr/>
                    <a:lstStyle/>
                    <a:p>
                      <a:r>
                        <a:rPr sz="850" b="0">
                          <a:solidFill>
                            <a:srgbClr val="4B4B4B"/>
                          </a:solidFill>
                          <a:latin typeface="Arial"/>
                        </a:rPr>
                        <a:t>Unassigned item (row action menu)</a:t>
                      </a:r>
                    </a:p>
                  </a:txBody>
                  <a:tcPr marL="54864" marR="54864" marT="27432" marB="27432">
                    <a:solidFill>
                      <a:srgbClr val="FFFFFF"/>
                    </a:solidFill>
                  </a:tcPr>
                </a:tc>
                <a:tc>
                  <a:txBody>
                    <a:bodyPr/>
                    <a:lstStyle/>
                    <a:p>
                      <a:r>
                        <a:rPr sz="850" b="0">
                          <a:solidFill>
                            <a:srgbClr val="4B4B4B"/>
                          </a:solidFill>
                          <a:latin typeface="Arial"/>
                        </a:rPr>
                        <a:t>Assigns the item to the user</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Assign</a:t>
                      </a:r>
                    </a:p>
                  </a:txBody>
                  <a:tcPr marL="54864" marR="54864" marT="27432" marB="27432">
                    <a:solidFill>
                      <a:srgbClr val="E5F5FF"/>
                    </a:solidFill>
                  </a:tcPr>
                </a:tc>
                <a:tc>
                  <a:txBody>
                    <a:bodyPr/>
                    <a:lstStyle/>
                    <a:p>
                      <a:r>
                        <a:rPr sz="850" b="0">
                          <a:solidFill>
                            <a:srgbClr val="4B4B4B"/>
                          </a:solidFill>
                          <a:latin typeface="Arial"/>
                        </a:rPr>
                        <a:t>WORK_ASSIGN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Assign dialog: a user of the stage's team, or back to the team queue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In-app notice to the new assignee</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PRF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item is assigned only to a user who holds the permission of its stage (FR-NB-011).</a:t>
                      </a:r>
                    </a:p>
                  </a:txBody>
                  <a:tcPr marL="54864" marR="54864" marT="27432" marB="27432">
                    <a:solidFill>
                      <a:srgbClr val="FFFFFF"/>
                    </a:solidFill>
                  </a:tcPr>
                </a:tc>
              </a:tr>
            </a:tbl>
          </a:graphicData>
        </a:graphic>
      </p:graphicFrame>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Claims the PRF on the TSU Workbench and opens it</a:t>
                      </a:r>
                    </a:p>
                  </a:txBody>
                  <a:tcPr marL="54864" marR="54864" marT="27432" marB="27432">
                    <a:solidFill>
                      <a:srgbClr val="FFFFFF"/>
                    </a:solidFill>
                  </a:tcPr>
                </a:tc>
                <a:tc>
                  <a:txBody>
                    <a:bodyPr/>
                    <a:lstStyle/>
                    <a:p>
                      <a:r>
                        <a:rPr sz="900" b="0">
                          <a:solidFill>
                            <a:srgbClr val="4B4B4B"/>
                          </a:solidFill>
                          <a:latin typeface="Arial"/>
                        </a:rPr>
                        <a:t>SCR-NB-12_wt-b-step-03.png</a:t>
                      </a:r>
                    </a:p>
                  </a:txBody>
                  <a:tcPr marL="54864" marR="54864" marT="27432" marB="27432">
                    <a:solidFill>
                      <a:srgbClr val="FFFFFF"/>
                    </a:solidFill>
                  </a:tcPr>
                </a:tc>
              </a:tr>
            </a:tbl>
          </a:graphicData>
        </a:graphic>
      </p:graphicFrame>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TSU Workbench: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Workbench (part 1 of 2)</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SCR-NB-12 TSU Workbench: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1.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Workbench (part 2 of 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New Business accounts from draft to booking, with quick tabs for the user's drafts, accounts returned to the user, accounts awaiting payment, Free First Year and direct payment, a search by ARN, client code or name, and advanced filters on PN number, vehicle identifiers, location, product, insurer, status, business type and period.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Accounts</a:t>
                      </a:r>
                    </a:p>
                    <a:p>
                      <a:r>
                        <a:rPr sz="950" b="0">
                          <a:solidFill>
                            <a:srgbClr val="4B4B4B"/>
                          </a:solidFill>
                          <a:latin typeface="Arial"/>
                        </a:rPr>
                        <a:t>NB Dashboard figures open the list filtered on their status</a:t>
                      </a:r>
                    </a:p>
                    <a:p>
                      <a:r>
                        <a:rPr sz="950" b="0">
                          <a:solidFill>
                            <a:srgbClr val="4B4B4B"/>
                          </a:solidFill>
                          <a:latin typeface="Arial"/>
                        </a:rPr>
                        <a:t>Client record › Linked Records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FR-NB-060, FR-NB-067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and Processing find any account and see the ones waiting for them.</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graphicFrame>
        <p:nvGraphicFramePr>
          <p:cNvPr id="9" name="Table 8"/>
          <p:cNvGraphicFramePr>
            <a:graphicFrameLocks noGrp="1"/>
          </p:cNvGraphicFramePr>
          <p:nvPr/>
        </p:nvGraphicFramePr>
        <p:xfrm>
          <a:off x="548640" y="1325880"/>
          <a:ext cx="11094411" cy="49224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My Drafts / Returned to Me / Awaiting Payment / FFY / Direct Payment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My Drafts and Returned to Me show the user's own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ARN, client code or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PN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Exact match on a PN number of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Plate, Conduction, Engine or Chassis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Match on any vehicle identifier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Location of Risk</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 on the risk address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Upper case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Product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Upper case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Insurer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Any status and every account stage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Business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New Business, Renewal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Starts On or After / Starts On or Before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Period start within the range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Include Voided</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Voided accounts are hidden unless ticked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ARN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ARN-yyyy-nnnnnn, copy chip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Client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and client code, or Prospect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 / Insurer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Product name with the insurer's name (or To be advised)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Period / Gross Premium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Period dd-MMM-yyyy – dd-MMM-yyyy; amount with 2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 / Flags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badge with the FFY and Direct Payment tags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graphicFrame>
        <p:nvGraphicFramePr>
          <p:cNvPr id="9" name="Table 8"/>
          <p:cNvGraphicFramePr>
            <a:graphicFrameLocks noGrp="1"/>
          </p:cNvGraphicFramePr>
          <p:nvPr/>
        </p:nvGraphicFramePr>
        <p:xfrm>
          <a:off x="548640" y="1325880"/>
          <a:ext cx="11094411" cy="44195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Officer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Account Officer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Bulk Upload</a:t>
                      </a:r>
                    </a:p>
                  </a:txBody>
                  <a:tcPr marL="54864" marR="54864" marT="27432" marB="27432">
                    <a:solidFill>
                      <a:srgbClr val="FFFFFF"/>
                    </a:solidFill>
                  </a:tcPr>
                </a:tc>
                <a:tc>
                  <a:txBody>
                    <a:bodyPr/>
                    <a:lstStyle/>
                    <a:p>
                      <a:r>
                        <a:rPr sz="850" b="0">
                          <a:solidFill>
                            <a:srgbClr val="4B4B4B"/>
                          </a:solidFill>
                          <a:latin typeface="Arial"/>
                        </a:rPr>
                        <a:t>ACCOUNT_MAINTAIN and BULK_PROCESS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Bulk Account Creation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New Account</a:t>
                      </a:r>
                    </a:p>
                  </a:txBody>
                  <a:tcPr marL="54864" marR="54864" marT="27432" marB="27432">
                    <a:solidFill>
                      <a:srgbClr val="E5F5FF"/>
                    </a:solidFill>
                  </a:tcPr>
                </a:tc>
                <a:tc>
                  <a:txBody>
                    <a:bodyPr/>
                    <a:lstStyle/>
                    <a:p>
                      <a:r>
                        <a:rPr sz="850" b="0">
                          <a:solidFill>
                            <a:srgbClr val="4B4B4B"/>
                          </a:solidFill>
                          <a:latin typeface="Arial"/>
                        </a:rPr>
                        <a:t>ACCOUNT_MAINTAIN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New Account wizard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Filters / Apply Filters / Clear Filters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applies or clears the advanced filters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account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Voided accounts are kept and hidden from the standard list (FR-NB-012).</a:t>
                      </a:r>
                    </a:p>
                  </a:txBody>
                  <a:tcPr marL="54864" marR="54864" marT="27432" marB="27432">
                    <a:solidFill>
                      <a:srgbClr val="FFFFFF"/>
                    </a:solidFill>
                  </a:tcPr>
                </a:tc>
              </a:tr>
              <a:tr h="243840">
                <a:tc>
                  <a:txBody>
                    <a:bodyPr/>
                    <a:lstStyle/>
                    <a:p>
                      <a:r>
                        <a:rPr sz="1000" b="0">
                          <a:solidFill>
                            <a:srgbClr val="4B4B4B"/>
                          </a:solidFill>
                          <a:latin typeface="Arial"/>
                        </a:rPr>
                        <a:t>Returned accounts are listed under Returned to Me for the Account Officer who owns them (FR-NB-067).</a:t>
                      </a:r>
                    </a:p>
                  </a:txBody>
                  <a:tcPr marL="54864" marR="54864" marT="27432" marB="27432">
                    <a:solidFill>
                      <a:srgbClr val="E5F5FF"/>
                    </a:solidFill>
                  </a:tcPr>
                </a:tc>
              </a:tr>
            </a:tbl>
          </a:graphicData>
        </a:graphic>
      </p:graphicFrame>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7</a:t>
                      </a:r>
                    </a:p>
                  </a:txBody>
                  <a:tcPr marL="54864" marR="54864" marT="27432" marB="27432">
                    <a:solidFill>
                      <a:srgbClr val="FFFFFF"/>
                    </a:solidFill>
                  </a:tcPr>
                </a:tc>
                <a:tc>
                  <a:txBody>
                    <a:bodyPr/>
                    <a:lstStyle/>
                    <a:p>
                      <a:r>
                        <a:rPr sz="900" b="0">
                          <a:solidFill>
                            <a:srgbClr val="4B4B4B"/>
                          </a:solidFill>
                          <a:latin typeface="Arial"/>
                        </a:rPr>
                        <a:t>Opens the Returned to Me tab, opens the account, attaches the document and clicks Resubmit to Processing</a:t>
                      </a:r>
                    </a:p>
                  </a:txBody>
                  <a:tcPr marL="54864" marR="54864" marT="27432" marB="27432">
                    <a:solidFill>
                      <a:srgbClr val="FFFFFF"/>
                    </a:solidFill>
                  </a:tcPr>
                </a:tc>
                <a:tc>
                  <a:txBody>
                    <a:bodyPr/>
                    <a:lstStyle/>
                    <a:p>
                      <a:r>
                        <a:rPr sz="900" b="0">
                          <a:solidFill>
                            <a:srgbClr val="4B4B4B"/>
                          </a:solidFill>
                          <a:latin typeface="Arial"/>
                        </a:rPr>
                        <a:t>SCR-NB-13_wt-c-step-07.png</a:t>
                      </a:r>
                    </a:p>
                  </a:txBody>
                  <a:tcPr marL="54864" marR="54864" marT="27432" marB="27432">
                    <a:solidFill>
                      <a:srgbClr val="FFFFFF"/>
                    </a:solidFill>
                  </a:tcPr>
                </a:tc>
              </a:tr>
            </a:tbl>
          </a:graphicData>
        </a:graphic>
      </p:graphicFrame>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2.png"/>
          <p:cNvPicPr>
            <a:picLocks noChangeAspect="1"/>
          </p:cNvPicPr>
          <p:nvPr/>
        </p:nvPicPr>
        <p:blipFill>
          <a:blip r:embed="rId3"/>
          <a:stretch>
            <a:fillRect/>
          </a:stretch>
        </p:blipFill>
        <p:spPr>
          <a:xfrm>
            <a:off x="548640" y="1261872"/>
            <a:ext cx="11094415" cy="448080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work list, All tab (part 1 of 4)</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work list, All tab (part 2 of 4)</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work list, All tab (part 3 of 4)</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5.png"/>
          <p:cNvPicPr>
            <a:picLocks noChangeAspect="1"/>
          </p:cNvPicPr>
          <p:nvPr/>
        </p:nvPicPr>
        <p:blipFill>
          <a:blip r:embed="rId3"/>
          <a:stretch>
            <a:fillRect/>
          </a:stretch>
        </p:blipFill>
        <p:spPr>
          <a:xfrm>
            <a:off x="548640" y="1261872"/>
            <a:ext cx="11094415" cy="46051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work list, All tab (part 4 of 4)</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6.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with the advanced filters open (part 1 of 4)</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7.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with the advanced filters open (part 2 of 4)</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with the advanced filters open (part 3 of 4)</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9.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with the advanced filters open (part 4 of 4)</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SCR-NB-13 Accounts: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13-02-returned.png"/>
          <p:cNvPicPr>
            <a:picLocks noChangeAspect="1"/>
          </p:cNvPicPr>
          <p:nvPr/>
        </p:nvPicPr>
        <p:blipFill>
          <a:blip r:embed="rId3"/>
          <a:stretch>
            <a:fillRect/>
          </a:stretch>
        </p:blipFill>
        <p:spPr>
          <a:xfrm>
            <a:off x="771771" y="1261872"/>
            <a:ext cx="1064815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Returned to Me tab</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SCR-NB-14 New Account and Edit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 six-step wizard for one account: client, product, period and payment, risk items, contact and premium, then a review with the completeness check, the premium, the documents and the submission to Processing. The draft is saved every 30 seconds once the client and product are chosen; risks already on a live account are refused with the existing ARN.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Processing, Processing Team Leader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New Account</a:t>
                      </a:r>
                    </a:p>
                    <a:p>
                      <a:r>
                        <a:rPr sz="950" b="0">
                          <a:solidFill>
                            <a:srgbClr val="4B4B4B"/>
                          </a:solidFill>
                          <a:latin typeface="Arial"/>
                        </a:rPr>
                        <a:t>Accounts › New Account</a:t>
                      </a:r>
                    </a:p>
                    <a:p>
                      <a:r>
                        <a:rPr sz="950" b="0">
                          <a:solidFill>
                            <a:srgbClr val="4B4B4B"/>
                          </a:solidFill>
                          <a:latin typeface="Arial"/>
                        </a:rPr>
                        <a:t>Account record › Edit Account (draft or returned to Marketing)</a:t>
                      </a:r>
                    </a:p>
                    <a:p>
                      <a:r>
                        <a:rPr sz="950" b="0">
                          <a:solidFill>
                            <a:srgbClr val="4B4B4B"/>
                          </a:solidFill>
                          <a:latin typeface="Arial"/>
                        </a:rPr>
                        <a:t>Quotation or PRF › Create accounts (the accounts open in draft with their data)</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FR-NB-061, FR-NB-062, FR-NB-063, FR-NB-064, FR-NB-066, FR-NB-068, FR-NB-069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complete, rated and submitted to Processing under its ARN.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25880"/>
          <a:ext cx="11094411" cy="48158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Client</a:t>
                      </a:r>
                    </a:p>
                  </a:txBody>
                  <a:tcPr marL="54864" marR="54864" marT="27432" marB="27432">
                    <a:solidFill>
                      <a:srgbClr val="FFFFFF"/>
                    </a:solidFill>
                  </a:tcPr>
                </a:tc>
                <a:tc>
                  <a:txBody>
                    <a:bodyPr/>
                    <a:lstStyle/>
                    <a:p>
                      <a:r>
                        <a:rPr sz="850" b="0">
                          <a:solidFill>
                            <a:srgbClr val="4B4B4B"/>
                          </a:solidFill>
                          <a:latin typeface="Arial"/>
                        </a:rPr>
                        <a:t>Client</a:t>
                      </a:r>
                    </a:p>
                  </a:txBody>
                  <a:tcPr marL="54864" marR="54864" marT="27432" marB="27432">
                    <a:solidFill>
                      <a:srgbClr val="FFFFFF"/>
                    </a:solidFill>
                  </a:tcPr>
                </a:tc>
                <a:tc>
                  <a:txBody>
                    <a:bodyPr/>
                    <a:lstStyle/>
                    <a:p>
                      <a:r>
                        <a:rPr sz="850" b="0">
                          <a:solidFill>
                            <a:srgbClr val="4B4B4B"/>
                          </a:solidFill>
                          <a:latin typeface="Arial"/>
                        </a:rPr>
                        <a:t>Look-up</a:t>
                      </a:r>
                    </a:p>
                  </a:txBody>
                  <a:tcPr marL="54864" marR="54864" marT="27432" marB="27432">
                    <a:solidFill>
                      <a:srgbClr val="FFFFFF"/>
                    </a:solidFill>
                  </a:tcPr>
                </a:tc>
                <a:tc>
                  <a:txBody>
                    <a:bodyPr/>
                    <a:lstStyle/>
                    <a:p>
                      <a:r>
                        <a:rPr sz="850" b="0">
                          <a:solidFill>
                            <a:srgbClr val="4B4B4B"/>
                          </a:solidFill>
                          <a:latin typeface="Arial"/>
                        </a:rPr>
                        <a:t>Code or name; shows the status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client is chosen; it must be confirmed before Processing validates the account</a:t>
                      </a:r>
                    </a:p>
                  </a:txBody>
                  <a:tcPr marL="54864" marR="54864" marT="27432" marB="27432">
                    <a:solidFill>
                      <a:srgbClr val="FFFFFF"/>
                    </a:solidFill>
                  </a:tcPr>
                </a:tc>
                <a:tc>
                  <a:txBody>
                    <a:bodyPr/>
                    <a:lstStyle/>
                    <a:p>
                      <a:r>
                        <a:rPr sz="850" b="0">
                          <a:solidFill>
                            <a:srgbClr val="4B4B4B"/>
                          </a:solidFill>
                          <a:latin typeface="Arial"/>
                        </a:rPr>
                        <a:t>Choose the client. / Client &lt;code&gt; is not yet confirmed (onboarding and KYC incomplete)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2. Product</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product must be offered to the segment</a:t>
                      </a:r>
                    </a:p>
                  </a:txBody>
                  <a:tcPr marL="54864" marR="54864" marT="27432" marB="27432">
                    <a:solidFill>
                      <a:srgbClr val="E5F5FF"/>
                    </a:solidFill>
                  </a:tcPr>
                </a:tc>
                <a:tc>
                  <a:txBody>
                    <a:bodyPr/>
                    <a:lstStyle/>
                    <a:p>
                      <a:r>
                        <a:rPr sz="850" b="0">
                          <a:solidFill>
                            <a:srgbClr val="4B4B4B"/>
                          </a:solidFill>
                          <a:latin typeface="Arial"/>
                        </a:rPr>
                        <a:t>Product &lt;code&gt; is not offered to segment &lt;segment&gt;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2. Product</a:t>
                      </a:r>
                    </a:p>
                  </a:txBody>
                  <a:tcPr marL="54864" marR="54864" marT="27432" marB="27432">
                    <a:solidFill>
                      <a:srgbClr val="FFFFFF"/>
                    </a:solidFill>
                  </a:tcPr>
                </a:tc>
                <a:tc>
                  <a:txBody>
                    <a:bodyPr/>
                    <a:lstStyle/>
                    <a:p>
                      <a:r>
                        <a:rPr sz="850" b="0">
                          <a:solidFill>
                            <a:srgbClr val="4B4B4B"/>
                          </a:solidFill>
                          <a:latin typeface="Arial"/>
                        </a:rPr>
                        <a:t>Product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Code –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product.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2. Product</a:t>
                      </a:r>
                    </a:p>
                  </a:txBody>
                  <a:tcPr marL="54864" marR="54864" marT="27432" marB="27432">
                    <a:solidFill>
                      <a:srgbClr val="E5F5FF"/>
                    </a:solidFill>
                  </a:tcPr>
                </a:tc>
                <a:tc>
                  <a:txBody>
                    <a:bodyPr/>
                    <a:lstStyle/>
                    <a:p>
                      <a:r>
                        <a:rPr sz="850" b="0">
                          <a:solidFill>
                            <a:srgbClr val="4B4B4B"/>
                          </a:solidFill>
                          <a:latin typeface="Arial"/>
                        </a:rPr>
                        <a:t>Source channel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2. Product</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Needed before placement</a:t>
                      </a:r>
                    </a:p>
                  </a:txBody>
                  <a:tcPr marL="54864" marR="54864" marT="27432" marB="27432">
                    <a:solidFill>
                      <a:srgbClr val="FFFFFF"/>
                    </a:solidFill>
                  </a:tcPr>
                </a:tc>
                <a:tc>
                  <a:txBody>
                    <a:bodyPr/>
                    <a:lstStyle/>
                    <a:p>
                      <a:r>
                        <a:rPr sz="850" b="0">
                          <a:solidFill>
                            <a:srgbClr val="4B4B4B"/>
                          </a:solidFill>
                          <a:latin typeface="Arial"/>
                        </a:rPr>
                        <a:t>Choose the insurer and branch on the account before placement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2. Product</a:t>
                      </a:r>
                    </a:p>
                  </a:txBody>
                  <a:tcPr marL="54864" marR="54864" marT="27432" marB="27432">
                    <a:solidFill>
                      <a:srgbClr val="E5F5FF"/>
                    </a:solidFill>
                  </a:tcPr>
                </a:tc>
                <a:tc>
                  <a:txBody>
                    <a:bodyPr/>
                    <a:lstStyle/>
                    <a:p>
                      <a:r>
                        <a:rPr sz="850" b="0">
                          <a:solidFill>
                            <a:srgbClr val="4B4B4B"/>
                          </a:solidFill>
                          <a:latin typeface="Arial"/>
                        </a:rPr>
                        <a:t>Insurer branch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Sets the local government tax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3. Period &amp; payment</a:t>
                      </a:r>
                    </a:p>
                  </a:txBody>
                  <a:tcPr marL="54864" marR="54864" marT="27432" marB="27432">
                    <a:solidFill>
                      <a:srgbClr val="FFFFFF"/>
                    </a:solidFill>
                  </a:tcPr>
                </a:tc>
                <a:tc>
                  <a:txBody>
                    <a:bodyPr/>
                    <a:lstStyle/>
                    <a:p>
                      <a:r>
                        <a:rPr sz="850" b="0">
                          <a:solidFill>
                            <a:srgbClr val="4B4B4B"/>
                          </a:solidFill>
                          <a:latin typeface="Arial"/>
                        </a:rPr>
                        <a:t>Period from / Period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end is after the start</a:t>
                      </a:r>
                    </a:p>
                  </a:txBody>
                  <a:tcPr marL="54864" marR="54864" marT="27432" marB="27432">
                    <a:solidFill>
                      <a:srgbClr val="FFFFFF"/>
                    </a:solidFill>
                  </a:tcPr>
                </a:tc>
                <a:tc>
                  <a:txBody>
                    <a:bodyPr/>
                    <a:lstStyle/>
                    <a:p>
                      <a:r>
                        <a:rPr sz="850" b="0">
                          <a:solidFill>
                            <a:srgbClr val="4B4B4B"/>
                          </a:solidFill>
                          <a:latin typeface="Arial"/>
                        </a:rPr>
                        <a:t>The period must end after it starts.</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3. Period &amp; payment</a:t>
                      </a:r>
                    </a:p>
                  </a:txBody>
                  <a:tcPr marL="54864" marR="54864" marT="27432" marB="27432">
                    <a:solidFill>
                      <a:srgbClr val="E5F5FF"/>
                    </a:solidFill>
                  </a:tcPr>
                </a:tc>
                <a:tc>
                  <a:txBody>
                    <a:bodyPr/>
                    <a:lstStyle/>
                    <a:p>
                      <a:r>
                        <a:rPr sz="850" b="0">
                          <a:solidFill>
                            <a:srgbClr val="4B4B4B"/>
                          </a:solidFill>
                          <a:latin typeface="Arial"/>
                        </a:rPr>
                        <a:t>Multi-year / Term (years)</a:t>
                      </a:r>
                    </a:p>
                  </a:txBody>
                  <a:tcPr marL="54864" marR="54864" marT="27432" marB="27432">
                    <a:solidFill>
                      <a:srgbClr val="E5F5FF"/>
                    </a:solidFill>
                  </a:tcPr>
                </a:tc>
                <a:tc>
                  <a:txBody>
                    <a:bodyPr/>
                    <a:lstStyle/>
                    <a:p>
                      <a:r>
                        <a:rPr sz="850" b="0">
                          <a:solidFill>
                            <a:srgbClr val="4B4B4B"/>
                          </a:solidFill>
                          <a:latin typeface="Arial"/>
                        </a:rPr>
                        <a:t>Check box / Number</a:t>
                      </a:r>
                    </a:p>
                  </a:txBody>
                  <a:tcPr marL="54864" marR="54864" marT="27432" marB="27432">
                    <a:solidFill>
                      <a:srgbClr val="E5F5FF"/>
                    </a:solidFill>
                  </a:tcPr>
                </a:tc>
                <a:tc>
                  <a:txBody>
                    <a:bodyPr/>
                    <a:lstStyle/>
                    <a:p>
                      <a:r>
                        <a:rPr sz="850" b="0">
                          <a:solidFill>
                            <a:srgbClr val="4B4B4B"/>
                          </a:solidFill>
                          <a:latin typeface="Arial"/>
                        </a:rPr>
                        <a:t>Term 2 up to the product maximum</a:t>
                      </a:r>
                    </a:p>
                  </a:txBody>
                  <a:tcPr marL="54864" marR="54864" marT="27432" marB="27432">
                    <a:solidFill>
                      <a:srgbClr val="E5F5FF"/>
                    </a:solidFill>
                  </a:tcPr>
                </a:tc>
                <a:tc>
                  <a:txBody>
                    <a:bodyPr/>
                    <a:lstStyle/>
                    <a:p>
                      <a:r>
                        <a:rPr sz="850" b="0">
                          <a:solidFill>
                            <a:srgbClr val="4B4B4B"/>
                          </a:solidFill>
                          <a:latin typeface="Arial"/>
                        </a:rPr>
                        <a:t>N (shown for multi-year products)</a:t>
                      </a:r>
                    </a:p>
                  </a:txBody>
                  <a:tcPr marL="54864" marR="54864" marT="27432" marB="27432">
                    <a:solidFill>
                      <a:srgbClr val="E5F5FF"/>
                    </a:solidFill>
                  </a:tcPr>
                </a:tc>
                <a:tc>
                  <a:txBody>
                    <a:bodyPr/>
                    <a:lstStyle/>
                    <a:p>
                      <a:r>
                        <a:rPr sz="850" b="0">
                          <a:solidFill>
                            <a:srgbClr val="4B4B4B"/>
                          </a:solidFill>
                          <a:latin typeface="Arial"/>
                        </a:rPr>
                        <a:t>A multi-year account has a term of 2 years or more, within the product's maximum</a:t>
                      </a:r>
                    </a:p>
                  </a:txBody>
                  <a:tcPr marL="54864" marR="54864" marT="27432" marB="27432">
                    <a:solidFill>
                      <a:srgbClr val="E5F5FF"/>
                    </a:solidFill>
                  </a:tcPr>
                </a:tc>
                <a:tc>
                  <a:txBody>
                    <a:bodyPr/>
                    <a:lstStyle/>
                    <a:p>
                      <a:r>
                        <a:rPr sz="850" b="0">
                          <a:solidFill>
                            <a:srgbClr val="4B4B4B"/>
                          </a:solidFill>
                          <a:latin typeface="Arial"/>
                        </a:rPr>
                        <a:t>A multi-year account needs a term of at least 2 years / Product &lt;code&gt; allows a term of up to &lt;n&gt; year(s)</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3. Period &amp; payment</a:t>
                      </a:r>
                    </a:p>
                  </a:txBody>
                  <a:tcPr marL="54864" marR="54864" marT="27432" marB="27432">
                    <a:solidFill>
                      <a:srgbClr val="FFFFFF"/>
                    </a:solidFill>
                  </a:tcPr>
                </a:tc>
                <a:tc>
                  <a:txBody>
                    <a:bodyPr/>
                    <a:lstStyle/>
                    <a:p>
                      <a:r>
                        <a:rPr sz="850" b="0">
                          <a:solidFill>
                            <a:srgbClr val="4B4B4B"/>
                          </a:solidFill>
                          <a:latin typeface="Arial"/>
                        </a:rPr>
                        <a:t>Currency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Three-letter code, upper case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Three letters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3. Period &amp; payment</a:t>
                      </a:r>
                    </a:p>
                  </a:txBody>
                  <a:tcPr marL="54864" marR="54864" marT="27432" marB="27432">
                    <a:solidFill>
                      <a:srgbClr val="E5F5FF"/>
                    </a:solidFill>
                  </a:tcPr>
                </a:tc>
                <a:tc>
                  <a:txBody>
                    <a:bodyPr/>
                    <a:lstStyle/>
                    <a:p>
                      <a:r>
                        <a:rPr sz="850" b="0">
                          <a:solidFill>
                            <a:srgbClr val="4B4B4B"/>
                          </a:solidFill>
                          <a:latin typeface="Arial"/>
                        </a:rPr>
                        <a:t>Payment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Premium paid through BDOI; Direct payment to the insurer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product allows direct payment</a:t>
                      </a:r>
                    </a:p>
                  </a:txBody>
                  <a:tcPr marL="54864" marR="54864" marT="27432" marB="27432">
                    <a:solidFill>
                      <a:srgbClr val="E5F5FF"/>
                    </a:solidFill>
                  </a:tcPr>
                </a:tc>
                <a:tc>
                  <a:txBody>
                    <a:bodyPr/>
                    <a:lstStyle/>
                    <a:p>
                      <a:r>
                        <a:rPr sz="850" b="0">
                          <a:solidFill>
                            <a:srgbClr val="4B4B4B"/>
                          </a:solidFill>
                          <a:latin typeface="Arial"/>
                        </a:rPr>
                        <a:t>Product &lt;code&gt; cannot be paid directly to the insurer</a:t>
                      </a:r>
                    </a:p>
                  </a:txBody>
                  <a:tcPr marL="54864" marR="54864" marT="27432" marB="27432">
                    <a:solidFill>
                      <a:srgbClr val="E5F5FF"/>
                    </a:solidFill>
                  </a:tcPr>
                </a:tc>
              </a:tr>
              <a:tr h="739135">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3. Period &amp; payment</a:t>
                      </a:r>
                    </a:p>
                  </a:txBody>
                  <a:tcPr marL="54864" marR="54864" marT="27432" marB="27432">
                    <a:solidFill>
                      <a:srgbClr val="FFFFFF"/>
                    </a:solidFill>
                  </a:tcPr>
                </a:tc>
                <a:tc>
                  <a:txBody>
                    <a:bodyPr/>
                    <a:lstStyle/>
                    <a:p>
                      <a:r>
                        <a:rPr sz="850" b="0">
                          <a:solidFill>
                            <a:srgbClr val="4B4B4B"/>
                          </a:solidFill>
                          <a:latin typeface="Arial"/>
                        </a:rPr>
                        <a:t>Mortgagee bank</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 (shown for products with a mortgagee)</a:t>
                      </a:r>
                    </a:p>
                  </a:txBody>
                  <a:tcPr marL="54864" marR="54864" marT="27432" marB="27432">
                    <a:solidFill>
                      <a:srgbClr val="FFFFFF"/>
                    </a:solidFill>
                  </a:tcPr>
                </a:tc>
                <a:tc>
                  <a:txBody>
                    <a:bodyPr/>
                    <a:lstStyle/>
                    <a:p>
                      <a:r>
                        <a:rPr sz="850" b="0">
                          <a:solidFill>
                            <a:srgbClr val="4B4B4B"/>
                          </a:solidFill>
                          <a:latin typeface="Arial"/>
                        </a:rPr>
                        <a:t>Only for products that carry a mortgagee</a:t>
                      </a:r>
                    </a:p>
                  </a:txBody>
                  <a:tcPr marL="54864" marR="54864" marT="27432" marB="27432">
                    <a:solidFill>
                      <a:srgbClr val="FFFFFF"/>
                    </a:solidFill>
                  </a:tcPr>
                </a:tc>
                <a:tc>
                  <a:txBody>
                    <a:bodyPr/>
                    <a:lstStyle/>
                    <a:p>
                      <a:r>
                        <a:rPr sz="850" b="0">
                          <a:solidFill>
                            <a:srgbClr val="4B4B4B"/>
                          </a:solidFill>
                          <a:latin typeface="Arial"/>
                        </a:rPr>
                        <a:t>Product &lt;code&gt; carries no mortgagee</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3. Period &amp; payment</a:t>
                      </a:r>
                    </a:p>
                  </a:txBody>
                  <a:tcPr marL="54864" marR="54864" marT="27432" marB="27432">
                    <a:solidFill>
                      <a:srgbClr val="E5F5FF"/>
                    </a:solidFill>
                  </a:tcPr>
                </a:tc>
                <a:tc>
                  <a:txBody>
                    <a:bodyPr/>
                    <a:lstStyle/>
                    <a:p>
                      <a:r>
                        <a:rPr sz="850" b="0">
                          <a:solidFill>
                            <a:srgbClr val="4B4B4B"/>
                          </a:solidFill>
                          <a:latin typeface="Arial"/>
                        </a:rPr>
                        <a:t>Loan application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 characters</a:t>
                      </a:r>
                    </a:p>
                  </a:txBody>
                  <a:tcPr marL="54864" marR="54864" marT="27432" marB="27432">
                    <a:solidFill>
                      <a:srgbClr val="E5F5FF"/>
                    </a:solidFill>
                  </a:tcPr>
                </a:tc>
                <a:tc>
                  <a:txBody>
                    <a:bodyPr/>
                    <a:lstStyle/>
                    <a:p>
                      <a:r>
                        <a:rPr sz="850" b="0">
                          <a:solidFill>
                            <a:srgbClr val="4B4B4B"/>
                          </a:solidFill>
                          <a:latin typeface="Arial"/>
                        </a:rPr>
                        <a:t>N (mortgage products)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graphicFrame>
        <p:nvGraphicFramePr>
          <p:cNvPr id="9" name="Table 8"/>
          <p:cNvGraphicFramePr>
            <a:graphicFrameLocks noGrp="1"/>
          </p:cNvGraphicFramePr>
          <p:nvPr/>
        </p:nvGraphicFramePr>
        <p:xfrm>
          <a:off x="548640" y="1325880"/>
          <a:ext cx="11094411" cy="48005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3. Period &amp; payment</a:t>
                      </a:r>
                    </a:p>
                  </a:txBody>
                  <a:tcPr marL="54864" marR="54864" marT="27432" marB="27432">
                    <a:solidFill>
                      <a:srgbClr val="FFFFFF"/>
                    </a:solidFill>
                  </a:tcPr>
                </a:tc>
                <a:tc>
                  <a:txBody>
                    <a:bodyPr/>
                    <a:lstStyle/>
                    <a:p>
                      <a:r>
                        <a:rPr sz="850" b="0">
                          <a:solidFill>
                            <a:srgbClr val="4B4B4B"/>
                          </a:solidFill>
                          <a:latin typeface="Arial"/>
                        </a:rPr>
                        <a:t>PN numbers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Separated by commas; up to 20 numbers of 40 characters</a:t>
                      </a:r>
                    </a:p>
                  </a:txBody>
                  <a:tcPr marL="54864" marR="54864" marT="27432" marB="27432">
                    <a:solidFill>
                      <a:srgbClr val="FFFFFF"/>
                    </a:solidFill>
                  </a:tcPr>
                </a:tc>
                <a:tc>
                  <a:txBody>
                    <a:bodyPr/>
                    <a:lstStyle/>
                    <a:p>
                      <a:r>
                        <a:rPr sz="850" b="0">
                          <a:solidFill>
                            <a:srgbClr val="4B4B4B"/>
                          </a:solidFill>
                          <a:latin typeface="Arial"/>
                        </a:rPr>
                        <a:t>N (mortgage products)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3. Period &amp; payment</a:t>
                      </a:r>
                    </a:p>
                  </a:txBody>
                  <a:tcPr marL="54864" marR="54864" marT="27432" marB="27432">
                    <a:solidFill>
                      <a:srgbClr val="E5F5FF"/>
                    </a:solidFill>
                  </a:tcPr>
                </a:tc>
                <a:tc>
                  <a:txBody>
                    <a:bodyPr/>
                    <a:lstStyle/>
                    <a:p>
                      <a:r>
                        <a:rPr sz="850" b="0">
                          <a:solidFill>
                            <a:srgbClr val="4B4B4B"/>
                          </a:solidFill>
                          <a:latin typeface="Arial"/>
                        </a:rPr>
                        <a:t>Free First Year from</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blank if not FFY</a:t>
                      </a:r>
                    </a:p>
                  </a:txBody>
                  <a:tcPr marL="54864" marR="54864" marT="27432" marB="27432">
                    <a:solidFill>
                      <a:srgbClr val="E5F5FF"/>
                    </a:solidFill>
                  </a:tcPr>
                </a:tc>
                <a:tc>
                  <a:txBody>
                    <a:bodyPr/>
                    <a:lstStyle/>
                    <a:p>
                      <a:r>
                        <a:rPr sz="850" b="0">
                          <a:solidFill>
                            <a:srgbClr val="4B4B4B"/>
                          </a:solidFill>
                          <a:latin typeface="Arial"/>
                        </a:rPr>
                        <a:t>N (shown for FFY products)</a:t>
                      </a:r>
                    </a:p>
                  </a:txBody>
                  <a:tcPr marL="54864" marR="54864" marT="27432" marB="27432">
                    <a:solidFill>
                      <a:srgbClr val="E5F5FF"/>
                    </a:solidFill>
                  </a:tcPr>
                </a:tc>
                <a:tc>
                  <a:txBody>
                    <a:bodyPr/>
                    <a:lstStyle/>
                    <a:p>
                      <a:r>
                        <a:rPr sz="850" b="0">
                          <a:solidFill>
                            <a:srgbClr val="4B4B4B"/>
                          </a:solidFill>
                          <a:latin typeface="Arial"/>
                        </a:rPr>
                        <a:t>Only for FFY-eligible products</a:t>
                      </a:r>
                    </a:p>
                  </a:txBody>
                  <a:tcPr marL="54864" marR="54864" marT="27432" marB="27432">
                    <a:solidFill>
                      <a:srgbClr val="E5F5FF"/>
                    </a:solidFill>
                  </a:tcPr>
                </a:tc>
                <a:tc>
                  <a:txBody>
                    <a:bodyPr/>
                    <a:lstStyle/>
                    <a:p>
                      <a:r>
                        <a:rPr sz="850" b="0">
                          <a:solidFill>
                            <a:srgbClr val="4B4B4B"/>
                          </a:solidFill>
                          <a:latin typeface="Arial"/>
                        </a:rPr>
                        <a:t>Product &lt;code&gt; is not Free First Year eligible</a:t>
                      </a:r>
                    </a:p>
                  </a:txBody>
                  <a:tcPr marL="54864" marR="54864" marT="27432" marB="27432">
                    <a:solidFill>
                      <a:srgbClr val="E5F5FF"/>
                    </a:solidFill>
                  </a:tcPr>
                </a:tc>
              </a:tr>
              <a:tr h="2034525">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4. Risk items</a:t>
                      </a:r>
                    </a:p>
                  </a:txBody>
                  <a:tcPr marL="54864" marR="54864" marT="27432" marB="27432">
                    <a:solidFill>
                      <a:srgbClr val="FFFFFF"/>
                    </a:solidFill>
                  </a:tcPr>
                </a:tc>
                <a:tc>
                  <a:txBody>
                    <a:bodyPr/>
                    <a:lstStyle/>
                    <a:p>
                      <a:r>
                        <a:rPr sz="850" b="0">
                          <a:solidFill>
                            <a:srgbClr val="4B4B4B"/>
                          </a:solidFill>
                          <a:latin typeface="Arial"/>
                        </a:rPr>
                        <a:t>Vehicle, location, person or item fields</a:t>
                      </a:r>
                    </a:p>
                  </a:txBody>
                  <a:tcPr marL="54864" marR="54864" marT="27432" marB="27432">
                    <a:solidFill>
                      <a:srgbClr val="FFFFFF"/>
                    </a:solidFill>
                  </a:tcPr>
                </a:tc>
                <a:tc>
                  <a:txBody>
                    <a:bodyPr/>
                    <a:lstStyle/>
                    <a:p>
                      <a:r>
                        <a:rPr sz="850" b="0">
                          <a:solidFill>
                            <a:srgbClr val="4B4B4B"/>
                          </a:solidFill>
                          <a:latin typeface="Arial"/>
                        </a:rPr>
                        <a:t>As on New Quotation</a:t>
                      </a:r>
                    </a:p>
                  </a:txBody>
                  <a:tcPr marL="54864" marR="54864" marT="27432" marB="27432">
                    <a:solidFill>
                      <a:srgbClr val="FFFFFF"/>
                    </a:solidFill>
                  </a:tcPr>
                </a:tc>
                <a:tc>
                  <a:txBody>
                    <a:bodyPr/>
                    <a:lstStyle/>
                    <a:p>
                      <a:r>
                        <a:rPr sz="850" b="0">
                          <a:solidFill>
                            <a:srgbClr val="4B4B4B"/>
                          </a:solidFill>
                          <a:latin typeface="Arial"/>
                        </a:rPr>
                        <a:t>As on New Quotation</a:t>
                      </a:r>
                    </a:p>
                  </a:txBody>
                  <a:tcPr marL="54864" marR="54864" marT="27432" marB="27432">
                    <a:solidFill>
                      <a:srgbClr val="FFFFFF"/>
                    </a:solidFill>
                  </a:tcPr>
                </a:tc>
                <a:tc>
                  <a:txBody>
                    <a:bodyPr/>
                    <a:lstStyle/>
                    <a:p>
                      <a:r>
                        <a:rPr sz="850" b="0">
                          <a:solidFill>
                            <a:srgbClr val="4B4B4B"/>
                          </a:solidFill>
                          <a:latin typeface="Arial"/>
                        </a:rPr>
                        <a:t>Plate no. or conduction sticker per vehicle; address per location; name per person; others per the product's field rules</a:t>
                      </a:r>
                    </a:p>
                  </a:txBody>
                  <a:tcPr marL="54864" marR="54864" marT="27432" marB="27432">
                    <a:solidFill>
                      <a:srgbClr val="FFFFFF"/>
                    </a:solidFill>
                  </a:tcPr>
                </a:tc>
                <a:tc>
                  <a:txBody>
                    <a:bodyPr/>
                    <a:lstStyle/>
                    <a:p>
                      <a:r>
                        <a:rPr sz="850" b="0">
                          <a:solidFill>
                            <a:srgbClr val="4B4B4B"/>
                          </a:solidFill>
                          <a:latin typeface="Arial"/>
                        </a:rPr>
                        <a:t>Product field rules and the duplicate check</a:t>
                      </a:r>
                    </a:p>
                  </a:txBody>
                  <a:tcPr marL="54864" marR="54864" marT="27432" marB="27432">
                    <a:solidFill>
                      <a:srgbClr val="FFFFFF"/>
                    </a:solidFill>
                  </a:tcPr>
                </a:tc>
                <a:tc>
                  <a:txBody>
                    <a:bodyPr/>
                    <a:lstStyle/>
                    <a:p>
                      <a:r>
                        <a:rPr sz="850" b="0">
                          <a:solidFill>
                            <a:srgbClr val="4B4B4B"/>
                          </a:solidFill>
                          <a:latin typeface="Arial"/>
                        </a:rPr>
                        <a:t>Vehicle &lt;n&gt;: enter the plate number or conduction sticker. / Location &lt;n&gt;: enter the address. / Person &lt;n&gt;: enter the name. / Add at least one risk item.</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5. Contact &amp; premium</a:t>
                      </a:r>
                    </a:p>
                  </a:txBody>
                  <a:tcPr marL="54864" marR="54864" marT="27432" marB="27432">
                    <a:solidFill>
                      <a:srgbClr val="E5F5FF"/>
                    </a:solidFill>
                  </a:tcPr>
                </a:tc>
                <a:tc>
                  <a:txBody>
                    <a:bodyPr/>
                    <a:lstStyle/>
                    <a:p>
                      <a:r>
                        <a:rPr sz="850" b="0">
                          <a:solidFill>
                            <a:srgbClr val="4B4B4B"/>
                          </a:solidFill>
                          <a:latin typeface="Arial"/>
                        </a:rPr>
                        <a:t>Contact person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5. Contact &amp; premium</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name@domain, up to 120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Valid e-mail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5. Contact &amp; premium</a:t>
                      </a:r>
                    </a:p>
                  </a:txBody>
                  <a:tcPr marL="54864" marR="54864" marT="27432" marB="27432">
                    <a:solidFill>
                      <a:srgbClr val="E5F5FF"/>
                    </a:solidFill>
                  </a:tcPr>
                </a:tc>
                <a:tc>
                  <a:txBody>
                    <a:bodyPr/>
                    <a:lstStyle/>
                    <a:p>
                      <a:r>
                        <a:rPr sz="850" b="0">
                          <a:solidFill>
                            <a:srgbClr val="4B4B4B"/>
                          </a:solidFill>
                          <a:latin typeface="Arial"/>
                        </a:rPr>
                        <a:t>Mobile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19</a:t>
                      </a:r>
                    </a:p>
                  </a:txBody>
                  <a:tcPr marL="54864" marR="54864" marT="27432" marB="27432">
                    <a:solidFill>
                      <a:srgbClr val="FFFFFF"/>
                    </a:solidFill>
                  </a:tcPr>
                </a:tc>
                <a:tc>
                  <a:txBody>
                    <a:bodyPr/>
                    <a:lstStyle/>
                    <a:p>
                      <a:r>
                        <a:rPr sz="850" b="0">
                          <a:solidFill>
                            <a:srgbClr val="4B4B4B"/>
                          </a:solidFill>
                          <a:latin typeface="Arial"/>
                        </a:rPr>
                        <a:t>5. Contact &amp; premium</a:t>
                      </a:r>
                    </a:p>
                  </a:txBody>
                  <a:tcPr marL="54864" marR="54864" marT="27432" marB="27432">
                    <a:solidFill>
                      <a:srgbClr val="FFFFFF"/>
                    </a:solidFill>
                  </a:tcPr>
                </a:tc>
                <a:tc>
                  <a:txBody>
                    <a:bodyPr/>
                    <a:lstStyle/>
                    <a:p>
                      <a:r>
                        <a:rPr sz="850" b="0">
                          <a:solidFill>
                            <a:srgbClr val="4B4B4B"/>
                          </a:solidFill>
                          <a:latin typeface="Arial"/>
                        </a:rPr>
                        <a:t>Mailing address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300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20</a:t>
                      </a:r>
                    </a:p>
                  </a:txBody>
                  <a:tcPr marL="54864" marR="54864" marT="27432" marB="27432">
                    <a:solidFill>
                      <a:srgbClr val="E5F5FF"/>
                    </a:solidFill>
                  </a:tcPr>
                </a:tc>
                <a:tc>
                  <a:txBody>
                    <a:bodyPr/>
                    <a:lstStyle/>
                    <a:p>
                      <a:r>
                        <a:rPr sz="850" b="0">
                          <a:solidFill>
                            <a:srgbClr val="4B4B4B"/>
                          </a:solidFill>
                          <a:latin typeface="Arial"/>
                        </a:rPr>
                        <a:t>5. Contact &amp; premium</a:t>
                      </a:r>
                    </a:p>
                  </a:txBody>
                  <a:tcPr marL="54864" marR="54864" marT="27432" marB="27432">
                    <a:solidFill>
                      <a:srgbClr val="E5F5FF"/>
                    </a:solidFill>
                  </a:tcPr>
                </a:tc>
                <a:tc>
                  <a:txBody>
                    <a:bodyPr/>
                    <a:lstStyle/>
                    <a:p>
                      <a:r>
                        <a:rPr sz="850" b="0">
                          <a:solidFill>
                            <a:srgbClr val="4B4B4B"/>
                          </a:solidFill>
                          <a:latin typeface="Arial"/>
                        </a:rPr>
                        <a:t>Rating basis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Annual, Pro-rata (days), Short period (table)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21</a:t>
                      </a:r>
                    </a:p>
                  </a:txBody>
                  <a:tcPr marL="54864" marR="54864" marT="27432" marB="27432">
                    <a:solidFill>
                      <a:srgbClr val="FFFFFF"/>
                    </a:solidFill>
                  </a:tcPr>
                </a:tc>
                <a:tc>
                  <a:txBody>
                    <a:bodyPr/>
                    <a:lstStyle/>
                    <a:p>
                      <a:r>
                        <a:rPr sz="850" b="0">
                          <a:solidFill>
                            <a:srgbClr val="4B4B4B"/>
                          </a:solidFill>
                          <a:latin typeface="Arial"/>
                        </a:rPr>
                        <a:t>5. Contact &amp; premium</a:t>
                      </a:r>
                    </a:p>
                  </a:txBody>
                  <a:tcPr marL="54864" marR="54864" marT="27432" marB="27432">
                    <a:solidFill>
                      <a:srgbClr val="FFFFFF"/>
                    </a:solidFill>
                  </a:tcPr>
                </a:tc>
                <a:tc>
                  <a:txBody>
                    <a:bodyPr/>
                    <a:lstStyle/>
                    <a:p>
                      <a:r>
                        <a:rPr sz="850" b="0">
                          <a:solidFill>
                            <a:srgbClr val="4B4B4B"/>
                          </a:solidFill>
                          <a:latin typeface="Arial"/>
                        </a:rPr>
                        <a:t>Commission % override</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6. Review &amp; submit</a:t>
                      </a:r>
                    </a:p>
                  </a:txBody>
                  <a:tcPr marL="54864" marR="54864" marT="27432" marB="27432">
                    <a:solidFill>
                      <a:srgbClr val="FFFFFF"/>
                    </a:solidFill>
                  </a:tcPr>
                </a:tc>
                <a:tc>
                  <a:txBody>
                    <a:bodyPr/>
                    <a:lstStyle/>
                    <a:p>
                      <a:r>
                        <a:rPr sz="850" b="0">
                          <a:solidFill>
                            <a:srgbClr val="4B4B4B"/>
                          </a:solidFill>
                          <a:latin typeface="Arial"/>
                        </a:rPr>
                        <a:t>Completeness check</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Complete, or the list of missing fields and documents; duplicate risks with the existing ARN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Mandatory fields, mandatory documents, rated premium, no duplicate risk</a:t>
                      </a:r>
                    </a:p>
                  </a:txBody>
                  <a:tcPr marL="54864" marR="54864" marT="27432" marB="27432">
                    <a:solidFill>
                      <a:srgbClr val="FFFFFF"/>
                    </a:solidFill>
                  </a:tcPr>
                </a:tc>
                <a:tc>
                  <a:txBody>
                    <a:bodyPr/>
                    <a:lstStyle/>
                    <a:p>
                      <a:r>
                        <a:rPr sz="850" b="0">
                          <a:solidFill>
                            <a:srgbClr val="4B4B4B"/>
                          </a:solidFill>
                          <a:latin typeface="Arial"/>
                        </a:rPr>
                        <a:t>Complete the mandatory fields of &lt;product&gt;: &lt;fields&gt; / Upload the mandatory documents: &lt;documents&gt; / Compute the premium (sum insured and rate of every item) first / Duplicate of existing account &lt;ARN&gt;: &lt;detail&gt;</a:t>
                      </a:r>
                    </a:p>
                  </a:txBody>
                  <a:tcPr marL="54864" marR="54864" marT="27432" marB="27432">
                    <a:solidFill>
                      <a:srgbClr val="FFFFFF"/>
                    </a:solidFill>
                  </a:tcPr>
                </a:tc>
              </a:tr>
              <a:tr h="350518">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6. Review &amp; submit</a:t>
                      </a:r>
                    </a:p>
                  </a:txBody>
                  <a:tcPr marL="54864" marR="54864" marT="27432" marB="27432">
                    <a:solidFill>
                      <a:srgbClr val="E5F5FF"/>
                    </a:solidFill>
                  </a:tcPr>
                </a:tc>
                <a:tc>
                  <a:txBody>
                    <a:bodyPr/>
                    <a:lstStyle/>
                    <a:p>
                      <a:r>
                        <a:rPr sz="850" b="0">
                          <a:solidFill>
                            <a:srgbClr val="4B4B4B"/>
                          </a:solidFill>
                          <a:latin typeface="Arial"/>
                        </a:rPr>
                        <a:t>Premium</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Appendix A breakdown with VAT on commission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 rated yet: enter the sum insured and period of every item.</a:t>
                      </a:r>
                    </a:p>
                  </a:txBody>
                  <a:tcPr marL="54864" marR="54864" marT="27432" marB="27432">
                    <a:solidFill>
                      <a:srgbClr val="E5F5FF"/>
                    </a:solidFill>
                  </a:tcPr>
                </a:tc>
              </a:tr>
              <a:tr h="220979">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6. Review &amp; submit</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ACCOUNT_MAINTAIN</a:t>
                      </a:r>
                    </a:p>
                  </a:txBody>
                  <a:tcPr marL="54864" marR="54864" marT="27432" marB="27432">
                    <a:solidFill>
                      <a:srgbClr val="FFFFFF"/>
                    </a:solidFill>
                  </a:tcPr>
                </a:tc>
                <a:tc>
                  <a:txBody>
                    <a:bodyPr/>
                    <a:lstStyle/>
                    <a:p>
                      <a:r>
                        <a:rPr sz="850" b="0">
                          <a:solidFill>
                            <a:srgbClr val="4B4B4B"/>
                          </a:solidFill>
                          <a:latin typeface="Arial"/>
                        </a:rPr>
                        <a:t>Client and product chosen</a:t>
                      </a:r>
                    </a:p>
                  </a:txBody>
                  <a:tcPr marL="54864" marR="54864" marT="27432" marB="27432">
                    <a:solidFill>
                      <a:srgbClr val="FFFFFF"/>
                    </a:solidFill>
                  </a:tcPr>
                </a:tc>
                <a:tc>
                  <a:txBody>
                    <a:bodyPr/>
                    <a:lstStyle/>
                    <a:p>
                      <a:r>
                        <a:rPr sz="850" b="0">
                          <a:solidFill>
                            <a:srgbClr val="4B4B4B"/>
                          </a:solidFill>
                          <a:latin typeface="Arial"/>
                        </a:rPr>
                        <a:t>Saves the draft (also every 30 seconds); the first save gives the ARN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Next / Back</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Moves between steps; Next checks the step; moving to Review saves the 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to Processing</a:t>
                      </a:r>
                    </a:p>
                  </a:txBody>
                  <a:tcPr marL="54864" marR="54864" marT="27432" marB="27432">
                    <a:solidFill>
                      <a:srgbClr val="FFFFFF"/>
                    </a:solidFill>
                  </a:tcPr>
                </a:tc>
                <a:tc>
                  <a:txBody>
                    <a:bodyPr/>
                    <a:lstStyle/>
                    <a:p>
                      <a:r>
                        <a:rPr sz="850" b="0">
                          <a:solidFill>
                            <a:srgbClr val="4B4B4B"/>
                          </a:solidFill>
                          <a:latin typeface="Arial"/>
                        </a:rPr>
                        <a:t>ACCOUNT_MAINTAIN</a:t>
                      </a:r>
                    </a:p>
                  </a:txBody>
                  <a:tcPr marL="54864" marR="54864" marT="27432" marB="27432">
                    <a:solidFill>
                      <a:srgbClr val="FFFFFF"/>
                    </a:solidFill>
                  </a:tcPr>
                </a:tc>
                <a:tc>
                  <a:txBody>
                    <a:bodyPr/>
                    <a:lstStyle/>
                    <a:p>
                      <a:r>
                        <a:rPr sz="850" b="0">
                          <a:solidFill>
                            <a:srgbClr val="4B4B4B"/>
                          </a:solidFill>
                          <a:latin typeface="Arial"/>
                        </a:rPr>
                        <a:t>Review step of a saved draft; check complete</a:t>
                      </a:r>
                    </a:p>
                  </a:txBody>
                  <a:tcPr marL="54864" marR="54864" marT="27432" marB="27432">
                    <a:solidFill>
                      <a:srgbClr val="FFFFFF"/>
                    </a:solidFill>
                  </a:tcPr>
                </a:tc>
                <a:tc>
                  <a:txBody>
                    <a:bodyPr/>
                    <a:lstStyle/>
                    <a:p>
                      <a:r>
                        <a:rPr sz="850" b="0">
                          <a:solidFill>
                            <a:srgbClr val="4B4B4B"/>
                          </a:solidFill>
                          <a:latin typeface="Arial"/>
                        </a:rPr>
                        <a:t>Saves and submits the account to Processing</a:t>
                      </a:r>
                    </a:p>
                  </a:txBody>
                  <a:tcPr marL="54864" marR="54864" marT="27432" marB="27432">
                    <a:solidFill>
                      <a:srgbClr val="FFFFFF"/>
                    </a:solidFill>
                  </a:tcPr>
                </a:tc>
                <a:tc>
                  <a:txBody>
                    <a:bodyPr/>
                    <a:lstStyle/>
                    <a:p>
                      <a:r>
                        <a:rPr sz="850" b="0">
                          <a:solidFill>
                            <a:srgbClr val="4B4B4B"/>
                          </a:solidFill>
                          <a:latin typeface="Arial"/>
                        </a:rPr>
                        <a:t>Submitted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Resubmit to Processing</a:t>
                      </a:r>
                    </a:p>
                  </a:txBody>
                  <a:tcPr marL="54864" marR="54864" marT="27432" marB="27432">
                    <a:solidFill>
                      <a:srgbClr val="E5F5FF"/>
                    </a:solidFill>
                  </a:tcPr>
                </a:tc>
                <a:tc>
                  <a:txBody>
                    <a:bodyPr/>
                    <a:lstStyle/>
                    <a:p>
                      <a:r>
                        <a:rPr sz="850" b="0">
                          <a:solidFill>
                            <a:srgbClr val="4B4B4B"/>
                          </a:solidFill>
                          <a:latin typeface="Arial"/>
                        </a:rPr>
                        <a:t>ACCOUNT_MAINTAIN</a:t>
                      </a:r>
                    </a:p>
                  </a:txBody>
                  <a:tcPr marL="54864" marR="54864" marT="27432" marB="27432">
                    <a:solidFill>
                      <a:srgbClr val="E5F5FF"/>
                    </a:solidFill>
                  </a:tcPr>
                </a:tc>
                <a:tc>
                  <a:txBody>
                    <a:bodyPr/>
                    <a:lstStyle/>
                    <a:p>
                      <a:r>
                        <a:rPr sz="850" b="0">
                          <a:solidFill>
                            <a:srgbClr val="4B4B4B"/>
                          </a:solidFill>
                          <a:latin typeface="Arial"/>
                        </a:rPr>
                        <a:t>Review step of an account returned to Marketing</a:t>
                      </a:r>
                    </a:p>
                  </a:txBody>
                  <a:tcPr marL="54864" marR="54864" marT="27432" marB="27432">
                    <a:solidFill>
                      <a:srgbClr val="E5F5FF"/>
                    </a:solidFill>
                  </a:tcPr>
                </a:tc>
                <a:tc>
                  <a:txBody>
                    <a:bodyPr/>
                    <a:lstStyle/>
                    <a:p>
                      <a:r>
                        <a:rPr sz="850" b="0">
                          <a:solidFill>
                            <a:srgbClr val="4B4B4B"/>
                          </a:solidFill>
                          <a:latin typeface="Arial"/>
                        </a:rPr>
                        <a:t>Saves and resubmits the account</a:t>
                      </a:r>
                    </a:p>
                  </a:txBody>
                  <a:tcPr marL="54864" marR="54864" marT="27432" marB="27432">
                    <a:solidFill>
                      <a:srgbClr val="E5F5FF"/>
                    </a:solidFill>
                  </a:tcPr>
                </a:tc>
                <a:tc>
                  <a:txBody>
                    <a:bodyPr/>
                    <a:lstStyle/>
                    <a:p>
                      <a:r>
                        <a:rPr sz="850" b="0">
                          <a:solidFill>
                            <a:srgbClr val="4B4B4B"/>
                          </a:solidFill>
                          <a:latin typeface="Arial"/>
                        </a:rPr>
                        <a:t>Submitted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draft may use a prospect; Processing validates only an account of a confirmed client (FR-NB-061, FR-NB-064).</a:t>
                      </a:r>
                    </a:p>
                  </a:txBody>
                  <a:tcPr marL="54864" marR="54864" marT="27432" marB="27432">
                    <a:solidFill>
                      <a:srgbClr val="FFFFFF"/>
                    </a:solidFill>
                  </a:tcPr>
                </a:tc>
              </a:tr>
              <a:tr h="243840">
                <a:tc>
                  <a:txBody>
                    <a:bodyPr/>
                    <a:lstStyle/>
                    <a:p>
                      <a:r>
                        <a:rPr sz="1000" b="0">
                          <a:solidFill>
                            <a:srgbClr val="4B4B4B"/>
                          </a:solidFill>
                          <a:latin typeface="Arial"/>
                        </a:rPr>
                        <a:t>The premium is computed with the rates and taxes in force (Appendix A) each time the account is saved (FR-NB-062).</a:t>
                      </a:r>
                    </a:p>
                  </a:txBody>
                  <a:tcPr marL="54864" marR="54864" marT="27432" marB="27432">
                    <a:solidFill>
                      <a:srgbClr val="E5F5FF"/>
                    </a:solidFill>
                  </a:tcPr>
                </a:tc>
              </a:tr>
              <a:tr h="243840">
                <a:tc>
                  <a:txBody>
                    <a:bodyPr/>
                    <a:lstStyle/>
                    <a:p>
                      <a:r>
                        <a:rPr sz="1000" b="0">
                          <a:solidFill>
                            <a:srgbClr val="4B4B4B"/>
                          </a:solidFill>
                          <a:latin typeface="Arial"/>
                        </a:rPr>
                        <a:t>A risk already insured on a live account (same vehicle identifiers, or same location for Fire) is refused with the existing ARN (FR-NB-063).</a:t>
                      </a:r>
                    </a:p>
                  </a:txBody>
                  <a:tcPr marL="54864" marR="54864" marT="27432" marB="27432">
                    <a:solidFill>
                      <a:srgbClr val="FFFFFF"/>
                    </a:solidFill>
                  </a:tcPr>
                </a:tc>
              </a:tr>
              <a:tr h="243840">
                <a:tc>
                  <a:txBody>
                    <a:bodyPr/>
                    <a:lstStyle/>
                    <a:p>
                      <a:r>
                        <a:rPr sz="1000" b="0">
                          <a:solidFill>
                            <a:srgbClr val="4B4B4B"/>
                          </a:solidFill>
                          <a:latin typeface="Arial"/>
                        </a:rPr>
                        <a:t>Accounts created from a quotation or PRF keep its ARN; one quotation's risk groups share one ARN with a suffix (FR-NB-047).</a:t>
                      </a:r>
                    </a:p>
                  </a:txBody>
                  <a:tcPr marL="54864" marR="54864" marT="27432" marB="27432">
                    <a:solidFill>
                      <a:srgbClr val="E5F5FF"/>
                    </a:solidFill>
                  </a:tcPr>
                </a:tc>
              </a:tr>
            </a:tbl>
          </a:graphicData>
        </a:graphic>
      </p:graphicFrame>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9</a:t>
                      </a:r>
                    </a:p>
                  </a:txBody>
                  <a:tcPr marL="54864" marR="54864" marT="27432" marB="27432">
                    <a:solidFill>
                      <a:srgbClr val="FFFFFF"/>
                    </a:solidFill>
                  </a:tcPr>
                </a:tc>
                <a:tc>
                  <a:txBody>
                    <a:bodyPr/>
                    <a:lstStyle/>
                    <a:p>
                      <a:r>
                        <a:rPr sz="900" b="0">
                          <a:solidFill>
                            <a:srgbClr val="4B4B4B"/>
                          </a:solidFill>
                          <a:latin typeface="Arial"/>
                        </a:rPr>
                        <a:t>Opens the draft account, completes the mortgagee bank and PN number, reviews the completeness check and clicks Submit to Processing</a:t>
                      </a:r>
                    </a:p>
                  </a:txBody>
                  <a:tcPr marL="54864" marR="54864" marT="27432" marB="27432">
                    <a:solidFill>
                      <a:srgbClr val="FFFFFF"/>
                    </a:solidFill>
                  </a:tcPr>
                </a:tc>
                <a:tc>
                  <a:txBody>
                    <a:bodyPr/>
                    <a:lstStyle/>
                    <a:p>
                      <a:r>
                        <a:rPr sz="900" b="0">
                          <a:solidFill>
                            <a:srgbClr val="4B4B4B"/>
                          </a:solidFill>
                          <a:latin typeface="Arial"/>
                        </a:rPr>
                        <a:t>SCR-NB-14_wt-a-step-09.png</a:t>
                      </a:r>
                    </a:p>
                  </a:txBody>
                  <a:tcPr marL="54864" marR="54864" marT="27432" marB="27432">
                    <a:solidFill>
                      <a:srgbClr val="FFFF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SCR-NB-14 New Account and Edit Account: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14-02-period.png"/>
          <p:cNvPicPr>
            <a:picLocks noChangeAspect="1"/>
          </p:cNvPicPr>
          <p:nvPr/>
        </p:nvPicPr>
        <p:blipFill>
          <a:blip r:embed="rId3"/>
          <a:stretch>
            <a:fillRect/>
          </a:stretch>
        </p:blipFill>
        <p:spPr>
          <a:xfrm>
            <a:off x="1977072" y="1261872"/>
            <a:ext cx="823755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Period &amp; payment</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SCR-NB-14 New Account and Edit Account: Validation error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cr-nb-14-04-duplicate.png"/>
          <p:cNvPicPr>
            <a:picLocks noChangeAspect="1"/>
          </p:cNvPicPr>
          <p:nvPr/>
        </p:nvPicPr>
        <p:blipFill>
          <a:blip r:embed="rId3"/>
          <a:stretch>
            <a:fillRect/>
          </a:stretch>
        </p:blipFill>
        <p:spPr>
          <a:xfrm>
            <a:off x="1017801" y="1261872"/>
            <a:ext cx="1015609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Duplicate risk refused with the existing ARN</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New Account and Edit Account: Success message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8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6 Review &amp; submit with the completeness check (part 1 of 3)</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New Account and Edit Account: Success message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81.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6 Review &amp; submit with the completeness check (part 2 of 3)</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SCR-NB-14 New Account and Edit Account: Success message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82.png"/>
          <p:cNvPicPr>
            <a:picLocks noChangeAspect="1"/>
          </p:cNvPicPr>
          <p:nvPr/>
        </p:nvPicPr>
        <p:blipFill>
          <a:blip r:embed="rId3"/>
          <a:stretch>
            <a:fillRect/>
          </a:stretch>
        </p:blipFill>
        <p:spPr>
          <a:xfrm>
            <a:off x="548640" y="1261872"/>
            <a:ext cx="11094415" cy="30413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6 Review &amp; submit with the completeness check (part 3 of 3)</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SCR-NB-14 New Account and Edit Account: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cr-nb-14-01-empty.png"/>
          <p:cNvPicPr>
            <a:picLocks noChangeAspect="1"/>
          </p:cNvPicPr>
          <p:nvPr/>
        </p:nvPicPr>
        <p:blipFill>
          <a:blip r:embed="rId3"/>
          <a:stretch>
            <a:fillRect/>
          </a:stretch>
        </p:blipFill>
        <p:spPr>
          <a:xfrm>
            <a:off x="590390" y="1261872"/>
            <a:ext cx="1101091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Account, step 1 Client</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account with its ARN and stage, the workflow panel with the actions of the current stage, the completeness check while the account is open for changes, the tags (Free First Year, direct payment, TSU clearance) and tabs for details, risk items, premium, documents, e-mails, placement, policy, claims and history.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Accounts › Account</a:t>
                      </a:r>
                    </a:p>
                    <a:p>
                      <a:r>
                        <a:rPr sz="950" b="0">
                          <a:solidFill>
                            <a:srgbClr val="4B4B4B"/>
                          </a:solidFill>
                          <a:latin typeface="Arial"/>
                        </a:rPr>
                        <a:t>Accounts › open a row</a:t>
                      </a:r>
                    </a:p>
                    <a:p>
                      <a:r>
                        <a:rPr sz="950" b="0">
                          <a:solidFill>
                            <a:srgbClr val="4B4B4B"/>
                          </a:solidFill>
                          <a:latin typeface="Arial"/>
                        </a:rPr>
                        <a:t>Any ARN chip or ARN link (opens the account by ARN)</a:t>
                      </a:r>
                    </a:p>
                    <a:p>
                      <a:r>
                        <a:rPr sz="950" b="0">
                          <a:solidFill>
                            <a:srgbClr val="4B4B4B"/>
                          </a:solidFill>
                          <a:latin typeface="Arial"/>
                        </a:rPr>
                        <a:t>FFY Register and Direct Payment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FR-NB-060, FR-NB-064, FR-NB-067, FR-NB-068, FR-NB-069, FR-NB-113, FR-NB-012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moves through validation, payment, placement, issuance and booking, with every step in its history.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SCR-NB-15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25880"/>
          <a:ext cx="11094411" cy="49453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Client, Product, Insurer, Period, Gross Premium, Account Officer</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Renewal / FFY / Direct Payment tags</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Renewal shows the policy it renews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Completeness check</a:t>
                      </a:r>
                    </a:p>
                  </a:txBody>
                  <a:tcPr marL="54864" marR="54864" marT="27432" marB="27432">
                    <a:solidFill>
                      <a:srgbClr val="FFFFFF"/>
                    </a:solidFill>
                  </a:tcPr>
                </a:tc>
                <a:tc>
                  <a:txBody>
                    <a:bodyPr/>
                    <a:lstStyle/>
                    <a:p>
                      <a:r>
                        <a:rPr sz="850" b="0">
                          <a:solidFill>
                            <a:srgbClr val="4B4B4B"/>
                          </a:solidFill>
                          <a:latin typeface="Arial"/>
                        </a:rPr>
                        <a:t>Complete or not ready</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As on the wizard's review step</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 ready to submit: &lt;lines&gt;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Tags: Free First Year, Direct payment, TSU review</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FFY period or cancellation; direct payment and who tagged it; TSU Not required, Required (rule) or Cleared by (user,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FFY start (dialog)</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product is FFY eligible</a:t>
                      </a:r>
                    </a:p>
                  </a:txBody>
                  <a:tcPr marL="54864" marR="54864" marT="27432" marB="27432">
                    <a:solidFill>
                      <a:srgbClr val="FFFFFF"/>
                    </a:solidFill>
                  </a:tcPr>
                </a:tc>
                <a:tc>
                  <a:txBody>
                    <a:bodyPr/>
                    <a:lstStyle/>
                    <a:p>
                      <a:r>
                        <a:rPr sz="850" b="0">
                          <a:solidFill>
                            <a:srgbClr val="4B4B4B"/>
                          </a:solidFill>
                          <a:latin typeface="Arial"/>
                        </a:rPr>
                        <a:t>Enter the Free First Year start / Product &lt;code&gt; is not Free First Year eligible</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Cancel FFY reason (dialog)</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a reason</a:t>
                      </a:r>
                    </a:p>
                  </a:txBody>
                  <a:tcPr marL="54864" marR="54864" marT="27432" marB="27432">
                    <a:solidFill>
                      <a:srgbClr val="E5F5FF"/>
                    </a:solidFill>
                  </a:tcPr>
                </a:tc>
              </a:tr>
              <a:tr h="868674">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 tab</a:t>
                      </a:r>
                    </a:p>
                  </a:txBody>
                  <a:tcPr marL="54864" marR="54864" marT="27432" marB="27432">
                    <a:solidFill>
                      <a:srgbClr val="FFFFFF"/>
                    </a:solidFill>
                  </a:tcPr>
                </a:tc>
                <a:tc>
                  <a:txBody>
                    <a:bodyPr/>
                    <a:lstStyle/>
                    <a:p>
                      <a:r>
                        <a:rPr sz="850" b="0">
                          <a:solidFill>
                            <a:srgbClr val="4B4B4B"/>
                          </a:solidFill>
                          <a:latin typeface="Arial"/>
                        </a:rPr>
                        <a:t>Account</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Client, product, segment, source, insurer, period, term, total sum insured, mortgagee bank, loan application, PN numbers, quotation / proposal, contact, account officer, sales unit, cost center, created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Details tab</a:t>
                      </a:r>
                    </a:p>
                  </a:txBody>
                  <a:tcPr marL="54864" marR="54864" marT="27432" marB="27432">
                    <a:solidFill>
                      <a:srgbClr val="E5F5FF"/>
                    </a:solidFill>
                  </a:tcPr>
                </a:tc>
                <a:tc>
                  <a:txBody>
                    <a:bodyPr/>
                    <a:lstStyle/>
                    <a:p>
                      <a:r>
                        <a:rPr sz="850" b="0">
                          <a:solidFill>
                            <a:srgbClr val="4B4B4B"/>
                          </a:solidFill>
                          <a:latin typeface="Arial"/>
                        </a:rPr>
                        <a:t>Placement and booking</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Payment, placement slip, placed, hold cover, policy numbers, e-policy received, booking, direct booking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Risk Items tab</a:t>
                      </a:r>
                    </a:p>
                  </a:txBody>
                  <a:tcPr marL="54864" marR="54864" marT="27432" marB="27432">
                    <a:solidFill>
                      <a:srgbClr val="FFFFFF"/>
                    </a:solidFill>
                  </a:tcPr>
                </a:tc>
                <a:tc>
                  <a:txBody>
                    <a:bodyPr/>
                    <a:lstStyle/>
                    <a:p>
                      <a:r>
                        <a:rPr sz="850" b="0">
                          <a:solidFill>
                            <a:srgbClr val="4B4B4B"/>
                          </a:solidFill>
                          <a:latin typeface="Arial"/>
                        </a:rPr>
                        <a:t>Risk items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 Kind, Risk, Description, Sum Insured, Rate %,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Premium tab</a:t>
                      </a:r>
                    </a:p>
                  </a:txBody>
                  <a:tcPr marL="54864" marR="54864" marT="27432" marB="27432">
                    <a:solidFill>
                      <a:srgbClr val="E5F5FF"/>
                    </a:solidFill>
                  </a:tcPr>
                </a:tc>
                <a:tc>
                  <a:txBody>
                    <a:bodyPr/>
                    <a:lstStyle/>
                    <a:p>
                      <a:r>
                        <a:rPr sz="850" b="0">
                          <a:solidFill>
                            <a:srgbClr val="4B4B4B"/>
                          </a:solidFill>
                          <a:latin typeface="Arial"/>
                        </a:rPr>
                        <a:t>Premium</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Appendix A breakdown with VAT on commission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Documents tab</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E-mails tab</a:t>
                      </a:r>
                    </a:p>
                  </a:txBody>
                  <a:tcPr marL="54864" marR="54864" marT="27432" marB="27432">
                    <a:solidFill>
                      <a:srgbClr val="E5F5FF"/>
                    </a:solidFill>
                  </a:tcPr>
                </a:tc>
                <a:tc>
                  <a:txBody>
                    <a:bodyPr/>
                    <a:lstStyle/>
                    <a:p>
                      <a:r>
                        <a:rPr sz="850" b="0">
                          <a:solidFill>
                            <a:srgbClr val="4B4B4B"/>
                          </a:solidFill>
                          <a:latin typeface="Arial"/>
                        </a:rPr>
                        <a:t>E-mails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Messages sent for the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SCR-NB-15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Placement tab</a:t>
                      </a:r>
                    </a:p>
                  </a:txBody>
                  <a:tcPr marL="54864" marR="54864" marT="27432" marB="27432">
                    <a:solidFill>
                      <a:srgbClr val="FFFFFF"/>
                    </a:solidFill>
                  </a:tcPr>
                </a:tc>
                <a:tc>
                  <a:txBody>
                    <a:bodyPr/>
                    <a:lstStyle/>
                    <a:p>
                      <a:r>
                        <a:rPr sz="850" b="0">
                          <a:solidFill>
                            <a:srgbClr val="4B4B4B"/>
                          </a:solidFill>
                          <a:latin typeface="Arial"/>
                        </a:rPr>
                        <a:t>Placement</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Payment gate, placement slip, hold cover, insurer return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Policy tab</a:t>
                      </a:r>
                    </a:p>
                  </a:txBody>
                  <a:tcPr marL="54864" marR="54864" marT="27432" marB="27432">
                    <a:solidFill>
                      <a:srgbClr val="E5F5FF"/>
                    </a:solidFill>
                  </a:tcPr>
                </a:tc>
                <a:tc>
                  <a:txBody>
                    <a:bodyPr/>
                    <a:lstStyle/>
                    <a:p>
                      <a:r>
                        <a:rPr sz="850" b="0">
                          <a:solidFill>
                            <a:srgbClr val="4B4B4B"/>
                          </a:solidFill>
                          <a:latin typeface="Arial"/>
                        </a:rPr>
                        <a:t>Policy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E-policy, policy numbers, Insurance Advice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Claims tab</a:t>
                      </a:r>
                    </a:p>
                  </a:txBody>
                  <a:tcPr marL="54864" marR="54864" marT="27432" marB="27432">
                    <a:solidFill>
                      <a:srgbClr val="FFFFFF"/>
                    </a:solidFill>
                  </a:tcPr>
                </a:tc>
                <a:tc>
                  <a:txBody>
                    <a:bodyPr/>
                    <a:lstStyle/>
                    <a:p>
                      <a:r>
                        <a:rPr sz="850" b="0">
                          <a:solidFill>
                            <a:srgbClr val="4B4B4B"/>
                          </a:solidFill>
                          <a:latin typeface="Arial"/>
                        </a:rPr>
                        <a:t>Claims of the account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Shown to users with the claims permission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History tab</a:t>
                      </a:r>
                    </a:p>
                  </a:txBody>
                  <a:tcPr marL="54864" marR="54864" marT="27432" marB="27432">
                    <a:solidFill>
                      <a:srgbClr val="E5F5FF"/>
                    </a:solidFill>
                  </a:tcPr>
                </a:tc>
                <a:tc>
                  <a:txBody>
                    <a:bodyPr/>
                    <a:lstStyle/>
                    <a:p>
                      <a:r>
                        <a:rPr sz="850" b="0">
                          <a:solidFill>
                            <a:srgbClr val="4B4B4B"/>
                          </a:solidFill>
                          <a:latin typeface="Arial"/>
                        </a:rPr>
                        <a:t>History</a:t>
                      </a:r>
                    </a:p>
                  </a:txBody>
                  <a:tcPr marL="54864" marR="54864" marT="27432" marB="27432">
                    <a:solidFill>
                      <a:srgbClr val="E5F5FF"/>
                    </a:solidFill>
                  </a:tcPr>
                </a:tc>
                <a:tc>
                  <a:txBody>
                    <a:bodyPr/>
                    <a:lstStyle/>
                    <a:p>
                      <a:r>
                        <a:rPr sz="850" b="0">
                          <a:solidFill>
                            <a:srgbClr val="4B4B4B"/>
                          </a:solidFill>
                          <a:latin typeface="Arial"/>
                        </a:rPr>
                        <a:t>Timeline</a:t>
                      </a:r>
                    </a:p>
                  </a:txBody>
                  <a:tcPr marL="54864" marR="54864" marT="27432" marB="27432">
                    <a:solidFill>
                      <a:srgbClr val="E5F5FF"/>
                    </a:solidFill>
                  </a:tcPr>
                </a:tc>
                <a:tc>
                  <a:txBody>
                    <a:bodyPr/>
                    <a:lstStyle/>
                    <a:p>
                      <a:r>
                        <a:rPr sz="850" b="0">
                          <a:solidFill>
                            <a:srgbClr val="4B4B4B"/>
                          </a:solidFill>
                          <a:latin typeface="Arial"/>
                        </a:rPr>
                        <a:t>Stage, action, user, time, reason and comment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graphicFrame>
        <p:nvGraphicFramePr>
          <p:cNvPr id="9" name="Table 8"/>
          <p:cNvGraphicFramePr>
            <a:graphicFrameLocks noGrp="1"/>
          </p:cNvGraphicFramePr>
          <p:nvPr/>
        </p:nvGraphicFramePr>
        <p:xfrm>
          <a:off x="548640" y="1325880"/>
          <a:ext cx="11094412" cy="40233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 Account</a:t>
                      </a:r>
                    </a:p>
                  </a:txBody>
                  <a:tcPr marL="54864" marR="54864" marT="27432" marB="27432">
                    <a:solidFill>
                      <a:srgbClr val="FFFFFF"/>
                    </a:solidFill>
                  </a:tcPr>
                </a:tc>
                <a:tc>
                  <a:txBody>
                    <a:bodyPr/>
                    <a:lstStyle/>
                    <a:p>
                      <a:r>
                        <a:rPr sz="850" b="0">
                          <a:solidFill>
                            <a:srgbClr val="4B4B4B"/>
                          </a:solidFill>
                          <a:latin typeface="Arial"/>
                        </a:rPr>
                        <a:t>ACCOUNT_MAINTAIN</a:t>
                      </a:r>
                    </a:p>
                  </a:txBody>
                  <a:tcPr marL="54864" marR="54864" marT="27432" marB="27432">
                    <a:solidFill>
                      <a:srgbClr val="FFFFFF"/>
                    </a:solidFill>
                  </a:tcPr>
                </a:tc>
                <a:tc>
                  <a:txBody>
                    <a:bodyPr/>
                    <a:lstStyle/>
                    <a:p>
                      <a:r>
                        <a:rPr sz="850" b="0">
                          <a:solidFill>
                            <a:srgbClr val="4B4B4B"/>
                          </a:solidFill>
                          <a:latin typeface="Arial"/>
                        </a:rPr>
                        <a:t>Draft or returned to Marketing</a:t>
                      </a:r>
                    </a:p>
                  </a:txBody>
                  <a:tcPr marL="54864" marR="54864" marT="27432" marB="27432">
                    <a:solidFill>
                      <a:srgbClr val="FFFFFF"/>
                    </a:solidFill>
                  </a:tcPr>
                </a:tc>
                <a:tc>
                  <a:txBody>
                    <a:bodyPr/>
                    <a:lstStyle/>
                    <a:p>
                      <a:r>
                        <a:rPr sz="850" b="0">
                          <a:solidFill>
                            <a:srgbClr val="4B4B4B"/>
                          </a:solidFill>
                          <a:latin typeface="Arial"/>
                        </a:rPr>
                        <a:t>Opens the wizard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to Processing / Resubmit to Processing</a:t>
                      </a:r>
                    </a:p>
                  </a:txBody>
                  <a:tcPr marL="54864" marR="54864" marT="27432" marB="27432">
                    <a:solidFill>
                      <a:srgbClr val="E5F5FF"/>
                    </a:solidFill>
                  </a:tcPr>
                </a:tc>
                <a:tc>
                  <a:txBody>
                    <a:bodyPr/>
                    <a:lstStyle/>
                    <a:p>
                      <a:r>
                        <a:rPr sz="850" b="0">
                          <a:solidFill>
                            <a:srgbClr val="4B4B4B"/>
                          </a:solidFill>
                          <a:latin typeface="Arial"/>
                        </a:rPr>
                        <a:t>ACCOUNT_MAINTAIN</a:t>
                      </a:r>
                    </a:p>
                  </a:txBody>
                  <a:tcPr marL="54864" marR="54864" marT="27432" marB="27432">
                    <a:solidFill>
                      <a:srgbClr val="E5F5FF"/>
                    </a:solidFill>
                  </a:tcPr>
                </a:tc>
                <a:tc>
                  <a:txBody>
                    <a:bodyPr/>
                    <a:lstStyle/>
                    <a:p>
                      <a:r>
                        <a:rPr sz="850" b="0">
                          <a:solidFill>
                            <a:srgbClr val="4B4B4B"/>
                          </a:solidFill>
                          <a:latin typeface="Arial"/>
                        </a:rPr>
                        <a:t>Draft / returned to Marketing</a:t>
                      </a:r>
                    </a:p>
                  </a:txBody>
                  <a:tcPr marL="54864" marR="54864" marT="27432" marB="27432">
                    <a:solidFill>
                      <a:srgbClr val="E5F5FF"/>
                    </a:solidFill>
                  </a:tcPr>
                </a:tc>
                <a:tc>
                  <a:txBody>
                    <a:bodyPr/>
                    <a:lstStyle/>
                    <a:p>
                      <a:r>
                        <a:rPr sz="850" b="0">
                          <a:solidFill>
                            <a:srgbClr val="4B4B4B"/>
                          </a:solidFill>
                          <a:latin typeface="Arial"/>
                        </a:rPr>
                        <a:t>Asks for an optional comment and submits the account</a:t>
                      </a:r>
                    </a:p>
                  </a:txBody>
                  <a:tcPr marL="54864" marR="54864" marT="27432" marB="27432">
                    <a:solidFill>
                      <a:srgbClr val="E5F5FF"/>
                    </a:solidFill>
                  </a:tcPr>
                </a:tc>
                <a:tc>
                  <a:txBody>
                    <a:bodyPr/>
                    <a:lstStyle/>
                    <a:p>
                      <a:r>
                        <a:rPr sz="850" b="0">
                          <a:solidFill>
                            <a:srgbClr val="4B4B4B"/>
                          </a:solidFill>
                          <a:latin typeface="Arial"/>
                        </a:rPr>
                        <a:t>Submitted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609596">
                <a:tc>
                  <a:txBody>
                    <a:bodyPr/>
                    <a:lstStyle/>
                    <a:p>
                      <a:r>
                        <a:rPr sz="850" b="0">
                          <a:solidFill>
                            <a:srgbClr val="4B4B4B"/>
                          </a:solidFill>
                          <a:latin typeface="Arial"/>
                        </a:rPr>
                        <a:t>Validate</a:t>
                      </a:r>
                    </a:p>
                  </a:txBody>
                  <a:tcPr marL="54864" marR="54864" marT="27432" marB="27432">
                    <a:solidFill>
                      <a:srgbClr val="FFFFFF"/>
                    </a:solidFill>
                  </a:tcPr>
                </a:tc>
                <a:tc>
                  <a:txBody>
                    <a:bodyPr/>
                    <a:lstStyle/>
                    <a:p>
                      <a:r>
                        <a:rPr sz="850" b="0">
                          <a:solidFill>
                            <a:srgbClr val="4B4B4B"/>
                          </a:solidFill>
                          <a:latin typeface="Arial"/>
                        </a:rPr>
                        <a:t>ACCOUNT_PROCESS</a:t>
                      </a:r>
                    </a:p>
                  </a:txBody>
                  <a:tcPr marL="54864" marR="54864" marT="27432" marB="27432">
                    <a:solidFill>
                      <a:srgbClr val="FFFFFF"/>
                    </a:solidFill>
                  </a:tcPr>
                </a:tc>
                <a:tc>
                  <a:txBody>
                    <a:bodyPr/>
                    <a:lstStyle/>
                    <a:p>
                      <a:r>
                        <a:rPr sz="850" b="0">
                          <a:solidFill>
                            <a:srgbClr val="4B4B4B"/>
                          </a:solidFill>
                          <a:latin typeface="Arial"/>
                        </a:rPr>
                        <a:t>Submitted; client confirmed; TSU clearance given when required</a:t>
                      </a:r>
                    </a:p>
                  </a:txBody>
                  <a:tcPr marL="54864" marR="54864" marT="27432" marB="27432">
                    <a:solidFill>
                      <a:srgbClr val="FFFFFF"/>
                    </a:solidFill>
                  </a:tcPr>
                </a:tc>
                <a:tc>
                  <a:txBody>
                    <a:bodyPr/>
                    <a:lstStyle/>
                    <a:p>
                      <a:r>
                        <a:rPr sz="850" b="0">
                          <a:solidFill>
                            <a:srgbClr val="4B4B4B"/>
                          </a:solidFill>
                          <a:latin typeface="Arial"/>
                        </a:rPr>
                        <a:t>Validates the account; the payment gate of its segment starts</a:t>
                      </a:r>
                    </a:p>
                  </a:txBody>
                  <a:tcPr marL="54864" marR="54864" marT="27432" marB="27432">
                    <a:solidFill>
                      <a:srgbClr val="FFFFFF"/>
                    </a:solidFill>
                  </a:tcPr>
                </a:tc>
                <a:tc>
                  <a:txBody>
                    <a:bodyPr/>
                    <a:lstStyle/>
                    <a:p>
                      <a:r>
                        <a:rPr sz="850" b="0">
                          <a:solidFill>
                            <a:srgbClr val="4B4B4B"/>
                          </a:solidFill>
                          <a:latin typeface="Arial"/>
                        </a:rPr>
                        <a:t>Awaiting payment (or Ready for placement when the gate opens at once)</a:t>
                      </a:r>
                    </a:p>
                  </a:txBody>
                  <a:tcPr marL="54864" marR="54864" marT="27432" marB="27432">
                    <a:solidFill>
                      <a:srgbClr val="FFFFFF"/>
                    </a:solidFill>
                  </a:tcPr>
                </a:tc>
                <a:tc>
                  <a:txBody>
                    <a:bodyPr/>
                    <a:lstStyle/>
                    <a:p>
                      <a:r>
                        <a:rPr sz="850" b="0">
                          <a:solidFill>
                            <a:srgbClr val="4B4B4B"/>
                          </a:solidFill>
                          <a:latin typeface="Arial"/>
                        </a:rPr>
                        <a:t>Workflow notice to the Account Officer</a:t>
                      </a:r>
                    </a:p>
                  </a:txBody>
                  <a:tcPr marL="54864" marR="54864" marT="27432" marB="27432">
                    <a:solidFill>
                      <a:srgbClr val="FFFFFF"/>
                    </a:solidFill>
                  </a:tcPr>
                </a:tc>
              </a:tr>
              <a:tr h="480057">
                <a:tc>
                  <a:txBody>
                    <a:bodyPr/>
                    <a:lstStyle/>
                    <a:p>
                      <a:r>
                        <a:rPr sz="850" b="0">
                          <a:solidFill>
                            <a:srgbClr val="4B4B4B"/>
                          </a:solidFill>
                          <a:latin typeface="Arial"/>
                        </a:rPr>
                        <a:t>Direct booking (policy already issued)</a:t>
                      </a:r>
                    </a:p>
                  </a:txBody>
                  <a:tcPr marL="54864" marR="54864" marT="27432" marB="27432">
                    <a:solidFill>
                      <a:srgbClr val="E5F5FF"/>
                    </a:solidFill>
                  </a:tcPr>
                </a:tc>
                <a:tc>
                  <a:txBody>
                    <a:bodyPr/>
                    <a:lstStyle/>
                    <a:p>
                      <a:r>
                        <a:rPr sz="850" b="0">
                          <a:solidFill>
                            <a:srgbClr val="4B4B4B"/>
                          </a:solidFill>
                          <a:latin typeface="Arial"/>
                        </a:rPr>
                        <a:t>ACCOUNT_PROCESS or PLACEMENT_MANAGE</a:t>
                      </a:r>
                    </a:p>
                  </a:txBody>
                  <a:tcPr marL="54864" marR="54864" marT="27432" marB="27432">
                    <a:solidFill>
                      <a:srgbClr val="E5F5FF"/>
                    </a:solidFill>
                  </a:tcPr>
                </a:tc>
                <a:tc>
                  <a:txBody>
                    <a:bodyPr/>
                    <a:lstStyle/>
                    <a:p>
                      <a:r>
                        <a:rPr sz="850" b="0">
                          <a:solidFill>
                            <a:srgbClr val="4B4B4B"/>
                          </a:solidFill>
                          <a:latin typeface="Arial"/>
                        </a:rPr>
                        <a:t>Submitted or ready for placement; the issued policy is attached</a:t>
                      </a:r>
                    </a:p>
                  </a:txBody>
                  <a:tcPr marL="54864" marR="54864" marT="27432" marB="27432">
                    <a:solidFill>
                      <a:srgbClr val="E5F5FF"/>
                    </a:solidFill>
                  </a:tcPr>
                </a:tc>
                <a:tc>
                  <a:txBody>
                    <a:bodyPr/>
                    <a:lstStyle/>
                    <a:p>
                      <a:r>
                        <a:rPr sz="850" b="0">
                          <a:solidFill>
                            <a:srgbClr val="4B4B4B"/>
                          </a:solidFill>
                          <a:latin typeface="Arial"/>
                        </a:rPr>
                        <a:t>Skips placement and sends the account to booking</a:t>
                      </a:r>
                    </a:p>
                  </a:txBody>
                  <a:tcPr marL="54864" marR="54864" marT="27432" marB="27432">
                    <a:solidFill>
                      <a:srgbClr val="E5F5FF"/>
                    </a:solidFill>
                  </a:tcPr>
                </a:tc>
                <a:tc>
                  <a:txBody>
                    <a:bodyPr/>
                    <a:lstStyle/>
                    <a:p>
                      <a:r>
                        <a:rPr sz="850" b="0">
                          <a:solidFill>
                            <a:srgbClr val="4B4B4B"/>
                          </a:solidFill>
                          <a:latin typeface="Arial"/>
                        </a:rPr>
                        <a:t>Policy issued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Return To Marketing</a:t>
                      </a:r>
                    </a:p>
                  </a:txBody>
                  <a:tcPr marL="54864" marR="54864" marT="27432" marB="27432">
                    <a:solidFill>
                      <a:srgbClr val="FFFFFF"/>
                    </a:solidFill>
                  </a:tcPr>
                </a:tc>
                <a:tc>
                  <a:txBody>
                    <a:bodyPr/>
                    <a:lstStyle/>
                    <a:p>
                      <a:r>
                        <a:rPr sz="850" b="0">
                          <a:solidFill>
                            <a:srgbClr val="4B4B4B"/>
                          </a:solidFill>
                          <a:latin typeface="Arial"/>
                        </a:rPr>
                        <a:t>ACCOUNT_PROCESS (BILLING_MANAGE, PLACEMENT_MANAGE in their stages)</a:t>
                      </a:r>
                    </a:p>
                  </a:txBody>
                  <a:tcPr marL="54864" marR="54864" marT="27432" marB="27432">
                    <a:solidFill>
                      <a:srgbClr val="FFFFFF"/>
                    </a:solidFill>
                  </a:tcPr>
                </a:tc>
                <a:tc>
                  <a:txBody>
                    <a:bodyPr/>
                    <a:lstStyle/>
                    <a:p>
                      <a:r>
                        <a:rPr sz="850" b="0">
                          <a:solidFill>
                            <a:srgbClr val="4B4B4B"/>
                          </a:solidFill>
                          <a:latin typeface="Arial"/>
                        </a:rPr>
                        <a:t>Submitted, awaiting payment, ready for placement, returned by insurer</a:t>
                      </a:r>
                    </a:p>
                  </a:txBody>
                  <a:tcPr marL="54864" marR="54864" marT="27432" marB="27432">
                    <a:solidFill>
                      <a:srgbClr val="FFFFFF"/>
                    </a:solidFill>
                  </a:tcPr>
                </a:tc>
                <a:tc>
                  <a:txBody>
                    <a:bodyPr/>
                    <a:lstStyle/>
                    <a:p>
                      <a:r>
                        <a:rPr sz="850" b="0">
                          <a:solidFill>
                            <a:srgbClr val="4B4B4B"/>
                          </a:solidFill>
                          <a:latin typeface="Arial"/>
                        </a:rPr>
                        <a:t>Asks for the return reason and a comment</a:t>
                      </a:r>
                    </a:p>
                  </a:txBody>
                  <a:tcPr marL="54864" marR="54864" marT="27432" marB="27432">
                    <a:solidFill>
                      <a:srgbClr val="FFFFFF"/>
                    </a:solidFill>
                  </a:tcPr>
                </a:tc>
                <a:tc>
                  <a:txBody>
                    <a:bodyPr/>
                    <a:lstStyle/>
                    <a:p>
                      <a:r>
                        <a:rPr sz="850" b="0">
                          <a:solidFill>
                            <a:srgbClr val="4B4B4B"/>
                          </a:solidFill>
                          <a:latin typeface="Arial"/>
                        </a:rPr>
                        <a:t>Returned to Marketing</a:t>
                      </a:r>
                    </a:p>
                  </a:txBody>
                  <a:tcPr marL="54864" marR="54864" marT="27432" marB="27432">
                    <a:solidFill>
                      <a:srgbClr val="FFFFFF"/>
                    </a:solidFill>
                  </a:tcPr>
                </a:tc>
                <a:tc>
                  <a:txBody>
                    <a:bodyPr/>
                    <a:lstStyle/>
                    <a:p>
                      <a:r>
                        <a:rPr sz="850" b="0">
                          <a:solidFill>
                            <a:srgbClr val="4B4B4B"/>
                          </a:solidFill>
                          <a:latin typeface="Arial"/>
                        </a:rPr>
                        <a:t>Workflow notice to the Account Officer with the comment</a:t>
                      </a:r>
                    </a:p>
                  </a:txBody>
                  <a:tcPr marL="54864" marR="54864" marT="27432" marB="27432">
                    <a:solidFill>
                      <a:srgbClr val="FFFFFF"/>
                    </a:solidFill>
                  </a:tcPr>
                </a:tc>
              </a:tr>
              <a:tr h="350518">
                <a:tc>
                  <a:txBody>
                    <a:bodyPr/>
                    <a:lstStyle/>
                    <a:p>
                      <a:r>
                        <a:rPr sz="850" b="0">
                          <a:solidFill>
                            <a:srgbClr val="4B4B4B"/>
                          </a:solidFill>
                          <a:latin typeface="Arial"/>
                        </a:rPr>
                        <a:t>Void</a:t>
                      </a:r>
                    </a:p>
                  </a:txBody>
                  <a:tcPr marL="54864" marR="54864" marT="27432" marB="27432">
                    <a:solidFill>
                      <a:srgbClr val="E5F5FF"/>
                    </a:solidFill>
                  </a:tcPr>
                </a:tc>
                <a:tc>
                  <a:txBody>
                    <a:bodyPr/>
                    <a:lstStyle/>
                    <a:p>
                      <a:r>
                        <a:rPr sz="850" b="0">
                          <a:solidFill>
                            <a:srgbClr val="4B4B4B"/>
                          </a:solidFill>
                          <a:latin typeface="Arial"/>
                        </a:rPr>
                        <a:t>ACCOUNT_MAINTAIN (and ACCOUNT_PROCESS when submitted)</a:t>
                      </a:r>
                    </a:p>
                  </a:txBody>
                  <a:tcPr marL="54864" marR="54864" marT="27432" marB="27432">
                    <a:solidFill>
                      <a:srgbClr val="E5F5FF"/>
                    </a:solidFill>
                  </a:tcPr>
                </a:tc>
                <a:tc>
                  <a:txBody>
                    <a:bodyPr/>
                    <a:lstStyle/>
                    <a:p>
                      <a:r>
                        <a:rPr sz="850" b="0">
                          <a:solidFill>
                            <a:srgbClr val="4B4B4B"/>
                          </a:solidFill>
                          <a:latin typeface="Arial"/>
                        </a:rPr>
                        <a:t>Draft, submitted, returned to Marketing</a:t>
                      </a:r>
                    </a:p>
                  </a:txBody>
                  <a:tcPr marL="54864" marR="54864" marT="27432" marB="27432">
                    <a:solidFill>
                      <a:srgbClr val="E5F5FF"/>
                    </a:solidFill>
                  </a:tcPr>
                </a:tc>
                <a:tc>
                  <a:txBody>
                    <a:bodyPr/>
                    <a:lstStyle/>
                    <a:p>
                      <a:r>
                        <a:rPr sz="850" b="0">
                          <a:solidFill>
                            <a:srgbClr val="4B4B4B"/>
                          </a:solidFill>
                          <a:latin typeface="Arial"/>
                        </a:rPr>
                        <a:t>Asks for the void reason and a comment</a:t>
                      </a:r>
                    </a:p>
                  </a:txBody>
                  <a:tcPr marL="54864" marR="54864" marT="27432" marB="27432">
                    <a:solidFill>
                      <a:srgbClr val="E5F5FF"/>
                    </a:solidFill>
                  </a:tcPr>
                </a:tc>
                <a:tc>
                  <a:txBody>
                    <a:bodyPr/>
                    <a:lstStyle/>
                    <a:p>
                      <a:r>
                        <a:rPr sz="850" b="0">
                          <a:solidFill>
                            <a:srgbClr val="4B4B4B"/>
                          </a:solidFill>
                          <a:latin typeface="Arial"/>
                        </a:rPr>
                        <a:t>Voided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Tag FFY / Cancel FFY</a:t>
                      </a:r>
                    </a:p>
                  </a:txBody>
                  <a:tcPr marL="54864" marR="54864" marT="27432" marB="27432">
                    <a:solidFill>
                      <a:srgbClr val="FFFFFF"/>
                    </a:solidFill>
                  </a:tcPr>
                </a:tc>
                <a:tc>
                  <a:txBody>
                    <a:bodyPr/>
                    <a:lstStyle/>
                    <a:p>
                      <a:r>
                        <a:rPr sz="850" b="0">
                          <a:solidFill>
                            <a:srgbClr val="4B4B4B"/>
                          </a:solidFill>
                          <a:latin typeface="Arial"/>
                        </a:rPr>
                        <a:t>ACCOUNT_MAINTAIN</a:t>
                      </a:r>
                    </a:p>
                  </a:txBody>
                  <a:tcPr marL="54864" marR="54864" marT="27432" marB="27432">
                    <a:solidFill>
                      <a:srgbClr val="FFFFFF"/>
                    </a:solidFill>
                  </a:tcPr>
                </a:tc>
                <a:tc>
                  <a:txBody>
                    <a:bodyPr/>
                    <a:lstStyle/>
                    <a:p>
                      <a:r>
                        <a:rPr sz="850" b="0">
                          <a:solidFill>
                            <a:srgbClr val="4B4B4B"/>
                          </a:solidFill>
                          <a:latin typeface="Arial"/>
                        </a:rPr>
                        <a:t>Account not booked, cancelled or voided</a:t>
                      </a:r>
                    </a:p>
                  </a:txBody>
                  <a:tcPr marL="54864" marR="54864" marT="27432" marB="27432">
                    <a:solidFill>
                      <a:srgbClr val="FFFFFF"/>
                    </a:solidFill>
                  </a:tcPr>
                </a:tc>
                <a:tc>
                  <a:txBody>
                    <a:bodyPr/>
                    <a:lstStyle/>
                    <a:p>
                      <a:r>
                        <a:rPr sz="850" b="0">
                          <a:solidFill>
                            <a:srgbClr val="4B4B4B"/>
                          </a:solidFill>
                          <a:latin typeface="Arial"/>
                        </a:rPr>
                        <a:t>Tags the account Free First Year from a date, or cancels the tag with a reason</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Tag direct payment / Pay through BDOI</a:t>
                      </a:r>
                    </a:p>
                  </a:txBody>
                  <a:tcPr marL="54864" marR="54864" marT="27432" marB="27432">
                    <a:solidFill>
                      <a:srgbClr val="E5F5FF"/>
                    </a:solidFill>
                  </a:tcPr>
                </a:tc>
                <a:tc>
                  <a:txBody>
                    <a:bodyPr/>
                    <a:lstStyle/>
                    <a:p>
                      <a:r>
                        <a:rPr sz="850" b="0">
                          <a:solidFill>
                            <a:srgbClr val="4B4B4B"/>
                          </a:solidFill>
                          <a:latin typeface="Arial"/>
                        </a:rPr>
                        <a:t>ACCOUNT_MAINTAIN</a:t>
                      </a:r>
                    </a:p>
                  </a:txBody>
                  <a:tcPr marL="54864" marR="54864" marT="27432" marB="27432">
                    <a:solidFill>
                      <a:srgbClr val="E5F5FF"/>
                    </a:solidFill>
                  </a:tcPr>
                </a:tc>
                <a:tc>
                  <a:txBody>
                    <a:bodyPr/>
                    <a:lstStyle/>
                    <a:p>
                      <a:r>
                        <a:rPr sz="850" b="0">
                          <a:solidFill>
                            <a:srgbClr val="4B4B4B"/>
                          </a:solidFill>
                          <a:latin typeface="Arial"/>
                        </a:rPr>
                        <a:t>Account not booked, cancelled or voided; payment gate not passed</a:t>
                      </a:r>
                    </a:p>
                  </a:txBody>
                  <a:tcPr marL="54864" marR="54864" marT="27432" marB="27432">
                    <a:solidFill>
                      <a:srgbClr val="E5F5FF"/>
                    </a:solidFill>
                  </a:tcPr>
                </a:tc>
                <a:tc>
                  <a:txBody>
                    <a:bodyPr/>
                    <a:lstStyle/>
                    <a:p>
                      <a:r>
                        <a:rPr sz="850" b="0">
                          <a:solidFill>
                            <a:srgbClr val="4B4B4B"/>
                          </a:solidFill>
                          <a:latin typeface="Arial"/>
                        </a:rPr>
                        <a:t>Switches the payment arrangement</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Record TSU Clearance</a:t>
                      </a:r>
                    </a:p>
                  </a:txBody>
                  <a:tcPr marL="54864" marR="54864" marT="27432" marB="27432">
                    <a:solidFill>
                      <a:srgbClr val="FFFFFF"/>
                    </a:solidFill>
                  </a:tcPr>
                </a:tc>
                <a:tc>
                  <a:txBody>
                    <a:bodyPr/>
                    <a:lstStyle/>
                    <a:p>
                      <a:r>
                        <a:rPr sz="850" b="0">
                          <a:solidFill>
                            <a:srgbClr val="4B4B4B"/>
                          </a:solidFill>
                          <a:latin typeface="Arial"/>
                        </a:rPr>
                        <a:t>TSU_PROCESS</a:t>
                      </a:r>
                    </a:p>
                  </a:txBody>
                  <a:tcPr marL="54864" marR="54864" marT="27432" marB="27432">
                    <a:solidFill>
                      <a:srgbClr val="FFFFFF"/>
                    </a:solidFill>
                  </a:tcPr>
                </a:tc>
                <a:tc>
                  <a:txBody>
                    <a:bodyPr/>
                    <a:lstStyle/>
                    <a:p>
                      <a:r>
                        <a:rPr sz="850" b="0">
                          <a:solidFill>
                            <a:srgbClr val="4B4B4B"/>
                          </a:solidFill>
                          <a:latin typeface="Arial"/>
                        </a:rPr>
                        <a:t>TSU review required and not cleared; before validation</a:t>
                      </a:r>
                    </a:p>
                  </a:txBody>
                  <a:tcPr marL="54864" marR="54864" marT="27432" marB="27432">
                    <a:solidFill>
                      <a:srgbClr val="FFFFFF"/>
                    </a:solidFill>
                  </a:tcPr>
                </a:tc>
                <a:tc>
                  <a:txBody>
                    <a:bodyPr/>
                    <a:lstStyle/>
                    <a:p>
                      <a:r>
                        <a:rPr sz="850" b="0">
                          <a:solidFill>
                            <a:srgbClr val="4B4B4B"/>
                          </a:solidFill>
                          <a:latin typeface="Arial"/>
                        </a:rPr>
                        <a:t>Records the TSU clearance with a comment</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Processing validates only when the client is confirmed and, where a TSU rule applies, TSU has cleared the account (FR-NB-064, FR-NB-005).</a:t>
                      </a:r>
                    </a:p>
                  </a:txBody>
                  <a:tcPr marL="54864" marR="54864" marT="27432" marB="27432">
                    <a:solidFill>
                      <a:srgbClr val="FFFFFF"/>
                    </a:solidFill>
                  </a:tcPr>
                </a:tc>
              </a:tr>
              <a:tr h="396240">
                <a:tc>
                  <a:txBody>
                    <a:bodyPr/>
                    <a:lstStyle/>
                    <a:p>
                      <a:r>
                        <a:rPr sz="1000" b="0">
                          <a:solidFill>
                            <a:srgbClr val="4B4B4B"/>
                          </a:solidFill>
                          <a:latin typeface="Arial"/>
                        </a:rPr>
                        <a:t>The payment gate depends on the segment and line: CBG Fire and Motor must be paid; Other Lines need a client confirmation; direct payment accounts are released on validation (FR-NB-092).</a:t>
                      </a:r>
                    </a:p>
                  </a:txBody>
                  <a:tcPr marL="54864" marR="54864" marT="27432" marB="27432">
                    <a:solidFill>
                      <a:srgbClr val="E5F5FF"/>
                    </a:solidFill>
                  </a:tcPr>
                </a:tc>
              </a:tr>
              <a:tr h="243840">
                <a:tc>
                  <a:txBody>
                    <a:bodyPr/>
                    <a:lstStyle/>
                    <a:p>
                      <a:r>
                        <a:rPr sz="1000" b="0">
                          <a:solidFill>
                            <a:srgbClr val="4B4B4B"/>
                          </a:solidFill>
                          <a:latin typeface="Arial"/>
                        </a:rPr>
                        <a:t>A returned account shows the return reason and comment in its history and in the Account Officer's Returned to Me tab (FR-NB-067).</a:t>
                      </a:r>
                    </a:p>
                  </a:txBody>
                  <a:tcPr marL="54864" marR="54864" marT="27432" marB="27432">
                    <a:solidFill>
                      <a:srgbClr val="FFFFFF"/>
                    </a:solidFill>
                  </a:tcPr>
                </a:tc>
              </a:tr>
              <a:tr h="243840">
                <a:tc>
                  <a:txBody>
                    <a:bodyPr/>
                    <a:lstStyle/>
                    <a:p>
                      <a:r>
                        <a:rPr sz="1000" b="0">
                          <a:solidFill>
                            <a:srgbClr val="4B4B4B"/>
                          </a:solidFill>
                          <a:latin typeface="Arial"/>
                        </a:rPr>
                        <a:t>Direct booking needs the issued policy attached (policy copy or e-policy) (FR-NB-113).</a:t>
                      </a:r>
                    </a:p>
                  </a:txBody>
                  <a:tcPr marL="54864" marR="54864" marT="27432" marB="27432">
                    <a:solidFill>
                      <a:srgbClr val="E5F5FF"/>
                    </a:solidFill>
                  </a:tcPr>
                </a:tc>
              </a:tr>
            </a:tbl>
          </a:graphicData>
        </a:graphic>
      </p:graphicFrame>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graphicFrame>
        <p:nvGraphicFramePr>
          <p:cNvPr id="9" name="Table 8"/>
          <p:cNvGraphicFramePr>
            <a:graphicFrameLocks noGrp="1"/>
          </p:cNvGraphicFramePr>
          <p:nvPr/>
        </p:nvGraphicFramePr>
        <p:xfrm>
          <a:off x="548640" y="1325880"/>
          <a:ext cx="11094413" cy="10515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5</a:t>
                      </a:r>
                    </a:p>
                  </a:txBody>
                  <a:tcPr marL="54864" marR="54864" marT="27432" marB="27432">
                    <a:solidFill>
                      <a:srgbClr val="FFFFFF"/>
                    </a:solidFill>
                  </a:tcPr>
                </a:tc>
                <a:tc>
                  <a:txBody>
                    <a:bodyPr/>
                    <a:lstStyle/>
                    <a:p>
                      <a:r>
                        <a:rPr sz="900" b="0">
                          <a:solidFill>
                            <a:srgbClr val="4B4B4B"/>
                          </a:solidFill>
                          <a:latin typeface="Arial"/>
                        </a:rPr>
                        <a:t>Clicks Validate on an account whose client is not confirmed (the Account Officer submitted it with the valid ID attached)</a:t>
                      </a:r>
                    </a:p>
                  </a:txBody>
                  <a:tcPr marL="54864" marR="54864" marT="27432" marB="27432">
                    <a:solidFill>
                      <a:srgbClr val="FFFFFF"/>
                    </a:solidFill>
                  </a:tcPr>
                </a:tc>
                <a:tc>
                  <a:txBody>
                    <a:bodyPr/>
                    <a:lstStyle/>
                    <a:p>
                      <a:r>
                        <a:rPr sz="900" b="0">
                          <a:solidFill>
                            <a:srgbClr val="4B4B4B"/>
                          </a:solidFill>
                          <a:latin typeface="Arial"/>
                        </a:rPr>
                        <a:t>SCR-NB-15_wt-c-step-05.png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WT-A step 10</a:t>
                      </a:r>
                    </a:p>
                  </a:txBody>
                  <a:tcPr marL="54864" marR="54864" marT="27432" marB="27432">
                    <a:solidFill>
                      <a:srgbClr val="E5F5FF"/>
                    </a:solidFill>
                  </a:tcPr>
                </a:tc>
                <a:tc>
                  <a:txBody>
                    <a:bodyPr/>
                    <a:lstStyle/>
                    <a:p>
                      <a:r>
                        <a:rPr sz="900" b="0">
                          <a:solidFill>
                            <a:srgbClr val="4B4B4B"/>
                          </a:solidFill>
                          <a:latin typeface="Arial"/>
                        </a:rPr>
                        <a:t>Opens the account from My Work and clicks Validate</a:t>
                      </a:r>
                    </a:p>
                  </a:txBody>
                  <a:tcPr marL="54864" marR="54864" marT="27432" marB="27432">
                    <a:solidFill>
                      <a:srgbClr val="E5F5FF"/>
                    </a:solidFill>
                  </a:tcPr>
                </a:tc>
                <a:tc>
                  <a:txBody>
                    <a:bodyPr/>
                    <a:lstStyle/>
                    <a:p>
                      <a:r>
                        <a:rPr sz="900" b="0">
                          <a:solidFill>
                            <a:srgbClr val="4B4B4B"/>
                          </a:solidFill>
                          <a:latin typeface="Arial"/>
                        </a:rPr>
                        <a:t>SCR-NB-15_wt-a-step-10.png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WT-C step 6</a:t>
                      </a:r>
                    </a:p>
                  </a:txBody>
                  <a:tcPr marL="54864" marR="54864" marT="27432" marB="27432">
                    <a:solidFill>
                      <a:srgbClr val="FFFFFF"/>
                    </a:solidFill>
                  </a:tcPr>
                </a:tc>
                <a:tc>
                  <a:txBody>
                    <a:bodyPr/>
                    <a:lstStyle/>
                    <a:p>
                      <a:r>
                        <a:rPr sz="900" b="0">
                          <a:solidFill>
                            <a:srgbClr val="4B4B4B"/>
                          </a:solidFill>
                          <a:latin typeface="Arial"/>
                        </a:rPr>
                        <a:t>Clicks Return To Marketing with the reason Missing supporting documents</a:t>
                      </a:r>
                    </a:p>
                  </a:txBody>
                  <a:tcPr marL="54864" marR="54864" marT="27432" marB="27432">
                    <a:solidFill>
                      <a:srgbClr val="FFFFFF"/>
                    </a:solidFill>
                  </a:tcPr>
                </a:tc>
                <a:tc>
                  <a:txBody>
                    <a:bodyPr/>
                    <a:lstStyle/>
                    <a:p>
                      <a:r>
                        <a:rPr sz="900" b="0">
                          <a:solidFill>
                            <a:srgbClr val="4B4B4B"/>
                          </a:solidFill>
                          <a:latin typeface="Arial"/>
                        </a:rPr>
                        <a:t>SCR-NB-15_wt-c-step-06.png</a:t>
                      </a:r>
                    </a:p>
                  </a:txBody>
                  <a:tcPr marL="54864" marR="54864" marT="27432" marB="27432">
                    <a:solidFill>
                      <a:srgbClr val="FFFFFF"/>
                    </a:solidFill>
                  </a:tcPr>
                </a:tc>
              </a:tr>
            </a:tbl>
          </a:graphicData>
        </a:graphic>
      </p:graphicFrame>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record, Details tab with the tags (part 1 of 4)</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record, Details tab with the tags (part 2 of 4)</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record, Details tab with the tags (part 3 of 4)</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SCR-NB-15 Account record: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6.png"/>
          <p:cNvPicPr>
            <a:picLocks noChangeAspect="1"/>
          </p:cNvPicPr>
          <p:nvPr/>
        </p:nvPicPr>
        <p:blipFill>
          <a:blip r:embed="rId3"/>
          <a:stretch>
            <a:fillRect/>
          </a:stretch>
        </p:blipFill>
        <p:spPr>
          <a:xfrm>
            <a:off x="548640" y="1261872"/>
            <a:ext cx="11094415" cy="22953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record, Details tab with the tags (part 4 of 4)</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342</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15-03-return.png"/>
          <p:cNvPicPr>
            <a:picLocks noChangeAspect="1"/>
          </p:cNvPicPr>
          <p:nvPr/>
        </p:nvPicPr>
        <p:blipFill>
          <a:blip r:embed="rId3"/>
          <a:stretch>
            <a:fillRect/>
          </a:stretch>
        </p:blipFill>
        <p:spPr>
          <a:xfrm>
            <a:off x="1633429" y="1261872"/>
            <a:ext cx="892483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Return To Marketing dialog with the mandatory reason</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account as the Auditor sees it, without the actions (part 1 of 4)</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account as the Auditor sees it, without the actions (part 2 of 4)</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account as the Auditor sees it, without the actions (part 3 of 4)</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0.png"/>
          <p:cNvPicPr>
            <a:picLocks noChangeAspect="1"/>
          </p:cNvPicPr>
          <p:nvPr/>
        </p:nvPicPr>
        <p:blipFill>
          <a:blip r:embed="rId3"/>
          <a:stretch>
            <a:fillRect/>
          </a:stretch>
        </p:blipFill>
        <p:spPr>
          <a:xfrm>
            <a:off x="548640" y="1261872"/>
            <a:ext cx="11094415" cy="28692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account as the Auditor sees it, without the actions (part 4 of 4)</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9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Submitted account as seen by Processing (Validate, Direct booking, Return To Marketing) (part 1 of 4)</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9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Submitted account as seen by Processing (Validate, Direct booking, Return To Marketing) (part 2 of 4)</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93.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Submitted account as seen by Processing (Validate, Direct booking, Return To Marketing) (part 3 of 4)</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SCR-NB-15 Account record: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94.png"/>
          <p:cNvPicPr>
            <a:picLocks noChangeAspect="1"/>
          </p:cNvPicPr>
          <p:nvPr/>
        </p:nvPicPr>
        <p:blipFill>
          <a:blip r:embed="rId3"/>
          <a:stretch>
            <a:fillRect/>
          </a:stretch>
        </p:blipFill>
        <p:spPr>
          <a:xfrm>
            <a:off x="548640" y="1261872"/>
            <a:ext cx="11094415" cy="10424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Submitted account as seen by Processing (Validate, Direct booking, Return To Marketing) (part 4 of 4)</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SCR-NB-16 FFY Register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351</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2362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 of accounts tagged Free First Year, with the FFY start and end.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FFY Register</a:t>
                      </a:r>
                    </a:p>
                    <a:p>
                      <a:r>
                        <a:rPr sz="950" b="0">
                          <a:solidFill>
                            <a:srgbClr val="4B4B4B"/>
                          </a:solidFill>
                          <a:latin typeface="Arial"/>
                        </a:rPr>
                        <a:t>Accounts › FFY tab (same accounts)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keeps the list of FFY accounts for the bank and the renewal hand-off.</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352</a:t>
            </a:r>
          </a:p>
        </p:txBody>
      </p:sp>
      <p:graphicFrame>
        <p:nvGraphicFramePr>
          <p:cNvPr id="9" name="Table 8"/>
          <p:cNvGraphicFramePr>
            <a:graphicFrameLocks noGrp="1"/>
          </p:cNvGraphicFramePr>
          <p:nvPr/>
        </p:nvGraphicFramePr>
        <p:xfrm>
          <a:off x="548640" y="1325880"/>
          <a:ext cx="11094411" cy="11429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 Client, Product, Insurer, Period, Gross Premium, Status, 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 on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FFY Start / FFY End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Officer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Account Officer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353</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 where the FFY is cancelled with a reason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FFY accounts can also be tagged and cancelled in bulk with the FFY tagging upload (FR-NB-068).</a:t>
                      </a:r>
                    </a:p>
                  </a:txBody>
                  <a:tcPr marL="54864" marR="54864" marT="27432" marB="27432">
                    <a:solidFill>
                      <a:srgbClr val="FFFFFF"/>
                    </a:solidFill>
                  </a:tcPr>
                </a:tc>
              </a:tr>
            </a:tbl>
          </a:graphicData>
        </a:graphic>
      </p:graphicFrame>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SCR-NB-16 FFY Register: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16-01-list.png"/>
          <p:cNvPicPr>
            <a:picLocks noChangeAspect="1"/>
          </p:cNvPicPr>
          <p:nvPr/>
        </p:nvPicPr>
        <p:blipFill>
          <a:blip r:embed="rId3"/>
          <a:stretch>
            <a:fillRect/>
          </a:stretch>
        </p:blipFill>
        <p:spPr>
          <a:xfrm>
            <a:off x="605495" y="1261872"/>
            <a:ext cx="1098070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FFY Register</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Direct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accounts whose premium the client pays directly to the insurer; they skip BDOI collection and are released for placement on validation.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Direct Payment</a:t>
                      </a:r>
                    </a:p>
                    <a:p>
                      <a:r>
                        <a:rPr sz="950" b="0">
                          <a:solidFill>
                            <a:srgbClr val="4B4B4B"/>
                          </a:solidFill>
                          <a:latin typeface="Arial"/>
                        </a:rPr>
                        <a:t>Accounts › Direct Payment tab (same accounts)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FR-NB-069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direct-payment book is visible in one list.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357</a:t>
            </a:r>
          </a:p>
        </p:txBody>
      </p:sp>
      <p:graphicFrame>
        <p:nvGraphicFramePr>
          <p:cNvPr id="9" name="Table 8"/>
          <p:cNvGraphicFramePr>
            <a:graphicFrameLocks noGrp="1"/>
          </p:cNvGraphicFramePr>
          <p:nvPr/>
        </p:nvGraphicFramePr>
        <p:xfrm>
          <a:off x="548640" y="1325880"/>
          <a:ext cx="11094411" cy="70103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 Client, Product, Insurer, Period, Gross Premium, Status, Flags, Officer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 on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358</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359</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products flagged eligible for direct payment can be tagged (FR-NB-069).</a:t>
                      </a:r>
                    </a:p>
                  </a:txBody>
                  <a:tcPr marL="54864" marR="54864" marT="27432" marB="27432">
                    <a:solidFill>
                      <a:srgbClr val="FFFFFF"/>
                    </a:solidFill>
                  </a:tcPr>
                </a:tc>
              </a:tr>
              <a:tr h="243840">
                <a:tc>
                  <a:txBody>
                    <a:bodyPr/>
                    <a:lstStyle/>
                    <a:p>
                      <a:r>
                        <a:rPr sz="1000" b="0">
                          <a:solidFill>
                            <a:srgbClr val="4B4B4B"/>
                          </a:solidFill>
                          <a:latin typeface="Arial"/>
                        </a:rPr>
                        <a:t>Direct payment accounts are handed to Collections (BRD-4) for the commission receivable (FR-NB-069).</a:t>
                      </a:r>
                    </a:p>
                  </a:txBody>
                  <a:tcPr marL="54864" marR="54864" marT="27432" marB="27432">
                    <a:solidFill>
                      <a:srgbClr val="E5F5FF"/>
                    </a:solidFill>
                  </a:tcPr>
                </a:tc>
              </a:tr>
            </a:tbl>
          </a:graphicData>
        </a:graphic>
      </p:graphicFrame>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Direct Payment: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5.png"/>
          <p:cNvPicPr>
            <a:picLocks noChangeAspect="1"/>
          </p:cNvPicPr>
          <p:nvPr/>
        </p:nvPicPr>
        <p:blipFill>
          <a:blip r:embed="rId3"/>
          <a:stretch>
            <a:fillRect/>
          </a:stretch>
        </p:blipFill>
        <p:spPr>
          <a:xfrm>
            <a:off x="548640" y="1261872"/>
            <a:ext cx="11094415" cy="42464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Direct Payment Accounts (part 1 of 2)</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SCR-NB-17 Direct Payment: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6.png"/>
          <p:cNvPicPr>
            <a:picLocks noChangeAspect="1"/>
          </p:cNvPicPr>
          <p:nvPr/>
        </p:nvPicPr>
        <p:blipFill>
          <a:blip r:embed="rId3"/>
          <a:stretch>
            <a:fillRect/>
          </a:stretch>
        </p:blipFill>
        <p:spPr>
          <a:xfrm>
            <a:off x="548640" y="1261872"/>
            <a:ext cx="11094415" cy="2630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Direct Payment Accounts (part 2 of 2)</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SCR-NB-18 Placement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graphicFrame>
        <p:nvGraphicFramePr>
          <p:cNvPr id="10" name="Table 9"/>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Processing's view of the accounts from payment to placement: tiles for awaiting payment, ready for placement, placed, returned by insurer and hold covers expiring; status tabs; and the bulk actions For Placement (generate slips), Send Slips, For Booking, Cancel Placement and Reactivate, enabled by the row selection.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Placement Workbench</a:t>
                      </a:r>
                    </a:p>
                    <a:p>
                      <a:r>
                        <a:rPr sz="950" b="0">
                          <a:solidFill>
                            <a:srgbClr val="4B4B4B"/>
                          </a:solidFill>
                          <a:latin typeface="Arial"/>
                        </a:rPr>
                        <a:t>NB Dashboard figures</a:t>
                      </a:r>
                    </a:p>
                    <a:p>
                      <a:r>
                        <a:rPr sz="950" b="0">
                          <a:solidFill>
                            <a:srgbClr val="4B4B4B"/>
                          </a:solidFill>
                          <a:latin typeface="Arial"/>
                        </a:rPr>
                        <a:t>Account record › Placement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FR-NB-080, FR-NB-081, FR-NB-084, FR-NB-085, FR-NB-086, FR-NB-087</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Processing places the accounts with the insurers in batches and follows returns and hold covers.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363</a:t>
            </a:r>
          </a:p>
        </p:txBody>
      </p:sp>
      <p:graphicFrame>
        <p:nvGraphicFramePr>
          <p:cNvPr id="9" name="Table 8"/>
          <p:cNvGraphicFramePr>
            <a:graphicFrameLocks noGrp="1"/>
          </p:cNvGraphicFramePr>
          <p:nvPr/>
        </p:nvGraphicFramePr>
        <p:xfrm>
          <a:off x="548640" y="1325880"/>
          <a:ext cx="11094411" cy="407667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Awaiting Payment / Ready for Placement / Placed / Returned by Insurer / Hold Cover Expiring</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Counts; the last two are alerts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For Placement &amp; Booking / Booked Account / Awaiting Payment / Returned by Insurer / Hold Cover Expiring / Cancelled Placement</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Reference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ARN or client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One per row, plus select all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bulk action is enabled only when every selected row is eligible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Name / Client 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name (opens the account placement) and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ARN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account's ARN and its current slip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Stage badge; hold cover status and expiry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 Line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Line, product and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Department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Sales department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Gross Premium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Generate Placement Slips dialog</a:t>
                      </a:r>
                    </a:p>
                  </a:txBody>
                  <a:tcPr marL="54864" marR="54864" marT="27432" marB="27432">
                    <a:solidFill>
                      <a:srgbClr val="FFFFFF"/>
                    </a:solidFill>
                  </a:tcPr>
                </a:tc>
                <a:tc>
                  <a:txBody>
                    <a:bodyPr/>
                    <a:lstStyle/>
                    <a:p>
                      <a:r>
                        <a:rPr sz="850" b="0">
                          <a:solidFill>
                            <a:srgbClr val="4B4B4B"/>
                          </a:solidFill>
                          <a:latin typeface="Arial"/>
                        </a:rPr>
                        <a:t>Placement prerequisites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ARN, Insurer, Prerequisites: valid, or the unmet prerequisites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Payment gate open, documents complete, TSU cleared, insurer and branch reachable by e-mail</a:t>
                      </a:r>
                    </a:p>
                  </a:txBody>
                  <a:tcPr marL="54864" marR="54864" marT="27432" marB="27432">
                    <a:solidFill>
                      <a:srgbClr val="FFFFFF"/>
                    </a:solidFill>
                  </a:tcPr>
                </a:tc>
                <a:tc>
                  <a:txBody>
                    <a:bodyPr/>
                    <a:lstStyle/>
                    <a:p>
                      <a:r>
                        <a:rPr sz="850" b="0">
                          <a:solidFill>
                            <a:srgbClr val="4B4B4B"/>
                          </a:solidFill>
                          <a:latin typeface="Arial"/>
                        </a:rPr>
                        <a:t>Placement prerequisites not met - &lt;problems&gt;</a:t>
                      </a:r>
                    </a:p>
                  </a:txBody>
                  <a:tcPr marL="54864" marR="54864" marT="27432" marB="27432">
                    <a:solidFill>
                      <a:srgbClr val="FFFFFF"/>
                    </a:solidFill>
                  </a:tcPr>
                </a:tc>
              </a:tr>
            </a:tbl>
          </a:graphicData>
        </a:graphic>
      </p:graphicFrame>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364</a:t>
            </a:r>
          </a:p>
        </p:txBody>
      </p:sp>
      <p:graphicFrame>
        <p:nvGraphicFramePr>
          <p:cNvPr id="9" name="Table 8"/>
          <p:cNvGraphicFramePr>
            <a:graphicFrameLocks noGrp="1"/>
          </p:cNvGraphicFramePr>
          <p:nvPr/>
        </p:nvGraphicFramePr>
        <p:xfrm>
          <a:off x="548640" y="1325880"/>
          <a:ext cx="11094412" cy="232408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CLPC Billing</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CLPC Billing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For Placement</a:t>
                      </a:r>
                    </a:p>
                  </a:txBody>
                  <a:tcPr marL="54864" marR="54864" marT="27432" marB="27432">
                    <a:solidFill>
                      <a:srgbClr val="E5F5FF"/>
                    </a:solidFill>
                  </a:tcPr>
                </a:tc>
                <a:tc>
                  <a:txBody>
                    <a:bodyPr/>
                    <a:lstStyle/>
                    <a:p>
                      <a:r>
                        <a:rPr sz="850" b="0">
                          <a:solidFill>
                            <a:srgbClr val="4B4B4B"/>
                          </a:solidFill>
                          <a:latin typeface="Arial"/>
                        </a:rPr>
                        <a:t>PLACEMENT_MANAGE</a:t>
                      </a:r>
                    </a:p>
                  </a:txBody>
                  <a:tcPr marL="54864" marR="54864" marT="27432" marB="27432">
                    <a:solidFill>
                      <a:srgbClr val="E5F5FF"/>
                    </a:solidFill>
                  </a:tcPr>
                </a:tc>
                <a:tc>
                  <a:txBody>
                    <a:bodyPr/>
                    <a:lstStyle/>
                    <a:p>
                      <a:r>
                        <a:rPr sz="850" b="0">
                          <a:solidFill>
                            <a:srgbClr val="4B4B4B"/>
                          </a:solidFill>
                          <a:latin typeface="Arial"/>
                        </a:rPr>
                        <a:t>Selected accounts all ready for placement</a:t>
                      </a:r>
                    </a:p>
                  </a:txBody>
                  <a:tcPr marL="54864" marR="54864" marT="27432" marB="27432">
                    <a:solidFill>
                      <a:srgbClr val="E5F5FF"/>
                    </a:solidFill>
                  </a:tcPr>
                </a:tc>
                <a:tc>
                  <a:txBody>
                    <a:bodyPr/>
                    <a:lstStyle/>
                    <a:p>
                      <a:r>
                        <a:rPr sz="850" b="0">
                          <a:solidFill>
                            <a:srgbClr val="4B4B4B"/>
                          </a:solidFill>
                          <a:latin typeface="Arial"/>
                        </a:rPr>
                        <a:t>Opens Generate Placement Slips; Generate Slips creates one slip per insurer branch as PDF and Excel</a:t>
                      </a:r>
                    </a:p>
                  </a:txBody>
                  <a:tcPr marL="54864" marR="54864" marT="27432" marB="27432">
                    <a:solidFill>
                      <a:srgbClr val="E5F5FF"/>
                    </a:solidFill>
                  </a:tcPr>
                </a:tc>
                <a:tc>
                  <a:txBody>
                    <a:bodyPr/>
                    <a:lstStyle/>
                    <a:p>
                      <a:r>
                        <a:rPr sz="850" b="0">
                          <a:solidFill>
                            <a:srgbClr val="4B4B4B"/>
                          </a:solidFill>
                          <a:latin typeface="Arial"/>
                        </a:rPr>
                        <a:t>Unchanged until the slip is sent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Send Slips</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Selected accounts all have a slip generated and not sent</a:t>
                      </a:r>
                    </a:p>
                  </a:txBody>
                  <a:tcPr marL="54864" marR="54864" marT="27432" marB="27432">
                    <a:solidFill>
                      <a:srgbClr val="FFFFFF"/>
                    </a:solidFill>
                  </a:tcPr>
                </a:tc>
                <a:tc>
                  <a:txBody>
                    <a:bodyPr/>
                    <a:lstStyle/>
                    <a:p>
                      <a:r>
                        <a:rPr sz="850" b="0">
                          <a:solidFill>
                            <a:srgbClr val="4B4B4B"/>
                          </a:solidFill>
                          <a:latin typeface="Arial"/>
                        </a:rPr>
                        <a:t>E-mails each slip to its insurer branch's placement address; the outcome of each account is listed</a:t>
                      </a:r>
                    </a:p>
                  </a:txBody>
                  <a:tcPr marL="54864" marR="54864" marT="27432" marB="27432">
                    <a:solidFill>
                      <a:srgbClr val="FFFFFF"/>
                    </a:solidFill>
                  </a:tcPr>
                </a:tc>
                <a:tc>
                  <a:txBody>
                    <a:bodyPr/>
                    <a:lstStyle/>
                    <a:p>
                      <a:r>
                        <a:rPr sz="850" b="0">
                          <a:solidFill>
                            <a:srgbClr val="4B4B4B"/>
                          </a:solidFill>
                          <a:latin typeface="Arial"/>
                        </a:rPr>
                        <a:t>Placed</a:t>
                      </a:r>
                    </a:p>
                  </a:txBody>
                  <a:tcPr marL="54864" marR="54864" marT="27432" marB="27432">
                    <a:solidFill>
                      <a:srgbClr val="FFFFFF"/>
                    </a:solidFill>
                  </a:tcPr>
                </a:tc>
                <a:tc>
                  <a:txBody>
                    <a:bodyPr/>
                    <a:lstStyle/>
                    <a:p>
                      <a:r>
                        <a:rPr sz="850" b="0">
                          <a:solidFill>
                            <a:srgbClr val="4B4B4B"/>
                          </a:solidFill>
                          <a:latin typeface="Arial"/>
                        </a:rPr>
                        <a:t>E-mail to the insurer</a:t>
                      </a:r>
                    </a:p>
                  </a:txBody>
                  <a:tcPr marL="54864" marR="54864" marT="27432" marB="27432">
                    <a:solidFill>
                      <a:srgbClr val="FFFFFF"/>
                    </a:solidFill>
                  </a:tcPr>
                </a:tc>
              </a:tr>
              <a:tr h="350518">
                <a:tc>
                  <a:txBody>
                    <a:bodyPr/>
                    <a:lstStyle/>
                    <a:p>
                      <a:r>
                        <a:rPr sz="850" b="0">
                          <a:solidFill>
                            <a:srgbClr val="4B4B4B"/>
                          </a:solidFill>
                          <a:latin typeface="Arial"/>
                        </a:rPr>
                        <a:t>For Booking</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Selected accounts all have their policy issued</a:t>
                      </a:r>
                    </a:p>
                  </a:txBody>
                  <a:tcPr marL="54864" marR="54864" marT="27432" marB="27432">
                    <a:solidFill>
                      <a:srgbClr val="E5F5FF"/>
                    </a:solidFill>
                  </a:tcPr>
                </a:tc>
                <a:tc>
                  <a:txBody>
                    <a:bodyPr/>
                    <a:lstStyle/>
                    <a:p>
                      <a:r>
                        <a:rPr sz="850" b="0">
                          <a:solidFill>
                            <a:srgbClr val="4B4B4B"/>
                          </a:solidFill>
                          <a:latin typeface="Arial"/>
                        </a:rPr>
                        <a:t>Opens the Booking Workbench with the accounts chosen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Cancel Placement</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Selected accounts ready for placement, placed or returned by insurer</a:t>
                      </a:r>
                    </a:p>
                  </a:txBody>
                  <a:tcPr marL="54864" marR="54864" marT="27432" marB="27432">
                    <a:solidFill>
                      <a:srgbClr val="FFFFFF"/>
                    </a:solidFill>
                  </a:tcPr>
                </a:tc>
                <a:tc>
                  <a:txBody>
                    <a:bodyPr/>
                    <a:lstStyle/>
                    <a:p>
                      <a:r>
                        <a:rPr sz="850" b="0">
                          <a:solidFill>
                            <a:srgbClr val="4B4B4B"/>
                          </a:solidFill>
                          <a:latin typeface="Arial"/>
                        </a:rPr>
                        <a:t>Asks for the cancellation reason and a comment; the outcome of each account is listed</a:t>
                      </a:r>
                    </a:p>
                  </a:txBody>
                  <a:tcPr marL="54864" marR="54864" marT="27432" marB="27432">
                    <a:solidFill>
                      <a:srgbClr val="FFFFFF"/>
                    </a:solidFill>
                  </a:tcPr>
                </a:tc>
                <a:tc>
                  <a:txBody>
                    <a:bodyPr/>
                    <a:lstStyle/>
                    <a:p>
                      <a:r>
                        <a:rPr sz="850" b="0">
                          <a:solidFill>
                            <a:srgbClr val="4B4B4B"/>
                          </a:solidFill>
                          <a:latin typeface="Arial"/>
                        </a:rPr>
                        <a:t>Placement cancelled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Reactivate</a:t>
                      </a:r>
                    </a:p>
                  </a:txBody>
                  <a:tcPr marL="54864" marR="54864" marT="27432" marB="27432">
                    <a:solidFill>
                      <a:srgbClr val="E5F5FF"/>
                    </a:solidFill>
                  </a:tcPr>
                </a:tc>
                <a:tc>
                  <a:txBody>
                    <a:bodyPr/>
                    <a:lstStyle/>
                    <a:p>
                      <a:r>
                        <a:rPr sz="850" b="0">
                          <a:solidFill>
                            <a:srgbClr val="4B4B4B"/>
                          </a:solidFill>
                          <a:latin typeface="Arial"/>
                        </a:rPr>
                        <a:t>PLACEMENT_MANAGE or ACCOUNT_MAINTAIN</a:t>
                      </a:r>
                    </a:p>
                  </a:txBody>
                  <a:tcPr marL="54864" marR="54864" marT="27432" marB="27432">
                    <a:solidFill>
                      <a:srgbClr val="E5F5FF"/>
                    </a:solidFill>
                  </a:tcPr>
                </a:tc>
                <a:tc>
                  <a:txBody>
                    <a:bodyPr/>
                    <a:lstStyle/>
                    <a:p>
                      <a:r>
                        <a:rPr sz="850" b="0">
                          <a:solidFill>
                            <a:srgbClr val="4B4B4B"/>
                          </a:solidFill>
                          <a:latin typeface="Arial"/>
                        </a:rPr>
                        <a:t>Selected accounts with the placement cancelled</a:t>
                      </a:r>
                    </a:p>
                  </a:txBody>
                  <a:tcPr marL="54864" marR="54864" marT="27432" marB="27432">
                    <a:solidFill>
                      <a:srgbClr val="E5F5FF"/>
                    </a:solidFill>
                  </a:tcPr>
                </a:tc>
                <a:tc>
                  <a:txBody>
                    <a:bodyPr/>
                    <a:lstStyle/>
                    <a:p>
                      <a:r>
                        <a:rPr sz="850" b="0">
                          <a:solidFill>
                            <a:srgbClr val="4B4B4B"/>
                          </a:solidFill>
                          <a:latin typeface="Arial"/>
                        </a:rPr>
                        <a:t>Asks for a comment; the outcome of each account is listed</a:t>
                      </a:r>
                    </a:p>
                  </a:txBody>
                  <a:tcPr marL="54864" marR="54864" marT="27432" marB="27432">
                    <a:solidFill>
                      <a:srgbClr val="E5F5FF"/>
                    </a:solidFill>
                  </a:tcPr>
                </a:tc>
                <a:tc>
                  <a:txBody>
                    <a:bodyPr/>
                    <a:lstStyle/>
                    <a:p>
                      <a:r>
                        <a:rPr sz="850" b="0">
                          <a:solidFill>
                            <a:srgbClr val="4B4B4B"/>
                          </a:solidFill>
                          <a:latin typeface="Arial"/>
                        </a:rPr>
                        <a:t>Ready for placement</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365</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placement slip is generated only when every prerequisite of the account is met (FR-NB-080).</a:t>
                      </a:r>
                    </a:p>
                  </a:txBody>
                  <a:tcPr marL="54864" marR="54864" marT="27432" marB="27432">
                    <a:solidFill>
                      <a:srgbClr val="FFFFFF"/>
                    </a:solidFill>
                  </a:tcPr>
                </a:tc>
              </a:tr>
              <a:tr h="243840">
                <a:tc>
                  <a:txBody>
                    <a:bodyPr/>
                    <a:lstStyle/>
                    <a:p>
                      <a:r>
                        <a:rPr sz="1000" b="0">
                          <a:solidFill>
                            <a:srgbClr val="4B4B4B"/>
                          </a:solidFill>
                          <a:latin typeface="Arial"/>
                        </a:rPr>
                        <a:t>One slip is generated per insurer branch; the accounts of the same branch share it (FR-NB-080).</a:t>
                      </a:r>
                    </a:p>
                  </a:txBody>
                  <a:tcPr marL="54864" marR="54864" marT="27432" marB="27432">
                    <a:solidFill>
                      <a:srgbClr val="E5F5FF"/>
                    </a:solidFill>
                  </a:tcPr>
                </a:tc>
              </a:tr>
              <a:tr h="396240">
                <a:tc>
                  <a:txBody>
                    <a:bodyPr/>
                    <a:lstStyle/>
                    <a:p>
                      <a:r>
                        <a:rPr sz="1000" b="0">
                          <a:solidFill>
                            <a:srgbClr val="4B4B4B"/>
                          </a:solidFill>
                          <a:latin typeface="Arial"/>
                        </a:rPr>
                        <a:t>Each slip carries the EOPT details of its clients (taxpayer name, TIN, registered address) from the client record; a client without them is shown with a notice (FR-NB-087, CLR-NB-45).</a:t>
                      </a:r>
                    </a:p>
                  </a:txBody>
                  <a:tcPr marL="54864" marR="54864" marT="27432" marB="27432">
                    <a:solidFill>
                      <a:srgbClr val="FFFFFF"/>
                    </a:solidFill>
                  </a:tcPr>
                </a:tc>
              </a:tr>
              <a:tr h="243840">
                <a:tc>
                  <a:txBody>
                    <a:bodyPr/>
                    <a:lstStyle/>
                    <a:p>
                      <a:r>
                        <a:rPr sz="1000" b="0">
                          <a:solidFill>
                            <a:srgbClr val="4B4B4B"/>
                          </a:solidFill>
                          <a:latin typeface="Arial"/>
                        </a:rPr>
                        <a:t>Each account of a bulk action is processed on its own; a failure does not stop the others (FR-NB-085, FR-NB-086).</a:t>
                      </a:r>
                    </a:p>
                  </a:txBody>
                  <a:tcPr marL="54864" marR="54864" marT="27432" marB="27432">
                    <a:solidFill>
                      <a:srgbClr val="E5F5FF"/>
                    </a:solidFill>
                  </a:tcPr>
                </a:tc>
              </a:tr>
            </a:tbl>
          </a:graphicData>
        </a:graphic>
      </p:graphicFrame>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366</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12</a:t>
                      </a:r>
                    </a:p>
                  </a:txBody>
                  <a:tcPr marL="54864" marR="54864" marT="27432" marB="27432">
                    <a:solidFill>
                      <a:srgbClr val="FFFFFF"/>
                    </a:solidFill>
                  </a:tcPr>
                </a:tc>
                <a:tc>
                  <a:txBody>
                    <a:bodyPr/>
                    <a:lstStyle/>
                    <a:p>
                      <a:r>
                        <a:rPr sz="900" b="0">
                          <a:solidFill>
                            <a:srgbClr val="4B4B4B"/>
                          </a:solidFill>
                          <a:latin typeface="Arial"/>
                        </a:rPr>
                        <a:t>Selects the account on the Placement Workbench, clicks For Placement, then Generate Slips, then Send Slips</a:t>
                      </a:r>
                    </a:p>
                  </a:txBody>
                  <a:tcPr marL="54864" marR="54864" marT="27432" marB="27432">
                    <a:solidFill>
                      <a:srgbClr val="FFFFFF"/>
                    </a:solidFill>
                  </a:tcPr>
                </a:tc>
                <a:tc>
                  <a:txBody>
                    <a:bodyPr/>
                    <a:lstStyle/>
                    <a:p>
                      <a:r>
                        <a:rPr sz="900" b="0">
                          <a:solidFill>
                            <a:srgbClr val="4B4B4B"/>
                          </a:solidFill>
                          <a:latin typeface="Arial"/>
                        </a:rPr>
                        <a:t>SCR-NB-18_wt-a-step-12.png</a:t>
                      </a:r>
                    </a:p>
                  </a:txBody>
                  <a:tcPr marL="54864" marR="54864" marT="27432" marB="27432">
                    <a:solidFill>
                      <a:srgbClr val="FFFFFF"/>
                    </a:solidFill>
                  </a:tcPr>
                </a:tc>
              </a:tr>
            </a:tbl>
          </a:graphicData>
        </a:graphic>
      </p:graphicFrame>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97.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Workbench, For Placement &amp; Booking tab (part 1 of 4)</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98.png"/>
          <p:cNvPicPr>
            <a:picLocks noChangeAspect="1"/>
          </p:cNvPicPr>
          <p:nvPr/>
        </p:nvPicPr>
        <p:blipFill>
          <a:blip r:embed="rId3"/>
          <a:stretch>
            <a:fillRect/>
          </a:stretch>
        </p:blipFill>
        <p:spPr>
          <a:xfrm>
            <a:off x="548640" y="1261872"/>
            <a:ext cx="11094415" cy="433256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Workbench, For Placement &amp; Booking tab (part 2 of 4)</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9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Workbench, For Placement &amp; Booking tab (part 3 of 4)</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00.png"/>
          <p:cNvPicPr>
            <a:picLocks noChangeAspect="1"/>
          </p:cNvPicPr>
          <p:nvPr/>
        </p:nvPicPr>
        <p:blipFill>
          <a:blip r:embed="rId3"/>
          <a:stretch>
            <a:fillRect/>
          </a:stretch>
        </p:blipFill>
        <p:spPr>
          <a:xfrm>
            <a:off x="548640" y="1261872"/>
            <a:ext cx="11094415" cy="226670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Workbench, For Placement &amp; Booking tab (part 4 of 4)</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Validation error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cr-nb-18-02-generate.png"/>
          <p:cNvPicPr>
            <a:picLocks noChangeAspect="1"/>
          </p:cNvPicPr>
          <p:nvPr/>
        </p:nvPicPr>
        <p:blipFill>
          <a:blip r:embed="rId3"/>
          <a:stretch>
            <a:fillRect/>
          </a:stretch>
        </p:blipFill>
        <p:spPr>
          <a:xfrm>
            <a:off x="1399059" y="1261872"/>
            <a:ext cx="939357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Placement Slips dialog with the prerequisites of the selected accounts</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53351"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1" name="Picture 10" descr="slice-00201.png"/>
          <p:cNvPicPr>
            <a:picLocks noChangeAspect="1"/>
          </p:cNvPicPr>
          <p:nvPr/>
        </p:nvPicPr>
        <p:blipFill>
          <a:blip r:embed="rId3"/>
          <a:stretch>
            <a:fillRect/>
          </a:stretch>
        </p:blipFill>
        <p:spPr>
          <a:xfrm>
            <a:off x="548640" y="1261872"/>
            <a:ext cx="11094415" cy="434212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Cancelled Placement tab with Reactivate (part 1 of 2)</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SCR-NB-18 Placement Workbench: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53351"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1" name="Picture 10" descr="slice-00202.png"/>
          <p:cNvPicPr>
            <a:picLocks noChangeAspect="1"/>
          </p:cNvPicPr>
          <p:nvPr/>
        </p:nvPicPr>
        <p:blipFill>
          <a:blip r:embed="rId3"/>
          <a:stretch>
            <a:fillRect/>
          </a:stretch>
        </p:blipFill>
        <p:spPr>
          <a:xfrm>
            <a:off x="548640" y="1261872"/>
            <a:ext cx="11094415" cy="258232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Cancelled Placement tab with Reactivate (part 2 of 2)</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374</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placement of one account: summary with the payment gate, slip and hold cover; the workflow panel with the placement actions; and tabs for the payment gate with its evidence, the placement slips, the hold cover and the insurer returns.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Placement Workbench › Account Placement</a:t>
                      </a:r>
                    </a:p>
                    <a:p>
                      <a:r>
                        <a:rPr sz="950" b="0">
                          <a:solidFill>
                            <a:srgbClr val="4B4B4B"/>
                          </a:solidFill>
                          <a:latin typeface="Arial"/>
                        </a:rPr>
                        <a:t>Placement Workbench › client name</a:t>
                      </a:r>
                    </a:p>
                    <a:p>
                      <a:r>
                        <a:rPr sz="950" b="0">
                          <a:solidFill>
                            <a:srgbClr val="4B4B4B"/>
                          </a:solidFill>
                          <a:latin typeface="Arial"/>
                        </a:rPr>
                        <a:t>Placement Slips › account ARN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FR-NB-080, FR-NB-081, FR-NB-082, FR-NB-083, FR-NB-084, FR-NB-085, FR-NB-086, FR-NB-092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placed with the insurer, with the payment evidence, the slip sent and any hold cover on record.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375</a:t>
            </a:r>
          </a:p>
        </p:txBody>
      </p:sp>
      <p:graphicFrame>
        <p:nvGraphicFramePr>
          <p:cNvPr id="9" name="Table 8"/>
          <p:cNvGraphicFramePr>
            <a:graphicFrameLocks noGrp="1"/>
          </p:cNvGraphicFramePr>
          <p:nvPr/>
        </p:nvGraphicFramePr>
        <p:xfrm>
          <a:off x="548640" y="1325880"/>
          <a:ext cx="11094411" cy="45948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Product, Insurer, Gross premium, Payment gate, Placement slip, Hold cover</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Gate Open or Waiting with its rule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Payment Gate tab</a:t>
                      </a:r>
                    </a:p>
                  </a:txBody>
                  <a:tcPr marL="54864" marR="54864" marT="27432" marB="27432">
                    <a:solidFill>
                      <a:srgbClr val="E5F5FF"/>
                    </a:solidFill>
                  </a:tcPr>
                </a:tc>
                <a:tc>
                  <a:txBody>
                    <a:bodyPr/>
                    <a:lstStyle/>
                    <a:p>
                      <a:r>
                        <a:rPr sz="850" b="0">
                          <a:solidFill>
                            <a:srgbClr val="4B4B4B"/>
                          </a:solidFill>
                          <a:latin typeface="Arial"/>
                        </a:rPr>
                        <a:t>Rule, Gate, Segment / line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Payment matched, Client confirmation or Direct payment, with the rule description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Payment Gate tab</a:t>
                      </a:r>
                    </a:p>
                  </a:txBody>
                  <a:tcPr marL="54864" marR="54864" marT="27432" marB="27432">
                    <a:solidFill>
                      <a:srgbClr val="FFFFFF"/>
                    </a:solidFill>
                  </a:tcPr>
                </a:tc>
                <a:tc>
                  <a:txBody>
                    <a:bodyPr/>
                    <a:lstStyle/>
                    <a:p>
                      <a:r>
                        <a:rPr sz="850" b="0">
                          <a:solidFill>
                            <a:srgbClr val="4B4B4B"/>
                          </a:solidFill>
                          <a:latin typeface="Arial"/>
                        </a:rPr>
                        <a:t>Evidence</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Evidence, Source, Detail, Amount, Recorded, Opened Gate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Client confirmation dialog</a:t>
                      </a:r>
                    </a:p>
                  </a:txBody>
                  <a:tcPr marL="54864" marR="54864" marT="27432" marB="27432">
                    <a:solidFill>
                      <a:srgbClr val="E5F5FF"/>
                    </a:solidFill>
                  </a:tcPr>
                </a:tc>
                <a:tc>
                  <a:txBody>
                    <a:bodyPr/>
                    <a:lstStyle/>
                    <a:p>
                      <a:r>
                        <a:rPr sz="850" b="0">
                          <a:solidFill>
                            <a:srgbClr val="4B4B4B"/>
                          </a:solidFill>
                          <a:latin typeface="Arial"/>
                        </a:rPr>
                        <a:t>Confirmation channel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active value; the account's rule is not payment matched</a:t>
                      </a:r>
                    </a:p>
                  </a:txBody>
                  <a:tcPr marL="54864" marR="54864" marT="27432" marB="27432">
                    <a:solidFill>
                      <a:srgbClr val="E5F5FF"/>
                    </a:solidFill>
                  </a:tcPr>
                </a:tc>
                <a:tc>
                  <a:txBody>
                    <a:bodyPr/>
                    <a:lstStyle/>
                    <a:p>
                      <a:r>
                        <a:rPr sz="850" b="0">
                          <a:solidFill>
                            <a:srgbClr val="4B4B4B"/>
                          </a:solidFill>
                          <a:latin typeface="Arial"/>
                        </a:rPr>
                        <a:t>Account &lt;ARN&gt; must be paid: match its payment from a payment report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Client confirmation dialog</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Placement Slips tab</a:t>
                      </a:r>
                    </a:p>
                  </a:txBody>
                  <a:tcPr marL="54864" marR="54864" marT="27432" marB="27432">
                    <a:solidFill>
                      <a:srgbClr val="E5F5FF"/>
                    </a:solidFill>
                  </a:tcPr>
                </a:tc>
                <a:tc>
                  <a:txBody>
                    <a:bodyPr/>
                    <a:lstStyle/>
                    <a:p>
                      <a:r>
                        <a:rPr sz="850" b="0">
                          <a:solidFill>
                            <a:srgbClr val="4B4B4B"/>
                          </a:solidFill>
                          <a:latin typeface="Arial"/>
                        </a:rPr>
                        <a:t>Placement slips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Slip, Status, Insurer, Sent,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Hold Cover tab</a:t>
                      </a:r>
                    </a:p>
                  </a:txBody>
                  <a:tcPr marL="54864" marR="54864" marT="27432" marB="27432">
                    <a:solidFill>
                      <a:srgbClr val="FFFFFF"/>
                    </a:solidFill>
                  </a:tcPr>
                </a:tc>
                <a:tc>
                  <a:txBody>
                    <a:bodyPr/>
                    <a:lstStyle/>
                    <a:p>
                      <a:r>
                        <a:rPr sz="850" b="0">
                          <a:solidFill>
                            <a:srgbClr val="4B4B4B"/>
                          </a:solidFill>
                          <a:latin typeface="Arial"/>
                        </a:rPr>
                        <a:t>Hold covers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Status, Insurer, Period, Insurer Reference, Confirmed On, Expiry Alert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Hold cover dialog</a:t>
                      </a:r>
                    </a:p>
                  </a:txBody>
                  <a:tcPr marL="54864" marR="54864" marT="27432" marB="27432">
                    <a:solidFill>
                      <a:srgbClr val="E5F5FF"/>
                    </a:solidFill>
                  </a:tcPr>
                </a:tc>
                <a:tc>
                  <a:txBody>
                    <a:bodyPr/>
                    <a:lstStyle/>
                    <a:p>
                      <a:r>
                        <a:rPr sz="850" b="0">
                          <a:solidFill>
                            <a:srgbClr val="4B4B4B"/>
                          </a:solidFill>
                          <a:latin typeface="Arial"/>
                        </a:rPr>
                        <a:t>Hold cover starts on / Confirmed on</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today when empty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expiry is not before the start</a:t>
                      </a:r>
                    </a:p>
                  </a:txBody>
                  <a:tcPr marL="54864" marR="54864" marT="27432" marB="27432">
                    <a:solidFill>
                      <a:srgbClr val="E5F5FF"/>
                    </a:solidFill>
                  </a:tcPr>
                </a:tc>
                <a:tc>
                  <a:txBody>
                    <a:bodyPr/>
                    <a:lstStyle/>
                    <a:p>
                      <a:r>
                        <a:rPr sz="850" b="0">
                          <a:solidFill>
                            <a:srgbClr val="4B4B4B"/>
                          </a:solidFill>
                          <a:latin typeface="Arial"/>
                        </a:rPr>
                        <a:t>The hold cover cannot expire before it starts (&lt;date&gt;)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Hold cover dialog</a:t>
                      </a:r>
                    </a:p>
                  </a:txBody>
                  <a:tcPr marL="54864" marR="54864" marT="27432" marB="27432">
                    <a:solidFill>
                      <a:srgbClr val="FFFFFF"/>
                    </a:solidFill>
                  </a:tcPr>
                </a:tc>
                <a:tc>
                  <a:txBody>
                    <a:bodyPr/>
                    <a:lstStyle/>
                    <a:p>
                      <a:r>
                        <a:rPr sz="850" b="0">
                          <a:solidFill>
                            <a:srgbClr val="4B4B4B"/>
                          </a:solidFill>
                          <a:latin typeface="Arial"/>
                        </a:rPr>
                        <a:t>Insurer reference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60 characters</a:t>
                      </a:r>
                    </a:p>
                  </a:txBody>
                  <a:tcPr marL="54864" marR="54864" marT="27432" marB="27432">
                    <a:solidFill>
                      <a:srgbClr val="FFFFFF"/>
                    </a:solidFill>
                  </a:tcPr>
                </a:tc>
                <a:tc>
                  <a:txBody>
                    <a:bodyPr/>
                    <a:lstStyle/>
                    <a:p>
                      <a:r>
                        <a:rPr sz="850" b="0">
                          <a:solidFill>
                            <a:srgbClr val="4B4B4B"/>
                          </a:solidFill>
                          <a:latin typeface="Arial"/>
                        </a:rPr>
                        <a:t>Y to record a confirmation</a:t>
                      </a:r>
                    </a:p>
                  </a:txBody>
                  <a:tcPr marL="54864" marR="54864" marT="27432" marB="27432">
                    <a:solidFill>
                      <a:srgbClr val="FFFFFF"/>
                    </a:solidFill>
                  </a:tcPr>
                </a:tc>
                <a:tc>
                  <a:txBody>
                    <a:bodyPr/>
                    <a:lstStyle/>
                    <a:p>
                      <a:r>
                        <a:rPr sz="850" b="0">
                          <a:solidFill>
                            <a:srgbClr val="4B4B4B"/>
                          </a:solidFill>
                          <a:latin typeface="Arial"/>
                        </a:rPr>
                        <a:t>Needed for a confirmation</a:t>
                      </a:r>
                    </a:p>
                  </a:txBody>
                  <a:tcPr marL="54864" marR="54864" marT="27432" marB="27432">
                    <a:solidFill>
                      <a:srgbClr val="FFFFFF"/>
                    </a:solidFill>
                  </a:tcPr>
                </a:tc>
                <a:tc>
                  <a:txBody>
                    <a:bodyPr/>
                    <a:lstStyle/>
                    <a:p>
                      <a:r>
                        <a:rPr sz="850" b="0">
                          <a:solidFill>
                            <a:srgbClr val="4B4B4B"/>
                          </a:solidFill>
                          <a:latin typeface="Arial"/>
                        </a:rPr>
                        <a:t>Enter the insurer's reference</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Hold cover dialog</a:t>
                      </a:r>
                    </a:p>
                  </a:txBody>
                  <a:tcPr marL="54864" marR="54864" marT="27432" marB="27432">
                    <a:solidFill>
                      <a:srgbClr val="E5F5FF"/>
                    </a:solidFill>
                  </a:tcPr>
                </a:tc>
                <a:tc>
                  <a:txBody>
                    <a:bodyPr/>
                    <a:lstStyle/>
                    <a:p>
                      <a:r>
                        <a:rPr sz="850" b="0">
                          <a:solidFill>
                            <a:srgbClr val="4B4B4B"/>
                          </a:solidFill>
                          <a:latin typeface="Arial"/>
                        </a:rPr>
                        <a:t>Expires on</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the requested expiry when empty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Insurer Returns tab</a:t>
                      </a:r>
                    </a:p>
                  </a:txBody>
                  <a:tcPr marL="54864" marR="54864" marT="27432" marB="27432">
                    <a:solidFill>
                      <a:srgbClr val="FFFFFF"/>
                    </a:solidFill>
                  </a:tcPr>
                </a:tc>
                <a:tc>
                  <a:txBody>
                    <a:bodyPr/>
                    <a:lstStyle/>
                    <a:p>
                      <a:r>
                        <a:rPr sz="850" b="0">
                          <a:solidFill>
                            <a:srgbClr val="4B4B4B"/>
                          </a:solidFill>
                          <a:latin typeface="Arial"/>
                        </a:rPr>
                        <a:t>Insurer returns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Returned, Reason, Insurer Remarks, Slip, Resolution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376</a:t>
            </a:r>
          </a:p>
        </p:txBody>
      </p:sp>
      <p:graphicFrame>
        <p:nvGraphicFramePr>
          <p:cNvPr id="9" name="Table 8"/>
          <p:cNvGraphicFramePr>
            <a:graphicFrameLocks noGrp="1"/>
          </p:cNvGraphicFramePr>
          <p:nvPr/>
        </p:nvGraphicFramePr>
        <p:xfrm>
          <a:off x="548640" y="1325880"/>
          <a:ext cx="11094412" cy="407667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Account</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Record Client Confirmation / Release Direct Payment</a:t>
                      </a:r>
                    </a:p>
                  </a:txBody>
                  <a:tcPr marL="54864" marR="54864" marT="27432" marB="27432">
                    <a:solidFill>
                      <a:srgbClr val="E5F5FF"/>
                    </a:solidFill>
                  </a:tcPr>
                </a:tc>
                <a:tc>
                  <a:txBody>
                    <a:bodyPr/>
                    <a:lstStyle/>
                    <a:p>
                      <a:r>
                        <a:rPr sz="850" b="0">
                          <a:solidFill>
                            <a:srgbClr val="4B4B4B"/>
                          </a:solidFill>
                          <a:latin typeface="Arial"/>
                        </a:rPr>
                        <a:t>BILLING_MANAGE</a:t>
                      </a:r>
                    </a:p>
                  </a:txBody>
                  <a:tcPr marL="54864" marR="54864" marT="27432" marB="27432">
                    <a:solidFill>
                      <a:srgbClr val="E5F5FF"/>
                    </a:solidFill>
                  </a:tcPr>
                </a:tc>
                <a:tc>
                  <a:txBody>
                    <a:bodyPr/>
                    <a:lstStyle/>
                    <a:p>
                      <a:r>
                        <a:rPr sz="850" b="0">
                          <a:solidFill>
                            <a:srgbClr val="4B4B4B"/>
                          </a:solidFill>
                          <a:latin typeface="Arial"/>
                        </a:rPr>
                        <a:t>Awaiting payment; the rule is client confirmation or direct payment</a:t>
                      </a:r>
                    </a:p>
                  </a:txBody>
                  <a:tcPr marL="54864" marR="54864" marT="27432" marB="27432">
                    <a:solidFill>
                      <a:srgbClr val="E5F5FF"/>
                    </a:solidFill>
                  </a:tcPr>
                </a:tc>
                <a:tc>
                  <a:txBody>
                    <a:bodyPr/>
                    <a:lstStyle/>
                    <a:p>
                      <a:r>
                        <a:rPr sz="850" b="0">
                          <a:solidFill>
                            <a:srgbClr val="4B4B4B"/>
                          </a:solidFill>
                          <a:latin typeface="Arial"/>
                        </a:rPr>
                        <a:t>Records the evidence and opens the payment gate</a:t>
                      </a:r>
                    </a:p>
                  </a:txBody>
                  <a:tcPr marL="54864" marR="54864" marT="27432" marB="27432">
                    <a:solidFill>
                      <a:srgbClr val="E5F5FF"/>
                    </a:solidFill>
                  </a:tcPr>
                </a:tc>
                <a:tc>
                  <a:txBody>
                    <a:bodyPr/>
                    <a:lstStyle/>
                    <a:p>
                      <a:r>
                        <a:rPr sz="850" b="0">
                          <a:solidFill>
                            <a:srgbClr val="4B4B4B"/>
                          </a:solidFill>
                          <a:latin typeface="Arial"/>
                        </a:rPr>
                        <a:t>Ready for placement</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220979">
                <a:tc>
                  <a:txBody>
                    <a:bodyPr/>
                    <a:lstStyle/>
                    <a:p>
                      <a:r>
                        <a:rPr sz="850" b="0">
                          <a:solidFill>
                            <a:srgbClr val="4B4B4B"/>
                          </a:solidFill>
                          <a:latin typeface="Arial"/>
                        </a:rPr>
                        <a:t>Generate Placement Slip</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Ready for placement</a:t>
                      </a:r>
                    </a:p>
                  </a:txBody>
                  <a:tcPr marL="54864" marR="54864" marT="27432" marB="27432">
                    <a:solidFill>
                      <a:srgbClr val="FFFFFF"/>
                    </a:solidFill>
                  </a:tcPr>
                </a:tc>
                <a:tc>
                  <a:txBody>
                    <a:bodyPr/>
                    <a:lstStyle/>
                    <a:p>
                      <a:r>
                        <a:rPr sz="850" b="0">
                          <a:solidFill>
                            <a:srgbClr val="4B4B4B"/>
                          </a:solidFill>
                          <a:latin typeface="Arial"/>
                        </a:rPr>
                        <a:t>Opens Generate Placement Slips for this account</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Send / Resend, Regenerate, Download PDF, Download Excel (slip)</a:t>
                      </a:r>
                    </a:p>
                  </a:txBody>
                  <a:tcPr marL="54864" marR="54864" marT="27432" marB="27432">
                    <a:solidFill>
                      <a:srgbClr val="E5F5FF"/>
                    </a:solidFill>
                  </a:tcPr>
                </a:tc>
                <a:tc>
                  <a:txBody>
                    <a:bodyPr/>
                    <a:lstStyle/>
                    <a:p>
                      <a:r>
                        <a:rPr sz="850" b="0">
                          <a:solidFill>
                            <a:srgbClr val="4B4B4B"/>
                          </a:solidFill>
                          <a:latin typeface="Arial"/>
                        </a:rPr>
                        <a:t>PLACEMENT_MANAGE (downloads: every user)</a:t>
                      </a:r>
                    </a:p>
                  </a:txBody>
                  <a:tcPr marL="54864" marR="54864" marT="27432" marB="27432">
                    <a:solidFill>
                      <a:srgbClr val="E5F5FF"/>
                    </a:solidFill>
                  </a:tcPr>
                </a:tc>
                <a:tc>
                  <a:txBody>
                    <a:bodyPr/>
                    <a:lstStyle/>
                    <a:p>
                      <a:r>
                        <a:rPr sz="850" b="0">
                          <a:solidFill>
                            <a:srgbClr val="4B4B4B"/>
                          </a:solidFill>
                          <a:latin typeface="Arial"/>
                        </a:rPr>
                        <a:t>As on Placement Slips (row action menu)</a:t>
                      </a:r>
                    </a:p>
                  </a:txBody>
                  <a:tcPr marL="54864" marR="54864" marT="27432" marB="27432">
                    <a:solidFill>
                      <a:srgbClr val="E5F5FF"/>
                    </a:solidFill>
                  </a:tcPr>
                </a:tc>
                <a:tc>
                  <a:txBody>
                    <a:bodyPr/>
                    <a:lstStyle/>
                    <a:p>
                      <a:r>
                        <a:rPr sz="850" b="0">
                          <a:solidFill>
                            <a:srgbClr val="4B4B4B"/>
                          </a:solidFill>
                          <a:latin typeface="Arial"/>
                        </a:rPr>
                        <a:t>As on Placement Slips</a:t>
                      </a:r>
                    </a:p>
                  </a:txBody>
                  <a:tcPr marL="54864" marR="54864" marT="27432" marB="27432">
                    <a:solidFill>
                      <a:srgbClr val="E5F5FF"/>
                    </a:solidFill>
                  </a:tcPr>
                </a:tc>
                <a:tc>
                  <a:txBody>
                    <a:bodyPr/>
                    <a:lstStyle/>
                    <a:p>
                      <a:r>
                        <a:rPr sz="850" b="0">
                          <a:solidFill>
                            <a:srgbClr val="4B4B4B"/>
                          </a:solidFill>
                          <a:latin typeface="Arial"/>
                        </a:rPr>
                        <a:t>Placed (first send)</a:t>
                      </a:r>
                    </a:p>
                  </a:txBody>
                  <a:tcPr marL="54864" marR="54864" marT="27432" marB="27432">
                    <a:solidFill>
                      <a:srgbClr val="E5F5FF"/>
                    </a:solidFill>
                  </a:tcPr>
                </a:tc>
                <a:tc>
                  <a:txBody>
                    <a:bodyPr/>
                    <a:lstStyle/>
                    <a:p>
                      <a:r>
                        <a:rPr sz="850" b="0">
                          <a:solidFill>
                            <a:srgbClr val="4B4B4B"/>
                          </a:solidFill>
                          <a:latin typeface="Arial"/>
                        </a:rPr>
                        <a:t>E-mail to the insurer</a:t>
                      </a:r>
                    </a:p>
                  </a:txBody>
                  <a:tcPr marL="54864" marR="54864" marT="27432" marB="27432">
                    <a:solidFill>
                      <a:srgbClr val="E5F5FF"/>
                    </a:solidFill>
                  </a:tcPr>
                </a:tc>
              </a:tr>
              <a:tr h="480057">
                <a:tc>
                  <a:txBody>
                    <a:bodyPr/>
                    <a:lstStyle/>
                    <a:p>
                      <a:r>
                        <a:rPr sz="850" b="0">
                          <a:solidFill>
                            <a:srgbClr val="4B4B4B"/>
                          </a:solidFill>
                          <a:latin typeface="Arial"/>
                        </a:rPr>
                        <a:t>Request Hold Cover</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Ready for placement, placed or returned by insurer; no open hold cover</a:t>
                      </a:r>
                    </a:p>
                  </a:txBody>
                  <a:tcPr marL="54864" marR="54864" marT="27432" marB="27432">
                    <a:solidFill>
                      <a:srgbClr val="FFFFFF"/>
                    </a:solidFill>
                  </a:tcPr>
                </a:tc>
                <a:tc>
                  <a:txBody>
                    <a:bodyPr/>
                    <a:lstStyle/>
                    <a:p>
                      <a:r>
                        <a:rPr sz="850" b="0">
                          <a:solidFill>
                            <a:srgbClr val="4B4B4B"/>
                          </a:solidFill>
                          <a:latin typeface="Arial"/>
                        </a:rPr>
                        <a:t>E-mails the hold cover request (PDF) to the insurer branch's placement address</a:t>
                      </a:r>
                    </a:p>
                  </a:txBody>
                  <a:tcPr marL="54864" marR="54864" marT="27432" marB="27432">
                    <a:solidFill>
                      <a:srgbClr val="FFFFFF"/>
                    </a:solidFill>
                  </a:tcPr>
                </a:tc>
                <a:tc>
                  <a:txBody>
                    <a:bodyPr/>
                    <a:lstStyle/>
                    <a:p>
                      <a:r>
                        <a:rPr sz="850" b="0">
                          <a:solidFill>
                            <a:srgbClr val="4B4B4B"/>
                          </a:solidFill>
                          <a:latin typeface="Arial"/>
                        </a:rPr>
                        <a:t>Unchanged (hold cover Requested)</a:t>
                      </a:r>
                    </a:p>
                  </a:txBody>
                  <a:tcPr marL="54864" marR="54864" marT="27432" marB="27432">
                    <a:solidFill>
                      <a:srgbClr val="FFFFFF"/>
                    </a:solidFill>
                  </a:tcPr>
                </a:tc>
                <a:tc>
                  <a:txBody>
                    <a:bodyPr/>
                    <a:lstStyle/>
                    <a:p>
                      <a:r>
                        <a:rPr sz="850" b="0">
                          <a:solidFill>
                            <a:srgbClr val="4B4B4B"/>
                          </a:solidFill>
                          <a:latin typeface="Arial"/>
                        </a:rPr>
                        <a:t>E-mail to the insurer</a:t>
                      </a:r>
                    </a:p>
                  </a:txBody>
                  <a:tcPr marL="54864" marR="54864" marT="27432" marB="27432">
                    <a:solidFill>
                      <a:srgbClr val="FFFFFF"/>
                    </a:solidFill>
                  </a:tcPr>
                </a:tc>
              </a:tr>
              <a:tr h="350518">
                <a:tc>
                  <a:txBody>
                    <a:bodyPr/>
                    <a:lstStyle/>
                    <a:p>
                      <a:r>
                        <a:rPr sz="850" b="0">
                          <a:solidFill>
                            <a:srgbClr val="4B4B4B"/>
                          </a:solidFill>
                          <a:latin typeface="Arial"/>
                        </a:rPr>
                        <a:t>Record Confirmation</a:t>
                      </a:r>
                    </a:p>
                  </a:txBody>
                  <a:tcPr marL="54864" marR="54864" marT="27432" marB="27432">
                    <a:solidFill>
                      <a:srgbClr val="E5F5FF"/>
                    </a:solidFill>
                  </a:tcPr>
                </a:tc>
                <a:tc>
                  <a:txBody>
                    <a:bodyPr/>
                    <a:lstStyle/>
                    <a:p>
                      <a:r>
                        <a:rPr sz="850" b="0">
                          <a:solidFill>
                            <a:srgbClr val="4B4B4B"/>
                          </a:solidFill>
                          <a:latin typeface="Arial"/>
                        </a:rPr>
                        <a:t>PLACEMENT_MANAGE or ACCOUNT_MAINTAIN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Records the insurer's confirmation, reference and expiry (creates the hold cover when none was requested)</a:t>
                      </a:r>
                    </a:p>
                  </a:txBody>
                  <a:tcPr marL="54864" marR="54864" marT="27432" marB="27432">
                    <a:solidFill>
                      <a:srgbClr val="E5F5FF"/>
                    </a:solidFill>
                  </a:tcPr>
                </a:tc>
                <a:tc>
                  <a:txBody>
                    <a:bodyPr/>
                    <a:lstStyle/>
                    <a:p>
                      <a:r>
                        <a:rPr sz="850" b="0">
                          <a:solidFill>
                            <a:srgbClr val="4B4B4B"/>
                          </a:solidFill>
                          <a:latin typeface="Arial"/>
                        </a:rPr>
                        <a:t>Unchanged (hold cover Confirmed)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Record Decline</a:t>
                      </a:r>
                    </a:p>
                  </a:txBody>
                  <a:tcPr marL="54864" marR="54864" marT="27432" marB="27432">
                    <a:solidFill>
                      <a:srgbClr val="FFFFFF"/>
                    </a:solidFill>
                  </a:tcPr>
                </a:tc>
                <a:tc>
                  <a:txBody>
                    <a:bodyPr/>
                    <a:lstStyle/>
                    <a:p>
                      <a:r>
                        <a:rPr sz="850" b="0">
                          <a:solidFill>
                            <a:srgbClr val="4B4B4B"/>
                          </a:solidFill>
                          <a:latin typeface="Arial"/>
                        </a:rPr>
                        <a:t>PLACEMENT_MANAGE or ACCOUNT_MAINTAIN</a:t>
                      </a:r>
                    </a:p>
                  </a:txBody>
                  <a:tcPr marL="54864" marR="54864" marT="27432" marB="27432">
                    <a:solidFill>
                      <a:srgbClr val="FFFFFF"/>
                    </a:solidFill>
                  </a:tcPr>
                </a:tc>
                <a:tc>
                  <a:txBody>
                    <a:bodyPr/>
                    <a:lstStyle/>
                    <a:p>
                      <a:r>
                        <a:rPr sz="850" b="0">
                          <a:solidFill>
                            <a:srgbClr val="4B4B4B"/>
                          </a:solidFill>
                          <a:latin typeface="Arial"/>
                        </a:rPr>
                        <a:t>Hold cover requested or confirmed</a:t>
                      </a:r>
                    </a:p>
                  </a:txBody>
                  <a:tcPr marL="54864" marR="54864" marT="27432" marB="27432">
                    <a:solidFill>
                      <a:srgbClr val="FFFFFF"/>
                    </a:solidFill>
                  </a:tcPr>
                </a:tc>
                <a:tc>
                  <a:txBody>
                    <a:bodyPr/>
                    <a:lstStyle/>
                    <a:p>
                      <a:r>
                        <a:rPr sz="850" b="0">
                          <a:solidFill>
                            <a:srgbClr val="4B4B4B"/>
                          </a:solidFill>
                          <a:latin typeface="Arial"/>
                        </a:rPr>
                        <a:t>Records the insurer's decline</a:t>
                      </a:r>
                    </a:p>
                  </a:txBody>
                  <a:tcPr marL="54864" marR="54864" marT="27432" marB="27432">
                    <a:solidFill>
                      <a:srgbClr val="FFFFFF"/>
                    </a:solidFill>
                  </a:tcPr>
                </a:tc>
                <a:tc>
                  <a:txBody>
                    <a:bodyPr/>
                    <a:lstStyle/>
                    <a:p>
                      <a:r>
                        <a:rPr sz="850" b="0">
                          <a:solidFill>
                            <a:srgbClr val="4B4B4B"/>
                          </a:solidFill>
                          <a:latin typeface="Arial"/>
                        </a:rPr>
                        <a:t>Unchanged (hold cover Declined)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Record Insurer Return</a:t>
                      </a:r>
                    </a:p>
                  </a:txBody>
                  <a:tcPr marL="54864" marR="54864" marT="27432" marB="27432">
                    <a:solidFill>
                      <a:srgbClr val="E5F5FF"/>
                    </a:solidFill>
                  </a:tcPr>
                </a:tc>
                <a:tc>
                  <a:txBody>
                    <a:bodyPr/>
                    <a:lstStyle/>
                    <a:p>
                      <a:r>
                        <a:rPr sz="850" b="0">
                          <a:solidFill>
                            <a:srgbClr val="4B4B4B"/>
                          </a:solidFill>
                          <a:latin typeface="Arial"/>
                        </a:rPr>
                        <a:t>PLACEMENT_MANAGE</a:t>
                      </a:r>
                    </a:p>
                  </a:txBody>
                  <a:tcPr marL="54864" marR="54864" marT="27432" marB="27432">
                    <a:solidFill>
                      <a:srgbClr val="E5F5FF"/>
                    </a:solidFill>
                  </a:tcPr>
                </a:tc>
                <a:tc>
                  <a:txBody>
                    <a:bodyPr/>
                    <a:lstStyle/>
                    <a:p>
                      <a:r>
                        <a:rPr sz="850" b="0">
                          <a:solidFill>
                            <a:srgbClr val="4B4B4B"/>
                          </a:solidFill>
                          <a:latin typeface="Arial"/>
                        </a:rPr>
                        <a:t>Placed</a:t>
                      </a:r>
                    </a:p>
                  </a:txBody>
                  <a:tcPr marL="54864" marR="54864" marT="27432" marB="27432">
                    <a:solidFill>
                      <a:srgbClr val="E5F5FF"/>
                    </a:solidFill>
                  </a:tcPr>
                </a:tc>
                <a:tc>
                  <a:txBody>
                    <a:bodyPr/>
                    <a:lstStyle/>
                    <a:p>
                      <a:r>
                        <a:rPr sz="850" b="0">
                          <a:solidFill>
                            <a:srgbClr val="4B4B4B"/>
                          </a:solidFill>
                          <a:latin typeface="Arial"/>
                        </a:rPr>
                        <a:t>Asks for the return reason and the insurer's remarks</a:t>
                      </a:r>
                    </a:p>
                  </a:txBody>
                  <a:tcPr marL="54864" marR="54864" marT="27432" marB="27432">
                    <a:solidFill>
                      <a:srgbClr val="E5F5FF"/>
                    </a:solidFill>
                  </a:tcPr>
                </a:tc>
                <a:tc>
                  <a:txBody>
                    <a:bodyPr/>
                    <a:lstStyle/>
                    <a:p>
                      <a:r>
                        <a:rPr sz="850" b="0">
                          <a:solidFill>
                            <a:srgbClr val="4B4B4B"/>
                          </a:solidFill>
                          <a:latin typeface="Arial"/>
                        </a:rPr>
                        <a:t>Returned by insurer</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Resubmit for Placement</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Returned by insurer</a:t>
                      </a:r>
                    </a:p>
                  </a:txBody>
                  <a:tcPr marL="54864" marR="54864" marT="27432" marB="27432">
                    <a:solidFill>
                      <a:srgbClr val="FFFFFF"/>
                    </a:solidFill>
                  </a:tcPr>
                </a:tc>
                <a:tc>
                  <a:txBody>
                    <a:bodyPr/>
                    <a:lstStyle/>
                    <a:p>
                      <a:r>
                        <a:rPr sz="850" b="0">
                          <a:solidFill>
                            <a:srgbClr val="4B4B4B"/>
                          </a:solidFill>
                          <a:latin typeface="Arial"/>
                        </a:rPr>
                        <a:t>Asks for a comment; the corrected account goes back to placement (a new slip version follows)</a:t>
                      </a:r>
                    </a:p>
                  </a:txBody>
                  <a:tcPr marL="54864" marR="54864" marT="27432" marB="27432">
                    <a:solidFill>
                      <a:srgbClr val="FFFFFF"/>
                    </a:solidFill>
                  </a:tcPr>
                </a:tc>
                <a:tc>
                  <a:txBody>
                    <a:bodyPr/>
                    <a:lstStyle/>
                    <a:p>
                      <a:r>
                        <a:rPr sz="850" b="0">
                          <a:solidFill>
                            <a:srgbClr val="4B4B4B"/>
                          </a:solidFill>
                          <a:latin typeface="Arial"/>
                        </a:rPr>
                        <a:t>Ready for placement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Return To Marketing</a:t>
                      </a:r>
                    </a:p>
                  </a:txBody>
                  <a:tcPr marL="54864" marR="54864" marT="27432" marB="27432">
                    <a:solidFill>
                      <a:srgbClr val="E5F5FF"/>
                    </a:solidFill>
                  </a:tcPr>
                </a:tc>
                <a:tc>
                  <a:txBody>
                    <a:bodyPr/>
                    <a:lstStyle/>
                    <a:p>
                      <a:r>
                        <a:rPr sz="850" b="0">
                          <a:solidFill>
                            <a:srgbClr val="4B4B4B"/>
                          </a:solidFill>
                          <a:latin typeface="Arial"/>
                        </a:rPr>
                        <a:t>PLACEMENT_MANAGE</a:t>
                      </a:r>
                    </a:p>
                  </a:txBody>
                  <a:tcPr marL="54864" marR="54864" marT="27432" marB="27432">
                    <a:solidFill>
                      <a:srgbClr val="E5F5FF"/>
                    </a:solidFill>
                  </a:tcPr>
                </a:tc>
                <a:tc>
                  <a:txBody>
                    <a:bodyPr/>
                    <a:lstStyle/>
                    <a:p>
                      <a:r>
                        <a:rPr sz="850" b="0">
                          <a:solidFill>
                            <a:srgbClr val="4B4B4B"/>
                          </a:solidFill>
                          <a:latin typeface="Arial"/>
                        </a:rPr>
                        <a:t>Ready for placement or returned by insurer</a:t>
                      </a:r>
                    </a:p>
                  </a:txBody>
                  <a:tcPr marL="54864" marR="54864" marT="27432" marB="27432">
                    <a:solidFill>
                      <a:srgbClr val="E5F5FF"/>
                    </a:solidFill>
                  </a:tcPr>
                </a:tc>
                <a:tc>
                  <a:txBody>
                    <a:bodyPr/>
                    <a:lstStyle/>
                    <a:p>
                      <a:r>
                        <a:rPr sz="850" b="0">
                          <a:solidFill>
                            <a:srgbClr val="4B4B4B"/>
                          </a:solidFill>
                          <a:latin typeface="Arial"/>
                        </a:rPr>
                        <a:t>Asks for the return reason and a comment</a:t>
                      </a:r>
                    </a:p>
                  </a:txBody>
                  <a:tcPr marL="54864" marR="54864" marT="27432" marB="27432">
                    <a:solidFill>
                      <a:srgbClr val="E5F5FF"/>
                    </a:solidFill>
                  </a:tcPr>
                </a:tc>
                <a:tc>
                  <a:txBody>
                    <a:bodyPr/>
                    <a:lstStyle/>
                    <a:p>
                      <a:r>
                        <a:rPr sz="850" b="0">
                          <a:solidFill>
                            <a:srgbClr val="4B4B4B"/>
                          </a:solidFill>
                          <a:latin typeface="Arial"/>
                        </a:rPr>
                        <a:t>Returned to Marketing</a:t>
                      </a:r>
                    </a:p>
                  </a:txBody>
                  <a:tcPr marL="54864" marR="54864" marT="27432" marB="27432">
                    <a:solidFill>
                      <a:srgbClr val="E5F5FF"/>
                    </a:solidFill>
                  </a:tcPr>
                </a:tc>
                <a:tc>
                  <a:txBody>
                    <a:bodyPr/>
                    <a:lstStyle/>
                    <a:p>
                      <a:r>
                        <a:rPr sz="850" b="0">
                          <a:solidFill>
                            <a:srgbClr val="4B4B4B"/>
                          </a:solidFill>
                          <a:latin typeface="Arial"/>
                        </a:rPr>
                        <a:t>Workflow notice to the Account Officer</a:t>
                      </a:r>
                    </a:p>
                  </a:txBody>
                  <a:tcPr marL="54864" marR="54864" marT="27432" marB="27432">
                    <a:solidFill>
                      <a:srgbClr val="E5F5FF"/>
                    </a:solidFill>
                  </a:tcPr>
                </a:tc>
              </a:tr>
              <a:tr h="350518">
                <a:tc>
                  <a:txBody>
                    <a:bodyPr/>
                    <a:lstStyle/>
                    <a:p>
                      <a:r>
                        <a:rPr sz="850" b="0">
                          <a:solidFill>
                            <a:srgbClr val="4B4B4B"/>
                          </a:solidFill>
                          <a:latin typeface="Arial"/>
                        </a:rPr>
                        <a:t>Cancel Placement / Reactivate</a:t>
                      </a:r>
                    </a:p>
                  </a:txBody>
                  <a:tcPr marL="54864" marR="54864" marT="27432" marB="27432">
                    <a:solidFill>
                      <a:srgbClr val="FFFFFF"/>
                    </a:solidFill>
                  </a:tcPr>
                </a:tc>
                <a:tc>
                  <a:txBody>
                    <a:bodyPr/>
                    <a:lstStyle/>
                    <a:p>
                      <a:r>
                        <a:rPr sz="850" b="0">
                          <a:solidFill>
                            <a:srgbClr val="4B4B4B"/>
                          </a:solidFill>
                          <a:latin typeface="Arial"/>
                        </a:rPr>
                        <a:t>PLACEMENT_MANAGE (Reactivate also ACCOUNT_MAINTAIN)</a:t>
                      </a:r>
                    </a:p>
                  </a:txBody>
                  <a:tcPr marL="54864" marR="54864" marT="27432" marB="27432">
                    <a:solidFill>
                      <a:srgbClr val="FFFFFF"/>
                    </a:solidFill>
                  </a:tcPr>
                </a:tc>
                <a:tc>
                  <a:txBody>
                    <a:bodyPr/>
                    <a:lstStyle/>
                    <a:p>
                      <a:r>
                        <a:rPr sz="850" b="0">
                          <a:solidFill>
                            <a:srgbClr val="4B4B4B"/>
                          </a:solidFill>
                          <a:latin typeface="Arial"/>
                        </a:rPr>
                        <a:t>As on the workbench</a:t>
                      </a:r>
                    </a:p>
                  </a:txBody>
                  <a:tcPr marL="54864" marR="54864" marT="27432" marB="27432">
                    <a:solidFill>
                      <a:srgbClr val="FFFFFF"/>
                    </a:solidFill>
                  </a:tcPr>
                </a:tc>
                <a:tc>
                  <a:txBody>
                    <a:bodyPr/>
                    <a:lstStyle/>
                    <a:p>
                      <a:r>
                        <a:rPr sz="850" b="0">
                          <a:solidFill>
                            <a:srgbClr val="4B4B4B"/>
                          </a:solidFill>
                          <a:latin typeface="Arial"/>
                        </a:rPr>
                        <a:t>As on the workbench</a:t>
                      </a:r>
                    </a:p>
                  </a:txBody>
                  <a:tcPr marL="54864" marR="54864" marT="27432" marB="27432">
                    <a:solidFill>
                      <a:srgbClr val="FFFFFF"/>
                    </a:solidFill>
                  </a:tcPr>
                </a:tc>
                <a:tc>
                  <a:txBody>
                    <a:bodyPr/>
                    <a:lstStyle/>
                    <a:p>
                      <a:r>
                        <a:rPr sz="850" b="0">
                          <a:solidFill>
                            <a:srgbClr val="4B4B4B"/>
                          </a:solidFill>
                          <a:latin typeface="Arial"/>
                        </a:rPr>
                        <a:t>Placement cancelled / Ready for placement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377</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payment gate rule is chosen by segment and line; CBG Fire and Motor must be paid (payment matched); Other Lines need a client confirmation; direct payment accounts are released at validation (FR-NB-092).</a:t>
                      </a:r>
                    </a:p>
                  </a:txBody>
                  <a:tcPr marL="54864" marR="54864" marT="27432" marB="27432">
                    <a:solidFill>
                      <a:srgbClr val="FFFFFF"/>
                    </a:solidFill>
                  </a:tcPr>
                </a:tc>
              </a:tr>
              <a:tr h="243840">
                <a:tc>
                  <a:txBody>
                    <a:bodyPr/>
                    <a:lstStyle/>
                    <a:p>
                      <a:r>
                        <a:rPr sz="1000" b="0">
                          <a:solidFill>
                            <a:srgbClr val="4B4B4B"/>
                          </a:solidFill>
                          <a:latin typeface="Arial"/>
                        </a:rPr>
                        <a:t>A hold cover is requested for HOLD_COVER_DAYS (30); the HOLD_COVER_EXPIRY job alerts Processing HOLD_COVER_ALERT_DAYS (5) before expiry and expires it (FR-NB-082, FR-NB-083).</a:t>
                      </a:r>
                    </a:p>
                  </a:txBody>
                  <a:tcPr marL="54864" marR="54864" marT="27432" marB="27432">
                    <a:solidFill>
                      <a:srgbClr val="E5F5FF"/>
                    </a:solidFill>
                  </a:tcPr>
                </a:tc>
              </a:tr>
              <a:tr h="243840">
                <a:tc>
                  <a:txBody>
                    <a:bodyPr/>
                    <a:lstStyle/>
                    <a:p>
                      <a:r>
                        <a:rPr sz="1000" b="0">
                          <a:solidFill>
                            <a:srgbClr val="4B4B4B"/>
                          </a:solidFill>
                          <a:latin typeface="Arial"/>
                        </a:rPr>
                        <a:t>A slip resent after a return is a new version; the old version is kept as superseded (FR-NB-081, FR-NB-084).</a:t>
                      </a:r>
                    </a:p>
                  </a:txBody>
                  <a:tcPr marL="54864" marR="54864" marT="27432" marB="27432">
                    <a:solidFill>
                      <a:srgbClr val="FFFFFF"/>
                    </a:solidFill>
                  </a:tcPr>
                </a:tc>
              </a:tr>
            </a:tbl>
          </a:graphicData>
        </a:graphic>
      </p:graphicFrame>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378</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WT-C step 9</a:t>
                      </a:r>
                    </a:p>
                  </a:txBody>
                  <a:tcPr marL="54864" marR="54864" marT="27432" marB="27432">
                    <a:solidFill>
                      <a:srgbClr val="FFFFFF"/>
                    </a:solidFill>
                  </a:tcPr>
                </a:tc>
                <a:tc>
                  <a:txBody>
                    <a:bodyPr/>
                    <a:lstStyle/>
                    <a:p>
                      <a:r>
                        <a:rPr sz="900" b="0">
                          <a:solidFill>
                            <a:srgbClr val="4B4B4B"/>
                          </a:solidFill>
                          <a:latin typeface="Arial"/>
                        </a:rPr>
                        <a:t>Clicks Resubmit for Placement, then Generate Placement Slip, and sends the new slip from the Placement Slips tab</a:t>
                      </a:r>
                    </a:p>
                  </a:txBody>
                  <a:tcPr marL="54864" marR="54864" marT="27432" marB="27432">
                    <a:solidFill>
                      <a:srgbClr val="FFFFFF"/>
                    </a:solidFill>
                  </a:tcPr>
                </a:tc>
                <a:tc>
                  <a:txBody>
                    <a:bodyPr/>
                    <a:lstStyle/>
                    <a:p>
                      <a:r>
                        <a:rPr sz="900" b="0">
                          <a:solidFill>
                            <a:srgbClr val="4B4B4B"/>
                          </a:solidFill>
                          <a:latin typeface="Arial"/>
                        </a:rPr>
                        <a:t>SCR-NB-19_wt-c-step-09.png</a:t>
                      </a:r>
                    </a:p>
                  </a:txBody>
                  <a:tcPr marL="54864" marR="54864" marT="27432" marB="27432">
                    <a:solidFill>
                      <a:srgbClr val="FFFFFF"/>
                    </a:solidFill>
                  </a:tcPr>
                </a:tc>
              </a:tr>
              <a:tr h="228600">
                <a:tc>
                  <a:txBody>
                    <a:bodyPr/>
                    <a:lstStyle/>
                    <a:p>
                      <a:r>
                        <a:rPr sz="900" b="0">
                          <a:solidFill>
                            <a:srgbClr val="4B4B4B"/>
                          </a:solidFill>
                          <a:latin typeface="Arial"/>
                        </a:rPr>
                        <a:t>Rejected or returned</a:t>
                      </a:r>
                    </a:p>
                  </a:txBody>
                  <a:tcPr marL="54864" marR="54864" marT="27432" marB="27432">
                    <a:solidFill>
                      <a:srgbClr val="E5F5FF"/>
                    </a:solidFill>
                  </a:tcPr>
                </a:tc>
                <a:tc>
                  <a:txBody>
                    <a:bodyPr/>
                    <a:lstStyle/>
                    <a:p>
                      <a:r>
                        <a:rPr sz="900" b="0">
                          <a:solidFill>
                            <a:srgbClr val="4B4B4B"/>
                          </a:solidFill>
                          <a:latin typeface="Arial"/>
                        </a:rPr>
                        <a:t>WT-C step 8</a:t>
                      </a:r>
                    </a:p>
                  </a:txBody>
                  <a:tcPr marL="54864" marR="54864" marT="27432" marB="27432">
                    <a:solidFill>
                      <a:srgbClr val="E5F5FF"/>
                    </a:solidFill>
                  </a:tcPr>
                </a:tc>
                <a:tc>
                  <a:txBody>
                    <a:bodyPr/>
                    <a:lstStyle/>
                    <a:p>
                      <a:r>
                        <a:rPr sz="900" b="0">
                          <a:solidFill>
                            <a:srgbClr val="4B4B4B"/>
                          </a:solidFill>
                          <a:latin typeface="Arial"/>
                        </a:rPr>
                        <a:t>Records an insurer return on a placed account with the reason Additional insurer requirements</a:t>
                      </a:r>
                    </a:p>
                  </a:txBody>
                  <a:tcPr marL="54864" marR="54864" marT="27432" marB="27432">
                    <a:solidFill>
                      <a:srgbClr val="E5F5FF"/>
                    </a:solidFill>
                  </a:tcPr>
                </a:tc>
                <a:tc>
                  <a:txBody>
                    <a:bodyPr/>
                    <a:lstStyle/>
                    <a:p>
                      <a:r>
                        <a:rPr sz="900" b="0">
                          <a:solidFill>
                            <a:srgbClr val="4B4B4B"/>
                          </a:solidFill>
                          <a:latin typeface="Arial"/>
                        </a:rPr>
                        <a:t>SCR-NB-19_wt-c-step-08.png</a:t>
                      </a:r>
                    </a:p>
                  </a:txBody>
                  <a:tcPr marL="54864" marR="54864" marT="27432" marB="27432">
                    <a:solidFill>
                      <a:srgbClr val="E5F5FF"/>
                    </a:solidFill>
                  </a:tcPr>
                </a:tc>
              </a:tr>
            </a:tbl>
          </a:graphicData>
        </a:graphic>
      </p:graphicFrame>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Placement, Payment Gate tab of an Other Lines account (part 1 of 3)</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Placement, Payment Gate tab of an Other Lines account (part 2 of 3)</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5.png"/>
          <p:cNvPicPr>
            <a:picLocks noChangeAspect="1"/>
          </p:cNvPicPr>
          <p:nvPr/>
        </p:nvPicPr>
        <p:blipFill>
          <a:blip r:embed="rId3"/>
          <a:stretch>
            <a:fillRect/>
          </a:stretch>
        </p:blipFill>
        <p:spPr>
          <a:xfrm>
            <a:off x="548640" y="1261872"/>
            <a:ext cx="11094415" cy="43325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Placement, Payment Gate tab of an Other Lines account (part 3 of 3)</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Cover tab (part 1 of 3)</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7.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Cover tab (part 2 of 3)</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SCR-NB-19 Account Placement: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8.png"/>
          <p:cNvPicPr>
            <a:picLocks noChangeAspect="1"/>
          </p:cNvPicPr>
          <p:nvPr/>
        </p:nvPicPr>
        <p:blipFill>
          <a:blip r:embed="rId3"/>
          <a:stretch>
            <a:fillRect/>
          </a:stretch>
        </p:blipFill>
        <p:spPr>
          <a:xfrm>
            <a:off x="548640" y="1261872"/>
            <a:ext cx="11094415" cy="32326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Cover tab (part 3 of 3)</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SCR-NB-19 Account Placement: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385</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19-03-confirm.png"/>
          <p:cNvPicPr>
            <a:picLocks noChangeAspect="1"/>
          </p:cNvPicPr>
          <p:nvPr/>
        </p:nvPicPr>
        <p:blipFill>
          <a:blip r:embed="rId3"/>
          <a:stretch>
            <a:fillRect/>
          </a:stretch>
        </p:blipFill>
        <p:spPr>
          <a:xfrm>
            <a:off x="548640" y="1261872"/>
            <a:ext cx="11094415" cy="4687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Client Confirmation dialog</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graphicFrame>
        <p:nvGraphicFramePr>
          <p:cNvPr id="10" name="Table 9"/>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placement slip version by insurer branch with its accounts: download the PDF and Excel files, send or resend the slip to the insurer's placement mailbox and regenerate it after a return.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Placement Slips</a:t>
                      </a:r>
                    </a:p>
                    <a:p>
                      <a:r>
                        <a:rPr sz="950" b="0">
                          <a:solidFill>
                            <a:srgbClr val="4B4B4B"/>
                          </a:solidFill>
                          <a:latin typeface="Arial"/>
                        </a:rPr>
                        <a:t>Account Placement › Placement Slips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FR-NB-080, FR-NB-081, FR-NB-087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slip sent to an insurer is traceable by version, recipient and time.</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387</a:t>
            </a:r>
          </a:p>
        </p:txBody>
      </p:sp>
      <p:graphicFrame>
        <p:nvGraphicFramePr>
          <p:cNvPr id="9" name="Table 8"/>
          <p:cNvGraphicFramePr>
            <a:graphicFrameLocks noGrp="1"/>
          </p:cNvGraphicFramePr>
          <p:nvPr/>
        </p:nvGraphicFramePr>
        <p:xfrm>
          <a:off x="548640" y="1325880"/>
          <a:ext cx="11094411" cy="311656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Slips / To Send / Sent / Superseded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Slip</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PL-yyyy-nnnnnn with its version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Generated, Sent, Superseded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Insurer / Branch</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Insurer and branch 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ARNs, each opening the account placement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Time sent, recipients and number of sends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Actions</a:t>
                      </a:r>
                    </a:p>
                  </a:txBody>
                  <a:tcPr marL="54864" marR="54864" marT="27432" marB="27432">
                    <a:solidFill>
                      <a:srgbClr val="FFFFFF"/>
                    </a:solidFill>
                  </a:tcPr>
                </a:tc>
                <a:tc>
                  <a:txBody>
                    <a:bodyPr/>
                    <a:lstStyle/>
                    <a:p>
                      <a:r>
                        <a:rPr sz="850" b="0">
                          <a:solidFill>
                            <a:srgbClr val="4B4B4B"/>
                          </a:solidFill>
                          <a:latin typeface="Arial"/>
                        </a:rPr>
                        <a:t>Row action menu</a:t>
                      </a:r>
                    </a:p>
                  </a:txBody>
                  <a:tcPr marL="54864" marR="54864" marT="27432" marB="27432">
                    <a:solidFill>
                      <a:srgbClr val="FFFFFF"/>
                    </a:solidFill>
                  </a:tcPr>
                </a:tc>
                <a:tc>
                  <a:txBody>
                    <a:bodyPr/>
                    <a:lstStyle/>
                    <a:p>
                      <a:r>
                        <a:rPr sz="850" b="0">
                          <a:solidFill>
                            <a:srgbClr val="4B4B4B"/>
                          </a:solidFill>
                          <a:latin typeface="Arial"/>
                        </a:rPr>
                        <a:t>Download PDF, Download Excel, Send or Resend, Regenerate: the actions the user may take now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To, Cc, Subject, Message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As on Send via Email</a:t>
                      </a:r>
                    </a:p>
                  </a:txBody>
                  <a:tcPr marL="54864" marR="54864" marT="27432" marB="27432">
                    <a:solidFill>
                      <a:srgbClr val="E5F5FF"/>
                    </a:solidFill>
                  </a:tcPr>
                </a:tc>
                <a:tc>
                  <a:txBody>
                    <a:bodyPr/>
                    <a:lstStyle/>
                    <a:p>
                      <a:r>
                        <a:rPr sz="850" b="0">
                          <a:solidFill>
                            <a:srgbClr val="4B4B4B"/>
                          </a:solidFill>
                          <a:latin typeface="Arial"/>
                        </a:rPr>
                        <a:t>To, Subject and Message Y</a:t>
                      </a:r>
                    </a:p>
                  </a:txBody>
                  <a:tcPr marL="54864" marR="54864" marT="27432" marB="27432">
                    <a:solidFill>
                      <a:srgbClr val="E5F5FF"/>
                    </a:solidFill>
                  </a:tcPr>
                </a:tc>
                <a:tc>
                  <a:txBody>
                    <a:bodyPr/>
                    <a:lstStyle/>
                    <a:p>
                      <a:r>
                        <a:rPr sz="850" b="0">
                          <a:solidFill>
                            <a:srgbClr val="4B4B4B"/>
                          </a:solidFill>
                          <a:latin typeface="Arial"/>
                        </a:rPr>
                        <a:t>At least one valid address; the slip is not superseded</a:t>
                      </a:r>
                    </a:p>
                  </a:txBody>
                  <a:tcPr marL="54864" marR="54864" marT="27432" marB="27432">
                    <a:solidFill>
                      <a:srgbClr val="E5F5FF"/>
                    </a:solidFill>
                  </a:tcPr>
                </a:tc>
                <a:tc>
                  <a:txBody>
                    <a:bodyPr/>
                    <a:lstStyle/>
                    <a:p>
                      <a:r>
                        <a:rPr sz="850" b="0">
                          <a:solidFill>
                            <a:srgbClr val="4B4B4B"/>
                          </a:solidFill>
                          <a:latin typeface="Arial"/>
                        </a:rPr>
                        <a:t>Slip &lt;slip&gt; v&lt;version&gt; was replaced by a new version</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Send dialog</a:t>
                      </a:r>
                    </a:p>
                  </a:txBody>
                  <a:tcPr marL="54864" marR="54864" marT="27432" marB="27432">
                    <a:solidFill>
                      <a:srgbClr val="FFFFFF"/>
                    </a:solidFill>
                  </a:tcPr>
                </a:tc>
                <a:tc>
                  <a:txBody>
                    <a:bodyPr/>
                    <a:lstStyle/>
                    <a:p>
                      <a:r>
                        <a:rPr sz="850" b="0">
                          <a:solidFill>
                            <a:srgbClr val="4B4B4B"/>
                          </a:solidFill>
                          <a:latin typeface="Arial"/>
                        </a:rPr>
                        <a:t>Password-protect the attachments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Optional for insurers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388</a:t>
            </a:r>
          </a:p>
        </p:txBody>
      </p:sp>
      <p:graphicFrame>
        <p:nvGraphicFramePr>
          <p:cNvPr id="9" name="Table 8"/>
          <p:cNvGraphicFramePr>
            <a:graphicFrameLocks noGrp="1"/>
          </p:cNvGraphicFramePr>
          <p:nvPr/>
        </p:nvGraphicFramePr>
        <p:xfrm>
          <a:off x="548640" y="1325880"/>
          <a:ext cx="11094412" cy="140207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Download PDF / Download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 (row action menu)</a:t>
                      </a:r>
                    </a:p>
                  </a:txBody>
                  <a:tcPr marL="54864" marR="54864" marT="27432" marB="27432">
                    <a:solidFill>
                      <a:srgbClr val="FFFFFF"/>
                    </a:solidFill>
                  </a:tcPr>
                </a:tc>
                <a:tc>
                  <a:txBody>
                    <a:bodyPr/>
                    <a:lstStyle/>
                    <a:p>
                      <a:r>
                        <a:rPr sz="850" b="0">
                          <a:solidFill>
                            <a:srgbClr val="4B4B4B"/>
                          </a:solidFill>
                          <a:latin typeface="Arial"/>
                        </a:rPr>
                        <a:t>Downloads the slip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Send / Resend</a:t>
                      </a:r>
                    </a:p>
                  </a:txBody>
                  <a:tcPr marL="54864" marR="54864" marT="27432" marB="27432">
                    <a:solidFill>
                      <a:srgbClr val="E5F5FF"/>
                    </a:solidFill>
                  </a:tcPr>
                </a:tc>
                <a:tc>
                  <a:txBody>
                    <a:bodyPr/>
                    <a:lstStyle/>
                    <a:p>
                      <a:r>
                        <a:rPr sz="850" b="0">
                          <a:solidFill>
                            <a:srgbClr val="4B4B4B"/>
                          </a:solidFill>
                          <a:latin typeface="Arial"/>
                        </a:rPr>
                        <a:t>PLACEMENT_MANAGE</a:t>
                      </a:r>
                    </a:p>
                  </a:txBody>
                  <a:tcPr marL="54864" marR="54864" marT="27432" marB="27432">
                    <a:solidFill>
                      <a:srgbClr val="E5F5FF"/>
                    </a:solidFill>
                  </a:tcPr>
                </a:tc>
                <a:tc>
                  <a:txBody>
                    <a:bodyPr/>
                    <a:lstStyle/>
                    <a:p>
                      <a:r>
                        <a:rPr sz="850" b="0">
                          <a:solidFill>
                            <a:srgbClr val="4B4B4B"/>
                          </a:solidFill>
                          <a:latin typeface="Arial"/>
                        </a:rPr>
                        <a:t>Slip not superseded (row action menu)</a:t>
                      </a:r>
                    </a:p>
                  </a:txBody>
                  <a:tcPr marL="54864" marR="54864" marT="27432" marB="27432">
                    <a:solidFill>
                      <a:srgbClr val="E5F5FF"/>
                    </a:solidFill>
                  </a:tcPr>
                </a:tc>
                <a:tc>
                  <a:txBody>
                    <a:bodyPr/>
                    <a:lstStyle/>
                    <a:p>
                      <a:r>
                        <a:rPr sz="850" b="0">
                          <a:solidFill>
                            <a:srgbClr val="4B4B4B"/>
                          </a:solidFill>
                          <a:latin typeface="Arial"/>
                        </a:rPr>
                        <a:t>Opens the send dialog and e-mails the slip; the first send places the accounts</a:t>
                      </a:r>
                    </a:p>
                  </a:txBody>
                  <a:tcPr marL="54864" marR="54864" marT="27432" marB="27432">
                    <a:solidFill>
                      <a:srgbClr val="E5F5FF"/>
                    </a:solidFill>
                  </a:tcPr>
                </a:tc>
                <a:tc>
                  <a:txBody>
                    <a:bodyPr/>
                    <a:lstStyle/>
                    <a:p>
                      <a:r>
                        <a:rPr sz="850" b="0">
                          <a:solidFill>
                            <a:srgbClr val="4B4B4B"/>
                          </a:solidFill>
                          <a:latin typeface="Arial"/>
                        </a:rPr>
                        <a:t>Placed (first send)</a:t>
                      </a:r>
                    </a:p>
                  </a:txBody>
                  <a:tcPr marL="54864" marR="54864" marT="27432" marB="27432">
                    <a:solidFill>
                      <a:srgbClr val="E5F5FF"/>
                    </a:solidFill>
                  </a:tcPr>
                </a:tc>
                <a:tc>
                  <a:txBody>
                    <a:bodyPr/>
                    <a:lstStyle/>
                    <a:p>
                      <a:r>
                        <a:rPr sz="850" b="0">
                          <a:solidFill>
                            <a:srgbClr val="4B4B4B"/>
                          </a:solidFill>
                          <a:latin typeface="Arial"/>
                        </a:rPr>
                        <a:t>E-mail to the insurer (and the password e-mail when protected)</a:t>
                      </a:r>
                    </a:p>
                  </a:txBody>
                  <a:tcPr marL="54864" marR="54864" marT="27432" marB="27432">
                    <a:solidFill>
                      <a:srgbClr val="E5F5FF"/>
                    </a:solidFill>
                  </a:tcPr>
                </a:tc>
              </a:tr>
              <a:tr h="350518">
                <a:tc>
                  <a:txBody>
                    <a:bodyPr/>
                    <a:lstStyle/>
                    <a:p>
                      <a:r>
                        <a:rPr sz="850" b="0">
                          <a:solidFill>
                            <a:srgbClr val="4B4B4B"/>
                          </a:solidFill>
                          <a:latin typeface="Arial"/>
                        </a:rPr>
                        <a:t>Regenerate</a:t>
                      </a:r>
                    </a:p>
                  </a:txBody>
                  <a:tcPr marL="54864" marR="54864" marT="27432" marB="27432">
                    <a:solidFill>
                      <a:srgbClr val="FFFFFF"/>
                    </a:solidFill>
                  </a:tcPr>
                </a:tc>
                <a:tc>
                  <a:txBody>
                    <a:bodyPr/>
                    <a:lstStyle/>
                    <a:p>
                      <a:r>
                        <a:rPr sz="850" b="0">
                          <a:solidFill>
                            <a:srgbClr val="4B4B4B"/>
                          </a:solidFill>
                          <a:latin typeface="Arial"/>
                        </a:rPr>
                        <a:t>PLACEMENT_MANAGE</a:t>
                      </a:r>
                    </a:p>
                  </a:txBody>
                  <a:tcPr marL="54864" marR="54864" marT="27432" marB="27432">
                    <a:solidFill>
                      <a:srgbClr val="FFFFFF"/>
                    </a:solidFill>
                  </a:tcPr>
                </a:tc>
                <a:tc>
                  <a:txBody>
                    <a:bodyPr/>
                    <a:lstStyle/>
                    <a:p>
                      <a:r>
                        <a:rPr sz="850" b="0">
                          <a:solidFill>
                            <a:srgbClr val="4B4B4B"/>
                          </a:solidFill>
                          <a:latin typeface="Arial"/>
                        </a:rPr>
                        <a:t>Sent slip (row action menu)</a:t>
                      </a:r>
                    </a:p>
                  </a:txBody>
                  <a:tcPr marL="54864" marR="54864" marT="27432" marB="27432">
                    <a:solidFill>
                      <a:srgbClr val="FFFFFF"/>
                    </a:solidFill>
                  </a:tcPr>
                </a:tc>
                <a:tc>
                  <a:txBody>
                    <a:bodyPr/>
                    <a:lstStyle/>
                    <a:p>
                      <a:r>
                        <a:rPr sz="850" b="0">
                          <a:solidFill>
                            <a:srgbClr val="4B4B4B"/>
                          </a:solidFill>
                          <a:latin typeface="Arial"/>
                        </a:rPr>
                        <a:t>Generates the next version from the current account data; the old version becomes superseded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send log of each slip is kept with the message and its outcome (FR-NB-081).</a:t>
                      </a:r>
                    </a:p>
                  </a:txBody>
                  <a:tcPr marL="54864" marR="54864" marT="27432" marB="27432">
                    <a:solidFill>
                      <a:srgbClr val="FFFFFF"/>
                    </a:solidFill>
                  </a:tcPr>
                </a:tc>
              </a:tr>
              <a:tr h="243840">
                <a:tc>
                  <a:txBody>
                    <a:bodyPr/>
                    <a:lstStyle/>
                    <a:p>
                      <a:r>
                        <a:rPr sz="1000" b="0">
                          <a:solidFill>
                            <a:srgbClr val="4B4B4B"/>
                          </a:solidFill>
                          <a:latin typeface="Arial"/>
                        </a:rPr>
                        <a:t>Insurers have no access to BIBS; slips reach them by e-mail only (FR-NB-081).</a:t>
                      </a:r>
                    </a:p>
                  </a:txBody>
                  <a:tcPr marL="54864" marR="54864" marT="27432" marB="27432">
                    <a:solidFill>
                      <a:srgbClr val="E5F5FF"/>
                    </a:solidFill>
                  </a:tcPr>
                </a:tc>
              </a:tr>
              <a:tr h="243840">
                <a:tc>
                  <a:txBody>
                    <a:bodyPr/>
                    <a:lstStyle/>
                    <a:p>
                      <a:r>
                        <a:rPr sz="1000" b="0">
                          <a:solidFill>
                            <a:srgbClr val="4B4B4B"/>
                          </a:solidFill>
                          <a:latin typeface="Arial"/>
                        </a:rPr>
                        <a:t>A slip whose client EOPT details changed after generation is regenerated with the current details before it is sent (FR-NB-087).</a:t>
                      </a:r>
                    </a:p>
                  </a:txBody>
                  <a:tcPr marL="54864" marR="54864" marT="27432" marB="27432">
                    <a:solidFill>
                      <a:srgbClr val="FFFFFF"/>
                    </a:solidFill>
                  </a:tcPr>
                </a:tc>
              </a:tr>
            </a:tbl>
          </a:graphicData>
        </a:graphic>
      </p:graphicFrame>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0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Slips, All Slips tab (part 1 of 2)</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10.png"/>
          <p:cNvPicPr>
            <a:picLocks noChangeAspect="1"/>
          </p:cNvPicPr>
          <p:nvPr/>
        </p:nvPicPr>
        <p:blipFill>
          <a:blip r:embed="rId3"/>
          <a:stretch>
            <a:fillRect/>
          </a:stretch>
        </p:blipFill>
        <p:spPr>
          <a:xfrm>
            <a:off x="548640" y="1261872"/>
            <a:ext cx="11094415" cy="397868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Placement Slips, All Slips tab (part 2 of 2)</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211.png"/>
          <p:cNvPicPr>
            <a:picLocks noChangeAspect="1"/>
          </p:cNvPicPr>
          <p:nvPr/>
        </p:nvPicPr>
        <p:blipFill>
          <a:blip r:embed="rId3"/>
          <a:stretch>
            <a:fillRect/>
          </a:stretch>
        </p:blipFill>
        <p:spPr>
          <a:xfrm>
            <a:off x="548640" y="1261872"/>
            <a:ext cx="11094415" cy="471132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placement slip dialog (Resend of a sent slip, from the row action menu) (part 1 of 3)</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212.png"/>
          <p:cNvPicPr>
            <a:picLocks noChangeAspect="1"/>
          </p:cNvPicPr>
          <p:nvPr/>
        </p:nvPicPr>
        <p:blipFill>
          <a:blip r:embed="rId3"/>
          <a:stretch>
            <a:fillRect/>
          </a:stretch>
        </p:blipFill>
        <p:spPr>
          <a:xfrm>
            <a:off x="548640" y="1261872"/>
            <a:ext cx="11094415" cy="399819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placement slip dialog (Resend of a sent slip, from the row action menu) (part 2 of 3)</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SCR-NB-20 Placement Slips: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213.png"/>
          <p:cNvPicPr>
            <a:picLocks noChangeAspect="1"/>
          </p:cNvPicPr>
          <p:nvPr/>
        </p:nvPicPr>
        <p:blipFill>
          <a:blip r:embed="rId3"/>
          <a:stretch>
            <a:fillRect/>
          </a:stretch>
        </p:blipFill>
        <p:spPr>
          <a:xfrm>
            <a:off x="548640" y="1261872"/>
            <a:ext cx="11094415" cy="102877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placement slip dialog (Resend of a sent slip, from the row action menu) (part 3 of 3)</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CLPC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395</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Billing of the CBG Fire accounts awaiting payment: create a billing batch, download the billing file for CLPC in Excel or OpenDocument, and upload the payment report returned by CLPC or a payment report of the other segments.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CLPC Billing</a:t>
                      </a:r>
                    </a:p>
                    <a:p>
                      <a:r>
                        <a:rPr sz="950" b="0">
                          <a:solidFill>
                            <a:srgbClr val="4B4B4B"/>
                          </a:solidFill>
                          <a:latin typeface="Arial"/>
                        </a:rPr>
                        <a:t>Placement Workbench › CLPC Billing</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FR-NB-090, FR-NB-091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CLPC receives the billing file and its payment report is matched back to the accounts.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396</a:t>
            </a:r>
          </a:p>
        </p:txBody>
      </p:sp>
      <p:graphicFrame>
        <p:nvGraphicFramePr>
          <p:cNvPr id="9" name="Table 8"/>
          <p:cNvGraphicFramePr>
            <a:graphicFrameLocks noGrp="1"/>
          </p:cNvGraphicFramePr>
          <p:nvPr/>
        </p:nvGraphicFramePr>
        <p:xfrm>
          <a:off x="548640" y="1325880"/>
          <a:ext cx="11094411" cy="393189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Billing Batches / Payment Reports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CBG Fire Awaiting Payment</a:t>
                      </a:r>
                    </a:p>
                  </a:txBody>
                  <a:tcPr marL="54864" marR="54864" marT="27432" marB="27432">
                    <a:solidFill>
                      <a:srgbClr val="E5F5FF"/>
                    </a:solidFill>
                  </a:tcPr>
                </a:tc>
                <a:tc>
                  <a:txBody>
                    <a:bodyPr/>
                    <a:lstStyle/>
                    <a:p>
                      <a:r>
                        <a:rPr sz="850" b="0">
                          <a:solidFill>
                            <a:srgbClr val="4B4B4B"/>
                          </a:solidFill>
                          <a:latin typeface="Arial"/>
                        </a:rPr>
                        <a:t>Reference, Borrower, PN No., Loan Application No., Premium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Every CBG Fire account awaiting payment is billed.</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CBG Fire Awaiting Payment</a:t>
                      </a:r>
                    </a:p>
                  </a:txBody>
                  <a:tcPr marL="54864" marR="54864" marT="27432" marB="27432">
                    <a:solidFill>
                      <a:srgbClr val="FFFFFF"/>
                    </a:solidFill>
                  </a:tcPr>
                </a:tc>
                <a:tc>
                  <a:txBody>
                    <a:bodyPr/>
                    <a:lstStyle/>
                    <a:p>
                      <a:r>
                        <a:rPr sz="850" b="0">
                          <a:solidFill>
                            <a:srgbClr val="4B4B4B"/>
                          </a:solidFill>
                          <a:latin typeface="Arial"/>
                        </a:rPr>
                        <a:t>Select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Only CBG Fire accounts awaiting payment and not yet billed</a:t>
                      </a:r>
                    </a:p>
                  </a:txBody>
                  <a:tcPr marL="54864" marR="54864" marT="27432" marB="27432">
                    <a:solidFill>
                      <a:srgbClr val="FFFFFF"/>
                    </a:solidFill>
                  </a:tcPr>
                </a:tc>
                <a:tc>
                  <a:txBody>
                    <a:bodyPr/>
                    <a:lstStyle/>
                    <a:p>
                      <a:r>
                        <a:rPr sz="850" b="0">
                          <a:solidFill>
                            <a:srgbClr val="4B4B4B"/>
                          </a:solidFill>
                          <a:latin typeface="Arial"/>
                        </a:rPr>
                        <a:t>Not CBG Fire accounts awaiting payment, or already billed: &lt;ARNs&gt;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Billing Batches</a:t>
                      </a:r>
                    </a:p>
                  </a:txBody>
                  <a:tcPr marL="54864" marR="54864" marT="27432" marB="27432">
                    <a:solidFill>
                      <a:srgbClr val="E5F5FF"/>
                    </a:solidFill>
                  </a:tcPr>
                </a:tc>
                <a:tc>
                  <a:txBody>
                    <a:bodyPr/>
                    <a:lstStyle/>
                    <a:p>
                      <a:r>
                        <a:rPr sz="850" b="0">
                          <a:solidFill>
                            <a:srgbClr val="4B4B4B"/>
                          </a:solidFill>
                          <a:latin typeface="Arial"/>
                        </a:rPr>
                        <a:t>Batch, Billing Date, Status, Accounts, Total Premium,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BILL-yyyy-nnnnnn; Download Excel, Download ODS and Upload Report in the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Payment Reports</a:t>
                      </a:r>
                    </a:p>
                  </a:txBody>
                  <a:tcPr marL="54864" marR="54864" marT="27432" marB="27432">
                    <a:solidFill>
                      <a:srgbClr val="FFFFFF"/>
                    </a:solidFill>
                  </a:tcPr>
                </a:tc>
                <a:tc>
                  <a:txBody>
                    <a:bodyPr/>
                    <a:lstStyle/>
                    <a:p>
                      <a:r>
                        <a:rPr sz="850" b="0">
                          <a:solidFill>
                            <a:srgbClr val="4B4B4B"/>
                          </a:solidFill>
                          <a:latin typeface="Arial"/>
                        </a:rPr>
                        <a:t>Report, Kind, File, Status, Matched / Unpaid / Unmatched / Ambiguous, Uploaded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PMT-yyyy-nnnnnn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Upload dialog</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CLPC payment report (CBG Fire, PN / loan application no.); Payment report of other segments (ARN)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Upload dialog</a:t>
                      </a:r>
                    </a:p>
                  </a:txBody>
                  <a:tcPr marL="54864" marR="54864" marT="27432" marB="27432">
                    <a:solidFill>
                      <a:srgbClr val="FFFFFF"/>
                    </a:solidFill>
                  </a:tcPr>
                </a:tc>
                <a:tc>
                  <a:txBody>
                    <a:bodyPr/>
                    <a:lstStyle/>
                    <a:p>
                      <a:r>
                        <a:rPr sz="850" b="0">
                          <a:solidFill>
                            <a:srgbClr val="4B4B4B"/>
                          </a:solidFill>
                          <a:latin typeface="Arial"/>
                        </a:rPr>
                        <a:t>Billing batch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Open batches</a:t>
                      </a:r>
                    </a:p>
                  </a:txBody>
                  <a:tcPr marL="54864" marR="54864" marT="27432" marB="27432">
                    <a:solidFill>
                      <a:srgbClr val="FFFFFF"/>
                    </a:solidFill>
                  </a:tcPr>
                </a:tc>
                <a:tc>
                  <a:txBody>
                    <a:bodyPr/>
                    <a:lstStyle/>
                    <a:p>
                      <a:r>
                        <a:rPr sz="850" b="0">
                          <a:solidFill>
                            <a:srgbClr val="4B4B4B"/>
                          </a:solidFill>
                          <a:latin typeface="Arial"/>
                        </a:rPr>
                        <a:t>Y for a CLPC report</a:t>
                      </a:r>
                    </a:p>
                  </a:txBody>
                  <a:tcPr marL="54864" marR="54864" marT="27432" marB="27432">
                    <a:solidFill>
                      <a:srgbClr val="FFFFFF"/>
                    </a:solidFill>
                  </a:tcPr>
                </a:tc>
                <a:tc>
                  <a:txBody>
                    <a:bodyPr/>
                    <a:lstStyle/>
                    <a:p>
                      <a:r>
                        <a:rPr sz="850" b="0">
                          <a:solidFill>
                            <a:srgbClr val="4B4B4B"/>
                          </a:solidFill>
                          <a:latin typeface="Arial"/>
                        </a:rPr>
                        <a:t>The batch is open</a:t>
                      </a:r>
                    </a:p>
                  </a:txBody>
                  <a:tcPr marL="54864" marR="54864" marT="27432" marB="27432">
                    <a:solidFill>
                      <a:srgbClr val="FFFFFF"/>
                    </a:solidFill>
                  </a:tcPr>
                </a:tc>
                <a:tc>
                  <a:txBody>
                    <a:bodyPr/>
                    <a:lstStyle/>
                    <a:p>
                      <a:r>
                        <a:rPr sz="850" b="0">
                          <a:solidFill>
                            <a:srgbClr val="4B4B4B"/>
                          </a:solidFill>
                          <a:latin typeface="Arial"/>
                        </a:rPr>
                        <a:t>Choose the CLPC billing batch the report answers / Billing batch &lt;batch&gt; is closed</a:t>
                      </a:r>
                    </a:p>
                  </a:txBody>
                  <a:tcPr marL="54864" marR="54864" marT="27432" marB="27432">
                    <a:solidFill>
                      <a:srgbClr val="FFFFFF"/>
                    </a:solidFill>
                  </a:tcPr>
                </a:tc>
              </a:tr>
              <a:tr h="739135">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Upload dialog</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.xlsx, .csv or .ods; columns PN No. / Loan Application No. (CLPC) or ARN, Status (PAID / UNPAID), Amount, Payment Date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reference column exists; amounts and dates are valid</a:t>
                      </a:r>
                    </a:p>
                  </a:txBody>
                  <a:tcPr marL="54864" marR="54864" marT="27432" marB="27432">
                    <a:solidFill>
                      <a:srgbClr val="E5F5FF"/>
                    </a:solidFill>
                  </a:tcPr>
                </a:tc>
                <a:tc>
                  <a:txBody>
                    <a:bodyPr/>
                    <a:lstStyle/>
                    <a:p>
                      <a:r>
                        <a:rPr sz="850" b="0">
                          <a:solidFill>
                            <a:srgbClr val="4B4B4B"/>
                          </a:solidFill>
                          <a:latin typeface="Arial"/>
                        </a:rPr>
                        <a:t>The CLPC report needs a 'PN No.' or 'Loan Application No.' column / Row &lt;n&gt;: '&lt;value&gt;' is not an amount / Row &lt;n&gt;: '&lt;value&gt;' is not a date (yyyy-mm-dd)</a:t>
                      </a:r>
                    </a:p>
                  </a:txBody>
                  <a:tcPr marL="54864" marR="54864" marT="27432" marB="27432">
                    <a:solidFill>
                      <a:srgbClr val="E5F5FF"/>
                    </a:solidFill>
                  </a:tcPr>
                </a:tc>
              </a:tr>
            </a:tbl>
          </a:graphicData>
        </a:graphic>
      </p:graphicFrame>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397</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Bill Selected (n) / Bill All</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At least one account to bill</a:t>
                      </a:r>
                    </a:p>
                  </a:txBody>
                  <a:tcPr marL="54864" marR="54864" marT="27432" marB="27432">
                    <a:solidFill>
                      <a:srgbClr val="FFFFFF"/>
                    </a:solidFill>
                  </a:tcPr>
                </a:tc>
                <a:tc>
                  <a:txBody>
                    <a:bodyPr/>
                    <a:lstStyle/>
                    <a:p>
                      <a:r>
                        <a:rPr sz="850" b="0">
                          <a:solidFill>
                            <a:srgbClr val="4B4B4B"/>
                          </a:solidFill>
                          <a:latin typeface="Arial"/>
                        </a:rPr>
                        <a:t>Creates a billing batch with the selected (or all) accounts</a:t>
                      </a:r>
                    </a:p>
                  </a:txBody>
                  <a:tcPr marL="54864" marR="54864" marT="27432" marB="27432">
                    <a:solidFill>
                      <a:srgbClr val="FFFFFF"/>
                    </a:solidFill>
                  </a:tcPr>
                </a:tc>
                <a:tc>
                  <a:txBody>
                    <a:bodyPr/>
                    <a:lstStyle/>
                    <a:p>
                      <a:r>
                        <a:rPr sz="850" b="0">
                          <a:solidFill>
                            <a:srgbClr val="4B4B4B"/>
                          </a:solidFill>
                          <a:latin typeface="Arial"/>
                        </a:rPr>
                        <a:t>Unchanged (billed)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 Excel / Download ODS</a:t>
                      </a:r>
                    </a:p>
                  </a:txBody>
                  <a:tcPr marL="54864" marR="54864" marT="27432" marB="27432">
                    <a:solidFill>
                      <a:srgbClr val="E5F5FF"/>
                    </a:solidFill>
                  </a:tcPr>
                </a:tc>
                <a:tc>
                  <a:txBody>
                    <a:bodyPr/>
                    <a:lstStyle/>
                    <a:p>
                      <a:r>
                        <a:rPr sz="850" b="0">
                          <a:solidFill>
                            <a:srgbClr val="4B4B4B"/>
                          </a:solidFill>
                          <a:latin typeface="Arial"/>
                        </a:rPr>
                        <a:t>BILLING_MANAGE</a:t>
                      </a:r>
                    </a:p>
                  </a:txBody>
                  <a:tcPr marL="54864" marR="54864" marT="27432" marB="27432">
                    <a:solidFill>
                      <a:srgbClr val="E5F5FF"/>
                    </a:solidFill>
                  </a:tcPr>
                </a:tc>
                <a:tc>
                  <a:txBody>
                    <a:bodyPr/>
                    <a:lstStyle/>
                    <a:p>
                      <a:r>
                        <a:rPr sz="850" b="0">
                          <a:solidFill>
                            <a:srgbClr val="4B4B4B"/>
                          </a:solidFill>
                          <a:latin typeface="Arial"/>
                        </a:rPr>
                        <a:t>Always (row action menu)</a:t>
                      </a:r>
                    </a:p>
                  </a:txBody>
                  <a:tcPr marL="54864" marR="54864" marT="27432" marB="27432">
                    <a:solidFill>
                      <a:srgbClr val="E5F5FF"/>
                    </a:solidFill>
                  </a:tcPr>
                </a:tc>
                <a:tc>
                  <a:txBody>
                    <a:bodyPr/>
                    <a:lstStyle/>
                    <a:p>
                      <a:r>
                        <a:rPr sz="850" b="0">
                          <a:solidFill>
                            <a:srgbClr val="4B4B4B"/>
                          </a:solidFill>
                          <a:latin typeface="Arial"/>
                        </a:rPr>
                        <a:t>Downloads the billing file of the batch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Upload Payment Report / Upload Report</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Always / open batch (row action menu)</a:t>
                      </a:r>
                    </a:p>
                  </a:txBody>
                  <a:tcPr marL="54864" marR="54864" marT="27432" marB="27432">
                    <a:solidFill>
                      <a:srgbClr val="FFFFFF"/>
                    </a:solidFill>
                  </a:tcPr>
                </a:tc>
                <a:tc>
                  <a:txBody>
                    <a:bodyPr/>
                    <a:lstStyle/>
                    <a:p>
                      <a:r>
                        <a:rPr sz="850" b="0">
                          <a:solidFill>
                            <a:srgbClr val="4B4B4B"/>
                          </a:solidFill>
                          <a:latin typeface="Arial"/>
                        </a:rPr>
                        <a:t>Opens the upload dialog; Upload and Match reads the file, matches each line and opens the match review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billing file uses the ARN in place of the QPS reference number (FR-NB-090).</a:t>
                      </a:r>
                    </a:p>
                  </a:txBody>
                  <a:tcPr marL="54864" marR="54864" marT="27432" marB="27432">
                    <a:solidFill>
                      <a:srgbClr val="FFFFFF"/>
                    </a:solidFill>
                  </a:tcPr>
                </a:tc>
              </a:tr>
              <a:tr h="243840">
                <a:tc>
                  <a:txBody>
                    <a:bodyPr/>
                    <a:lstStyle/>
                    <a:p>
                      <a:r>
                        <a:rPr sz="1000" b="0">
                          <a:solidFill>
                            <a:srgbClr val="4B4B4B"/>
                          </a:solidFill>
                          <a:latin typeface="Arial"/>
                        </a:rPr>
                        <a:t>The file is exchanged with CLPC outside BIBS until the CLPC transfer is specified (FR-NB-090).</a:t>
                      </a:r>
                    </a:p>
                  </a:txBody>
                  <a:tcPr marL="54864" marR="54864" marT="27432" marB="27432">
                    <a:solidFill>
                      <a:srgbClr val="E5F5FF"/>
                    </a:solidFill>
                  </a:tcPr>
                </a:tc>
              </a:tr>
            </a:tbl>
          </a:graphicData>
        </a:graphic>
      </p:graphicFrame>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399</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11</a:t>
                      </a:r>
                    </a:p>
                  </a:txBody>
                  <a:tcPr marL="54864" marR="54864" marT="27432" marB="27432">
                    <a:solidFill>
                      <a:srgbClr val="FFFFFF"/>
                    </a:solidFill>
                  </a:tcPr>
                </a:tc>
                <a:tc>
                  <a:txBody>
                    <a:bodyPr/>
                    <a:lstStyle/>
                    <a:p>
                      <a:r>
                        <a:rPr sz="900" b="0">
                          <a:solidFill>
                            <a:srgbClr val="4B4B4B"/>
                          </a:solidFill>
                          <a:latin typeface="Arial"/>
                        </a:rPr>
                        <a:t>Bills the account on CLPC Billing, downloads the file, uploads CLPC's payment report and confirms the matches</a:t>
                      </a:r>
                    </a:p>
                  </a:txBody>
                  <a:tcPr marL="54864" marR="54864" marT="27432" marB="27432">
                    <a:solidFill>
                      <a:srgbClr val="FFFFFF"/>
                    </a:solidFill>
                  </a:tcPr>
                </a:tc>
                <a:tc>
                  <a:txBody>
                    <a:bodyPr/>
                    <a:lstStyle/>
                    <a:p>
                      <a:r>
                        <a:rPr sz="900" b="0">
                          <a:solidFill>
                            <a:srgbClr val="4B4B4B"/>
                          </a:solidFill>
                          <a:latin typeface="Arial"/>
                        </a:rPr>
                        <a:t>SCR-NB-21_wt-a-step-11.png</a:t>
                      </a:r>
                    </a:p>
                  </a:txBody>
                  <a:tcPr marL="54864" marR="54864" marT="27432" marB="27432">
                    <a:solidFill>
                      <a:srgbClr val="FFFFFF"/>
                    </a:solidFill>
                  </a:tcPr>
                </a:tc>
              </a:tr>
            </a:tbl>
          </a:graphicData>
        </a:graphic>
      </p:graphicFrame>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CLPC Billing: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CLPC Billing, Billing Batches tab (part 1 of 2)</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CLPC Billing: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5.png"/>
          <p:cNvPicPr>
            <a:picLocks noChangeAspect="1"/>
          </p:cNvPicPr>
          <p:nvPr/>
        </p:nvPicPr>
        <p:blipFill>
          <a:blip r:embed="rId3"/>
          <a:stretch>
            <a:fillRect/>
          </a:stretch>
        </p:blipFill>
        <p:spPr>
          <a:xfrm>
            <a:off x="548640" y="1261872"/>
            <a:ext cx="11094415" cy="30127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CLPC Billing, Billing Batches tab (part 2 of 2)</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SCR-NB-21 CLPC Billing: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1-02-upload.png"/>
          <p:cNvPicPr>
            <a:picLocks noChangeAspect="1"/>
          </p:cNvPicPr>
          <p:nvPr/>
        </p:nvPicPr>
        <p:blipFill>
          <a:blip r:embed="rId3"/>
          <a:stretch>
            <a:fillRect/>
          </a:stretch>
        </p:blipFill>
        <p:spPr>
          <a:xfrm>
            <a:off x="1334168" y="1261872"/>
            <a:ext cx="952335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Payment Report dialog</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Payment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Payment confirmation, placement and hold cover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match review of an uploaded payment report: lines matched, unpaid, unmatched and ambiguous. Processing matches an unmatched or ambiguous line to an account by hand and confirms the report, which opens the payment gate of every matched, paid account.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Placement &amp; Booking › CLPC Billing › Payment Report</a:t>
                      </a:r>
                    </a:p>
                    <a:p>
                      <a:r>
                        <a:rPr sz="950" b="0">
                          <a:solidFill>
                            <a:srgbClr val="4B4B4B"/>
                          </a:solidFill>
                          <a:latin typeface="Arial"/>
                        </a:rPr>
                        <a:t>CLPC Billing › Payment Reports › open a report</a:t>
                      </a:r>
                    </a:p>
                    <a:p>
                      <a:r>
                        <a:rPr sz="950" b="0">
                          <a:solidFill>
                            <a:srgbClr val="4B4B4B"/>
                          </a:solidFill>
                          <a:latin typeface="Arial"/>
                        </a:rPr>
                        <a:t>Opened automatically after an upload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FR-NB-091, FR-NB-092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paid accounts are released for placement with their payment evidence.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404</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Matched / Unpaid / Unmatched / Ambiguous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Row, Reported Reference, Paid, Amount, Payment Date, Account, Detail,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Match in the row action menu while the report is reviewed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Match Row dialog</a:t>
                      </a:r>
                    </a:p>
                  </a:txBody>
                  <a:tcPr marL="54864" marR="54864" marT="27432" marB="27432">
                    <a:solidFill>
                      <a:srgbClr val="FFFFFF"/>
                    </a:solidFill>
                  </a:tcPr>
                </a:tc>
                <a:tc>
                  <a:txBody>
                    <a:bodyPr/>
                    <a:lstStyle/>
                    <a:p>
                      <a:r>
                        <a:rPr sz="850" b="0">
                          <a:solidFill>
                            <a:srgbClr val="4B4B4B"/>
                          </a:solidFill>
                          <a:latin typeface="Arial"/>
                        </a:rPr>
                        <a:t>Account (ARN)</a:t>
                      </a:r>
                    </a:p>
                  </a:txBody>
                  <a:tcPr marL="54864" marR="54864" marT="27432" marB="27432">
                    <a:solidFill>
                      <a:srgbClr val="FFFFFF"/>
                    </a:solidFill>
                  </a:tcPr>
                </a:tc>
                <a:tc>
                  <a:txBody>
                    <a:bodyPr/>
                    <a:lstStyle/>
                    <a:p>
                      <a:r>
                        <a:rPr sz="850" b="0">
                          <a:solidFill>
                            <a:srgbClr val="4B4B4B"/>
                          </a:solidFill>
                          <a:latin typeface="Arial"/>
                        </a:rPr>
                        <a:t>Drop-down or Text</a:t>
                      </a:r>
                    </a:p>
                  </a:txBody>
                  <a:tcPr marL="54864" marR="54864" marT="27432" marB="27432">
                    <a:solidFill>
                      <a:srgbClr val="FFFFFF"/>
                    </a:solidFill>
                  </a:tcPr>
                </a:tc>
                <a:tc>
                  <a:txBody>
                    <a:bodyPr/>
                    <a:lstStyle/>
                    <a:p>
                      <a:r>
                        <a:rPr sz="850" b="0">
                          <a:solidFill>
                            <a:srgbClr val="4B4B4B"/>
                          </a:solidFill>
                          <a:latin typeface="Arial"/>
                        </a:rPr>
                        <a:t>The candidate ARNs of an ambiguous line, otherwise an ARN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account is awaiting payment and the line is not already matched</a:t>
                      </a:r>
                    </a:p>
                  </a:txBody>
                  <a:tcPr marL="54864" marR="54864" marT="27432" marB="27432">
                    <a:solidFill>
                      <a:srgbClr val="FFFFFF"/>
                    </a:solidFill>
                  </a:tcPr>
                </a:tc>
                <a:tc>
                  <a:txBody>
                    <a:bodyPr/>
                    <a:lstStyle/>
                    <a:p>
                      <a:r>
                        <a:rPr sz="850" b="0">
                          <a:solidFill>
                            <a:srgbClr val="4B4B4B"/>
                          </a:solidFill>
                          <a:latin typeface="Arial"/>
                        </a:rPr>
                        <a:t>Row &lt;n&gt; is already matched to &lt;ARN&gt; / &lt;ARN&gt; is &lt;status&gt;, not awaiting payment</a:t>
                      </a:r>
                    </a:p>
                  </a:txBody>
                  <a:tcPr marL="54864" marR="54864" marT="27432" marB="27432">
                    <a:solidFill>
                      <a:srgbClr val="FFFFFF"/>
                    </a:solidFill>
                  </a:tcPr>
                </a:tc>
              </a:tr>
            </a:tbl>
          </a:graphicData>
        </a:graphic>
      </p:graphicFrame>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405</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Match</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Report in review; unmatched or ambiguous line (row action menu)</a:t>
                      </a:r>
                    </a:p>
                  </a:txBody>
                  <a:tcPr marL="54864" marR="54864" marT="27432" marB="27432">
                    <a:solidFill>
                      <a:srgbClr val="FFFFFF"/>
                    </a:solidFill>
                  </a:tcPr>
                </a:tc>
                <a:tc>
                  <a:txBody>
                    <a:bodyPr/>
                    <a:lstStyle/>
                    <a:p>
                      <a:r>
                        <a:rPr sz="850" b="0">
                          <a:solidFill>
                            <a:srgbClr val="4B4B4B"/>
                          </a:solidFill>
                          <a:latin typeface="Arial"/>
                        </a:rPr>
                        <a:t>Matches the line to the chosen account</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Confirm Matches</a:t>
                      </a:r>
                    </a:p>
                  </a:txBody>
                  <a:tcPr marL="54864" marR="54864" marT="27432" marB="27432">
                    <a:solidFill>
                      <a:srgbClr val="E5F5FF"/>
                    </a:solidFill>
                  </a:tcPr>
                </a:tc>
                <a:tc>
                  <a:txBody>
                    <a:bodyPr/>
                    <a:lstStyle/>
                    <a:p>
                      <a:r>
                        <a:rPr sz="850" b="0">
                          <a:solidFill>
                            <a:srgbClr val="4B4B4B"/>
                          </a:solidFill>
                          <a:latin typeface="Arial"/>
                        </a:rPr>
                        <a:t>BILLING_MANAGE</a:t>
                      </a:r>
                    </a:p>
                  </a:txBody>
                  <a:tcPr marL="54864" marR="54864" marT="27432" marB="27432">
                    <a:solidFill>
                      <a:srgbClr val="E5F5FF"/>
                    </a:solidFill>
                  </a:tcPr>
                </a:tc>
                <a:tc>
                  <a:txBody>
                    <a:bodyPr/>
                    <a:lstStyle/>
                    <a:p>
                      <a:r>
                        <a:rPr sz="850" b="0">
                          <a:solidFill>
                            <a:srgbClr val="4B4B4B"/>
                          </a:solidFill>
                          <a:latin typeface="Arial"/>
                        </a:rPr>
                        <a:t>Report in review</a:t>
                      </a:r>
                    </a:p>
                  </a:txBody>
                  <a:tcPr marL="54864" marR="54864" marT="27432" marB="27432">
                    <a:solidFill>
                      <a:srgbClr val="E5F5FF"/>
                    </a:solidFill>
                  </a:tcPr>
                </a:tc>
                <a:tc>
                  <a:txBody>
                    <a:bodyPr/>
                    <a:lstStyle/>
                    <a:p>
                      <a:r>
                        <a:rPr sz="850" b="0">
                          <a:solidFill>
                            <a:srgbClr val="4B4B4B"/>
                          </a:solidFill>
                          <a:latin typeface="Arial"/>
                        </a:rPr>
                        <a:t>Opens the payment gate of every matched, paid account; each outcome is shown on its line</a:t>
                      </a:r>
                    </a:p>
                  </a:txBody>
                  <a:tcPr marL="54864" marR="54864" marT="27432" marB="27432">
                    <a:solidFill>
                      <a:srgbClr val="E5F5FF"/>
                    </a:solidFill>
                  </a:tcPr>
                </a:tc>
                <a:tc>
                  <a:txBody>
                    <a:bodyPr/>
                    <a:lstStyle/>
                    <a:p>
                      <a:r>
                        <a:rPr sz="850" b="0">
                          <a:solidFill>
                            <a:srgbClr val="4B4B4B"/>
                          </a:solidFill>
                          <a:latin typeface="Arial"/>
                        </a:rPr>
                        <a:t>Ready for placement for each account opened</a:t>
                      </a:r>
                    </a:p>
                  </a:txBody>
                  <a:tcPr marL="54864" marR="54864" marT="27432" marB="27432">
                    <a:solidFill>
                      <a:srgbClr val="E5F5FF"/>
                    </a:solidFill>
                  </a:tcPr>
                </a:tc>
                <a:tc>
                  <a:txBody>
                    <a:bodyPr/>
                    <a:lstStyle/>
                    <a:p>
                      <a:r>
                        <a:rPr sz="850" b="0">
                          <a:solidFill>
                            <a:srgbClr val="4B4B4B"/>
                          </a:solidFill>
                          <a:latin typeface="Arial"/>
                        </a:rPr>
                        <a:t>Workflow notice per account</a:t>
                      </a:r>
                    </a:p>
                  </a:txBody>
                  <a:tcPr marL="54864" marR="54864" marT="27432" marB="27432">
                    <a:solidFill>
                      <a:srgbClr val="E5F5FF"/>
                    </a:solidFill>
                  </a:tcPr>
                </a:tc>
              </a:tr>
              <a:tr h="220979">
                <a:tc>
                  <a:txBody>
                    <a:bodyPr/>
                    <a:lstStyle/>
                    <a:p>
                      <a:r>
                        <a:rPr sz="850" b="0">
                          <a:solidFill>
                            <a:srgbClr val="4B4B4B"/>
                          </a:solidFill>
                          <a:latin typeface="Arial"/>
                        </a:rPr>
                        <a:t>Discard</a:t>
                      </a:r>
                    </a:p>
                  </a:txBody>
                  <a:tcPr marL="54864" marR="54864" marT="27432" marB="27432">
                    <a:solidFill>
                      <a:srgbClr val="FFFFFF"/>
                    </a:solidFill>
                  </a:tcPr>
                </a:tc>
                <a:tc>
                  <a:txBody>
                    <a:bodyPr/>
                    <a:lstStyle/>
                    <a:p>
                      <a:r>
                        <a:rPr sz="850" b="0">
                          <a:solidFill>
                            <a:srgbClr val="4B4B4B"/>
                          </a:solidFill>
                          <a:latin typeface="Arial"/>
                        </a:rPr>
                        <a:t>BILLING_MANAGE</a:t>
                      </a:r>
                    </a:p>
                  </a:txBody>
                  <a:tcPr marL="54864" marR="54864" marT="27432" marB="27432">
                    <a:solidFill>
                      <a:srgbClr val="FFFFFF"/>
                    </a:solidFill>
                  </a:tcPr>
                </a:tc>
                <a:tc>
                  <a:txBody>
                    <a:bodyPr/>
                    <a:lstStyle/>
                    <a:p>
                      <a:r>
                        <a:rPr sz="850" b="0">
                          <a:solidFill>
                            <a:srgbClr val="4B4B4B"/>
                          </a:solidFill>
                          <a:latin typeface="Arial"/>
                        </a:rPr>
                        <a:t>Report in review</a:t>
                      </a:r>
                    </a:p>
                  </a:txBody>
                  <a:tcPr marL="54864" marR="54864" marT="27432" marB="27432">
                    <a:solidFill>
                      <a:srgbClr val="FFFFFF"/>
                    </a:solidFill>
                  </a:tcPr>
                </a:tc>
                <a:tc>
                  <a:txBody>
                    <a:bodyPr/>
                    <a:lstStyle/>
                    <a:p>
                      <a:r>
                        <a:rPr sz="850" b="0">
                          <a:solidFill>
                            <a:srgbClr val="4B4B4B"/>
                          </a:solidFill>
                          <a:latin typeface="Arial"/>
                        </a:rPr>
                        <a:t>Discards the report without opening any gate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payment already recorded for the same source and reference is not applied twice (FR-NB-091).</a:t>
                      </a:r>
                    </a:p>
                  </a:txBody>
                  <a:tcPr marL="54864" marR="54864" marT="27432" marB="27432">
                    <a:solidFill>
                      <a:srgbClr val="FFFFFF"/>
                    </a:solidFill>
                  </a:tcPr>
                </a:tc>
              </a:tr>
              <a:tr h="243840">
                <a:tc>
                  <a:txBody>
                    <a:bodyPr/>
                    <a:lstStyle/>
                    <a:p>
                      <a:r>
                        <a:rPr sz="1000" b="0">
                          <a:solidFill>
                            <a:srgbClr val="4B4B4B"/>
                          </a:solidFill>
                          <a:latin typeface="Arial"/>
                        </a:rPr>
                        <a:t>The hourly PAYMENT_CONFIRMATION_SWEEP opens the gate of payments confirmed by Cashiering (BRD-2) as well (FR-NB-091, FR-NB-092).</a:t>
                      </a:r>
                    </a:p>
                  </a:txBody>
                  <a:tcPr marL="54864" marR="54864" marT="27432" marB="27432">
                    <a:solidFill>
                      <a:srgbClr val="E5F5FF"/>
                    </a:solidFill>
                  </a:tcPr>
                </a:tc>
              </a:tr>
            </a:tbl>
          </a:graphicData>
        </a:graphic>
      </p:graphicFrame>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Payment Report: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2-02-match.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Match Row dialog, opened from the row action menu</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SCR-NB-22 Payment Report: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nb-22-01-review.png"/>
          <p:cNvPicPr>
            <a:picLocks noChangeAspect="1"/>
          </p:cNvPicPr>
          <p:nvPr/>
        </p:nvPicPr>
        <p:blipFill>
          <a:blip r:embed="rId3"/>
          <a:stretch>
            <a:fillRect/>
          </a:stretch>
        </p:blipFill>
        <p:spPr>
          <a:xfrm>
            <a:off x="548640" y="1261872"/>
            <a:ext cx="11094415" cy="40360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Payment Report match review</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SCR-NB-23 Issuance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409</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From the placed account to the issued policy: accounts awaiting their e-policy, e-policies whose extracted data waits for review, confirmed e-policies ready to send, and mortgaged accounts without an Insurance Advice.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Issuance Workbench</a:t>
                      </a:r>
                    </a:p>
                    <a:p>
                      <a:r>
                        <a:rPr sz="950" b="0">
                          <a:solidFill>
                            <a:srgbClr val="4B4B4B"/>
                          </a:solidFill>
                          <a:latin typeface="Arial"/>
                        </a:rPr>
                        <a:t>NB Dashboard figures</a:t>
                      </a:r>
                    </a:p>
                    <a:p>
                      <a:r>
                        <a:rPr sz="950" b="0">
                          <a:solidFill>
                            <a:srgbClr val="4B4B4B"/>
                          </a:solidFill>
                          <a:latin typeface="Arial"/>
                        </a:rPr>
                        <a:t>Account record › Policy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FR-NB-100, FR-NB-101, FR-NB-102, FR-NB-103, FR-NB-105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Processing sees every account waiting for a policy, a review or a dispatch.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410</a:t>
            </a:r>
          </a:p>
        </p:txBody>
      </p:sp>
      <p:graphicFrame>
        <p:nvGraphicFramePr>
          <p:cNvPr id="9" name="Table 8"/>
          <p:cNvGraphicFramePr>
            <a:graphicFrameLocks noGrp="1"/>
          </p:cNvGraphicFramePr>
          <p:nvPr/>
        </p:nvGraphicFramePr>
        <p:xfrm>
          <a:off x="548640" y="1325880"/>
          <a:ext cx="11094411" cy="324610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 and tabs</a:t>
                      </a:r>
                    </a:p>
                  </a:txBody>
                  <a:tcPr marL="54864" marR="54864" marT="27432" marB="27432">
                    <a:solidFill>
                      <a:srgbClr val="FFFFFF"/>
                    </a:solidFill>
                  </a:tcPr>
                </a:tc>
                <a:tc>
                  <a:txBody>
                    <a:bodyPr/>
                    <a:lstStyle/>
                    <a:p>
                      <a:r>
                        <a:rPr sz="850" b="0">
                          <a:solidFill>
                            <a:srgbClr val="4B4B4B"/>
                          </a:solidFill>
                          <a:latin typeface="Arial"/>
                        </a:rPr>
                        <a:t>Placed – Awaiting Policy / Policy Received – Review Extraction / Ready to Dispatch / IA to Generate</a:t>
                      </a:r>
                    </a:p>
                  </a:txBody>
                  <a:tcPr marL="54864" marR="54864" marT="27432" marB="27432">
                    <a:solidFill>
                      <a:srgbClr val="FFFFFF"/>
                    </a:solidFill>
                  </a:tcPr>
                </a:tc>
                <a:tc>
                  <a:txBody>
                    <a:bodyPr/>
                    <a:lstStyle/>
                    <a:p>
                      <a:r>
                        <a:rPr sz="850" b="0">
                          <a:solidFill>
                            <a:srgbClr val="4B4B4B"/>
                          </a:solidFill>
                          <a:latin typeface="Arial"/>
                        </a:rPr>
                        <a:t>Tile and tab</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Reference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ARN or client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Select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Shown on Ready to Dispatch and IA to Generate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Name / Client Code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Client name (opens the account placement) and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account's ARN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Account stage or e-policy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Line, product and insurer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Policy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Policy number(s)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E-policy / Mortgagee / Actions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File name and time received (review, dispatch); mortgagee bank (IA to Generate); row action menu with Upload E-policy (awaiting policy)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411</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Upload E-policies</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E-policy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E-policy (row action menu)</a:t>
                      </a:r>
                    </a:p>
                  </a:txBody>
                  <a:tcPr marL="54864" marR="54864" marT="27432" marB="27432">
                    <a:solidFill>
                      <a:srgbClr val="E5F5FF"/>
                    </a:solidFill>
                  </a:tcPr>
                </a:tc>
                <a:tc>
                  <a:txBody>
                    <a:bodyPr/>
                    <a:lstStyle/>
                    <a:p>
                      <a:r>
                        <a:rPr sz="850" b="0">
                          <a:solidFill>
                            <a:srgbClr val="4B4B4B"/>
                          </a:solidFill>
                          <a:latin typeface="Arial"/>
                        </a:rPr>
                        <a:t>EPOLICY_MANAGE</a:t>
                      </a:r>
                    </a:p>
                  </a:txBody>
                  <a:tcPr marL="54864" marR="54864" marT="27432" marB="27432">
                    <a:solidFill>
                      <a:srgbClr val="E5F5FF"/>
                    </a:solidFill>
                  </a:tcPr>
                </a:tc>
                <a:tc>
                  <a:txBody>
                    <a:bodyPr/>
                    <a:lstStyle/>
                    <a:p>
                      <a:r>
                        <a:rPr sz="850" b="0">
                          <a:solidFill>
                            <a:srgbClr val="4B4B4B"/>
                          </a:solidFill>
                          <a:latin typeface="Arial"/>
                        </a:rPr>
                        <a:t>Placed – Awaiting Policy</a:t>
                      </a:r>
                    </a:p>
                  </a:txBody>
                  <a:tcPr marL="54864" marR="54864" marT="27432" marB="27432">
                    <a:solidFill>
                      <a:srgbClr val="E5F5FF"/>
                    </a:solidFill>
                  </a:tcPr>
                </a:tc>
                <a:tc>
                  <a:txBody>
                    <a:bodyPr/>
                    <a:lstStyle/>
                    <a:p>
                      <a:r>
                        <a:rPr sz="850" b="0">
                          <a:solidFill>
                            <a:srgbClr val="4B4B4B"/>
                          </a:solidFill>
                          <a:latin typeface="Arial"/>
                        </a:rPr>
                        <a:t>Opens E-policy Upload with the ARN filled 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Generate Insurance Advice</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IA to Generate, at least one row selected</a:t>
                      </a:r>
                    </a:p>
                  </a:txBody>
                  <a:tcPr marL="54864" marR="54864" marT="27432" marB="27432">
                    <a:solidFill>
                      <a:srgbClr val="FFFFFF"/>
                    </a:solidFill>
                  </a:tcPr>
                </a:tc>
                <a:tc>
                  <a:txBody>
                    <a:bodyPr/>
                    <a:lstStyle/>
                    <a:p>
                      <a:r>
                        <a:rPr sz="850" b="0">
                          <a:solidFill>
                            <a:srgbClr val="4B4B4B"/>
                          </a:solidFill>
                          <a:latin typeface="Arial"/>
                        </a:rPr>
                        <a:t>Generates the Insurance Advice of each selected mortgaged account; the outcome of each is listed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E-policies</a:t>
                      </a:r>
                    </a:p>
                  </a:txBody>
                  <a:tcPr marL="54864" marR="54864" marT="27432" marB="27432">
                    <a:solidFill>
                      <a:srgbClr val="E5F5FF"/>
                    </a:solidFill>
                  </a:tcPr>
                </a:tc>
                <a:tc>
                  <a:txBody>
                    <a:bodyPr/>
                    <a:lstStyle/>
                    <a:p>
                      <a:r>
                        <a:rPr sz="850" b="0">
                          <a:solidFill>
                            <a:srgbClr val="4B4B4B"/>
                          </a:solidFill>
                          <a:latin typeface="Arial"/>
                        </a:rPr>
                        <a:t>EPOLICY_SEND</a:t>
                      </a:r>
                    </a:p>
                  </a:txBody>
                  <a:tcPr marL="54864" marR="54864" marT="27432" marB="27432">
                    <a:solidFill>
                      <a:srgbClr val="E5F5FF"/>
                    </a:solidFill>
                  </a:tcPr>
                </a:tc>
                <a:tc>
                  <a:txBody>
                    <a:bodyPr/>
                    <a:lstStyle/>
                    <a:p>
                      <a:r>
                        <a:rPr sz="850" b="0">
                          <a:solidFill>
                            <a:srgbClr val="4B4B4B"/>
                          </a:solidFill>
                          <a:latin typeface="Arial"/>
                        </a:rPr>
                        <a:t>Ready to Dispatch, at least one row selected</a:t>
                      </a:r>
                    </a:p>
                  </a:txBody>
                  <a:tcPr marL="54864" marR="54864" marT="27432" marB="27432">
                    <a:solidFill>
                      <a:srgbClr val="E5F5FF"/>
                    </a:solidFill>
                  </a:tcPr>
                </a:tc>
                <a:tc>
                  <a:txBody>
                    <a:bodyPr/>
                    <a:lstStyle/>
                    <a:p>
                      <a:r>
                        <a:rPr sz="850" b="0">
                          <a:solidFill>
                            <a:srgbClr val="4B4B4B"/>
                          </a:solidFill>
                          <a:latin typeface="Arial"/>
                        </a:rPr>
                        <a:t>Asks for an optional password hint and sends each e-policy to the account contact, encrypted</a:t>
                      </a:r>
                    </a:p>
                  </a:txBody>
                  <a:tcPr marL="54864" marR="54864" marT="27432" marB="27432">
                    <a:solidFill>
                      <a:srgbClr val="E5F5FF"/>
                    </a:solidFill>
                  </a:tcPr>
                </a:tc>
                <a:tc>
                  <a:txBody>
                    <a:bodyPr/>
                    <a:lstStyle/>
                    <a:p>
                      <a:r>
                        <a:rPr sz="850" b="0">
                          <a:solidFill>
                            <a:srgbClr val="4B4B4B"/>
                          </a:solidFill>
                          <a:latin typeface="Arial"/>
                        </a:rPr>
                        <a:t>Unchanged (e-policy dispatched)</a:t>
                      </a:r>
                    </a:p>
                  </a:txBody>
                  <a:tcPr marL="54864" marR="54864" marT="27432" marB="27432">
                    <a:solidFill>
                      <a:srgbClr val="E5F5FF"/>
                    </a:solidFill>
                  </a:tcPr>
                </a:tc>
                <a:tc>
                  <a:txBody>
                    <a:bodyPr/>
                    <a:lstStyle/>
                    <a:p>
                      <a:r>
                        <a:rPr sz="850" b="0">
                          <a:solidFill>
                            <a:srgbClr val="4B4B4B"/>
                          </a:solidFill>
                          <a:latin typeface="Arial"/>
                        </a:rPr>
                        <a:t>E-mail to each client and the password e-mail</a:t>
                      </a:r>
                    </a:p>
                  </a:txBody>
                  <a:tcPr marL="54864" marR="54864" marT="27432" marB="27432">
                    <a:solidFill>
                      <a:srgbClr val="E5F5FF"/>
                    </a:solidFill>
                  </a:tcPr>
                </a:tc>
              </a:tr>
            </a:tbl>
          </a:graphicData>
        </a:graphic>
      </p:graphicFrame>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confirmed e-policies are sent (FR-NB-105).</a:t>
                      </a:r>
                    </a:p>
                  </a:txBody>
                  <a:tcPr marL="54864" marR="54864" marT="27432" marB="27432">
                    <a:solidFill>
                      <a:srgbClr val="FFFFFF"/>
                    </a:solidFill>
                  </a:tcPr>
                </a:tc>
              </a:tr>
              <a:tr h="243840">
                <a:tc>
                  <a:txBody>
                    <a:bodyPr/>
                    <a:lstStyle/>
                    <a:p>
                      <a:r>
                        <a:rPr sz="1000" b="0">
                          <a:solidFill>
                            <a:srgbClr val="4B4B4B"/>
                          </a:solidFill>
                          <a:latin typeface="Arial"/>
                        </a:rPr>
                        <a:t>The Insurance Advice is generated for mortgaged accounts only, by the trigger in parameter IA_TRIGGER (on policy issue by default) or by hand (FR-NB-103).</a:t>
                      </a:r>
                    </a:p>
                  </a:txBody>
                  <a:tcPr marL="54864" marR="54864" marT="27432" marB="27432">
                    <a:solidFill>
                      <a:srgbClr val="E5F5FF"/>
                    </a:solidFill>
                  </a:tcPr>
                </a:tc>
              </a:tr>
            </a:tbl>
          </a:graphicData>
        </a:graphic>
      </p:graphicFrame>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SCR-NB-23 Issuance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3-02-review.png"/>
          <p:cNvPicPr>
            <a:picLocks noChangeAspect="1"/>
          </p:cNvPicPr>
          <p:nvPr/>
        </p:nvPicPr>
        <p:blipFill>
          <a:blip r:embed="rId3"/>
          <a:stretch>
            <a:fillRect/>
          </a:stretch>
        </p:blipFill>
        <p:spPr>
          <a:xfrm>
            <a:off x="1721288" y="1261872"/>
            <a:ext cx="874911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Received – Review Extraction tab</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SCR-NB-23 Issuance Workbench: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nb-23-01-list.png"/>
          <p:cNvPicPr>
            <a:picLocks noChangeAspect="1"/>
          </p:cNvPicPr>
          <p:nvPr/>
        </p:nvPicPr>
        <p:blipFill>
          <a:blip r:embed="rId3"/>
          <a:stretch>
            <a:fillRect/>
          </a:stretch>
        </p:blipFill>
        <p:spPr>
          <a:xfrm>
            <a:off x="1989385" y="1261872"/>
            <a:ext cx="821292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Issuance Workbench, Placed – Awaiting Policy tab</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415</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Stores the e-policies received from the insurers on their accounts: one e-policy matched by the ARN, the policy number or the ARN in the file, or up to 50 at once with a match review. Each stored file opens an extraction review.</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E-policy Upload</a:t>
                      </a:r>
                    </a:p>
                    <a:p>
                      <a:r>
                        <a:rPr sz="950" b="0">
                          <a:solidFill>
                            <a:srgbClr val="4B4B4B"/>
                          </a:solidFill>
                          <a:latin typeface="Arial"/>
                        </a:rPr>
                        <a:t>Issuance Workbench › Upload E-policies, or Upload E-policy in the row action menu</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FR-NB-100, FR-NB-102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e-policy is stored on its account and its data is ready for review.</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416</a:t>
            </a:r>
          </a:p>
        </p:txBody>
      </p:sp>
      <p:graphicFrame>
        <p:nvGraphicFramePr>
          <p:cNvPr id="9" name="Table 8"/>
          <p:cNvGraphicFramePr>
            <a:graphicFrameLocks noGrp="1"/>
          </p:cNvGraphicFramePr>
          <p:nvPr/>
        </p:nvGraphicFramePr>
        <p:xfrm>
          <a:off x="548640" y="1325880"/>
          <a:ext cx="11094411" cy="197356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Single E-policy</a:t>
                      </a:r>
                    </a:p>
                  </a:txBody>
                  <a:tcPr marL="54864" marR="54864" marT="27432" marB="27432">
                    <a:solidFill>
                      <a:srgbClr val="FFFFFF"/>
                    </a:solidFill>
                  </a:tcPr>
                </a:tc>
                <a:tc>
                  <a:txBody>
                    <a:bodyPr/>
                    <a:lstStyle/>
                    <a:p>
                      <a:r>
                        <a:rPr sz="850" b="0">
                          <a:solidFill>
                            <a:srgbClr val="4B4B4B"/>
                          </a:solidFill>
                          <a:latin typeface="Arial"/>
                        </a:rPr>
                        <a:t>E-policy PDF</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.pdf</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PDF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Single E-policy</a:t>
                      </a:r>
                    </a:p>
                  </a:txBody>
                  <a:tcPr marL="54864" marR="54864" marT="27432" marB="27432">
                    <a:solidFill>
                      <a:srgbClr val="E5F5FF"/>
                    </a:solidFill>
                  </a:tcPr>
                </a:tc>
                <a:tc>
                  <a:txBody>
                    <a:bodyPr/>
                    <a:lstStyle/>
                    <a:p>
                      <a:r>
                        <a:rPr sz="850" b="0">
                          <a:solidFill>
                            <a:srgbClr val="4B4B4B"/>
                          </a:solidFill>
                          <a:latin typeface="Arial"/>
                        </a:rPr>
                        <a:t>Account (ARN)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ARN-yyyy-nnnnnn</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Found from the file name or the document when empty; the account is placed</a:t>
                      </a:r>
                    </a:p>
                  </a:txBody>
                  <a:tcPr marL="54864" marR="54864" marT="27432" marB="27432">
                    <a:solidFill>
                      <a:srgbClr val="E5F5FF"/>
                    </a:solidFill>
                  </a:tcPr>
                </a:tc>
                <a:tc>
                  <a:txBody>
                    <a:bodyPr/>
                    <a:lstStyle/>
                    <a:p>
                      <a:r>
                        <a:rPr sz="850" b="0">
                          <a:solidFill>
                            <a:srgbClr val="4B4B4B"/>
                          </a:solidFill>
                          <a:latin typeface="Arial"/>
                        </a:rPr>
                        <a:t>No account found for &lt;file&gt;: choose the account (ARN) / Account &lt;ARN&gt; is &lt;status&gt;; an e-policy is received once placed</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Single E-policy</a:t>
                      </a:r>
                    </a:p>
                  </a:txBody>
                  <a:tcPr marL="54864" marR="54864" marT="27432" marB="27432">
                    <a:solidFill>
                      <a:srgbClr val="FFFFFF"/>
                    </a:solidFill>
                  </a:tcPr>
                </a:tc>
                <a:tc>
                  <a:txBody>
                    <a:bodyPr/>
                    <a:lstStyle/>
                    <a:p>
                      <a:r>
                        <a:rPr sz="850" b="0">
                          <a:solidFill>
                            <a:srgbClr val="4B4B4B"/>
                          </a:solidFill>
                          <a:latin typeface="Arial"/>
                        </a:rPr>
                        <a:t>Policy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Finds an account already issued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Bulk Upload</a:t>
                      </a:r>
                    </a:p>
                  </a:txBody>
                  <a:tcPr marL="54864" marR="54864" marT="27432" marB="27432">
                    <a:solidFill>
                      <a:srgbClr val="E5F5FF"/>
                    </a:solidFill>
                  </a:tcPr>
                </a:tc>
                <a:tc>
                  <a:txBody>
                    <a:bodyPr/>
                    <a:lstStyle/>
                    <a:p>
                      <a:r>
                        <a:rPr sz="850" b="0">
                          <a:solidFill>
                            <a:srgbClr val="4B4B4B"/>
                          </a:solidFill>
                          <a:latin typeface="Arial"/>
                        </a:rPr>
                        <a:t>E-policy PDFs</a:t>
                      </a:r>
                    </a:p>
                  </a:txBody>
                  <a:tcPr marL="54864" marR="54864" marT="27432" marB="27432">
                    <a:solidFill>
                      <a:srgbClr val="E5F5FF"/>
                    </a:solidFill>
                  </a:tcPr>
                </a:tc>
                <a:tc>
                  <a:txBody>
                    <a:bodyPr/>
                    <a:lstStyle/>
                    <a:p>
                      <a:r>
                        <a:rPr sz="850" b="0">
                          <a:solidFill>
                            <a:srgbClr val="4B4B4B"/>
                          </a:solidFill>
                          <a:latin typeface="Arial"/>
                        </a:rPr>
                        <a:t>File (several)</a:t>
                      </a:r>
                    </a:p>
                  </a:txBody>
                  <a:tcPr marL="54864" marR="54864" marT="27432" marB="27432">
                    <a:solidFill>
                      <a:srgbClr val="E5F5FF"/>
                    </a:solidFill>
                  </a:tcPr>
                </a:tc>
                <a:tc>
                  <a:txBody>
                    <a:bodyPr/>
                    <a:lstStyle/>
                    <a:p>
                      <a:r>
                        <a:rPr sz="850" b="0">
                          <a:solidFill>
                            <a:srgbClr val="4B4B4B"/>
                          </a:solidFill>
                          <a:latin typeface="Arial"/>
                        </a:rPr>
                        <a:t>.pdf, up to 50 files named after their ARN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1 to 50 files</a:t>
                      </a:r>
                    </a:p>
                  </a:txBody>
                  <a:tcPr marL="54864" marR="54864" marT="27432" marB="27432">
                    <a:solidFill>
                      <a:srgbClr val="E5F5FF"/>
                    </a:solidFill>
                  </a:tcPr>
                </a:tc>
                <a:tc>
                  <a:txBody>
                    <a:bodyPr/>
                    <a:lstStyle/>
                    <a:p>
                      <a:r>
                        <a:rPr sz="850" b="0">
                          <a:solidFill>
                            <a:srgbClr val="4B4B4B"/>
                          </a:solidFill>
                          <a:latin typeface="Arial"/>
                        </a:rPr>
                        <a:t>Upload between 1 and 50 e-policies at a time</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Match review</a:t>
                      </a:r>
                    </a:p>
                  </a:txBody>
                  <a:tcPr marL="54864" marR="54864" marT="27432" marB="27432">
                    <a:solidFill>
                      <a:srgbClr val="FFFFFF"/>
                    </a:solidFill>
                  </a:tcPr>
                </a:tc>
                <a:tc>
                  <a:txBody>
                    <a:bodyPr/>
                    <a:lstStyle/>
                    <a:p>
                      <a:r>
                        <a:rPr sz="850" b="0">
                          <a:solidFill>
                            <a:srgbClr val="4B4B4B"/>
                          </a:solidFill>
                          <a:latin typeface="Arial"/>
                        </a:rPr>
                        <a:t>File, Account, Matched By, Detail</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Account editable with an Include tick while in review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account is placed</a:t>
                      </a:r>
                    </a:p>
                  </a:txBody>
                  <a:tcPr marL="54864" marR="54864" marT="27432" marB="27432">
                    <a:solidFill>
                      <a:srgbClr val="FFFFFF"/>
                    </a:solidFill>
                  </a:tcPr>
                </a:tc>
                <a:tc>
                  <a:txBody>
                    <a:bodyPr/>
                    <a:lstStyle/>
                    <a:p>
                      <a:r>
                        <a:rPr sz="850" b="0">
                          <a:solidFill>
                            <a:srgbClr val="4B4B4B"/>
                          </a:solidFill>
                          <a:latin typeface="Arial"/>
                        </a:rPr>
                        <a:t>This upload is &lt;status&gt;</a:t>
                      </a:r>
                    </a:p>
                  </a:txBody>
                  <a:tcPr marL="54864" marR="54864" marT="27432" marB="27432">
                    <a:solidFill>
                      <a:srgbClr val="FFFFFF"/>
                    </a:solidFill>
                  </a:tcPr>
                </a:tc>
              </a:tr>
            </a:tbl>
          </a:graphicData>
        </a:graphic>
      </p:graphicFrame>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417</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and Review</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A file chosen</a:t>
                      </a:r>
                    </a:p>
                  </a:txBody>
                  <a:tcPr marL="54864" marR="54864" marT="27432" marB="27432">
                    <a:solidFill>
                      <a:srgbClr val="FFFFFF"/>
                    </a:solidFill>
                  </a:tcPr>
                </a:tc>
                <a:tc>
                  <a:txBody>
                    <a:bodyPr/>
                    <a:lstStyle/>
                    <a:p>
                      <a:r>
                        <a:rPr sz="850" b="0">
                          <a:solidFill>
                            <a:srgbClr val="4B4B4B"/>
                          </a:solidFill>
                          <a:latin typeface="Arial"/>
                        </a:rPr>
                        <a:t>Stores the e-policy on the account and opens the extraction review</a:t>
                      </a:r>
                    </a:p>
                  </a:txBody>
                  <a:tcPr marL="54864" marR="54864" marT="27432" marB="27432">
                    <a:solidFill>
                      <a:srgbClr val="FFFFFF"/>
                    </a:solidFill>
                  </a:tcPr>
                </a:tc>
                <a:tc>
                  <a:txBody>
                    <a:bodyPr/>
                    <a:lstStyle/>
                    <a:p>
                      <a:r>
                        <a:rPr sz="850" b="0">
                          <a:solidFill>
                            <a:srgbClr val="4B4B4B"/>
                          </a:solidFill>
                          <a:latin typeface="Arial"/>
                        </a:rPr>
                        <a:t>Unchanged (e-policy received)</a:t>
                      </a:r>
                    </a:p>
                  </a:txBody>
                  <a:tcPr marL="54864" marR="54864" marT="27432" marB="27432">
                    <a:solidFill>
                      <a:srgbClr val="FFFFFF"/>
                    </a:solidFill>
                  </a:tcPr>
                </a:tc>
                <a:tc>
                  <a:txBody>
                    <a:bodyPr/>
                    <a:lstStyle/>
                    <a:p>
                      <a:r>
                        <a:rPr sz="850" b="0">
                          <a:solidFill>
                            <a:srgbClr val="4B4B4B"/>
                          </a:solidFill>
                          <a:latin typeface="Arial"/>
                        </a:rPr>
                        <a:t>In-app notice to review the extraction</a:t>
                      </a:r>
                    </a:p>
                  </a:txBody>
                  <a:tcPr marL="54864" marR="54864" marT="27432" marB="27432">
                    <a:solidFill>
                      <a:srgbClr val="FFFFFF"/>
                    </a:solidFill>
                  </a:tcPr>
                </a:tc>
              </a:tr>
              <a:tr h="220979">
                <a:tc>
                  <a:txBody>
                    <a:bodyPr/>
                    <a:lstStyle/>
                    <a:p>
                      <a:r>
                        <a:rPr sz="850" b="0">
                          <a:solidFill>
                            <a:srgbClr val="4B4B4B"/>
                          </a:solidFill>
                          <a:latin typeface="Arial"/>
                        </a:rPr>
                        <a:t>Upload and Match</a:t>
                      </a:r>
                    </a:p>
                  </a:txBody>
                  <a:tcPr marL="54864" marR="54864" marT="27432" marB="27432">
                    <a:solidFill>
                      <a:srgbClr val="E5F5FF"/>
                    </a:solidFill>
                  </a:tcPr>
                </a:tc>
                <a:tc>
                  <a:txBody>
                    <a:bodyPr/>
                    <a:lstStyle/>
                    <a:p>
                      <a:r>
                        <a:rPr sz="850" b="0">
                          <a:solidFill>
                            <a:srgbClr val="4B4B4B"/>
                          </a:solidFill>
                          <a:latin typeface="Arial"/>
                        </a:rPr>
                        <a:t>EPOLICY_MANAGE</a:t>
                      </a:r>
                    </a:p>
                  </a:txBody>
                  <a:tcPr marL="54864" marR="54864" marT="27432" marB="27432">
                    <a:solidFill>
                      <a:srgbClr val="E5F5FF"/>
                    </a:solidFill>
                  </a:tcPr>
                </a:tc>
                <a:tc>
                  <a:txBody>
                    <a:bodyPr/>
                    <a:lstStyle/>
                    <a:p>
                      <a:r>
                        <a:rPr sz="850" b="0">
                          <a:solidFill>
                            <a:srgbClr val="4B4B4B"/>
                          </a:solidFill>
                          <a:latin typeface="Arial"/>
                        </a:rPr>
                        <a:t>Files chosen</a:t>
                      </a:r>
                    </a:p>
                  </a:txBody>
                  <a:tcPr marL="54864" marR="54864" marT="27432" marB="27432">
                    <a:solidFill>
                      <a:srgbClr val="E5F5FF"/>
                    </a:solidFill>
                  </a:tcPr>
                </a:tc>
                <a:tc>
                  <a:txBody>
                    <a:bodyPr/>
                    <a:lstStyle/>
                    <a:p>
                      <a:r>
                        <a:rPr sz="850" b="0">
                          <a:solidFill>
                            <a:srgbClr val="4B4B4B"/>
                          </a:solidFill>
                          <a:latin typeface="Arial"/>
                        </a:rPr>
                        <a:t>Uploads the files and matches each to its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Confirm Upload / Discard</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Upload in review</a:t>
                      </a:r>
                    </a:p>
                  </a:txBody>
                  <a:tcPr marL="54864" marR="54864" marT="27432" marB="27432">
                    <a:solidFill>
                      <a:srgbClr val="FFFFFF"/>
                    </a:solidFill>
                  </a:tcPr>
                </a:tc>
                <a:tc>
                  <a:txBody>
                    <a:bodyPr/>
                    <a:lstStyle/>
                    <a:p>
                      <a:r>
                        <a:rPr sz="850" b="0">
                          <a:solidFill>
                            <a:srgbClr val="4B4B4B"/>
                          </a:solidFill>
                          <a:latin typeface="Arial"/>
                        </a:rPr>
                        <a:t>Stores the included files as e-policies of their accounts, or discards the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In-app notice per e-policy to review</a:t>
                      </a:r>
                    </a:p>
                  </a:txBody>
                  <a:tcPr marL="54864" marR="54864" marT="27432" marB="27432">
                    <a:solidFill>
                      <a:srgbClr val="FFFFFF"/>
                    </a:solidFill>
                  </a:tcPr>
                </a:tc>
              </a:tr>
            </a:tbl>
          </a:graphicData>
        </a:graphic>
      </p:graphicFrame>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file is stored as the account's e-policy document and triggers the extraction review (FR-NB-100, FR-NB-102).</a:t>
                      </a:r>
                    </a:p>
                  </a:txBody>
                  <a:tcPr marL="54864" marR="54864" marT="27432" marB="27432">
                    <a:solidFill>
                      <a:srgbClr val="FFFFFF"/>
                    </a:solidFill>
                  </a:tcPr>
                </a:tc>
              </a:tr>
              <a:tr h="243840">
                <a:tc>
                  <a:txBody>
                    <a:bodyPr/>
                    <a:lstStyle/>
                    <a:p>
                      <a:r>
                        <a:rPr sz="1000" b="0">
                          <a:solidFill>
                            <a:srgbClr val="4B4B4B"/>
                          </a:solidFill>
                          <a:latin typeface="Arial"/>
                        </a:rPr>
                        <a:t>Reading the insurers' mailbox or file transfer folder for e-policies waits for the channel specification; e-policies are uploaded by Processing (FR-NB-100).</a:t>
                      </a:r>
                    </a:p>
                  </a:txBody>
                  <a:tcPr marL="54864" marR="54864" marT="27432" marB="27432">
                    <a:solidFill>
                      <a:srgbClr val="E5F5FF"/>
                    </a:solidFill>
                  </a:tcPr>
                </a:tc>
              </a:tr>
            </a:tbl>
          </a:graphicData>
        </a:graphic>
      </p:graphicFrame>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419</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13</a:t>
                      </a:r>
                    </a:p>
                  </a:txBody>
                  <a:tcPr marL="54864" marR="54864" marT="27432" marB="27432">
                    <a:solidFill>
                      <a:srgbClr val="FFFFFF"/>
                    </a:solidFill>
                  </a:tcPr>
                </a:tc>
                <a:tc>
                  <a:txBody>
                    <a:bodyPr/>
                    <a:lstStyle/>
                    <a:p>
                      <a:r>
                        <a:rPr sz="900" b="0">
                          <a:solidFill>
                            <a:srgbClr val="4B4B4B"/>
                          </a:solidFill>
                          <a:latin typeface="Arial"/>
                        </a:rPr>
                        <a:t>Uploads the insurer's e-policy PDF with the ARN</a:t>
                      </a:r>
                    </a:p>
                  </a:txBody>
                  <a:tcPr marL="54864" marR="54864" marT="27432" marB="27432">
                    <a:solidFill>
                      <a:srgbClr val="FFFFFF"/>
                    </a:solidFill>
                  </a:tcPr>
                </a:tc>
                <a:tc>
                  <a:txBody>
                    <a:bodyPr/>
                    <a:lstStyle/>
                    <a:p>
                      <a:r>
                        <a:rPr sz="900" b="0">
                          <a:solidFill>
                            <a:srgbClr val="4B4B4B"/>
                          </a:solidFill>
                          <a:latin typeface="Arial"/>
                        </a:rPr>
                        <a:t>SCR-NB-24_wt-a-step-13.png</a:t>
                      </a:r>
                    </a:p>
                  </a:txBody>
                  <a:tcPr marL="54864" marR="54864" marT="27432" marB="27432">
                    <a:solidFill>
                      <a:srgbClr val="FFFFFF"/>
                    </a:solidFill>
                  </a:tcPr>
                </a:tc>
              </a:tr>
            </a:tbl>
          </a:graphicData>
        </a:graphic>
      </p:graphicFrame>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6.png"/>
          <p:cNvPicPr>
            <a:picLocks noChangeAspect="1"/>
          </p:cNvPicPr>
          <p:nvPr/>
        </p:nvPicPr>
        <p:blipFill>
          <a:blip r:embed="rId3"/>
          <a:stretch>
            <a:fillRect/>
          </a:stretch>
        </p:blipFill>
        <p:spPr>
          <a:xfrm>
            <a:off x="548640" y="1261872"/>
            <a:ext cx="11094415" cy="47294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 match review (part 1 of 3)</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 match review (part 2 of 3)</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8.png"/>
          <p:cNvPicPr>
            <a:picLocks noChangeAspect="1"/>
          </p:cNvPicPr>
          <p:nvPr/>
        </p:nvPicPr>
        <p:blipFill>
          <a:blip r:embed="rId3"/>
          <a:stretch>
            <a:fillRect/>
          </a:stretch>
        </p:blipFill>
        <p:spPr>
          <a:xfrm>
            <a:off x="548640" y="1261872"/>
            <a:ext cx="11094415" cy="16498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 match review (part 3 of 3)</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423</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219.png"/>
          <p:cNvPicPr>
            <a:picLocks noChangeAspect="1"/>
          </p:cNvPicPr>
          <p:nvPr/>
        </p:nvPicPr>
        <p:blipFill>
          <a:blip r:embed="rId3"/>
          <a:stretch>
            <a:fillRect/>
          </a:stretch>
        </p:blipFill>
        <p:spPr>
          <a:xfrm>
            <a:off x="548640" y="1261872"/>
            <a:ext cx="11094415" cy="47294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E-policy Upload: single and bulk (part 1 of 2)</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SCR-NB-24 E-policy Upload: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424</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220.png"/>
          <p:cNvPicPr>
            <a:picLocks noChangeAspect="1"/>
          </p:cNvPicPr>
          <p:nvPr/>
        </p:nvPicPr>
        <p:blipFill>
          <a:blip r:embed="rId3"/>
          <a:stretch>
            <a:fillRect/>
          </a:stretch>
        </p:blipFill>
        <p:spPr>
          <a:xfrm>
            <a:off x="548640" y="1261872"/>
            <a:ext cx="11094415" cy="26923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E-policy Upload: single and bulk (part 2 of 2)</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SCR-NB-25 Extraction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425</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values read from the e-policy next to the account values, the differences to check, and the confirmation that records the policy number(s) on the account and moves it to policy issued.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Issuance Workbench › Extraction Review</a:t>
                      </a:r>
                    </a:p>
                    <a:p>
                      <a:r>
                        <a:rPr sz="950" b="0">
                          <a:solidFill>
                            <a:srgbClr val="4B4B4B"/>
                          </a:solidFill>
                          <a:latin typeface="Arial"/>
                        </a:rPr>
                        <a:t>Issuance Workbench › Policy Received – Review Extraction › e-policy file</a:t>
                      </a:r>
                    </a:p>
                    <a:p>
                      <a:r>
                        <a:rPr sz="950" b="0">
                          <a:solidFill>
                            <a:srgbClr val="4B4B4B"/>
                          </a:solidFill>
                          <a:latin typeface="Arial"/>
                        </a:rPr>
                        <a:t>E-policy Upload › after the upload, or Review extraction in the match review</a:t>
                      </a:r>
                    </a:p>
                    <a:p>
                      <a:r>
                        <a:rPr sz="950" b="0">
                          <a:solidFill>
                            <a:srgbClr val="4B4B4B"/>
                          </a:solidFill>
                          <a:latin typeface="Arial"/>
                        </a:rPr>
                        <a:t>The in-app notice E-policy to review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FR-NB-101, FR-NB-102, FR-NB-114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policy is issued on the account and can be booked and sent to the client.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426</a:t>
            </a:r>
          </a:p>
        </p:txBody>
      </p:sp>
      <p:graphicFrame>
        <p:nvGraphicFramePr>
          <p:cNvPr id="9" name="Table 8"/>
          <p:cNvGraphicFramePr>
            <a:graphicFrameLocks noGrp="1"/>
          </p:cNvGraphicFramePr>
          <p:nvPr/>
        </p:nvGraphicFramePr>
        <p:xfrm>
          <a:off x="548640" y="1325880"/>
          <a:ext cx="11094411" cy="254506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ARN, status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E-policy Received, Review, Confirmed or 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Extraction note</a:t>
                      </a:r>
                    </a:p>
                  </a:txBody>
                  <a:tcPr marL="54864" marR="54864" marT="27432" marB="27432">
                    <a:solidFill>
                      <a:srgbClr val="E5F5FF"/>
                    </a:solidFill>
                  </a:tcPr>
                </a:tc>
                <a:tc>
                  <a:txBody>
                    <a:bodyPr/>
                    <a:lstStyle/>
                    <a:p>
                      <a:r>
                        <a:rPr sz="850" b="0">
                          <a:solidFill>
                            <a:srgbClr val="4B4B4B"/>
                          </a:solidFill>
                          <a:latin typeface="Arial"/>
                        </a:rPr>
                        <a:t>Extraction</a:t>
                      </a:r>
                    </a:p>
                  </a:txBody>
                  <a:tcPr marL="54864" marR="54864" marT="27432" marB="27432">
                    <a:solidFill>
                      <a:srgbClr val="E5F5FF"/>
                    </a:solidFill>
                  </a:tcPr>
                </a:tc>
                <a:tc>
                  <a:txBody>
                    <a:bodyPr/>
                    <a:lstStyle/>
                    <a:p>
                      <a:r>
                        <a:rPr sz="850" b="0">
                          <a:solidFill>
                            <a:srgbClr val="4B4B4B"/>
                          </a:solidFill>
                          <a:latin typeface="Arial"/>
                        </a:rPr>
                        <a:t>Banner</a:t>
                      </a:r>
                    </a:p>
                  </a:txBody>
                  <a:tcPr marL="54864" marR="54864" marT="27432" marB="27432">
                    <a:solidFill>
                      <a:srgbClr val="E5F5FF"/>
                    </a:solidFill>
                  </a:tcPr>
                </a:tc>
                <a:tc>
                  <a:txBody>
                    <a:bodyPr/>
                    <a:lstStyle/>
                    <a:p>
                      <a:r>
                        <a:rPr sz="850" b="0">
                          <a:solidFill>
                            <a:srgbClr val="4B4B4B"/>
                          </a:solidFill>
                          <a:latin typeface="Arial"/>
                        </a:rPr>
                        <a:t>How the data was read, or why it was not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Differences</a:t>
                      </a:r>
                    </a:p>
                  </a:txBody>
                  <a:tcPr marL="54864" marR="54864" marT="27432" marB="27432">
                    <a:solidFill>
                      <a:srgbClr val="FFFFFF"/>
                    </a:solidFill>
                  </a:tcPr>
                </a:tc>
                <a:tc>
                  <a:txBody>
                    <a:bodyPr/>
                    <a:lstStyle/>
                    <a:p>
                      <a:r>
                        <a:rPr sz="850" b="0">
                          <a:solidFill>
                            <a:srgbClr val="4B4B4B"/>
                          </a:solidFill>
                          <a:latin typeface="Arial"/>
                        </a:rPr>
                        <a:t>Check before confirming</a:t>
                      </a:r>
                    </a:p>
                  </a:txBody>
                  <a:tcPr marL="54864" marR="54864" marT="27432" marB="27432">
                    <a:solidFill>
                      <a:srgbClr val="FFFFFF"/>
                    </a:solidFill>
                  </a:tcPr>
                </a:tc>
                <a:tc>
                  <a:txBody>
                    <a:bodyPr/>
                    <a:lstStyle/>
                    <a:p>
                      <a:r>
                        <a:rPr sz="850" b="0">
                          <a:solidFill>
                            <a:srgbClr val="4B4B4B"/>
                          </a:solidFill>
                          <a:latin typeface="Arial"/>
                        </a:rPr>
                        <a:t>Warning list</a:t>
                      </a:r>
                    </a:p>
                  </a:txBody>
                  <a:tcPr marL="54864" marR="54864" marT="27432" marB="27432">
                    <a:solidFill>
                      <a:srgbClr val="FFFFFF"/>
                    </a:solidFill>
                  </a:tcPr>
                </a:tc>
                <a:tc>
                  <a:txBody>
                    <a:bodyPr/>
                    <a:lstStyle/>
                    <a:p>
                      <a:r>
                        <a:rPr sz="850" b="0">
                          <a:solidFill>
                            <a:srgbClr val="4B4B4B"/>
                          </a:solidFill>
                          <a:latin typeface="Arial"/>
                        </a:rPr>
                        <a:t>Each value that differs from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Comparison</a:t>
                      </a:r>
                    </a:p>
                  </a:txBody>
                  <a:tcPr marL="54864" marR="54864" marT="27432" marB="27432">
                    <a:solidFill>
                      <a:srgbClr val="E5F5FF"/>
                    </a:solidFill>
                  </a:tcPr>
                </a:tc>
                <a:tc>
                  <a:txBody>
                    <a:bodyPr/>
                    <a:lstStyle/>
                    <a:p>
                      <a:r>
                        <a:rPr sz="850" b="0">
                          <a:solidFill>
                            <a:srgbClr val="4B4B4B"/>
                          </a:solidFill>
                          <a:latin typeface="Arial"/>
                        </a:rPr>
                        <a:t>Policy number(s), Period start, Period end, Premium</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Extracted from the e-policy; On the account; differences highlighted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Confirm Policy</a:t>
                      </a:r>
                    </a:p>
                  </a:txBody>
                  <a:tcPr marL="54864" marR="54864" marT="27432" marB="27432">
                    <a:solidFill>
                      <a:srgbClr val="FFFFFF"/>
                    </a:solidFill>
                  </a:tcPr>
                </a:tc>
                <a:tc>
                  <a:txBody>
                    <a:bodyPr/>
                    <a:lstStyle/>
                    <a:p>
                      <a:r>
                        <a:rPr sz="850" b="0">
                          <a:solidFill>
                            <a:srgbClr val="4B4B4B"/>
                          </a:solidFill>
                          <a:latin typeface="Arial"/>
                        </a:rPr>
                        <a:t>Policy number (one per policy year)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60 characters; one per year of a multi-year account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One number per year, all different</a:t>
                      </a:r>
                    </a:p>
                  </a:txBody>
                  <a:tcPr marL="54864" marR="54864" marT="27432" marB="27432">
                    <a:solidFill>
                      <a:srgbClr val="FFFFFF"/>
                    </a:solidFill>
                  </a:tcPr>
                </a:tc>
                <a:tc>
                  <a:txBody>
                    <a:bodyPr/>
                    <a:lstStyle/>
                    <a:p>
                      <a:r>
                        <a:rPr sz="850" b="0">
                          <a:solidFill>
                            <a:srgbClr val="4B4B4B"/>
                          </a:solidFill>
                          <a:latin typeface="Arial"/>
                        </a:rPr>
                        <a:t>Enter one policy number per policy year. / The policy numbers must be different.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Confirm Policy</a:t>
                      </a:r>
                    </a:p>
                  </a:txBody>
                  <a:tcPr marL="54864" marR="54864" marT="27432" marB="27432">
                    <a:solidFill>
                      <a:srgbClr val="E5F5FF"/>
                    </a:solidFill>
                  </a:tcPr>
                </a:tc>
                <a:tc>
                  <a:txBody>
                    <a:bodyPr/>
                    <a:lstStyle/>
                    <a:p>
                      <a:r>
                        <a:rPr sz="850" b="0">
                          <a:solidFill>
                            <a:srgbClr val="4B4B4B"/>
                          </a:solidFill>
                          <a:latin typeface="Arial"/>
                        </a:rPr>
                        <a:t>Issue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today when empty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Reject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427</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E-policy</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PDF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Account</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account placement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Extract Again</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E-policy received or in review</a:t>
                      </a:r>
                    </a:p>
                  </a:txBody>
                  <a:tcPr marL="54864" marR="54864" marT="27432" marB="27432">
                    <a:solidFill>
                      <a:srgbClr val="FFFFFF"/>
                    </a:solidFill>
                  </a:tcPr>
                </a:tc>
                <a:tc>
                  <a:txBody>
                    <a:bodyPr/>
                    <a:lstStyle/>
                    <a:p>
                      <a:r>
                        <a:rPr sz="850" b="0">
                          <a:solidFill>
                            <a:srgbClr val="4B4B4B"/>
                          </a:solidFill>
                          <a:latin typeface="Arial"/>
                        </a:rPr>
                        <a:t>Reads the PDF again with the insurer's patterns</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Confirm Policy</a:t>
                      </a:r>
                    </a:p>
                  </a:txBody>
                  <a:tcPr marL="54864" marR="54864" marT="27432" marB="27432">
                    <a:solidFill>
                      <a:srgbClr val="E5F5FF"/>
                    </a:solidFill>
                  </a:tcPr>
                </a:tc>
                <a:tc>
                  <a:txBody>
                    <a:bodyPr/>
                    <a:lstStyle/>
                    <a:p>
                      <a:r>
                        <a:rPr sz="850" b="0">
                          <a:solidFill>
                            <a:srgbClr val="4B4B4B"/>
                          </a:solidFill>
                          <a:latin typeface="Arial"/>
                        </a:rPr>
                        <a:t>EPOLICY_MANAGE</a:t>
                      </a:r>
                    </a:p>
                  </a:txBody>
                  <a:tcPr marL="54864" marR="54864" marT="27432" marB="27432">
                    <a:solidFill>
                      <a:srgbClr val="E5F5FF"/>
                    </a:solidFill>
                  </a:tcPr>
                </a:tc>
                <a:tc>
                  <a:txBody>
                    <a:bodyPr/>
                    <a:lstStyle/>
                    <a:p>
                      <a:r>
                        <a:rPr sz="850" b="0">
                          <a:solidFill>
                            <a:srgbClr val="4B4B4B"/>
                          </a:solidFill>
                          <a:latin typeface="Arial"/>
                        </a:rPr>
                        <a:t>E-policy received or in review; policy numbers complete</a:t>
                      </a:r>
                    </a:p>
                  </a:txBody>
                  <a:tcPr marL="54864" marR="54864" marT="27432" marB="27432">
                    <a:solidFill>
                      <a:srgbClr val="E5F5FF"/>
                    </a:solidFill>
                  </a:tcPr>
                </a:tc>
                <a:tc>
                  <a:txBody>
                    <a:bodyPr/>
                    <a:lstStyle/>
                    <a:p>
                      <a:r>
                        <a:rPr sz="850" b="0">
                          <a:solidFill>
                            <a:srgbClr val="4B4B4B"/>
                          </a:solidFill>
                          <a:latin typeface="Arial"/>
                        </a:rPr>
                        <a:t>Records the policy numbers and issue date on the account</a:t>
                      </a:r>
                    </a:p>
                  </a:txBody>
                  <a:tcPr marL="54864" marR="54864" marT="27432" marB="27432">
                    <a:solidFill>
                      <a:srgbClr val="E5F5FF"/>
                    </a:solidFill>
                  </a:tcPr>
                </a:tc>
                <a:tc>
                  <a:txBody>
                    <a:bodyPr/>
                    <a:lstStyle/>
                    <a:p>
                      <a:r>
                        <a:rPr sz="850" b="0">
                          <a:solidFill>
                            <a:srgbClr val="4B4B4B"/>
                          </a:solidFill>
                          <a:latin typeface="Arial"/>
                        </a:rPr>
                        <a:t>Policy issued (e-policy Confirmed)</a:t>
                      </a:r>
                    </a:p>
                  </a:txBody>
                  <a:tcPr marL="54864" marR="54864" marT="27432" marB="27432">
                    <a:solidFill>
                      <a:srgbClr val="E5F5FF"/>
                    </a:solidFill>
                  </a:tcPr>
                </a:tc>
                <a:tc>
                  <a:txBody>
                    <a:bodyPr/>
                    <a:lstStyle/>
                    <a:p>
                      <a:r>
                        <a:rPr sz="850" b="0">
                          <a:solidFill>
                            <a:srgbClr val="4B4B4B"/>
                          </a:solidFill>
                          <a:latin typeface="Arial"/>
                        </a:rPr>
                        <a:t>Workflow notice; Insurance Advice generated when IA_TRIGGER is on policy issue</a:t>
                      </a:r>
                    </a:p>
                  </a:txBody>
                  <a:tcPr marL="54864" marR="54864" marT="27432" marB="27432">
                    <a:solidFill>
                      <a:srgbClr val="E5F5FF"/>
                    </a:solidFill>
                  </a:tcPr>
                </a:tc>
              </a:tr>
              <a:tr h="350518">
                <a:tc>
                  <a:txBody>
                    <a:bodyPr/>
                    <a:lstStyle/>
                    <a:p>
                      <a:r>
                        <a:rPr sz="850" b="0">
                          <a:solidFill>
                            <a:srgbClr val="4B4B4B"/>
                          </a:solidFill>
                          <a:latin typeface="Arial"/>
                        </a:rPr>
                        <a:t>Reject</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E-policy received or in review</a:t>
                      </a:r>
                    </a:p>
                  </a:txBody>
                  <a:tcPr marL="54864" marR="54864" marT="27432" marB="27432">
                    <a:solidFill>
                      <a:srgbClr val="FFFFFF"/>
                    </a:solidFill>
                  </a:tcPr>
                </a:tc>
                <a:tc>
                  <a:txBody>
                    <a:bodyPr/>
                    <a:lstStyle/>
                    <a:p>
                      <a:r>
                        <a:rPr sz="850" b="0">
                          <a:solidFill>
                            <a:srgbClr val="4B4B4B"/>
                          </a:solidFill>
                          <a:latin typeface="Arial"/>
                        </a:rPr>
                        <a:t>Asks for the reject reason and remarks</a:t>
                      </a:r>
                    </a:p>
                  </a:txBody>
                  <a:tcPr marL="54864" marR="54864" marT="27432" marB="27432">
                    <a:solidFill>
                      <a:srgbClr val="FFFFFF"/>
                    </a:solidFill>
                  </a:tcPr>
                </a:tc>
                <a:tc>
                  <a:txBody>
                    <a:bodyPr/>
                    <a:lstStyle/>
                    <a:p>
                      <a:r>
                        <a:rPr sz="850" b="0">
                          <a:solidFill>
                            <a:srgbClr val="4B4B4B"/>
                          </a:solidFill>
                          <a:latin typeface="Arial"/>
                        </a:rPr>
                        <a:t>Unchanged (e-policy 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multi-year account needs one policy number per policy year (FR-NB-101, FR-NB-114).</a:t>
                      </a:r>
                    </a:p>
                  </a:txBody>
                  <a:tcPr marL="54864" marR="54864" marT="27432" marB="27432">
                    <a:solidFill>
                      <a:srgbClr val="FFFFFF"/>
                    </a:solidFill>
                  </a:tcPr>
                </a:tc>
              </a:tr>
              <a:tr h="243840">
                <a:tc>
                  <a:txBody>
                    <a:bodyPr/>
                    <a:lstStyle/>
                    <a:p>
                      <a:r>
                        <a:rPr sz="1000" b="0">
                          <a:solidFill>
                            <a:srgbClr val="4B4B4B"/>
                          </a:solidFill>
                          <a:latin typeface="Arial"/>
                        </a:rPr>
                        <a:t>Extraction reads the text of the PDF; scanned policies are completed by hand until OCR is available (FR-NB-101).</a:t>
                      </a:r>
                    </a:p>
                  </a:txBody>
                  <a:tcPr marL="54864" marR="54864" marT="27432" marB="27432">
                    <a:solidFill>
                      <a:srgbClr val="E5F5FF"/>
                    </a:solidFill>
                  </a:tcPr>
                </a:tc>
              </a:tr>
            </a:tbl>
          </a:graphicData>
        </a:graphic>
      </p:graphicFrame>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429</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14</a:t>
                      </a:r>
                    </a:p>
                  </a:txBody>
                  <a:tcPr marL="54864" marR="54864" marT="27432" marB="27432">
                    <a:solidFill>
                      <a:srgbClr val="FFFFFF"/>
                    </a:solidFill>
                  </a:tcPr>
                </a:tc>
                <a:tc>
                  <a:txBody>
                    <a:bodyPr/>
                    <a:lstStyle/>
                    <a:p>
                      <a:r>
                        <a:rPr sz="900" b="0">
                          <a:solidFill>
                            <a:srgbClr val="4B4B4B"/>
                          </a:solidFill>
                          <a:latin typeface="Arial"/>
                        </a:rPr>
                        <a:t>Checks the extracted policy number against the account and clicks Confirm Policy</a:t>
                      </a:r>
                    </a:p>
                  </a:txBody>
                  <a:tcPr marL="54864" marR="54864" marT="27432" marB="27432">
                    <a:solidFill>
                      <a:srgbClr val="FFFFFF"/>
                    </a:solidFill>
                  </a:tcPr>
                </a:tc>
                <a:tc>
                  <a:txBody>
                    <a:bodyPr/>
                    <a:lstStyle/>
                    <a:p>
                      <a:r>
                        <a:rPr sz="900" b="0">
                          <a:solidFill>
                            <a:srgbClr val="4B4B4B"/>
                          </a:solidFill>
                          <a:latin typeface="Arial"/>
                        </a:rPr>
                        <a:t>SCR-NB-25_wt-a-step-14.png</a:t>
                      </a:r>
                    </a:p>
                  </a:txBody>
                  <a:tcPr marL="54864" marR="54864" marT="27432" marB="27432">
                    <a:solidFill>
                      <a:srgbClr val="FFFFFF"/>
                    </a:solidFill>
                  </a:tcPr>
                </a:tc>
              </a:tr>
            </a:tbl>
          </a:graphicData>
        </a:graphic>
      </p:graphicFrame>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SCR-NB-25 Extraction Review: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2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Review with the differences to check (part 1 of 2)</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SCR-NB-25 Extraction Review: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22.png"/>
          <p:cNvPicPr>
            <a:picLocks noChangeAspect="1"/>
          </p:cNvPicPr>
          <p:nvPr/>
        </p:nvPicPr>
        <p:blipFill>
          <a:blip r:embed="rId3"/>
          <a:stretch>
            <a:fillRect/>
          </a:stretch>
        </p:blipFill>
        <p:spPr>
          <a:xfrm>
            <a:off x="548640" y="1261872"/>
            <a:ext cx="11094415" cy="34335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Review with the differences to check (part 2 of 2)</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SCR-NB-26 Insurance Advice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CHG-NB-2.1-03</a:t>
            </a:r>
          </a:p>
        </p:txBody>
      </p:sp>
      <p:graphicFrame>
        <p:nvGraphicFramePr>
          <p:cNvPr id="10" name="Table 9"/>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 of Insurance Advices of mortgaged accounts: search by IA number, ARN or client; download the PDF; generate for given accounts; send one or several to the mortgagee bank, password protected.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Insurance Advice</a:t>
                      </a:r>
                    </a:p>
                    <a:p>
                      <a:r>
                        <a:rPr sz="950" b="0">
                          <a:solidFill>
                            <a:srgbClr val="4B4B4B"/>
                          </a:solidFill>
                          <a:latin typeface="Arial"/>
                        </a:rPr>
                        <a:t>Issuance Workbench › IA to Generate</a:t>
                      </a:r>
                    </a:p>
                    <a:p>
                      <a:r>
                        <a:rPr sz="950" b="0">
                          <a:solidFill>
                            <a:srgbClr val="4B4B4B"/>
                          </a:solidFill>
                          <a:latin typeface="Arial"/>
                        </a:rPr>
                        <a:t>Account record › Policy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FR-NB-103, FR-NB-104, FR-NB-107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mortgagee bank receives the Insurance Advice of each mortgaged account.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433</a:t>
            </a:r>
          </a:p>
        </p:txBody>
      </p:sp>
      <p:graphicFrame>
        <p:nvGraphicFramePr>
          <p:cNvPr id="9" name="Table 8"/>
          <p:cNvGraphicFramePr>
            <a:graphicFrameLocks noGrp="1"/>
          </p:cNvGraphicFramePr>
          <p:nvPr/>
        </p:nvGraphicFramePr>
        <p:xfrm>
          <a:off x="548640" y="1325880"/>
          <a:ext cx="11094411" cy="364996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IA No., ARN or client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1 to 50 advices per send</a:t>
                      </a:r>
                    </a:p>
                  </a:txBody>
                  <a:tcPr marL="54864" marR="54864" marT="27432" marB="27432">
                    <a:solidFill>
                      <a:srgbClr val="E5F5FF"/>
                    </a:solidFill>
                  </a:tcPr>
                </a:tc>
                <a:tc>
                  <a:txBody>
                    <a:bodyPr/>
                    <a:lstStyle/>
                    <a:p>
                      <a:r>
                        <a:rPr sz="850" b="0">
                          <a:solidFill>
                            <a:srgbClr val="4B4B4B"/>
                          </a:solidFill>
                          <a:latin typeface="Arial"/>
                        </a:rPr>
                        <a:t>Select between 1 and 50 Insurance Advices</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IA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IA-yyyy-nnnnnn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Insured / ARN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Client name and ARN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Mortgagee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Mortgagee bank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Policy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Policy number or 'to follow'</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Generated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Trigger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 / Last Sent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Generated or Sent; time and recipient of the last send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Actions</a:t>
                      </a:r>
                    </a:p>
                  </a:txBody>
                  <a:tcPr marL="54864" marR="54864" marT="27432" marB="27432">
                    <a:solidFill>
                      <a:srgbClr val="FFFFFF"/>
                    </a:solidFill>
                  </a:tcPr>
                </a:tc>
                <a:tc>
                  <a:txBody>
                    <a:bodyPr/>
                    <a:lstStyle/>
                    <a:p>
                      <a:r>
                        <a:rPr sz="850" b="0">
                          <a:solidFill>
                            <a:srgbClr val="4B4B4B"/>
                          </a:solidFill>
                          <a:latin typeface="Arial"/>
                        </a:rPr>
                        <a:t>Row action menu</a:t>
                      </a:r>
                    </a:p>
                  </a:txBody>
                  <a:tcPr marL="54864" marR="54864" marT="27432" marB="27432">
                    <a:solidFill>
                      <a:srgbClr val="FFFFFF"/>
                    </a:solidFill>
                  </a:tcPr>
                </a:tc>
                <a:tc>
                  <a:txBody>
                    <a:bodyPr/>
                    <a:lstStyle/>
                    <a:p>
                      <a:r>
                        <a:rPr sz="850" b="0">
                          <a:solidFill>
                            <a:srgbClr val="4B4B4B"/>
                          </a:solidFill>
                          <a:latin typeface="Arial"/>
                        </a:rPr>
                        <a:t>Download PDF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Generate dialog</a:t>
                      </a:r>
                    </a:p>
                  </a:txBody>
                  <a:tcPr marL="54864" marR="54864" marT="27432" marB="27432">
                    <a:solidFill>
                      <a:srgbClr val="E5F5FF"/>
                    </a:solidFill>
                  </a:tcPr>
                </a:tc>
                <a:tc>
                  <a:txBody>
                    <a:bodyPr/>
                    <a:lstStyle/>
                    <a:p>
                      <a:r>
                        <a:rPr sz="850" b="0">
                          <a:solidFill>
                            <a:srgbClr val="4B4B4B"/>
                          </a:solidFill>
                          <a:latin typeface="Arial"/>
                        </a:rPr>
                        <a:t>Accounts (ARN)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ARNs separated by commas or new lines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account has a mortgagee and is placed or issued</a:t>
                      </a:r>
                    </a:p>
                  </a:txBody>
                  <a:tcPr marL="54864" marR="54864" marT="27432" marB="27432">
                    <a:solidFill>
                      <a:srgbClr val="E5F5FF"/>
                    </a:solidFill>
                  </a:tcPr>
                </a:tc>
                <a:tc>
                  <a:txBody>
                    <a:bodyPr/>
                    <a:lstStyle/>
                    <a:p>
                      <a:r>
                        <a:rPr sz="850" b="0">
                          <a:solidFill>
                            <a:srgbClr val="4B4B4B"/>
                          </a:solidFill>
                          <a:latin typeface="Arial"/>
                        </a:rPr>
                        <a:t>Account &lt;ARN&gt; has no mortgagee bank: no Insurance Advice / Account &lt;ARN&gt; is &lt;status&gt;; it must be placed first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Send dialog</a:t>
                      </a:r>
                    </a:p>
                  </a:txBody>
                  <a:tcPr marL="54864" marR="54864" marT="27432" marB="27432">
                    <a:solidFill>
                      <a:srgbClr val="FFFFFF"/>
                    </a:solidFill>
                  </a:tcPr>
                </a:tc>
                <a:tc>
                  <a:txBody>
                    <a:bodyPr/>
                    <a:lstStyle/>
                    <a:p>
                      <a:r>
                        <a:rPr sz="850" b="0">
                          <a:solidFill>
                            <a:srgbClr val="4B4B4B"/>
                          </a:solidFill>
                          <a:latin typeface="Arial"/>
                        </a:rPr>
                        <a:t>To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mortgagee bank unit; several addresses separated by commas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valid address</a:t>
                      </a:r>
                    </a:p>
                  </a:txBody>
                  <a:tcPr marL="54864" marR="54864" marT="27432" marB="27432">
                    <a:solidFill>
                      <a:srgbClr val="FFFFFF"/>
                    </a:solidFill>
                  </a:tcPr>
                </a:tc>
                <a:tc>
                  <a:txBody>
                    <a:bodyPr/>
                    <a:lstStyle/>
                    <a:p>
                      <a:r>
                        <a:rPr sz="850" b="0">
                          <a:solidFill>
                            <a:srgbClr val="4B4B4B"/>
                          </a:solidFill>
                          <a:latin typeface="Arial"/>
                        </a:rPr>
                        <a:t>Enter at least one recipient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Cc, Password hint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434</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Generate Insurance Advice</a:t>
                      </a:r>
                    </a:p>
                  </a:txBody>
                  <a:tcPr marL="54864" marR="54864" marT="27432" marB="27432">
                    <a:solidFill>
                      <a:srgbClr val="FFFFFF"/>
                    </a:solidFill>
                  </a:tcPr>
                </a:tc>
                <a:tc>
                  <a:txBody>
                    <a:bodyPr/>
                    <a:lstStyle/>
                    <a:p>
                      <a:r>
                        <a:rPr sz="850" b="0">
                          <a:solidFill>
                            <a:srgbClr val="4B4B4B"/>
                          </a:solidFill>
                          <a:latin typeface="Arial"/>
                        </a:rPr>
                        <a:t>EPOLICY_MANAGE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generate dialog; the outcome of each ARN is listed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Selected</a:t>
                      </a:r>
                    </a:p>
                  </a:txBody>
                  <a:tcPr marL="54864" marR="54864" marT="27432" marB="27432">
                    <a:solidFill>
                      <a:srgbClr val="E5F5FF"/>
                    </a:solidFill>
                  </a:tcPr>
                </a:tc>
                <a:tc>
                  <a:txBody>
                    <a:bodyPr/>
                    <a:lstStyle/>
                    <a:p>
                      <a:r>
                        <a:rPr sz="850" b="0">
                          <a:solidFill>
                            <a:srgbClr val="4B4B4B"/>
                          </a:solidFill>
                          <a:latin typeface="Arial"/>
                        </a:rPr>
                        <a:t>EPOLICY_MANAGE, EPOLICY_SEND or ACCOUNT_MAINTAIN</a:t>
                      </a:r>
                    </a:p>
                  </a:txBody>
                  <a:tcPr marL="54864" marR="54864" marT="27432" marB="27432">
                    <a:solidFill>
                      <a:srgbClr val="E5F5FF"/>
                    </a:solidFill>
                  </a:tcPr>
                </a:tc>
                <a:tc>
                  <a:txBody>
                    <a:bodyPr/>
                    <a:lstStyle/>
                    <a:p>
                      <a:r>
                        <a:rPr sz="850" b="0">
                          <a:solidFill>
                            <a:srgbClr val="4B4B4B"/>
                          </a:solidFill>
                          <a:latin typeface="Arial"/>
                        </a:rPr>
                        <a:t>At least one advice selected</a:t>
                      </a:r>
                    </a:p>
                  </a:txBody>
                  <a:tcPr marL="54864" marR="54864" marT="27432" marB="27432">
                    <a:solidFill>
                      <a:srgbClr val="E5F5FF"/>
                    </a:solidFill>
                  </a:tcPr>
                </a:tc>
                <a:tc>
                  <a:txBody>
                    <a:bodyPr/>
                    <a:lstStyle/>
                    <a:p>
                      <a:r>
                        <a:rPr sz="850" b="0">
                          <a:solidFill>
                            <a:srgbClr val="4B4B4B"/>
                          </a:solidFill>
                          <a:latin typeface="Arial"/>
                        </a:rPr>
                        <a:t>Sends one e-mail per advice with the PDF encrypted; the password follows separately</a:t>
                      </a:r>
                    </a:p>
                  </a:txBody>
                  <a:tcPr marL="54864" marR="54864" marT="27432" marB="27432">
                    <a:solidFill>
                      <a:srgbClr val="E5F5FF"/>
                    </a:solidFill>
                  </a:tcPr>
                </a:tc>
                <a:tc>
                  <a:txBody>
                    <a:bodyPr/>
                    <a:lstStyle/>
                    <a:p>
                      <a:r>
                        <a:rPr sz="850" b="0">
                          <a:solidFill>
                            <a:srgbClr val="4B4B4B"/>
                          </a:solidFill>
                          <a:latin typeface="Arial"/>
                        </a:rPr>
                        <a:t>Unchanged (advice Sent)</a:t>
                      </a:r>
                    </a:p>
                  </a:txBody>
                  <a:tcPr marL="54864" marR="54864" marT="27432" marB="27432">
                    <a:solidFill>
                      <a:srgbClr val="E5F5FF"/>
                    </a:solidFill>
                  </a:tcPr>
                </a:tc>
                <a:tc>
                  <a:txBody>
                    <a:bodyPr/>
                    <a:lstStyle/>
                    <a:p>
                      <a:r>
                        <a:rPr sz="850" b="0">
                          <a:solidFill>
                            <a:srgbClr val="4B4B4B"/>
                          </a:solidFill>
                          <a:latin typeface="Arial"/>
                        </a:rPr>
                        <a:t>E-mail to the mortgagee bank and the password e-mail</a:t>
                      </a:r>
                    </a:p>
                  </a:txBody>
                  <a:tcPr marL="54864" marR="54864" marT="27432" marB="27432">
                    <a:solidFill>
                      <a:srgbClr val="E5F5FF"/>
                    </a:solidFill>
                  </a:tcPr>
                </a:tc>
              </a:tr>
              <a:tr h="220979">
                <a:tc>
                  <a:txBody>
                    <a:bodyPr/>
                    <a:lstStyle/>
                    <a:p>
                      <a:r>
                        <a:rPr sz="850" b="0">
                          <a:solidFill>
                            <a:srgbClr val="4B4B4B"/>
                          </a:solidFill>
                          <a:latin typeface="Arial"/>
                        </a:rPr>
                        <a:t>Download PDF</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 (row action menu)</a:t>
                      </a:r>
                    </a:p>
                  </a:txBody>
                  <a:tcPr marL="54864" marR="54864" marT="27432" marB="27432">
                    <a:solidFill>
                      <a:srgbClr val="FFFFFF"/>
                    </a:solidFill>
                  </a:tcPr>
                </a:tc>
                <a:tc>
                  <a:txBody>
                    <a:bodyPr/>
                    <a:lstStyle/>
                    <a:p>
                      <a:r>
                        <a:rPr sz="850" b="0">
                          <a:solidFill>
                            <a:srgbClr val="4B4B4B"/>
                          </a:solidFill>
                          <a:latin typeface="Arial"/>
                        </a:rPr>
                        <a:t>Downloads the advice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435</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advice is generated from the Insurance Advice template (FR-NB-103, FR-NB-104).</a:t>
                      </a:r>
                    </a:p>
                  </a:txBody>
                  <a:tcPr marL="54864" marR="54864" marT="27432" marB="27432">
                    <a:solidFill>
                      <a:srgbClr val="FFFFFF"/>
                    </a:solidFill>
                  </a:tcPr>
                </a:tc>
              </a:tr>
              <a:tr h="243840">
                <a:tc>
                  <a:txBody>
                    <a:bodyPr/>
                    <a:lstStyle/>
                    <a:p>
                      <a:r>
                        <a:rPr sz="1000" b="0">
                          <a:solidFill>
                            <a:srgbClr val="4B4B4B"/>
                          </a:solidFill>
                          <a:latin typeface="Arial"/>
                        </a:rPr>
                        <a:t>Documents that leave BIBS are password protected (FR-NB-013).</a:t>
                      </a:r>
                    </a:p>
                  </a:txBody>
                  <a:tcPr marL="54864" marR="54864" marT="27432" marB="27432">
                    <a:solidFill>
                      <a:srgbClr val="E5F5FF"/>
                    </a:solidFill>
                  </a:tcPr>
                </a:tc>
              </a:tr>
              <a:tr h="396240">
                <a:tc>
                  <a:txBody>
                    <a:bodyPr/>
                    <a:lstStyle/>
                    <a:p>
                      <a:r>
                        <a:rPr sz="1000" b="0">
                          <a:solidFill>
                            <a:srgbClr val="4B4B4B"/>
                          </a:solidFill>
                          <a:latin typeface="Arial"/>
                        </a:rPr>
                        <a:t>An advice whose mortgagee is enrolled in the MIS set-up for automatic sending is sent when it is generated; the others wait here for manual sending, and a failed automatic sending is sent again from this screen (FR-NB-107, CLR-NB-48).</a:t>
                      </a:r>
                    </a:p>
                  </a:txBody>
                  <a:tcPr marL="54864" marR="54864" marT="27432" marB="27432">
                    <a:solidFill>
                      <a:srgbClr val="FFFFFF"/>
                    </a:solidFill>
                  </a:tcPr>
                </a:tc>
              </a:tr>
            </a:tbl>
          </a:graphicData>
        </a:graphic>
      </p:graphicFrame>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SCR-NB-26 Insurance Advice: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CHG-NB-2.1-03</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nb-26-01-list.png"/>
          <p:cNvPicPr>
            <a:picLocks noChangeAspect="1"/>
          </p:cNvPicPr>
          <p:nvPr/>
        </p:nvPicPr>
        <p:blipFill>
          <a:blip r:embed="rId3"/>
          <a:stretch>
            <a:fillRect/>
          </a:stretch>
        </p:blipFill>
        <p:spPr>
          <a:xfrm>
            <a:off x="1524760" y="1261872"/>
            <a:ext cx="9142174"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Insurance Advice register</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SCR-NB-26 Insurance Advice: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CHG-NB-2.1-03</a:t>
            </a:r>
          </a:p>
        </p:txBody>
      </p:sp>
      <p:sp>
        <p:nvSpPr>
          <p:cNvPr id="10" name="Rounded Rectangle 9"/>
          <p:cNvSpPr/>
          <p:nvPr/>
        </p:nvSpPr>
        <p:spPr>
          <a:xfrm>
            <a:off x="5937199"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1" name="Picture 10" descr="scr-nb-26-02-send.png"/>
          <p:cNvPicPr>
            <a:picLocks noChangeAspect="1"/>
          </p:cNvPicPr>
          <p:nvPr/>
        </p:nvPicPr>
        <p:blipFill>
          <a:blip r:embed="rId3"/>
          <a:stretch>
            <a:fillRect/>
          </a:stretch>
        </p:blipFill>
        <p:spPr>
          <a:xfrm>
            <a:off x="1723254" y="1261872"/>
            <a:ext cx="8745186"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Insurance Advice dialog</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E-policy Dispatch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438</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Issuance and e-policy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Sends the confirmed e-policies to the clients, one by one or in a batch, encrypted with the password in a separate e-mail; the Dispatch Report lists every e-policy e-mail with its outcome.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E-policy Sender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Policy Issuance › E-policy Dispatch</a:t>
                      </a:r>
                    </a:p>
                    <a:p>
                      <a:r>
                        <a:rPr sz="950" b="0">
                          <a:solidFill>
                            <a:srgbClr val="4B4B4B"/>
                          </a:solidFill>
                          <a:latin typeface="Arial"/>
                        </a:rPr>
                        <a:t>Issuance Workbench › Ready to Dispatch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FR-NB-105, FR-NB-106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 receives the e-policy; the dispatch report proves each delivery.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439</a:t>
            </a:r>
          </a:p>
        </p:txBody>
      </p:sp>
      <p:graphicFrame>
        <p:nvGraphicFramePr>
          <p:cNvPr id="9" name="Table 8"/>
          <p:cNvGraphicFramePr>
            <a:graphicFrameLocks noGrp="1"/>
          </p:cNvGraphicFramePr>
          <p:nvPr/>
        </p:nvGraphicFramePr>
        <p:xfrm>
          <a:off x="548640" y="1325880"/>
          <a:ext cx="11094411" cy="197356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Ready to Dispatch / Dispatch Report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Ready to Dispatch</a:t>
                      </a:r>
                    </a:p>
                  </a:txBody>
                  <a:tcPr marL="54864" marR="54864" marT="27432" marB="27432">
                    <a:solidFill>
                      <a:srgbClr val="E5F5FF"/>
                    </a:solidFill>
                  </a:tcPr>
                </a:tc>
                <a:tc>
                  <a:txBody>
                    <a:bodyPr/>
                    <a:lstStyle/>
                    <a:p>
                      <a:r>
                        <a:rPr sz="850" b="0">
                          <a:solidFill>
                            <a:srgbClr val="4B4B4B"/>
                          </a:solidFill>
                          <a:latin typeface="Arial"/>
                        </a:rPr>
                        <a:t>Name / Client Code, ARN, Policy No., E-policy,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Send in the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Send dialog</a:t>
                      </a:r>
                    </a:p>
                  </a:txBody>
                  <a:tcPr marL="54864" marR="54864" marT="27432" marB="27432">
                    <a:solidFill>
                      <a:srgbClr val="FFFFFF"/>
                    </a:solidFill>
                  </a:tcPr>
                </a:tc>
                <a:tc>
                  <a:txBody>
                    <a:bodyPr/>
                    <a:lstStyle/>
                    <a:p>
                      <a:r>
                        <a:rPr sz="850" b="0">
                          <a:solidFill>
                            <a:srgbClr val="4B4B4B"/>
                          </a:solidFill>
                          <a:latin typeface="Arial"/>
                        </a:rPr>
                        <a:t>To, Cc, Subject, Message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As on Send via Email</a:t>
                      </a:r>
                    </a:p>
                  </a:txBody>
                  <a:tcPr marL="54864" marR="54864" marT="27432" marB="27432">
                    <a:solidFill>
                      <a:srgbClr val="FFFFFF"/>
                    </a:solidFill>
                  </a:tcPr>
                </a:tc>
                <a:tc>
                  <a:txBody>
                    <a:bodyPr/>
                    <a:lstStyle/>
                    <a:p>
                      <a:r>
                        <a:rPr sz="850" b="0">
                          <a:solidFill>
                            <a:srgbClr val="4B4B4B"/>
                          </a:solidFill>
                          <a:latin typeface="Arial"/>
                        </a:rPr>
                        <a:t>To, Subject and Message Y</a:t>
                      </a:r>
                    </a:p>
                  </a:txBody>
                  <a:tcPr marL="54864" marR="54864" marT="27432" marB="27432">
                    <a:solidFill>
                      <a:srgbClr val="FFFFFF"/>
                    </a:solidFill>
                  </a:tcPr>
                </a:tc>
                <a:tc>
                  <a:txBody>
                    <a:bodyPr/>
                    <a:lstStyle/>
                    <a:p>
                      <a:r>
                        <a:rPr sz="850" b="0">
                          <a:solidFill>
                            <a:srgbClr val="4B4B4B"/>
                          </a:solidFill>
                          <a:latin typeface="Arial"/>
                        </a:rPr>
                        <a:t>A recipient is known or entered</a:t>
                      </a:r>
                    </a:p>
                  </a:txBody>
                  <a:tcPr marL="54864" marR="54864" marT="27432" marB="27432">
                    <a:solidFill>
                      <a:srgbClr val="FFFFFF"/>
                    </a:solidFill>
                  </a:tcPr>
                </a:tc>
                <a:tc>
                  <a:txBody>
                    <a:bodyPr/>
                    <a:lstStyle/>
                    <a:p>
                      <a:r>
                        <a:rPr sz="850" b="0">
                          <a:solidFill>
                            <a:srgbClr val="4B4B4B"/>
                          </a:solidFill>
                          <a:latin typeface="Arial"/>
                        </a:rPr>
                        <a:t>Account &lt;ARN&gt; has no contact e-mail: enter the recipient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Password hint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300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Dispatch Report</a:t>
                      </a:r>
                    </a:p>
                  </a:txBody>
                  <a:tcPr marL="54864" marR="54864" marT="27432" marB="27432">
                    <a:solidFill>
                      <a:srgbClr val="FFFFFF"/>
                    </a:solidFill>
                  </a:tcPr>
                </a:tc>
                <a:tc>
                  <a:txBody>
                    <a:bodyPr/>
                    <a:lstStyle/>
                    <a:p>
                      <a:r>
                        <a:rPr sz="850" b="0">
                          <a:solidFill>
                            <a:srgbClr val="4B4B4B"/>
                          </a:solidFill>
                          <a:latin typeface="Arial"/>
                        </a:rPr>
                        <a:t>Queued, Reference No., To, Subject, Outcome, Delivered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Outcome Queued, Sent or Failed with the error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440</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Send (row action menu)</a:t>
                      </a:r>
                    </a:p>
                  </a:txBody>
                  <a:tcPr marL="54864" marR="54864" marT="27432" marB="27432">
                    <a:solidFill>
                      <a:srgbClr val="FFFFFF"/>
                    </a:solidFill>
                  </a:tcPr>
                </a:tc>
                <a:tc>
                  <a:txBody>
                    <a:bodyPr/>
                    <a:lstStyle/>
                    <a:p>
                      <a:r>
                        <a:rPr sz="850" b="0">
                          <a:solidFill>
                            <a:srgbClr val="4B4B4B"/>
                          </a:solidFill>
                          <a:latin typeface="Arial"/>
                        </a:rPr>
                        <a:t>EPOLICY_SEND</a:t>
                      </a:r>
                    </a:p>
                  </a:txBody>
                  <a:tcPr marL="54864" marR="54864" marT="27432" marB="27432">
                    <a:solidFill>
                      <a:srgbClr val="FFFFFF"/>
                    </a:solidFill>
                  </a:tcPr>
                </a:tc>
                <a:tc>
                  <a:txBody>
                    <a:bodyPr/>
                    <a:lstStyle/>
                    <a:p>
                      <a:r>
                        <a:rPr sz="850" b="0">
                          <a:solidFill>
                            <a:srgbClr val="4B4B4B"/>
                          </a:solidFill>
                          <a:latin typeface="Arial"/>
                        </a:rPr>
                        <a:t>Ready to Dispatch</a:t>
                      </a:r>
                    </a:p>
                  </a:txBody>
                  <a:tcPr marL="54864" marR="54864" marT="27432" marB="27432">
                    <a:solidFill>
                      <a:srgbClr val="FFFFFF"/>
                    </a:solidFill>
                  </a:tcPr>
                </a:tc>
                <a:tc>
                  <a:txBody>
                    <a:bodyPr/>
                    <a:lstStyle/>
                    <a:p>
                      <a:r>
                        <a:rPr sz="850" b="0">
                          <a:solidFill>
                            <a:srgbClr val="4B4B4B"/>
                          </a:solidFill>
                          <a:latin typeface="Arial"/>
                        </a:rPr>
                        <a:t>Opens the send dialog for the e-policy</a:t>
                      </a:r>
                    </a:p>
                  </a:txBody>
                  <a:tcPr marL="54864" marR="54864" marT="27432" marB="27432">
                    <a:solidFill>
                      <a:srgbClr val="FFFFFF"/>
                    </a:solidFill>
                  </a:tcPr>
                </a:tc>
                <a:tc>
                  <a:txBody>
                    <a:bodyPr/>
                    <a:lstStyle/>
                    <a:p>
                      <a:r>
                        <a:rPr sz="850" b="0">
                          <a:solidFill>
                            <a:srgbClr val="4B4B4B"/>
                          </a:solidFill>
                          <a:latin typeface="Arial"/>
                        </a:rPr>
                        <a:t>Unchanged (e-policy Dispatched)</a:t>
                      </a:r>
                    </a:p>
                  </a:txBody>
                  <a:tcPr marL="54864" marR="54864" marT="27432" marB="27432">
                    <a:solidFill>
                      <a:srgbClr val="FFFFFF"/>
                    </a:solidFill>
                  </a:tcPr>
                </a:tc>
                <a:tc>
                  <a:txBody>
                    <a:bodyPr/>
                    <a:lstStyle/>
                    <a:p>
                      <a:r>
                        <a:rPr sz="850" b="0">
                          <a:solidFill>
                            <a:srgbClr val="4B4B4B"/>
                          </a:solidFill>
                          <a:latin typeface="Arial"/>
                        </a:rPr>
                        <a:t>E-mail to the client and the password e-mail</a:t>
                      </a:r>
                    </a:p>
                  </a:txBody>
                  <a:tcPr marL="54864" marR="54864" marT="27432" marB="27432">
                    <a:solidFill>
                      <a:srgbClr val="FFFFFF"/>
                    </a:solidFill>
                  </a:tcPr>
                </a:tc>
              </a:tr>
              <a:tr h="350518">
                <a:tc>
                  <a:txBody>
                    <a:bodyPr/>
                    <a:lstStyle/>
                    <a:p>
                      <a:r>
                        <a:rPr sz="850" b="0">
                          <a:solidFill>
                            <a:srgbClr val="4B4B4B"/>
                          </a:solidFill>
                          <a:latin typeface="Arial"/>
                        </a:rPr>
                        <a:t>Send Selected</a:t>
                      </a:r>
                    </a:p>
                  </a:txBody>
                  <a:tcPr marL="54864" marR="54864" marT="27432" marB="27432">
                    <a:solidFill>
                      <a:srgbClr val="E5F5FF"/>
                    </a:solidFill>
                  </a:tcPr>
                </a:tc>
                <a:tc>
                  <a:txBody>
                    <a:bodyPr/>
                    <a:lstStyle/>
                    <a:p>
                      <a:r>
                        <a:rPr sz="850" b="0">
                          <a:solidFill>
                            <a:srgbClr val="4B4B4B"/>
                          </a:solidFill>
                          <a:latin typeface="Arial"/>
                        </a:rPr>
                        <a:t>EPOLICY_SEND</a:t>
                      </a:r>
                    </a:p>
                  </a:txBody>
                  <a:tcPr marL="54864" marR="54864" marT="27432" marB="27432">
                    <a:solidFill>
                      <a:srgbClr val="E5F5FF"/>
                    </a:solidFill>
                  </a:tcPr>
                </a:tc>
                <a:tc>
                  <a:txBody>
                    <a:bodyPr/>
                    <a:lstStyle/>
                    <a:p>
                      <a:r>
                        <a:rPr sz="850" b="0">
                          <a:solidFill>
                            <a:srgbClr val="4B4B4B"/>
                          </a:solidFill>
                          <a:latin typeface="Arial"/>
                        </a:rPr>
                        <a:t>At least one e-policy selected</a:t>
                      </a:r>
                    </a:p>
                  </a:txBody>
                  <a:tcPr marL="54864" marR="54864" marT="27432" marB="27432">
                    <a:solidFill>
                      <a:srgbClr val="E5F5FF"/>
                    </a:solidFill>
                  </a:tcPr>
                </a:tc>
                <a:tc>
                  <a:txBody>
                    <a:bodyPr/>
                    <a:lstStyle/>
                    <a:p>
                      <a:r>
                        <a:rPr sz="850" b="0">
                          <a:solidFill>
                            <a:srgbClr val="4B4B4B"/>
                          </a:solidFill>
                          <a:latin typeface="Arial"/>
                        </a:rPr>
                        <a:t>Asks for an optional hint and sends each e-policy; the outcome of each is listed</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E-mail to each client and the password e-mail</a:t>
                      </a:r>
                    </a:p>
                  </a:txBody>
                  <a:tcPr marL="54864" marR="54864" marT="27432" marB="27432">
                    <a:solidFill>
                      <a:srgbClr val="E5F5FF"/>
                    </a:solidFill>
                  </a:tcPr>
                </a:tc>
              </a:tr>
            </a:tbl>
          </a:graphicData>
        </a:graphic>
      </p:graphicFrame>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e-policy is sent only after its policy data is confirmed (FR-NB-105).</a:t>
                      </a:r>
                    </a:p>
                  </a:txBody>
                  <a:tcPr marL="54864" marR="54864" marT="27432" marB="27432">
                    <a:solidFill>
                      <a:srgbClr val="FFFFFF"/>
                    </a:solidFill>
                  </a:tcPr>
                </a:tc>
              </a:tr>
              <a:tr h="243840">
                <a:tc>
                  <a:txBody>
                    <a:bodyPr/>
                    <a:lstStyle/>
                    <a:p>
                      <a:r>
                        <a:rPr sz="1000" b="0">
                          <a:solidFill>
                            <a:srgbClr val="4B4B4B"/>
                          </a:solidFill>
                          <a:latin typeface="Arial"/>
                        </a:rPr>
                        <a:t>Failed e-mails are retried up to MAIL_MAX_ATTEMPTS (3) and reported with their reason (FR-NB-106).</a:t>
                      </a:r>
                    </a:p>
                  </a:txBody>
                  <a:tcPr marL="54864" marR="54864" marT="27432" marB="27432">
                    <a:solidFill>
                      <a:srgbClr val="E5F5FF"/>
                    </a:solidFill>
                  </a:tcPr>
                </a:tc>
              </a:tr>
            </a:tbl>
          </a:graphicData>
        </a:graphic>
      </p:graphicFrame>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442</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15</a:t>
                      </a:r>
                    </a:p>
                  </a:txBody>
                  <a:tcPr marL="54864" marR="54864" marT="27432" marB="27432">
                    <a:solidFill>
                      <a:srgbClr val="FFFFFF"/>
                    </a:solidFill>
                  </a:tcPr>
                </a:tc>
                <a:tc>
                  <a:txBody>
                    <a:bodyPr/>
                    <a:lstStyle/>
                    <a:p>
                      <a:r>
                        <a:rPr sz="900" b="0">
                          <a:solidFill>
                            <a:srgbClr val="4B4B4B"/>
                          </a:solidFill>
                          <a:latin typeface="Arial"/>
                        </a:rPr>
                        <a:t>Sends the e-policy to the client from Ready to Dispatch</a:t>
                      </a:r>
                    </a:p>
                  </a:txBody>
                  <a:tcPr marL="54864" marR="54864" marT="27432" marB="27432">
                    <a:solidFill>
                      <a:srgbClr val="FFFFFF"/>
                    </a:solidFill>
                  </a:tcPr>
                </a:tc>
                <a:tc>
                  <a:txBody>
                    <a:bodyPr/>
                    <a:lstStyle/>
                    <a:p>
                      <a:r>
                        <a:rPr sz="900" b="0">
                          <a:solidFill>
                            <a:srgbClr val="4B4B4B"/>
                          </a:solidFill>
                          <a:latin typeface="Arial"/>
                        </a:rPr>
                        <a:t>SCR-NB-27_wt-a-step-15.png</a:t>
                      </a:r>
                    </a:p>
                  </a:txBody>
                  <a:tcPr marL="54864" marR="54864" marT="27432" marB="27432">
                    <a:solidFill>
                      <a:srgbClr val="FFFFFF"/>
                    </a:solidFill>
                  </a:tcPr>
                </a:tc>
              </a:tr>
            </a:tbl>
          </a:graphicData>
        </a:graphic>
      </p:graphicFrame>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E-policy Dispatch: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7-01-list.png"/>
          <p:cNvPicPr>
            <a:picLocks noChangeAspect="1"/>
          </p:cNvPicPr>
          <p:nvPr/>
        </p:nvPicPr>
        <p:blipFill>
          <a:blip r:embed="rId3"/>
          <a:stretch>
            <a:fillRect/>
          </a:stretch>
        </p:blipFill>
        <p:spPr>
          <a:xfrm>
            <a:off x="1259187" y="1261872"/>
            <a:ext cx="967332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E-policy Dispatch, Ready to Dispatch tab</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SCR-NB-27 E-policy Dispatch: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7-02-report.png"/>
          <p:cNvPicPr>
            <a:picLocks noChangeAspect="1"/>
          </p:cNvPicPr>
          <p:nvPr/>
        </p:nvPicPr>
        <p:blipFill>
          <a:blip r:embed="rId3"/>
          <a:stretch>
            <a:fillRect/>
          </a:stretch>
        </p:blipFill>
        <p:spPr>
          <a:xfrm>
            <a:off x="1100896" y="1261872"/>
            <a:ext cx="998990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Dispatch Report tab</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Booking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445</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Books issued accounts one by one or in batches: accounts ready to book, the queue of the end-of-day batch, the accounts booked and the failures. Accounts sent from the Placement Workbench arrive selected.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Booking Workbench</a:t>
                      </a:r>
                    </a:p>
                    <a:p>
                      <a:r>
                        <a:rPr sz="950" b="0">
                          <a:solidFill>
                            <a:srgbClr val="4B4B4B"/>
                          </a:solidFill>
                          <a:latin typeface="Arial"/>
                        </a:rPr>
                        <a:t>Placement Workbench › For Booking (the accounts are handed over and selected)</a:t>
                      </a:r>
                    </a:p>
                    <a:p>
                      <a:r>
                        <a:rPr sz="950" b="0">
                          <a:solidFill>
                            <a:srgbClr val="4B4B4B"/>
                          </a:solidFill>
                          <a:latin typeface="Arial"/>
                        </a:rPr>
                        <a:t>Account record › Placement and booking</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FR-NB-110, FR-NB-111, FR-NB-112, FR-NB-114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issued accounts are booked with their invoice, GL entry and service invoice.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446</a:t>
            </a:r>
          </a:p>
        </p:txBody>
      </p:sp>
      <p:graphicFrame>
        <p:nvGraphicFramePr>
          <p:cNvPr id="9" name="Table 8"/>
          <p:cNvGraphicFramePr>
            <a:graphicFrameLocks noGrp="1"/>
          </p:cNvGraphicFramePr>
          <p:nvPr/>
        </p:nvGraphicFramePr>
        <p:xfrm>
          <a:off x="548640" y="1325880"/>
          <a:ext cx="11094411" cy="346708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Ready to Book / Queued for Batch / Booked Today / Failed</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Counts; Failed is an alert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Ready to Book / Queued for Batch / Booked Account / Failed</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Handed-over banner</a:t>
                      </a:r>
                    </a:p>
                  </a:txBody>
                  <a:tcPr marL="54864" marR="54864" marT="27432" marB="27432">
                    <a:solidFill>
                      <a:srgbClr val="FFFFFF"/>
                    </a:solidFill>
                  </a:tcPr>
                </a:tc>
                <a:tc>
                  <a:txBody>
                    <a:bodyPr/>
                    <a:lstStyle/>
                    <a:p>
                      <a:r>
                        <a:rPr sz="850" b="0">
                          <a:solidFill>
                            <a:srgbClr val="4B4B4B"/>
                          </a:solidFill>
                          <a:latin typeface="Arial"/>
                        </a:rPr>
                        <a:t>Accounts sent from placement</a:t>
                      </a:r>
                    </a:p>
                  </a:txBody>
                  <a:tcPr marL="54864" marR="54864" marT="27432" marB="27432">
                    <a:solidFill>
                      <a:srgbClr val="FFFFFF"/>
                    </a:solidFill>
                  </a:tcPr>
                </a:tc>
                <a:tc>
                  <a:txBody>
                    <a:bodyPr/>
                    <a:lstStyle/>
                    <a:p>
                      <a:r>
                        <a:rPr sz="850" b="0">
                          <a:solidFill>
                            <a:srgbClr val="4B4B4B"/>
                          </a:solidFill>
                          <a:latin typeface="Arial"/>
                        </a:rPr>
                        <a:t>Banner</a:t>
                      </a:r>
                    </a:p>
                  </a:txBody>
                  <a:tcPr marL="54864" marR="54864" marT="27432" marB="27432">
                    <a:solidFill>
                      <a:srgbClr val="FFFFFF"/>
                    </a:solidFill>
                  </a:tcPr>
                </a:tc>
                <a:tc>
                  <a:txBody>
                    <a:bodyPr/>
                    <a:lstStyle/>
                    <a:p>
                      <a:r>
                        <a:rPr sz="850" b="0">
                          <a:solidFill>
                            <a:srgbClr val="4B4B4B"/>
                          </a:solidFill>
                          <a:latin typeface="Arial"/>
                        </a:rPr>
                        <a:t>The ARNs sent by the Placement Workbench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&lt;n&gt; account(s) sent from placement for booking: &lt;ARNs&gt;. They are selected on this page when listed.</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Reference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ARN or client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product lines, or one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Name / Client Code, ARN, Invoice No., Status, Product Line, Department, Booking Date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Book Now / Confirm Batch dialog</a:t>
                      </a:r>
                    </a:p>
                  </a:txBody>
                  <a:tcPr marL="54864" marR="54864" marT="27432" marB="27432">
                    <a:solidFill>
                      <a:srgbClr val="E5F5FF"/>
                    </a:solidFill>
                  </a:tcPr>
                </a:tc>
                <a:tc>
                  <a:txBody>
                    <a:bodyPr/>
                    <a:lstStyle/>
                    <a:p>
                      <a:r>
                        <a:rPr sz="850" b="0">
                          <a:solidFill>
                            <a:srgbClr val="4B4B4B"/>
                          </a:solidFill>
                          <a:latin typeface="Arial"/>
                        </a:rPr>
                        <a:t>Booking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not in the future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Its accounting period must be open; not in the future</a:t>
                      </a:r>
                    </a:p>
                  </a:txBody>
                  <a:tcPr marL="54864" marR="54864" marT="27432" marB="27432">
                    <a:solidFill>
                      <a:srgbClr val="E5F5FF"/>
                    </a:solidFill>
                  </a:tcPr>
                </a:tc>
                <a:tc>
                  <a:txBody>
                    <a:bodyPr/>
                    <a:lstStyle/>
                    <a:p>
                      <a:r>
                        <a:rPr sz="850" b="0">
                          <a:solidFill>
                            <a:srgbClr val="4B4B4B"/>
                          </a:solidFill>
                          <a:latin typeface="Arial"/>
                        </a:rPr>
                        <a:t>The booking date &lt;date&gt; is in the future</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Edit queued dialog</a:t>
                      </a:r>
                    </a:p>
                  </a:txBody>
                  <a:tcPr marL="54864" marR="54864" marT="27432" marB="27432">
                    <a:solidFill>
                      <a:srgbClr val="FFFFFF"/>
                    </a:solidFill>
                  </a:tcPr>
                </a:tc>
                <a:tc>
                  <a:txBody>
                    <a:bodyPr/>
                    <a:lstStyle/>
                    <a:p>
                      <a:r>
                        <a:rPr sz="850" b="0">
                          <a:solidFill>
                            <a:srgbClr val="4B4B4B"/>
                          </a:solidFill>
                          <a:latin typeface="Arial"/>
                        </a:rPr>
                        <a:t>Booking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blank = the batch date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in the future</a:t>
                      </a:r>
                    </a:p>
                  </a:txBody>
                  <a:tcPr marL="54864" marR="54864" marT="27432" marB="27432">
                    <a:solidFill>
                      <a:srgbClr val="FFFFFF"/>
                    </a:solidFill>
                  </a:tcPr>
                </a:tc>
                <a:tc>
                  <a:txBody>
                    <a:bodyPr/>
                    <a:lstStyle/>
                    <a:p>
                      <a:r>
                        <a:rPr sz="850" b="0">
                          <a:solidFill>
                            <a:srgbClr val="4B4B4B"/>
                          </a:solidFill>
                          <a:latin typeface="Arial"/>
                        </a:rPr>
                        <a:t>The booking date &lt;date&gt; is in the future</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Edit queued dialog</a:t>
                      </a:r>
                    </a:p>
                  </a:txBody>
                  <a:tcPr marL="54864" marR="54864" marT="27432" marB="27432">
                    <a:solidFill>
                      <a:srgbClr val="E5F5FF"/>
                    </a:solidFill>
                  </a:tcPr>
                </a:tc>
                <a:tc>
                  <a:txBody>
                    <a:bodyPr/>
                    <a:lstStyle/>
                    <a:p>
                      <a:r>
                        <a:rPr sz="850" b="0">
                          <a:solidFill>
                            <a:srgbClr val="4B4B4B"/>
                          </a:solidFill>
                          <a:latin typeface="Arial"/>
                        </a:rPr>
                        <a:t>Cost center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Blank = the account's cost center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447</a:t>
            </a:r>
          </a:p>
        </p:txBody>
      </p:sp>
      <p:graphicFrame>
        <p:nvGraphicFramePr>
          <p:cNvPr id="9" name="Table 8"/>
          <p:cNvGraphicFramePr>
            <a:graphicFrameLocks noGrp="1"/>
          </p:cNvGraphicFramePr>
          <p:nvPr/>
        </p:nvGraphicFramePr>
        <p:xfrm>
          <a:off x="548640" y="1325880"/>
          <a:ext cx="11094412" cy="324610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Batch Runs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Batch Runs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Bookings</a:t>
                      </a:r>
                    </a:p>
                  </a:txBody>
                  <a:tcPr marL="54864" marR="54864" marT="27432" marB="27432">
                    <a:solidFill>
                      <a:srgbClr val="E5F5FF"/>
                    </a:solidFill>
                  </a:tcPr>
                </a:tc>
                <a:tc>
                  <a:txBody>
                    <a:bodyPr/>
                    <a:lstStyle/>
                    <a:p>
                      <a:r>
                        <a:rPr sz="850" b="0">
                          <a:solidFill>
                            <a:srgbClr val="4B4B4B"/>
                          </a:solidFill>
                          <a:latin typeface="Arial"/>
                        </a:rPr>
                        <a:t>BOOKING_PROCESS and BULK_PROCESS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Upload Bookings upload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Add All to Batch</a:t>
                      </a:r>
                    </a:p>
                  </a:txBody>
                  <a:tcPr marL="54864" marR="54864" marT="27432" marB="27432">
                    <a:solidFill>
                      <a:srgbClr val="FFFFFF"/>
                    </a:solidFill>
                  </a:tcPr>
                </a:tc>
                <a:tc>
                  <a:txBody>
                    <a:bodyPr/>
                    <a:lstStyle/>
                    <a:p>
                      <a:r>
                        <a:rPr sz="850" b="0">
                          <a:solidFill>
                            <a:srgbClr val="4B4B4B"/>
                          </a:solidFill>
                          <a:latin typeface="Arial"/>
                        </a:rPr>
                        <a:t>BOOKING_PROCESS</a:t>
                      </a:r>
                    </a:p>
                  </a:txBody>
                  <a:tcPr marL="54864" marR="54864" marT="27432" marB="27432">
                    <a:solidFill>
                      <a:srgbClr val="FFFFFF"/>
                    </a:solidFill>
                  </a:tcPr>
                </a:tc>
                <a:tc>
                  <a:txBody>
                    <a:bodyPr/>
                    <a:lstStyle/>
                    <a:p>
                      <a:r>
                        <a:rPr sz="850" b="0">
                          <a:solidFill>
                            <a:srgbClr val="4B4B4B"/>
                          </a:solidFill>
                          <a:latin typeface="Arial"/>
                        </a:rPr>
                        <a:t>Accounts handed over from placement</a:t>
                      </a:r>
                    </a:p>
                  </a:txBody>
                  <a:tcPr marL="54864" marR="54864" marT="27432" marB="27432">
                    <a:solidFill>
                      <a:srgbClr val="FFFFFF"/>
                    </a:solidFill>
                  </a:tcPr>
                </a:tc>
                <a:tc>
                  <a:txBody>
                    <a:bodyPr/>
                    <a:lstStyle/>
                    <a:p>
                      <a:r>
                        <a:rPr sz="850" b="0">
                          <a:solidFill>
                            <a:srgbClr val="4B4B4B"/>
                          </a:solidFill>
                          <a:latin typeface="Arial"/>
                        </a:rPr>
                        <a:t>Queues the handed-over accounts</a:t>
                      </a:r>
                    </a:p>
                  </a:txBody>
                  <a:tcPr marL="54864" marR="54864" marT="27432" marB="27432">
                    <a:solidFill>
                      <a:srgbClr val="FFFFFF"/>
                    </a:solidFill>
                  </a:tcPr>
                </a:tc>
                <a:tc>
                  <a:txBody>
                    <a:bodyPr/>
                    <a:lstStyle/>
                    <a:p>
                      <a:r>
                        <a:rPr sz="850" b="0">
                          <a:solidFill>
                            <a:srgbClr val="4B4B4B"/>
                          </a:solidFill>
                          <a:latin typeface="Arial"/>
                        </a:rPr>
                        <a:t>Unchanged (queued)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Add to Batch</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Ready to Book or Failed, rows selected</a:t>
                      </a:r>
                    </a:p>
                  </a:txBody>
                  <a:tcPr marL="54864" marR="54864" marT="27432" marB="27432">
                    <a:solidFill>
                      <a:srgbClr val="E5F5FF"/>
                    </a:solidFill>
                  </a:tcPr>
                </a:tc>
                <a:tc>
                  <a:txBody>
                    <a:bodyPr/>
                    <a:lstStyle/>
                    <a:p>
                      <a:r>
                        <a:rPr sz="850" b="0">
                          <a:solidFill>
                            <a:srgbClr val="4B4B4B"/>
                          </a:solidFill>
                          <a:latin typeface="Arial"/>
                        </a:rPr>
                        <a:t>Queues the accounts for the end-of-day batch</a:t>
                      </a:r>
                    </a:p>
                  </a:txBody>
                  <a:tcPr marL="54864" marR="54864" marT="27432" marB="27432">
                    <a:solidFill>
                      <a:srgbClr val="E5F5FF"/>
                    </a:solidFill>
                  </a:tcPr>
                </a:tc>
                <a:tc>
                  <a:txBody>
                    <a:bodyPr/>
                    <a:lstStyle/>
                    <a:p>
                      <a:r>
                        <a:rPr sz="850" b="0">
                          <a:solidFill>
                            <a:srgbClr val="4B4B4B"/>
                          </a:solidFill>
                          <a:latin typeface="Arial"/>
                        </a:rPr>
                        <a:t>Unchanged (queued)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Book Now</a:t>
                      </a:r>
                    </a:p>
                  </a:txBody>
                  <a:tcPr marL="54864" marR="54864" marT="27432" marB="27432">
                    <a:solidFill>
                      <a:srgbClr val="FFFFFF"/>
                    </a:solidFill>
                  </a:tcPr>
                </a:tc>
                <a:tc>
                  <a:txBody>
                    <a:bodyPr/>
                    <a:lstStyle/>
                    <a:p>
                      <a:r>
                        <a:rPr sz="850" b="0">
                          <a:solidFill>
                            <a:srgbClr val="4B4B4B"/>
                          </a:solidFill>
                          <a:latin typeface="Arial"/>
                        </a:rPr>
                        <a:t>BOOKING_PROCESS</a:t>
                      </a:r>
                    </a:p>
                  </a:txBody>
                  <a:tcPr marL="54864" marR="54864" marT="27432" marB="27432">
                    <a:solidFill>
                      <a:srgbClr val="FFFFFF"/>
                    </a:solidFill>
                  </a:tcPr>
                </a:tc>
                <a:tc>
                  <a:txBody>
                    <a:bodyPr/>
                    <a:lstStyle/>
                    <a:p>
                      <a:r>
                        <a:rPr sz="850" b="0">
                          <a:solidFill>
                            <a:srgbClr val="4B4B4B"/>
                          </a:solidFill>
                          <a:latin typeface="Arial"/>
                        </a:rPr>
                        <a:t>Rows selected (not on Booked Account)</a:t>
                      </a:r>
                    </a:p>
                  </a:txBody>
                  <a:tcPr marL="54864" marR="54864" marT="27432" marB="27432">
                    <a:solidFill>
                      <a:srgbClr val="FFFFFF"/>
                    </a:solidFill>
                  </a:tcPr>
                </a:tc>
                <a:tc>
                  <a:txBody>
                    <a:bodyPr/>
                    <a:lstStyle/>
                    <a:p>
                      <a:r>
                        <a:rPr sz="850" b="0">
                          <a:solidFill>
                            <a:srgbClr val="4B4B4B"/>
                          </a:solidFill>
                          <a:latin typeface="Arial"/>
                        </a:rPr>
                        <a:t>Asks for the booking date and books each account on its own; the run is listed in Batch Runs</a:t>
                      </a:r>
                    </a:p>
                  </a:txBody>
                  <a:tcPr marL="54864" marR="54864" marT="27432" marB="27432">
                    <a:solidFill>
                      <a:srgbClr val="FFFFFF"/>
                    </a:solidFill>
                  </a:tcPr>
                </a:tc>
                <a:tc>
                  <a:txBody>
                    <a:bodyPr/>
                    <a:lstStyle/>
                    <a:p>
                      <a:r>
                        <a:rPr sz="850" b="0">
                          <a:solidFill>
                            <a:srgbClr val="4B4B4B"/>
                          </a:solidFill>
                          <a:latin typeface="Arial"/>
                        </a:rPr>
                        <a:t>Booked</a:t>
                      </a:r>
                    </a:p>
                  </a:txBody>
                  <a:tcPr marL="54864" marR="54864" marT="27432" marB="27432">
                    <a:solidFill>
                      <a:srgbClr val="FFFFFF"/>
                    </a:solidFill>
                  </a:tcPr>
                </a:tc>
                <a:tc>
                  <a:txBody>
                    <a:bodyPr/>
                    <a:lstStyle/>
                    <a:p>
                      <a:r>
                        <a:rPr sz="850" b="0">
                          <a:solidFill>
                            <a:srgbClr val="4B4B4B"/>
                          </a:solidFill>
                          <a:latin typeface="Arial"/>
                        </a:rPr>
                        <a:t>Service invoice e-mails per the service invoice types</a:t>
                      </a:r>
                    </a:p>
                  </a:txBody>
                  <a:tcPr marL="54864" marR="54864" marT="27432" marB="27432">
                    <a:solidFill>
                      <a:srgbClr val="FFFFFF"/>
                    </a:solidFill>
                  </a:tcPr>
                </a:tc>
              </a:tr>
              <a:tr h="350518">
                <a:tc>
                  <a:txBody>
                    <a:bodyPr/>
                    <a:lstStyle/>
                    <a:p>
                      <a:r>
                        <a:rPr sz="850" b="0">
                          <a:solidFill>
                            <a:srgbClr val="4B4B4B"/>
                          </a:solidFill>
                          <a:latin typeface="Arial"/>
                        </a:rPr>
                        <a:t>Confirm Batch</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Queued for Batch, rows selected</a:t>
                      </a:r>
                    </a:p>
                  </a:txBody>
                  <a:tcPr marL="54864" marR="54864" marT="27432" marB="27432">
                    <a:solidFill>
                      <a:srgbClr val="E5F5FF"/>
                    </a:solidFill>
                  </a:tcPr>
                </a:tc>
                <a:tc>
                  <a:txBody>
                    <a:bodyPr/>
                    <a:lstStyle/>
                    <a:p>
                      <a:r>
                        <a:rPr sz="850" b="0">
                          <a:solidFill>
                            <a:srgbClr val="4B4B4B"/>
                          </a:solidFill>
                          <a:latin typeface="Arial"/>
                        </a:rPr>
                        <a:t>Asks for the booking date and books the selected queued accounts; accounts with their own date keep it</a:t>
                      </a:r>
                    </a:p>
                  </a:txBody>
                  <a:tcPr marL="54864" marR="54864" marT="27432" marB="27432">
                    <a:solidFill>
                      <a:srgbClr val="E5F5FF"/>
                    </a:solidFill>
                  </a:tcPr>
                </a:tc>
                <a:tc>
                  <a:txBody>
                    <a:bodyPr/>
                    <a:lstStyle/>
                    <a:p>
                      <a:r>
                        <a:rPr sz="850" b="0">
                          <a:solidFill>
                            <a:srgbClr val="4B4B4B"/>
                          </a:solidFill>
                          <a:latin typeface="Arial"/>
                        </a:rPr>
                        <a:t>Booked</a:t>
                      </a:r>
                    </a:p>
                  </a:txBody>
                  <a:tcPr marL="54864" marR="54864" marT="27432" marB="27432">
                    <a:solidFill>
                      <a:srgbClr val="E5F5FF"/>
                    </a:solidFill>
                  </a:tcPr>
                </a:tc>
                <a:tc>
                  <a:txBody>
                    <a:bodyPr/>
                    <a:lstStyle/>
                    <a:p>
                      <a:r>
                        <a:rPr sz="850" b="0">
                          <a:solidFill>
                            <a:srgbClr val="4B4B4B"/>
                          </a:solidFill>
                          <a:latin typeface="Arial"/>
                        </a:rPr>
                        <a:t>As Book Now</a:t>
                      </a:r>
                    </a:p>
                  </a:txBody>
                  <a:tcPr marL="54864" marR="54864" marT="27432" marB="27432">
                    <a:solidFill>
                      <a:srgbClr val="E5F5FF"/>
                    </a:solidFill>
                  </a:tcPr>
                </a:tc>
              </a:tr>
              <a:tr h="350518">
                <a:tc>
                  <a:txBody>
                    <a:bodyPr/>
                    <a:lstStyle/>
                    <a:p>
                      <a:r>
                        <a:rPr sz="850" b="0">
                          <a:solidFill>
                            <a:srgbClr val="4B4B4B"/>
                          </a:solidFill>
                          <a:latin typeface="Arial"/>
                        </a:rPr>
                        <a:t>Cancel Batch</a:t>
                      </a:r>
                    </a:p>
                  </a:txBody>
                  <a:tcPr marL="54864" marR="54864" marT="27432" marB="27432">
                    <a:solidFill>
                      <a:srgbClr val="FFFFFF"/>
                    </a:solidFill>
                  </a:tcPr>
                </a:tc>
                <a:tc>
                  <a:txBody>
                    <a:bodyPr/>
                    <a:lstStyle/>
                    <a:p>
                      <a:r>
                        <a:rPr sz="850" b="0">
                          <a:solidFill>
                            <a:srgbClr val="4B4B4B"/>
                          </a:solidFill>
                          <a:latin typeface="Arial"/>
                        </a:rPr>
                        <a:t>BOOKING_PROCESS</a:t>
                      </a:r>
                    </a:p>
                  </a:txBody>
                  <a:tcPr marL="54864" marR="54864" marT="27432" marB="27432">
                    <a:solidFill>
                      <a:srgbClr val="FFFFFF"/>
                    </a:solidFill>
                  </a:tcPr>
                </a:tc>
                <a:tc>
                  <a:txBody>
                    <a:bodyPr/>
                    <a:lstStyle/>
                    <a:p>
                      <a:r>
                        <a:rPr sz="850" b="0">
                          <a:solidFill>
                            <a:srgbClr val="4B4B4B"/>
                          </a:solidFill>
                          <a:latin typeface="Arial"/>
                        </a:rPr>
                        <a:t>Queued for Batch</a:t>
                      </a:r>
                    </a:p>
                  </a:txBody>
                  <a:tcPr marL="54864" marR="54864" marT="27432" marB="27432">
                    <a:solidFill>
                      <a:srgbClr val="FFFFFF"/>
                    </a:solidFill>
                  </a:tcPr>
                </a:tc>
                <a:tc>
                  <a:txBody>
                    <a:bodyPr/>
                    <a:lstStyle/>
                    <a:p>
                      <a:r>
                        <a:rPr sz="850" b="0">
                          <a:solidFill>
                            <a:srgbClr val="4B4B4B"/>
                          </a:solidFill>
                          <a:latin typeface="Arial"/>
                        </a:rPr>
                        <a:t>Asks for confirmation and removes every queued account from the batch</a:t>
                      </a:r>
                    </a:p>
                  </a:txBody>
                  <a:tcPr marL="54864" marR="54864" marT="27432" marB="27432">
                    <a:solidFill>
                      <a:srgbClr val="FFFFFF"/>
                    </a:solidFill>
                  </a:tcPr>
                </a:tc>
                <a:tc>
                  <a:txBody>
                    <a:bodyPr/>
                    <a:lstStyle/>
                    <a:p>
                      <a:r>
                        <a:rPr sz="850" b="0">
                          <a:solidFill>
                            <a:srgbClr val="4B4B4B"/>
                          </a:solidFill>
                          <a:latin typeface="Arial"/>
                        </a:rPr>
                        <a:t>Unchanged (back to Ready to Book)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Edit / Remove (row action menu)</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Queued for Batch</a:t>
                      </a:r>
                    </a:p>
                  </a:txBody>
                  <a:tcPr marL="54864" marR="54864" marT="27432" marB="27432">
                    <a:solidFill>
                      <a:srgbClr val="E5F5FF"/>
                    </a:solidFill>
                  </a:tcPr>
                </a:tc>
                <a:tc>
                  <a:txBody>
                    <a:bodyPr/>
                    <a:lstStyle/>
                    <a:p>
                      <a:r>
                        <a:rPr sz="850" b="0">
                          <a:solidFill>
                            <a:srgbClr val="4B4B4B"/>
                          </a:solidFill>
                          <a:latin typeface="Arial"/>
                        </a:rPr>
                        <a:t>Changes the booking date and cost center of a queued account, or removes it from the queue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Pre-booking Confirmation (ready) or the booked invoice (booked)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448</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account is booked once only; a second booking is refused (FR-NB-112).</a:t>
                      </a:r>
                    </a:p>
                  </a:txBody>
                  <a:tcPr marL="54864" marR="54864" marT="27432" marB="27432">
                    <a:solidFill>
                      <a:srgbClr val="FFFFFF"/>
                    </a:solidFill>
                  </a:tcPr>
                </a:tc>
              </a:tr>
              <a:tr h="243840">
                <a:tc>
                  <a:txBody>
                    <a:bodyPr/>
                    <a:lstStyle/>
                    <a:p>
                      <a:r>
                        <a:rPr sz="1000" b="0">
                          <a:solidFill>
                            <a:srgbClr val="4B4B4B"/>
                          </a:solidFill>
                          <a:latin typeface="Arial"/>
                        </a:rPr>
                        <a:t>The BOOKING_BATCH job books the queue every day at 20:00 PHT and the later policy years of multi-year accounts when they start (FR-NB-111, FR-NB-114).</a:t>
                      </a:r>
                    </a:p>
                  </a:txBody>
                  <a:tcPr marL="54864" marR="54864" marT="27432" marB="27432">
                    <a:solidFill>
                      <a:srgbClr val="E5F5FF"/>
                    </a:solidFill>
                  </a:tcPr>
                </a:tc>
              </a:tr>
              <a:tr h="243840">
                <a:tc>
                  <a:txBody>
                    <a:bodyPr/>
                    <a:lstStyle/>
                    <a:p>
                      <a:r>
                        <a:rPr sz="1000" b="0">
                          <a:solidFill>
                            <a:srgbClr val="4B4B4B"/>
                          </a:solidFill>
                          <a:latin typeface="Arial"/>
                        </a:rPr>
                        <a:t>Accounts matching an enabled auto-book rule are queued automatically when their policy is issued (FR-NB-112).</a:t>
                      </a:r>
                    </a:p>
                  </a:txBody>
                  <a:tcPr marL="54864" marR="54864" marT="27432" marB="27432">
                    <a:solidFill>
                      <a:srgbClr val="FFFFFF"/>
                    </a:solidFill>
                  </a:tcPr>
                </a:tc>
              </a:tr>
              <a:tr h="243840">
                <a:tc>
                  <a:txBody>
                    <a:bodyPr/>
                    <a:lstStyle/>
                    <a:p>
                      <a:r>
                        <a:rPr sz="1000" b="0">
                          <a:solidFill>
                            <a:srgbClr val="4B4B4B"/>
                          </a:solidFill>
                          <a:latin typeface="Arial"/>
                        </a:rPr>
                        <a:t>Each account of a batch is booked on its own: one failure does not stop the others; failures are listed with their reason (FR-NB-111).</a:t>
                      </a:r>
                    </a:p>
                  </a:txBody>
                  <a:tcPr marL="54864" marR="54864" marT="27432" marB="27432">
                    <a:solidFill>
                      <a:srgbClr val="E5F5FF"/>
                    </a:solidFill>
                  </a:tcPr>
                </a:tc>
              </a:tr>
            </a:tbl>
          </a:graphicData>
        </a:graphic>
      </p:graphicFrame>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Booking Workbench: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Booking Workbench, Ready to Book tab (part 1 of 2)</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Booking Workbench: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4.png"/>
          <p:cNvPicPr>
            <a:picLocks noChangeAspect="1"/>
          </p:cNvPicPr>
          <p:nvPr/>
        </p:nvPicPr>
        <p:blipFill>
          <a:blip r:embed="rId3"/>
          <a:stretch>
            <a:fillRect/>
          </a:stretch>
        </p:blipFill>
        <p:spPr>
          <a:xfrm>
            <a:off x="548640" y="1261872"/>
            <a:ext cx="11094415" cy="30987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Booking Workbench, Ready to Book tab (part 2 of 2)</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SCR-NB-28 Booking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28-02-queued.png"/>
          <p:cNvPicPr>
            <a:picLocks noChangeAspect="1"/>
          </p:cNvPicPr>
          <p:nvPr/>
        </p:nvPicPr>
        <p:blipFill>
          <a:blip r:embed="rId3"/>
          <a:stretch>
            <a:fillRect/>
          </a:stretch>
        </p:blipFill>
        <p:spPr>
          <a:xfrm>
            <a:off x="1478665" y="1261872"/>
            <a:ext cx="923436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Queued for Batch tab with Confirm Batch and Cancel Batch</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SCR-NB-28 Booking Workbench: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452</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nb-28-03-booknow.png"/>
          <p:cNvPicPr>
            <a:picLocks noChangeAspect="1"/>
          </p:cNvPicPr>
          <p:nvPr/>
        </p:nvPicPr>
        <p:blipFill>
          <a:blip r:embed="rId3"/>
          <a:stretch>
            <a:fillRect/>
          </a:stretch>
        </p:blipFill>
        <p:spPr>
          <a:xfrm>
            <a:off x="548640" y="1261872"/>
            <a:ext cx="11094415" cy="40449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 Now dialog</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SCR-NB-29 Pre-booking Confirmation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graphicFrame>
        <p:nvGraphicFramePr>
          <p:cNvPr id="10" name="Table 9"/>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invoice an account will be booked with before anything is posted: premium components, commission, withholding tax, flags, the policy years of a multi-year account, and the journal the accounting rules will post.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Booking Workbench › Pre-booking Confirmation</a:t>
                      </a:r>
                    </a:p>
                    <a:p>
                      <a:r>
                        <a:rPr sz="950" b="0">
                          <a:solidFill>
                            <a:srgbClr val="4B4B4B"/>
                          </a:solidFill>
                          <a:latin typeface="Arial"/>
                        </a:rPr>
                        <a:t>Booking Workbench › open a Ready to Book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FR-NB-110, FR-NB-113, FR-NB-114, FR-NB-117, FR-NB-118, FR-NB-119</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booked; its invoice is available to Operations, Collections and Accounting.</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SCR-NB-29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454</a:t>
            </a:r>
          </a:p>
        </p:txBody>
      </p:sp>
      <p:graphicFrame>
        <p:nvGraphicFramePr>
          <p:cNvPr id="9" name="Table 8"/>
          <p:cNvGraphicFramePr>
            <a:graphicFrameLocks noGrp="1"/>
          </p:cNvGraphicFramePr>
          <p:nvPr/>
        </p:nvGraphicFramePr>
        <p:xfrm>
          <a:off x="548640" y="1325880"/>
          <a:ext cx="11094411" cy="48005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ARN, Client, Insurer, Period, Product, Status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Booking options</a:t>
                      </a:r>
                    </a:p>
                  </a:txBody>
                  <a:tcPr marL="54864" marR="54864" marT="27432" marB="27432">
                    <a:solidFill>
                      <a:srgbClr val="E5F5FF"/>
                    </a:solidFill>
                  </a:tcPr>
                </a:tc>
                <a:tc>
                  <a:txBody>
                    <a:bodyPr/>
                    <a:lstStyle/>
                    <a:p>
                      <a:r>
                        <a:rPr sz="850" b="0">
                          <a:solidFill>
                            <a:srgbClr val="4B4B4B"/>
                          </a:solidFill>
                          <a:latin typeface="Arial"/>
                        </a:rPr>
                        <a:t>Booking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not in the future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Its accounting period must be open</a:t>
                      </a:r>
                    </a:p>
                  </a:txBody>
                  <a:tcPr marL="54864" marR="54864" marT="27432" marB="27432">
                    <a:solidFill>
                      <a:srgbClr val="E5F5FF"/>
                    </a:solidFill>
                  </a:tcPr>
                </a:tc>
                <a:tc>
                  <a:txBody>
                    <a:bodyPr/>
                    <a:lstStyle/>
                    <a:p>
                      <a:r>
                        <a:rPr sz="850" b="0">
                          <a:solidFill>
                            <a:srgbClr val="4B4B4B"/>
                          </a:solidFill>
                          <a:latin typeface="Arial"/>
                        </a:rPr>
                        <a:t>Enter a booking date that is not in the future</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Booking options</a:t>
                      </a:r>
                    </a:p>
                  </a:txBody>
                  <a:tcPr marL="54864" marR="54864" marT="27432" marB="27432">
                    <a:solidFill>
                      <a:srgbClr val="FFFFFF"/>
                    </a:solidFill>
                  </a:tcPr>
                </a:tc>
                <a:tc>
                  <a:txBody>
                    <a:bodyPr/>
                    <a:lstStyle/>
                    <a:p>
                      <a:r>
                        <a:rPr sz="850" b="0">
                          <a:solidFill>
                            <a:srgbClr val="4B4B4B"/>
                          </a:solidFill>
                          <a:latin typeface="Arial"/>
                        </a:rPr>
                        <a:t>Cost center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 characters, upper case; blank = the account's cost center</a:t>
                      </a:r>
                    </a:p>
                  </a:txBody>
                  <a:tcPr marL="54864" marR="54864" marT="27432" marB="27432">
                    <a:solidFill>
                      <a:srgbClr val="FFFFFF"/>
                    </a:solidFill>
                  </a:tcPr>
                </a:tc>
                <a:tc>
                  <a:txBody>
                    <a:bodyPr/>
                    <a:lstStyle/>
                    <a:p>
                      <a:r>
                        <a:rPr sz="850" b="0">
                          <a:solidFill>
                            <a:srgbClr val="4B4B4B"/>
                          </a:solidFill>
                          <a:latin typeface="Arial"/>
                        </a:rPr>
                        <a:t>Cond.: when the account has none</a:t>
                      </a:r>
                    </a:p>
                  </a:txBody>
                  <a:tcPr marL="54864" marR="54864" marT="27432" marB="27432">
                    <a:solidFill>
                      <a:srgbClr val="FFFFFF"/>
                    </a:solidFill>
                  </a:tcPr>
                </a:tc>
                <a:tc>
                  <a:txBody>
                    <a:bodyPr/>
                    <a:lstStyle/>
                    <a:p>
                      <a:r>
                        <a:rPr sz="850" b="0">
                          <a:solidFill>
                            <a:srgbClr val="4B4B4B"/>
                          </a:solidFill>
                          <a:latin typeface="Arial"/>
                        </a:rPr>
                        <a:t>A cost center is needed for every booking</a:t>
                      </a:r>
                    </a:p>
                  </a:txBody>
                  <a:tcPr marL="54864" marR="54864" marT="27432" marB="27432">
                    <a:solidFill>
                      <a:srgbClr val="FFFFFF"/>
                    </a:solidFill>
                  </a:tcPr>
                </a:tc>
                <a:tc>
                  <a:txBody>
                    <a:bodyPr/>
                    <a:lstStyle/>
                    <a:p>
                      <a:r>
                        <a:rPr sz="850" b="0">
                          <a:solidFill>
                            <a:srgbClr val="4B4B4B"/>
                          </a:solidFill>
                          <a:latin typeface="Arial"/>
                        </a:rPr>
                        <a:t>Enter the cost center of account &lt;ARN&gt; (BRNB.108)</a:t>
                      </a:r>
                    </a:p>
                  </a:txBody>
                  <a:tcPr marL="54864" marR="54864" marT="27432" marB="27432">
                    <a:solidFill>
                      <a:srgbClr val="FFFFFF"/>
                    </a:solidFill>
                  </a:tcPr>
                </a:tc>
              </a:tr>
              <a:tr h="868674">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Booking options</a:t>
                      </a:r>
                    </a:p>
                  </a:txBody>
                  <a:tcPr marL="54864" marR="54864" marT="27432" marB="27432">
                    <a:solidFill>
                      <a:srgbClr val="E5F5FF"/>
                    </a:solidFill>
                  </a:tcPr>
                </a:tc>
                <a:tc>
                  <a:txBody>
                    <a:bodyPr/>
                    <a:lstStyle/>
                    <a:p>
                      <a:r>
                        <a:rPr sz="850" b="0">
                          <a:solidFill>
                            <a:srgbClr val="4B4B4B"/>
                          </a:solidFill>
                          <a:latin typeface="Arial"/>
                        </a:rPr>
                        <a:t>Insurer billing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60 characters</a:t>
                      </a:r>
                    </a:p>
                  </a:txBody>
                  <a:tcPr marL="54864" marR="54864" marT="27432" marB="27432">
                    <a:solidFill>
                      <a:srgbClr val="E5F5FF"/>
                    </a:solidFill>
                  </a:tcPr>
                </a:tc>
                <a:tc>
                  <a:txBody>
                    <a:bodyPr/>
                    <a:lstStyle/>
                    <a:p>
                      <a:r>
                        <a:rPr sz="850" b="0">
                          <a:solidFill>
                            <a:srgbClr val="4B4B4B"/>
                          </a:solidFill>
                          <a:latin typeface="Arial"/>
                        </a:rPr>
                        <a:t>Cond.: Employee Benefits lines (HMO, GLI, GPA)</a:t>
                      </a:r>
                    </a:p>
                  </a:txBody>
                  <a:tcPr marL="54864" marR="54864" marT="27432" marB="27432">
                    <a:solidFill>
                      <a:srgbClr val="E5F5FF"/>
                    </a:solidFill>
                  </a:tcPr>
                </a:tc>
                <a:tc>
                  <a:txBody>
                    <a:bodyPr/>
                    <a:lstStyle/>
                    <a:p>
                      <a:r>
                        <a:rPr sz="850" b="0">
                          <a:solidFill>
                            <a:srgbClr val="4B4B4B"/>
                          </a:solidFill>
                          <a:latin typeface="Arial"/>
                        </a:rPr>
                        <a:t>Unique per insurer</a:t>
                      </a:r>
                    </a:p>
                  </a:txBody>
                  <a:tcPr marL="54864" marR="54864" marT="27432" marB="27432">
                    <a:solidFill>
                      <a:srgbClr val="E5F5FF"/>
                    </a:solidFill>
                  </a:tcPr>
                </a:tc>
                <a:tc>
                  <a:txBody>
                    <a:bodyPr/>
                    <a:lstStyle/>
                    <a:p>
                      <a:r>
                        <a:rPr sz="850" b="0">
                          <a:solidFill>
                            <a:srgbClr val="4B4B4B"/>
                          </a:solidFill>
                          <a:latin typeface="Arial"/>
                        </a:rPr>
                        <a:t>Enter the insurer billing number / Billing number &lt;no&gt; of &lt;insurer&gt; is already on invoice &lt;invoice&gt;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Booking options</a:t>
                      </a:r>
                    </a:p>
                  </a:txBody>
                  <a:tcPr marL="54864" marR="54864" marT="27432" marB="27432">
                    <a:solidFill>
                      <a:srgbClr val="FFFFFF"/>
                    </a:solidFill>
                  </a:tcPr>
                </a:tc>
                <a:tc>
                  <a:txBody>
                    <a:bodyPr/>
                    <a:lstStyle/>
                    <a:p>
                      <a:r>
                        <a:rPr sz="850" b="0">
                          <a:solidFill>
                            <a:srgbClr val="4B4B4B"/>
                          </a:solidFill>
                          <a:latin typeface="Arial"/>
                        </a:rPr>
                        <a:t>Client withholds 2% creditable tax (CWT)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Invoice</a:t>
                      </a:r>
                    </a:p>
                  </a:txBody>
                  <a:tcPr marL="54864" marR="54864" marT="27432" marB="27432">
                    <a:solidFill>
                      <a:srgbClr val="E5F5FF"/>
                    </a:solidFill>
                  </a:tcPr>
                </a:tc>
                <a:tc>
                  <a:txBody>
                    <a:bodyPr/>
                    <a:lstStyle/>
                    <a:p>
                      <a:r>
                        <a:rPr sz="850" b="0">
                          <a:solidFill>
                            <a:srgbClr val="4B4B4B"/>
                          </a:solidFill>
                          <a:latin typeface="Arial"/>
                        </a:rPr>
                        <a:t>Cost center, flags (Direct payment, CWT 2%, Incentive eligible, New Business / Renewal)</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Invoice</a:t>
                      </a:r>
                    </a:p>
                  </a:txBody>
                  <a:tcPr marL="54864" marR="54864" marT="27432" marB="27432">
                    <a:solidFill>
                      <a:srgbClr val="FFFFFF"/>
                    </a:solidFill>
                  </a:tcPr>
                </a:tc>
                <a:tc>
                  <a:txBody>
                    <a:bodyPr/>
                    <a:lstStyle/>
                    <a:p>
                      <a:r>
                        <a:rPr sz="850" b="0">
                          <a:solidFill>
                            <a:srgbClr val="4B4B4B"/>
                          </a:solidFill>
                          <a:latin typeface="Arial"/>
                        </a:rPr>
                        <a:t>Premium</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Basic premium, documentary stamp tax, premium tax / VAT, local government tax, fire service tax, other charges, gross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Invoice</a:t>
                      </a:r>
                    </a:p>
                  </a:txBody>
                  <a:tcPr marL="54864" marR="54864" marT="27432" marB="27432">
                    <a:solidFill>
                      <a:srgbClr val="E5F5FF"/>
                    </a:solidFill>
                  </a:tcPr>
                </a:tc>
                <a:tc>
                  <a:txBody>
                    <a:bodyPr/>
                    <a:lstStyle/>
                    <a:p>
                      <a:r>
                        <a:rPr sz="850" b="0">
                          <a:solidFill>
                            <a:srgbClr val="4B4B4B"/>
                          </a:solidFill>
                          <a:latin typeface="Arial"/>
                        </a:rPr>
                        <a:t>Commission</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Commission (rate), VAT on commission, withholding tax (BOOKING_WTAX_RATE), net commission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Invoice</a:t>
                      </a:r>
                    </a:p>
                  </a:txBody>
                  <a:tcPr marL="54864" marR="54864" marT="27432" marB="27432">
                    <a:solidFill>
                      <a:srgbClr val="FFFFFF"/>
                    </a:solidFill>
                  </a:tcPr>
                </a:tc>
                <a:tc>
                  <a:txBody>
                    <a:bodyPr/>
                    <a:lstStyle/>
                    <a:p>
                      <a:r>
                        <a:rPr sz="850" b="0">
                          <a:solidFill>
                            <a:srgbClr val="4B4B4B"/>
                          </a:solidFill>
                          <a:latin typeface="Arial"/>
                        </a:rPr>
                        <a:t>Policy years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Policy Year, Policy No., Period, Gross Premium, Booked Now or Scheduled (multi-year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SCR-NB-29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455</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Journal preview</a:t>
                      </a:r>
                    </a:p>
                  </a:txBody>
                  <a:tcPr marL="54864" marR="54864" marT="27432" marB="27432">
                    <a:solidFill>
                      <a:srgbClr val="FFFFFF"/>
                    </a:solidFill>
                  </a:tcPr>
                </a:tc>
                <a:tc>
                  <a:txBody>
                    <a:bodyPr/>
                    <a:lstStyle/>
                    <a:p>
                      <a:r>
                        <a:rPr sz="850" b="0">
                          <a:solidFill>
                            <a:srgbClr val="4B4B4B"/>
                          </a:solidFill>
                          <a:latin typeface="Arial"/>
                        </a:rPr>
                        <a:t>Journal</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account, party, debit, credit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456</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Update Preview</a:t>
                      </a:r>
                    </a:p>
                  </a:txBody>
                  <a:tcPr marL="54864" marR="54864" marT="27432" marB="27432">
                    <a:solidFill>
                      <a:srgbClr val="FFFFFF"/>
                    </a:solidFill>
                  </a:tcPr>
                </a:tc>
                <a:tc>
                  <a:txBody>
                    <a:bodyPr/>
                    <a:lstStyle/>
                    <a:p>
                      <a:r>
                        <a:rPr sz="850" b="0">
                          <a:solidFill>
                            <a:srgbClr val="4B4B4B"/>
                          </a:solidFill>
                          <a:latin typeface="Arial"/>
                        </a:rPr>
                        <a:t>BOOKING_PROCESS</a:t>
                      </a:r>
                    </a:p>
                  </a:txBody>
                  <a:tcPr marL="54864" marR="54864" marT="27432" marB="27432">
                    <a:solidFill>
                      <a:srgbClr val="FFFFFF"/>
                    </a:solidFill>
                  </a:tcPr>
                </a:tc>
                <a:tc>
                  <a:txBody>
                    <a:bodyPr/>
                    <a:lstStyle/>
                    <a:p>
                      <a:r>
                        <a:rPr sz="850" b="0">
                          <a:solidFill>
                            <a:srgbClr val="4B4B4B"/>
                          </a:solidFill>
                          <a:latin typeface="Arial"/>
                        </a:rPr>
                        <a:t>An option changed</a:t>
                      </a:r>
                    </a:p>
                  </a:txBody>
                  <a:tcPr marL="54864" marR="54864" marT="27432" marB="27432">
                    <a:solidFill>
                      <a:srgbClr val="FFFFFF"/>
                    </a:solidFill>
                  </a:tcPr>
                </a:tc>
                <a:tc>
                  <a:txBody>
                    <a:bodyPr/>
                    <a:lstStyle/>
                    <a:p>
                      <a:r>
                        <a:rPr sz="850" b="0">
                          <a:solidFill>
                            <a:srgbClr val="4B4B4B"/>
                          </a:solidFill>
                          <a:latin typeface="Arial"/>
                        </a:rPr>
                        <a:t>Recomputes the invoice and journal with the options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Book Account</a:t>
                      </a:r>
                    </a:p>
                  </a:txBody>
                  <a:tcPr marL="54864" marR="54864" marT="27432" marB="27432">
                    <a:solidFill>
                      <a:srgbClr val="E5F5FF"/>
                    </a:solidFill>
                  </a:tcPr>
                </a:tc>
                <a:tc>
                  <a:txBody>
                    <a:bodyPr/>
                    <a:lstStyle/>
                    <a:p>
                      <a:r>
                        <a:rPr sz="850" b="0">
                          <a:solidFill>
                            <a:srgbClr val="4B4B4B"/>
                          </a:solidFill>
                          <a:latin typeface="Arial"/>
                        </a:rPr>
                        <a:t>BOOKING_PROCESS</a:t>
                      </a:r>
                    </a:p>
                  </a:txBody>
                  <a:tcPr marL="54864" marR="54864" marT="27432" marB="27432">
                    <a:solidFill>
                      <a:srgbClr val="E5F5FF"/>
                    </a:solidFill>
                  </a:tcPr>
                </a:tc>
                <a:tc>
                  <a:txBody>
                    <a:bodyPr/>
                    <a:lstStyle/>
                    <a:p>
                      <a:r>
                        <a:rPr sz="850" b="0">
                          <a:solidFill>
                            <a:srgbClr val="4B4B4B"/>
                          </a:solidFill>
                          <a:latin typeface="Arial"/>
                        </a:rPr>
                        <a:t>Preview shown and not changed since</a:t>
                      </a:r>
                    </a:p>
                  </a:txBody>
                  <a:tcPr marL="54864" marR="54864" marT="27432" marB="27432">
                    <a:solidFill>
                      <a:srgbClr val="E5F5FF"/>
                    </a:solidFill>
                  </a:tcPr>
                </a:tc>
                <a:tc>
                  <a:txBody>
                    <a:bodyPr/>
                    <a:lstStyle/>
                    <a:p>
                      <a:r>
                        <a:rPr sz="850" b="0">
                          <a:solidFill>
                            <a:srgbClr val="4B4B4B"/>
                          </a:solidFill>
                          <a:latin typeface="Arial"/>
                        </a:rPr>
                        <a:t>Books the account: invoice, GL entry and service invoices in one step</a:t>
                      </a:r>
                    </a:p>
                  </a:txBody>
                  <a:tcPr marL="54864" marR="54864" marT="27432" marB="27432">
                    <a:solidFill>
                      <a:srgbClr val="E5F5FF"/>
                    </a:solidFill>
                  </a:tcPr>
                </a:tc>
                <a:tc>
                  <a:txBody>
                    <a:bodyPr/>
                    <a:lstStyle/>
                    <a:p>
                      <a:r>
                        <a:rPr sz="850" b="0">
                          <a:solidFill>
                            <a:srgbClr val="4B4B4B"/>
                          </a:solidFill>
                          <a:latin typeface="Arial"/>
                        </a:rPr>
                        <a:t>Booked</a:t>
                      </a:r>
                    </a:p>
                  </a:txBody>
                  <a:tcPr marL="54864" marR="54864" marT="27432" marB="27432">
                    <a:solidFill>
                      <a:srgbClr val="E5F5FF"/>
                    </a:solidFill>
                  </a:tcPr>
                </a:tc>
                <a:tc>
                  <a:txBody>
                    <a:bodyPr/>
                    <a:lstStyle/>
                    <a:p>
                      <a:r>
                        <a:rPr sz="850" b="0">
                          <a:solidFill>
                            <a:srgbClr val="4B4B4B"/>
                          </a:solidFill>
                          <a:latin typeface="Arial"/>
                        </a:rPr>
                        <a:t>Service invoice e-mails; booked invoice handed to Operations (BRD-2)</a:t>
                      </a:r>
                    </a:p>
                  </a:txBody>
                  <a:tcPr marL="54864" marR="54864" marT="27432" marB="27432">
                    <a:solidFill>
                      <a:srgbClr val="E5F5FF"/>
                    </a:solidFill>
                  </a:tcPr>
                </a:tc>
              </a:tr>
              <a:tr h="220979">
                <a:tc>
                  <a:txBody>
                    <a:bodyPr/>
                    <a:lstStyle/>
                    <a:p>
                      <a:r>
                        <a:rPr sz="850" b="0">
                          <a:solidFill>
                            <a:srgbClr val="4B4B4B"/>
                          </a:solidFill>
                          <a:latin typeface="Arial"/>
                        </a:rPr>
                        <a:t>Cancel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Returns to the workbench without booking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457</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Nothing is posted until Book Account (FR-NB-110).</a:t>
                      </a:r>
                    </a:p>
                  </a:txBody>
                  <a:tcPr marL="54864" marR="54864" marT="27432" marB="27432">
                    <a:solidFill>
                      <a:srgbClr val="FFFFFF"/>
                    </a:solidFill>
                  </a:tcPr>
                </a:tc>
              </a:tr>
              <a:tr h="243840">
                <a:tc>
                  <a:txBody>
                    <a:bodyPr/>
                    <a:lstStyle/>
                    <a:p>
                      <a:r>
                        <a:rPr sz="1000" b="0">
                          <a:solidFill>
                            <a:srgbClr val="4B4B4B"/>
                          </a:solidFill>
                          <a:latin typeface="Arial"/>
                        </a:rPr>
                        <a:t>Every booking carries its cost center and business type (New Business or Renewal) (FR-NB-119).</a:t>
                      </a:r>
                    </a:p>
                  </a:txBody>
                  <a:tcPr marL="54864" marR="54864" marT="27432" marB="27432">
                    <a:solidFill>
                      <a:srgbClr val="E5F5FF"/>
                    </a:solidFill>
                  </a:tcPr>
                </a:tc>
              </a:tr>
              <a:tr h="396240">
                <a:tc>
                  <a:txBody>
                    <a:bodyPr/>
                    <a:lstStyle/>
                    <a:p>
                      <a:r>
                        <a:rPr sz="1000" b="0">
                          <a:solidFill>
                            <a:srgbClr val="4B4B4B"/>
                          </a:solidFill>
                          <a:latin typeface="Arial"/>
                        </a:rPr>
                        <a:t>The incentive eligibility indicator is evaluated against the incentive criteria of Product Maintenance only when the booked invoice is fully paid, with the endorsements considered; until then it reads Pending (FR-NB-118, CLR-NB-46).</a:t>
                      </a:r>
                    </a:p>
                  </a:txBody>
                  <a:tcPr marL="54864" marR="54864" marT="27432" marB="27432">
                    <a:solidFill>
                      <a:srgbClr val="FFFFFF"/>
                    </a:solidFill>
                  </a:tcPr>
                </a:tc>
              </a:tr>
              <a:tr h="243840">
                <a:tc>
                  <a:txBody>
                    <a:bodyPr/>
                    <a:lstStyle/>
                    <a:p>
                      <a:r>
                        <a:rPr sz="1000" b="0">
                          <a:solidFill>
                            <a:srgbClr val="4B4B4B"/>
                          </a:solidFill>
                          <a:latin typeface="Arial"/>
                        </a:rPr>
                        <a:t>A multi-year account books year 1 now and schedules the later years (FR-NB-114).</a:t>
                      </a:r>
                    </a:p>
                  </a:txBody>
                  <a:tcPr marL="54864" marR="54864" marT="27432" marB="27432">
                    <a:solidFill>
                      <a:srgbClr val="E5F5FF"/>
                    </a:solidFill>
                  </a:tcPr>
                </a:tc>
              </a:tr>
            </a:tbl>
          </a:graphicData>
        </a:graphic>
      </p:graphicFrame>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SCR-NB-29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458</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16</a:t>
                      </a:r>
                    </a:p>
                  </a:txBody>
                  <a:tcPr marL="54864" marR="54864" marT="27432" marB="27432">
                    <a:solidFill>
                      <a:srgbClr val="FFFFFF"/>
                    </a:solidFill>
                  </a:tcPr>
                </a:tc>
                <a:tc>
                  <a:txBody>
                    <a:bodyPr/>
                    <a:lstStyle/>
                    <a:p>
                      <a:r>
                        <a:rPr sz="900" b="0">
                          <a:solidFill>
                            <a:srgbClr val="4B4B4B"/>
                          </a:solidFill>
                          <a:latin typeface="Arial"/>
                        </a:rPr>
                        <a:t>Opens the account from Ready to Book, checks the invoice and the journal preview, and clicks Book Account</a:t>
                      </a:r>
                    </a:p>
                  </a:txBody>
                  <a:tcPr marL="54864" marR="54864" marT="27432" marB="27432">
                    <a:solidFill>
                      <a:srgbClr val="FFFFFF"/>
                    </a:solidFill>
                  </a:tcPr>
                </a:tc>
                <a:tc>
                  <a:txBody>
                    <a:bodyPr/>
                    <a:lstStyle/>
                    <a:p>
                      <a:r>
                        <a:rPr sz="900" b="0">
                          <a:solidFill>
                            <a:srgbClr val="4B4B4B"/>
                          </a:solidFill>
                          <a:latin typeface="Arial"/>
                        </a:rPr>
                        <a:t>SCR-NB-29_wt-a-step-16.png</a:t>
                      </a:r>
                    </a:p>
                  </a:txBody>
                  <a:tcPr marL="54864" marR="54864" marT="27432" marB="27432">
                    <a:solidFill>
                      <a:srgbClr val="FFFFFF"/>
                    </a:solidFill>
                  </a:tcPr>
                </a:tc>
              </a:tr>
            </a:tbl>
          </a:graphicData>
        </a:graphic>
      </p:graphicFrame>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SCR-NB-29 Pre-booking Confirmation: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25.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Pre-booking Confirmation with the invoice and the journal preview (part 1 of 4)</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SCR-NB-29 Pre-booking Confirmation: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26.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Pre-booking Confirmation with the invoice and the journal preview (part 2 of 4)</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SCR-NB-29 Pre-booking Confirmation: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2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Pre-booking Confirmation with the invoice and the journal preview (part 3 of 4)</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SCR-NB-29 Pre-booking Confirmation: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28.png"/>
          <p:cNvPicPr>
            <a:picLocks noChangeAspect="1"/>
          </p:cNvPicPr>
          <p:nvPr/>
        </p:nvPicPr>
        <p:blipFill>
          <a:blip r:embed="rId3"/>
          <a:stretch>
            <a:fillRect/>
          </a:stretch>
        </p:blipFill>
        <p:spPr>
          <a:xfrm>
            <a:off x="548640" y="1261872"/>
            <a:ext cx="11094415" cy="449515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Pre-booking Confirmation with the invoice and the journal preview (part 4 of 4)</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graphicFrame>
        <p:nvGraphicFramePr>
          <p:cNvPr id="10" name="Table 9"/>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booked invoice with its references (invoice, ARN, endorsement, root invoice) and tabs for premium and commission, journal, open items, service invoices, endorsements and the invoices of the account. Endorsements and the cancellation of the booking start here.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Booking Workbench › Booked Invoice</a:t>
                      </a:r>
                    </a:p>
                    <a:p>
                      <a:r>
                        <a:rPr sz="950" b="0">
                          <a:solidFill>
                            <a:srgbClr val="4B4B4B"/>
                          </a:solidFill>
                          <a:latin typeface="Arial"/>
                        </a:rPr>
                        <a:t>Booking Workbench › Booked Account › open a row</a:t>
                      </a:r>
                    </a:p>
                    <a:p>
                      <a:r>
                        <a:rPr sz="950" b="0">
                          <a:solidFill>
                            <a:srgbClr val="4B4B4B"/>
                          </a:solidFill>
                          <a:latin typeface="Arial"/>
                        </a:rPr>
                        <a:t>Endorsements, Service Invoices and Batch Runs › invoice number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FR-NB-110, FR-NB-115, FR-NB-116, FR-NB-117, FR-NB-118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booking, its endorsements and cancellation are visible with their GL effect.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SCR-NB-30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464</a:t>
            </a:r>
          </a:p>
        </p:txBody>
      </p:sp>
      <p:graphicFrame>
        <p:nvGraphicFramePr>
          <p:cNvPr id="9" name="Table 8"/>
          <p:cNvGraphicFramePr>
            <a:graphicFrameLocks noGrp="1"/>
          </p:cNvGraphicFramePr>
          <p:nvPr/>
        </p:nvGraphicFramePr>
        <p:xfrm>
          <a:off x="548640" y="1325880"/>
          <a:ext cx="11094411" cy="48920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Invoice, ARN, Endorsement, Root Invoice</a:t>
                      </a:r>
                    </a:p>
                  </a:txBody>
                  <a:tcPr marL="54864" marR="54864" marT="27432" marB="27432">
                    <a:solidFill>
                      <a:srgbClr val="FFFFFF"/>
                    </a:solidFill>
                  </a:tcPr>
                </a:tc>
                <a:tc>
                  <a:txBody>
                    <a:bodyPr/>
                    <a:lstStyle/>
                    <a:p>
                      <a:r>
                        <a:rPr sz="850" b="0">
                          <a:solidFill>
                            <a:srgbClr val="4B4B4B"/>
                          </a:solidFill>
                          <a:latin typeface="Arial"/>
                        </a:rPr>
                        <a:t>Reference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Client, Insurer(s), Period, Booked, Gross premium, Cost center, Insurer billing no.</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Premium &amp; Commission / Journal / Open Items / Service Invoices / Endorsements / Invoices of the Account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Open Items tab</a:t>
                      </a:r>
                    </a:p>
                  </a:txBody>
                  <a:tcPr marL="54864" marR="54864" marT="27432" marB="27432">
                    <a:solidFill>
                      <a:srgbClr val="E5F5FF"/>
                    </a:solidFill>
                  </a:tcPr>
                </a:tc>
                <a:tc>
                  <a:txBody>
                    <a:bodyPr/>
                    <a:lstStyle/>
                    <a:p>
                      <a:r>
                        <a:rPr sz="850" b="0">
                          <a:solidFill>
                            <a:srgbClr val="4B4B4B"/>
                          </a:solidFill>
                          <a:latin typeface="Arial"/>
                        </a:rPr>
                        <a:t>Item, Party, Direction, Document, Due, Amount, Outstanding,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Receivable from the client, payable to the insurer, commission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Service Invoices tab</a:t>
                      </a:r>
                    </a:p>
                  </a:txBody>
                  <a:tcPr marL="54864" marR="54864" marT="27432" marB="27432">
                    <a:solidFill>
                      <a:srgbClr val="FFFFFF"/>
                    </a:solidFill>
                  </a:tcPr>
                </a:tc>
                <a:tc>
                  <a:txBody>
                    <a:bodyPr/>
                    <a:lstStyle/>
                    <a:p>
                      <a:r>
                        <a:rPr sz="850" b="0">
                          <a:solidFill>
                            <a:srgbClr val="4B4B4B"/>
                          </a:solidFill>
                          <a:latin typeface="Arial"/>
                        </a:rPr>
                        <a:t>Service Invoice No., Kind, Type, Recipient, Invoice No., Issue Date, Net, E-mail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Endorsements tab</a:t>
                      </a:r>
                    </a:p>
                  </a:txBody>
                  <a:tcPr marL="54864" marR="54864" marT="27432" marB="27432">
                    <a:solidFill>
                      <a:srgbClr val="E5F5FF"/>
                    </a:solidFill>
                  </a:tcPr>
                </a:tc>
                <a:tc>
                  <a:txBody>
                    <a:bodyPr/>
                    <a:lstStyle/>
                    <a:p>
                      <a:r>
                        <a:rPr sz="850" b="0">
                          <a:solidFill>
                            <a:srgbClr val="4B4B4B"/>
                          </a:solidFill>
                          <a:latin typeface="Arial"/>
                        </a:rPr>
                        <a:t>Endorsement No., ARN, Type, Effective, Description, Invoice No.,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No. or Not financial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Invoices of the Account tab</a:t>
                      </a:r>
                    </a:p>
                  </a:txBody>
                  <a:tcPr marL="54864" marR="54864" marT="27432" marB="27432">
                    <a:solidFill>
                      <a:srgbClr val="FFFFFF"/>
                    </a:solidFill>
                  </a:tcPr>
                </a:tc>
                <a:tc>
                  <a:txBody>
                    <a:bodyPr/>
                    <a:lstStyle/>
                    <a:p>
                      <a:r>
                        <a:rPr sz="850" b="0">
                          <a:solidFill>
                            <a:srgbClr val="4B4B4B"/>
                          </a:solidFill>
                          <a:latin typeface="Arial"/>
                        </a:rPr>
                        <a:t>Invoice No., Kind, Policy Year, Policy No., Period, Gross,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Not yet numbered for scheduled years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Cancel Booking dialog</a:t>
                      </a:r>
                    </a:p>
                  </a:txBody>
                  <a:tcPr marL="54864" marR="54864" marT="27432" marB="27432">
                    <a:solidFill>
                      <a:srgbClr val="E5F5FF"/>
                    </a:solidFill>
                  </a:tcPr>
                </a:tc>
                <a:tc>
                  <a:txBody>
                    <a:bodyPr/>
                    <a:lstStyle/>
                    <a:p>
                      <a:r>
                        <a:rPr sz="850" b="0">
                          <a:solidFill>
                            <a:srgbClr val="4B4B4B"/>
                          </a:solidFill>
                          <a:latin typeface="Arial"/>
                        </a:rPr>
                        <a:t>Cancellation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Flat (from inception); Flat, retaining DST; Partial (unexpired term)</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Cancel Booking dialog</a:t>
                      </a:r>
                    </a:p>
                  </a:txBody>
                  <a:tcPr marL="54864" marR="54864" marT="27432" marB="27432">
                    <a:solidFill>
                      <a:srgbClr val="FFFFFF"/>
                    </a:solidFill>
                  </a:tcPr>
                </a:tc>
                <a:tc>
                  <a:txBody>
                    <a:bodyPr/>
                    <a:lstStyle/>
                    <a:p>
                      <a:r>
                        <a:rPr sz="850" b="0">
                          <a:solidFill>
                            <a:srgbClr val="4B4B4B"/>
                          </a:solidFill>
                          <a:latin typeface="Arial"/>
                        </a:rPr>
                        <a:t>Return 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Pro-rata (days); Short period (table)</a:t>
                      </a:r>
                    </a:p>
                  </a:txBody>
                  <a:tcPr marL="54864" marR="54864" marT="27432" marB="27432">
                    <a:solidFill>
                      <a:srgbClr val="FFFFFF"/>
                    </a:solidFill>
                  </a:tcPr>
                </a:tc>
                <a:tc>
                  <a:txBody>
                    <a:bodyPr/>
                    <a:lstStyle/>
                    <a:p>
                      <a:r>
                        <a:rPr sz="850" b="0">
                          <a:solidFill>
                            <a:srgbClr val="4B4B4B"/>
                          </a:solidFill>
                          <a:latin typeface="Arial"/>
                        </a:rPr>
                        <a:t>Y for a partial cancellation</a:t>
                      </a:r>
                    </a:p>
                  </a:txBody>
                  <a:tcPr marL="54864" marR="54864" marT="27432" marB="27432">
                    <a:solidFill>
                      <a:srgbClr val="FFFFFF"/>
                    </a:solidFill>
                  </a:tcPr>
                </a:tc>
                <a:tc>
                  <a:txBody>
                    <a:bodyPr/>
                    <a:lstStyle/>
                    <a:p>
                      <a:r>
                        <a:rPr sz="850" b="0">
                          <a:solidFill>
                            <a:srgbClr val="4B4B4B"/>
                          </a:solidFill>
                          <a:latin typeface="Arial"/>
                        </a:rPr>
                        <a:t>A short-period rate must exist for the months</a:t>
                      </a:r>
                    </a:p>
                  </a:txBody>
                  <a:tcPr marL="54864" marR="54864" marT="27432" marB="27432">
                    <a:solidFill>
                      <a:srgbClr val="FFFFFF"/>
                    </a:solidFill>
                  </a:tcPr>
                </a:tc>
                <a:tc>
                  <a:txBody>
                    <a:bodyPr/>
                    <a:lstStyle/>
                    <a:p>
                      <a:r>
                        <a:rPr sz="850" b="0">
                          <a:solidFill>
                            <a:srgbClr val="4B4B4B"/>
                          </a:solidFill>
                          <a:latin typeface="Arial"/>
                        </a:rPr>
                        <a:t>No short-period rate is set up for &lt;n&gt; month(s)</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Cancel Booking dialog</a:t>
                      </a:r>
                    </a:p>
                  </a:txBody>
                  <a:tcPr marL="54864" marR="54864" marT="27432" marB="27432">
                    <a:solidFill>
                      <a:srgbClr val="E5F5FF"/>
                    </a:solidFill>
                  </a:tcPr>
                </a:tc>
                <a:tc>
                  <a:txBody>
                    <a:bodyPr/>
                    <a:lstStyle/>
                    <a:p>
                      <a:r>
                        <a:rPr sz="850" b="0">
                          <a:solidFill>
                            <a:srgbClr val="4B4B4B"/>
                          </a:solidFill>
                          <a:latin typeface="Arial"/>
                        </a:rPr>
                        <a:t>Cancellation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within a booked policy year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Within a booked policy year</a:t>
                      </a:r>
                    </a:p>
                  </a:txBody>
                  <a:tcPr marL="54864" marR="54864" marT="27432" marB="27432">
                    <a:solidFill>
                      <a:srgbClr val="E5F5FF"/>
                    </a:solidFill>
                  </a:tcPr>
                </a:tc>
                <a:tc>
                  <a:txBody>
                    <a:bodyPr/>
                    <a:lstStyle/>
                    <a:p>
                      <a:r>
                        <a:rPr sz="850" b="0">
                          <a:solidFill>
                            <a:srgbClr val="4B4B4B"/>
                          </a:solidFill>
                          <a:latin typeface="Arial"/>
                        </a:rPr>
                        <a:t>Enter the cancellation date / The effective date &lt;date&gt; is not within a booked policy year of &lt;ARN&gt;</a:t>
                      </a:r>
                    </a:p>
                  </a:txBody>
                  <a:tcPr marL="54864" marR="54864" marT="27432" marB="27432">
                    <a:solidFill>
                      <a:srgbClr val="E5F5FF"/>
                    </a:solidFill>
                  </a:tcPr>
                </a:tc>
              </a:tr>
            </a:tbl>
          </a:graphicData>
        </a:graphic>
      </p:graphicFrame>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SCR-NB-30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465</a:t>
            </a:r>
          </a:p>
        </p:txBody>
      </p:sp>
      <p:graphicFrame>
        <p:nvGraphicFramePr>
          <p:cNvPr id="9" name="Table 8"/>
          <p:cNvGraphicFramePr>
            <a:graphicFrameLocks noGrp="1"/>
          </p:cNvGraphicFramePr>
          <p:nvPr/>
        </p:nvGraphicFramePr>
        <p:xfrm>
          <a:off x="548640" y="1325880"/>
          <a:ext cx="11094411" cy="66293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Cancel Booking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reason</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Cancel Booking dialog</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the cancellation</a:t>
                      </a:r>
                    </a:p>
                  </a:txBody>
                  <a:tcPr marL="54864" marR="54864" marT="27432" marB="27432">
                    <a:solidFill>
                      <a:srgbClr val="E5F5FF"/>
                    </a:solidFill>
                  </a:tcPr>
                </a:tc>
              </a:tr>
            </a:tbl>
          </a:graphicData>
        </a:graphic>
      </p:graphicFrame>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466</a:t>
            </a:r>
          </a:p>
        </p:txBody>
      </p:sp>
      <p:graphicFrame>
        <p:nvGraphicFramePr>
          <p:cNvPr id="9" name="Table 8"/>
          <p:cNvGraphicFramePr>
            <a:graphicFrameLocks noGrp="1"/>
          </p:cNvGraphicFramePr>
          <p:nvPr/>
        </p:nvGraphicFramePr>
        <p:xfrm>
          <a:off x="548640" y="1325880"/>
          <a:ext cx="11094412" cy="105155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BOOKING_PROCESS or BOOKING_ADJUST</a:t>
                      </a:r>
                    </a:p>
                  </a:txBody>
                  <a:tcPr marL="54864" marR="54864" marT="27432" marB="27432">
                    <a:solidFill>
                      <a:srgbClr val="FFFFFF"/>
                    </a:solidFill>
                  </a:tcPr>
                </a:tc>
                <a:tc>
                  <a:txBody>
                    <a:bodyPr/>
                    <a:lstStyle/>
                    <a:p>
                      <a:r>
                        <a:rPr sz="850" b="0">
                          <a:solidFill>
                            <a:srgbClr val="4B4B4B"/>
                          </a:solidFill>
                          <a:latin typeface="Arial"/>
                        </a:rPr>
                        <a:t>Invoice booked and not a cancellation</a:t>
                      </a:r>
                    </a:p>
                  </a:txBody>
                  <a:tcPr marL="54864" marR="54864" marT="27432" marB="27432">
                    <a:solidFill>
                      <a:srgbClr val="FFFFFF"/>
                    </a:solidFill>
                  </a:tcPr>
                </a:tc>
                <a:tc>
                  <a:txBody>
                    <a:bodyPr/>
                    <a:lstStyle/>
                    <a:p>
                      <a:r>
                        <a:rPr sz="850" b="0">
                          <a:solidFill>
                            <a:srgbClr val="4B4B4B"/>
                          </a:solidFill>
                          <a:latin typeface="Arial"/>
                        </a:rPr>
                        <a:t>Opens New Endorsement for the ARN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Cancel Booking</a:t>
                      </a:r>
                    </a:p>
                  </a:txBody>
                  <a:tcPr marL="54864" marR="54864" marT="27432" marB="27432">
                    <a:solidFill>
                      <a:srgbClr val="E5F5FF"/>
                    </a:solidFill>
                  </a:tcPr>
                </a:tc>
                <a:tc>
                  <a:txBody>
                    <a:bodyPr/>
                    <a:lstStyle/>
                    <a:p>
                      <a:r>
                        <a:rPr sz="850" b="0">
                          <a:solidFill>
                            <a:srgbClr val="4B4B4B"/>
                          </a:solidFill>
                          <a:latin typeface="Arial"/>
                        </a:rPr>
                        <a:t>BOOKING_ADJUST</a:t>
                      </a:r>
                    </a:p>
                  </a:txBody>
                  <a:tcPr marL="54864" marR="54864" marT="27432" marB="27432">
                    <a:solidFill>
                      <a:srgbClr val="E5F5FF"/>
                    </a:solidFill>
                  </a:tcPr>
                </a:tc>
                <a:tc>
                  <a:txBody>
                    <a:bodyPr/>
                    <a:lstStyle/>
                    <a:p>
                      <a:r>
                        <a:rPr sz="850" b="0">
                          <a:solidFill>
                            <a:srgbClr val="4B4B4B"/>
                          </a:solidFill>
                          <a:latin typeface="Arial"/>
                        </a:rPr>
                        <a:t>Invoice booked and not a cancellation</a:t>
                      </a:r>
                    </a:p>
                  </a:txBody>
                  <a:tcPr marL="54864" marR="54864" marT="27432" marB="27432">
                    <a:solidFill>
                      <a:srgbClr val="E5F5FF"/>
                    </a:solidFill>
                  </a:tcPr>
                </a:tc>
                <a:tc>
                  <a:txBody>
                    <a:bodyPr/>
                    <a:lstStyle/>
                    <a:p>
                      <a:r>
                        <a:rPr sz="850" b="0">
                          <a:solidFill>
                            <a:srgbClr val="4B4B4B"/>
                          </a:solidFill>
                          <a:latin typeface="Arial"/>
                        </a:rPr>
                        <a:t>Opens the dialog with the return premium preview; posts the cancellation invoice and its journal</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Workflow notice; the cancellation is handed to Operations</a:t>
                      </a:r>
                    </a:p>
                  </a:txBody>
                  <a:tcPr marL="54864" marR="54864" marT="27432" marB="27432">
                    <a:solidFill>
                      <a:srgbClr val="E5F5FF"/>
                    </a:solidFill>
                  </a:tcPr>
                </a:tc>
              </a:tr>
            </a:tbl>
          </a:graphicData>
        </a:graphic>
      </p:graphicFrame>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467</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cancellation returns premium; the return cannot exceed the premium in force of the policy year (FR-NB-116).</a:t>
                      </a:r>
                    </a:p>
                  </a:txBody>
                  <a:tcPr marL="54864" marR="54864" marT="27432" marB="27432">
                    <a:solidFill>
                      <a:srgbClr val="FFFFFF"/>
                    </a:solidFill>
                  </a:tcPr>
                </a:tc>
              </a:tr>
              <a:tr h="243840">
                <a:tc>
                  <a:txBody>
                    <a:bodyPr/>
                    <a:lstStyle/>
                    <a:p>
                      <a:r>
                        <a:rPr sz="1000" b="0">
                          <a:solidFill>
                            <a:srgbClr val="4B4B4B"/>
                          </a:solidFill>
                          <a:latin typeface="Arial"/>
                        </a:rPr>
                        <a:t>Cancellation and negative endorsements are posted by the Adjustment role only (FR-NB-115, FR-NB-116).</a:t>
                      </a:r>
                    </a:p>
                  </a:txBody>
                  <a:tcPr marL="54864" marR="54864" marT="27432" marB="27432">
                    <a:solidFill>
                      <a:srgbClr val="E5F5FF"/>
                    </a:solidFill>
                  </a:tcPr>
                </a:tc>
              </a:tr>
              <a:tr h="243840">
                <a:tc>
                  <a:txBody>
                    <a:bodyPr/>
                    <a:lstStyle/>
                    <a:p>
                      <a:r>
                        <a:rPr sz="1000" b="0">
                          <a:solidFill>
                            <a:srgbClr val="4B4B4B"/>
                          </a:solidFill>
                          <a:latin typeface="Arial"/>
                        </a:rPr>
                        <a:t>A posted financial endorsement re-evaluates the incentive indicator of a fully paid booking; a cancellation sets it to Not eligible (FR-NB-118).</a:t>
                      </a:r>
                    </a:p>
                  </a:txBody>
                  <a:tcPr marL="54864" marR="54864" marT="27432" marB="27432">
                    <a:solidFill>
                      <a:srgbClr val="FFFFFF"/>
                    </a:solidFill>
                  </a:tcPr>
                </a:tc>
              </a:tr>
            </a:tbl>
          </a:graphicData>
        </a:graphic>
      </p:graphicFrame>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468</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17</a:t>
                      </a:r>
                    </a:p>
                  </a:txBody>
                  <a:tcPr marL="54864" marR="54864" marT="27432" marB="27432">
                    <a:solidFill>
                      <a:srgbClr val="FFFFFF"/>
                    </a:solidFill>
                  </a:tcPr>
                </a:tc>
                <a:tc>
                  <a:txBody>
                    <a:bodyPr/>
                    <a:lstStyle/>
                    <a:p>
                      <a:r>
                        <a:rPr sz="900" b="0">
                          <a:solidFill>
                            <a:srgbClr val="4B4B4B"/>
                          </a:solidFill>
                          <a:latin typeface="Arial"/>
                        </a:rPr>
                        <a:t>Reviews the Journal and Open Items tabs of the booked invoice</a:t>
                      </a:r>
                    </a:p>
                  </a:txBody>
                  <a:tcPr marL="54864" marR="54864" marT="27432" marB="27432">
                    <a:solidFill>
                      <a:srgbClr val="FFFFFF"/>
                    </a:solidFill>
                  </a:tcPr>
                </a:tc>
                <a:tc>
                  <a:txBody>
                    <a:bodyPr/>
                    <a:lstStyle/>
                    <a:p>
                      <a:r>
                        <a:rPr sz="900" b="0">
                          <a:solidFill>
                            <a:srgbClr val="4B4B4B"/>
                          </a:solidFill>
                          <a:latin typeface="Arial"/>
                        </a:rPr>
                        <a:t>SCR-NB-30_wt-a-step-17.png</a:t>
                      </a:r>
                    </a:p>
                  </a:txBody>
                  <a:tcPr marL="54864" marR="54864" marT="27432" marB="27432">
                    <a:solidFill>
                      <a:srgbClr val="FFFFFF"/>
                    </a:solidFill>
                  </a:tcPr>
                </a:tc>
              </a:tr>
            </a:tbl>
          </a:graphicData>
        </a:graphic>
      </p:graphicFrame>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2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Booked Invoice, Premium &amp; Commission tab (part 1 of 4)</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0.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Booked Invoice, Premium &amp; Commission tab (part 2 of 4)</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1.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Booked Invoice, Premium &amp; Commission tab (part 3 of 4)</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SCR-NB-30 Booked Invoice: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2.png"/>
          <p:cNvPicPr>
            <a:picLocks noChangeAspect="1"/>
          </p:cNvPicPr>
          <p:nvPr/>
        </p:nvPicPr>
        <p:blipFill>
          <a:blip r:embed="rId3"/>
          <a:stretch>
            <a:fillRect/>
          </a:stretch>
        </p:blipFill>
        <p:spPr>
          <a:xfrm>
            <a:off x="548640" y="1261872"/>
            <a:ext cx="11094415" cy="218540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Booked Invoice, Premium &amp; Commission tab (part 4 of 4)</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SCR-NB-30 Booked Invoice: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CHG-NB-2.1-04</a:t>
            </a:r>
          </a:p>
        </p:txBody>
      </p:sp>
      <p:sp>
        <p:nvSpPr>
          <p:cNvPr id="10" name="Rounded Rectangle 9"/>
          <p:cNvSpPr/>
          <p:nvPr/>
        </p:nvSpPr>
        <p:spPr>
          <a:xfrm>
            <a:off x="5937199"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1" name="Picture 10" descr="scr-nb-30-02-cancel.png"/>
          <p:cNvPicPr>
            <a:picLocks noChangeAspect="1"/>
          </p:cNvPicPr>
          <p:nvPr/>
        </p:nvPicPr>
        <p:blipFill>
          <a:blip r:embed="rId3"/>
          <a:stretch>
            <a:fillRect/>
          </a:stretch>
        </p:blipFill>
        <p:spPr>
          <a:xfrm>
            <a:off x="1393938" y="1261872"/>
            <a:ext cx="9403819"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 Booking dialog</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SCR-NB-31 Endorsements and New Endorsement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474</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list of positive, negative and non-financial endorsements and cancellations of booked accounts, and the entry of a new endorsement rated for the remaining term, with the invoice and journal previews as the user types.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Endorsements</a:t>
                      </a:r>
                    </a:p>
                    <a:p>
                      <a:r>
                        <a:rPr sz="950" b="0">
                          <a:solidFill>
                            <a:srgbClr val="4B4B4B"/>
                          </a:solidFill>
                          <a:latin typeface="Arial"/>
                        </a:rPr>
                        <a:t>Booked Invoice › New Endorsement (the ARN is carried over)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endorsement is booked with its premium and GL effect, or recorded as non-financial.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475</a:t>
            </a:r>
          </a:p>
        </p:txBody>
      </p:sp>
      <p:graphicFrame>
        <p:nvGraphicFramePr>
          <p:cNvPr id="9" name="Table 8"/>
          <p:cNvGraphicFramePr>
            <a:graphicFrameLocks noGrp="1"/>
          </p:cNvGraphicFramePr>
          <p:nvPr/>
        </p:nvGraphicFramePr>
        <p:xfrm>
          <a:off x="548640" y="1325880"/>
          <a:ext cx="11094411" cy="402333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Endorsement No., ARN, Type, Effective, Description, Invoice No.,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New Endorsement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Positive (additional premium) for BOOKING_PROCESS; Negative (return premium) for BOOKING_ADJUST; Non-financial</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sign of the premium change follows the type</a:t>
                      </a:r>
                    </a:p>
                  </a:txBody>
                  <a:tcPr marL="54864" marR="54864" marT="27432" marB="27432">
                    <a:solidFill>
                      <a:srgbClr val="E5F5FF"/>
                    </a:solidFill>
                  </a:tcPr>
                </a:tc>
                <a:tc>
                  <a:txBody>
                    <a:bodyPr/>
                    <a:lstStyle/>
                    <a:p>
                      <a:r>
                        <a:rPr sz="850" b="0">
                          <a:solidFill>
                            <a:srgbClr val="4B4B4B"/>
                          </a:solidFill>
                          <a:latin typeface="Arial"/>
                        </a:rPr>
                        <a:t>A positive endorsement must add premium / A negative endorsement or cancellation must return premium</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Effective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within a booked policy year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Within a booked policy year</a:t>
                      </a:r>
                    </a:p>
                  </a:txBody>
                  <a:tcPr marL="54864" marR="54864" marT="27432" marB="27432">
                    <a:solidFill>
                      <a:srgbClr val="FFFFFF"/>
                    </a:solidFill>
                  </a:tcPr>
                </a:tc>
                <a:tc>
                  <a:txBody>
                    <a:bodyPr/>
                    <a:lstStyle/>
                    <a:p>
                      <a:r>
                        <a:rPr sz="850" b="0">
                          <a:solidFill>
                            <a:srgbClr val="4B4B4B"/>
                          </a:solidFill>
                          <a:latin typeface="Arial"/>
                        </a:rPr>
                        <a:t>Enter the effective date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Endorsement</a:t>
                      </a:r>
                    </a:p>
                  </a:txBody>
                  <a:tcPr marL="54864" marR="54864" marT="27432" marB="27432">
                    <a:solidFill>
                      <a:srgbClr val="E5F5FF"/>
                    </a:solidFill>
                  </a:tcPr>
                </a:tc>
                <a:tc>
                  <a:txBody>
                    <a:bodyPr/>
                    <a:lstStyle/>
                    <a:p>
                      <a:r>
                        <a:rPr sz="850" b="0">
                          <a:solidFill>
                            <a:srgbClr val="4B4B4B"/>
                          </a:solidFill>
                          <a:latin typeface="Arial"/>
                        </a:rPr>
                        <a:t>Booking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not in the future; blank = today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Its accounting period must be 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Premium 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Pro-rata (days); Short period (table)</a:t>
                      </a:r>
                    </a:p>
                  </a:txBody>
                  <a:tcPr marL="54864" marR="54864" marT="27432" marB="27432">
                    <a:solidFill>
                      <a:srgbClr val="FFFFFF"/>
                    </a:solidFill>
                  </a:tcPr>
                </a:tc>
                <a:tc>
                  <a:txBody>
                    <a:bodyPr/>
                    <a:lstStyle/>
                    <a:p>
                      <a:r>
                        <a:rPr sz="850" b="0">
                          <a:solidFill>
                            <a:srgbClr val="4B4B4B"/>
                          </a:solidFill>
                          <a:latin typeface="Arial"/>
                        </a:rPr>
                        <a:t>Y (financial)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Endorsement</a:t>
                      </a:r>
                    </a:p>
                  </a:txBody>
                  <a:tcPr marL="54864" marR="54864" marT="27432" marB="27432">
                    <a:solidFill>
                      <a:srgbClr val="E5F5FF"/>
                    </a:solidFill>
                  </a:tcPr>
                </a:tc>
                <a:tc>
                  <a:txBody>
                    <a:bodyPr/>
                    <a:lstStyle/>
                    <a:p>
                      <a:r>
                        <a:rPr sz="850" b="0">
                          <a:solidFill>
                            <a:srgbClr val="4B4B4B"/>
                          </a:solidFill>
                          <a:latin typeface="Arial"/>
                        </a:rPr>
                        <a:t>Sum insured change</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Negative for a reduction</a:t>
                      </a:r>
                    </a:p>
                  </a:txBody>
                  <a:tcPr marL="54864" marR="54864" marT="27432" marB="27432">
                    <a:solidFill>
                      <a:srgbClr val="E5F5FF"/>
                    </a:solidFill>
                  </a:tcPr>
                </a:tc>
                <a:tc>
                  <a:txBody>
                    <a:bodyPr/>
                    <a:lstStyle/>
                    <a:p>
                      <a:r>
                        <a:rPr sz="850" b="0">
                          <a:solidFill>
                            <a:srgbClr val="4B4B4B"/>
                          </a:solidFill>
                          <a:latin typeface="Arial"/>
                        </a:rPr>
                        <a:t>Y (financial)</a:t>
                      </a:r>
                    </a:p>
                  </a:txBody>
                  <a:tcPr marL="54864" marR="54864" marT="27432" marB="27432">
                    <a:solidFill>
                      <a:srgbClr val="E5F5FF"/>
                    </a:solidFill>
                  </a:tcPr>
                </a:tc>
                <a:tc>
                  <a:txBody>
                    <a:bodyPr/>
                    <a:lstStyle/>
                    <a:p>
                      <a:r>
                        <a:rPr sz="850" b="0">
                          <a:solidFill>
                            <a:srgbClr val="4B4B4B"/>
                          </a:solidFill>
                          <a:latin typeface="Arial"/>
                        </a:rPr>
                        <a:t>Not zero; positive for Positive, negative for Negative</a:t>
                      </a:r>
                    </a:p>
                  </a:txBody>
                  <a:tcPr marL="54864" marR="54864" marT="27432" marB="27432">
                    <a:solidFill>
                      <a:srgbClr val="E5F5FF"/>
                    </a:solidFill>
                  </a:tcPr>
                </a:tc>
                <a:tc>
                  <a:txBody>
                    <a:bodyPr/>
                    <a:lstStyle/>
                    <a:p>
                      <a:r>
                        <a:rPr sz="850" b="0">
                          <a:solidFill>
                            <a:srgbClr val="4B4B4B"/>
                          </a:solidFill>
                          <a:latin typeface="Arial"/>
                        </a:rPr>
                        <a:t>Enter the change of the sum insured / A positive endorsement increases the sum insured / A negative endorsement reduces the sum insured (enter a minus)</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Premium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4 decimals; blank = product rate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Enter a rate of zero or more, or leave it blank</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Endorsement</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the change</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Endorsement</a:t>
                      </a:r>
                    </a:p>
                  </a:txBody>
                  <a:tcPr marL="54864" marR="54864" marT="27432" marB="27432">
                    <a:solidFill>
                      <a:srgbClr val="FFFFFF"/>
                    </a:solidFill>
                  </a:tcPr>
                </a:tc>
                <a:tc>
                  <a:txBody>
                    <a:bodyPr/>
                    <a:lstStyle/>
                    <a:p>
                      <a:r>
                        <a:rPr sz="850" b="0">
                          <a:solidFill>
                            <a:srgbClr val="4B4B4B"/>
                          </a:solidFill>
                          <a:latin typeface="Arial"/>
                        </a:rPr>
                        <a:t>Invoice preview, Journal preview</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Premium, commission and journal of the policy year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return cannot exceed the premium in force</a:t>
                      </a:r>
                    </a:p>
                  </a:txBody>
                  <a:tcPr marL="54864" marR="54864" marT="27432" marB="27432">
                    <a:solidFill>
                      <a:srgbClr val="FFFFFF"/>
                    </a:solidFill>
                  </a:tcPr>
                </a:tc>
                <a:tc>
                  <a:txBody>
                    <a:bodyPr/>
                    <a:lstStyle/>
                    <a:p>
                      <a:r>
                        <a:rPr sz="850" b="0">
                          <a:solidFill>
                            <a:srgbClr val="4B4B4B"/>
                          </a:solidFill>
                          <a:latin typeface="Arial"/>
                        </a:rPr>
                        <a:t>The return premium exceeds the premium in force of policy year &lt;n&gt;</a:t>
                      </a:r>
                    </a:p>
                  </a:txBody>
                  <a:tcPr marL="54864" marR="54864" marT="27432" marB="27432">
                    <a:solidFill>
                      <a:srgbClr val="FFFFFF"/>
                    </a:solidFill>
                  </a:tcPr>
                </a:tc>
              </a:tr>
            </a:tbl>
          </a:graphicData>
        </a:graphic>
      </p:graphicFrame>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476</a:t>
            </a:r>
          </a:p>
        </p:txBody>
      </p:sp>
      <p:graphicFrame>
        <p:nvGraphicFramePr>
          <p:cNvPr id="9" name="Table 8"/>
          <p:cNvGraphicFramePr>
            <a:graphicFrameLocks noGrp="1"/>
          </p:cNvGraphicFramePr>
          <p:nvPr/>
        </p:nvGraphicFramePr>
        <p:xfrm>
          <a:off x="548640" y="1325880"/>
          <a:ext cx="11094412" cy="7010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Post Endorsement</a:t>
                      </a:r>
                    </a:p>
                  </a:txBody>
                  <a:tcPr marL="54864" marR="54864" marT="27432" marB="27432">
                    <a:solidFill>
                      <a:srgbClr val="FFFFFF"/>
                    </a:solidFill>
                  </a:tcPr>
                </a:tc>
                <a:tc>
                  <a:txBody>
                    <a:bodyPr/>
                    <a:lstStyle/>
                    <a:p>
                      <a:r>
                        <a:rPr sz="850" b="0">
                          <a:solidFill>
                            <a:srgbClr val="4B4B4B"/>
                          </a:solidFill>
                          <a:latin typeface="Arial"/>
                        </a:rPr>
                        <a:t>BOOKING_PROCESS (positive, non-financial) or BOOKING_ADJUST (negative, non-financial)</a:t>
                      </a:r>
                    </a:p>
                  </a:txBody>
                  <a:tcPr marL="54864" marR="54864" marT="27432" marB="27432">
                    <a:solidFill>
                      <a:srgbClr val="FFFFFF"/>
                    </a:solidFill>
                  </a:tcPr>
                </a:tc>
                <a:tc>
                  <a:txBody>
                    <a:bodyPr/>
                    <a:lstStyle/>
                    <a:p>
                      <a:r>
                        <a:rPr sz="850" b="0">
                          <a:solidFill>
                            <a:srgbClr val="4B4B4B"/>
                          </a:solidFill>
                          <a:latin typeface="Arial"/>
                        </a:rPr>
                        <a:t>Form valid and an ARN given</a:t>
                      </a:r>
                    </a:p>
                  </a:txBody>
                  <a:tcPr marL="54864" marR="54864" marT="27432" marB="27432">
                    <a:solidFill>
                      <a:srgbClr val="FFFFFF"/>
                    </a:solidFill>
                  </a:tcPr>
                </a:tc>
                <a:tc>
                  <a:txBody>
                    <a:bodyPr/>
                    <a:lstStyle/>
                    <a:p>
                      <a:r>
                        <a:rPr sz="850" b="0">
                          <a:solidFill>
                            <a:srgbClr val="4B4B4B"/>
                          </a:solidFill>
                          <a:latin typeface="Arial"/>
                        </a:rPr>
                        <a:t>Posts the endorsement; a financial one is booked as an endorsement invoice with its journal</a:t>
                      </a:r>
                    </a:p>
                  </a:txBody>
                  <a:tcPr marL="54864" marR="54864" marT="27432" marB="27432">
                    <a:solidFill>
                      <a:srgbClr val="FFFFFF"/>
                    </a:solidFill>
                  </a:tcPr>
                </a:tc>
                <a:tc>
                  <a:txBody>
                    <a:bodyPr/>
                    <a:lstStyle/>
                    <a:p>
                      <a:r>
                        <a:rPr sz="850" b="0">
                          <a:solidFill>
                            <a:srgbClr val="4B4B4B"/>
                          </a:solidFill>
                          <a:latin typeface="Arial"/>
                        </a:rPr>
                        <a:t>Unchanged (account stays booked)</a:t>
                      </a:r>
                    </a:p>
                  </a:txBody>
                  <a:tcPr marL="54864" marR="54864" marT="27432" marB="27432">
                    <a:solidFill>
                      <a:srgbClr val="FFFFFF"/>
                    </a:solidFill>
                  </a:tcPr>
                </a:tc>
                <a:tc>
                  <a:txBody>
                    <a:bodyPr/>
                    <a:lstStyle/>
                    <a:p>
                      <a:r>
                        <a:rPr sz="850" b="0">
                          <a:solidFill>
                            <a:srgbClr val="4B4B4B"/>
                          </a:solidFill>
                          <a:latin typeface="Arial"/>
                        </a:rPr>
                        <a:t>Handed to Operations (financial endorsements)</a:t>
                      </a:r>
                    </a:p>
                  </a:txBody>
                  <a:tcPr marL="54864" marR="54864" marT="27432" marB="27432">
                    <a:solidFill>
                      <a:srgbClr val="FFFFFF"/>
                    </a:solidFill>
                  </a:tcPr>
                </a:tc>
              </a:tr>
            </a:tbl>
          </a:graphicData>
        </a:graphic>
      </p:graphicFrame>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Endorsements are invoices on a booked account; the account's status does not change (FR-NB-115).</a:t>
                      </a:r>
                    </a:p>
                  </a:txBody>
                  <a:tcPr marL="54864" marR="54864" marT="27432" marB="27432">
                    <a:solidFill>
                      <a:srgbClr val="FFFFFF"/>
                    </a:solidFill>
                  </a:tcPr>
                </a:tc>
              </a:tr>
              <a:tr h="243840">
                <a:tc>
                  <a:txBody>
                    <a:bodyPr/>
                    <a:lstStyle/>
                    <a:p>
                      <a:r>
                        <a:rPr sz="1000" b="0">
                          <a:solidFill>
                            <a:srgbClr val="4B4B4B"/>
                          </a:solidFill>
                          <a:latin typeface="Arial"/>
                        </a:rPr>
                        <a:t>Premium is rated for the remaining term of the policy year on the chosen basis (FR-NB-115).</a:t>
                      </a:r>
                    </a:p>
                  </a:txBody>
                  <a:tcPr marL="54864" marR="54864" marT="27432" marB="27432">
                    <a:solidFill>
                      <a:srgbClr val="E5F5FF"/>
                    </a:solidFill>
                  </a:tcPr>
                </a:tc>
              </a:tr>
            </a:tbl>
          </a:graphicData>
        </a:graphic>
      </p:graphicFrame>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SCR-NB-31 Endorsements and New Endorsement: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31-01-list.png"/>
          <p:cNvPicPr>
            <a:picLocks noChangeAspect="1"/>
          </p:cNvPicPr>
          <p:nvPr/>
        </p:nvPicPr>
        <p:blipFill>
          <a:blip r:embed="rId3"/>
          <a:stretch>
            <a:fillRect/>
          </a:stretch>
        </p:blipFill>
        <p:spPr>
          <a:xfrm>
            <a:off x="548640" y="1261872"/>
            <a:ext cx="11094415" cy="38352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Endorsements list</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SCR-NB-31 Endorsements and New Endorsement: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31-02-new.png"/>
          <p:cNvPicPr>
            <a:picLocks noChangeAspect="1"/>
          </p:cNvPicPr>
          <p:nvPr/>
        </p:nvPicPr>
        <p:blipFill>
          <a:blip r:embed="rId3"/>
          <a:stretch>
            <a:fillRect/>
          </a:stretch>
        </p:blipFill>
        <p:spPr>
          <a:xfrm>
            <a:off x="922169" y="1261872"/>
            <a:ext cx="1034735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Endorsement with the invoice and journal preview</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CHG-NB-2.1-05</a:t>
            </a:r>
          </a:p>
        </p:txBody>
      </p:sp>
      <p:graphicFrame>
        <p:nvGraphicFramePr>
          <p:cNvPr id="10" name="Table 9"/>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Commission invoices to insurers and internal service invoices with their credits and e-mail dispatch; one service invoice opens with its lines, e-mails, resend and credit.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Service Invoices</a:t>
                      </a:r>
                    </a:p>
                    <a:p>
                      <a:r>
                        <a:rPr sz="950" b="0">
                          <a:solidFill>
                            <a:srgbClr val="4B4B4B"/>
                          </a:solidFill>
                          <a:latin typeface="Arial"/>
                        </a:rPr>
                        <a:t>Booked Invoice › Service Invoices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FR-NB-117</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Insurers receive their commission service invoices; credits are traceable to the original.</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481</a:t>
            </a:r>
          </a:p>
        </p:txBody>
      </p:sp>
      <p:graphicFrame>
        <p:nvGraphicFramePr>
          <p:cNvPr id="9" name="Table 8"/>
          <p:cNvGraphicFramePr>
            <a:graphicFrameLocks noGrp="1"/>
          </p:cNvGraphicFramePr>
          <p:nvPr/>
        </p:nvGraphicFramePr>
        <p:xfrm>
          <a:off x="548640" y="1325880"/>
          <a:ext cx="11094411" cy="324610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Service Invoices / Credits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Service Invoice No., invoice, ARN or recipient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Service Invoice No., Kind / Type, Recipient, Invoice No., Issue Date, Net, E-mail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Kind pill with the type name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Service invoice, Invoice, ARN</a:t>
                      </a:r>
                    </a:p>
                  </a:txBody>
                  <a:tcPr marL="54864" marR="54864" marT="27432" marB="27432">
                    <a:solidFill>
                      <a:srgbClr val="E5F5FF"/>
                    </a:solidFill>
                  </a:tcPr>
                </a:tc>
                <a:tc>
                  <a:txBody>
                    <a:bodyPr/>
                    <a:lstStyle/>
                    <a:p>
                      <a:r>
                        <a:rPr sz="850" b="0">
                          <a:solidFill>
                            <a:srgbClr val="4B4B4B"/>
                          </a:solidFill>
                          <a:latin typeface="Arial"/>
                        </a:rPr>
                        <a:t>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Record</a:t>
                      </a:r>
                    </a:p>
                  </a:txBody>
                  <a:tcPr marL="54864" marR="54864" marT="27432" marB="27432">
                    <a:solidFill>
                      <a:srgbClr val="FFFFFF"/>
                    </a:solidFill>
                  </a:tcPr>
                </a:tc>
                <a:tc>
                  <a:txBody>
                    <a:bodyPr/>
                    <a:lstStyle/>
                    <a:p>
                      <a:r>
                        <a:rPr sz="850" b="0">
                          <a:solidFill>
                            <a:srgbClr val="4B4B4B"/>
                          </a:solidFill>
                          <a:latin typeface="Arial"/>
                        </a:rPr>
                        <a:t>Recipient, Billing e-mail, Issue date, Template, Owner, Credit of</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Brokerage commission, VAT on commission, less withholding tax, net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Record</a:t>
                      </a:r>
                    </a:p>
                  </a:txBody>
                  <a:tcPr marL="54864" marR="54864" marT="27432" marB="27432">
                    <a:solidFill>
                      <a:srgbClr val="FFFFFF"/>
                    </a:solidFill>
                  </a:tcPr>
                </a:tc>
                <a:tc>
                  <a:txBody>
                    <a:bodyPr/>
                    <a:lstStyle/>
                    <a:p>
                      <a:r>
                        <a:rPr sz="850" b="0">
                          <a:solidFill>
                            <a:srgbClr val="4B4B4B"/>
                          </a:solidFill>
                          <a:latin typeface="Arial"/>
                        </a:rPr>
                        <a:t>E-mail dispatch problem</a:t>
                      </a:r>
                    </a:p>
                  </a:txBody>
                  <a:tcPr marL="54864" marR="54864" marT="27432" marB="27432">
                    <a:solidFill>
                      <a:srgbClr val="FFFFFF"/>
                    </a:solidFill>
                  </a:tcPr>
                </a:tc>
                <a:tc>
                  <a:txBody>
                    <a:bodyPr/>
                    <a:lstStyle/>
                    <a:p>
                      <a:r>
                        <a:rPr sz="850" b="0">
                          <a:solidFill>
                            <a:srgbClr val="4B4B4B"/>
                          </a:solidFill>
                          <a:latin typeface="Arial"/>
                        </a:rPr>
                        <a:t>Banner</a:t>
                      </a:r>
                    </a:p>
                  </a:txBody>
                  <a:tcPr marL="54864" marR="54864" marT="27432" marB="27432">
                    <a:solidFill>
                      <a:srgbClr val="FFFFFF"/>
                    </a:solidFill>
                  </a:tcPr>
                </a:tc>
                <a:tc>
                  <a:txBody>
                    <a:bodyPr/>
                    <a:lstStyle/>
                    <a:p>
                      <a:r>
                        <a:rPr sz="850" b="0">
                          <a:solidFill>
                            <a:srgbClr val="4B4B4B"/>
                          </a:solidFill>
                          <a:latin typeface="Arial"/>
                        </a:rPr>
                        <a:t>Shown when the e-mail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E-mail: &lt;reason&gt;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Credit dialog</a:t>
                      </a:r>
                    </a:p>
                  </a:txBody>
                  <a:tcPr marL="54864" marR="54864" marT="27432" marB="27432">
                    <a:solidFill>
                      <a:srgbClr val="E5F5FF"/>
                    </a:solidFill>
                  </a:tcPr>
                </a:tc>
                <a:tc>
                  <a:txBody>
                    <a:bodyPr/>
                    <a:lstStyle/>
                    <a:p>
                      <a:r>
                        <a:rPr sz="850" b="0">
                          <a:solidFill>
                            <a:srgbClr val="4B4B4B"/>
                          </a:solidFill>
                          <a:latin typeface="Arial"/>
                        </a:rPr>
                        <a:t>Commission to credit / VAT to credit</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Blank = all still open</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Not more than open</a:t>
                      </a:r>
                    </a:p>
                  </a:txBody>
                  <a:tcPr marL="54864" marR="54864" marT="27432" marB="27432">
                    <a:solidFill>
                      <a:srgbClr val="E5F5FF"/>
                    </a:solidFill>
                  </a:tcPr>
                </a:tc>
                <a:tc>
                  <a:txBody>
                    <a:bodyPr/>
                    <a:lstStyle/>
                    <a:p>
                      <a:r>
                        <a:rPr sz="850" b="0">
                          <a:solidFill>
                            <a:srgbClr val="4B4B4B"/>
                          </a:solidFill>
                          <a:latin typeface="Arial"/>
                        </a:rPr>
                        <a:t>Service invoice &lt;no&gt; has &lt;commission&gt; commission and &lt;VAT&gt; VAT left to credit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Credit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482</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service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 PDF</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service invoice; a Word copy is offered after the download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Send via Email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Sends the service invoice e-mail again to the billing e-mail</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E-mail to the recipient</a:t>
                      </a:r>
                    </a:p>
                  </a:txBody>
                  <a:tcPr marL="54864" marR="54864" marT="27432" marB="27432">
                    <a:solidFill>
                      <a:srgbClr val="FFFFFF"/>
                    </a:solidFill>
                  </a:tcPr>
                </a:tc>
              </a:tr>
              <a:tr h="350518">
                <a:tc>
                  <a:txBody>
                    <a:bodyPr/>
                    <a:lstStyle/>
                    <a:p>
                      <a:r>
                        <a:rPr sz="850" b="0">
                          <a:solidFill>
                            <a:srgbClr val="4B4B4B"/>
                          </a:solidFill>
                          <a:latin typeface="Arial"/>
                        </a:rPr>
                        <a:t>Credit</a:t>
                      </a:r>
                    </a:p>
                  </a:txBody>
                  <a:tcPr marL="54864" marR="54864" marT="27432" marB="27432">
                    <a:solidFill>
                      <a:srgbClr val="E5F5FF"/>
                    </a:solidFill>
                  </a:tcPr>
                </a:tc>
                <a:tc>
                  <a:txBody>
                    <a:bodyPr/>
                    <a:lstStyle/>
                    <a:p>
                      <a:r>
                        <a:rPr sz="850" b="0">
                          <a:solidFill>
                            <a:srgbClr val="4B4B4B"/>
                          </a:solidFill>
                          <a:latin typeface="Arial"/>
                        </a:rPr>
                        <a:t>BOOKING_ADJUST</a:t>
                      </a:r>
                    </a:p>
                  </a:txBody>
                  <a:tcPr marL="54864" marR="54864" marT="27432" marB="27432">
                    <a:solidFill>
                      <a:srgbClr val="E5F5FF"/>
                    </a:solidFill>
                  </a:tcPr>
                </a:tc>
                <a:tc>
                  <a:txBody>
                    <a:bodyPr/>
                    <a:lstStyle/>
                    <a:p>
                      <a:r>
                        <a:rPr sz="850" b="0">
                          <a:solidFill>
                            <a:srgbClr val="4B4B4B"/>
                          </a:solidFill>
                          <a:latin typeface="Arial"/>
                        </a:rPr>
                        <a:t>Service invoice not a credit, amount left</a:t>
                      </a:r>
                    </a:p>
                  </a:txBody>
                  <a:tcPr marL="54864" marR="54864" marT="27432" marB="27432">
                    <a:solidFill>
                      <a:srgbClr val="E5F5FF"/>
                    </a:solidFill>
                  </a:tcPr>
                </a:tc>
                <a:tc>
                  <a:txBody>
                    <a:bodyPr/>
                    <a:lstStyle/>
                    <a:p>
                      <a:r>
                        <a:rPr sz="850" b="0">
                          <a:solidFill>
                            <a:srgbClr val="4B4B4B"/>
                          </a:solidFill>
                          <a:latin typeface="Arial"/>
                        </a:rPr>
                        <a:t>Issues a credit note for the amounts</a:t>
                      </a:r>
                    </a:p>
                  </a:txBody>
                  <a:tcPr marL="54864" marR="54864" marT="27432" marB="27432">
                    <a:solidFill>
                      <a:srgbClr val="E5F5FF"/>
                    </a:solidFill>
                  </a:tcPr>
                </a:tc>
                <a:tc>
                  <a:txBody>
                    <a:bodyPr/>
                    <a:lstStyle/>
                    <a:p>
                      <a:r>
                        <a:rPr sz="850" b="0">
                          <a:solidFill>
                            <a:srgbClr val="4B4B4B"/>
                          </a:solidFill>
                          <a:latin typeface="Arial"/>
                        </a:rPr>
                        <a:t>Unchanged (credit issued)</a:t>
                      </a:r>
                    </a:p>
                  </a:txBody>
                  <a:tcPr marL="54864" marR="54864" marT="27432" marB="27432">
                    <a:solidFill>
                      <a:srgbClr val="E5F5FF"/>
                    </a:solidFill>
                  </a:tcPr>
                </a:tc>
                <a:tc>
                  <a:txBody>
                    <a:bodyPr/>
                    <a:lstStyle/>
                    <a:p>
                      <a:r>
                        <a:rPr sz="850" b="0">
                          <a:solidFill>
                            <a:srgbClr val="4B4B4B"/>
                          </a:solidFill>
                          <a:latin typeface="Arial"/>
                        </a:rPr>
                        <a:t>E-mail to the insurer</a:t>
                      </a:r>
                    </a:p>
                  </a:txBody>
                  <a:tcPr marL="54864" marR="54864" marT="27432" marB="27432">
                    <a:solidFill>
                      <a:srgbClr val="E5F5FF"/>
                    </a:solidFill>
                  </a:tcPr>
                </a:tc>
              </a:tr>
            </a:tbl>
          </a:graphicData>
        </a:graphic>
      </p:graphicFrame>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483</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Service invoices are issued automatically at booking by the active service invoice types; the owner team is notified of every sending, successful or failed, and the register keeps the status, owner and time (FR-NB-117).</a:t>
                      </a:r>
                    </a:p>
                  </a:txBody>
                  <a:tcPr marL="54864" marR="54864" marT="27432" marB="27432">
                    <a:solidFill>
                      <a:srgbClr val="FFFFFF"/>
                    </a:solidFill>
                  </a:tcPr>
                </a:tc>
              </a:tr>
              <a:tr h="243840">
                <a:tc>
                  <a:txBody>
                    <a:bodyPr/>
                    <a:lstStyle/>
                    <a:p>
                      <a:r>
                        <a:rPr sz="1000" b="0">
                          <a:solidFill>
                            <a:srgbClr val="4B4B4B"/>
                          </a:solidFill>
                          <a:latin typeface="Arial"/>
                        </a:rPr>
                        <a:t>Service invoices of the early remittance incentive type are issued automatically only (FR-NB-117).</a:t>
                      </a:r>
                    </a:p>
                  </a:txBody>
                  <a:tcPr marL="54864" marR="54864" marT="27432" marB="27432">
                    <a:solidFill>
                      <a:srgbClr val="E5F5FF"/>
                    </a:solidFill>
                  </a:tcPr>
                </a:tc>
              </a:tr>
            </a:tbl>
          </a:graphicData>
        </a:graphic>
      </p:graphicFrame>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CHG-NB-2.1-05</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Invoices (part 1 of 3)</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CHG-NB-2.1-05</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4.png"/>
          <p:cNvPicPr>
            <a:picLocks noChangeAspect="1"/>
          </p:cNvPicPr>
          <p:nvPr/>
        </p:nvPicPr>
        <p:blipFill>
          <a:blip r:embed="rId3"/>
          <a:stretch>
            <a:fillRect/>
          </a:stretch>
        </p:blipFill>
        <p:spPr>
          <a:xfrm>
            <a:off x="548640" y="1261872"/>
            <a:ext cx="11094415" cy="469599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Invoices (part 2 of 3)</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CHG-NB-2.1-05</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5.png"/>
          <p:cNvPicPr>
            <a:picLocks noChangeAspect="1"/>
          </p:cNvPicPr>
          <p:nvPr/>
        </p:nvPicPr>
        <p:blipFill>
          <a:blip r:embed="rId3"/>
          <a:stretch>
            <a:fillRect/>
          </a:stretch>
        </p:blipFill>
        <p:spPr>
          <a:xfrm>
            <a:off x="548640" y="1261872"/>
            <a:ext cx="11094415" cy="389260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Invoices (part 3 of 3)</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CHG-NB-2.1-05</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 record (part 1 of 2)</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SCR-NB-32 Service Invoices: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CHG-NB-2.1-05</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7.png"/>
          <p:cNvPicPr>
            <a:picLocks noChangeAspect="1"/>
          </p:cNvPicPr>
          <p:nvPr/>
        </p:nvPicPr>
        <p:blipFill>
          <a:blip r:embed="rId3"/>
          <a:stretch>
            <a:fillRect/>
          </a:stretch>
        </p:blipFill>
        <p:spPr>
          <a:xfrm>
            <a:off x="548640" y="1261872"/>
            <a:ext cx="11094415" cy="309878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invoice record (part 2 of 2)</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SCR-NB-33 Batch Runs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489</a:t>
            </a:r>
          </a:p>
        </p:txBody>
      </p:sp>
      <p:graphicFrame>
        <p:nvGraphicFramePr>
          <p:cNvPr id="9" name="Table 8"/>
          <p:cNvGraphicFramePr>
            <a:graphicFrameLocks noGrp="1"/>
          </p:cNvGraphicFramePr>
          <p:nvPr/>
        </p:nvGraphicFramePr>
        <p:xfrm>
          <a:off x="548640" y="1307592"/>
          <a:ext cx="6434760" cy="17983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2362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booking batches with their per-account results; a batch can partly succeed.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Adjustment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Batch Runs</a:t>
                      </a:r>
                    </a:p>
                    <a:p>
                      <a:r>
                        <a:rPr sz="950" b="0">
                          <a:solidFill>
                            <a:srgbClr val="4B4B4B"/>
                          </a:solidFill>
                          <a:latin typeface="Arial"/>
                        </a:rPr>
                        <a:t>Booking Workbench › Batch Runs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Processing sees what each batch booked and why an account failed.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490</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Run No., Started by, Business Date, Started, Booked, Failed,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a:t>
                      </a:r>
                    </a:p>
                  </a:txBody>
                  <a:tcPr marL="54864" marR="54864" marT="27432" marB="27432">
                    <a:solidFill>
                      <a:srgbClr val="E5F5FF"/>
                    </a:solidFill>
                  </a:tcPr>
                </a:tc>
                <a:tc>
                  <a:txBody>
                    <a:bodyPr/>
                    <a:lstStyle/>
                    <a:p>
                      <a:r>
                        <a:rPr sz="850" b="0">
                          <a:solidFill>
                            <a:srgbClr val="4B4B4B"/>
                          </a:solidFill>
                          <a:latin typeface="Arial"/>
                        </a:rPr>
                        <a:t>Accounts, Booked, Failed, Finished</a:t>
                      </a:r>
                    </a:p>
                  </a:txBody>
                  <a:tcPr marL="54864" marR="54864" marT="27432" marB="27432">
                    <a:solidFill>
                      <a:srgbClr val="E5F5FF"/>
                    </a:solidFill>
                  </a:tcPr>
                </a:tc>
                <a:tc>
                  <a:txBody>
                    <a:bodyPr/>
                    <a:lstStyle/>
                    <a:p>
                      <a:r>
                        <a:rPr sz="850" b="0">
                          <a:solidFill>
                            <a:srgbClr val="4B4B4B"/>
                          </a:solidFill>
                          <a:latin typeface="Arial"/>
                        </a:rPr>
                        <a:t>Figure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a:t>
                      </a:r>
                    </a:p>
                  </a:txBody>
                  <a:tcPr marL="54864" marR="54864" marT="27432" marB="27432">
                    <a:solidFill>
                      <a:srgbClr val="FFFFFF"/>
                    </a:solidFill>
                  </a:tcPr>
                </a:tc>
                <a:tc>
                  <a:txBody>
                    <a:bodyPr/>
                    <a:lstStyle/>
                    <a:p>
                      <a:r>
                        <a:rPr sz="850" b="0">
                          <a:solidFill>
                            <a:srgbClr val="4B4B4B"/>
                          </a:solidFill>
                          <a:latin typeface="Arial"/>
                        </a:rPr>
                        <a:t>Results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ARN, Result, Invoice No., Reason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491</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run with its results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Scheduled, manual and upload runs are all listed (FR-NB-111).</a:t>
                      </a:r>
                    </a:p>
                  </a:txBody>
                  <a:tcPr marL="54864" marR="54864" marT="27432" marB="27432">
                    <a:solidFill>
                      <a:srgbClr val="FFFFFF"/>
                    </a:solidFill>
                  </a:tcPr>
                </a:tc>
              </a:tr>
            </a:tbl>
          </a:graphicData>
        </a:graphic>
      </p:graphicFrame>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SCR-NB-33 Batch Runs: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493</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cr-nb-33-01-list.png"/>
          <p:cNvPicPr>
            <a:picLocks noChangeAspect="1"/>
          </p:cNvPicPr>
          <p:nvPr/>
        </p:nvPicPr>
        <p:blipFill>
          <a:blip r:embed="rId3"/>
          <a:stretch>
            <a:fillRect/>
          </a:stretch>
        </p:blipFill>
        <p:spPr>
          <a:xfrm>
            <a:off x="548640" y="1261872"/>
            <a:ext cx="11094415" cy="40073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Runs</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SCR-NB-34 Booking Setup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494</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Booking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Which accounts are booked automatically (auto-book rules), which bookings are incentive eligible (incentive rules, read only), and which service invoices are issued (service invoice types).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Processing Team Leader, New Business Approver, Adjustment,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Booking › Booking Setup</a:t>
                      </a:r>
                    </a:p>
                    <a:p>
                      <a:r>
                        <a:rPr sz="950" b="0">
                          <a:solidFill>
                            <a:srgbClr val="4B4B4B"/>
                          </a:solidFill>
                          <a:latin typeface="Arial"/>
                        </a:rPr>
                        <a:t>Placement &amp; Booking › Booking › Booking Setup</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FR-NB-112, FR-NB-117, FR-NB-118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Administrator controls automatic booking and service invoicing without a release.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SCR-NB-34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495</a:t>
            </a:r>
          </a:p>
        </p:txBody>
      </p:sp>
      <p:graphicFrame>
        <p:nvGraphicFramePr>
          <p:cNvPr id="9" name="Table 8"/>
          <p:cNvGraphicFramePr>
            <a:graphicFrameLocks noGrp="1"/>
          </p:cNvGraphicFramePr>
          <p:nvPr/>
        </p:nvGraphicFramePr>
        <p:xfrm>
          <a:off x="548640" y="1325880"/>
          <a:ext cx="11094411" cy="464817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Auto-book Rules / Incentive Rules / Service Invoice Types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Auto-book Rules</a:t>
                      </a:r>
                    </a:p>
                  </a:txBody>
                  <a:tcPr marL="54864" marR="54864" marT="27432" marB="27432">
                    <a:solidFill>
                      <a:srgbClr val="E5F5FF"/>
                    </a:solidFill>
                  </a:tcPr>
                </a:tc>
                <a:tc>
                  <a:txBody>
                    <a:bodyPr/>
                    <a:lstStyle/>
                    <a:p>
                      <a:r>
                        <a:rPr sz="850" b="0">
                          <a:solidFill>
                            <a:srgbClr val="4B4B4B"/>
                          </a:solidFill>
                          <a:latin typeface="Arial"/>
                        </a:rPr>
                        <a:t>Product, Market Segment, Description,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Any when blank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Auto-book rule dialog</a:t>
                      </a:r>
                    </a:p>
                  </a:txBody>
                  <a:tcPr marL="54864" marR="54864" marT="27432" marB="27432">
                    <a:solidFill>
                      <a:srgbClr val="FFFFFF"/>
                    </a:solidFill>
                  </a:tcPr>
                </a:tc>
                <a:tc>
                  <a:txBody>
                    <a:bodyPr/>
                    <a:lstStyle/>
                    <a:p>
                      <a:r>
                        <a:rPr sz="850" b="0">
                          <a:solidFill>
                            <a:srgbClr val="4B4B4B"/>
                          </a:solidFill>
                          <a:latin typeface="Arial"/>
                        </a:rPr>
                        <a:t>Product / 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Blank = every product / segment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Auto-book rule dialog</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the rule</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Auto-book rule dialog</a:t>
                      </a:r>
                    </a:p>
                  </a:txBody>
                  <a:tcPr marL="54864" marR="54864" marT="27432" marB="27432">
                    <a:solidFill>
                      <a:srgbClr val="FFFFFF"/>
                    </a:solidFill>
                  </a:tcPr>
                </a:tc>
                <a:tc>
                  <a:txBody>
                    <a:bodyPr/>
                    <a:lstStyle/>
                    <a:p>
                      <a:r>
                        <a:rPr sz="850" b="0">
                          <a:solidFill>
                            <a:srgbClr val="4B4B4B"/>
                          </a:solidFill>
                          <a:latin typeface="Arial"/>
                        </a:rPr>
                        <a:t>Enabled</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Incentive Rules</a:t>
                      </a:r>
                    </a:p>
                  </a:txBody>
                  <a:tcPr marL="54864" marR="54864" marT="27432" marB="27432">
                    <a:solidFill>
                      <a:srgbClr val="E5F5FF"/>
                    </a:solidFill>
                  </a:tcPr>
                </a:tc>
                <a:tc>
                  <a:txBody>
                    <a:bodyPr/>
                    <a:lstStyle/>
                    <a:p>
                      <a:r>
                        <a:rPr sz="850" b="0">
                          <a:solidFill>
                            <a:srgbClr val="4B4B4B"/>
                          </a:solidFill>
                          <a:latin typeface="Arial"/>
                        </a:rPr>
                        <a:t>Product, Segment, Channel, Booked, Description,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Read only; the criteria are maintained in Product Maintenance › Incentive Criteria</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Changes are refused</a:t>
                      </a:r>
                    </a:p>
                  </a:txBody>
                  <a:tcPr marL="54864" marR="54864" marT="27432" marB="27432">
                    <a:solidFill>
                      <a:srgbClr val="E5F5FF"/>
                    </a:solidFill>
                  </a:tcPr>
                </a:tc>
                <a:tc>
                  <a:txBody>
                    <a:bodyPr/>
                    <a:lstStyle/>
                    <a:p>
                      <a:r>
                        <a:rPr sz="850" b="0">
                          <a:solidFill>
                            <a:srgbClr val="4B4B4B"/>
                          </a:solidFill>
                          <a:latin typeface="Arial"/>
                        </a:rPr>
                        <a:t>Incentive rules are maintained in Product Maintenance &gt; Incentive Criteria</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Service Invoice Types</a:t>
                      </a:r>
                    </a:p>
                  </a:txBody>
                  <a:tcPr marL="54864" marR="54864" marT="27432" marB="27432">
                    <a:solidFill>
                      <a:srgbClr val="FFFFFF"/>
                    </a:solidFill>
                  </a:tcPr>
                </a:tc>
                <a:tc>
                  <a:txBody>
                    <a:bodyPr/>
                    <a:lstStyle/>
                    <a:p>
                      <a:r>
                        <a:rPr sz="850" b="0">
                          <a:solidFill>
                            <a:srgbClr val="4B4B4B"/>
                          </a:solidFill>
                          <a:latin typeface="Arial"/>
                        </a:rPr>
                        <a:t>Code, Name, Recipient, Trigger, Owner, Template,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Service invoice type dialog</a:t>
                      </a:r>
                    </a:p>
                  </a:txBody>
                  <a:tcPr marL="54864" marR="54864" marT="27432" marB="27432">
                    <a:solidFill>
                      <a:srgbClr val="E5F5FF"/>
                    </a:solidFill>
                  </a:tcPr>
                </a:tc>
                <a:tc>
                  <a:txBody>
                    <a:bodyPr/>
                    <a:lstStyle/>
                    <a:p>
                      <a:r>
                        <a:rPr sz="850" b="0">
                          <a:solidFill>
                            <a:srgbClr val="4B4B4B"/>
                          </a:solidFill>
                          <a:latin typeface="Arial"/>
                        </a:rPr>
                        <a:t>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2-40 capitals, digits or _</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Format and unique</a:t>
                      </a:r>
                    </a:p>
                  </a:txBody>
                  <a:tcPr marL="54864" marR="54864" marT="27432" marB="27432">
                    <a:solidFill>
                      <a:srgbClr val="E5F5FF"/>
                    </a:solidFill>
                  </a:tcPr>
                </a:tc>
                <a:tc>
                  <a:txBody>
                    <a:bodyPr/>
                    <a:lstStyle/>
                    <a:p>
                      <a:r>
                        <a:rPr sz="850" b="0">
                          <a:solidFill>
                            <a:srgbClr val="4B4B4B"/>
                          </a:solidFill>
                          <a:latin typeface="Arial"/>
                        </a:rPr>
                        <a:t>Use 2-40 capitals, digits or _ / Service invoice type already exists: &lt;code&gt;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Service invoice type dialog</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Name the type</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Service invoice type dialog</a:t>
                      </a:r>
                    </a:p>
                  </a:txBody>
                  <a:tcPr marL="54864" marR="54864" marT="27432" marB="27432">
                    <a:solidFill>
                      <a:srgbClr val="E5F5FF"/>
                    </a:solidFill>
                  </a:tcPr>
                </a:tc>
                <a:tc>
                  <a:txBody>
                    <a:bodyPr/>
                    <a:lstStyle/>
                    <a:p>
                      <a:r>
                        <a:rPr sz="850" b="0">
                          <a:solidFill>
                            <a:srgbClr val="4B4B4B"/>
                          </a:solidFill>
                          <a:latin typeface="Arial"/>
                        </a:rPr>
                        <a:t>Recipient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 (e-mailed), Internal</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Service invoice type dialog</a:t>
                      </a:r>
                    </a:p>
                  </a:txBody>
                  <a:tcPr marL="54864" marR="54864" marT="27432" marB="27432">
                    <a:solidFill>
                      <a:srgbClr val="FFFFFF"/>
                    </a:solidFill>
                  </a:tcPr>
                </a:tc>
                <a:tc>
                  <a:txBody>
                    <a:bodyPr/>
                    <a:lstStyle/>
                    <a:p>
                      <a:r>
                        <a:rPr sz="850" b="0">
                          <a:solidFill>
                            <a:srgbClr val="4B4B4B"/>
                          </a:solidFill>
                          <a:latin typeface="Arial"/>
                        </a:rPr>
                        <a:t>Trigger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On booking, On endorsement, Manual, On early incentive (remittance)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Service invoice type dialog</a:t>
                      </a:r>
                    </a:p>
                  </a:txBody>
                  <a:tcPr marL="54864" marR="54864" marT="27432" marB="27432">
                    <a:solidFill>
                      <a:srgbClr val="E5F5FF"/>
                    </a:solidFill>
                  </a:tcPr>
                </a:tc>
                <a:tc>
                  <a:txBody>
                    <a:bodyPr/>
                    <a:lstStyle/>
                    <a:p>
                      <a:r>
                        <a:rPr sz="850" b="0">
                          <a:solidFill>
                            <a:srgbClr val="4B4B4B"/>
                          </a:solidFill>
                          <a:latin typeface="Arial"/>
                        </a:rPr>
                        <a:t>Owner team (permission), Owner user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Its holders are notified of the dispatch</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Service invoice type dialog</a:t>
                      </a:r>
                    </a:p>
                  </a:txBody>
                  <a:tcPr marL="54864" marR="54864" marT="27432" marB="27432">
                    <a:solidFill>
                      <a:srgbClr val="FFFFFF"/>
                    </a:solidFill>
                  </a:tcPr>
                </a:tc>
                <a:tc>
                  <a:txBody>
                    <a:bodyPr/>
                    <a:lstStyle/>
                    <a:p>
                      <a:r>
                        <a:rPr sz="850" b="0">
                          <a:solidFill>
                            <a:srgbClr val="4B4B4B"/>
                          </a:solidFill>
                          <a:latin typeface="Arial"/>
                        </a:rPr>
                        <a:t>Document template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Chosen</a:t>
                      </a:r>
                    </a:p>
                  </a:txBody>
                  <a:tcPr marL="54864" marR="54864" marT="27432" marB="27432">
                    <a:solidFill>
                      <a:srgbClr val="FFFFFF"/>
                    </a:solidFill>
                  </a:tcPr>
                </a:tc>
                <a:tc>
                  <a:txBody>
                    <a:bodyPr/>
                    <a:lstStyle/>
                    <a:p>
                      <a:r>
                        <a:rPr sz="850" b="0">
                          <a:solidFill>
                            <a:srgbClr val="4B4B4B"/>
                          </a:solidFill>
                          <a:latin typeface="Arial"/>
                        </a:rPr>
                        <a:t>Choose the template</a:t>
                      </a:r>
                    </a:p>
                  </a:txBody>
                  <a:tcPr marL="54864" marR="54864" marT="27432" marB="27432">
                    <a:solidFill>
                      <a:srgbClr val="FFFFFF"/>
                    </a:solidFill>
                  </a:tcPr>
                </a:tc>
              </a:tr>
            </a:tbl>
          </a:graphicData>
        </a:graphic>
      </p:graphicFrame>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SCR-NB-34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496</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Service invoice type dialog</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497</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Rule / New Type, open a row</a:t>
                      </a:r>
                    </a:p>
                  </a:txBody>
                  <a:tcPr marL="54864" marR="54864" marT="27432" marB="27432">
                    <a:solidFill>
                      <a:srgbClr val="FFFFFF"/>
                    </a:solidFill>
                  </a:tcPr>
                </a:tc>
                <a:tc>
                  <a:txBody>
                    <a:bodyPr/>
                    <a:lstStyle/>
                    <a:p>
                      <a:r>
                        <a:rPr sz="850" b="0">
                          <a:solidFill>
                            <a:srgbClr val="4B4B4B"/>
                          </a:solidFill>
                          <a:latin typeface="Arial"/>
                        </a:rPr>
                        <a:t>MASTER_MAINTAIN (auto-book rules and types)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Save stores the rule or type (audited)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Auto-book rules queue matching accounts for the batch when their policy is issued (FR-NB-112).</a:t>
                      </a:r>
                    </a:p>
                  </a:txBody>
                  <a:tcPr marL="54864" marR="54864" marT="27432" marB="27432">
                    <a:solidFill>
                      <a:srgbClr val="FFFFFF"/>
                    </a:solidFill>
                  </a:tcPr>
                </a:tc>
              </a:tr>
              <a:tr h="243840">
                <a:tc>
                  <a:txBody>
                    <a:bodyPr/>
                    <a:lstStyle/>
                    <a:p>
                      <a:r>
                        <a:rPr sz="1000" b="0">
                          <a:solidFill>
                            <a:srgbClr val="4B4B4B"/>
                          </a:solidFill>
                          <a:latin typeface="Arial"/>
                        </a:rPr>
                        <a:t>Incentive eligibility is decided by the incentive criteria of Product Maintenance (BRD-3); the booking incentive rules are kept for reference (FR-NB-118).</a:t>
                      </a:r>
                    </a:p>
                  </a:txBody>
                  <a:tcPr marL="54864" marR="54864" marT="27432" marB="27432">
                    <a:solidFill>
                      <a:srgbClr val="E5F5FF"/>
                    </a:solidFill>
                  </a:tcPr>
                </a:tc>
              </a:tr>
            </a:tbl>
          </a:graphicData>
        </a:graphic>
      </p:graphicFrame>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SCR-NB-34 Booking Setup: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34-01-list.png"/>
          <p:cNvPicPr>
            <a:picLocks noChangeAspect="1"/>
          </p:cNvPicPr>
          <p:nvPr/>
        </p:nvPicPr>
        <p:blipFill>
          <a:blip r:embed="rId3"/>
          <a:stretch>
            <a:fillRect/>
          </a:stretch>
        </p:blipFill>
        <p:spPr>
          <a:xfrm>
            <a:off x="548640" y="1261872"/>
            <a:ext cx="11094415" cy="39021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Booking Setup, Auto-book Rules tab</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Bulk Uploads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500</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upload centre: one tile per upload type the user may use and the list of recent uploads with their row counts and result report.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Processing, Processing Team Leader, Adjustment, Business Administrator, System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Bulk Processing › Bulk Uploads</a:t>
                      </a:r>
                    </a:p>
                    <a:p>
                      <a:r>
                        <a:rPr sz="950" b="0">
                          <a:solidFill>
                            <a:srgbClr val="4B4B4B"/>
                          </a:solidFill>
                          <a:latin typeface="Arial"/>
                        </a:rPr>
                        <a:t>Bulk Upload buttons of Clients, Quotations and Accounts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starts any bulk upload from one place and finds past uploads.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501</a:t>
            </a:r>
          </a:p>
        </p:txBody>
      </p:sp>
      <p:graphicFrame>
        <p:nvGraphicFramePr>
          <p:cNvPr id="9" name="Table 8"/>
          <p:cNvGraphicFramePr>
            <a:graphicFrameLocks noGrp="1"/>
          </p:cNvGraphicFramePr>
          <p:nvPr/>
        </p:nvGraphicFramePr>
        <p:xfrm>
          <a:off x="548640" y="1325880"/>
          <a:ext cx="11094411" cy="10515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Upload types</a:t>
                      </a:r>
                    </a:p>
                  </a:txBody>
                  <a:tcPr marL="54864" marR="54864" marT="27432" marB="27432">
                    <a:solidFill>
                      <a:srgbClr val="FFFFFF"/>
                    </a:solidFill>
                  </a:tcPr>
                </a:tc>
                <a:tc>
                  <a:txBody>
                    <a:bodyPr/>
                    <a:lstStyle/>
                    <a:p>
                      <a:r>
                        <a:rPr sz="850" b="0">
                          <a:solidFill>
                            <a:srgbClr val="4B4B4B"/>
                          </a:solidFill>
                          <a:latin typeface="Arial"/>
                        </a:rPr>
                        <a:t>Upload type tiles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One per upload type the user may use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type also checks its own permission</a:t>
                      </a:r>
                    </a:p>
                  </a:txBody>
                  <a:tcPr marL="54864" marR="54864" marT="27432" marB="27432">
                    <a:solidFill>
                      <a:srgbClr val="FFFFFF"/>
                    </a:solidFill>
                  </a:tcPr>
                </a:tc>
                <a:tc>
                  <a:txBody>
                    <a:bodyPr/>
                    <a:lstStyle/>
                    <a:p>
                      <a:r>
                        <a:rPr sz="850" b="0">
                          <a:solidFill>
                            <a:srgbClr val="4B4B4B"/>
                          </a:solidFill>
                          <a:latin typeface="Arial"/>
                        </a:rPr>
                        <a:t>You are not allowed to use '&lt;type&gt;'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Recent uploads</a:t>
                      </a:r>
                    </a:p>
                  </a:txBody>
                  <a:tcPr marL="54864" marR="54864" marT="27432" marB="27432">
                    <a:solidFill>
                      <a:srgbClr val="E5F5FF"/>
                    </a:solidFill>
                  </a:tcPr>
                </a:tc>
                <a:tc>
                  <a:txBody>
                    <a:bodyPr/>
                    <a:lstStyle/>
                    <a:p>
                      <a:r>
                        <a:rPr sz="850" b="0">
                          <a:solidFill>
                            <a:srgbClr val="4B4B4B"/>
                          </a:solidFill>
                          <a:latin typeface="Arial"/>
                        </a:rPr>
                        <a:t>Upload, Type, File, Status, Rows, Valid, Processed, Failed, Uploaded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Upload number BLK-yyyy-nnnnnn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502</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type tile</a:t>
                      </a:r>
                    </a:p>
                  </a:txBody>
                  <a:tcPr marL="54864" marR="54864" marT="27432" marB="27432">
                    <a:solidFill>
                      <a:srgbClr val="FFFFFF"/>
                    </a:solidFill>
                  </a:tcPr>
                </a:tc>
                <a:tc>
                  <a:txBody>
                    <a:bodyPr/>
                    <a:lstStyle/>
                    <a:p>
                      <a:r>
                        <a:rPr sz="850" b="0">
                          <a:solidFill>
                            <a:srgbClr val="4B4B4B"/>
                          </a:solidFill>
                          <a:latin typeface="Arial"/>
                        </a:rPr>
                        <a:t>BULK_PROCESS and the type's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upload wizard of the type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Result Report (row)</a:t>
                      </a:r>
                    </a:p>
                  </a:txBody>
                  <a:tcPr marL="54864" marR="54864" marT="27432" marB="27432">
                    <a:solidFill>
                      <a:srgbClr val="E5F5FF"/>
                    </a:solidFill>
                  </a:tcPr>
                </a:tc>
                <a:tc>
                  <a:txBody>
                    <a:bodyPr/>
                    <a:lstStyle/>
                    <a:p>
                      <a:r>
                        <a:rPr sz="850" b="0">
                          <a:solidFill>
                            <a:srgbClr val="4B4B4B"/>
                          </a:solidFill>
                          <a:latin typeface="Arial"/>
                        </a:rPr>
                        <a:t>BULK_PROCESS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result file of the upload: every row with its status and messages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503</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upload type has a template, row validation, a result file and re-upload; see the Upload screens section (FR-NB-019).</a:t>
                      </a:r>
                    </a:p>
                  </a:txBody>
                  <a:tcPr marL="54864" marR="54864" marT="27432" marB="27432">
                    <a:solidFill>
                      <a:srgbClr val="FFFFFF"/>
                    </a:solidFill>
                  </a:tcPr>
                </a:tc>
              </a:tr>
            </a:tbl>
          </a:graphicData>
        </a:graphic>
      </p:graphicFrame>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Bulk Uploads: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8.png"/>
          <p:cNvPicPr>
            <a:picLocks noChangeAspect="1"/>
          </p:cNvPicPr>
          <p:nvPr/>
        </p:nvPicPr>
        <p:blipFill>
          <a:blip r:embed="rId3"/>
          <a:stretch>
            <a:fillRect/>
          </a:stretch>
        </p:blipFill>
        <p:spPr>
          <a:xfrm>
            <a:off x="548640" y="1261872"/>
            <a:ext cx="11094415" cy="47199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Uploads centre (part 1 of 2)</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SCR-NB-35 Bulk Uploads: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9.png"/>
          <p:cNvPicPr>
            <a:picLocks noChangeAspect="1"/>
          </p:cNvPicPr>
          <p:nvPr/>
        </p:nvPicPr>
        <p:blipFill>
          <a:blip r:embed="rId3"/>
          <a:stretch>
            <a:fillRect/>
          </a:stretch>
        </p:blipFill>
        <p:spPr>
          <a:xfrm>
            <a:off x="548640" y="1261872"/>
            <a:ext cx="11094415" cy="41843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Uploads centre (part 2 of 2)</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SCR-NB-36 Bulk upload wizard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506</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same three steps for every upload type: 1. download the current template, 2. upload the filled file (with the type's parameters, such as the product), 3. review every row, process the valid rows, download the result file and upload another file.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Processing, Processing Team Leader, Adjustment, Business Administrator, 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Bulk Processing › Bulk Uploads › Bulk Upload</a:t>
                      </a:r>
                    </a:p>
                    <a:p>
                      <a:r>
                        <a:rPr sz="950" b="0">
                          <a:solidFill>
                            <a:srgbClr val="4B4B4B"/>
                          </a:solidFill>
                          <a:latin typeface="Arial"/>
                        </a:rPr>
                        <a:t>Bulk Uploads › upload type tile</a:t>
                      </a:r>
                    </a:p>
                    <a:p>
                      <a:r>
                        <a:rPr sz="950" b="0">
                          <a:solidFill>
                            <a:srgbClr val="4B4B4B"/>
                          </a:solidFill>
                          <a:latin typeface="Arial"/>
                        </a:rPr>
                        <a:t>Clients, Quotations, Accounts and Booking Workbench › Bulk Upload / Upload Bookings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FR-NB-019, FR-NB-035, FR-NB-045, FR-NB-046, FR-NB-065, FR-NB-068, FR-NB-111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Many records are created or changed in one step, with a result file for every row.</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507</a:t>
            </a:r>
          </a:p>
        </p:txBody>
      </p:sp>
      <p:graphicFrame>
        <p:nvGraphicFramePr>
          <p:cNvPr id="9" name="Table 8"/>
          <p:cNvGraphicFramePr>
            <a:graphicFrameLocks noGrp="1"/>
          </p:cNvGraphicFramePr>
          <p:nvPr/>
        </p:nvGraphicFramePr>
        <p:xfrm>
          <a:off x="548640" y="1325880"/>
          <a:ext cx="11094411" cy="45414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Template</a:t>
                      </a:r>
                    </a:p>
                  </a:txBody>
                  <a:tcPr marL="54864" marR="54864" marT="27432" marB="27432">
                    <a:solidFill>
                      <a:srgbClr val="FFFFFF"/>
                    </a:solidFill>
                  </a:tcPr>
                </a:tc>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Excel template: title block, guide band above the headers (Mandatory, Format, Allowed values, What to enter), mandatory headers marked *, an example row to overwrite, drop-downs from the Lists sheet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Keep the headers unchanged</a:t>
                      </a:r>
                    </a:p>
                  </a:txBody>
                  <a:tcPr marL="54864" marR="54864" marT="27432" marB="27432">
                    <a:solidFill>
                      <a:srgbClr val="FFFFFF"/>
                    </a:solidFill>
                  </a:tcPr>
                </a:tc>
                <a:tc>
                  <a:txBody>
                    <a:bodyPr/>
                    <a:lstStyle/>
                    <a:p>
                      <a:r>
                        <a:rPr sz="850" b="0">
                          <a:solidFill>
                            <a:srgbClr val="4B4B4B"/>
                          </a:solidFill>
                          <a:latin typeface="Arial"/>
                        </a:rPr>
                        <a:t>The file does not follow the current template; missing column(s): &lt;columns&gt;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2. Upload</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Code – name (quotation and account creation)</a:t>
                      </a:r>
                    </a:p>
                  </a:txBody>
                  <a:tcPr marL="54864" marR="54864" marT="27432" marB="27432">
                    <a:solidFill>
                      <a:srgbClr val="E5F5FF"/>
                    </a:solidFill>
                  </a:tcPr>
                </a:tc>
                <a:tc>
                  <a:txBody>
                    <a:bodyPr/>
                    <a:lstStyle/>
                    <a:p>
                      <a:r>
                        <a:rPr sz="850" b="0">
                          <a:solidFill>
                            <a:srgbClr val="4B4B4B"/>
                          </a:solidFill>
                          <a:latin typeface="Arial"/>
                        </a:rPr>
                        <a:t>Y for those types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product of the upload</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2. Upload</a:t>
                      </a:r>
                    </a:p>
                  </a:txBody>
                  <a:tcPr marL="54864" marR="54864" marT="27432" marB="27432">
                    <a:solidFill>
                      <a:srgbClr val="FFFFFF"/>
                    </a:solidFill>
                  </a:tcPr>
                </a:tc>
                <a:tc>
                  <a:txBody>
                    <a:bodyPr/>
                    <a:lstStyle/>
                    <a:p>
                      <a:r>
                        <a:rPr sz="850" b="0">
                          <a:solidFill>
                            <a:srgbClr val="4B4B4B"/>
                          </a:solidFill>
                          <a:latin typeface="Arial"/>
                        </a:rPr>
                        <a:t>Default 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Applies to rows without a segment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2. Upload</a:t>
                      </a:r>
                    </a:p>
                  </a:txBody>
                  <a:tcPr marL="54864" marR="54864" marT="27432" marB="27432">
                    <a:solidFill>
                      <a:srgbClr val="E5F5FF"/>
                    </a:solidFill>
                  </a:tcPr>
                </a:tc>
                <a:tc>
                  <a:txBody>
                    <a:bodyPr/>
                    <a:lstStyle/>
                    <a:p>
                      <a:r>
                        <a:rPr sz="850" b="0">
                          <a:solidFill>
                            <a:srgbClr val="4B4B4B"/>
                          </a:solidFill>
                          <a:latin typeface="Arial"/>
                        </a:rPr>
                        <a:t>Submit complete accounts to Processing</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Account creation only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2. Upload</a:t>
                      </a:r>
                    </a:p>
                  </a:txBody>
                  <a:tcPr marL="54864" marR="54864" marT="27432" marB="27432">
                    <a:solidFill>
                      <a:srgbClr val="FFFFFF"/>
                    </a:solidFill>
                  </a:tcPr>
                </a:tc>
                <a:tc>
                  <a:txBody>
                    <a:bodyPr/>
                    <a:lstStyle/>
                    <a:p>
                      <a:r>
                        <a:rPr sz="850" b="0">
                          <a:solidFill>
                            <a:srgbClr val="4B4B4B"/>
                          </a:solidFill>
                          <a:latin typeface="Arial"/>
                        </a:rPr>
                        <a:t>Create accounts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Quotation acceptance only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Accounts are created for confirmed clients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2. Upload</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Drop zone</a:t>
                      </a:r>
                    </a:p>
                  </a:txBody>
                  <a:tcPr marL="54864" marR="54864" marT="27432" marB="27432">
                    <a:solidFill>
                      <a:srgbClr val="E5F5FF"/>
                    </a:solidFill>
                  </a:tcPr>
                </a:tc>
                <a:tc>
                  <a:txBody>
                    <a:bodyPr/>
                    <a:lstStyle/>
                    <a:p>
                      <a:r>
                        <a:rPr sz="850" b="0">
                          <a:solidFill>
                            <a:srgbClr val="4B4B4B"/>
                          </a:solidFill>
                          <a:latin typeface="Arial"/>
                        </a:rPr>
                        <a:t>The filled Excel template as downloaded (the guide rows are skipped), or OpenDocument (.ods) or CSV (.csv) with the headers in row 1; up to BULK_MAX_ROWS (5,000) data rows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Readable file with data rows, not uploaded before</a:t>
                      </a:r>
                    </a:p>
                  </a:txBody>
                  <a:tcPr marL="54864" marR="54864" marT="27432" marB="27432">
                    <a:solidFill>
                      <a:srgbClr val="E5F5FF"/>
                    </a:solidFill>
                  </a:tcPr>
                </a:tc>
                <a:tc>
                  <a:txBody>
                    <a:bodyPr/>
                    <a:lstStyle/>
                    <a:p>
                      <a:r>
                        <a:rPr sz="850" b="0">
                          <a:solidFill>
                            <a:srgbClr val="4B4B4B"/>
                          </a:solidFill>
                          <a:latin typeface="Arial"/>
                        </a:rPr>
                        <a:t>Upload an Excel (.xlsx), OpenDocument (.ods), CSV (.csv) or text (.txt) file / The file has no data rows / The file has &lt;n&gt; rows; the maximum is 5000 / This file was already uploaded as &lt;upload&gt; (&lt;file&gt;)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3. Review</a:t>
                      </a:r>
                    </a:p>
                  </a:txBody>
                  <a:tcPr marL="54864" marR="54864" marT="27432" marB="27432">
                    <a:solidFill>
                      <a:srgbClr val="FFFFFF"/>
                    </a:solidFill>
                  </a:tcPr>
                </a:tc>
                <a:tc>
                  <a:txBody>
                    <a:bodyPr/>
                    <a:lstStyle/>
                    <a:p>
                      <a:r>
                        <a:rPr sz="850" b="0">
                          <a:solidFill>
                            <a:srgbClr val="4B4B4B"/>
                          </a:solidFill>
                          <a:latin typeface="Arial"/>
                        </a:rPr>
                        <a:t>Rows Read, Valid, Rejected, To process</a:t>
                      </a:r>
                    </a:p>
                  </a:txBody>
                  <a:tcPr marL="54864" marR="54864" marT="27432" marB="27432">
                    <a:solidFill>
                      <a:srgbClr val="FFFFFF"/>
                    </a:solidFill>
                  </a:tcPr>
                </a:tc>
                <a:tc>
                  <a:txBody>
                    <a:bodyPr/>
                    <a:lstStyle/>
                    <a:p>
                      <a:r>
                        <a:rPr sz="850" b="0">
                          <a:solidFill>
                            <a:srgbClr val="4B4B4B"/>
                          </a:solidFill>
                          <a:latin typeface="Arial"/>
                        </a:rPr>
                        <a:t>Figure</a:t>
                      </a:r>
                    </a:p>
                  </a:txBody>
                  <a:tcPr marL="54864" marR="54864" marT="27432" marB="27432">
                    <a:solidFill>
                      <a:srgbClr val="FFFFFF"/>
                    </a:solidFill>
                  </a:tcPr>
                </a:tc>
                <a:tc>
                  <a:txBody>
                    <a:bodyPr/>
                    <a:lstStyle/>
                    <a:p>
                      <a:r>
                        <a:rPr sz="850" b="0">
                          <a:solidFill>
                            <a:srgbClr val="4B4B4B"/>
                          </a:solidFill>
                          <a:latin typeface="Arial"/>
                        </a:rPr>
                        <a:t>Counts; after processing: Processed /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3. Review</a:t>
                      </a:r>
                    </a:p>
                  </a:txBody>
                  <a:tcPr marL="54864" marR="54864" marT="27432" marB="27432">
                    <a:solidFill>
                      <a:srgbClr val="E5F5FF"/>
                    </a:solidFill>
                  </a:tcPr>
                </a:tc>
                <a:tc>
                  <a:txBody>
                    <a:bodyPr/>
                    <a:lstStyle/>
                    <a:p>
                      <a:r>
                        <a:rPr sz="850" b="0">
                          <a:solidFill>
                            <a:srgbClr val="4B4B4B"/>
                          </a:solidFill>
                          <a:latin typeface="Arial"/>
                        </a:rPr>
                        <a:t>Row filter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rows, Invalid, Valid, Committed, Failed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3. Review</a:t>
                      </a:r>
                    </a:p>
                  </a:txBody>
                  <a:tcPr marL="54864" marR="54864" marT="27432" marB="27432">
                    <a:solidFill>
                      <a:srgbClr val="FFFFFF"/>
                    </a:solidFill>
                  </a:tcPr>
                </a:tc>
                <a:tc>
                  <a:txBody>
                    <a:bodyPr/>
                    <a:lstStyle/>
                    <a:p>
                      <a:r>
                        <a:rPr sz="850" b="0">
                          <a:solidFill>
                            <a:srgbClr val="4B4B4B"/>
                          </a:solidFill>
                          <a:latin typeface="Arial"/>
                        </a:rPr>
                        <a:t>Rows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Row, Status, the first five columns, Messages / Reference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row is checked against the column rules and the type's business rules</a:t>
                      </a:r>
                    </a:p>
                  </a:txBody>
                  <a:tcPr marL="54864" marR="54864" marT="27432" marB="27432">
                    <a:solidFill>
                      <a:srgbClr val="FFFFFF"/>
                    </a:solidFill>
                  </a:tcPr>
                </a:tc>
                <a:tc>
                  <a:txBody>
                    <a:bodyPr/>
                    <a:lstStyle/>
                    <a:p>
                      <a:r>
                        <a:rPr sz="850" b="0">
                          <a:solidFill>
                            <a:srgbClr val="4B4B4B"/>
                          </a:solidFill>
                          <a:latin typeface="Arial"/>
                        </a:rPr>
                        <a:t>&lt;Column&gt; is mandatory / &lt;Column&gt; '&lt;value&gt;' is not a valid &lt;number, date (yyyy-mm-dd), Y/N value&gt;</a:t>
                      </a:r>
                    </a:p>
                  </a:txBody>
                  <a:tcPr marL="54864" marR="54864" marT="27432" marB="27432">
                    <a:solidFill>
                      <a:srgbClr val="FFFFFF"/>
                    </a:solidFill>
                  </a:tcPr>
                </a:tc>
              </a:tr>
            </a:tbl>
          </a:graphicData>
        </a:graphic>
      </p:graphicFrame>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508</a:t>
            </a:r>
          </a:p>
        </p:txBody>
      </p:sp>
      <p:graphicFrame>
        <p:nvGraphicFramePr>
          <p:cNvPr id="9" name="Table 8"/>
          <p:cNvGraphicFramePr>
            <a:graphicFrameLocks noGrp="1"/>
          </p:cNvGraphicFramePr>
          <p:nvPr/>
        </p:nvGraphicFramePr>
        <p:xfrm>
          <a:off x="548640" y="1325880"/>
          <a:ext cx="11094412" cy="276604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BULK_PROCESS and the type's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current template of the type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and Validate</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File chosen and parameters complete</a:t>
                      </a:r>
                    </a:p>
                  </a:txBody>
                  <a:tcPr marL="54864" marR="54864" marT="27432" marB="27432">
                    <a:solidFill>
                      <a:srgbClr val="E5F5FF"/>
                    </a:solidFill>
                  </a:tcPr>
                </a:tc>
                <a:tc>
                  <a:txBody>
                    <a:bodyPr/>
                    <a:lstStyle/>
                    <a:p>
                      <a:r>
                        <a:rPr sz="850" b="0">
                          <a:solidFill>
                            <a:srgbClr val="4B4B4B"/>
                          </a:solidFill>
                          <a:latin typeface="Arial"/>
                        </a:rPr>
                        <a:t>Reads and validates every row; nothing is saved yet</a:t>
                      </a:r>
                    </a:p>
                  </a:txBody>
                  <a:tcPr marL="54864" marR="54864" marT="27432" marB="27432">
                    <a:solidFill>
                      <a:srgbClr val="E5F5FF"/>
                    </a:solidFill>
                  </a:tcPr>
                </a:tc>
                <a:tc>
                  <a:txBody>
                    <a:bodyPr/>
                    <a:lstStyle/>
                    <a:p>
                      <a:r>
                        <a:rPr sz="850" b="0">
                          <a:solidFill>
                            <a:srgbClr val="4B4B4B"/>
                          </a:solidFill>
                          <a:latin typeface="Arial"/>
                        </a:rPr>
                        <a:t>Upload Validated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Process n Valid Row(s)</a:t>
                      </a:r>
                    </a:p>
                  </a:txBody>
                  <a:tcPr marL="54864" marR="54864" marT="27432" marB="27432">
                    <a:solidFill>
                      <a:srgbClr val="FFFFFF"/>
                    </a:solidFill>
                  </a:tcPr>
                </a:tc>
                <a:tc>
                  <a:txBody>
                    <a:bodyPr/>
                    <a:lstStyle/>
                    <a:p>
                      <a:r>
                        <a:rPr sz="850" b="0">
                          <a:solidFill>
                            <a:srgbClr val="4B4B4B"/>
                          </a:solidFill>
                          <a:latin typeface="Arial"/>
                        </a:rPr>
                        <a:t>As above</a:t>
                      </a:r>
                    </a:p>
                  </a:txBody>
                  <a:tcPr marL="54864" marR="54864" marT="27432" marB="27432">
                    <a:solidFill>
                      <a:srgbClr val="FFFFFF"/>
                    </a:solidFill>
                  </a:tcPr>
                </a:tc>
                <a:tc>
                  <a:txBody>
                    <a:bodyPr/>
                    <a:lstStyle/>
                    <a:p>
                      <a:r>
                        <a:rPr sz="850" b="0">
                          <a:solidFill>
                            <a:srgbClr val="4B4B4B"/>
                          </a:solidFill>
                          <a:latin typeface="Arial"/>
                        </a:rPr>
                        <a:t>Validated upload with valid rows</a:t>
                      </a:r>
                    </a:p>
                  </a:txBody>
                  <a:tcPr marL="54864" marR="54864" marT="27432" marB="27432">
                    <a:solidFill>
                      <a:srgbClr val="FFFFFF"/>
                    </a:solidFill>
                  </a:tcPr>
                </a:tc>
                <a:tc>
                  <a:txBody>
                    <a:bodyPr/>
                    <a:lstStyle/>
                    <a:p>
                      <a:r>
                        <a:rPr sz="850" b="0">
                          <a:solidFill>
                            <a:srgbClr val="4B4B4B"/>
                          </a:solidFill>
                          <a:latin typeface="Arial"/>
                        </a:rPr>
                        <a:t>Saves each valid row on its own (a failure does not stop the others); invalid rows are left out</a:t>
                      </a:r>
                    </a:p>
                  </a:txBody>
                  <a:tcPr marL="54864" marR="54864" marT="27432" marB="27432">
                    <a:solidFill>
                      <a:srgbClr val="FFFFFF"/>
                    </a:solidFill>
                  </a:tcPr>
                </a:tc>
                <a:tc>
                  <a:txBody>
                    <a:bodyPr/>
                    <a:lstStyle/>
                    <a:p>
                      <a:r>
                        <a:rPr sz="850" b="0">
                          <a:solidFill>
                            <a:srgbClr val="4B4B4B"/>
                          </a:solidFill>
                          <a:latin typeface="Arial"/>
                        </a:rPr>
                        <a:t>Upload Committed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Discard Upload</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Validated upload</a:t>
                      </a:r>
                    </a:p>
                  </a:txBody>
                  <a:tcPr marL="54864" marR="54864" marT="27432" marB="27432">
                    <a:solidFill>
                      <a:srgbClr val="E5F5FF"/>
                    </a:solidFill>
                  </a:tcPr>
                </a:tc>
                <a:tc>
                  <a:txBody>
                    <a:bodyPr/>
                    <a:lstStyle/>
                    <a:p>
                      <a:r>
                        <a:rPr sz="850" b="0">
                          <a:solidFill>
                            <a:srgbClr val="4B4B4B"/>
                          </a:solidFill>
                          <a:latin typeface="Arial"/>
                        </a:rPr>
                        <a:t>Discards the upload; nothing is saved</a:t>
                      </a:r>
                    </a:p>
                  </a:txBody>
                  <a:tcPr marL="54864" marR="54864" marT="27432" marB="27432">
                    <a:solidFill>
                      <a:srgbClr val="E5F5FF"/>
                    </a:solidFill>
                  </a:tcPr>
                </a:tc>
                <a:tc>
                  <a:txBody>
                    <a:bodyPr/>
                    <a:lstStyle/>
                    <a:p>
                      <a:r>
                        <a:rPr sz="850" b="0">
                          <a:solidFill>
                            <a:srgbClr val="4B4B4B"/>
                          </a:solidFill>
                          <a:latin typeface="Arial"/>
                        </a:rPr>
                        <a:t>Upload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Result Report</a:t>
                      </a:r>
                    </a:p>
                  </a:txBody>
                  <a:tcPr marL="54864" marR="54864" marT="27432" marB="27432">
                    <a:solidFill>
                      <a:srgbClr val="FFFFFF"/>
                    </a:solidFill>
                  </a:tcPr>
                </a:tc>
                <a:tc>
                  <a:txBody>
                    <a:bodyPr/>
                    <a:lstStyle/>
                    <a:p>
                      <a:r>
                        <a:rPr sz="850" b="0">
                          <a:solidFill>
                            <a:srgbClr val="4B4B4B"/>
                          </a:solidFill>
                          <a:latin typeface="Arial"/>
                        </a:rPr>
                        <a:t>As above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result file: every row with its status, messages and the reference created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 Error File</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Rejected or failed rows exist</a:t>
                      </a:r>
                    </a:p>
                  </a:txBody>
                  <a:tcPr marL="54864" marR="54864" marT="27432" marB="27432">
                    <a:solidFill>
                      <a:srgbClr val="E5F5FF"/>
                    </a:solidFill>
                  </a:tcPr>
                </a:tc>
                <a:tc>
                  <a:txBody>
                    <a:bodyPr/>
                    <a:lstStyle/>
                    <a:p>
                      <a:r>
                        <a:rPr sz="850" b="0">
                          <a:solidFill>
                            <a:srgbClr val="4B4B4B"/>
                          </a:solidFill>
                          <a:latin typeface="Arial"/>
                        </a:rPr>
                        <a:t>Downloads the rejected and failed rows with their messages, in the template layout, to correct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Upload Corrected File</a:t>
                      </a:r>
                    </a:p>
                  </a:txBody>
                  <a:tcPr marL="54864" marR="54864" marT="27432" marB="27432">
                    <a:solidFill>
                      <a:srgbClr val="FFFFFF"/>
                    </a:solidFill>
                  </a:tcPr>
                </a:tc>
                <a:tc>
                  <a:txBody>
                    <a:bodyPr/>
                    <a:lstStyle/>
                    <a:p>
                      <a:r>
                        <a:rPr sz="850" b="0">
                          <a:solidFill>
                            <a:srgbClr val="4B4B4B"/>
                          </a:solidFill>
                          <a:latin typeface="Arial"/>
                        </a:rPr>
                        <a:t>As above</a:t>
                      </a:r>
                    </a:p>
                  </a:txBody>
                  <a:tcPr marL="54864" marR="54864" marT="27432" marB="27432">
                    <a:solidFill>
                      <a:srgbClr val="FFFFFF"/>
                    </a:solidFill>
                  </a:tcPr>
                </a:tc>
                <a:tc>
                  <a:txBody>
                    <a:bodyPr/>
                    <a:lstStyle/>
                    <a:p>
                      <a:r>
                        <a:rPr sz="850" b="0">
                          <a:solidFill>
                            <a:srgbClr val="4B4B4B"/>
                          </a:solidFill>
                          <a:latin typeface="Arial"/>
                        </a:rPr>
                        <a:t>Rejected or failed rows exist</a:t>
                      </a:r>
                    </a:p>
                  </a:txBody>
                  <a:tcPr marL="54864" marR="54864" marT="27432" marB="27432">
                    <a:solidFill>
                      <a:srgbClr val="FFFFFF"/>
                    </a:solidFill>
                  </a:tcPr>
                </a:tc>
                <a:tc>
                  <a:txBody>
                    <a:bodyPr/>
                    <a:lstStyle/>
                    <a:p>
                      <a:r>
                        <a:rPr sz="850" b="0">
                          <a:solidFill>
                            <a:srgbClr val="4B4B4B"/>
                          </a:solidFill>
                          <a:latin typeface="Arial"/>
                        </a:rPr>
                        <a:t>Returns to step 2 for the corrected error file; the new upload is linked to the first one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Upload Another File</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Upload processed</a:t>
                      </a:r>
                    </a:p>
                  </a:txBody>
                  <a:tcPr marL="54864" marR="54864" marT="27432" marB="27432">
                    <a:solidFill>
                      <a:srgbClr val="E5F5FF"/>
                    </a:solidFill>
                  </a:tcPr>
                </a:tc>
                <a:tc>
                  <a:txBody>
                    <a:bodyPr/>
                    <a:lstStyle/>
                    <a:p>
                      <a:r>
                        <a:rPr sz="850" b="0">
                          <a:solidFill>
                            <a:srgbClr val="4B4B4B"/>
                          </a:solidFill>
                          <a:latin typeface="Arial"/>
                        </a:rPr>
                        <a:t>Starts again from step 2 with a new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same file is not accepted twice (FR-NB-019).</a:t>
                      </a:r>
                    </a:p>
                  </a:txBody>
                  <a:tcPr marL="54864" marR="54864" marT="27432" marB="27432">
                    <a:solidFill>
                      <a:srgbClr val="FFFFFF"/>
                    </a:solidFill>
                  </a:tcPr>
                </a:tc>
              </a:tr>
              <a:tr h="243840">
                <a:tc>
                  <a:txBody>
                    <a:bodyPr/>
                    <a:lstStyle/>
                    <a:p>
                      <a:r>
                        <a:rPr sz="1000" b="0">
                          <a:solidFill>
                            <a:srgbClr val="4B4B4B"/>
                          </a:solidFill>
                          <a:latin typeface="Arial"/>
                        </a:rPr>
                        <a:t>Rows are committed one by one; the result file is the error file to correct and re-upload (FR-NB-019).</a:t>
                      </a:r>
                    </a:p>
                  </a:txBody>
                  <a:tcPr marL="54864" marR="54864" marT="27432" marB="27432">
                    <a:solidFill>
                      <a:srgbClr val="E5F5FF"/>
                    </a:solidFill>
                  </a:tcPr>
                </a:tc>
              </a:tr>
              <a:tr h="243840">
                <a:tc>
                  <a:txBody>
                    <a:bodyPr/>
                    <a:lstStyle/>
                    <a:p>
                      <a:r>
                        <a:rPr sz="1000" b="0">
                          <a:solidFill>
                            <a:srgbClr val="4B4B4B"/>
                          </a:solidFill>
                          <a:latin typeface="Arial"/>
                        </a:rPr>
                        <a:t>Each upload type applies the same business rules as the screen it replaces, including duplicate checks (FR-NB-035, FR-NB-046, FR-NB-065).</a:t>
                      </a:r>
                    </a:p>
                  </a:txBody>
                  <a:tcPr marL="54864" marR="54864" marT="27432" marB="27432">
                    <a:solidFill>
                      <a:srgbClr val="FFFFFF"/>
                    </a:solidFill>
                  </a:tcPr>
                </a:tc>
              </a:tr>
            </a:tbl>
          </a:graphicData>
        </a:graphic>
      </p:graphicFrame>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510</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40.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Review step: the valid rows and the rejected rows with their messages (part 1 of 2)</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41.png"/>
          <p:cNvPicPr>
            <a:picLocks noChangeAspect="1"/>
          </p:cNvPicPr>
          <p:nvPr/>
        </p:nvPicPr>
        <p:blipFill>
          <a:blip r:embed="rId3"/>
          <a:stretch>
            <a:fillRect/>
          </a:stretch>
        </p:blipFill>
        <p:spPr>
          <a:xfrm>
            <a:off x="548640" y="1261872"/>
            <a:ext cx="11094415" cy="33570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Review step: the valid rows and the rejected rows with their messages (part 2 of 2)</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Success message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242.png"/>
          <p:cNvPicPr>
            <a:picLocks noChangeAspect="1"/>
          </p:cNvPicPr>
          <p:nvPr/>
        </p:nvPicPr>
        <p:blipFill>
          <a:blip r:embed="rId3"/>
          <a:stretch>
            <a:fillRect/>
          </a:stretch>
        </p:blipFill>
        <p:spPr>
          <a:xfrm>
            <a:off x="548640" y="1261872"/>
            <a:ext cx="11094415" cy="44263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 rows processed; Download Error File and Upload Corrected File are offered for the rejected rows (part 1 of 2)</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Success message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243.png"/>
          <p:cNvPicPr>
            <a:picLocks noChangeAspect="1"/>
          </p:cNvPicPr>
          <p:nvPr/>
        </p:nvPicPr>
        <p:blipFill>
          <a:blip r:embed="rId3"/>
          <a:stretch>
            <a:fillRect/>
          </a:stretch>
        </p:blipFill>
        <p:spPr>
          <a:xfrm>
            <a:off x="548640" y="1261872"/>
            <a:ext cx="11094415" cy="387544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 rows processed; Download Error File and Upload Corrected File are offered for the rejected rows (part 2 of 2)</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Success message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244.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Corrected File: the corrected rows validated and processed (part 1 of 2)</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Success message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245.png"/>
          <p:cNvPicPr>
            <a:picLocks noChangeAspect="1"/>
          </p:cNvPicPr>
          <p:nvPr/>
        </p:nvPicPr>
        <p:blipFill>
          <a:blip r:embed="rId3"/>
          <a:stretch>
            <a:fillRect/>
          </a:stretch>
        </p:blipFill>
        <p:spPr>
          <a:xfrm>
            <a:off x="548640" y="1261872"/>
            <a:ext cx="11094415" cy="34812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Corrected File: the corrected rows validated and processed (part 2 of 2)</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516</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246.png"/>
          <p:cNvPicPr>
            <a:picLocks noChangeAspect="1"/>
          </p:cNvPicPr>
          <p:nvPr/>
        </p:nvPicPr>
        <p:blipFill>
          <a:blip r:embed="rId3"/>
          <a:stretch>
            <a:fillRect/>
          </a:stretch>
        </p:blipFill>
        <p:spPr>
          <a:xfrm>
            <a:off x="548640" y="1261872"/>
            <a:ext cx="11094415" cy="42656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Account Creation: template and upload steps (part 1 of 2)</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517</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247.png"/>
          <p:cNvPicPr>
            <a:picLocks noChangeAspect="1"/>
          </p:cNvPicPr>
          <p:nvPr/>
        </p:nvPicPr>
        <p:blipFill>
          <a:blip r:embed="rId3"/>
          <a:stretch>
            <a:fillRect/>
          </a:stretch>
        </p:blipFill>
        <p:spPr>
          <a:xfrm>
            <a:off x="548640" y="1261872"/>
            <a:ext cx="11094415" cy="32805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Account Creation: template and upload steps (part 2 of 2)</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SCR-NB-36 Bulk upload wizard: Document as received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518</a:t>
            </a:r>
          </a:p>
        </p:txBody>
      </p:sp>
      <p:sp>
        <p:nvSpPr>
          <p:cNvPr id="9" name="Rounded Rectangle 8"/>
          <p:cNvSpPr/>
          <p:nvPr/>
        </p:nvSpPr>
        <p:spPr>
          <a:xfrm>
            <a:off x="9539935" y="896112"/>
            <a:ext cx="21031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Document as received</a:t>
            </a:r>
          </a:p>
        </p:txBody>
      </p:sp>
      <p:pic>
        <p:nvPicPr>
          <p:cNvPr id="10" name="Picture 9" descr="trim-00248.png"/>
          <p:cNvPicPr>
            <a:picLocks noChangeAspect="1"/>
          </p:cNvPicPr>
          <p:nvPr/>
        </p:nvPicPr>
        <p:blipFill>
          <a:blip r:embed="rId3"/>
          <a:stretch>
            <a:fillRect/>
          </a:stretch>
        </p:blipFill>
        <p:spPr>
          <a:xfrm>
            <a:off x="548640" y="1261872"/>
            <a:ext cx="11094415" cy="727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error file: the rejected rows with their messages, to correct and upload again</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519</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the New Business roles: headline tiles, requests and accounts by status, the quotation to booking funnel, the ageing of open accounts by stage and production against target by team. Every figure opens its filtered list.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NB Dashboard</a:t>
                      </a:r>
                    </a:p>
                    <a:p>
                      <a:r>
                        <a:rPr sz="950" b="0">
                          <a:solidFill>
                            <a:srgbClr val="4B4B4B"/>
                          </a:solidFill>
                          <a:latin typeface="Arial"/>
                        </a:rPr>
                        <a:t>Home › NB Dashboard (landing page after sign-in)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FR-NB-120, FR-NB-122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role sees the state of New Business on sign-in.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520</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As of</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not after today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New Requests / Quotations Sent This Month / Overdue (SLA Breaches) / Booked This Month</a:t>
                      </a:r>
                    </a:p>
                  </a:txBody>
                  <a:tcPr marL="54864" marR="54864" marT="27432" marB="27432">
                    <a:solidFill>
                      <a:srgbClr val="E5F5FF"/>
                    </a:solidFill>
                  </a:tcPr>
                </a:tc>
                <a:tc>
                  <a:txBody>
                    <a:bodyPr/>
                    <a:lstStyle/>
                    <a:p>
                      <a:r>
                        <a:rPr sz="850" b="0">
                          <a:solidFill>
                            <a:srgbClr val="4B4B4B"/>
                          </a:solidFill>
                          <a:latin typeface="Arial"/>
                        </a:rPr>
                        <a:t>Figure</a:t>
                      </a:r>
                    </a:p>
                  </a:txBody>
                  <a:tcPr marL="54864" marR="54864" marT="27432" marB="27432">
                    <a:solidFill>
                      <a:srgbClr val="E5F5FF"/>
                    </a:solidFill>
                  </a:tcPr>
                </a:tc>
                <a:tc>
                  <a:txBody>
                    <a:bodyPr/>
                    <a:lstStyle/>
                    <a:p>
                      <a:r>
                        <a:rPr sz="850" b="0">
                          <a:solidFill>
                            <a:srgbClr val="4B4B4B"/>
                          </a:solidFill>
                          <a:latin typeface="Arial"/>
                        </a:rPr>
                        <a:t>Count with a hint (awaiting client, premium and commission booked)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Charts</a:t>
                      </a:r>
                    </a:p>
                  </a:txBody>
                  <a:tcPr marL="54864" marR="54864" marT="27432" marB="27432">
                    <a:solidFill>
                      <a:srgbClr val="FFFFFF"/>
                    </a:solidFill>
                  </a:tcPr>
                </a:tc>
                <a:tc>
                  <a:txBody>
                    <a:bodyPr/>
                    <a:lstStyle/>
                    <a:p>
                      <a:r>
                        <a:rPr sz="850" b="0">
                          <a:solidFill>
                            <a:srgbClr val="4B4B4B"/>
                          </a:solidFill>
                          <a:latin typeface="Arial"/>
                        </a:rPr>
                        <a:t>Requests by Status / Accounts by Stage / Quotation to Booking Funnel (Year to Date) / Ageing of Open Accounts by Stage</a:t>
                      </a:r>
                    </a:p>
                  </a:txBody>
                  <a:tcPr marL="54864" marR="54864" marT="27432" marB="27432">
                    <a:solidFill>
                      <a:srgbClr val="FFFFFF"/>
                    </a:solidFill>
                  </a:tcPr>
                </a:tc>
                <a:tc>
                  <a:txBody>
                    <a:bodyPr/>
                    <a:lstStyle/>
                    <a:p>
                      <a:r>
                        <a:rPr sz="850" b="0">
                          <a:solidFill>
                            <a:srgbClr val="4B4B4B"/>
                          </a:solidFill>
                          <a:latin typeface="Arial"/>
                        </a:rPr>
                        <a:t>Chart</a:t>
                      </a:r>
                    </a:p>
                  </a:txBody>
                  <a:tcPr marL="54864" marR="54864" marT="27432" marB="27432">
                    <a:solidFill>
                      <a:srgbClr val="FFFFFF"/>
                    </a:solidFill>
                  </a:tcPr>
                </a:tc>
                <a:tc>
                  <a:txBody>
                    <a:bodyPr/>
                    <a:lstStyle/>
                    <a:p>
                      <a:r>
                        <a:rPr sz="850" b="0">
                          <a:solidFill>
                            <a:srgbClr val="4B4B4B"/>
                          </a:solidFill>
                          <a:latin typeface="Arial"/>
                        </a:rPr>
                        <a:t>A bar opens the filtered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Production</a:t>
                      </a:r>
                    </a:p>
                  </a:txBody>
                  <a:tcPr marL="54864" marR="54864" marT="27432" marB="27432">
                    <a:solidFill>
                      <a:srgbClr val="E5F5FF"/>
                    </a:solidFill>
                  </a:tcPr>
                </a:tc>
                <a:tc>
                  <a:txBody>
                    <a:bodyPr/>
                    <a:lstStyle/>
                    <a:p>
                      <a:r>
                        <a:rPr sz="850" b="0">
                          <a:solidFill>
                            <a:srgbClr val="4B4B4B"/>
                          </a:solidFill>
                          <a:latin typeface="Arial"/>
                        </a:rPr>
                        <a:t>Production vs Target by Team (This Month)</a:t>
                      </a:r>
                    </a:p>
                  </a:txBody>
                  <a:tcPr marL="54864" marR="54864" marT="27432" marB="27432">
                    <a:solidFill>
                      <a:srgbClr val="E5F5FF"/>
                    </a:solidFill>
                  </a:tcPr>
                </a:tc>
                <a:tc>
                  <a:txBody>
                    <a:bodyPr/>
                    <a:lstStyle/>
                    <a:p>
                      <a:r>
                        <a:rPr sz="850" b="0">
                          <a:solidFill>
                            <a:srgbClr val="4B4B4B"/>
                          </a:solidFill>
                          <a:latin typeface="Arial"/>
                        </a:rPr>
                        <a:t>Chart and table</a:t>
                      </a:r>
                    </a:p>
                  </a:txBody>
                  <a:tcPr marL="54864" marR="54864" marT="27432" marB="27432">
                    <a:solidFill>
                      <a:srgbClr val="E5F5FF"/>
                    </a:solidFill>
                  </a:tcPr>
                </a:tc>
                <a:tc>
                  <a:txBody>
                    <a:bodyPr/>
                    <a:lstStyle/>
                    <a:p>
                      <a:r>
                        <a:rPr sz="850" b="0">
                          <a:solidFill>
                            <a:srgbClr val="4B4B4B"/>
                          </a:solidFill>
                          <a:latin typeface="Arial"/>
                        </a:rPr>
                        <a:t>Team, Bookings / Target, Premium (PHP), Target (PHP), Achievement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bookings or targets this month</a:t>
                      </a:r>
                    </a:p>
                  </a:txBody>
                  <a:tcPr marL="54864" marR="54864" marT="27432" marB="27432">
                    <a:solidFill>
                      <a:srgbClr val="E5F5FF"/>
                    </a:solidFill>
                  </a:tcPr>
                </a:tc>
              </a:tr>
            </a:tbl>
          </a:graphicData>
        </a:graphic>
      </p:graphicFrame>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521</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Business Reports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Business Reports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Production Statistics</a:t>
                      </a:r>
                    </a:p>
                  </a:txBody>
                  <a:tcPr marL="54864" marR="54864" marT="27432" marB="27432">
                    <a:solidFill>
                      <a:srgbClr val="E5F5FF"/>
                    </a:solidFill>
                  </a:tcPr>
                </a:tc>
                <a:tc>
                  <a:txBody>
                    <a:bodyPr/>
                    <a:lstStyle/>
                    <a:p>
                      <a:r>
                        <a:rPr sz="850" b="0">
                          <a:solidFill>
                            <a:srgbClr val="4B4B4B"/>
                          </a:solidFill>
                          <a:latin typeface="Arial"/>
                        </a:rPr>
                        <a:t>WORK_ASSIGN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Production Statistics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 figure or bar</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list filtered on it (Accounts, Quotations, My Work)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Overdue counts the work items past their stage SLA (FR-NB-120).</a:t>
                      </a:r>
                    </a:p>
                  </a:txBody>
                  <a:tcPr marL="54864" marR="54864" marT="27432" marB="27432">
                    <a:solidFill>
                      <a:srgbClr val="FFFFFF"/>
                    </a:solidFill>
                  </a:tcPr>
                </a:tc>
              </a:tr>
            </a:tbl>
          </a:graphicData>
        </a:graphic>
      </p:graphicFrame>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9.png"/>
          <p:cNvPicPr>
            <a:picLocks noChangeAspect="1"/>
          </p:cNvPicPr>
          <p:nvPr/>
        </p:nvPicPr>
        <p:blipFill>
          <a:blip r:embed="rId3"/>
          <a:stretch>
            <a:fillRect/>
          </a:stretch>
        </p:blipFill>
        <p:spPr>
          <a:xfrm>
            <a:off x="548640" y="1261872"/>
            <a:ext cx="11094415" cy="46634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Dashboard (part 1 of 4)</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0.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Dashboard (part 2 of 4)</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1.png"/>
          <p:cNvPicPr>
            <a:picLocks noChangeAspect="1"/>
          </p:cNvPicPr>
          <p:nvPr/>
        </p:nvPicPr>
        <p:blipFill>
          <a:blip r:embed="rId3"/>
          <a:stretch>
            <a:fillRect/>
          </a:stretch>
        </p:blipFill>
        <p:spPr>
          <a:xfrm>
            <a:off x="548640" y="1261872"/>
            <a:ext cx="11094415" cy="463991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Dashboard (part 3 of 4)</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SCR-NB-37 NB Dashboard: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2.png"/>
          <p:cNvPicPr>
            <a:picLocks noChangeAspect="1"/>
          </p:cNvPicPr>
          <p:nvPr/>
        </p:nvPicPr>
        <p:blipFill>
          <a:blip r:embed="rId3"/>
          <a:stretch>
            <a:fillRect/>
          </a:stretch>
        </p:blipFill>
        <p:spPr>
          <a:xfrm>
            <a:off x="548640" y="1261872"/>
            <a:ext cx="11094415" cy="369500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Dashboard (part 4 of 4)</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queues of the stages the user's team works, with assigned-to-me, open, overdue and queue counts; the user claims items from the team queue and opens them to act; a team leader assigns or re-assigns them.</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My Work</a:t>
                      </a:r>
                    </a:p>
                    <a:p>
                      <a:r>
                        <a:rPr sz="950" b="0">
                          <a:solidFill>
                            <a:srgbClr val="4B4B4B"/>
                          </a:solidFill>
                          <a:latin typeface="Arial"/>
                        </a:rPr>
                        <a:t>Home › My Work</a:t>
                      </a:r>
                    </a:p>
                    <a:p>
                      <a:r>
                        <a:rPr sz="950" b="0">
                          <a:solidFill>
                            <a:srgbClr val="4B4B4B"/>
                          </a:solidFill>
                          <a:latin typeface="Arial"/>
                        </a:rPr>
                        <a:t>Notification links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FR-NB-011, FR-NB-010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user knows what to work next and team leaders balance the load.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528</a:t>
            </a:r>
          </a:p>
        </p:txBody>
      </p:sp>
      <p:graphicFrame>
        <p:nvGraphicFramePr>
          <p:cNvPr id="9" name="Table 8"/>
          <p:cNvGraphicFramePr>
            <a:graphicFrameLocks noGrp="1"/>
          </p:cNvGraphicFramePr>
          <p:nvPr/>
        </p:nvGraphicFramePr>
        <p:xfrm>
          <a:off x="548640" y="1325880"/>
          <a:ext cx="11094411" cy="280414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Assigned to me / Open in my queues / Overdue / Queues I work</a:t>
                      </a:r>
                    </a:p>
                  </a:txBody>
                  <a:tcPr marL="54864" marR="54864" marT="27432" marB="27432">
                    <a:solidFill>
                      <a:srgbClr val="FFFFFF"/>
                    </a:solidFill>
                  </a:tcPr>
                </a:tc>
                <a:tc>
                  <a:txBody>
                    <a:bodyPr/>
                    <a:lstStyle/>
                    <a:p>
                      <a:r>
                        <a:rPr sz="850" b="0">
                          <a:solidFill>
                            <a:srgbClr val="4B4B4B"/>
                          </a:solidFill>
                          <a:latin typeface="Arial"/>
                        </a:rPr>
                        <a:t>Figure</a:t>
                      </a:r>
                    </a:p>
                  </a:txBody>
                  <a:tcPr marL="54864" marR="54864" marT="27432" marB="27432">
                    <a:solidFill>
                      <a:srgbClr val="FFFFFF"/>
                    </a:solidFill>
                  </a:tcPr>
                </a:tc>
                <a:tc>
                  <a:txBody>
                    <a:bodyPr/>
                    <a:lstStyle/>
                    <a:p>
                      <a:r>
                        <a:rPr sz="850" b="0">
                          <a:solidFill>
                            <a:srgbClr val="4B4B4B"/>
                          </a:solidFill>
                          <a:latin typeface="Arial"/>
                        </a:rPr>
                        <a:t>Counts; a figure filters the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Stage tiles</a:t>
                      </a:r>
                    </a:p>
                  </a:txBody>
                  <a:tcPr marL="54864" marR="54864" marT="27432" marB="27432">
                    <a:solidFill>
                      <a:srgbClr val="E5F5FF"/>
                    </a:solidFill>
                  </a:tcPr>
                </a:tc>
                <a:tc>
                  <a:txBody>
                    <a:bodyPr/>
                    <a:lstStyle/>
                    <a:p>
                      <a:r>
                        <a:rPr sz="850" b="0">
                          <a:solidFill>
                            <a:srgbClr val="4B4B4B"/>
                          </a:solidFill>
                          <a:latin typeface="Arial"/>
                        </a:rPr>
                        <a:t>One tile per stage of each workflow the user works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Open and overdue 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Assigned to me / Team queue / All my queues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Overdue only</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Reference or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Reference, Description, Stage, From, In Stage, Due, Assignee,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with the workflow under it; From names the segment or sales unit; Due in red when overdue; Unassigned; Claim and Assign in the row action menu</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Nothing waiting here.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Assign dialog</a:t>
                      </a:r>
                    </a:p>
                  </a:txBody>
                  <a:tcPr marL="54864" marR="54864" marT="27432" marB="27432">
                    <a:solidFill>
                      <a:srgbClr val="FFFFFF"/>
                    </a:solidFill>
                  </a:tcPr>
                </a:tc>
                <a:tc>
                  <a:txBody>
                    <a:bodyPr/>
                    <a:lstStyle/>
                    <a:p>
                      <a:r>
                        <a:rPr sz="850" b="0">
                          <a:solidFill>
                            <a:srgbClr val="4B4B4B"/>
                          </a:solidFill>
                          <a:latin typeface="Arial"/>
                        </a:rPr>
                        <a:t>Assignee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Users of the team that works the stage, or Team queue (unassigned)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Only a user of the stage's team</a:t>
                      </a:r>
                    </a:p>
                  </a:txBody>
                  <a:tcPr marL="54864" marR="54864" marT="27432" marB="27432">
                    <a:solidFill>
                      <a:srgbClr val="FFFFFF"/>
                    </a:solidFill>
                  </a:tcPr>
                </a:tc>
                <a:tc>
                  <a:txBody>
                    <a:bodyPr/>
                    <a:lstStyle/>
                    <a:p>
                      <a:r>
                        <a:rPr sz="850" b="0">
                          <a:solidFill>
                            <a:srgbClr val="4B4B4B"/>
                          </a:solidFill>
                          <a:latin typeface="Arial"/>
                        </a:rPr>
                        <a:t>&lt;user&gt; does not work this queue</a:t>
                      </a:r>
                    </a:p>
                  </a:txBody>
                  <a:tcPr marL="54864" marR="54864" marT="27432" marB="27432">
                    <a:solidFill>
                      <a:srgbClr val="FFFFFF"/>
                    </a:solidFill>
                  </a:tcPr>
                </a:tc>
              </a:tr>
            </a:tbl>
          </a:graphicData>
        </a:graphic>
      </p:graphicFrame>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529</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Claim</a:t>
                      </a:r>
                    </a:p>
                  </a:txBody>
                  <a:tcPr marL="54864" marR="54864" marT="27432" marB="27432">
                    <a:solidFill>
                      <a:srgbClr val="FFFFFF"/>
                    </a:solidFill>
                  </a:tcPr>
                </a:tc>
                <a:tc>
                  <a:txBody>
                    <a:bodyPr/>
                    <a:lstStyle/>
                    <a:p>
                      <a:r>
                        <a:rPr sz="850" b="0">
                          <a:solidFill>
                            <a:srgbClr val="4B4B4B"/>
                          </a:solidFill>
                          <a:latin typeface="Arial"/>
                        </a:rPr>
                        <a:t>Holder of the stage's permission</a:t>
                      </a:r>
                    </a:p>
                  </a:txBody>
                  <a:tcPr marL="54864" marR="54864" marT="27432" marB="27432">
                    <a:solidFill>
                      <a:srgbClr val="FFFFFF"/>
                    </a:solidFill>
                  </a:tcPr>
                </a:tc>
                <a:tc>
                  <a:txBody>
                    <a:bodyPr/>
                    <a:lstStyle/>
                    <a:p>
                      <a:r>
                        <a:rPr sz="850" b="0">
                          <a:solidFill>
                            <a:srgbClr val="4B4B4B"/>
                          </a:solidFill>
                          <a:latin typeface="Arial"/>
                        </a:rPr>
                        <a:t>Unassigned item (row action menu)</a:t>
                      </a:r>
                    </a:p>
                  </a:txBody>
                  <a:tcPr marL="54864" marR="54864" marT="27432" marB="27432">
                    <a:solidFill>
                      <a:srgbClr val="FFFFFF"/>
                    </a:solidFill>
                  </a:tcPr>
                </a:tc>
                <a:tc>
                  <a:txBody>
                    <a:bodyPr/>
                    <a:lstStyle/>
                    <a:p>
                      <a:r>
                        <a:rPr sz="850" b="0">
                          <a:solidFill>
                            <a:srgbClr val="4B4B4B"/>
                          </a:solidFill>
                          <a:latin typeface="Arial"/>
                        </a:rPr>
                        <a:t>Assigns the item to the user</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Assign</a:t>
                      </a:r>
                    </a:p>
                  </a:txBody>
                  <a:tcPr marL="54864" marR="54864" marT="27432" marB="27432">
                    <a:solidFill>
                      <a:srgbClr val="E5F5FF"/>
                    </a:solidFill>
                  </a:tcPr>
                </a:tc>
                <a:tc>
                  <a:txBody>
                    <a:bodyPr/>
                    <a:lstStyle/>
                    <a:p>
                      <a:r>
                        <a:rPr sz="850" b="0">
                          <a:solidFill>
                            <a:srgbClr val="4B4B4B"/>
                          </a:solidFill>
                          <a:latin typeface="Arial"/>
                        </a:rPr>
                        <a:t>WORK_ASSIGN</a:t>
                      </a:r>
                    </a:p>
                  </a:txBody>
                  <a:tcPr marL="54864" marR="54864" marT="27432" marB="27432">
                    <a:solidFill>
                      <a:srgbClr val="E5F5FF"/>
                    </a:solidFill>
                  </a:tcPr>
                </a:tc>
                <a:tc>
                  <a:txBody>
                    <a:bodyPr/>
                    <a:lstStyle/>
                    <a:p>
                      <a:r>
                        <a:rPr sz="850" b="0">
                          <a:solidFill>
                            <a:srgbClr val="4B4B4B"/>
                          </a:solidFill>
                          <a:latin typeface="Arial"/>
                        </a:rPr>
                        <a:t>Open item</a:t>
                      </a:r>
                    </a:p>
                  </a:txBody>
                  <a:tcPr marL="54864" marR="54864" marT="27432" marB="27432">
                    <a:solidFill>
                      <a:srgbClr val="E5F5FF"/>
                    </a:solidFill>
                  </a:tcPr>
                </a:tc>
                <a:tc>
                  <a:txBody>
                    <a:bodyPr/>
                    <a:lstStyle/>
                    <a:p>
                      <a:r>
                        <a:rPr sz="850" b="0">
                          <a:solidFill>
                            <a:srgbClr val="4B4B4B"/>
                          </a:solidFill>
                          <a:latin typeface="Arial"/>
                        </a:rPr>
                        <a:t>Assigns the item or returns it to the team queue</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In-app notice to the new assignee</a:t>
                      </a:r>
                    </a:p>
                  </a:txBody>
                  <a:tcPr marL="54864" marR="54864" marT="27432" marB="27432">
                    <a:solidFill>
                      <a:srgbClr val="E5F5FF"/>
                    </a:solidFill>
                  </a:tcPr>
                </a:tc>
              </a:tr>
              <a:tr h="220979">
                <a:tc>
                  <a:txBody>
                    <a:bodyPr/>
                    <a:lstStyle/>
                    <a:p>
                      <a:r>
                        <a:rPr sz="850" b="0">
                          <a:solidFill>
                            <a:srgbClr val="4B4B4B"/>
                          </a:solidFill>
                          <a:latin typeface="Arial"/>
                        </a:rPr>
                        <a:t>Clear Stage Filter</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 stage filter is set</a:t>
                      </a:r>
                    </a:p>
                  </a:txBody>
                  <a:tcPr marL="54864" marR="54864" marT="27432" marB="27432">
                    <a:solidFill>
                      <a:srgbClr val="FFFFFF"/>
                    </a:solidFill>
                  </a:tcPr>
                </a:tc>
                <a:tc>
                  <a:txBody>
                    <a:bodyPr/>
                    <a:lstStyle/>
                    <a:p>
                      <a:r>
                        <a:rPr sz="850" b="0">
                          <a:solidFill>
                            <a:srgbClr val="4B4B4B"/>
                          </a:solidFill>
                          <a:latin typeface="Arial"/>
                        </a:rPr>
                        <a:t>Clears the stage filter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Items are listed oldest due first; overdue items are past their stage SLA (FR-NB-011).</a:t>
                      </a:r>
                    </a:p>
                  </a:txBody>
                  <a:tcPr marL="54864" marR="54864" marT="27432" marB="27432">
                    <a:solidFill>
                      <a:srgbClr val="FFFFFF"/>
                    </a:solidFill>
                  </a:tcPr>
                </a:tc>
              </a:tr>
              <a:tr h="243840">
                <a:tc>
                  <a:txBody>
                    <a:bodyPr/>
                    <a:lstStyle/>
                    <a:p>
                      <a:r>
                        <a:rPr sz="1000" b="0">
                          <a:solidFill>
                            <a:srgbClr val="4B4B4B"/>
                          </a:solidFill>
                          <a:latin typeface="Arial"/>
                        </a:rPr>
                        <a:t>A user only claims items of the stages its permissions own (FR-NB-011).</a:t>
                      </a:r>
                    </a:p>
                  </a:txBody>
                  <a:tcPr marL="54864" marR="54864" marT="27432" marB="27432">
                    <a:solidFill>
                      <a:srgbClr val="E5F5FF"/>
                    </a:solidFill>
                  </a:tcPr>
                </a:tc>
              </a:tr>
            </a:tbl>
          </a:graphicData>
        </a:graphic>
      </p:graphicFrame>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Work, All my queues (part 1 of 4)</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Work, All my queues (part 2 of 4)</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Work, All my queues (part 3 of 4)</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6.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Work, All my queues (part 4 of 4)</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SCR-NB-38 My Work: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nb-38-02-assign.png"/>
          <p:cNvPicPr>
            <a:picLocks noChangeAspect="1"/>
          </p:cNvPicPr>
          <p:nvPr/>
        </p:nvPicPr>
        <p:blipFill>
          <a:blip r:embed="rId3"/>
          <a:stretch>
            <a:fillRect/>
          </a:stretch>
        </p:blipFill>
        <p:spPr>
          <a:xfrm>
            <a:off x="548640" y="1261872"/>
            <a:ext cx="11094415" cy="40449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dialog of a team leader, opened from the row action menu</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SCR-NB-39 My Approvals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536</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Items waiting for the user's authorization from every module that registers an approval inbox (lists of values, masters, rate exceptions, access requests), oldest first. The user's own submissions are never shown.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My Approvals</a:t>
                      </a:r>
                    </a:p>
                    <a:p>
                      <a:r>
                        <a:rPr sz="950" b="0">
                          <a:solidFill>
                            <a:srgbClr val="4B4B4B"/>
                          </a:solidFill>
                          <a:latin typeface="Arial"/>
                        </a:rPr>
                        <a:t>Home › My Approvals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FR-NB-133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approver sees and clears every pending request in one place.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SCR-NB-39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537</a:t>
            </a:r>
          </a:p>
        </p:txBody>
      </p:sp>
      <p:graphicFrame>
        <p:nvGraphicFramePr>
          <p:cNvPr id="9" name="Table 8"/>
          <p:cNvGraphicFramePr>
            <a:graphicFrameLocks noGrp="1"/>
          </p:cNvGraphicFramePr>
          <p:nvPr/>
        </p:nvGraphicFramePr>
        <p:xfrm>
          <a:off x="548640" y="1325880"/>
          <a:ext cx="11094411" cy="136397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All companies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Waiting for you</a:t>
                      </a:r>
                    </a:p>
                  </a:txBody>
                  <a:tcPr marL="54864" marR="54864" marT="27432" marB="27432">
                    <a:solidFill>
                      <a:srgbClr val="E5F5FF"/>
                    </a:solidFill>
                  </a:tcPr>
                </a:tc>
                <a:tc>
                  <a:txBody>
                    <a:bodyPr/>
                    <a:lstStyle/>
                    <a:p>
                      <a:r>
                        <a:rPr sz="850" b="0">
                          <a:solidFill>
                            <a:srgbClr val="4B4B4B"/>
                          </a:solidFill>
                          <a:latin typeface="Arial"/>
                        </a:rPr>
                        <a:t>Figure</a:t>
                      </a:r>
                    </a:p>
                  </a:txBody>
                  <a:tcPr marL="54864" marR="54864" marT="27432" marB="27432">
                    <a:solidFill>
                      <a:srgbClr val="E5F5FF"/>
                    </a:solidFill>
                  </a:tcPr>
                </a:tc>
                <a:tc>
                  <a:txBody>
                    <a:bodyPr/>
                    <a:lstStyle/>
                    <a:p>
                      <a:r>
                        <a:rPr sz="850" b="0">
                          <a:solidFill>
                            <a:srgbClr val="4B4B4B"/>
                          </a:solidFill>
                          <a:latin typeface="Arial"/>
                        </a:rPr>
                        <a:t>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Module filter</a:t>
                      </a:r>
                    </a:p>
                  </a:txBody>
                  <a:tcPr marL="54864" marR="54864" marT="27432" marB="27432">
                    <a:solidFill>
                      <a:srgbClr val="FFFFFF"/>
                    </a:solidFill>
                  </a:tcPr>
                </a:tc>
                <a:tc>
                  <a:txBody>
                    <a:bodyPr/>
                    <a:lstStyle/>
                    <a:p>
                      <a:r>
                        <a:rPr sz="850" b="0">
                          <a:solidFill>
                            <a:srgbClr val="4B4B4B"/>
                          </a:solidFill>
                          <a:latin typeface="Arial"/>
                        </a:rPr>
                        <a:t>One chip per module</a:t>
                      </a:r>
                    </a:p>
                  </a:txBody>
                  <a:tcPr marL="54864" marR="54864" marT="27432" marB="27432">
                    <a:solidFill>
                      <a:srgbClr val="FFFFFF"/>
                    </a:solidFill>
                  </a:tcPr>
                </a:tc>
                <a:tc>
                  <a:txBody>
                    <a:bodyPr/>
                    <a:lstStyle/>
                    <a:p>
                      <a:r>
                        <a:rPr sz="850" b="0">
                          <a:solidFill>
                            <a:srgbClr val="4B4B4B"/>
                          </a:solidFill>
                          <a:latin typeface="Arial"/>
                        </a:rPr>
                        <a:t>Toggle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Module, Type, Reference, Description, Amount, Submitted by, Submitted, Age (days)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538</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record where it is 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539</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Maker-checker: a submission is never approved by its maker (FR-NB-133).</a:t>
                      </a:r>
                    </a:p>
                  </a:txBody>
                  <a:tcPr marL="54864" marR="54864" marT="27432" marB="27432">
                    <a:solidFill>
                      <a:srgbClr val="FFFFFF"/>
                    </a:solidFill>
                  </a:tcPr>
                </a:tc>
              </a:tr>
            </a:tbl>
          </a:graphicData>
        </a:graphic>
      </p:graphicFrame>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SCR-NB-39 My Approvals: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39-01-list.png"/>
          <p:cNvPicPr>
            <a:picLocks noChangeAspect="1"/>
          </p:cNvPicPr>
          <p:nvPr/>
        </p:nvPicPr>
        <p:blipFill>
          <a:blip r:embed="rId3"/>
          <a:stretch>
            <a:fillRect/>
          </a:stretch>
        </p:blipFill>
        <p:spPr>
          <a:xfrm>
            <a:off x="751055" y="1261872"/>
            <a:ext cx="1068958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Approvals</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SCR-NB-40 New Business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541</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New Business reports the user may run, grouped by process step. A report runs on screen with its parameters and saved variants, prints with the chosen paper and orientation, and downloads in PDF, Excel, ODS, CSV or XML.</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Technical Support Unit, Processing, Processing Team Leader, New Business Approver, E-policy Sender, Adjustment,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New Business Reports › New Business Reports</a:t>
                      </a:r>
                    </a:p>
                    <a:p>
                      <a:r>
                        <a:rPr sz="950" b="0">
                          <a:solidFill>
                            <a:srgbClr val="4B4B4B"/>
                          </a:solidFill>
                          <a:latin typeface="Arial"/>
                        </a:rPr>
                        <a:t>Reports › New Business Reports</a:t>
                      </a:r>
                    </a:p>
                    <a:p>
                      <a:r>
                        <a:rPr sz="950" b="0">
                          <a:solidFill>
                            <a:srgbClr val="4B4B4B"/>
                          </a:solidFill>
                          <a:latin typeface="Arial"/>
                        </a:rPr>
                        <a:t>NB Dashboard › New Business Reports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FR-NB-121, FR-NB-122, FR-NB-123, FR-NB-124, FR-NB-125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Monitoring and reconciliation reports come from the system, not from spreadsheets.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542</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Report groups</a:t>
                      </a:r>
                    </a:p>
                  </a:txBody>
                  <a:tcPr marL="54864" marR="54864" marT="27432" marB="27432">
                    <a:solidFill>
                      <a:srgbClr val="FFFFFF"/>
                    </a:solidFill>
                  </a:tcPr>
                </a:tc>
                <a:tc>
                  <a:txBody>
                    <a:bodyPr/>
                    <a:lstStyle/>
                    <a:p>
                      <a:r>
                        <a:rPr sz="850" b="0">
                          <a:solidFill>
                            <a:srgbClr val="4B4B4B"/>
                          </a:solidFill>
                          <a:latin typeface="Arial"/>
                        </a:rPr>
                        <a:t>Accounts and Workflow / Placement / Billing and Payments / Issuance / Booking and Production</a:t>
                      </a:r>
                    </a:p>
                  </a:txBody>
                  <a:tcPr marL="54864" marR="54864" marT="27432" marB="27432">
                    <a:solidFill>
                      <a:srgbClr val="FFFFFF"/>
                    </a:solidFill>
                  </a:tcPr>
                </a:tc>
                <a:tc>
                  <a:txBody>
                    <a:bodyPr/>
                    <a:lstStyle/>
                    <a:p>
                      <a:r>
                        <a:rPr sz="850" b="0">
                          <a:solidFill>
                            <a:srgbClr val="4B4B4B"/>
                          </a:solidFill>
                          <a:latin typeface="Arial"/>
                        </a:rPr>
                        <a:t>Card</a:t>
                      </a:r>
                    </a:p>
                  </a:txBody>
                  <a:tcPr marL="54864" marR="54864" marT="27432" marB="27432">
                    <a:solidFill>
                      <a:srgbClr val="FFFFFF"/>
                    </a:solidFill>
                  </a:tcPr>
                </a:tc>
                <a:tc>
                  <a:txBody>
                    <a:bodyPr/>
                    <a:lstStyle/>
                    <a:p>
                      <a:r>
                        <a:rPr sz="850" b="0">
                          <a:solidFill>
                            <a:srgbClr val="4B4B4B"/>
                          </a:solidFill>
                          <a:latin typeface="Arial"/>
                        </a:rPr>
                        <a:t>One link per report with code and description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New Business report is available to your role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Saved Variant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user's variants and shared ones (shared by &lt;user&gt;)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Report</a:t>
                      </a:r>
                    </a:p>
                  </a:txBody>
                  <a:tcPr marL="54864" marR="54864" marT="27432" marB="27432">
                    <a:solidFill>
                      <a:srgbClr val="FFFFFF"/>
                    </a:solidFill>
                  </a:tcPr>
                </a:tc>
                <a:tc>
                  <a:txBody>
                    <a:bodyPr/>
                    <a:lstStyle/>
                    <a:p>
                      <a:r>
                        <a:rPr sz="850" b="0">
                          <a:solidFill>
                            <a:srgbClr val="4B4B4B"/>
                          </a:solidFill>
                          <a:latin typeface="Arial"/>
                        </a:rPr>
                        <a:t>Variant Name (Save Variant)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a name</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Per report</a:t>
                      </a:r>
                    </a:p>
                  </a:txBody>
                  <a:tcPr marL="54864" marR="54864" marT="27432" marB="27432">
                    <a:solidFill>
                      <a:srgbClr val="E5F5FF"/>
                    </a:solidFill>
                  </a:tcPr>
                </a:tc>
                <a:tc>
                  <a:txBody>
                    <a:bodyPr/>
                    <a:lstStyle/>
                    <a:p>
                      <a:r>
                        <a:rPr sz="850" b="0">
                          <a:solidFill>
                            <a:srgbClr val="4B4B4B"/>
                          </a:solidFill>
                          <a:latin typeface="Arial"/>
                        </a:rPr>
                        <a:t>Company from the page header; date range from the start of the month to today; report-specific parameters (see Reports)</a:t>
                      </a:r>
                    </a:p>
                  </a:txBody>
                  <a:tcPr marL="54864" marR="54864" marT="27432" marB="27432">
                    <a:solidFill>
                      <a:srgbClr val="E5F5FF"/>
                    </a:solidFill>
                  </a:tcPr>
                </a:tc>
                <a:tc>
                  <a:txBody>
                    <a:bodyPr/>
                    <a:lstStyle/>
                    <a:p>
                      <a:r>
                        <a:rPr sz="850" b="0">
                          <a:solidFill>
                            <a:srgbClr val="4B4B4B"/>
                          </a:solidFill>
                          <a:latin typeface="Arial"/>
                        </a:rPr>
                        <a:t>Per parameter</a:t>
                      </a:r>
                    </a:p>
                  </a:txBody>
                  <a:tcPr marL="54864" marR="54864" marT="27432" marB="27432">
                    <a:solidFill>
                      <a:srgbClr val="E5F5FF"/>
                    </a:solidFill>
                  </a:tcPr>
                </a:tc>
                <a:tc>
                  <a:txBody>
                    <a:bodyPr/>
                    <a:lstStyle/>
                    <a:p>
                      <a:r>
                        <a:rPr sz="850" b="0">
                          <a:solidFill>
                            <a:srgbClr val="4B4B4B"/>
                          </a:solidFill>
                          <a:latin typeface="Arial"/>
                        </a:rPr>
                        <a:t>Required parameters; To not before From</a:t>
                      </a:r>
                    </a:p>
                  </a:txBody>
                  <a:tcPr marL="54864" marR="54864" marT="27432" marB="27432">
                    <a:solidFill>
                      <a:srgbClr val="E5F5FF"/>
                    </a:solidFill>
                  </a:tcPr>
                </a:tc>
                <a:tc>
                  <a:txBody>
                    <a:bodyPr/>
                    <a:lstStyle/>
                    <a:p>
                      <a:r>
                        <a:rPr sz="850" b="0">
                          <a:solidFill>
                            <a:srgbClr val="4B4B4B"/>
                          </a:solidFill>
                          <a:latin typeface="Arial"/>
                        </a:rPr>
                        <a:t>&lt;parameter&gt; is required / &lt;To&gt; must not be before &lt;From&gt;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Report</a:t>
                      </a:r>
                    </a:p>
                  </a:txBody>
                  <a:tcPr marL="54864" marR="54864" marT="27432" marB="27432">
                    <a:solidFill>
                      <a:srgbClr val="FFFFFF"/>
                    </a:solidFill>
                  </a:tcPr>
                </a:tc>
                <a:tc>
                  <a:txBody>
                    <a:bodyPr/>
                    <a:lstStyle/>
                    <a:p>
                      <a:r>
                        <a:rPr sz="850" b="0">
                          <a:solidFill>
                            <a:srgbClr val="4B4B4B"/>
                          </a:solidFill>
                          <a:latin typeface="Arial"/>
                        </a:rPr>
                        <a:t>Paper, Orientation, Width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A4 and other sizes; Automatic (by width), Portrait, Landscape; Fit to page width, Natural column widths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543</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Run Report</a:t>
                      </a:r>
                    </a:p>
                  </a:txBody>
                  <a:tcPr marL="54864" marR="54864" marT="27432" marB="27432">
                    <a:solidFill>
                      <a:srgbClr val="FFFFFF"/>
                    </a:solidFill>
                  </a:tcPr>
                </a:tc>
                <a:tc>
                  <a:txBody>
                    <a:bodyPr/>
                    <a:lstStyle/>
                    <a:p>
                      <a:r>
                        <a:rPr sz="850" b="0">
                          <a:solidFill>
                            <a:srgbClr val="4B4B4B"/>
                          </a:solidFill>
                          <a:latin typeface="Arial"/>
                        </a:rPr>
                        <a:t>REPORT_VIEW and the report's permission</a:t>
                      </a:r>
                    </a:p>
                  </a:txBody>
                  <a:tcPr marL="54864" marR="54864" marT="27432" marB="27432">
                    <a:solidFill>
                      <a:srgbClr val="FFFFFF"/>
                    </a:solidFill>
                  </a:tcPr>
                </a:tc>
                <a:tc>
                  <a:txBody>
                    <a:bodyPr/>
                    <a:lstStyle/>
                    <a:p>
                      <a:r>
                        <a:rPr sz="850" b="0">
                          <a:solidFill>
                            <a:srgbClr val="4B4B4B"/>
                          </a:solidFill>
                          <a:latin typeface="Arial"/>
                        </a:rPr>
                        <a:t>Parameters valid</a:t>
                      </a:r>
                    </a:p>
                  </a:txBody>
                  <a:tcPr marL="54864" marR="54864" marT="27432" marB="27432">
                    <a:solidFill>
                      <a:srgbClr val="FFFFFF"/>
                    </a:solidFill>
                  </a:tcPr>
                </a:tc>
                <a:tc>
                  <a:txBody>
                    <a:bodyPr/>
                    <a:lstStyle/>
                    <a:p>
                      <a:r>
                        <a:rPr sz="850" b="0">
                          <a:solidFill>
                            <a:srgbClr val="4B4B4B"/>
                          </a:solidFill>
                          <a:latin typeface="Arial"/>
                        </a:rPr>
                        <a:t>Runs the report on screen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Parameters valid</a:t>
                      </a:r>
                    </a:p>
                  </a:txBody>
                  <a:tcPr marL="54864" marR="54864" marT="27432" marB="27432">
                    <a:solidFill>
                      <a:srgbClr val="E5F5FF"/>
                    </a:solidFill>
                  </a:tcPr>
                </a:tc>
                <a:tc>
                  <a:txBody>
                    <a:bodyPr/>
                    <a:lstStyle/>
                    <a:p>
                      <a:r>
                        <a:rPr sz="850" b="0">
                          <a:solidFill>
                            <a:srgbClr val="4B4B4B"/>
                          </a:solidFill>
                          <a:latin typeface="Arial"/>
                        </a:rPr>
                        <a:t>Opens the PDF for printing with the report header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PDF / Excel / ODS / CSV / XML</a:t>
                      </a:r>
                    </a:p>
                  </a:txBody>
                  <a:tcPr marL="54864" marR="54864" marT="27432" marB="27432">
                    <a:solidFill>
                      <a:srgbClr val="FFFFFF"/>
                    </a:solidFill>
                  </a:tcPr>
                </a:tc>
                <a:tc>
                  <a:txBody>
                    <a:bodyPr/>
                    <a:lstStyle/>
                    <a:p>
                      <a:r>
                        <a:rPr sz="850" b="0">
                          <a:solidFill>
                            <a:srgbClr val="4B4B4B"/>
                          </a:solidFill>
                          <a:latin typeface="Arial"/>
                        </a:rPr>
                        <a:t>As above</a:t>
                      </a:r>
                    </a:p>
                  </a:txBody>
                  <a:tcPr marL="54864" marR="54864" marT="27432" marB="27432">
                    <a:solidFill>
                      <a:srgbClr val="FFFFFF"/>
                    </a:solidFill>
                  </a:tcPr>
                </a:tc>
                <a:tc>
                  <a:txBody>
                    <a:bodyPr/>
                    <a:lstStyle/>
                    <a:p>
                      <a:r>
                        <a:rPr sz="850" b="0">
                          <a:solidFill>
                            <a:srgbClr val="4B4B4B"/>
                          </a:solidFill>
                          <a:latin typeface="Arial"/>
                        </a:rPr>
                        <a:t>Parameters valid</a:t>
                      </a:r>
                    </a:p>
                  </a:txBody>
                  <a:tcPr marL="54864" marR="54864" marT="27432" marB="27432">
                    <a:solidFill>
                      <a:srgbClr val="FFFFFF"/>
                    </a:solidFill>
                  </a:tcPr>
                </a:tc>
                <a:tc>
                  <a:txBody>
                    <a:bodyPr/>
                    <a:lstStyle/>
                    <a:p>
                      <a:r>
                        <a:rPr sz="850" b="0">
                          <a:solidFill>
                            <a:srgbClr val="4B4B4B"/>
                          </a:solidFill>
                          <a:latin typeface="Arial"/>
                        </a:rPr>
                        <a:t>Downloads the report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Variant / Delete Variant</a:t>
                      </a:r>
                    </a:p>
                  </a:txBody>
                  <a:tcPr marL="54864" marR="54864" marT="27432" marB="27432">
                    <a:solidFill>
                      <a:srgbClr val="E5F5FF"/>
                    </a:solidFill>
                  </a:tcPr>
                </a:tc>
                <a:tc>
                  <a:txBody>
                    <a:bodyPr/>
                    <a:lstStyle/>
                    <a:p>
                      <a:r>
                        <a:rPr sz="850" b="0">
                          <a:solidFill>
                            <a:srgbClr val="4B4B4B"/>
                          </a:solidFill>
                          <a:latin typeface="Arial"/>
                        </a:rPr>
                        <a:t>As above</a:t>
                      </a:r>
                    </a:p>
                  </a:txBody>
                  <a:tcPr marL="54864" marR="54864" marT="27432" marB="27432">
                    <a:solidFill>
                      <a:srgbClr val="E5F5FF"/>
                    </a:solidFill>
                  </a:tcPr>
                </a:tc>
                <a:tc>
                  <a:txBody>
                    <a:bodyPr/>
                    <a:lstStyle/>
                    <a:p>
                      <a:r>
                        <a:rPr sz="850" b="0">
                          <a:solidFill>
                            <a:srgbClr val="4B4B4B"/>
                          </a:solidFill>
                          <a:latin typeface="Arial"/>
                        </a:rPr>
                        <a:t>Always / own variant</a:t>
                      </a:r>
                    </a:p>
                  </a:txBody>
                  <a:tcPr marL="54864" marR="54864" marT="27432" marB="27432">
                    <a:solidFill>
                      <a:srgbClr val="E5F5FF"/>
                    </a:solidFill>
                  </a:tcPr>
                </a:tc>
                <a:tc>
                  <a:txBody>
                    <a:bodyPr/>
                    <a:lstStyle/>
                    <a:p>
                      <a:r>
                        <a:rPr sz="850" b="0">
                          <a:solidFill>
                            <a:srgbClr val="4B4B4B"/>
                          </a:solidFill>
                          <a:latin typeface="Arial"/>
                        </a:rPr>
                        <a:t>Saves the parameters under a name (optionally shared) or deletes the user's own variant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Report Centre</a:t>
                      </a:r>
                    </a:p>
                  </a:txBody>
                  <a:tcPr marL="54864" marR="54864" marT="27432" marB="27432">
                    <a:solidFill>
                      <a:srgbClr val="FFFFFF"/>
                    </a:solidFill>
                  </a:tcPr>
                </a:tc>
                <a:tc>
                  <a:txBody>
                    <a:bodyPr/>
                    <a:lstStyle/>
                    <a:p>
                      <a:r>
                        <a:rPr sz="850" b="0">
                          <a:solidFill>
                            <a:srgbClr val="4B4B4B"/>
                          </a:solidFill>
                          <a:latin typeface="Arial"/>
                        </a:rPr>
                        <a:t>REPORT_VIEW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Centre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report also checks its own permission (FR-NB-123).</a:t>
                      </a:r>
                    </a:p>
                  </a:txBody>
                  <a:tcPr marL="54864" marR="54864" marT="27432" marB="27432">
                    <a:solidFill>
                      <a:srgbClr val="FFFFFF"/>
                    </a:solidFill>
                  </a:tcPr>
                </a:tc>
              </a:tr>
              <a:tr h="243840">
                <a:tc>
                  <a:txBody>
                    <a:bodyPr/>
                    <a:lstStyle/>
                    <a:p>
                      <a:r>
                        <a:rPr sz="1000" b="0">
                          <a:solidFill>
                            <a:srgbClr val="4B4B4B"/>
                          </a:solidFill>
                          <a:latin typeface="Arial"/>
                        </a:rPr>
                        <a:t>Only the user who saved a variant may delete it (FR-NB-123).</a:t>
                      </a:r>
                    </a:p>
                  </a:txBody>
                  <a:tcPr marL="54864" marR="54864" marT="27432" marB="27432">
                    <a:solidFill>
                      <a:srgbClr val="E5F5FF"/>
                    </a:solidFill>
                  </a:tcPr>
                </a:tc>
              </a:tr>
            </a:tbl>
          </a:graphicData>
        </a:graphic>
      </p:graphicFrame>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Reports (part 1 of 3)</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Reports (part 2 of 3)</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9.png"/>
          <p:cNvPicPr>
            <a:picLocks noChangeAspect="1"/>
          </p:cNvPicPr>
          <p:nvPr/>
        </p:nvPicPr>
        <p:blipFill>
          <a:blip r:embed="rId3"/>
          <a:stretch>
            <a:fillRect/>
          </a:stretch>
        </p:blipFill>
        <p:spPr>
          <a:xfrm>
            <a:off x="548640" y="1261872"/>
            <a:ext cx="11094415" cy="39308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Business Reports (part 3 of 3)</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0.png"/>
          <p:cNvPicPr>
            <a:picLocks noChangeAspect="1"/>
          </p:cNvPicPr>
          <p:nvPr/>
        </p:nvPicPr>
        <p:blipFill>
          <a:blip r:embed="rId3"/>
          <a:stretch>
            <a:fillRect/>
          </a:stretch>
        </p:blipFill>
        <p:spPr>
          <a:xfrm>
            <a:off x="548640" y="1261872"/>
            <a:ext cx="11094415" cy="40838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Status Report run on screen (part 1 of 5)</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Status Report run on screen (part 2 of 5)</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Status Report run on screen (part 3 of 5)</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3.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Status Report run on screen (part 4 of 5)</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SCR-NB-40 New Business Reports: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4.png"/>
          <p:cNvPicPr>
            <a:picLocks noChangeAspect="1"/>
          </p:cNvPicPr>
          <p:nvPr/>
        </p:nvPicPr>
        <p:blipFill>
          <a:blip r:embed="rId3"/>
          <a:stretch>
            <a:fillRect/>
          </a:stretch>
        </p:blipFill>
        <p:spPr>
          <a:xfrm>
            <a:off x="548640" y="1261872"/>
            <a:ext cx="11094415" cy="2773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Status Report run on screen (part 5 of 5)</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SCR-NB-41 Production Targets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553</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Booking, premium and commission targets per sales unit and month, used by the NB Dashboard and the Production Statistics report.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TL / TH / UH, Processing Team Leader, New Business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New Business Reports › Production Targets</a:t>
                      </a:r>
                    </a:p>
                    <a:p>
                      <a:r>
                        <a:rPr sz="950" b="0">
                          <a:solidFill>
                            <a:srgbClr val="4B4B4B"/>
                          </a:solidFill>
                          <a:latin typeface="Arial"/>
                        </a:rPr>
                        <a:t>Reports › Production Targets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FR-NB-122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Production is measured against the targets BDOI sets.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554</a:t>
            </a:r>
          </a:p>
        </p:txBody>
      </p:sp>
      <p:graphicFrame>
        <p:nvGraphicFramePr>
          <p:cNvPr id="9" name="Table 8"/>
          <p:cNvGraphicFramePr>
            <a:graphicFrameLocks noGrp="1"/>
          </p:cNvGraphicFramePr>
          <p:nvPr/>
        </p:nvGraphicFramePr>
        <p:xfrm>
          <a:off x="548640" y="1325880"/>
          <a:ext cx="11094411" cy="219454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Region / Department / Team / Officer</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Sales unit level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Month</a:t>
                      </a:r>
                    </a:p>
                  </a:txBody>
                  <a:tcPr marL="54864" marR="54864" marT="27432" marB="27432">
                    <a:solidFill>
                      <a:srgbClr val="E5F5FF"/>
                    </a:solidFill>
                  </a:tcPr>
                </a:tc>
                <a:tc>
                  <a:txBody>
                    <a:bodyPr/>
                    <a:lstStyle/>
                    <a:p>
                      <a:r>
                        <a:rPr sz="850" b="0">
                          <a:solidFill>
                            <a:srgbClr val="4B4B4B"/>
                          </a:solidFill>
                          <a:latin typeface="Arial"/>
                        </a:rPr>
                        <a:t>Month</a:t>
                      </a:r>
                    </a:p>
                  </a:txBody>
                  <a:tcPr marL="54864" marR="54864" marT="27432" marB="27432">
                    <a:solidFill>
                      <a:srgbClr val="E5F5FF"/>
                    </a:solidFill>
                  </a:tcPr>
                </a:tc>
                <a:tc>
                  <a:txBody>
                    <a:bodyPr/>
                    <a:lstStyle/>
                    <a:p>
                      <a:r>
                        <a:rPr sz="850" b="0">
                          <a:solidFill>
                            <a:srgbClr val="4B4B4B"/>
                          </a:solidFill>
                          <a:latin typeface="Arial"/>
                        </a:rPr>
                        <a:t>yyyy-MM</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Unit, Period, Bookings, Premium (PHP), Commission (PHP)</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Target dialog</a:t>
                      </a:r>
                    </a:p>
                  </a:txBody>
                  <a:tcPr marL="54864" marR="54864" marT="27432" marB="27432">
                    <a:solidFill>
                      <a:srgbClr val="E5F5FF"/>
                    </a:solidFill>
                  </a:tcPr>
                </a:tc>
                <a:tc>
                  <a:txBody>
                    <a:bodyPr/>
                    <a:lstStyle/>
                    <a:p>
                      <a:r>
                        <a:rPr sz="850" b="0">
                          <a:solidFill>
                            <a:srgbClr val="4B4B4B"/>
                          </a:solidFill>
                          <a:latin typeface="Arial"/>
                        </a:rPr>
                        <a:t>Unit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Sales unit code, or the officer's username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unit code or the officer username</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Target dialog</a:t>
                      </a:r>
                    </a:p>
                  </a:txBody>
                  <a:tcPr marL="54864" marR="54864" marT="27432" marB="27432">
                    <a:solidFill>
                      <a:srgbClr val="FFFFFF"/>
                    </a:solidFill>
                  </a:tcPr>
                </a:tc>
                <a:tc>
                  <a:txBody>
                    <a:bodyPr/>
                    <a:lstStyle/>
                    <a:p>
                      <a:r>
                        <a:rPr sz="850" b="0">
                          <a:solidFill>
                            <a:srgbClr val="4B4B4B"/>
                          </a:solidFill>
                          <a:latin typeface="Arial"/>
                        </a:rPr>
                        <a:t>Period From / Period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end is not before the start</a:t>
                      </a:r>
                    </a:p>
                  </a:txBody>
                  <a:tcPr marL="54864" marR="54864" marT="27432" marB="27432">
                    <a:solidFill>
                      <a:srgbClr val="FFFFFF"/>
                    </a:solidFill>
                  </a:tcPr>
                </a:tc>
                <a:tc>
                  <a:txBody>
                    <a:bodyPr/>
                    <a:lstStyle/>
                    <a:p>
                      <a:r>
                        <a:rPr sz="850" b="0">
                          <a:solidFill>
                            <a:srgbClr val="4B4B4B"/>
                          </a:solidFill>
                          <a:latin typeface="Arial"/>
                        </a:rPr>
                        <a:t>Enter the period / The period end must not be before the start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Target dialog</a:t>
                      </a:r>
                    </a:p>
                  </a:txBody>
                  <a:tcPr marL="54864" marR="54864" marT="27432" marB="27432">
                    <a:solidFill>
                      <a:srgbClr val="E5F5FF"/>
                    </a:solidFill>
                  </a:tcPr>
                </a:tc>
                <a:tc>
                  <a:txBody>
                    <a:bodyPr/>
                    <a:lstStyle/>
                    <a:p>
                      <a:r>
                        <a:rPr sz="850" b="0">
                          <a:solidFill>
                            <a:srgbClr val="4B4B4B"/>
                          </a:solidFill>
                          <a:latin typeface="Arial"/>
                        </a:rPr>
                        <a:t>Target Bookings, Target Premium (PHP), Target Commission (PHP)</a:t>
                      </a:r>
                    </a:p>
                  </a:txBody>
                  <a:tcPr marL="54864" marR="54864" marT="27432" marB="27432">
                    <a:solidFill>
                      <a:srgbClr val="E5F5FF"/>
                    </a:solidFill>
                  </a:tcPr>
                </a:tc>
                <a:tc>
                  <a:txBody>
                    <a:bodyPr/>
                    <a:lstStyle/>
                    <a:p>
                      <a:r>
                        <a:rPr sz="850" b="0">
                          <a:solidFill>
                            <a:srgbClr val="4B4B4B"/>
                          </a:solidFill>
                          <a:latin typeface="Arial"/>
                        </a:rPr>
                        <a:t>Number / Amount</a:t>
                      </a:r>
                    </a:p>
                  </a:txBody>
                  <a:tcPr marL="54864" marR="54864" marT="27432" marB="27432">
                    <a:solidFill>
                      <a:srgbClr val="E5F5FF"/>
                    </a:solidFill>
                  </a:tcPr>
                </a:tc>
                <a:tc>
                  <a:txBody>
                    <a:bodyPr/>
                    <a:lstStyle/>
                    <a:p>
                      <a:r>
                        <a:rPr sz="850" b="0">
                          <a:solidFill>
                            <a:srgbClr val="4B4B4B"/>
                          </a:solidFill>
                          <a:latin typeface="Arial"/>
                        </a:rPr>
                        <a:t>0 or more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negative</a:t>
                      </a:r>
                    </a:p>
                  </a:txBody>
                  <a:tcPr marL="54864" marR="54864" marT="27432" marB="27432">
                    <a:solidFill>
                      <a:srgbClr val="E5F5FF"/>
                    </a:solidFill>
                  </a:tcPr>
                </a:tc>
                <a:tc>
                  <a:txBody>
                    <a:bodyPr/>
                    <a:lstStyle/>
                    <a:p>
                      <a:r>
                        <a:rPr sz="850" b="0">
                          <a:solidFill>
                            <a:srgbClr val="4B4B4B"/>
                          </a:solidFill>
                          <a:latin typeface="Arial"/>
                        </a:rPr>
                        <a:t>Targets cannot be negative</a:t>
                      </a:r>
                    </a:p>
                  </a:txBody>
                  <a:tcPr marL="54864" marR="54864" marT="27432" marB="27432">
                    <a:solidFill>
                      <a:srgbClr val="E5F5FF"/>
                    </a:solidFill>
                  </a:tcPr>
                </a:tc>
              </a:tr>
            </a:tbl>
          </a:graphicData>
        </a:graphic>
      </p:graphicFrame>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555</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Add Target / open a row</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target dialog; Save stores the target (audited)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sales hierarchy and the targets are maintained by the business; the seed targets are replaced by BDOI's targets (FR-NB-122).</a:t>
                      </a:r>
                    </a:p>
                  </a:txBody>
                  <a:tcPr marL="54864" marR="54864" marT="27432" marB="27432">
                    <a:solidFill>
                      <a:srgbClr val="FFFFFF"/>
                    </a:solidFill>
                  </a:tcPr>
                </a:tc>
              </a:tr>
            </a:tbl>
          </a:graphicData>
        </a:graphic>
      </p:graphicFrame>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SCR-NB-41 Production Targets: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41-01-list.png"/>
          <p:cNvPicPr>
            <a:picLocks noChangeAspect="1"/>
          </p:cNvPicPr>
          <p:nvPr/>
        </p:nvPicPr>
        <p:blipFill>
          <a:blip r:embed="rId3"/>
          <a:stretch>
            <a:fillRect/>
          </a:stretch>
        </p:blipFill>
        <p:spPr>
          <a:xfrm>
            <a:off x="1216232" y="1261872"/>
            <a:ext cx="975923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Production Targets</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coded values used on the New Business screens (segments, reasons, document types, tags...). A change takes effect from its date once a checker authorises it; values are deactivated, never deleted.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New Business Approver, Business Administrator, 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Broking Setup › Lists of Values</a:t>
                      </a:r>
                    </a:p>
                    <a:p>
                      <a:r>
                        <a:rPr sz="950" b="0">
                          <a:solidFill>
                            <a:srgbClr val="4B4B4B"/>
                          </a:solidFill>
                          <a:latin typeface="Arial"/>
                        </a:rPr>
                        <a:t>Setup &amp; Administration › Broking Setup › Lists of Values</a:t>
                      </a:r>
                    </a:p>
                    <a:p>
                      <a:r>
                        <a:rPr sz="950" b="0">
                          <a:solidFill>
                            <a:srgbClr val="4B4B4B"/>
                          </a:solidFill>
                          <a:latin typeface="Arial"/>
                        </a:rPr>
                        <a:t>My Approvals (pending values)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FR-NB-132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maintains its lists without a release, under maker-checker.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559</a:t>
            </a:r>
          </a:p>
        </p:txBody>
      </p:sp>
      <p:graphicFrame>
        <p:nvGraphicFramePr>
          <p:cNvPr id="9" name="Table 8"/>
          <p:cNvGraphicFramePr>
            <a:graphicFrameLocks noGrp="1"/>
          </p:cNvGraphicFramePr>
          <p:nvPr/>
        </p:nvGraphicFramePr>
        <p:xfrm>
          <a:off x="548640" y="1325880"/>
          <a:ext cx="11094411" cy="276604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Lists</a:t>
                      </a:r>
                    </a:p>
                  </a:txBody>
                  <a:tcPr marL="54864" marR="54864" marT="27432" marB="27432">
                    <a:solidFill>
                      <a:srgbClr val="FFFFFF"/>
                    </a:solidFill>
                  </a:tcPr>
                </a:tc>
                <a:tc>
                  <a:txBody>
                    <a:bodyPr/>
                    <a:lstStyle/>
                    <a:p>
                      <a:r>
                        <a:rPr sz="850" b="0">
                          <a:solidFill>
                            <a:srgbClr val="4B4B4B"/>
                          </a:solidFill>
                          <a:latin typeface="Arial"/>
                        </a:rPr>
                        <a:t>List names</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One entry per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Values</a:t>
                      </a:r>
                    </a:p>
                  </a:txBody>
                  <a:tcPr marL="54864" marR="54864" marT="27432" marB="27432">
                    <a:solidFill>
                      <a:srgbClr val="E5F5FF"/>
                    </a:solidFill>
                  </a:tcPr>
                </a:tc>
                <a:tc>
                  <a:txBody>
                    <a:bodyPr/>
                    <a:lstStyle/>
                    <a:p>
                      <a:r>
                        <a:rPr sz="850" b="0">
                          <a:solidFill>
                            <a:srgbClr val="4B4B4B"/>
                          </a:solidFill>
                          <a:latin typeface="Arial"/>
                        </a:rPr>
                        <a:t>Code, Label, Order, Parent, Effective, Status, Maker / Checker, Actions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Authorize, Edit and Deactivate in the row action menu; status From a future date, In force, Ended, Pending authorization,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Value dialog</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Capital letters, digits and _, up to 40</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Format; unique in the list</a:t>
                      </a:r>
                    </a:p>
                  </a:txBody>
                  <a:tcPr marL="54864" marR="54864" marT="27432" marB="27432">
                    <a:solidFill>
                      <a:srgbClr val="FFFFFF"/>
                    </a:solidFill>
                  </a:tcPr>
                </a:tc>
                <a:tc>
                  <a:txBody>
                    <a:bodyPr/>
                    <a:lstStyle/>
                    <a:p>
                      <a:r>
                        <a:rPr sz="850" b="0">
                          <a:solidFill>
                            <a:srgbClr val="4B4B4B"/>
                          </a:solidFill>
                          <a:latin typeface="Arial"/>
                        </a:rPr>
                        <a:t>Use capital letters, digits and _ (up to 40) / &lt;list&gt; already exists: &lt;code&gt;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Value dialog</a:t>
                      </a:r>
                    </a:p>
                  </a:txBody>
                  <a:tcPr marL="54864" marR="54864" marT="27432" marB="27432">
                    <a:solidFill>
                      <a:srgbClr val="E5F5FF"/>
                    </a:solidFill>
                  </a:tcPr>
                </a:tc>
                <a:tc>
                  <a:txBody>
                    <a:bodyPr/>
                    <a:lstStyle/>
                    <a:p>
                      <a:r>
                        <a:rPr sz="850" b="0">
                          <a:solidFill>
                            <a:srgbClr val="4B4B4B"/>
                          </a:solidFill>
                          <a:latin typeface="Arial"/>
                        </a:rPr>
                        <a:t>Label</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label</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Value dialog</a:t>
                      </a:r>
                    </a:p>
                  </a:txBody>
                  <a:tcPr marL="54864" marR="54864" marT="27432" marB="27432">
                    <a:solidFill>
                      <a:srgbClr val="FFFFFF"/>
                    </a:solidFill>
                  </a:tcPr>
                </a:tc>
                <a:tc>
                  <a:txBody>
                    <a:bodyPr/>
                    <a:lstStyle/>
                    <a:p>
                      <a:r>
                        <a:rPr sz="850" b="0">
                          <a:solidFill>
                            <a:srgbClr val="4B4B4B"/>
                          </a:solidFill>
                          <a:latin typeface="Arial"/>
                        </a:rPr>
                        <a:t>Sort order</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Whole number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whole number</a:t>
                      </a:r>
                    </a:p>
                  </a:txBody>
                  <a:tcPr marL="54864" marR="54864" marT="27432" marB="27432">
                    <a:solidFill>
                      <a:srgbClr val="FFFFFF"/>
                    </a:solidFill>
                  </a:tcPr>
                </a:tc>
                <a:tc>
                  <a:txBody>
                    <a:bodyPr/>
                    <a:lstStyle/>
                    <a:p>
                      <a:r>
                        <a:rPr sz="850" b="0">
                          <a:solidFill>
                            <a:srgbClr val="4B4B4B"/>
                          </a:solidFill>
                          <a:latin typeface="Arial"/>
                        </a:rPr>
                        <a:t>Enter a whole number</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Value dialog</a:t>
                      </a:r>
                    </a:p>
                  </a:txBody>
                  <a:tcPr marL="54864" marR="54864" marT="27432" marB="27432">
                    <a:solidFill>
                      <a:srgbClr val="E5F5FF"/>
                    </a:solidFill>
                  </a:tcPr>
                </a:tc>
                <a:tc>
                  <a:txBody>
                    <a:bodyPr/>
                    <a:lstStyle/>
                    <a:p>
                      <a:r>
                        <a:rPr sz="850" b="0">
                          <a:solidFill>
                            <a:srgbClr val="4B4B4B"/>
                          </a:solidFill>
                          <a:latin typeface="Arial"/>
                        </a:rPr>
                        <a:t>Parent value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For dependent lists only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Value dialog</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first valid date</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Value dialog</a:t>
                      </a:r>
                    </a:p>
                  </a:txBody>
                  <a:tcPr marL="54864" marR="54864" marT="27432" marB="27432">
                    <a:solidFill>
                      <a:srgbClr val="E5F5FF"/>
                    </a:solidFill>
                  </a:tcPr>
                </a:tc>
                <a:tc>
                  <a:txBody>
                    <a:bodyPr/>
                    <a:lstStyle/>
                    <a:p>
                      <a:r>
                        <a:rPr sz="850" b="0">
                          <a:solidFill>
                            <a:srgbClr val="4B4B4B"/>
                          </a:solidFill>
                          <a:latin typeface="Arial"/>
                        </a:rPr>
                        <a:t>Effective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blank = no end date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Not before Effective from</a:t>
                      </a:r>
                    </a:p>
                  </a:txBody>
                  <a:tcPr marL="54864" marR="54864" marT="27432" marB="27432">
                    <a:solidFill>
                      <a:srgbClr val="E5F5FF"/>
                    </a:solidFill>
                  </a:tcPr>
                </a:tc>
                <a:tc>
                  <a:txBody>
                    <a:bodyPr/>
                    <a:lstStyle/>
                    <a:p>
                      <a:r>
                        <a:rPr sz="850" b="0">
                          <a:solidFill>
                            <a:srgbClr val="4B4B4B"/>
                          </a:solidFill>
                          <a:latin typeface="Arial"/>
                        </a:rPr>
                        <a:t>Must not be before the first valid date</a:t>
                      </a:r>
                    </a:p>
                  </a:txBody>
                  <a:tcPr marL="54864" marR="54864" marT="27432" marB="27432">
                    <a:solidFill>
                      <a:srgbClr val="E5F5FF"/>
                    </a:solidFill>
                  </a:tcPr>
                </a:tc>
              </a:tr>
            </a:tbl>
          </a:graphicData>
        </a:graphic>
      </p:graphicFrame>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560</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Value</a:t>
                      </a:r>
                    </a:p>
                  </a:txBody>
                  <a:tcPr marL="54864" marR="54864" marT="27432" marB="27432">
                    <a:solidFill>
                      <a:srgbClr val="FFFFFF"/>
                    </a:solidFill>
                  </a:tcPr>
                </a:tc>
                <a:tc>
                  <a:txBody>
                    <a:bodyPr/>
                    <a:lstStyle/>
                    <a:p>
                      <a:r>
                        <a:rPr sz="850" b="0">
                          <a:solidFill>
                            <a:srgbClr val="4B4B4B"/>
                          </a:solidFill>
                          <a:latin typeface="Arial"/>
                        </a:rPr>
                        <a:t>LOV_MANAGE</a:t>
                      </a:r>
                    </a:p>
                  </a:txBody>
                  <a:tcPr marL="54864" marR="54864" marT="27432" marB="27432">
                    <a:solidFill>
                      <a:srgbClr val="FFFFFF"/>
                    </a:solidFill>
                  </a:tcPr>
                </a:tc>
                <a:tc>
                  <a:txBody>
                    <a:bodyPr/>
                    <a:lstStyle/>
                    <a:p>
                      <a:r>
                        <a:rPr sz="850" b="0">
                          <a:solidFill>
                            <a:srgbClr val="4B4B4B"/>
                          </a:solidFill>
                          <a:latin typeface="Arial"/>
                        </a:rPr>
                        <a:t>List maintained by the business</a:t>
                      </a:r>
                    </a:p>
                  </a:txBody>
                  <a:tcPr marL="54864" marR="54864" marT="27432" marB="27432">
                    <a:solidFill>
                      <a:srgbClr val="FFFFFF"/>
                    </a:solidFill>
                  </a:tcPr>
                </a:tc>
                <a:tc>
                  <a:txBody>
                    <a:bodyPr/>
                    <a:lstStyle/>
                    <a:p>
                      <a:r>
                        <a:rPr sz="850" b="0">
                          <a:solidFill>
                            <a:srgbClr val="4B4B4B"/>
                          </a:solidFill>
                          <a:latin typeface="Arial"/>
                        </a:rPr>
                        <a:t>Opens the value dialog; Save stores the value pending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Pending item in My Approvals</a:t>
                      </a:r>
                    </a:p>
                  </a:txBody>
                  <a:tcPr marL="54864" marR="54864" marT="27432" marB="27432">
                    <a:solidFill>
                      <a:srgbClr val="FFFFFF"/>
                    </a:solidFill>
                  </a:tcPr>
                </a:tc>
              </a:tr>
              <a:tr h="350518">
                <a:tc>
                  <a:txBody>
                    <a:bodyPr/>
                    <a:lstStyle/>
                    <a:p>
                      <a:r>
                        <a:rPr sz="850" b="0">
                          <a:solidFill>
                            <a:srgbClr val="4B4B4B"/>
                          </a:solidFill>
                          <a:latin typeface="Arial"/>
                        </a:rPr>
                        <a:t>Edit / Deactivate</a:t>
                      </a:r>
                    </a:p>
                  </a:txBody>
                  <a:tcPr marL="54864" marR="54864" marT="27432" marB="27432">
                    <a:solidFill>
                      <a:srgbClr val="E5F5FF"/>
                    </a:solidFill>
                  </a:tcPr>
                </a:tc>
                <a:tc>
                  <a:txBody>
                    <a:bodyPr/>
                    <a:lstStyle/>
                    <a:p>
                      <a:r>
                        <a:rPr sz="850" b="0">
                          <a:solidFill>
                            <a:srgbClr val="4B4B4B"/>
                          </a:solidFill>
                          <a:latin typeface="Arial"/>
                        </a:rPr>
                        <a:t>LOV_MANAGE</a:t>
                      </a:r>
                    </a:p>
                  </a:txBody>
                  <a:tcPr marL="54864" marR="54864" marT="27432" marB="27432">
                    <a:solidFill>
                      <a:srgbClr val="E5F5FF"/>
                    </a:solidFill>
                  </a:tcPr>
                </a:tc>
                <a:tc>
                  <a:txBody>
                    <a:bodyPr/>
                    <a:lstStyle/>
                    <a:p>
                      <a:r>
                        <a:rPr sz="850" b="0">
                          <a:solidFill>
                            <a:srgbClr val="4B4B4B"/>
                          </a:solidFill>
                          <a:latin typeface="Arial"/>
                        </a:rPr>
                        <a:t>Value not inactive (row action menu)</a:t>
                      </a:r>
                    </a:p>
                  </a:txBody>
                  <a:tcPr marL="54864" marR="54864" marT="27432" marB="27432">
                    <a:solidFill>
                      <a:srgbClr val="E5F5FF"/>
                    </a:solidFill>
                  </a:tcPr>
                </a:tc>
                <a:tc>
                  <a:txBody>
                    <a:bodyPr/>
                    <a:lstStyle/>
                    <a:p>
                      <a:r>
                        <a:rPr sz="850" b="0">
                          <a:solidFill>
                            <a:srgbClr val="4B4B4B"/>
                          </a:solidFill>
                          <a:latin typeface="Arial"/>
                        </a:rPr>
                        <a:t>Changes the value (pending authorization) or deactivates it</a:t>
                      </a:r>
                    </a:p>
                  </a:txBody>
                  <a:tcPr marL="54864" marR="54864" marT="27432" marB="27432">
                    <a:solidFill>
                      <a:srgbClr val="E5F5FF"/>
                    </a:solidFill>
                  </a:tcPr>
                </a:tc>
                <a:tc>
                  <a:txBody>
                    <a:bodyPr/>
                    <a:lstStyle/>
                    <a:p>
                      <a:r>
                        <a:rPr sz="850" b="0">
                          <a:solidFill>
                            <a:srgbClr val="4B4B4B"/>
                          </a:solidFill>
                          <a:latin typeface="Arial"/>
                        </a:rPr>
                        <a:t>Pending authorization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MASTER_AUTHORIZE; not the maker</a:t>
                      </a:r>
                    </a:p>
                  </a:txBody>
                  <a:tcPr marL="54864" marR="54864" marT="27432" marB="27432">
                    <a:solidFill>
                      <a:srgbClr val="FFFFFF"/>
                    </a:solidFill>
                  </a:tcPr>
                </a:tc>
                <a:tc>
                  <a:txBody>
                    <a:bodyPr/>
                    <a:lstStyle/>
                    <a:p>
                      <a:r>
                        <a:rPr sz="850" b="0">
                          <a:solidFill>
                            <a:srgbClr val="4B4B4B"/>
                          </a:solidFill>
                          <a:latin typeface="Arial"/>
                        </a:rPr>
                        <a:t>Value pending authorization (row action menu)</a:t>
                      </a:r>
                    </a:p>
                  </a:txBody>
                  <a:tcPr marL="54864" marR="54864" marT="27432" marB="27432">
                    <a:solidFill>
                      <a:srgbClr val="FFFFFF"/>
                    </a:solidFill>
                  </a:tcPr>
                </a:tc>
                <a:tc>
                  <a:txBody>
                    <a:bodyPr/>
                    <a:lstStyle/>
                    <a:p>
                      <a:r>
                        <a:rPr sz="850" b="0">
                          <a:solidFill>
                            <a:srgbClr val="4B4B4B"/>
                          </a:solidFill>
                          <a:latin typeface="Arial"/>
                        </a:rPr>
                        <a:t>Authorises the value</a:t>
                      </a:r>
                    </a:p>
                  </a:txBody>
                  <a:tcPr marL="54864" marR="54864" marT="27432" marB="27432">
                    <a:solidFill>
                      <a:srgbClr val="FFFFFF"/>
                    </a:solidFill>
                  </a:tcPr>
                </a:tc>
                <a:tc>
                  <a:txBody>
                    <a:bodyPr/>
                    <a:lstStyle/>
                    <a:p>
                      <a:r>
                        <a:rPr sz="850" b="0">
                          <a:solidFill>
                            <a:srgbClr val="4B4B4B"/>
                          </a:solidFill>
                          <a:latin typeface="Arial"/>
                        </a:rPr>
                        <a:t>In force from its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Lists maintained by the system cannot be changed (FR-NB-132).</a:t>
                      </a:r>
                    </a:p>
                  </a:txBody>
                  <a:tcPr marL="54864" marR="54864" marT="27432" marB="27432">
                    <a:solidFill>
                      <a:srgbClr val="FFFFFF"/>
                    </a:solidFill>
                  </a:tcPr>
                </a:tc>
              </a:tr>
              <a:tr h="243840">
                <a:tc>
                  <a:txBody>
                    <a:bodyPr/>
                    <a:lstStyle/>
                    <a:p>
                      <a:r>
                        <a:rPr sz="1000" b="0">
                          <a:solidFill>
                            <a:srgbClr val="4B4B4B"/>
                          </a:solidFill>
                          <a:latin typeface="Arial"/>
                        </a:rPr>
                        <a:t>A value is never authorised by its maker (FR-NB-132).</a:t>
                      </a:r>
                    </a:p>
                  </a:txBody>
                  <a:tcPr marL="54864" marR="54864" marT="27432" marB="27432">
                    <a:solidFill>
                      <a:srgbClr val="E5F5FF"/>
                    </a:solidFill>
                  </a:tcPr>
                </a:tc>
              </a:tr>
            </a:tbl>
          </a:graphicData>
        </a:graphic>
      </p:graphicFrame>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5.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Lists of Values (part 1 of 4)</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Lists of Values (part 2 of 4)</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Lists of Values (part 3 of 4)</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8.png"/>
          <p:cNvPicPr>
            <a:picLocks noChangeAspect="1"/>
          </p:cNvPicPr>
          <p:nvPr/>
        </p:nvPicPr>
        <p:blipFill>
          <a:blip r:embed="rId3"/>
          <a:stretch>
            <a:fillRect/>
          </a:stretch>
        </p:blipFill>
        <p:spPr>
          <a:xfrm>
            <a:off x="548640" y="1261872"/>
            <a:ext cx="11094415" cy="43612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Lists of Values (part 4 of 4)</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SCR-NB-42 Lists of Values: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nb-42-02-new.png"/>
          <p:cNvPicPr>
            <a:picLocks noChangeAspect="1"/>
          </p:cNvPicPr>
          <p:nvPr/>
        </p:nvPicPr>
        <p:blipFill>
          <a:blip r:embed="rId3"/>
          <a:stretch>
            <a:fillRect/>
          </a:stretch>
        </p:blipFill>
        <p:spPr>
          <a:xfrm>
            <a:off x="548640" y="1261872"/>
            <a:ext cx="11094415" cy="455934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value dialog</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Data Retention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567</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Retention periods by record type and status and the number of records that have become eligible; the monthly review counts them.</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New Business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Broking Setup › Data Retention</a:t>
                      </a:r>
                    </a:p>
                    <a:p>
                      <a:r>
                        <a:rPr sz="950" b="0">
                          <a:solidFill>
                            <a:srgbClr val="4B4B4B"/>
                          </a:solidFill>
                          <a:latin typeface="Arial"/>
                        </a:rPr>
                        <a:t>Setup &amp; Administration › Broking Setup › Data Retention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FR-NB-137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BDOI sees which records its retention policy makes eligible.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568</a:t>
            </a:r>
          </a:p>
        </p:txBody>
      </p:sp>
      <p:graphicFrame>
        <p:nvGraphicFramePr>
          <p:cNvPr id="9" name="Table 8"/>
          <p:cNvGraphicFramePr>
            <a:graphicFrameLocks noGrp="1"/>
          </p:cNvGraphicFramePr>
          <p:nvPr/>
        </p:nvGraphicFramePr>
        <p:xfrm>
          <a:off x="548640" y="1325880"/>
          <a:ext cx="11094411" cy="263650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Record Type, Statuses, Years Online, Years Archive, Action, Rule, Last Review, Eligible Records, Actions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Records and Edit in the row action menu; Eligible: Not reviewed yet, Module not yet reporting, or a 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Rule dialog</a:t>
                      </a:r>
                    </a:p>
                  </a:txBody>
                  <a:tcPr marL="54864" marR="54864" marT="27432" marB="27432">
                    <a:solidFill>
                      <a:srgbClr val="E5F5FF"/>
                    </a:solidFill>
                  </a:tcPr>
                </a:tc>
                <a:tc>
                  <a:txBody>
                    <a:bodyPr/>
                    <a:lstStyle/>
                    <a:p>
                      <a:r>
                        <a:rPr sz="850" b="0">
                          <a:solidFill>
                            <a:srgbClr val="4B4B4B"/>
                          </a:solidFill>
                          <a:latin typeface="Arial"/>
                        </a:rPr>
                        <a:t>Statuses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Comma separated, e.g. NOT_PROCEEDED,VOIDED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status</a:t>
                      </a:r>
                    </a:p>
                  </a:txBody>
                  <a:tcPr marL="54864" marR="54864" marT="27432" marB="27432">
                    <a:solidFill>
                      <a:srgbClr val="E5F5FF"/>
                    </a:solidFill>
                  </a:tcPr>
                </a:tc>
                <a:tc>
                  <a:txBody>
                    <a:bodyPr/>
                    <a:lstStyle/>
                    <a:p>
                      <a:r>
                        <a:rPr sz="850" b="0">
                          <a:solidFill>
                            <a:srgbClr val="4B4B4B"/>
                          </a:solidFill>
                          <a:latin typeface="Arial"/>
                        </a:rPr>
                        <a:t>Enter at least one status</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Rule dialog</a:t>
                      </a:r>
                    </a:p>
                  </a:txBody>
                  <a:tcPr marL="54864" marR="54864" marT="27432" marB="27432">
                    <a:solidFill>
                      <a:srgbClr val="FFFFFF"/>
                    </a:solidFill>
                  </a:tcPr>
                </a:tc>
                <a:tc>
                  <a:txBody>
                    <a:bodyPr/>
                    <a:lstStyle/>
                    <a:p>
                      <a:r>
                        <a:rPr sz="850" b="0">
                          <a:solidFill>
                            <a:srgbClr val="4B4B4B"/>
                          </a:solidFill>
                          <a:latin typeface="Arial"/>
                        </a:rPr>
                        <a:t>Years online</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1 to 50</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1 to 50</a:t>
                      </a:r>
                    </a:p>
                  </a:txBody>
                  <a:tcPr marL="54864" marR="54864" marT="27432" marB="27432">
                    <a:solidFill>
                      <a:srgbClr val="FFFFFF"/>
                    </a:solidFill>
                  </a:tcPr>
                </a:tc>
                <a:tc>
                  <a:txBody>
                    <a:bodyPr/>
                    <a:lstStyle/>
                    <a:p>
                      <a:r>
                        <a:rPr sz="850" b="0">
                          <a:solidFill>
                            <a:srgbClr val="4B4B4B"/>
                          </a:solidFill>
                          <a:latin typeface="Arial"/>
                        </a:rPr>
                        <a:t>Between 1 and 50 years</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Rule dialog</a:t>
                      </a:r>
                    </a:p>
                  </a:txBody>
                  <a:tcPr marL="54864" marR="54864" marT="27432" marB="27432">
                    <a:solidFill>
                      <a:srgbClr val="E5F5FF"/>
                    </a:solidFill>
                  </a:tcPr>
                </a:tc>
                <a:tc>
                  <a:txBody>
                    <a:bodyPr/>
                    <a:lstStyle/>
                    <a:p>
                      <a:r>
                        <a:rPr sz="850" b="0">
                          <a:solidFill>
                            <a:srgbClr val="4B4B4B"/>
                          </a:solidFill>
                          <a:latin typeface="Arial"/>
                        </a:rPr>
                        <a:t>Years in archive</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0 to 50</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0 to 50</a:t>
                      </a:r>
                    </a:p>
                  </a:txBody>
                  <a:tcPr marL="54864" marR="54864" marT="27432" marB="27432">
                    <a:solidFill>
                      <a:srgbClr val="E5F5FF"/>
                    </a:solidFill>
                  </a:tcPr>
                </a:tc>
                <a:tc>
                  <a:txBody>
                    <a:bodyPr/>
                    <a:lstStyle/>
                    <a:p>
                      <a:r>
                        <a:rPr sz="850" b="0">
                          <a:solidFill>
                            <a:srgbClr val="4B4B4B"/>
                          </a:solidFill>
                          <a:latin typeface="Arial"/>
                        </a:rPr>
                        <a:t>Between 0 and 50 years</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Rule dialog</a:t>
                      </a:r>
                    </a:p>
                  </a:txBody>
                  <a:tcPr marL="54864" marR="54864" marT="27432" marB="27432">
                    <a:solidFill>
                      <a:srgbClr val="FFFFFF"/>
                    </a:solidFill>
                  </a:tcPr>
                </a:tc>
                <a:tc>
                  <a:txBody>
                    <a:bodyPr/>
                    <a:lstStyle/>
                    <a:p>
                      <a:r>
                        <a:rPr sz="850" b="0">
                          <a:solidFill>
                            <a:srgbClr val="4B4B4B"/>
                          </a:solidFill>
                          <a:latin typeface="Arial"/>
                        </a:rPr>
                        <a:t>Action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Review, Archive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Rule dialog</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Rule dialog</a:t>
                      </a:r>
                    </a:p>
                  </a:txBody>
                  <a:tcPr marL="54864" marR="54864" marT="27432" marB="27432">
                    <a:solidFill>
                      <a:srgbClr val="FFFFFF"/>
                    </a:solidFill>
                  </a:tcPr>
                </a:tc>
                <a:tc>
                  <a:txBody>
                    <a:bodyPr/>
                    <a:lstStyle/>
                    <a:p>
                      <a:r>
                        <a:rPr sz="850" b="0">
                          <a:solidFill>
                            <a:srgbClr val="4B4B4B"/>
                          </a:solidFill>
                          <a:latin typeface="Arial"/>
                        </a:rPr>
                        <a:t>Description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a description</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Eligible records dialog</a:t>
                      </a:r>
                    </a:p>
                  </a:txBody>
                  <a:tcPr marL="54864" marR="54864" marT="27432" marB="27432">
                    <a:solidFill>
                      <a:srgbClr val="E5F5FF"/>
                    </a:solidFill>
                  </a:tcPr>
                </a:tc>
                <a:tc>
                  <a:txBody>
                    <a:bodyPr/>
                    <a:lstStyle/>
                    <a:p>
                      <a:r>
                        <a:rPr sz="850" b="0">
                          <a:solidFill>
                            <a:srgbClr val="4B4B4B"/>
                          </a:solidFill>
                          <a:latin typeface="Arial"/>
                        </a:rPr>
                        <a:t>Reference, Description, Status, Last Activity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569</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Review Now</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Counts the eligible records of every active rule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Records (row action menu)</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Lists the eligible records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Edit (row action menu)</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rule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Archive and purge wait for BDOI's retention decision per record type; the rules count eligible records meanwhile (FR-NB-137).</a:t>
                      </a:r>
                    </a:p>
                  </a:txBody>
                  <a:tcPr marL="54864" marR="54864" marT="27432" marB="27432">
                    <a:solidFill>
                      <a:srgbClr val="FFFFFF"/>
                    </a:solidFill>
                  </a:tcPr>
                </a:tc>
              </a:tr>
            </a:tbl>
          </a:graphicData>
        </a:graphic>
      </p:graphicFrame>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Data Retention: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Retention (part 1 of 3)</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Data Retention: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Retention (part 2 of 3)</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SCR-NB-43 Data Retention: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1.png"/>
          <p:cNvPicPr>
            <a:picLocks noChangeAspect="1"/>
          </p:cNvPicPr>
          <p:nvPr/>
        </p:nvPicPr>
        <p:blipFill>
          <a:blip r:embed="rId3"/>
          <a:stretch>
            <a:fillRect/>
          </a:stretch>
        </p:blipFill>
        <p:spPr>
          <a:xfrm>
            <a:off x="548640" y="1261872"/>
            <a:ext cx="11094415" cy="11572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Retention (part 3 of 3)</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574</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texts of the generated documents with placeholders filled from the record, in versions that take effect from a chosen date; a version can be loaded from Word and downloaded as Word.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New Business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Broking Setup › Document Templates</a:t>
                      </a:r>
                    </a:p>
                    <a:p>
                      <a:r>
                        <a:rPr sz="950" b="0">
                          <a:solidFill>
                            <a:srgbClr val="4B4B4B"/>
                          </a:solidFill>
                          <a:latin typeface="Arial"/>
                        </a:rPr>
                        <a:t>Setup &amp; Administration › Broking Setup › Document Templates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FR-NB-004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changes document wording without a release.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575</a:t>
            </a:r>
          </a:p>
        </p:txBody>
      </p:sp>
      <p:graphicFrame>
        <p:nvGraphicFramePr>
          <p:cNvPr id="9" name="Table 8"/>
          <p:cNvGraphicFramePr>
            <a:graphicFrameLocks noGrp="1"/>
          </p:cNvGraphicFramePr>
          <p:nvPr/>
        </p:nvGraphicFramePr>
        <p:xfrm>
          <a:off x="548640" y="1325880"/>
          <a:ext cx="11094411" cy="306322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Templates</a:t>
                      </a:r>
                    </a:p>
                  </a:txBody>
                  <a:tcPr marL="54864" marR="54864" marT="27432" marB="27432">
                    <a:solidFill>
                      <a:srgbClr val="FFFFFF"/>
                    </a:solidFill>
                  </a:tcPr>
                </a:tc>
                <a:tc>
                  <a:txBody>
                    <a:bodyPr/>
                    <a:lstStyle/>
                    <a:p>
                      <a:r>
                        <a:rPr sz="850" b="0">
                          <a:solidFill>
                            <a:srgbClr val="4B4B4B"/>
                          </a:solidFill>
                          <a:latin typeface="Arial"/>
                        </a:rPr>
                        <a:t>Template list</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One per document (quotation letter, slips, hold cover request, Insurance Advice, e-policy e-mail, service invoice note...)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Template</a:t>
                      </a:r>
                    </a:p>
                  </a:txBody>
                  <a:tcPr marL="54864" marR="54864" marT="27432" marB="27432">
                    <a:solidFill>
                      <a:srgbClr val="E5F5FF"/>
                    </a:solidFill>
                  </a:tcPr>
                </a:tc>
                <a:tc>
                  <a:txBody>
                    <a:bodyPr/>
                    <a:lstStyle/>
                    <a:p>
                      <a:r>
                        <a:rPr sz="850" b="0">
                          <a:solidFill>
                            <a:srgbClr val="4B4B4B"/>
                          </a:solidFill>
                          <a:latin typeface="Arial"/>
                        </a:rPr>
                        <a:t>Current version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Title and text with {{placeholders}}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Version history</a:t>
                      </a:r>
                    </a:p>
                  </a:txBody>
                  <a:tcPr marL="54864" marR="54864" marT="27432" marB="27432">
                    <a:solidFill>
                      <a:srgbClr val="FFFFFF"/>
                    </a:solidFill>
                  </a:tcPr>
                </a:tc>
                <a:tc>
                  <a:txBody>
                    <a:bodyPr/>
                    <a:lstStyle/>
                    <a:p>
                      <a:r>
                        <a:rPr sz="850" b="0">
                          <a:solidFill>
                            <a:srgbClr val="4B4B4B"/>
                          </a:solidFill>
                          <a:latin typeface="Arial"/>
                        </a:rPr>
                        <a:t>Version, Title, Effective from, Status, Created, Actions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Created: name with the time under it; Download Word in the row action menu</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version dialog</a:t>
                      </a:r>
                    </a:p>
                  </a:txBody>
                  <a:tcPr marL="54864" marR="54864" marT="27432" marB="27432">
                    <a:solidFill>
                      <a:srgbClr val="E5F5FF"/>
                    </a:solidFill>
                  </a:tcPr>
                </a:tc>
                <a:tc>
                  <a:txBody>
                    <a:bodyPr/>
                    <a:lstStyle/>
                    <a:p>
                      <a:r>
                        <a:rPr sz="850" b="0">
                          <a:solidFill>
                            <a:srgbClr val="4B4B4B"/>
                          </a:solidFill>
                          <a:latin typeface="Arial"/>
                        </a:rPr>
                        <a:t>Load from Word</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A .docx: the first paragraph is the title, the others the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Word document with a title and text</a:t>
                      </a:r>
                    </a:p>
                  </a:txBody>
                  <a:tcPr marL="54864" marR="54864" marT="27432" marB="27432">
                    <a:solidFill>
                      <a:srgbClr val="E5F5FF"/>
                    </a:solidFill>
                  </a:tcPr>
                </a:tc>
                <a:tc>
                  <a:txBody>
                    <a:bodyPr/>
                    <a:lstStyle/>
                    <a:p>
                      <a:r>
                        <a:rPr sz="850" b="0">
                          <a:solidFill>
                            <a:srgbClr val="4B4B4B"/>
                          </a:solidFill>
                          <a:latin typeface="Arial"/>
                        </a:rPr>
                        <a:t>The file is not a Word (.docx) document / The Word file needs the title in its first paragraph and the text below it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version dialog</a:t>
                      </a:r>
                    </a:p>
                  </a:txBody>
                  <a:tcPr marL="54864" marR="54864" marT="27432" marB="27432">
                    <a:solidFill>
                      <a:srgbClr val="FFFFFF"/>
                    </a:solidFill>
                  </a:tcPr>
                </a:tc>
                <a:tc>
                  <a:txBody>
                    <a:bodyPr/>
                    <a:lstStyle/>
                    <a:p>
                      <a:r>
                        <a:rPr sz="850" b="0">
                          <a:solidFill>
                            <a:srgbClr val="4B4B4B"/>
                          </a:solidFill>
                          <a:latin typeface="Arial"/>
                        </a:rPr>
                        <a:t>Title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version dialog</a:t>
                      </a:r>
                    </a:p>
                  </a:txBody>
                  <a:tcPr marL="54864" marR="54864" marT="27432" marB="27432">
                    <a:solidFill>
                      <a:srgbClr val="E5F5FF"/>
                    </a:solidFill>
                  </a:tcPr>
                </a:tc>
                <a:tc>
                  <a:txBody>
                    <a:bodyPr/>
                    <a:lstStyle/>
                    <a:p>
                      <a:r>
                        <a:rPr sz="850" b="0">
                          <a:solidFill>
                            <a:srgbClr val="4B4B4B"/>
                          </a:solidFill>
                          <a:latin typeface="Arial"/>
                        </a:rPr>
                        <a:t>Effective from</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version dialog</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Keep the {{placeholders}} of the current version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template text</a:t>
                      </a:r>
                    </a:p>
                  </a:txBody>
                  <a:tcPr marL="54864" marR="54864" marT="27432" marB="27432">
                    <a:solidFill>
                      <a:srgbClr val="FFFFFF"/>
                    </a:solidFill>
                  </a:tcPr>
                </a:tc>
              </a:tr>
            </a:tbl>
          </a:graphicData>
        </a:graphic>
      </p:graphicFrame>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576</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Version</a:t>
                      </a:r>
                    </a:p>
                  </a:txBody>
                  <a:tcPr marL="54864" marR="54864" marT="27432" marB="27432">
                    <a:solidFill>
                      <a:srgbClr val="FFFFFF"/>
                    </a:solidFill>
                  </a:tcPr>
                </a:tc>
                <a:tc>
                  <a:txBody>
                    <a:bodyPr/>
                    <a:lstStyle/>
                    <a:p>
                      <a:r>
                        <a:rPr sz="850" b="0">
                          <a:solidFill>
                            <a:srgbClr val="4B4B4B"/>
                          </a:solidFill>
                          <a:latin typeface="Arial"/>
                        </a:rPr>
                        <a:t>MASTER_MAINTAIN or LOV_MANAGE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version dialog; Save stores the version effective from its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 Word (row action menu of a version)</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version as Word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Documents use the template version in force on their date (FR-NB-004).</a:t>
                      </a:r>
                    </a:p>
                  </a:txBody>
                  <a:tcPr marL="54864" marR="54864" marT="27432" marB="27432">
                    <a:solidFill>
                      <a:srgbClr val="FFFFFF"/>
                    </a:solidFill>
                  </a:tcPr>
                </a:tc>
              </a:tr>
              <a:tr h="243840">
                <a:tc>
                  <a:txBody>
                    <a:bodyPr/>
                    <a:lstStyle/>
                    <a:p>
                      <a:r>
                        <a:rPr sz="1000" b="0">
                          <a:solidFill>
                            <a:srgbClr val="4B4B4B"/>
                          </a:solidFill>
                          <a:latin typeface="Arial"/>
                        </a:rPr>
                        <a:t>BDOI's own layouts replace the delivered texts when provided (FR-NB-004).</a:t>
                      </a:r>
                    </a:p>
                  </a:txBody>
                  <a:tcPr marL="54864" marR="54864" marT="27432" marB="27432">
                    <a:solidFill>
                      <a:srgbClr val="E5F5FF"/>
                    </a:solidFill>
                  </a:tcPr>
                </a:tc>
              </a:tr>
            </a:tbl>
          </a:graphicData>
        </a:graphic>
      </p:graphicFrame>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 Templates (part 1 of 4)</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 Templates (part 2 of 4)</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4.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 Templates (part 3 of 4)</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SCR-NB-44 Document Templates: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5.png"/>
          <p:cNvPicPr>
            <a:picLocks noChangeAspect="1"/>
          </p:cNvPicPr>
          <p:nvPr/>
        </p:nvPicPr>
        <p:blipFill>
          <a:blip r:embed="rId3"/>
          <a:stretch>
            <a:fillRect/>
          </a:stretch>
        </p:blipFill>
        <p:spPr>
          <a:xfrm>
            <a:off x="548640" y="1261872"/>
            <a:ext cx="11094415" cy="4409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 Templates (part 4 of 4)</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Outbound Messages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582</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e-mail sent by BIBS (quotations, slips, placements, e-policies, invoices and their separate password e-mails) with its status, attempts and reason; a failed e-mail is resent from here.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Broking Setup › Outbound Messages</a:t>
                      </a:r>
                    </a:p>
                    <a:p>
                      <a:r>
                        <a:rPr sz="950" b="0">
                          <a:solidFill>
                            <a:srgbClr val="4B4B4B"/>
                          </a:solidFill>
                          <a:latin typeface="Arial"/>
                        </a:rPr>
                        <a:t>Setup &amp; Administration › Broking Setup › Outbound Messages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FR-NB-013, FR-NB-015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Support sees whether every document reached its recipient.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583</a:t>
            </a:r>
          </a:p>
        </p:txBody>
      </p:sp>
      <p:graphicFrame>
        <p:nvGraphicFramePr>
          <p:cNvPr id="9" name="Table 8"/>
          <p:cNvGraphicFramePr>
            <a:graphicFrameLocks noGrp="1"/>
          </p:cNvGraphicFramePr>
          <p:nvPr/>
        </p:nvGraphicFramePr>
        <p:xfrm>
          <a:off x="548640" y="1325880"/>
          <a:ext cx="11094411" cy="14935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Queued, Sent, Failed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Recipient, subject or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Queued, Purpose, Reference, To, Subject (lock when protected), Status, Attempts, Reason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Message dialog</a:t>
                      </a:r>
                    </a:p>
                  </a:txBody>
                  <a:tcPr marL="54864" marR="54864" marT="27432" marB="27432">
                    <a:solidFill>
                      <a:srgbClr val="E5F5FF"/>
                    </a:solidFill>
                  </a:tcPr>
                </a:tc>
                <a:tc>
                  <a:txBody>
                    <a:bodyPr/>
                    <a:lstStyle/>
                    <a:p>
                      <a:r>
                        <a:rPr sz="850" b="0">
                          <a:solidFill>
                            <a:srgbClr val="4B4B4B"/>
                          </a:solidFill>
                          <a:latin typeface="Arial"/>
                        </a:rPr>
                        <a:t>Subject, recipients, body, attachments</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584</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MESSAGE_VIEW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the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Send Again</a:t>
                      </a:r>
                    </a:p>
                  </a:txBody>
                  <a:tcPr marL="54864" marR="54864" marT="27432" marB="27432">
                    <a:solidFill>
                      <a:srgbClr val="E5F5FF"/>
                    </a:solidFill>
                  </a:tcPr>
                </a:tc>
                <a:tc>
                  <a:txBody>
                    <a:bodyPr/>
                    <a:lstStyle/>
                    <a:p>
                      <a:r>
                        <a:rPr sz="850" b="0">
                          <a:solidFill>
                            <a:srgbClr val="4B4B4B"/>
                          </a:solidFill>
                          <a:latin typeface="Arial"/>
                        </a:rPr>
                        <a:t>MESSAGE_VIEW</a:t>
                      </a:r>
                    </a:p>
                  </a:txBody>
                  <a:tcPr marL="54864" marR="54864" marT="27432" marB="27432">
                    <a:solidFill>
                      <a:srgbClr val="E5F5FF"/>
                    </a:solidFill>
                  </a:tcPr>
                </a:tc>
                <a:tc>
                  <a:txBody>
                    <a:bodyPr/>
                    <a:lstStyle/>
                    <a:p>
                      <a:r>
                        <a:rPr sz="850" b="0">
                          <a:solidFill>
                            <a:srgbClr val="4B4B4B"/>
                          </a:solidFill>
                          <a:latin typeface="Arial"/>
                        </a:rPr>
                        <a:t>Failed message</a:t>
                      </a:r>
                    </a:p>
                  </a:txBody>
                  <a:tcPr marL="54864" marR="54864" marT="27432" marB="27432">
                    <a:solidFill>
                      <a:srgbClr val="E5F5FF"/>
                    </a:solidFill>
                  </a:tcPr>
                </a:tc>
                <a:tc>
                  <a:txBody>
                    <a:bodyPr/>
                    <a:lstStyle/>
                    <a:p>
                      <a:r>
                        <a:rPr sz="850" b="0">
                          <a:solidFill>
                            <a:srgbClr val="4B4B4B"/>
                          </a:solidFill>
                          <a:latin typeface="Arial"/>
                        </a:rPr>
                        <a:t>Queues the message again</a:t>
                      </a:r>
                    </a:p>
                  </a:txBody>
                  <a:tcPr marL="54864" marR="54864" marT="27432" marB="27432">
                    <a:solidFill>
                      <a:srgbClr val="E5F5FF"/>
                    </a:solidFill>
                  </a:tcPr>
                </a:tc>
                <a:tc>
                  <a:txBody>
                    <a:bodyPr/>
                    <a:lstStyle/>
                    <a:p>
                      <a:r>
                        <a:rPr sz="850" b="0">
                          <a:solidFill>
                            <a:srgbClr val="4B4B4B"/>
                          </a:solidFill>
                          <a:latin typeface="Arial"/>
                        </a:rPr>
                        <a:t>Queued</a:t>
                      </a:r>
                    </a:p>
                  </a:txBody>
                  <a:tcPr marL="54864" marR="54864" marT="27432" marB="27432">
                    <a:solidFill>
                      <a:srgbClr val="E5F5FF"/>
                    </a:solidFill>
                  </a:tcPr>
                </a:tc>
                <a:tc>
                  <a:txBody>
                    <a:bodyPr/>
                    <a:lstStyle/>
                    <a:p>
                      <a:r>
                        <a:rPr sz="850" b="0">
                          <a:solidFill>
                            <a:srgbClr val="4B4B4B"/>
                          </a:solidFill>
                          <a:latin typeface="Arial"/>
                        </a:rPr>
                        <a:t>E-mail resent</a:t>
                      </a:r>
                    </a:p>
                  </a:txBody>
                  <a:tcPr marL="54864" marR="54864" marT="27432" marB="27432">
                    <a:solidFill>
                      <a:srgbClr val="E5F5FF"/>
                    </a:solidFill>
                  </a:tcPr>
                </a:tc>
              </a:tr>
            </a:tbl>
          </a:graphicData>
        </a:graphic>
      </p:graphicFrame>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MAIL_DISPATCH job sends queued e-mails every 2 minutes and retries up to MAIL_MAX_ATTEMPTS (3) (FR-NB-013, FR-NB-015).</a:t>
                      </a:r>
                    </a:p>
                  </a:txBody>
                  <a:tcPr marL="54864" marR="54864" marT="27432" marB="27432">
                    <a:solidFill>
                      <a:srgbClr val="FFFFFF"/>
                    </a:solidFill>
                  </a:tcPr>
                </a:tc>
              </a:tr>
              <a:tr h="243840">
                <a:tc>
                  <a:txBody>
                    <a:bodyPr/>
                    <a:lstStyle/>
                    <a:p>
                      <a:r>
                        <a:rPr sz="1000" b="0">
                          <a:solidFill>
                            <a:srgbClr val="4B4B4B"/>
                          </a:solidFill>
                          <a:latin typeface="Arial"/>
                        </a:rPr>
                        <a:t>Only a failed message can be resent (FR-NB-013).</a:t>
                      </a:r>
                    </a:p>
                  </a:txBody>
                  <a:tcPr marL="54864" marR="54864" marT="27432" marB="27432">
                    <a:solidFill>
                      <a:srgbClr val="E5F5FF"/>
                    </a:solidFill>
                  </a:tcPr>
                </a:tc>
              </a:tr>
            </a:tbl>
          </a:graphicData>
        </a:graphic>
      </p:graphicFrame>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Outbound Messages: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6.png"/>
          <p:cNvPicPr>
            <a:picLocks noChangeAspect="1"/>
          </p:cNvPicPr>
          <p:nvPr/>
        </p:nvPicPr>
        <p:blipFill>
          <a:blip r:embed="rId3"/>
          <a:stretch>
            <a:fillRect/>
          </a:stretch>
        </p:blipFill>
        <p:spPr>
          <a:xfrm>
            <a:off x="548640" y="1261872"/>
            <a:ext cx="11094415" cy="468165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Outbound Messages (part 1 of 4)</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Outbound Messages: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7.png"/>
          <p:cNvPicPr>
            <a:picLocks noChangeAspect="1"/>
          </p:cNvPicPr>
          <p:nvPr/>
        </p:nvPicPr>
        <p:blipFill>
          <a:blip r:embed="rId3"/>
          <a:stretch>
            <a:fillRect/>
          </a:stretch>
        </p:blipFill>
        <p:spPr>
          <a:xfrm>
            <a:off x="548640" y="1261872"/>
            <a:ext cx="11094415" cy="463383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Outbound Messages (part 2 of 4)</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Outbound Messages: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Outbound Messages (part 3 of 4)</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SCR-NB-45 Outbound Messages: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9.png"/>
          <p:cNvPicPr>
            <a:picLocks noChangeAspect="1"/>
          </p:cNvPicPr>
          <p:nvPr/>
        </p:nvPicPr>
        <p:blipFill>
          <a:blip r:embed="rId3"/>
          <a:stretch>
            <a:fillRect/>
          </a:stretch>
        </p:blipFill>
        <p:spPr>
          <a:xfrm>
            <a:off x="548640" y="1261872"/>
            <a:ext cx="11094415" cy="45047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Outbound Messages (part 4 of 4)</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SCR-NB-46 Sign in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590</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Bulk uploads, work, reports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Sign-in with the user ID and password of the user's BIBS profile; the user lands on the NB Dashboard or My Work. Log-in, lock-out, password and session rules are those of BRD-11 User Access Maintenance.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Every user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/login</a:t>
                      </a:r>
                    </a:p>
                    <a:p>
                      <a:r>
                        <a:rPr sz="950" b="0">
                          <a:solidFill>
                            <a:srgbClr val="4B4B4B"/>
                          </a:solidFill>
                          <a:latin typeface="Arial"/>
                        </a:rPr>
                        <a:t>The BIBS address; any page opened without a session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13.8.12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FR-NB-130, FR-NB-131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reaches the screens of its role only.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SCR-NB-46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591</a:t>
            </a:r>
          </a:p>
        </p:txBody>
      </p:sp>
      <p:graphicFrame>
        <p:nvGraphicFramePr>
          <p:cNvPr id="9" name="Table 8"/>
          <p:cNvGraphicFramePr>
            <a:graphicFrameLocks noGrp="1"/>
          </p:cNvGraphicFramePr>
          <p:nvPr/>
        </p:nvGraphicFramePr>
        <p:xfrm>
          <a:off x="548640" y="1325880"/>
          <a:ext cx="11094411" cy="7924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Sign in</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Sign in</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Locked after LOGIN_MAX_FAILED_ATTEMPTS (3) failures</a:t>
                      </a:r>
                    </a:p>
                  </a:txBody>
                  <a:tcPr marL="54864" marR="54864" marT="27432" marB="27432">
                    <a:solidFill>
                      <a:srgbClr val="E5F5FF"/>
                    </a:solidFill>
                  </a:tcPr>
                </a:tc>
                <a:tc>
                  <a:txBody>
                    <a:bodyPr/>
                    <a:lstStyle/>
                    <a:p>
                      <a:r>
                        <a:rPr sz="850" b="0">
                          <a:solidFill>
                            <a:srgbClr val="4B4B4B"/>
                          </a:solidFill>
                          <a:latin typeface="Arial"/>
                        </a:rPr>
                        <a:t>As stated in the BRD-11 pack</a:t>
                      </a:r>
                    </a:p>
                  </a:txBody>
                  <a:tcPr marL="54864" marR="54864" marT="27432" marB="27432">
                    <a:solidFill>
                      <a:srgbClr val="E5F5FF"/>
                    </a:solidFill>
                  </a:tcPr>
                </a:tc>
              </a:tr>
            </a:tbl>
          </a:graphicData>
        </a:graphic>
      </p:graphicFrame>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592</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Login</a:t>
                      </a:r>
                    </a:p>
                  </a:txBody>
                  <a:tcPr marL="54864" marR="54864" marT="27432" marB="27432">
                    <a:solidFill>
                      <a:srgbClr val="FFFFFF"/>
                    </a:solidFill>
                  </a:tcPr>
                </a:tc>
                <a:tc>
                  <a:txBody>
                    <a:bodyPr/>
                    <a:lstStyle/>
                    <a:p>
                      <a:r>
                        <a:rPr sz="850" b="0">
                          <a:solidFill>
                            <a:srgbClr val="4B4B4B"/>
                          </a:solidFill>
                          <a:latin typeface="Arial"/>
                        </a:rPr>
                        <a:t>Every user</a:t>
                      </a:r>
                    </a:p>
                  </a:txBody>
                  <a:tcPr marL="54864" marR="54864" marT="27432" marB="27432">
                    <a:solidFill>
                      <a:srgbClr val="FFFFFF"/>
                    </a:solidFill>
                  </a:tcPr>
                </a:tc>
                <a:tc>
                  <a:txBody>
                    <a:bodyPr/>
                    <a:lstStyle/>
                    <a:p>
                      <a:r>
                        <a:rPr sz="850" b="0">
                          <a:solidFill>
                            <a:srgbClr val="4B4B4B"/>
                          </a:solidFill>
                          <a:latin typeface="Arial"/>
                        </a:rPr>
                        <a:t>User ID entered</a:t>
                      </a:r>
                    </a:p>
                  </a:txBody>
                  <a:tcPr marL="54864" marR="54864" marT="27432" marB="27432">
                    <a:solidFill>
                      <a:srgbClr val="FFFFFF"/>
                    </a:solidFill>
                  </a:tcPr>
                </a:tc>
                <a:tc>
                  <a:txBody>
                    <a:bodyPr/>
                    <a:lstStyle/>
                    <a:p>
                      <a:r>
                        <a:rPr sz="850" b="0">
                          <a:solidFill>
                            <a:srgbClr val="4B4B4B"/>
                          </a:solidFill>
                          <a:latin typeface="Arial"/>
                        </a:rPr>
                        <a:t>Signs in; the landing page is the NB Dashboard for the broking roles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Forgot Password</a:t>
                      </a:r>
                    </a:p>
                  </a:txBody>
                  <a:tcPr marL="54864" marR="54864" marT="27432" marB="27432">
                    <a:solidFill>
                      <a:srgbClr val="E5F5FF"/>
                    </a:solidFill>
                  </a:tcPr>
                </a:tc>
                <a:tc>
                  <a:txBody>
                    <a:bodyPr/>
                    <a:lstStyle/>
                    <a:p>
                      <a:r>
                        <a:rPr sz="850" b="0">
                          <a:solidFill>
                            <a:srgbClr val="4B4B4B"/>
                          </a:solidFill>
                          <a:latin typeface="Arial"/>
                        </a:rPr>
                        <a:t>Every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Starts the password reset of BRD-11</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session ends after SESSION_TIMEOUT_MINUTES (30) without activity, with a warning before (FR-NB-130).</a:t>
                      </a:r>
                    </a:p>
                  </a:txBody>
                  <a:tcPr marL="54864" marR="54864" marT="27432" marB="27432">
                    <a:solidFill>
                      <a:srgbClr val="FFFFFF"/>
                    </a:solidFill>
                  </a:tcPr>
                </a:tc>
              </a:tr>
              <a:tr h="243840">
                <a:tc>
                  <a:txBody>
                    <a:bodyPr/>
                    <a:lstStyle/>
                    <a:p>
                      <a:r>
                        <a:rPr sz="1000" b="0">
                          <a:solidFill>
                            <a:srgbClr val="4B4B4B"/>
                          </a:solidFill>
                          <a:latin typeface="Arial"/>
                        </a:rPr>
                        <a:t>BIBS can be open in several browser tabs; signing out in one signs out all (FR-NB-131).</a:t>
                      </a:r>
                    </a:p>
                  </a:txBody>
                  <a:tcPr marL="54864" marR="54864" marT="27432" marB="27432">
                    <a:solidFill>
                      <a:srgbClr val="E5F5FF"/>
                    </a:solidFill>
                  </a:tcPr>
                </a:tc>
              </a:tr>
            </a:tbl>
          </a:graphicData>
        </a:graphic>
      </p:graphicFrame>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SCR-NB-46 Sign in: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594</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cr-nb-46-01-empty.png"/>
          <p:cNvPicPr>
            <a:picLocks noChangeAspect="1"/>
          </p:cNvPicPr>
          <p:nvPr/>
        </p:nvPicPr>
        <p:blipFill>
          <a:blip r:embed="rId3"/>
          <a:stretch>
            <a:fillRect/>
          </a:stretch>
        </p:blipFill>
        <p:spPr>
          <a:xfrm>
            <a:off x="3282349" y="1261872"/>
            <a:ext cx="562699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Sign in</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Insurance quotation (quotation letter)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596</a:t>
            </a:r>
          </a:p>
        </p:txBody>
      </p:sp>
      <p:pic>
        <p:nvPicPr>
          <p:cNvPr id="9" name="Picture 8" descr="doc-quotation.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5146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QUOTATION_LETTER, QUOTATION_TERMS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version; Excel schedule (Quotation sheet)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Quotation record › PDF / Excel; attached to Send via Email</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Quotation: Quotation no., ARN, Version, Client (code – name), Product, Insurer (or To be advised), Period, Valid until, Premium payment (Via BDOI / Directly to the insurer) – from the quotation</a:t>
                      </a:r>
                    </a:p>
                    <a:p>
                      <a:r>
                        <a:rPr sz="900" b="0">
                          <a:solidFill>
                            <a:srgbClr val="4B4B4B"/>
                          </a:solidFill>
                          <a:latin typeface="Arial"/>
                        </a:rPr>
                        <a:t>Risk items: #, Group, Risk, Sum insured, Rate %, Premium – from the current version's items</a:t>
                      </a:r>
                    </a:p>
                    <a:p>
                      <a:r>
                        <a:rPr sz="900" b="0">
                          <a:solidFill>
                            <a:srgbClr val="4B4B4B"/>
                          </a:solidFill>
                          <a:latin typeface="Arial"/>
                        </a:rPr>
                        <a:t>Premium: Net premium, Documentary stamp tax, Premium tax, VAT, Fire service tax, Local government tax, Gross premium – from the premium computation (Appendix A)</a:t>
                      </a:r>
                    </a:p>
                    <a:p>
                      <a:r>
                        <a:rPr sz="900" b="0">
                          <a:solidFill>
                            <a:srgbClr val="4B4B4B"/>
                          </a:solidFill>
                          <a:latin typeface="Arial"/>
                        </a:rPr>
                        <a:t>Letter text and terms and conditions – from the templates QUOTATION_LETTER and QUOTATION_TERMS in force</a:t>
                      </a:r>
                    </a:p>
                    <a:p>
                      <a:r>
                        <a:rPr sz="900" b="0">
                          <a:solidFill>
                            <a:srgbClr val="4B4B4B"/>
                          </a:solidFill>
                          <a:latin typeface="Arial"/>
                        </a:rPr>
                        <a:t>Signatures: Prepared by, Approved by – the maker and the approver</a:t>
                      </a:r>
                    </a:p>
                  </a:txBody>
                  <a:tcPr marL="54864" marR="54864" marT="27432" marB="27432">
                    <a:solidFill>
                      <a:srgbClr val="FFFFFF"/>
                    </a:solidFill>
                  </a:tcPr>
                </a:tc>
              </a:tr>
            </a:tbl>
          </a:graphicData>
        </a:graphic>
      </p:graphicFrame>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Quotation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597</a:t>
            </a:r>
          </a:p>
        </p:txBody>
      </p:sp>
      <p:pic>
        <p:nvPicPr>
          <p:cNvPr id="9" name="Picture 8" descr="doc-quotation-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69164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QUOTATION_SLIP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insurer approached</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PRF record › Quotation Slip tab (PDF); e-mailed at Approve and send to insurers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(password in a separate e-mail)</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QS number, PRF, ARN, client, product, period, reply date – from the PRF and the slip</a:t>
                      </a:r>
                    </a:p>
                    <a:p>
                      <a:r>
                        <a:rPr sz="900" b="0">
                          <a:solidFill>
                            <a:srgbClr val="4B4B4B"/>
                          </a:solidFill>
                          <a:latin typeface="Arial"/>
                        </a:rPr>
                        <a:t>Risk details and risk items with sums insured – from the PRF</a:t>
                      </a:r>
                    </a:p>
                    <a:p>
                      <a:r>
                        <a:rPr sz="900" b="0">
                          <a:solidFill>
                            <a:srgbClr val="4B4B4B"/>
                          </a:solidFill>
                          <a:latin typeface="Arial"/>
                        </a:rPr>
                        <a:t>Request text with the reply date – from the template QUOTATION_SLIP</a:t>
                      </a:r>
                    </a:p>
                  </a:txBody>
                  <a:tcPr marL="54864" marR="54864" marT="27432" marB="27432">
                    <a:solidFill>
                      <a:srgbClr val="FFFFFF"/>
                    </a:solidFill>
                  </a:tcPr>
                </a:tc>
              </a:tr>
            </a:tbl>
          </a:graphicData>
        </a:graphic>
      </p:graphicFrame>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Comparative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598</a:t>
            </a:r>
          </a:p>
        </p:txBody>
      </p:sp>
      <p:pic>
        <p:nvPicPr>
          <p:cNvPr id="9" name="Picture 8" descr="doc-comparativ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69164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layout)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and Excel</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PRF record › Comparative Table tab (PDF, Excel); attached to the proposal e-mail</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One row per insurer: Insurer, Response, Premium (lowest marked), Rate %, Deductibles, Conditions, Valid until, Remarks – from the insurer responses</a:t>
                      </a:r>
                    </a:p>
                    <a:p>
                      <a:r>
                        <a:rPr sz="900" b="0">
                          <a:solidFill>
                            <a:srgbClr val="4B4B4B"/>
                          </a:solidFill>
                          <a:latin typeface="Arial"/>
                        </a:rPr>
                        <a:t>Recommended insurer – from the TSU recommendation</a:t>
                      </a:r>
                    </a:p>
                  </a:txBody>
                  <a:tcPr marL="54864" marR="54864" marT="27432" marB="27432">
                    <a:solidFill>
                      <a:srgbClr val="FFFFFF"/>
                    </a:solidFill>
                  </a:tcPr>
                </a:tc>
              </a:tr>
            </a:tbl>
          </a:graphicData>
        </a:graphic>
      </p:graphicFrame>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Proposal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599</a:t>
            </a:r>
          </a:p>
        </p:txBody>
      </p:sp>
      <p:pic>
        <p:nvPicPr>
          <p:cNvPr id="9" name="Picture 8" descr="doc-proposal-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PROPOSAL_SLIP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versioned (earlier versions archived on the PRF)</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PRF record › Proposal Slip tab; e-mailed with Send via Email</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a:t>
                      </a:r>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PRF, ARN, Client, Product, Period, Total sum insured – from the PRF</a:t>
                      </a:r>
                    </a:p>
                    <a:p>
                      <a:r>
                        <a:rPr sz="900" b="0">
                          <a:solidFill>
                            <a:srgbClr val="4B4B4B"/>
                          </a:solidFill>
                          <a:latin typeface="Arial"/>
                        </a:rPr>
                        <a:t>Insurer and proposed terms: Rate %, Deductibles, Conditions, Valid until – from the chosen insurer's response</a:t>
                      </a:r>
                    </a:p>
                    <a:p>
                      <a:r>
                        <a:rPr sz="900" b="0">
                          <a:solidFill>
                            <a:srgbClr val="4B4B4B"/>
                          </a:solidFill>
                          <a:latin typeface="Arial"/>
                        </a:rPr>
                        <a:t>Risk items – from the PRF; text from the template PROPOSAL_SLIP</a:t>
                      </a:r>
                    </a:p>
                    <a:p>
                      <a:r>
                        <a:rPr sz="900" b="0">
                          <a:solidFill>
                            <a:srgbClr val="4B4B4B"/>
                          </a:solidFill>
                          <a:latin typeface="Arial"/>
                        </a:rPr>
                        <a:t>Signatures: Prepared by, Approved by – the TSU preparer and approver</a:t>
                      </a:r>
                    </a:p>
                  </a:txBody>
                  <a:tcPr marL="54864" marR="54864" marT="27432" marB="27432">
                    <a:solidFill>
                      <a:srgbClr val="FFFFFF"/>
                    </a:solidFill>
                  </a:tcPr>
                </a:tc>
              </a:tr>
            </a:tbl>
          </a:graphicData>
        </a:graphic>
      </p:graphicFrame>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Placement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600</a:t>
            </a:r>
          </a:p>
        </p:txBody>
      </p:sp>
      <p:pic>
        <p:nvPicPr>
          <p:cNvPr id="9" name="Picture 8" descr="doc-placement-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PLACEMENT_SLIP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and Excel, one per insurer branch and version</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Placement Workbench › For Placement (Generate Slips); Placement Slips › PDF / Excel; e-mailed with Send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Optional (insurers)</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Slip, Insurer, Branch – from the slip and the insurer master</a:t>
                      </a:r>
                    </a:p>
                    <a:p>
                      <a:r>
                        <a:rPr sz="900" b="0">
                          <a:solidFill>
                            <a:srgbClr val="4B4B4B"/>
                          </a:solidFill>
                          <a:latin typeface="Arial"/>
                        </a:rPr>
                        <a:t>Accounts: ARN, Insured, Product, Period, Sum insured, Gross premium; hold cover when requested – from the accounts</a:t>
                      </a:r>
                    </a:p>
                    <a:p>
                      <a:r>
                        <a:rPr sz="900" b="0">
                          <a:solidFill>
                            <a:srgbClr val="4B4B4B"/>
                          </a:solidFill>
                          <a:latin typeface="Arial"/>
                        </a:rPr>
                        <a:t>Excel: Slip No., ARN, Client Code, Insured, Product, Line, Cover Type, Period From, Period To, Sum Insured, Net Premium, Gross Premium, Mortgagee Bank, Risk Items</a:t>
                      </a:r>
                    </a:p>
                    <a:p>
                      <a:r>
                        <a:rPr sz="900" b="0">
                          <a:solidFill>
                            <a:srgbClr val="4B4B4B"/>
                          </a:solidFill>
                          <a:latin typeface="Arial"/>
                        </a:rPr>
                        <a:t>Placement text – from the template PLACEMENT_SLIP</a:t>
                      </a:r>
                    </a:p>
                  </a:txBody>
                  <a:tcPr marL="54864" marR="54864" marT="27432" marB="27432">
                    <a:solidFill>
                      <a:srgbClr val="FFFFFF"/>
                    </a:solidFill>
                  </a:tcPr>
                </a:tc>
              </a:tr>
            </a:tbl>
          </a:graphicData>
        </a:graphic>
      </p:graphicFrame>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Hold cover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601</a:t>
            </a:r>
          </a:p>
        </p:txBody>
      </p:sp>
      <p:pic>
        <p:nvPicPr>
          <p:cNvPr id="9" name="Picture 8" descr="doc-hold-cover.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4173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HOLD_COVER_REQUEST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Account Placement › Request Hold Cover (e-mailed to the insurer)</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5029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ARN, insured, insurer, start of the hold cover and its expiry (HOLD_COVER_DAYS) – from the account and the request</a:t>
                      </a:r>
                    </a:p>
                    <a:p>
                      <a:r>
                        <a:rPr sz="900" b="0">
                          <a:solidFill>
                            <a:srgbClr val="4B4B4B"/>
                          </a:solidFill>
                          <a:latin typeface="Arial"/>
                        </a:rPr>
                        <a:t>Request text – from the template HOLD_COVER_REQUEST</a:t>
                      </a:r>
                    </a:p>
                  </a:txBody>
                  <a:tcPr marL="54864" marR="54864" marT="27432" marB="27432">
                    <a:solidFill>
                      <a:srgbClr val="FFFFFF"/>
                    </a:solidFill>
                  </a:tcPr>
                </a:tc>
              </a:tr>
            </a:tbl>
          </a:graphicData>
        </a:graphic>
      </p:graphicFrame>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DO-07 Insurance Advice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602</a:t>
            </a:r>
          </a:p>
        </p:txBody>
      </p:sp>
      <p:pic>
        <p:nvPicPr>
          <p:cNvPr id="9" name="Picture 8" descr="doc-insurance-advic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INSURANCE_ADVICE</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Automatically on policy issue (parameter IA_TRIGGER) or Generate Insurance Advice; Insurance Advice › PDF</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IA number, Account Reference Number, Insured, Insurer, Policy no., Period, Mortgagee, Loan application no. – from the account and the issued policy</a:t>
                      </a:r>
                    </a:p>
                    <a:p>
                      <a:r>
                        <a:rPr sz="900" b="0">
                          <a:solidFill>
                            <a:srgbClr val="4B4B4B"/>
                          </a:solidFill>
                          <a:latin typeface="Arial"/>
                        </a:rPr>
                        <a:t>Insured items: No., Item, Sum insured – from the account's risk items</a:t>
                      </a:r>
                    </a:p>
                    <a:p>
                      <a:r>
                        <a:rPr sz="900" b="0">
                          <a:solidFill>
                            <a:srgbClr val="4B4B4B"/>
                          </a:solidFill>
                          <a:latin typeface="Arial"/>
                        </a:rPr>
                        <a:t>Advice text – from the template INSURANCE_ADVICE; Authorized signatory</a:t>
                      </a:r>
                    </a:p>
                  </a:txBody>
                  <a:tcPr marL="54864" marR="54864" marT="27432" marB="27432">
                    <a:solidFill>
                      <a:srgbClr val="FFFFFF"/>
                    </a:solidFill>
                  </a:tcPr>
                </a:tc>
              </a:tr>
            </a:tbl>
          </a:graphicData>
        </a:graphic>
      </p:graphicFrame>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DO-08 Service invoice and service invoice credit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603</a:t>
            </a:r>
          </a:p>
        </p:txBody>
      </p:sp>
      <p:pic>
        <p:nvPicPr>
          <p:cNvPr id="9" name="Picture 8" descr="doc-service-invoic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SERVICE_INVOICE_NOTE</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(Word copy offered)</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At booking and endorsement by the active service invoice types; Service Invoices › Download PDF</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Service invoice no., Recipient, Code, Issue date, Booked invoice, Account (ARN), Credit of – from the service invoice</a:t>
                      </a:r>
                    </a:p>
                    <a:p>
                      <a:r>
                        <a:rPr sz="900" b="0">
                          <a:solidFill>
                            <a:srgbClr val="4B4B4B"/>
                          </a:solidFill>
                          <a:latin typeface="Arial"/>
                        </a:rPr>
                        <a:t>Lines: Brokerage commission, VAT on commission, Less withholding tax, Net amount – from the booking's commission (BOOKING_WTAX_RATE)</a:t>
                      </a:r>
                    </a:p>
                    <a:p>
                      <a:r>
                        <a:rPr sz="900" b="0">
                          <a:solidFill>
                            <a:srgbClr val="4B4B4B"/>
                          </a:solidFill>
                          <a:latin typeface="Arial"/>
                        </a:rPr>
                        <a:t>Signatures: Prepared by, Approved by</a:t>
                      </a:r>
                    </a:p>
                  </a:txBody>
                  <a:tcPr marL="54864" marR="54864" marT="27432" marB="27432">
                    <a:solidFill>
                      <a:srgbClr val="FFFFFF"/>
                    </a:solidFill>
                  </a:tcPr>
                </a:tc>
              </a:tr>
            </a:tbl>
          </a:graphicData>
        </a:graphic>
      </p:graphicFrame>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DO-09 CLPC billing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604</a:t>
            </a:r>
          </a:p>
        </p:txBody>
      </p:sp>
      <p:pic>
        <p:nvPicPr>
          <p:cNvPr id="9" name="Picture 8" descr="doc-clpc-billing.png"/>
          <p:cNvPicPr>
            <a:picLocks noChangeAspect="1"/>
          </p:cNvPicPr>
          <p:nvPr/>
        </p:nvPicPr>
        <p:blipFill>
          <a:blip r:embed="rId3"/>
          <a:stretch>
            <a:fillRect/>
          </a:stretch>
        </p:blipFill>
        <p:spPr>
          <a:xfrm>
            <a:off x="548640" y="1261872"/>
            <a:ext cx="5669280" cy="457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4173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(file layout)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(.xlsx) or OpenDocument (.ods)</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CLPC Billing › Excel / ODS of a billing batch</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5029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Columns: PN No., Loan Application No., Booking Date, Borrower, Originating Unit, Premium, Reference (the ARN), BDOI Location, Amortised – from the CBG Fire accounts of the batch</a:t>
                      </a:r>
                    </a:p>
                  </a:txBody>
                  <a:tcPr marL="54864" marR="54864" marT="27432" marB="27432">
                    <a:solidFill>
                      <a:srgbClr val="FFFFFF"/>
                    </a:solidFill>
                  </a:tcPr>
                </a:tc>
              </a:tr>
            </a:tbl>
          </a:graphicData>
        </a:graphic>
      </p:graphicFrame>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DO-10 Reports (New Business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605</a:t>
            </a:r>
          </a:p>
        </p:txBody>
      </p:sp>
      <p:pic>
        <p:nvPicPr>
          <p:cNvPr id="9" name="Picture 8" descr="doc-report.png"/>
          <p:cNvPicPr>
            <a:picLocks noChangeAspect="1"/>
          </p:cNvPicPr>
          <p:nvPr/>
        </p:nvPicPr>
        <p:blipFill>
          <a:blip r:embed="rId3"/>
          <a:stretch>
            <a:fillRect/>
          </a:stretch>
        </p:blipFill>
        <p:spPr>
          <a:xfrm>
            <a:off x="548640" y="1261872"/>
            <a:ext cx="5669280" cy="4006549"/>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2801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ODS, CSV, XML; printed with the report header</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New Business Reports › a report › Print or the download buttons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3657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report title, company, parameters, run by and time; columns of each report as in section Reports and documents of the FRS</a:t>
                      </a:r>
                    </a:p>
                  </a:txBody>
                  <a:tcPr marL="54864" marR="54864" marT="27432" marB="27432">
                    <a:solidFill>
                      <a:srgbClr val="FFFFFF"/>
                    </a:solidFill>
                  </a:tcPr>
                </a:tc>
              </a:tr>
            </a:tbl>
          </a:graphicData>
        </a:graphic>
      </p:graphicFrame>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606</a:t>
            </a:r>
          </a:p>
        </p:txBody>
      </p:sp>
      <p:graphicFrame>
        <p:nvGraphicFramePr>
          <p:cNvPr id="9" name="Table 8"/>
          <p:cNvGraphicFramePr>
            <a:graphicFrameLocks noGrp="1"/>
          </p:cNvGraphicFramePr>
          <p:nvPr/>
        </p:nvGraphicFramePr>
        <p:xfrm>
          <a:off x="548640" y="1325880"/>
          <a:ext cx="11094413" cy="4282414"/>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480057">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client, quotation, PRF or account moves to another stage (any workflow action, including return and void)</a:t>
                      </a:r>
                    </a:p>
                  </a:txBody>
                  <a:tcPr marL="54864" marR="54864" marT="27432" marB="27432">
                    <a:solidFill>
                      <a:srgbClr val="FFFFFF"/>
                    </a:solidFill>
                  </a:tcPr>
                </a:tc>
                <a:tc>
                  <a:txBody>
                    <a:bodyPr/>
                    <a:lstStyle/>
                    <a:p>
                      <a:r>
                        <a:rPr sz="850" b="0">
                          <a:solidFill>
                            <a:srgbClr val="4B4B4B"/>
                          </a:solidFill>
                          <a:latin typeface="Arial"/>
                        </a:rPr>
                        <a:t>The creator of the record and its current assignee, unless they made the move themselves</a:t>
                      </a:r>
                    </a:p>
                  </a:txBody>
                  <a:tcPr marL="54864" marR="54864" marT="27432" marB="27432">
                    <a:solidFill>
                      <a:srgbClr val="FFFFFF"/>
                    </a:solidFill>
                  </a:tcPr>
                </a:tc>
                <a:tc>
                  <a:txBody>
                    <a:bodyPr/>
                    <a:lstStyle/>
                    <a:p>
                      <a:r>
                        <a:rPr sz="850" b="0">
                          <a:solidFill>
                            <a:srgbClr val="4B4B4B"/>
                          </a:solidFill>
                          <a:latin typeface="Arial"/>
                        </a:rPr>
                        <a:t>Title: &lt;reference&gt;: &lt;new stage name&gt;. Text: &lt;record description&gt; - &lt;comment&gt;</a:t>
                      </a:r>
                    </a:p>
                  </a:txBody>
                  <a:tcPr marL="54864" marR="54864" marT="27432" marB="27432">
                    <a:solidFill>
                      <a:srgbClr val="FFFFFF"/>
                    </a:solidFill>
                  </a:tcPr>
                </a:tc>
              </a:tr>
              <a:tr h="350518">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team leader assigns a work item to a user (My Work, TSU Workbench)</a:t>
                      </a:r>
                    </a:p>
                  </a:txBody>
                  <a:tcPr marL="54864" marR="54864" marT="27432" marB="27432">
                    <a:solidFill>
                      <a:srgbClr val="E5F5FF"/>
                    </a:solidFill>
                  </a:tcPr>
                </a:tc>
                <a:tc>
                  <a:txBody>
                    <a:bodyPr/>
                    <a:lstStyle/>
                    <a:p>
                      <a:r>
                        <a:rPr sz="850" b="0">
                          <a:solidFill>
                            <a:srgbClr val="4B4B4B"/>
                          </a:solidFill>
                          <a:latin typeface="Arial"/>
                        </a:rPr>
                        <a:t>The new assignee, unless the team leader assigns it to himself</a:t>
                      </a:r>
                    </a:p>
                  </a:txBody>
                  <a:tcPr marL="54864" marR="54864" marT="27432" marB="27432">
                    <a:solidFill>
                      <a:srgbClr val="E5F5FF"/>
                    </a:solidFill>
                  </a:tcPr>
                </a:tc>
                <a:tc>
                  <a:txBody>
                    <a:bodyPr/>
                    <a:lstStyle/>
                    <a:p>
                      <a:r>
                        <a:rPr sz="850" b="0">
                          <a:solidFill>
                            <a:srgbClr val="4B4B4B"/>
                          </a:solidFill>
                          <a:latin typeface="Arial"/>
                        </a:rPr>
                        <a:t>Title: &lt;reference&gt; assigned to you. Text: &lt;record description&gt;</a:t>
                      </a:r>
                    </a:p>
                  </a:txBody>
                  <a:tcPr marL="54864" marR="54864" marT="27432" marB="27432">
                    <a:solidFill>
                      <a:srgbClr val="E5F5FF"/>
                    </a:solidFill>
                  </a:tcPr>
                </a:tc>
              </a:tr>
              <a:tr h="480057">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The monthly KYC_REVIEW_DUE job (1st of the month, 10:00 PHT) finds non-bank clients whose KYC review is overdue or due within KYC_DUE_WINDOW_DAYS</a:t>
                      </a:r>
                    </a:p>
                  </a:txBody>
                  <a:tcPr marL="54864" marR="54864" marT="27432" marB="27432">
                    <a:solidFill>
                      <a:srgbClr val="FFFFFF"/>
                    </a:solidFill>
                  </a:tcPr>
                </a:tc>
                <a:tc>
                  <a:txBody>
                    <a:bodyPr/>
                    <a:lstStyle/>
                    <a:p>
                      <a:r>
                        <a:rPr sz="850" b="0">
                          <a:solidFill>
                            <a:srgbClr val="4B4B4B"/>
                          </a:solidFill>
                          <a:latin typeface="Arial"/>
                        </a:rPr>
                        <a:t>Every user with CLIENT_MAINTAIN (Account Officers and Marketing TL)</a:t>
                      </a:r>
                    </a:p>
                  </a:txBody>
                  <a:tcPr marL="54864" marR="54864" marT="27432" marB="27432">
                    <a:solidFill>
                      <a:srgbClr val="FFFFFF"/>
                    </a:solidFill>
                  </a:tcPr>
                </a:tc>
                <a:tc>
                  <a:txBody>
                    <a:bodyPr/>
                    <a:lstStyle/>
                    <a:p>
                      <a:r>
                        <a:rPr sz="850" b="0">
                          <a:solidFill>
                            <a:srgbClr val="4B4B4B"/>
                          </a:solidFill>
                          <a:latin typeface="Arial"/>
                        </a:rPr>
                        <a:t>Title: KYC reviews due: &lt;n&gt; client(s). Text: Non-bank clients whose periodic KYC review is overdue or due by &lt;date&gt; (BRNB.110).</a:t>
                      </a:r>
                    </a:p>
                  </a:txBody>
                  <a:tcPr marL="54864" marR="54864" marT="27432" marB="27432">
                    <a:solidFill>
                      <a:srgbClr val="FFFFFF"/>
                    </a:solidFill>
                  </a:tcPr>
                </a:tc>
              </a:tr>
              <a:tr h="480057">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daily HOLD_COVER_EXPIRY job (08:30 PHT) finds a hold cover expiring within HOLD_COVER_ALERT_DAYS (5) on an account whose policy is not yet received</a:t>
                      </a:r>
                    </a:p>
                  </a:txBody>
                  <a:tcPr marL="54864" marR="54864" marT="27432" marB="27432">
                    <a:solidFill>
                      <a:srgbClr val="E5F5FF"/>
                    </a:solidFill>
                  </a:tcPr>
                </a:tc>
                <a:tc>
                  <a:txBody>
                    <a:bodyPr/>
                    <a:lstStyle/>
                    <a:p>
                      <a:r>
                        <a:rPr sz="850" b="0">
                          <a:solidFill>
                            <a:srgbClr val="4B4B4B"/>
                          </a:solidFill>
                          <a:latin typeface="Arial"/>
                        </a:rPr>
                        <a:t>Every user with PLACEMENT_MANAGE (Processing)</a:t>
                      </a:r>
                    </a:p>
                  </a:txBody>
                  <a:tcPr marL="54864" marR="54864" marT="27432" marB="27432">
                    <a:solidFill>
                      <a:srgbClr val="E5F5FF"/>
                    </a:solidFill>
                  </a:tcPr>
                </a:tc>
                <a:tc>
                  <a:txBody>
                    <a:bodyPr/>
                    <a:lstStyle/>
                    <a:p>
                      <a:r>
                        <a:rPr sz="850" b="0">
                          <a:solidFill>
                            <a:srgbClr val="4B4B4B"/>
                          </a:solidFill>
                          <a:latin typeface="Arial"/>
                        </a:rPr>
                        <a:t>Title: Hold cover expiring: &lt;ARN&gt;. Text: The hold cover of &lt;insurer&gt; expires on &lt;date&gt;; the policy has not been received yet.</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The same job expires a hold cover whose expiry date has passed while the policy is not received</a:t>
                      </a:r>
                    </a:p>
                  </a:txBody>
                  <a:tcPr marL="54864" marR="54864" marT="27432" marB="27432">
                    <a:solidFill>
                      <a:srgbClr val="FFFFFF"/>
                    </a:solidFill>
                  </a:tcPr>
                </a:tc>
                <a:tc>
                  <a:txBody>
                    <a:bodyPr/>
                    <a:lstStyle/>
                    <a:p>
                      <a:r>
                        <a:rPr sz="850" b="0">
                          <a:solidFill>
                            <a:srgbClr val="4B4B4B"/>
                          </a:solidFill>
                          <a:latin typeface="Arial"/>
                        </a:rPr>
                        <a:t>Every user with PLACEMENT_MANAGE (Processing)</a:t>
                      </a:r>
                    </a:p>
                  </a:txBody>
                  <a:tcPr marL="54864" marR="54864" marT="27432" marB="27432">
                    <a:solidFill>
                      <a:srgbClr val="FFFFFF"/>
                    </a:solidFill>
                  </a:tcPr>
                </a:tc>
                <a:tc>
                  <a:txBody>
                    <a:bodyPr/>
                    <a:lstStyle/>
                    <a:p>
                      <a:r>
                        <a:rPr sz="850" b="0">
                          <a:solidFill>
                            <a:srgbClr val="4B4B4B"/>
                          </a:solidFill>
                          <a:latin typeface="Arial"/>
                        </a:rPr>
                        <a:t>Title: Hold cover expired: &lt;ARN&gt;. Text: The hold cover of &lt;insurer&gt; expired on &lt;date&gt;; the policy has not been received yet.</a:t>
                      </a:r>
                    </a:p>
                  </a:txBody>
                  <a:tcPr marL="54864" marR="54864" marT="27432" marB="27432">
                    <a:solidFill>
                      <a:srgbClr val="FFFFFF"/>
                    </a:solidFill>
                  </a:tcPr>
                </a:tc>
              </a:tr>
              <a:tr h="480057">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An e-policy is stored on its account (single or bulk upload) and the document trigger opens its extraction review</a:t>
                      </a:r>
                    </a:p>
                  </a:txBody>
                  <a:tcPr marL="54864" marR="54864" marT="27432" marB="27432">
                    <a:solidFill>
                      <a:srgbClr val="E5F5FF"/>
                    </a:solidFill>
                  </a:tcPr>
                </a:tc>
                <a:tc>
                  <a:txBody>
                    <a:bodyPr/>
                    <a:lstStyle/>
                    <a:p>
                      <a:r>
                        <a:rPr sz="850" b="0">
                          <a:solidFill>
                            <a:srgbClr val="4B4B4B"/>
                          </a:solidFill>
                          <a:latin typeface="Arial"/>
                        </a:rPr>
                        <a:t>Every user with EPOLICY_MANAGE (Processing) except the user who uploaded the file</a:t>
                      </a:r>
                    </a:p>
                  </a:txBody>
                  <a:tcPr marL="54864" marR="54864" marT="27432" marB="27432">
                    <a:solidFill>
                      <a:srgbClr val="E5F5FF"/>
                    </a:solidFill>
                  </a:tcPr>
                </a:tc>
                <a:tc>
                  <a:txBody>
                    <a:bodyPr/>
                    <a:lstStyle/>
                    <a:p>
                      <a:r>
                        <a:rPr sz="850" b="0">
                          <a:solidFill>
                            <a:srgbClr val="4B4B4B"/>
                          </a:solidFill>
                          <a:latin typeface="Arial"/>
                        </a:rPr>
                        <a:t>Title: E-policy to review: &lt;ARN&gt;. Text: &lt;file name&gt; was received; check the extracted policy data</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service invoice e-mail is delivered, fails, or cannot be sent because the recipient has no billing e-mail</a:t>
                      </a:r>
                    </a:p>
                  </a:txBody>
                  <a:tcPr marL="54864" marR="54864" marT="27432" marB="27432">
                    <a:solidFill>
                      <a:srgbClr val="FFFFFF"/>
                    </a:solidFill>
                  </a:tcPr>
                </a:tc>
                <a:tc>
                  <a:txBody>
                    <a:bodyPr/>
                    <a:lstStyle/>
                    <a:p>
                      <a:r>
                        <a:rPr sz="850" b="0">
                          <a:solidFill>
                            <a:srgbClr val="4B4B4B"/>
                          </a:solidFill>
                          <a:latin typeface="Arial"/>
                        </a:rPr>
                        <a:t>The owner user and the owner team (permission) of the service invoice type</a:t>
                      </a:r>
                    </a:p>
                  </a:txBody>
                  <a:tcPr marL="54864" marR="54864" marT="27432" marB="27432">
                    <a:solidFill>
                      <a:srgbClr val="FFFFFF"/>
                    </a:solidFill>
                  </a:tcPr>
                </a:tc>
                <a:tc>
                  <a:txBody>
                    <a:bodyPr/>
                    <a:lstStyle/>
                    <a:p>
                      <a:r>
                        <a:rPr sz="850" b="0">
                          <a:solidFill>
                            <a:srgbClr val="4B4B4B"/>
                          </a:solidFill>
                          <a:latin typeface="Arial"/>
                        </a:rPr>
                        <a:t>Title: Service invoice &lt;SI No.&gt; sent / not delivered / not sent. Text: Sent to &lt;recipient&gt; (&lt;e-mail&gt;) / &lt;delivery error&gt; / No billing e-mail address for &lt;recipient code&gt;</a:t>
                      </a:r>
                    </a:p>
                  </a:txBody>
                  <a:tcPr marL="54864" marR="54864" marT="27432" marB="27432">
                    <a:solidFill>
                      <a:srgbClr val="FFFFFF"/>
                    </a:solidFill>
                  </a:tcPr>
                </a:tc>
              </a:tr>
              <a:tr h="480057">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An account is booked with an insurer billing number (Employee Benefits lines)</a:t>
                      </a:r>
                    </a:p>
                  </a:txBody>
                  <a:tcPr marL="54864" marR="54864" marT="27432" marB="27432">
                    <a:solidFill>
                      <a:srgbClr val="E5F5FF"/>
                    </a:solidFill>
                  </a:tcPr>
                </a:tc>
                <a:tc>
                  <a:txBody>
                    <a:bodyPr/>
                    <a:lstStyle/>
                    <a:p>
                      <a:r>
                        <a:rPr sz="850" b="0">
                          <a:solidFill>
                            <a:srgbClr val="4B4B4B"/>
                          </a:solidFill>
                          <a:latin typeface="Arial"/>
                        </a:rPr>
                        <a:t>The user who booked and the Account Officer (unless switched off in Notification Settings)</a:t>
                      </a:r>
                    </a:p>
                  </a:txBody>
                  <a:tcPr marL="54864" marR="54864" marT="27432" marB="27432">
                    <a:solidFill>
                      <a:srgbClr val="E5F5FF"/>
                    </a:solidFill>
                  </a:tcPr>
                </a:tc>
                <a:tc>
                  <a:txBody>
                    <a:bodyPr/>
                    <a:lstStyle/>
                    <a:p>
                      <a:r>
                        <a:rPr sz="850" b="0">
                          <a:solidFill>
                            <a:srgbClr val="4B4B4B"/>
                          </a:solidFill>
                          <a:latin typeface="Arial"/>
                        </a:rPr>
                        <a:t>Title: Booked &lt;invoice&gt; with billing number. Text: &lt;ARN&gt; was booked as &lt;invoice&gt; with insurer billing number &lt;billing no&gt;.</a:t>
                      </a:r>
                    </a:p>
                  </a:txBody>
                  <a:tcPr marL="54864" marR="54864" marT="27432" marB="27432">
                    <a:solidFill>
                      <a:srgbClr val="E5F5FF"/>
                    </a:solidFill>
                  </a:tcPr>
                </a:tc>
              </a:tr>
              <a:tr h="480057">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booking is refused because the insurer billing number is already on another invoice</a:t>
                      </a:r>
                    </a:p>
                  </a:txBody>
                  <a:tcPr marL="54864" marR="54864" marT="27432" marB="27432">
                    <a:solidFill>
                      <a:srgbClr val="FFFFFF"/>
                    </a:solidFill>
                  </a:tcPr>
                </a:tc>
                <a:tc>
                  <a:txBody>
                    <a:bodyPr/>
                    <a:lstStyle/>
                    <a:p>
                      <a:r>
                        <a:rPr sz="850" b="0">
                          <a:solidFill>
                            <a:srgbClr val="4B4B4B"/>
                          </a:solidFill>
                          <a:latin typeface="Arial"/>
                        </a:rPr>
                        <a:t>The user who booked and the Account Officer (unless switched off in Notification Settings)</a:t>
                      </a:r>
                    </a:p>
                  </a:txBody>
                  <a:tcPr marL="54864" marR="54864" marT="27432" marB="27432">
                    <a:solidFill>
                      <a:srgbClr val="FFFFFF"/>
                    </a:solidFill>
                  </a:tcPr>
                </a:tc>
                <a:tc>
                  <a:txBody>
                    <a:bodyPr/>
                    <a:lstStyle/>
                    <a:p>
                      <a:r>
                        <a:rPr sz="850" b="0">
                          <a:solidFill>
                            <a:srgbClr val="4B4B4B"/>
                          </a:solidFill>
                          <a:latin typeface="Arial"/>
                        </a:rPr>
                        <a:t>Title: Duplicate billing number on &lt;ARN&gt;. Text: &lt;refusal message&gt;</a:t>
                      </a:r>
                    </a:p>
                  </a:txBody>
                  <a:tcPr marL="54864" marR="54864" marT="27432" marB="27432">
                    <a:solidFill>
                      <a:srgbClr val="FFFFFF"/>
                    </a:solidFill>
                  </a:tcPr>
                </a:tc>
              </a:tr>
            </a:tbl>
          </a:graphicData>
        </a:graphic>
      </p:graphicFrame>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607</a:t>
            </a:r>
          </a:p>
        </p:txBody>
      </p:sp>
      <p:graphicFrame>
        <p:nvGraphicFramePr>
          <p:cNvPr id="9" name="Table 8"/>
          <p:cNvGraphicFramePr>
            <a:graphicFrameLocks noGrp="1"/>
          </p:cNvGraphicFramePr>
          <p:nvPr/>
        </p:nvGraphicFramePr>
        <p:xfrm>
          <a:off x="548640" y="1325880"/>
          <a:ext cx="11094413" cy="4747229"/>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739135">
                <a:tc>
                  <a:txBody>
                    <a:bodyPr/>
                    <a:lstStyle/>
                    <a:p>
                      <a:r>
                        <a:rPr sz="850" b="0">
                          <a:solidFill>
                            <a:srgbClr val="4B4B4B"/>
                          </a:solidFill>
                          <a:latin typeface="Arial"/>
                        </a:rPr>
                        <a:t>NT-10</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via Email on an approved quotation, or the batch send of approved quotations (one e-mail per client)</a:t>
                      </a:r>
                    </a:p>
                  </a:txBody>
                  <a:tcPr marL="54864" marR="54864" marT="27432" marB="27432">
                    <a:solidFill>
                      <a:srgbClr val="FFFFFF"/>
                    </a:solidFill>
                  </a:tcPr>
                </a:tc>
                <a:tc>
                  <a:txBody>
                    <a:bodyPr/>
                    <a:lstStyle/>
                    <a:p>
                      <a:r>
                        <a:rPr sz="850" b="0">
                          <a:solidFill>
                            <a:srgbClr val="4B4B4B"/>
                          </a:solidFill>
                          <a:latin typeface="Arial"/>
                        </a:rPr>
                        <a:t>The client (address on file, changeable in the dialog) and any Cc</a:t>
                      </a:r>
                    </a:p>
                  </a:txBody>
                  <a:tcPr marL="54864" marR="54864" marT="27432" marB="27432">
                    <a:solidFill>
                      <a:srgbClr val="FFFFFF"/>
                    </a:solidFill>
                  </a:tcPr>
                </a:tc>
                <a:tc>
                  <a:txBody>
                    <a:bodyPr/>
                    <a:lstStyle/>
                    <a:p>
                      <a:r>
                        <a:rPr sz="850" b="0">
                          <a:solidFill>
                            <a:srgbClr val="4B4B4B"/>
                          </a:solidFill>
                          <a:latin typeface="Arial"/>
                        </a:rPr>
                        <a:t>Subject: Insurance quotation &lt;Quotation No.&gt; – &lt;product&gt;. Body: Dear &lt;client&gt;, Please find attached our quotation &lt;Quotation No.&gt; (ARN &lt;ARN&gt;), valid until &lt;date&gt;. The documents are password protected; the password follows in a separate e-mail. To proceed, reply to this e-mail confirming your acceptance. BDO Insurance and Reinsurance Brokers, Inc.</a:t>
                      </a:r>
                    </a:p>
                  </a:txBody>
                  <a:tcPr marL="54864" marR="54864" marT="27432" marB="27432">
                    <a:solidFill>
                      <a:srgbClr val="FFFFFF"/>
                    </a:solidFill>
                  </a:tcPr>
                </a:tc>
              </a:tr>
              <a:tr h="609596">
                <a:tc>
                  <a:txBody>
                    <a:bodyPr/>
                    <a:lstStyle/>
                    <a:p>
                      <a:r>
                        <a:rPr sz="850" b="0">
                          <a:solidFill>
                            <a:srgbClr val="4B4B4B"/>
                          </a:solidFill>
                          <a:latin typeface="Arial"/>
                        </a:rPr>
                        <a:t>NT-11</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Approve and send to insurers on a quotation slip</a:t>
                      </a:r>
                    </a:p>
                  </a:txBody>
                  <a:tcPr marL="54864" marR="54864" marT="27432" marB="27432">
                    <a:solidFill>
                      <a:srgbClr val="E5F5FF"/>
                    </a:solidFill>
                  </a:tcPr>
                </a:tc>
                <a:tc>
                  <a:txBody>
                    <a:bodyPr/>
                    <a:lstStyle/>
                    <a:p>
                      <a:r>
                        <a:rPr sz="850" b="0">
                          <a:solidFill>
                            <a:srgbClr val="4B4B4B"/>
                          </a:solidFill>
                          <a:latin typeface="Arial"/>
                        </a:rPr>
                        <a:t>The placement e-mail address of each insurer approached</a:t>
                      </a:r>
                    </a:p>
                  </a:txBody>
                  <a:tcPr marL="54864" marR="54864" marT="27432" marB="27432">
                    <a:solidFill>
                      <a:srgbClr val="E5F5FF"/>
                    </a:solidFill>
                  </a:tcPr>
                </a:tc>
                <a:tc>
                  <a:txBody>
                    <a:bodyPr/>
                    <a:lstStyle/>
                    <a:p>
                      <a:r>
                        <a:rPr sz="850" b="0">
                          <a:solidFill>
                            <a:srgbClr val="4B4B4B"/>
                          </a:solidFill>
                          <a:latin typeface="Arial"/>
                        </a:rPr>
                        <a:t>Subject: Quotation slip &lt;QS No.&gt; - &lt;client&gt;. Body: Dear &lt;insurer&gt;, Please find attached our quotation slip &lt;QS No.&gt; for &lt;product&gt;. Kindly send your best terms on or before &lt;reply date&gt;. The document is password protected; the password follows separately. BDO Insurance and Reinsurance Brokers, Inc.</a:t>
                      </a:r>
                    </a:p>
                  </a:txBody>
                  <a:tcPr marL="54864" marR="54864" marT="27432" marB="27432">
                    <a:solidFill>
                      <a:srgbClr val="E5F5FF"/>
                    </a:solidFill>
                  </a:tcPr>
                </a:tc>
              </a:tr>
              <a:tr h="739135">
                <a:tc>
                  <a:txBody>
                    <a:bodyPr/>
                    <a:lstStyle/>
                    <a:p>
                      <a:r>
                        <a:rPr sz="850" b="0">
                          <a:solidFill>
                            <a:srgbClr val="4B4B4B"/>
                          </a:solidFill>
                          <a:latin typeface="Arial"/>
                        </a:rPr>
                        <a:t>NT-12</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via Email on a released proposal slip</a:t>
                      </a:r>
                    </a:p>
                  </a:txBody>
                  <a:tcPr marL="54864" marR="54864" marT="27432" marB="27432">
                    <a:solidFill>
                      <a:srgbClr val="FFFFFF"/>
                    </a:solidFill>
                  </a:tcPr>
                </a:tc>
                <a:tc>
                  <a:txBody>
                    <a:bodyPr/>
                    <a:lstStyle/>
                    <a:p>
                      <a:r>
                        <a:rPr sz="850" b="0">
                          <a:solidFill>
                            <a:srgbClr val="4B4B4B"/>
                          </a:solidFill>
                          <a:latin typeface="Arial"/>
                        </a:rPr>
                        <a:t>The client and any Cc</a:t>
                      </a:r>
                    </a:p>
                  </a:txBody>
                  <a:tcPr marL="54864" marR="54864" marT="27432" marB="27432">
                    <a:solidFill>
                      <a:srgbClr val="FFFFFF"/>
                    </a:solidFill>
                  </a:tcPr>
                </a:tc>
                <a:tc>
                  <a:txBody>
                    <a:bodyPr/>
                    <a:lstStyle/>
                    <a:p>
                      <a:r>
                        <a:rPr sz="850" b="0">
                          <a:solidFill>
                            <a:srgbClr val="4B4B4B"/>
                          </a:solidFill>
                          <a:latin typeface="Arial"/>
                        </a:rPr>
                        <a:t>Subject: Insurance proposal &lt;PS No.&gt; – &lt;product&gt;. Body: Dear &lt;client&gt;, Please find attached our proposal slip &lt;PS No.&gt; and the comparative table of the terms received from the insurers approached (ARN &lt;ARN&gt;). The documents are password protected; the password follows in a separate e-mail. To proceed, reply to this e-mail confirming your acceptance. BDO Insurance and Reinsurance Brokers, Inc.</a:t>
                      </a:r>
                    </a:p>
                  </a:txBody>
                  <a:tcPr marL="54864" marR="54864" marT="27432" marB="27432">
                    <a:solidFill>
                      <a:srgbClr val="FFFFFF"/>
                    </a:solidFill>
                  </a:tcPr>
                </a:tc>
              </a:tr>
              <a:tr h="609596">
                <a:tc>
                  <a:txBody>
                    <a:bodyPr/>
                    <a:lstStyle/>
                    <a:p>
                      <a:r>
                        <a:rPr sz="850" b="0">
                          <a:solidFill>
                            <a:srgbClr val="4B4B4B"/>
                          </a:solidFill>
                          <a:latin typeface="Arial"/>
                        </a:rPr>
                        <a:t>NT-13</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Slips on the Placement Workbench, or Send / Resend on a placement slip</a:t>
                      </a:r>
                    </a:p>
                  </a:txBody>
                  <a:tcPr marL="54864" marR="54864" marT="27432" marB="27432">
                    <a:solidFill>
                      <a:srgbClr val="E5F5FF"/>
                    </a:solidFill>
                  </a:tcPr>
                </a:tc>
                <a:tc>
                  <a:txBody>
                    <a:bodyPr/>
                    <a:lstStyle/>
                    <a:p>
                      <a:r>
                        <a:rPr sz="850" b="0">
                          <a:solidFill>
                            <a:srgbClr val="4B4B4B"/>
                          </a:solidFill>
                          <a:latin typeface="Arial"/>
                        </a:rPr>
                        <a:t>The placement e-mail address of the insurer branch (changeable in the dialog)</a:t>
                      </a:r>
                    </a:p>
                  </a:txBody>
                  <a:tcPr marL="54864" marR="54864" marT="27432" marB="27432">
                    <a:solidFill>
                      <a:srgbClr val="E5F5FF"/>
                    </a:solidFill>
                  </a:tcPr>
                </a:tc>
                <a:tc>
                  <a:txBody>
                    <a:bodyPr/>
                    <a:lstStyle/>
                    <a:p>
                      <a:r>
                        <a:rPr sz="850" b="0">
                          <a:solidFill>
                            <a:srgbClr val="4B4B4B"/>
                          </a:solidFill>
                          <a:latin typeface="Arial"/>
                        </a:rPr>
                        <a:t>Subject: Placement &lt;slip&gt; - &lt;ARNs&gt;. Body: Dear &lt;insurer&gt;, Please find attached our placement slip &lt;slip&gt; for &lt;n&gt; risk(s) (ARN &lt;ARNs&gt;). Kindly issue the policy and send the e-policy quoting our Account Reference Number. BDO Insurance and Reinsurance Brokers, Inc.</a:t>
                      </a:r>
                    </a:p>
                  </a:txBody>
                  <a:tcPr marL="54864" marR="54864" marT="27432" marB="27432">
                    <a:solidFill>
                      <a:srgbClr val="E5F5FF"/>
                    </a:solidFill>
                  </a:tcPr>
                </a:tc>
              </a:tr>
              <a:tr h="609596">
                <a:tc>
                  <a:txBody>
                    <a:bodyPr/>
                    <a:lstStyle/>
                    <a:p>
                      <a:r>
                        <a:rPr sz="850" b="0">
                          <a:solidFill>
                            <a:srgbClr val="4B4B4B"/>
                          </a:solidFill>
                          <a:latin typeface="Arial"/>
                        </a:rPr>
                        <a:t>NT-14</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Request Hold Cover on the account placement</a:t>
                      </a:r>
                    </a:p>
                  </a:txBody>
                  <a:tcPr marL="54864" marR="54864" marT="27432" marB="27432">
                    <a:solidFill>
                      <a:srgbClr val="FFFFFF"/>
                    </a:solidFill>
                  </a:tcPr>
                </a:tc>
                <a:tc>
                  <a:txBody>
                    <a:bodyPr/>
                    <a:lstStyle/>
                    <a:p>
                      <a:r>
                        <a:rPr sz="850" b="0">
                          <a:solidFill>
                            <a:srgbClr val="4B4B4B"/>
                          </a:solidFill>
                          <a:latin typeface="Arial"/>
                        </a:rPr>
                        <a:t>The placement e-mail address of the insurer branch</a:t>
                      </a:r>
                    </a:p>
                  </a:txBody>
                  <a:tcPr marL="54864" marR="54864" marT="27432" marB="27432">
                    <a:solidFill>
                      <a:srgbClr val="FFFFFF"/>
                    </a:solidFill>
                  </a:tcPr>
                </a:tc>
                <a:tc>
                  <a:txBody>
                    <a:bodyPr/>
                    <a:lstStyle/>
                    <a:p>
                      <a:r>
                        <a:rPr sz="850" b="0">
                          <a:solidFill>
                            <a:srgbClr val="4B4B4B"/>
                          </a:solidFill>
                          <a:latin typeface="Arial"/>
                        </a:rPr>
                        <a:t>Subject: Hold cover request - &lt;ARN&gt; - &lt;client&gt;. Body: template HOLD_COVER_REQUEST: Please hold cover the risk below for thirty (30) days from &lt;start date&gt; under reference &lt;ARN&gt; while the placement is being completed. Kindly confirm the hold cover and your reference number.</a:t>
                      </a:r>
                    </a:p>
                  </a:txBody>
                  <a:tcPr marL="54864" marR="54864" marT="27432" marB="27432">
                    <a:solidFill>
                      <a:srgbClr val="FFFFFF"/>
                    </a:solidFill>
                  </a:tcPr>
                </a:tc>
              </a:tr>
              <a:tr h="609596">
                <a:tc>
                  <a:txBody>
                    <a:bodyPr/>
                    <a:lstStyle/>
                    <a:p>
                      <a:r>
                        <a:rPr sz="850" b="0">
                          <a:solidFill>
                            <a:srgbClr val="4B4B4B"/>
                          </a:solidFill>
                          <a:latin typeface="Arial"/>
                        </a:rPr>
                        <a:t>NT-15</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Selected on the Insurance Advice register</a:t>
                      </a:r>
                    </a:p>
                  </a:txBody>
                  <a:tcPr marL="54864" marR="54864" marT="27432" marB="27432">
                    <a:solidFill>
                      <a:srgbClr val="E5F5FF"/>
                    </a:solidFill>
                  </a:tcPr>
                </a:tc>
                <a:tc>
                  <a:txBody>
                    <a:bodyPr/>
                    <a:lstStyle/>
                    <a:p>
                      <a:r>
                        <a:rPr sz="850" b="0">
                          <a:solidFill>
                            <a:srgbClr val="4B4B4B"/>
                          </a:solidFill>
                          <a:latin typeface="Arial"/>
                        </a:rPr>
                        <a:t>The mortgagee bank unit entered in the dialog, and any Cc</a:t>
                      </a:r>
                    </a:p>
                  </a:txBody>
                  <a:tcPr marL="54864" marR="54864" marT="27432" marB="27432">
                    <a:solidFill>
                      <a:srgbClr val="E5F5FF"/>
                    </a:solidFill>
                  </a:tcPr>
                </a:tc>
                <a:tc>
                  <a:txBody>
                    <a:bodyPr/>
                    <a:lstStyle/>
                    <a:p>
                      <a:r>
                        <a:rPr sz="850" b="0">
                          <a:solidFill>
                            <a:srgbClr val="4B4B4B"/>
                          </a:solidFill>
                          <a:latin typeface="Arial"/>
                        </a:rPr>
                        <a:t>Subject: Insurance Advice &lt;IA No.&gt; - &lt;client&gt;. Body: Please find attached Insurance Advice &lt;IA No.&gt; for &lt;client&gt; (our reference &lt;ARN&gt;). The document is password protected; the password follows in a separate e-mail. BDO Insurance and Reinsurance Brokers, Inc.</a:t>
                      </a:r>
                    </a:p>
                  </a:txBody>
                  <a:tcPr marL="54864" marR="54864" marT="27432" marB="27432">
                    <a:solidFill>
                      <a:srgbClr val="E5F5FF"/>
                    </a:solidFill>
                  </a:tcPr>
                </a:tc>
              </a:tr>
              <a:tr h="609596">
                <a:tc>
                  <a:txBody>
                    <a:bodyPr/>
                    <a:lstStyle/>
                    <a:p>
                      <a:r>
                        <a:rPr sz="850" b="0">
                          <a:solidFill>
                            <a:srgbClr val="4B4B4B"/>
                          </a:solidFill>
                          <a:latin typeface="Arial"/>
                        </a:rPr>
                        <a:t>NT-16</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or Send Selected on E-policy Dispatch, or Send E-policies on the Issuance Workbench</a:t>
                      </a:r>
                    </a:p>
                  </a:txBody>
                  <a:tcPr marL="54864" marR="54864" marT="27432" marB="27432">
                    <a:solidFill>
                      <a:srgbClr val="FFFFFF"/>
                    </a:solidFill>
                  </a:tcPr>
                </a:tc>
                <a:tc>
                  <a:txBody>
                    <a:bodyPr/>
                    <a:lstStyle/>
                    <a:p>
                      <a:r>
                        <a:rPr sz="850" b="0">
                          <a:solidFill>
                            <a:srgbClr val="4B4B4B"/>
                          </a:solidFill>
                          <a:latin typeface="Arial"/>
                        </a:rPr>
                        <a:t>The account contact e-mail (changeable for a single send)</a:t>
                      </a:r>
                    </a:p>
                  </a:txBody>
                  <a:tcPr marL="54864" marR="54864" marT="27432" marB="27432">
                    <a:solidFill>
                      <a:srgbClr val="FFFFFF"/>
                    </a:solidFill>
                  </a:tcPr>
                </a:tc>
                <a:tc>
                  <a:txBody>
                    <a:bodyPr/>
                    <a:lstStyle/>
                    <a:p>
                      <a:r>
                        <a:rPr sz="850" b="0">
                          <a:solidFill>
                            <a:srgbClr val="4B4B4B"/>
                          </a:solidFill>
                          <a:latin typeface="Arial"/>
                        </a:rPr>
                        <a:t>Subject: Your e-policy &lt;policy no.&gt;. Body: template EPOLICY_EMAIL: Dear &lt;client&gt;, Attached is your e-policy &lt;policy no.&gt; issued by &lt;insurer&gt; (our reference &lt;ARN&gt;). The document is password protected; the password is sent to you in a separate e-mail. Thank you for insuring through BDO Insurance and Reinsurance Brokers, Inc.</a:t>
                      </a:r>
                    </a:p>
                  </a:txBody>
                  <a:tcPr marL="54864" marR="54864" marT="27432" marB="27432">
                    <a:solidFill>
                      <a:srgbClr val="FFFFFF"/>
                    </a:solidFill>
                  </a:tcPr>
                </a:tc>
              </a:tr>
            </a:tbl>
          </a:graphicData>
        </a:graphic>
      </p:graphicFrame>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608</a:t>
            </a:r>
          </a:p>
        </p:txBody>
      </p:sp>
      <p:graphicFrame>
        <p:nvGraphicFramePr>
          <p:cNvPr id="9" name="Table 8"/>
          <p:cNvGraphicFramePr>
            <a:graphicFrameLocks noGrp="1"/>
          </p:cNvGraphicFramePr>
          <p:nvPr/>
        </p:nvGraphicFramePr>
        <p:xfrm>
          <a:off x="548640" y="1325880"/>
          <a:ext cx="11094413" cy="1790689"/>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480057">
                <a:tc>
                  <a:txBody>
                    <a:bodyPr/>
                    <a:lstStyle/>
                    <a:p>
                      <a:r>
                        <a:rPr sz="850" b="0">
                          <a:solidFill>
                            <a:srgbClr val="4B4B4B"/>
                          </a:solidFill>
                          <a:latin typeface="Arial"/>
                        </a:rPr>
                        <a:t>NT-17</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 booking or endorsement issues a service invoice of a type e-mailed to the insurer; Send via Email on the service invoice</a:t>
                      </a:r>
                    </a:p>
                  </a:txBody>
                  <a:tcPr marL="54864" marR="54864" marT="27432" marB="27432">
                    <a:solidFill>
                      <a:srgbClr val="FFFFFF"/>
                    </a:solidFill>
                  </a:tcPr>
                </a:tc>
                <a:tc>
                  <a:txBody>
                    <a:bodyPr/>
                    <a:lstStyle/>
                    <a:p>
                      <a:r>
                        <a:rPr sz="850" b="0">
                          <a:solidFill>
                            <a:srgbClr val="4B4B4B"/>
                          </a:solidFill>
                          <a:latin typeface="Arial"/>
                        </a:rPr>
                        <a:t>The billing e-mail address of the insurer</a:t>
                      </a:r>
                    </a:p>
                  </a:txBody>
                  <a:tcPr marL="54864" marR="54864" marT="27432" marB="27432">
                    <a:solidFill>
                      <a:srgbClr val="FFFFFF"/>
                    </a:solidFill>
                  </a:tcPr>
                </a:tc>
                <a:tc>
                  <a:txBody>
                    <a:bodyPr/>
                    <a:lstStyle/>
                    <a:p>
                      <a:r>
                        <a:rPr sz="850" b="0">
                          <a:solidFill>
                            <a:srgbClr val="4B4B4B"/>
                          </a:solidFill>
                          <a:latin typeface="Arial"/>
                        </a:rPr>
                        <a:t>Subject: Service invoice &lt;SI No.&gt; (or Service invoice credit &lt;SI No.&gt;). Body: Dear &lt;recipient&gt;, Please find attached our service invoice &lt;SI No.&gt; for invoice &lt;invoice&gt;. BDO Insurance and Reinsurance Brokers, Inc.</a:t>
                      </a:r>
                    </a:p>
                  </a:txBody>
                  <a:tcPr marL="54864" marR="54864" marT="27432" marB="27432">
                    <a:solidFill>
                      <a:srgbClr val="FFFFFF"/>
                    </a:solidFill>
                  </a:tcPr>
                </a:tc>
              </a:tr>
              <a:tr h="480057">
                <a:tc>
                  <a:txBody>
                    <a:bodyPr/>
                    <a:lstStyle/>
                    <a:p>
                      <a:r>
                        <a:rPr sz="850" b="0">
                          <a:solidFill>
                            <a:srgbClr val="4B4B4B"/>
                          </a:solidFill>
                          <a:latin typeface="Arial"/>
                        </a:rPr>
                        <a:t>NT-18</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Every e-mail sent with password-protected attachments (NT-10 to NT-16)</a:t>
                      </a:r>
                    </a:p>
                  </a:txBody>
                  <a:tcPr marL="54864" marR="54864" marT="27432" marB="27432">
                    <a:solidFill>
                      <a:srgbClr val="E5F5FF"/>
                    </a:solidFill>
                  </a:tcPr>
                </a:tc>
                <a:tc>
                  <a:txBody>
                    <a:bodyPr/>
                    <a:lstStyle/>
                    <a:p>
                      <a:r>
                        <a:rPr sz="850" b="0">
                          <a:solidFill>
                            <a:srgbClr val="4B4B4B"/>
                          </a:solidFill>
                          <a:latin typeface="Arial"/>
                        </a:rPr>
                        <a:t>The same recipients as the document e-mail</a:t>
                      </a:r>
                    </a:p>
                  </a:txBody>
                  <a:tcPr marL="54864" marR="54864" marT="27432" marB="27432">
                    <a:solidFill>
                      <a:srgbClr val="E5F5FF"/>
                    </a:solidFill>
                  </a:tcPr>
                </a:tc>
                <a:tc>
                  <a:txBody>
                    <a:bodyPr/>
                    <a:lstStyle/>
                    <a:p>
                      <a:r>
                        <a:rPr sz="850" b="0">
                          <a:solidFill>
                            <a:srgbClr val="4B4B4B"/>
                          </a:solidFill>
                          <a:latin typeface="Arial"/>
                        </a:rPr>
                        <a:t>Subject: Password for: &lt;subject of the document e-mail&gt;. Body: The documents sent to you in the e-mail "&lt;subject&gt;" are password protected. Password: &lt;password&gt;. &lt;hint&gt; This e-mail was sent separately for your security. Please do not forward it.</a:t>
                      </a:r>
                    </a:p>
                  </a:txBody>
                  <a:tcPr marL="54864" marR="54864" marT="27432" marB="27432">
                    <a:solidFill>
                      <a:srgbClr val="E5F5FF"/>
                    </a:solidFill>
                  </a:tcPr>
                </a:tc>
              </a:tr>
              <a:tr h="609596">
                <a:tc>
                  <a:txBody>
                    <a:bodyPr/>
                    <a:lstStyle/>
                    <a:p>
                      <a:r>
                        <a:rPr sz="850" b="0">
                          <a:solidFill>
                            <a:srgbClr val="4B4B4B"/>
                          </a:solidFill>
                          <a:latin typeface="Arial"/>
                        </a:rPr>
                        <a:t>NT-19</a:t>
                      </a:r>
                    </a:p>
                  </a:txBody>
                  <a:tcPr marL="54864" marR="54864" marT="27432" marB="27432">
                    <a:solidFill>
                      <a:srgbClr val="FFFFFF"/>
                    </a:solidFill>
                  </a:tcPr>
                </a:tc>
                <a:tc>
                  <a:txBody>
                    <a:bodyPr/>
                    <a:lstStyle/>
                    <a:p>
                      <a:r>
                        <a:rPr sz="850" b="0">
                          <a:solidFill>
                            <a:srgbClr val="4B4B4B"/>
                          </a:solidFill>
                          <a:latin typeface="Arial"/>
                        </a:rPr>
                        <a:t>Alert inbox</a:t>
                      </a:r>
                    </a:p>
                  </a:txBody>
                  <a:tcPr marL="54864" marR="54864" marT="27432" marB="27432">
                    <a:solidFill>
                      <a:srgbClr val="FFFFFF"/>
                    </a:solidFill>
                  </a:tcPr>
                </a:tc>
                <a:tc>
                  <a:txBody>
                    <a:bodyPr/>
                    <a:lstStyle/>
                    <a:p>
                      <a:r>
                        <a:rPr sz="850" b="0">
                          <a:solidFill>
                            <a:srgbClr val="4B4B4B"/>
                          </a:solidFill>
                          <a:latin typeface="Arial"/>
                        </a:rPr>
                        <a:t>The daily alert check (09:30 PHT) finds work items past their stage SLA</a:t>
                      </a:r>
                    </a:p>
                  </a:txBody>
                  <a:tcPr marL="54864" marR="54864" marT="27432" marB="27432">
                    <a:solidFill>
                      <a:srgbClr val="FFFFFF"/>
                    </a:solidFill>
                  </a:tcPr>
                </a:tc>
                <a:tc>
                  <a:txBody>
                    <a:bodyPr/>
                    <a:lstStyle/>
                    <a:p>
                      <a:r>
                        <a:rPr sz="850" b="0">
                          <a:solidFill>
                            <a:srgbClr val="4B4B4B"/>
                          </a:solidFill>
                          <a:latin typeface="Arial"/>
                        </a:rPr>
                        <a:t>Users with the Alerts screen (System Administrator, Auditor); the New Business roles see the same items as Overdue on My Work and the NB Dashboard</a:t>
                      </a:r>
                    </a:p>
                  </a:txBody>
                  <a:tcPr marL="54864" marR="54864" marT="27432" marB="27432">
                    <a:solidFill>
                      <a:srgbClr val="FFFFFF"/>
                    </a:solidFill>
                  </a:tcPr>
                </a:tc>
                <a:tc>
                  <a:txBody>
                    <a:bodyPr/>
                    <a:lstStyle/>
                    <a:p>
                      <a:r>
                        <a:rPr sz="850" b="0">
                          <a:solidFill>
                            <a:srgbClr val="4B4B4B"/>
                          </a:solidFill>
                          <a:latin typeface="Arial"/>
                        </a:rPr>
                        <a:t>Exception WORK_SLA_BREACH: Work item overdue</a:t>
                      </a:r>
                    </a:p>
                  </a:txBody>
                  <a:tcPr marL="54864" marR="54864" marT="27432" marB="27432">
                    <a:solidFill>
                      <a:srgbClr val="FFFFFF"/>
                    </a:solidFill>
                  </a:tcPr>
                </a:tc>
              </a:tr>
            </a:tbl>
          </a:graphicData>
        </a:graphic>
      </p:graphicFrame>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609</a:t>
            </a:r>
          </a:p>
        </p:txBody>
      </p:sp>
      <p:graphicFrame>
        <p:nvGraphicFramePr>
          <p:cNvPr id="9" name="Table 8"/>
          <p:cNvGraphicFramePr>
            <a:graphicFrameLocks noGrp="1"/>
          </p:cNvGraphicFramePr>
          <p:nvPr/>
        </p:nvGraphicFramePr>
        <p:xfrm>
          <a:off x="548640" y="1325880"/>
          <a:ext cx="11094413" cy="416052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SCR-NB-04</a:t>
                      </a:r>
                    </a:p>
                  </a:txBody>
                  <a:tcPr marL="54864" marR="54864" marT="27432" marB="27432">
                    <a:solidFill>
                      <a:srgbClr val="FFFFFF"/>
                    </a:solidFill>
                  </a:tcPr>
                </a:tc>
                <a:tc>
                  <a:txBody>
                    <a:bodyPr/>
                    <a:lstStyle/>
                    <a:p>
                      <a:r>
                        <a:rPr sz="900" b="0">
                          <a:solidFill>
                            <a:srgbClr val="4B4B4B"/>
                          </a:solidFill>
                          <a:latin typeface="Arial"/>
                        </a:rPr>
                        <a:t>Excel / PDF</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list as report NB-KYC-DUE with the filters shown</a:t>
                      </a:r>
                    </a:p>
                  </a:txBody>
                  <a:tcPr marL="54864" marR="54864" marT="27432" marB="27432">
                    <a:solidFill>
                      <a:srgbClr val="FFFFFF"/>
                    </a:solidFill>
                  </a:tcPr>
                </a:tc>
              </a:tr>
              <a:tr h="228600">
                <a:tc>
                  <a:txBody>
                    <a:bodyPr/>
                    <a:lstStyle/>
                    <a:p>
                      <a:r>
                        <a:rPr sz="900" b="0">
                          <a:solidFill>
                            <a:srgbClr val="4B4B4B"/>
                          </a:solidFill>
                          <a:latin typeface="Arial"/>
                        </a:rPr>
                        <a:t>SCR-NB-04</a:t>
                      </a:r>
                    </a:p>
                  </a:txBody>
                  <a:tcPr marL="54864" marR="54864" marT="27432" marB="27432">
                    <a:solidFill>
                      <a:srgbClr val="E5F5FF"/>
                    </a:solidFill>
                  </a:tcPr>
                </a:tc>
                <a:tc>
                  <a:txBody>
                    <a:bodyPr/>
                    <a:lstStyle/>
                    <a:p>
                      <a:r>
                        <a:rPr sz="900" b="0">
                          <a:solidFill>
                            <a:srgbClr val="4B4B4B"/>
                          </a:solidFill>
                          <a:latin typeface="Arial"/>
                        </a:rPr>
                        <a:t>Print</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Prints the page</a:t>
                      </a:r>
                    </a:p>
                  </a:txBody>
                  <a:tcPr marL="54864" marR="54864" marT="27432" marB="27432">
                    <a:solidFill>
                      <a:srgbClr val="E5F5FF"/>
                    </a:solidFill>
                  </a:tcPr>
                </a:tc>
              </a:tr>
              <a:tr h="228600">
                <a:tc>
                  <a:txBody>
                    <a:bodyPr/>
                    <a:lstStyle/>
                    <a:p>
                      <a:r>
                        <a:rPr sz="900" b="0">
                          <a:solidFill>
                            <a:srgbClr val="4B4B4B"/>
                          </a:solidFill>
                          <a:latin typeface="Arial"/>
                        </a:rPr>
                        <a:t>SCR-NB-07</a:t>
                      </a:r>
                    </a:p>
                  </a:txBody>
                  <a:tcPr marL="54864" marR="54864" marT="27432" marB="27432">
                    <a:solidFill>
                      <a:srgbClr val="FFFFFF"/>
                    </a:solidFill>
                  </a:tcPr>
                </a:tc>
                <a:tc>
                  <a:txBody>
                    <a:bodyPr/>
                    <a:lstStyle/>
                    <a:p>
                      <a:r>
                        <a:rPr sz="900" b="0">
                          <a:solidFill>
                            <a:srgbClr val="4B4B4B"/>
                          </a:solidFill>
                          <a:latin typeface="Arial"/>
                        </a:rPr>
                        <a:t>PDF /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quotation letter (PDF) or schedule (Excel) of the current version</a:t>
                      </a:r>
                    </a:p>
                  </a:txBody>
                  <a:tcPr marL="54864" marR="54864" marT="27432" marB="27432">
                    <a:solidFill>
                      <a:srgbClr val="FFFFFF"/>
                    </a:solidFill>
                  </a:tcPr>
                </a:tc>
              </a:tr>
              <a:tr h="365760">
                <a:tc>
                  <a:txBody>
                    <a:bodyPr/>
                    <a:lstStyle/>
                    <a:p>
                      <a:r>
                        <a:rPr sz="900" b="0">
                          <a:solidFill>
                            <a:srgbClr val="4B4B4B"/>
                          </a:solidFill>
                          <a:latin typeface="Arial"/>
                        </a:rPr>
                        <a:t>SCR-NB-11</a:t>
                      </a:r>
                    </a:p>
                  </a:txBody>
                  <a:tcPr marL="54864" marR="54864" marT="27432" marB="27432">
                    <a:solidFill>
                      <a:srgbClr val="E5F5FF"/>
                    </a:solidFill>
                  </a:tcPr>
                </a:tc>
                <a:tc>
                  <a:txBody>
                    <a:bodyPr/>
                    <a:lstStyle/>
                    <a:p>
                      <a:r>
                        <a:rPr sz="900" b="0">
                          <a:solidFill>
                            <a:srgbClr val="4B4B4B"/>
                          </a:solidFill>
                          <a:latin typeface="Arial"/>
                        </a:rPr>
                        <a:t>PDF / Excel (comparative table, slips)</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document</a:t>
                      </a:r>
                    </a:p>
                  </a:txBody>
                  <a:tcPr marL="54864" marR="54864" marT="27432" marB="27432">
                    <a:solidFill>
                      <a:srgbClr val="E5F5FF"/>
                    </a:solidFill>
                  </a:tcPr>
                </a:tc>
              </a:tr>
              <a:tr h="228600">
                <a:tc>
                  <a:txBody>
                    <a:bodyPr/>
                    <a:lstStyle/>
                    <a:p>
                      <a:r>
                        <a:rPr sz="900" b="0">
                          <a:solidFill>
                            <a:srgbClr val="4B4B4B"/>
                          </a:solidFill>
                          <a:latin typeface="Arial"/>
                        </a:rPr>
                        <a:t>SCR-NB-20</a:t>
                      </a:r>
                    </a:p>
                  </a:txBody>
                  <a:tcPr marL="54864" marR="54864" marT="27432" marB="27432">
                    <a:solidFill>
                      <a:srgbClr val="FFFFFF"/>
                    </a:solidFill>
                  </a:tcPr>
                </a:tc>
                <a:tc>
                  <a:txBody>
                    <a:bodyPr/>
                    <a:lstStyle/>
                    <a:p>
                      <a:r>
                        <a:rPr sz="900" b="0">
                          <a:solidFill>
                            <a:srgbClr val="4B4B4B"/>
                          </a:solidFill>
                          <a:latin typeface="Arial"/>
                        </a:rPr>
                        <a:t>Download PDF / Download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slip file</a:t>
                      </a:r>
                    </a:p>
                  </a:txBody>
                  <a:tcPr marL="54864" marR="54864" marT="27432" marB="27432">
                    <a:solidFill>
                      <a:srgbClr val="FFFFFF"/>
                    </a:solidFill>
                  </a:tcPr>
                </a:tc>
              </a:tr>
              <a:tr h="228600">
                <a:tc>
                  <a:txBody>
                    <a:bodyPr/>
                    <a:lstStyle/>
                    <a:p>
                      <a:r>
                        <a:rPr sz="900" b="0">
                          <a:solidFill>
                            <a:srgbClr val="4B4B4B"/>
                          </a:solidFill>
                          <a:latin typeface="Arial"/>
                        </a:rPr>
                        <a:t>SCR-NB-21</a:t>
                      </a:r>
                    </a:p>
                  </a:txBody>
                  <a:tcPr marL="54864" marR="54864" marT="27432" marB="27432">
                    <a:solidFill>
                      <a:srgbClr val="E5F5FF"/>
                    </a:solidFill>
                  </a:tcPr>
                </a:tc>
                <a:tc>
                  <a:txBody>
                    <a:bodyPr/>
                    <a:lstStyle/>
                    <a:p>
                      <a:r>
                        <a:rPr sz="900" b="0">
                          <a:solidFill>
                            <a:srgbClr val="4B4B4B"/>
                          </a:solidFill>
                          <a:latin typeface="Arial"/>
                        </a:rPr>
                        <a:t>Download Excel / Download ODS</a:t>
                      </a:r>
                    </a:p>
                  </a:txBody>
                  <a:tcPr marL="54864" marR="54864" marT="27432" marB="27432">
                    <a:solidFill>
                      <a:srgbClr val="E5F5FF"/>
                    </a:solidFill>
                  </a:tcPr>
                </a:tc>
                <a:tc>
                  <a:txBody>
                    <a:bodyPr/>
                    <a:lstStyle/>
                    <a:p>
                      <a:r>
                        <a:rPr sz="900" b="0">
                          <a:solidFill>
                            <a:srgbClr val="4B4B4B"/>
                          </a:solidFill>
                          <a:latin typeface="Arial"/>
                        </a:rPr>
                        <a:t>BILLING_MANAGE</a:t>
                      </a:r>
                    </a:p>
                  </a:txBody>
                  <a:tcPr marL="54864" marR="54864" marT="27432" marB="27432">
                    <a:solidFill>
                      <a:srgbClr val="E5F5FF"/>
                    </a:solidFill>
                  </a:tcPr>
                </a:tc>
                <a:tc>
                  <a:txBody>
                    <a:bodyPr/>
                    <a:lstStyle/>
                    <a:p>
                      <a:r>
                        <a:rPr sz="900" b="0">
                          <a:solidFill>
                            <a:srgbClr val="4B4B4B"/>
                          </a:solidFill>
                          <a:latin typeface="Arial"/>
                        </a:rPr>
                        <a:t>Downloads the billing file of the batch</a:t>
                      </a:r>
                    </a:p>
                  </a:txBody>
                  <a:tcPr marL="54864" marR="54864" marT="27432" marB="27432">
                    <a:solidFill>
                      <a:srgbClr val="E5F5FF"/>
                    </a:solidFill>
                  </a:tcPr>
                </a:tc>
              </a:tr>
              <a:tr h="228600">
                <a:tc>
                  <a:txBody>
                    <a:bodyPr/>
                    <a:lstStyle/>
                    <a:p>
                      <a:r>
                        <a:rPr sz="900" b="0">
                          <a:solidFill>
                            <a:srgbClr val="4B4B4B"/>
                          </a:solidFill>
                          <a:latin typeface="Arial"/>
                        </a:rPr>
                        <a:t>SCR-NB-25</a:t>
                      </a:r>
                    </a:p>
                  </a:txBody>
                  <a:tcPr marL="54864" marR="54864" marT="27432" marB="27432">
                    <a:solidFill>
                      <a:srgbClr val="FFFFFF"/>
                    </a:solidFill>
                  </a:tcPr>
                </a:tc>
                <a:tc>
                  <a:txBody>
                    <a:bodyPr/>
                    <a:lstStyle/>
                    <a:p>
                      <a:r>
                        <a:rPr sz="900" b="0">
                          <a:solidFill>
                            <a:srgbClr val="4B4B4B"/>
                          </a:solidFill>
                          <a:latin typeface="Arial"/>
                        </a:rPr>
                        <a:t>Download E-policy</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PDF</a:t>
                      </a:r>
                    </a:p>
                  </a:txBody>
                  <a:tcPr marL="54864" marR="54864" marT="27432" marB="27432">
                    <a:solidFill>
                      <a:srgbClr val="FFFFFF"/>
                    </a:solidFill>
                  </a:tcPr>
                </a:tc>
              </a:tr>
              <a:tr h="228600">
                <a:tc>
                  <a:txBody>
                    <a:bodyPr/>
                    <a:lstStyle/>
                    <a:p>
                      <a:r>
                        <a:rPr sz="900" b="0">
                          <a:solidFill>
                            <a:srgbClr val="4B4B4B"/>
                          </a:solidFill>
                          <a:latin typeface="Arial"/>
                        </a:rPr>
                        <a:t>SCR-NB-26</a:t>
                      </a:r>
                    </a:p>
                  </a:txBody>
                  <a:tcPr marL="54864" marR="54864" marT="27432" marB="27432">
                    <a:solidFill>
                      <a:srgbClr val="E5F5FF"/>
                    </a:solidFill>
                  </a:tcPr>
                </a:tc>
                <a:tc>
                  <a:txBody>
                    <a:bodyPr/>
                    <a:lstStyle/>
                    <a:p>
                      <a:r>
                        <a:rPr sz="900" b="0">
                          <a:solidFill>
                            <a:srgbClr val="4B4B4B"/>
                          </a:solidFill>
                          <a:latin typeface="Arial"/>
                        </a:rPr>
                        <a:t>Download PDF</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advice</a:t>
                      </a:r>
                    </a:p>
                  </a:txBody>
                  <a:tcPr marL="54864" marR="54864" marT="27432" marB="27432">
                    <a:solidFill>
                      <a:srgbClr val="E5F5FF"/>
                    </a:solidFill>
                  </a:tcPr>
                </a:tc>
              </a:tr>
              <a:tr h="228600">
                <a:tc>
                  <a:txBody>
                    <a:bodyPr/>
                    <a:lstStyle/>
                    <a:p>
                      <a:r>
                        <a:rPr sz="900" b="0">
                          <a:solidFill>
                            <a:srgbClr val="4B4B4B"/>
                          </a:solidFill>
                          <a:latin typeface="Arial"/>
                        </a:rPr>
                        <a:t>SCR-NB-32</a:t>
                      </a:r>
                    </a:p>
                  </a:txBody>
                  <a:tcPr marL="54864" marR="54864" marT="27432" marB="27432">
                    <a:solidFill>
                      <a:srgbClr val="FFFFFF"/>
                    </a:solidFill>
                  </a:tcPr>
                </a:tc>
                <a:tc>
                  <a:txBody>
                    <a:bodyPr/>
                    <a:lstStyle/>
                    <a:p>
                      <a:r>
                        <a:rPr sz="900" b="0">
                          <a:solidFill>
                            <a:srgbClr val="4B4B4B"/>
                          </a:solidFill>
                          <a:latin typeface="Arial"/>
                        </a:rPr>
                        <a:t>Download PDF</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service invoice; a Word copy is offered after the download</a:t>
                      </a:r>
                    </a:p>
                  </a:txBody>
                  <a:tcPr marL="54864" marR="54864" marT="27432" marB="27432">
                    <a:solidFill>
                      <a:srgbClr val="FFFFFF"/>
                    </a:solidFill>
                  </a:tcPr>
                </a:tc>
              </a:tr>
              <a:tr h="228600">
                <a:tc>
                  <a:txBody>
                    <a:bodyPr/>
                    <a:lstStyle/>
                    <a:p>
                      <a:r>
                        <a:rPr sz="900" b="0">
                          <a:solidFill>
                            <a:srgbClr val="4B4B4B"/>
                          </a:solidFill>
                          <a:latin typeface="Arial"/>
                        </a:rPr>
                        <a:t>SCR-NB-35</a:t>
                      </a:r>
                    </a:p>
                  </a:txBody>
                  <a:tcPr marL="54864" marR="54864" marT="27432" marB="27432">
                    <a:solidFill>
                      <a:srgbClr val="E5F5FF"/>
                    </a:solidFill>
                  </a:tcPr>
                </a:tc>
                <a:tc>
                  <a:txBody>
                    <a:bodyPr/>
                    <a:lstStyle/>
                    <a:p>
                      <a:r>
                        <a:rPr sz="900" b="0">
                          <a:solidFill>
                            <a:srgbClr val="4B4B4B"/>
                          </a:solidFill>
                          <a:latin typeface="Arial"/>
                        </a:rPr>
                        <a:t>Result Report (row)</a:t>
                      </a:r>
                    </a:p>
                  </a:txBody>
                  <a:tcPr marL="54864" marR="54864" marT="27432" marB="27432">
                    <a:solidFill>
                      <a:srgbClr val="E5F5FF"/>
                    </a:solidFill>
                  </a:tcPr>
                </a:tc>
                <a:tc>
                  <a:txBody>
                    <a:bodyPr/>
                    <a:lstStyle/>
                    <a:p>
                      <a:r>
                        <a:rPr sz="900" b="0">
                          <a:solidFill>
                            <a:srgbClr val="4B4B4B"/>
                          </a:solidFill>
                          <a:latin typeface="Arial"/>
                        </a:rPr>
                        <a:t>BULK_PROCESS</a:t>
                      </a:r>
                    </a:p>
                  </a:txBody>
                  <a:tcPr marL="54864" marR="54864" marT="27432" marB="27432">
                    <a:solidFill>
                      <a:srgbClr val="E5F5FF"/>
                    </a:solidFill>
                  </a:tcPr>
                </a:tc>
                <a:tc>
                  <a:txBody>
                    <a:bodyPr/>
                    <a:lstStyle/>
                    <a:p>
                      <a:r>
                        <a:rPr sz="900" b="0">
                          <a:solidFill>
                            <a:srgbClr val="4B4B4B"/>
                          </a:solidFill>
                          <a:latin typeface="Arial"/>
                        </a:rPr>
                        <a:t>Downloads the result file of the upload: every row with its status and messages</a:t>
                      </a:r>
                    </a:p>
                  </a:txBody>
                  <a:tcPr marL="54864" marR="54864" marT="27432" marB="27432">
                    <a:solidFill>
                      <a:srgbClr val="E5F5FF"/>
                    </a:solidFill>
                  </a:tcPr>
                </a:tc>
              </a:tr>
              <a:tr h="228600">
                <a:tc>
                  <a:txBody>
                    <a:bodyPr/>
                    <a:lstStyle/>
                    <a:p>
                      <a:r>
                        <a:rPr sz="900" b="0">
                          <a:solidFill>
                            <a:srgbClr val="4B4B4B"/>
                          </a:solidFill>
                          <a:latin typeface="Arial"/>
                        </a:rPr>
                        <a:t>SCR-NB-36</a:t>
                      </a:r>
                    </a:p>
                  </a:txBody>
                  <a:tcPr marL="54864" marR="54864" marT="27432" marB="27432">
                    <a:solidFill>
                      <a:srgbClr val="FFFFFF"/>
                    </a:solidFill>
                  </a:tcPr>
                </a:tc>
                <a:tc>
                  <a:txBody>
                    <a:bodyPr/>
                    <a:lstStyle/>
                    <a:p>
                      <a:r>
                        <a:rPr sz="900" b="0">
                          <a:solidFill>
                            <a:srgbClr val="4B4B4B"/>
                          </a:solidFill>
                          <a:latin typeface="Arial"/>
                        </a:rPr>
                        <a:t>Download Template</a:t>
                      </a:r>
                    </a:p>
                  </a:txBody>
                  <a:tcPr marL="54864" marR="54864" marT="27432" marB="27432">
                    <a:solidFill>
                      <a:srgbClr val="FFFFFF"/>
                    </a:solidFill>
                  </a:tcPr>
                </a:tc>
                <a:tc>
                  <a:txBody>
                    <a:bodyPr/>
                    <a:lstStyle/>
                    <a:p>
                      <a:r>
                        <a:rPr sz="900" b="0">
                          <a:solidFill>
                            <a:srgbClr val="4B4B4B"/>
                          </a:solidFill>
                          <a:latin typeface="Arial"/>
                        </a:rPr>
                        <a:t>BULK_PROCESS and the type's permission</a:t>
                      </a:r>
                    </a:p>
                  </a:txBody>
                  <a:tcPr marL="54864" marR="54864" marT="27432" marB="27432">
                    <a:solidFill>
                      <a:srgbClr val="FFFFFF"/>
                    </a:solidFill>
                  </a:tcPr>
                </a:tc>
                <a:tc>
                  <a:txBody>
                    <a:bodyPr/>
                    <a:lstStyle/>
                    <a:p>
                      <a:r>
                        <a:rPr sz="900" b="0">
                          <a:solidFill>
                            <a:srgbClr val="4B4B4B"/>
                          </a:solidFill>
                          <a:latin typeface="Arial"/>
                        </a:rPr>
                        <a:t>Downloads the current template of the type</a:t>
                      </a:r>
                    </a:p>
                  </a:txBody>
                  <a:tcPr marL="54864" marR="54864" marT="27432" marB="27432">
                    <a:solidFill>
                      <a:srgbClr val="FFFFFF"/>
                    </a:solidFill>
                  </a:tcPr>
                </a:tc>
              </a:tr>
              <a:tr h="228600">
                <a:tc>
                  <a:txBody>
                    <a:bodyPr/>
                    <a:lstStyle/>
                    <a:p>
                      <a:r>
                        <a:rPr sz="900" b="0">
                          <a:solidFill>
                            <a:srgbClr val="4B4B4B"/>
                          </a:solidFill>
                          <a:latin typeface="Arial"/>
                        </a:rPr>
                        <a:t>SCR-NB-36</a:t>
                      </a:r>
                    </a:p>
                  </a:txBody>
                  <a:tcPr marL="54864" marR="54864" marT="27432" marB="27432">
                    <a:solidFill>
                      <a:srgbClr val="E5F5FF"/>
                    </a:solidFill>
                  </a:tcPr>
                </a:tc>
                <a:tc>
                  <a:txBody>
                    <a:bodyPr/>
                    <a:lstStyle/>
                    <a:p>
                      <a:r>
                        <a:rPr sz="900" b="0">
                          <a:solidFill>
                            <a:srgbClr val="4B4B4B"/>
                          </a:solidFill>
                          <a:latin typeface="Arial"/>
                        </a:rPr>
                        <a:t>Result Report</a:t>
                      </a:r>
                    </a:p>
                  </a:txBody>
                  <a:tcPr marL="54864" marR="54864" marT="27432" marB="27432">
                    <a:solidFill>
                      <a:srgbClr val="E5F5FF"/>
                    </a:solidFill>
                  </a:tcPr>
                </a:tc>
                <a:tc>
                  <a:txBody>
                    <a:bodyPr/>
                    <a:lstStyle/>
                    <a:p>
                      <a:r>
                        <a:rPr sz="900" b="0">
                          <a:solidFill>
                            <a:srgbClr val="4B4B4B"/>
                          </a:solidFill>
                          <a:latin typeface="Arial"/>
                        </a:rPr>
                        <a:t>As above</a:t>
                      </a:r>
                    </a:p>
                  </a:txBody>
                  <a:tcPr marL="54864" marR="54864" marT="27432" marB="27432">
                    <a:solidFill>
                      <a:srgbClr val="E5F5FF"/>
                    </a:solidFill>
                  </a:tcPr>
                </a:tc>
                <a:tc>
                  <a:txBody>
                    <a:bodyPr/>
                    <a:lstStyle/>
                    <a:p>
                      <a:r>
                        <a:rPr sz="900" b="0">
                          <a:solidFill>
                            <a:srgbClr val="4B4B4B"/>
                          </a:solidFill>
                          <a:latin typeface="Arial"/>
                        </a:rPr>
                        <a:t>Downloads the result file: every row with its status, messages and the reference created</a:t>
                      </a:r>
                    </a:p>
                  </a:txBody>
                  <a:tcPr marL="54864" marR="54864" marT="27432" marB="27432">
                    <a:solidFill>
                      <a:srgbClr val="E5F5FF"/>
                    </a:solidFill>
                  </a:tcPr>
                </a:tc>
              </a:tr>
              <a:tr h="228600">
                <a:tc>
                  <a:txBody>
                    <a:bodyPr/>
                    <a:lstStyle/>
                    <a:p>
                      <a:r>
                        <a:rPr sz="900" b="0">
                          <a:solidFill>
                            <a:srgbClr val="4B4B4B"/>
                          </a:solidFill>
                          <a:latin typeface="Arial"/>
                        </a:rPr>
                        <a:t>SCR-NB-36</a:t>
                      </a:r>
                    </a:p>
                  </a:txBody>
                  <a:tcPr marL="54864" marR="54864" marT="27432" marB="27432">
                    <a:solidFill>
                      <a:srgbClr val="FFFFFF"/>
                    </a:solidFill>
                  </a:tcPr>
                </a:tc>
                <a:tc>
                  <a:txBody>
                    <a:bodyPr/>
                    <a:lstStyle/>
                    <a:p>
                      <a:r>
                        <a:rPr sz="900" b="0">
                          <a:solidFill>
                            <a:srgbClr val="4B4B4B"/>
                          </a:solidFill>
                          <a:latin typeface="Arial"/>
                        </a:rPr>
                        <a:t>Download Error File</a:t>
                      </a:r>
                    </a:p>
                  </a:txBody>
                  <a:tcPr marL="54864" marR="54864" marT="27432" marB="27432">
                    <a:solidFill>
                      <a:srgbClr val="FFFFFF"/>
                    </a:solidFill>
                  </a:tcPr>
                </a:tc>
                <a:tc>
                  <a:txBody>
                    <a:bodyPr/>
                    <a:lstStyle/>
                    <a:p>
                      <a:r>
                        <a:rPr sz="900" b="0">
                          <a:solidFill>
                            <a:srgbClr val="4B4B4B"/>
                          </a:solidFill>
                          <a:latin typeface="Arial"/>
                        </a:rPr>
                        <a:t>As above</a:t>
                      </a:r>
                    </a:p>
                  </a:txBody>
                  <a:tcPr marL="54864" marR="54864" marT="27432" marB="27432">
                    <a:solidFill>
                      <a:srgbClr val="FFFFFF"/>
                    </a:solidFill>
                  </a:tcPr>
                </a:tc>
                <a:tc>
                  <a:txBody>
                    <a:bodyPr/>
                    <a:lstStyle/>
                    <a:p>
                      <a:r>
                        <a:rPr sz="900" b="0">
                          <a:solidFill>
                            <a:srgbClr val="4B4B4B"/>
                          </a:solidFill>
                          <a:latin typeface="Arial"/>
                        </a:rPr>
                        <a:t>Downloads the rejected and failed rows with their messages, in the template layout, to correct</a:t>
                      </a:r>
                    </a:p>
                  </a:txBody>
                  <a:tcPr marL="54864" marR="54864" marT="27432" marB="27432">
                    <a:solidFill>
                      <a:srgbClr val="FFFFFF"/>
                    </a:solidFill>
                  </a:tcPr>
                </a:tc>
              </a:tr>
              <a:tr h="228600">
                <a:tc>
                  <a:txBody>
                    <a:bodyPr/>
                    <a:lstStyle/>
                    <a:p>
                      <a:r>
                        <a:rPr sz="900" b="0">
                          <a:solidFill>
                            <a:srgbClr val="4B4B4B"/>
                          </a:solidFill>
                          <a:latin typeface="Arial"/>
                        </a:rPr>
                        <a:t>SCR-NB-40</a:t>
                      </a:r>
                    </a:p>
                  </a:txBody>
                  <a:tcPr marL="54864" marR="54864" marT="27432" marB="27432">
                    <a:solidFill>
                      <a:srgbClr val="E5F5FF"/>
                    </a:solidFill>
                  </a:tcPr>
                </a:tc>
                <a:tc>
                  <a:txBody>
                    <a:bodyPr/>
                    <a:lstStyle/>
                    <a:p>
                      <a:r>
                        <a:rPr sz="900" b="0">
                          <a:solidFill>
                            <a:srgbClr val="4B4B4B"/>
                          </a:solidFill>
                          <a:latin typeface="Arial"/>
                        </a:rPr>
                        <a:t>Print</a:t>
                      </a:r>
                    </a:p>
                  </a:txBody>
                  <a:tcPr marL="54864" marR="54864" marT="27432" marB="27432">
                    <a:solidFill>
                      <a:srgbClr val="E5F5FF"/>
                    </a:solidFill>
                  </a:tcPr>
                </a:tc>
                <a:tc>
                  <a:txBody>
                    <a:bodyPr/>
                    <a:lstStyle/>
                    <a:p>
                      <a:r>
                        <a:rPr sz="900" b="0">
                          <a:solidFill>
                            <a:srgbClr val="4B4B4B"/>
                          </a:solidFill>
                          <a:latin typeface="Arial"/>
                        </a:rPr>
                        <a:t>As above</a:t>
                      </a:r>
                    </a:p>
                  </a:txBody>
                  <a:tcPr marL="54864" marR="54864" marT="27432" marB="27432">
                    <a:solidFill>
                      <a:srgbClr val="E5F5FF"/>
                    </a:solidFill>
                  </a:tcPr>
                </a:tc>
                <a:tc>
                  <a:txBody>
                    <a:bodyPr/>
                    <a:lstStyle/>
                    <a:p>
                      <a:r>
                        <a:rPr sz="900" b="0">
                          <a:solidFill>
                            <a:srgbClr val="4B4B4B"/>
                          </a:solidFill>
                          <a:latin typeface="Arial"/>
                        </a:rPr>
                        <a:t>Opens the PDF for printing with the report header</a:t>
                      </a:r>
                    </a:p>
                  </a:txBody>
                  <a:tcPr marL="54864" marR="54864" marT="27432" marB="27432">
                    <a:solidFill>
                      <a:srgbClr val="E5F5FF"/>
                    </a:solidFill>
                  </a:tcPr>
                </a:tc>
              </a:tr>
              <a:tr h="228600">
                <a:tc>
                  <a:txBody>
                    <a:bodyPr/>
                    <a:lstStyle/>
                    <a:p>
                      <a:r>
                        <a:rPr sz="900" b="0">
                          <a:solidFill>
                            <a:srgbClr val="4B4B4B"/>
                          </a:solidFill>
                          <a:latin typeface="Arial"/>
                        </a:rPr>
                        <a:t>SCR-NB-40</a:t>
                      </a:r>
                    </a:p>
                  </a:txBody>
                  <a:tcPr marL="54864" marR="54864" marT="27432" marB="27432">
                    <a:solidFill>
                      <a:srgbClr val="FFFFFF"/>
                    </a:solidFill>
                  </a:tcPr>
                </a:tc>
                <a:tc>
                  <a:txBody>
                    <a:bodyPr/>
                    <a:lstStyle/>
                    <a:p>
                      <a:r>
                        <a:rPr sz="900" b="0">
                          <a:solidFill>
                            <a:srgbClr val="4B4B4B"/>
                          </a:solidFill>
                          <a:latin typeface="Arial"/>
                        </a:rPr>
                        <a:t>PDF / Excel / ODS / CSV / XML</a:t>
                      </a:r>
                    </a:p>
                  </a:txBody>
                  <a:tcPr marL="54864" marR="54864" marT="27432" marB="27432">
                    <a:solidFill>
                      <a:srgbClr val="FFFFFF"/>
                    </a:solidFill>
                  </a:tcPr>
                </a:tc>
                <a:tc>
                  <a:txBody>
                    <a:bodyPr/>
                    <a:lstStyle/>
                    <a:p>
                      <a:r>
                        <a:rPr sz="900" b="0">
                          <a:solidFill>
                            <a:srgbClr val="4B4B4B"/>
                          </a:solidFill>
                          <a:latin typeface="Arial"/>
                        </a:rPr>
                        <a:t>As above</a:t>
                      </a:r>
                    </a:p>
                  </a:txBody>
                  <a:tcPr marL="54864" marR="54864" marT="27432" marB="27432">
                    <a:solidFill>
                      <a:srgbClr val="FFFFFF"/>
                    </a:solidFill>
                  </a:tcPr>
                </a:tc>
                <a:tc>
                  <a:txBody>
                    <a:bodyPr/>
                    <a:lstStyle/>
                    <a:p>
                      <a:r>
                        <a:rPr sz="900" b="0">
                          <a:solidFill>
                            <a:srgbClr val="4B4B4B"/>
                          </a:solidFill>
                          <a:latin typeface="Arial"/>
                        </a:rPr>
                        <a:t>Downloads the report</a:t>
                      </a:r>
                    </a:p>
                  </a:txBody>
                  <a:tcPr marL="54864" marR="54864" marT="27432" marB="27432">
                    <a:solidFill>
                      <a:srgbClr val="FFFFFF"/>
                    </a:solidFill>
                  </a:tcPr>
                </a:tc>
              </a:tr>
              <a:tr h="365760">
                <a:tc>
                  <a:txBody>
                    <a:bodyPr/>
                    <a:lstStyle/>
                    <a:p>
                      <a:r>
                        <a:rPr sz="900" b="0">
                          <a:solidFill>
                            <a:srgbClr val="4B4B4B"/>
                          </a:solidFill>
                          <a:latin typeface="Arial"/>
                        </a:rPr>
                        <a:t>SCR-NB-44</a:t>
                      </a:r>
                    </a:p>
                  </a:txBody>
                  <a:tcPr marL="54864" marR="54864" marT="27432" marB="27432">
                    <a:solidFill>
                      <a:srgbClr val="E5F5FF"/>
                    </a:solidFill>
                  </a:tcPr>
                </a:tc>
                <a:tc>
                  <a:txBody>
                    <a:bodyPr/>
                    <a:lstStyle/>
                    <a:p>
                      <a:r>
                        <a:rPr sz="900" b="0">
                          <a:solidFill>
                            <a:srgbClr val="4B4B4B"/>
                          </a:solidFill>
                          <a:latin typeface="Arial"/>
                        </a:rPr>
                        <a:t>Download Word (row action menu of a version)</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version as Word</a:t>
                      </a:r>
                    </a:p>
                  </a:txBody>
                  <a:tcPr marL="54864" marR="54864" marT="27432" marB="27432">
                    <a:solidFill>
                      <a:srgbClr val="E5F5FF"/>
                    </a:solidFill>
                  </a:tcPr>
                </a:tc>
              </a:tr>
            </a:tbl>
          </a:graphicData>
        </a:graphic>
      </p:graphicFrame>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611</a:t>
            </a:r>
          </a:p>
        </p:txBody>
      </p:sp>
      <p:graphicFrame>
        <p:nvGraphicFramePr>
          <p:cNvPr id="9" name="Table 8"/>
          <p:cNvGraphicFramePr>
            <a:graphicFrameLocks noGrp="1"/>
          </p:cNvGraphicFramePr>
          <p:nvPr/>
        </p:nvGraphicFramePr>
        <p:xfrm>
          <a:off x="548640" y="1325880"/>
          <a:ext cx="11094413" cy="452628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640080">
                <a:tc>
                  <a:txBody>
                    <a:bodyPr/>
                    <a:lstStyle/>
                    <a:p>
                      <a:r>
                        <a:rPr sz="900" b="0">
                          <a:solidFill>
                            <a:srgbClr val="4B4B4B"/>
                          </a:solidFill>
                          <a:latin typeface="Arial"/>
                        </a:rPr>
                        <a:t>CLR-NB-38</a:t>
                      </a:r>
                    </a:p>
                  </a:txBody>
                  <a:tcPr marL="54864" marR="54864" marT="27432" marB="27432">
                    <a:solidFill>
                      <a:srgbClr val="FFFFFF"/>
                    </a:solidFill>
                  </a:tcPr>
                </a:tc>
                <a:tc>
                  <a:txBody>
                    <a:bodyPr/>
                    <a:lstStyle/>
                    <a:p>
                      <a:r>
                        <a:rPr sz="900" b="0">
                          <a:solidFill>
                            <a:srgbClr val="4B4B4B"/>
                          </a:solidFill>
                          <a:latin typeface="Arial"/>
                        </a:rPr>
                        <a:t>Main path of the stepper (screen standards)</a:t>
                      </a:r>
                    </a:p>
                  </a:txBody>
                  <a:tcPr marL="54864" marR="54864" marT="27432" marB="27432">
                    <a:solidFill>
                      <a:srgbClr val="FFFFFF"/>
                    </a:solidFill>
                  </a:tcPr>
                </a:tc>
                <a:tc>
                  <a:txBody>
                    <a:bodyPr/>
                    <a:lstStyle/>
                    <a:p>
                      <a:r>
                        <a:rPr sz="900" b="0">
                          <a:solidFill>
                            <a:srgbClr val="4B4B4B"/>
                          </a:solidFill>
                          <a:latin typeface="Arial"/>
                        </a:rPr>
                        <a:t>The stepper of a quotation, proposal request and account shows the main path to its first good ending (for example the quotation ends at Account Created). Where a workflow has a second good ending (a quotation Accepted by Client without an account yet, an account Booked or issued without booking), that ending is shown only when the record reaches it.</a:t>
                      </a:r>
                    </a:p>
                  </a:txBody>
                  <a:tcPr marL="54864" marR="54864" marT="27432" marB="27432">
                    <a:solidFill>
                      <a:srgbClr val="FFFFFF"/>
                    </a:solidFill>
                  </a:tcPr>
                </a:tc>
                <a:tc>
                  <a:txBody>
                    <a:bodyPr/>
                    <a:lstStyle/>
                    <a:p>
                      <a:r>
                        <a:rPr sz="900" b="0">
                          <a:solidFill>
                            <a:srgbClr val="4B4B4B"/>
                          </a:solidFill>
                          <a:latin typeface="Arial"/>
                        </a:rPr>
                        <a:t>Confirm the main path and the endings of each stepper.</a:t>
                      </a:r>
                    </a:p>
                  </a:txBody>
                  <a:tcPr marL="54864" marR="54864" marT="27432" marB="27432">
                    <a:solidFill>
                      <a:srgbClr val="FFFFFF"/>
                    </a:solidFill>
                  </a:tcPr>
                </a:tc>
              </a:tr>
              <a:tr h="365760">
                <a:tc>
                  <a:txBody>
                    <a:bodyPr/>
                    <a:lstStyle/>
                    <a:p>
                      <a:r>
                        <a:rPr sz="900" b="0">
                          <a:solidFill>
                            <a:srgbClr val="4B4B4B"/>
                          </a:solidFill>
                          <a:latin typeface="Arial"/>
                        </a:rPr>
                        <a:t>CLR-NB-39</a:t>
                      </a:r>
                    </a:p>
                  </a:txBody>
                  <a:tcPr marL="54864" marR="54864" marT="27432" marB="27432">
                    <a:solidFill>
                      <a:srgbClr val="E5F5FF"/>
                    </a:solidFill>
                  </a:tcPr>
                </a:tc>
                <a:tc>
                  <a:txBody>
                    <a:bodyPr/>
                    <a:lstStyle/>
                    <a:p>
                      <a:r>
                        <a:rPr sz="900" b="0">
                          <a:solidFill>
                            <a:srgbClr val="4B4B4B"/>
                          </a:solidFill>
                          <a:latin typeface="Arial"/>
                        </a:rPr>
                        <a:t>Scheme rate in the Rate Exceptions table (BRD-3 FR-PM-051)</a:t>
                      </a:r>
                    </a:p>
                  </a:txBody>
                  <a:tcPr marL="54864" marR="54864" marT="27432" marB="27432">
                    <a:solidFill>
                      <a:srgbClr val="E5F5FF"/>
                    </a:solidFill>
                  </a:tcPr>
                </a:tc>
                <a:tc>
                  <a:txBody>
                    <a:bodyPr/>
                    <a:lstStyle/>
                    <a:p>
                      <a:r>
                        <a:rPr sz="900" b="0">
                          <a:solidFill>
                            <a:srgbClr val="4B4B4B"/>
                          </a:solidFill>
                          <a:latin typeface="Arial"/>
                        </a:rPr>
                        <a:t>The Scheme Rate column shows the package rate of the version that priced the quotation; the panel insurer's own rate is not shown in the table.</a:t>
                      </a:r>
                    </a:p>
                  </a:txBody>
                  <a:tcPr marL="54864" marR="54864" marT="27432" marB="27432">
                    <a:solidFill>
                      <a:srgbClr val="E5F5FF"/>
                    </a:solidFill>
                  </a:tcPr>
                </a:tc>
                <a:tc>
                  <a:txBody>
                    <a:bodyPr/>
                    <a:lstStyle/>
                    <a:p>
                      <a:r>
                        <a:rPr sz="900" b="0">
                          <a:solidFill>
                            <a:srgbClr val="4B4B4B"/>
                          </a:solidFill>
                          <a:latin typeface="Arial"/>
                        </a:rPr>
                        <a:t>Confirm the rate the requested rate is compared with.</a:t>
                      </a:r>
                    </a:p>
                  </a:txBody>
                  <a:tcPr marL="54864" marR="54864" marT="27432" marB="27432">
                    <a:solidFill>
                      <a:srgbClr val="E5F5FF"/>
                    </a:solidFill>
                  </a:tcPr>
                </a:tc>
              </a:tr>
              <a:tr h="365760">
                <a:tc>
                  <a:txBody>
                    <a:bodyPr/>
                    <a:lstStyle/>
                    <a:p>
                      <a:r>
                        <a:rPr sz="900" b="0">
                          <a:solidFill>
                            <a:srgbClr val="4B4B4B"/>
                          </a:solidFill>
                          <a:latin typeface="Arial"/>
                        </a:rPr>
                        <a:t>CLR-NB-40</a:t>
                      </a:r>
                    </a:p>
                  </a:txBody>
                  <a:tcPr marL="54864" marR="54864" marT="27432" marB="27432">
                    <a:solidFill>
                      <a:srgbClr val="FFFFFF"/>
                    </a:solidFill>
                  </a:tcPr>
                </a:tc>
                <a:tc>
                  <a:txBody>
                    <a:bodyPr/>
                    <a:lstStyle/>
                    <a:p>
                      <a:r>
                        <a:rPr sz="900" b="0">
                          <a:solidFill>
                            <a:srgbClr val="4B4B4B"/>
                          </a:solidFill>
                          <a:latin typeface="Arial"/>
                        </a:rPr>
                        <a:t>Difference column of the Rate Exceptions table</a:t>
                      </a:r>
                    </a:p>
                  </a:txBody>
                  <a:tcPr marL="54864" marR="54864" marT="27432" marB="27432">
                    <a:solidFill>
                      <a:srgbClr val="FFFFFF"/>
                    </a:solidFill>
                  </a:tcPr>
                </a:tc>
                <a:tc>
                  <a:txBody>
                    <a:bodyPr/>
                    <a:lstStyle/>
                    <a:p>
                      <a:r>
                        <a:rPr sz="900" b="0">
                          <a:solidFill>
                            <a:srgbClr val="4B4B4B"/>
                          </a:solidFill>
                          <a:latin typeface="Arial"/>
                        </a:rPr>
                        <a:t>The difference is shown in percentage points with its sign and two decimals (requested 1.10 against scheme 1.20 reads -0.10).</a:t>
                      </a:r>
                    </a:p>
                  </a:txBody>
                  <a:tcPr marL="54864" marR="54864" marT="27432" marB="27432">
                    <a:solidFill>
                      <a:srgbClr val="FFFFFF"/>
                    </a:solidFill>
                  </a:tcPr>
                </a:tc>
                <a:tc>
                  <a:txBody>
                    <a:bodyPr/>
                    <a:lstStyle/>
                    <a:p>
                      <a:r>
                        <a:rPr sz="900" b="0">
                          <a:solidFill>
                            <a:srgbClr val="4B4B4B"/>
                          </a:solidFill>
                          <a:latin typeface="Arial"/>
                        </a:rPr>
                        <a:t>Confirm percentage points with the sign.</a:t>
                      </a:r>
                    </a:p>
                  </a:txBody>
                  <a:tcPr marL="54864" marR="54864" marT="27432" marB="27432">
                    <a:solidFill>
                      <a:srgbClr val="FFFFFF"/>
                    </a:solidFill>
                  </a:tcPr>
                </a:tc>
              </a:tr>
              <a:tr h="502920">
                <a:tc>
                  <a:txBody>
                    <a:bodyPr/>
                    <a:lstStyle/>
                    <a:p>
                      <a:r>
                        <a:rPr sz="900" b="0">
                          <a:solidFill>
                            <a:srgbClr val="4B4B4B"/>
                          </a:solidFill>
                          <a:latin typeface="Arial"/>
                        </a:rPr>
                        <a:t>CLR-NB-41</a:t>
                      </a:r>
                    </a:p>
                  </a:txBody>
                  <a:tcPr marL="54864" marR="54864" marT="27432" marB="27432">
                    <a:solidFill>
                      <a:srgbClr val="E5F5FF"/>
                    </a:solidFill>
                  </a:tcPr>
                </a:tc>
                <a:tc>
                  <a:txBody>
                    <a:bodyPr/>
                    <a:lstStyle/>
                    <a:p>
                      <a:r>
                        <a:rPr sz="900" b="0">
                          <a:solidFill>
                            <a:srgbClr val="4B4B4B"/>
                          </a:solidFill>
                          <a:latin typeface="Arial"/>
                        </a:rPr>
                        <a:t>Special instructions on records (FR-NB-036)</a:t>
                      </a:r>
                    </a:p>
                  </a:txBody>
                  <a:tcPr marL="54864" marR="54864" marT="27432" marB="27432">
                    <a:solidFill>
                      <a:srgbClr val="E5F5FF"/>
                    </a:solidFill>
                  </a:tcPr>
                </a:tc>
                <a:tc>
                  <a:txBody>
                    <a:bodyPr/>
                    <a:lstStyle/>
                    <a:p>
                      <a:r>
                        <a:rPr sz="900" b="0">
                          <a:solidFill>
                            <a:srgbClr val="4B4B4B"/>
                          </a:solidFill>
                          <a:latin typeface="Arial"/>
                        </a:rPr>
                        <a:t>The special instructions of the client in force show as one short information notice under the record header of the client, quotation, proposal request and account; client tags such as BDO employee are tags in the header.</a:t>
                      </a:r>
                    </a:p>
                  </a:txBody>
                  <a:tcPr marL="54864" marR="54864" marT="27432" marB="27432">
                    <a:solidFill>
                      <a:srgbClr val="E5F5FF"/>
                    </a:solidFill>
                  </a:tcPr>
                </a:tc>
                <a:tc>
                  <a:txBody>
                    <a:bodyPr/>
                    <a:lstStyle/>
                    <a:p>
                      <a:r>
                        <a:rPr sz="900" b="0">
                          <a:solidFill>
                            <a:srgbClr val="4B4B4B"/>
                          </a:solidFill>
                          <a:latin typeface="Arial"/>
                        </a:rPr>
                        <a:t>Confirm the notice and the tags.</a:t>
                      </a:r>
                    </a:p>
                  </a:txBody>
                  <a:tcPr marL="54864" marR="54864" marT="27432" marB="27432">
                    <a:solidFill>
                      <a:srgbClr val="E5F5FF"/>
                    </a:solidFill>
                  </a:tcPr>
                </a:tc>
              </a:tr>
              <a:tr h="502920">
                <a:tc>
                  <a:txBody>
                    <a:bodyPr/>
                    <a:lstStyle/>
                    <a:p>
                      <a:r>
                        <a:rPr sz="900" b="0">
                          <a:solidFill>
                            <a:srgbClr val="4B4B4B"/>
                          </a:solidFill>
                          <a:latin typeface="Arial"/>
                        </a:rPr>
                        <a:t>CLR-NB-42</a:t>
                      </a:r>
                    </a:p>
                  </a:txBody>
                  <a:tcPr marL="54864" marR="54864" marT="27432" marB="27432">
                    <a:solidFill>
                      <a:srgbClr val="FFFFFF"/>
                    </a:solidFill>
                  </a:tcPr>
                </a:tc>
                <a:tc>
                  <a:txBody>
                    <a:bodyPr/>
                    <a:lstStyle/>
                    <a:p>
                      <a:r>
                        <a:rPr sz="900" b="0">
                          <a:solidFill>
                            <a:srgbClr val="4B4B4B"/>
                          </a:solidFill>
                          <a:latin typeface="Arial"/>
                        </a:rPr>
                        <a:t>Endorsement type labels</a:t>
                      </a:r>
                    </a:p>
                  </a:txBody>
                  <a:tcPr marL="54864" marR="54864" marT="27432" marB="27432">
                    <a:solidFill>
                      <a:srgbClr val="FFFFFF"/>
                    </a:solidFill>
                  </a:tcPr>
                </a:tc>
                <a:tc>
                  <a:txBody>
                    <a:bodyPr/>
                    <a:lstStyle/>
                    <a:p>
                      <a:r>
                        <a:rPr sz="900" b="0">
                          <a:solidFill>
                            <a:srgbClr val="4B4B4B"/>
                          </a:solidFill>
                          <a:latin typeface="Arial"/>
                        </a:rPr>
                        <a:t>Endorsement types show their business labels: Additional premium, Refund (return premium), Renewal, Cancellation (pro-rata 1/365) and NIL (non-financial); endorsement requests show the list label of their type.</a:t>
                      </a:r>
                    </a:p>
                  </a:txBody>
                  <a:tcPr marL="54864" marR="54864" marT="27432" marB="27432">
                    <a:solidFill>
                      <a:srgbClr val="FFFFFF"/>
                    </a:solidFill>
                  </a:tcPr>
                </a:tc>
                <a:tc>
                  <a:txBody>
                    <a:bodyPr/>
                    <a:lstStyle/>
                    <a:p>
                      <a:r>
                        <a:rPr sz="900" b="0">
                          <a:solidFill>
                            <a:srgbClr val="4B4B4B"/>
                          </a:solidFill>
                          <a:latin typeface="Arial"/>
                        </a:rPr>
                        <a:t>Confirm the labels or give BDOI's wording.</a:t>
                      </a:r>
                    </a:p>
                  </a:txBody>
                  <a:tcPr marL="54864" marR="54864" marT="27432" marB="27432">
                    <a:solidFill>
                      <a:srgbClr val="FFFFFF"/>
                    </a:solidFill>
                  </a:tcPr>
                </a:tc>
              </a:tr>
              <a:tr h="502920">
                <a:tc>
                  <a:txBody>
                    <a:bodyPr/>
                    <a:lstStyle/>
                    <a:p>
                      <a:r>
                        <a:rPr sz="900" b="0">
                          <a:solidFill>
                            <a:srgbClr val="4B4B4B"/>
                          </a:solidFill>
                          <a:latin typeface="Arial"/>
                        </a:rPr>
                        <a:t>CLR-NB-43</a:t>
                      </a:r>
                    </a:p>
                  </a:txBody>
                  <a:tcPr marL="54864" marR="54864" marT="27432" marB="27432">
                    <a:solidFill>
                      <a:srgbClr val="E5F5FF"/>
                    </a:solidFill>
                  </a:tcPr>
                </a:tc>
                <a:tc>
                  <a:txBody>
                    <a:bodyPr/>
                    <a:lstStyle/>
                    <a:p>
                      <a:r>
                        <a:rPr sz="900" b="0">
                          <a:solidFill>
                            <a:srgbClr val="4B4B4B"/>
                          </a:solidFill>
                          <a:latin typeface="Arial"/>
                        </a:rPr>
                        <a:t>Full status labels</a:t>
                      </a:r>
                    </a:p>
                  </a:txBody>
                  <a:tcPr marL="54864" marR="54864" marT="27432" marB="27432">
                    <a:solidFill>
                      <a:srgbClr val="E5F5FF"/>
                    </a:solidFill>
                  </a:tcPr>
                </a:tc>
                <a:tc>
                  <a:txBody>
                    <a:bodyPr/>
                    <a:lstStyle/>
                    <a:p>
                      <a:r>
                        <a:rPr sz="900" b="0">
                          <a:solidFill>
                            <a:srgbClr val="4B4B4B"/>
                          </a:solidFill>
                          <a:latin typeface="Arial"/>
                        </a:rPr>
                        <a:t>Statuses show their full label (for example Returned to Marketing, Ready for Placement, Pending Authorization); a short form with the full label in the tooltip is used only above 21 characters.</a:t>
                      </a:r>
                    </a:p>
                  </a:txBody>
                  <a:tcPr marL="54864" marR="54864" marT="27432" marB="27432">
                    <a:solidFill>
                      <a:srgbClr val="E5F5FF"/>
                    </a:solidFill>
                  </a:tcPr>
                </a:tc>
                <a:tc>
                  <a:txBody>
                    <a:bodyPr/>
                    <a:lstStyle/>
                    <a:p>
                      <a:r>
                        <a:rPr sz="900" b="0">
                          <a:solidFill>
                            <a:srgbClr val="4B4B4B"/>
                          </a:solidFill>
                          <a:latin typeface="Arial"/>
                        </a:rPr>
                        <a:t>Confirm full labels and the short forms of the longer ones.</a:t>
                      </a:r>
                    </a:p>
                  </a:txBody>
                  <a:tcPr marL="54864" marR="54864" marT="27432" marB="27432">
                    <a:solidFill>
                      <a:srgbClr val="E5F5FF"/>
                    </a:solidFill>
                  </a:tcPr>
                </a:tc>
              </a:tr>
              <a:tr h="777240">
                <a:tc>
                  <a:txBody>
                    <a:bodyPr/>
                    <a:lstStyle/>
                    <a:p>
                      <a:r>
                        <a:rPr sz="900" b="0">
                          <a:solidFill>
                            <a:srgbClr val="4B4B4B"/>
                          </a:solidFill>
                          <a:latin typeface="Arial"/>
                        </a:rPr>
                        <a:t>CLR-NB-45</a:t>
                      </a:r>
                    </a:p>
                  </a:txBody>
                  <a:tcPr marL="54864" marR="54864" marT="27432" marB="27432">
                    <a:solidFill>
                      <a:srgbClr val="FFFFFF"/>
                    </a:solidFill>
                  </a:tcPr>
                </a:tc>
                <a:tc>
                  <a:txBody>
                    <a:bodyPr/>
                    <a:lstStyle/>
                    <a:p>
                      <a:r>
                        <a:rPr sz="900" b="0">
                          <a:solidFill>
                            <a:srgbClr val="4B4B4B"/>
                          </a:solidFill>
                          <a:latin typeface="Arial"/>
                        </a:rPr>
                        <a:t>EOPT details on the placement (BRNB.100; FR-NB-087)</a:t>
                      </a:r>
                    </a:p>
                  </a:txBody>
                  <a:tcPr marL="54864" marR="54864" marT="27432" marB="27432">
                    <a:solidFill>
                      <a:srgbClr val="FFFFFF"/>
                    </a:solidFill>
                  </a:tcPr>
                </a:tc>
                <a:tc>
                  <a:txBody>
                    <a:bodyPr/>
                    <a:lstStyle/>
                    <a:p>
                      <a:r>
                        <a:rPr sz="900" b="0">
                          <a:solidFill>
                            <a:srgbClr val="4B4B4B"/>
                          </a:solidFill>
                          <a:latin typeface="Arial"/>
                        </a:rPr>
                        <a:t>The slip carries the taxpayer name, TIN and registered address from the client record (the client's address serves as the registered address). A change before the final sending regenerates the slip. When details are missing the slip is sent with the details shown as not available; it is not blocked.</a:t>
                      </a:r>
                    </a:p>
                  </a:txBody>
                  <a:tcPr marL="54864" marR="54864" marT="27432" marB="27432">
                    <a:solidFill>
                      <a:srgbClr val="FFFFFF"/>
                    </a:solidFill>
                  </a:tcPr>
                </a:tc>
                <a:tc>
                  <a:txBody>
                    <a:bodyPr/>
                    <a:lstStyle/>
                    <a:p>
                      <a:r>
                        <a:rPr sz="900" b="0">
                          <a:solidFill>
                            <a:srgbClr val="4B4B4B"/>
                          </a:solidFill>
                          <a:latin typeface="Arial"/>
                        </a:rPr>
                        <a:t>Give the full list of EOPT fields, confirm the client's address as the registered address or name another source, and say whether missing EOPT details should stop the sending for some insurers or segments.</a:t>
                      </a:r>
                    </a:p>
                  </a:txBody>
                  <a:tcPr marL="54864" marR="54864" marT="27432" marB="27432">
                    <a:solidFill>
                      <a:srgbClr val="FFFFFF"/>
                    </a:solidFill>
                  </a:tcPr>
                </a:tc>
              </a:tr>
              <a:tr h="640080">
                <a:tc>
                  <a:txBody>
                    <a:bodyPr/>
                    <a:lstStyle/>
                    <a:p>
                      <a:r>
                        <a:rPr sz="900" b="0">
                          <a:solidFill>
                            <a:srgbClr val="4B4B4B"/>
                          </a:solidFill>
                          <a:latin typeface="Arial"/>
                        </a:rPr>
                        <a:t>CLR-NB-47</a:t>
                      </a:r>
                    </a:p>
                  </a:txBody>
                  <a:tcPr marL="54864" marR="54864" marT="27432" marB="27432">
                    <a:solidFill>
                      <a:srgbClr val="E5F5FF"/>
                    </a:solidFill>
                  </a:tcPr>
                </a:tc>
                <a:tc>
                  <a:txBody>
                    <a:bodyPr/>
                    <a:lstStyle/>
                    <a:p>
                      <a:r>
                        <a:rPr sz="900" b="0">
                          <a:solidFill>
                            <a:srgbClr val="4B4B4B"/>
                          </a:solidFill>
                          <a:latin typeface="Arial"/>
                        </a:rPr>
                        <a:t>Bulk quotations and their documents (BRNB.042; FR-NB-044, 046)</a:t>
                      </a:r>
                    </a:p>
                  </a:txBody>
                  <a:tcPr marL="54864" marR="54864" marT="27432" marB="27432">
                    <a:solidFill>
                      <a:srgbClr val="E5F5FF"/>
                    </a:solidFill>
                  </a:tcPr>
                </a:tc>
                <a:tc>
                  <a:txBody>
                    <a:bodyPr/>
                    <a:lstStyle/>
                    <a:p>
                      <a:r>
                        <a:rPr sz="900" b="0">
                          <a:solidFill>
                            <a:srgbClr val="4B4B4B"/>
                          </a:solidFill>
                          <a:latin typeface="Arial"/>
                        </a:rPr>
                        <a:t>A batch is sent quotation by quotation: valid quotations are sent, the others are listed with their reason. Supporting documents are ticked from the Documents tab and sent with the quotation or on their own. The documents mandatory for sending are set per product. The IDF and FFYMI are quotation document templates of their products.</a:t>
                      </a:r>
                    </a:p>
                  </a:txBody>
                  <a:tcPr marL="54864" marR="54864" marT="27432" marB="27432">
                    <a:solidFill>
                      <a:srgbClr val="E5F5FF"/>
                    </a:solidFill>
                  </a:tcPr>
                </a:tc>
                <a:tc>
                  <a:txBody>
                    <a:bodyPr/>
                    <a:lstStyle/>
                    <a:p>
                      <a:r>
                        <a:rPr sz="900" b="0">
                          <a:solidFill>
                            <a:srgbClr val="4B4B4B"/>
                          </a:solidFill>
                          <a:latin typeface="Arial"/>
                        </a:rPr>
                        <a:t>Give the supporting documents that are mandatory for sending per product, and the IDF and FFYMI layouts (Q03).</a:t>
                      </a:r>
                    </a:p>
                  </a:txBody>
                  <a:tcPr marL="54864" marR="54864" marT="27432" marB="27432">
                    <a:solidFill>
                      <a:srgbClr val="E5F5FF"/>
                    </a:solidFill>
                  </a:tcPr>
                </a:tc>
              </a:tr>
            </a:tbl>
          </a:graphicData>
        </a:graphic>
      </p:graphicFrame>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612</a:t>
            </a:r>
          </a:p>
        </p:txBody>
      </p:sp>
      <p:graphicFrame>
        <p:nvGraphicFramePr>
          <p:cNvPr id="9" name="Table 8"/>
          <p:cNvGraphicFramePr>
            <a:graphicFrameLocks noGrp="1"/>
          </p:cNvGraphicFramePr>
          <p:nvPr/>
        </p:nvGraphicFramePr>
        <p:xfrm>
          <a:off x="548640" y="1325880"/>
          <a:ext cx="11094413" cy="86868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640080">
                <a:tc>
                  <a:txBody>
                    <a:bodyPr/>
                    <a:lstStyle/>
                    <a:p>
                      <a:r>
                        <a:rPr sz="900" b="0">
                          <a:solidFill>
                            <a:srgbClr val="4B4B4B"/>
                          </a:solidFill>
                          <a:latin typeface="Arial"/>
                        </a:rPr>
                        <a:t>CLR-NB-48</a:t>
                      </a:r>
                    </a:p>
                  </a:txBody>
                  <a:tcPr marL="54864" marR="54864" marT="27432" marB="27432">
                    <a:solidFill>
                      <a:srgbClr val="FFFFFF"/>
                    </a:solidFill>
                  </a:tcPr>
                </a:tc>
                <a:tc>
                  <a:txBody>
                    <a:bodyPr/>
                    <a:lstStyle/>
                    <a:p>
                      <a:r>
                        <a:rPr sz="900" b="0">
                          <a:solidFill>
                            <a:srgbClr val="4B4B4B"/>
                          </a:solidFill>
                          <a:latin typeface="Arial"/>
                        </a:rPr>
                        <a:t>Automatic sending of the Insurance Advice (BRNB.060; FR-NB-107)</a:t>
                      </a:r>
                    </a:p>
                  </a:txBody>
                  <a:tcPr marL="54864" marR="54864" marT="27432" marB="27432">
                    <a:solidFill>
                      <a:srgbClr val="FFFFFF"/>
                    </a:solidFill>
                  </a:tcPr>
                </a:tc>
                <a:tc>
                  <a:txBody>
                    <a:bodyPr/>
                    <a:lstStyle/>
                    <a:p>
                      <a:r>
                        <a:rPr sz="900" b="0">
                          <a:solidFill>
                            <a:srgbClr val="4B4B4B"/>
                          </a:solidFill>
                          <a:latin typeface="Arial"/>
                        </a:rPr>
                        <a:t>The "MIS level set-up" is read as an Insurance Advice recipient set-up per mortgagee bank (and segment or branch where needed), maintained by the Business Administrator with a second user's authorisation, with the recipient addresses and the enrolment for automatic sending. An advice of an enrolled mortgagee is sent when it is generated.</a:t>
                      </a:r>
                    </a:p>
                  </a:txBody>
                  <a:tcPr marL="54864" marR="54864" marT="27432" marB="27432">
                    <a:solidFill>
                      <a:srgbClr val="FFFFFF"/>
                    </a:solidFill>
                  </a:tcPr>
                </a:tc>
                <a:tc>
                  <a:txBody>
                    <a:bodyPr/>
                    <a:lstStyle/>
                    <a:p>
                      <a:r>
                        <a:rPr sz="900" b="0">
                          <a:solidFill>
                            <a:srgbClr val="4B4B4B"/>
                          </a:solidFill>
                          <a:latin typeface="Arial"/>
                        </a:rPr>
                        <a:t>Confirm what the MIS level set-up is (account MIS data, mortgagee master or client), who maintains it, and the recipients of the automatic sending (Q30).</a:t>
                      </a:r>
                    </a:p>
                  </a:txBody>
                  <a:tcPr marL="54864" marR="54864" marT="27432" marB="27432">
                    <a:solidFill>
                      <a:srgbClr val="FFFFFF"/>
                    </a:solidFill>
                  </a:tcPr>
                </a:tc>
              </a:tr>
            </a:tbl>
          </a:graphicData>
        </a:graphic>
      </p:graphicFrame>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613</a:t>
            </a:r>
          </a:p>
        </p:txBody>
      </p:sp>
      <p:graphicFrame>
        <p:nvGraphicFramePr>
          <p:cNvPr id="9" name="Table 8"/>
          <p:cNvGraphicFramePr>
            <a:graphicFrameLocks noGrp="1"/>
          </p:cNvGraphicFramePr>
          <p:nvPr/>
        </p:nvGraphicFramePr>
        <p:xfrm>
          <a:off x="548640" y="1325880"/>
          <a:ext cx="11094413" cy="347472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502920">
                <a:tc>
                  <a:txBody>
                    <a:bodyPr/>
                    <a:lstStyle/>
                    <a:p>
                      <a:r>
                        <a:rPr sz="900" b="0">
                          <a:solidFill>
                            <a:srgbClr val="4B4B4B"/>
                          </a:solidFill>
                          <a:latin typeface="Arial"/>
                        </a:rPr>
                        <a:t>UX-NB-01</a:t>
                      </a:r>
                    </a:p>
                  </a:txBody>
                  <a:tcPr marL="54864" marR="54864" marT="27432" marB="27432">
                    <a:solidFill>
                      <a:srgbClr val="FFFFFF"/>
                    </a:solidFill>
                  </a:tcPr>
                </a:tc>
                <a:tc>
                  <a:txBody>
                    <a:bodyPr/>
                    <a:lstStyle/>
                    <a:p>
                      <a:r>
                        <a:rPr sz="900" b="0">
                          <a:solidFill>
                            <a:srgbClr val="4B4B4B"/>
                          </a:solidFill>
                          <a:latin typeface="Arial"/>
                        </a:rPr>
                        <a:t>SCR-NB-37</a:t>
                      </a:r>
                    </a:p>
                  </a:txBody>
                  <a:tcPr marL="54864" marR="54864" marT="27432" marB="27432">
                    <a:solidFill>
                      <a:srgbClr val="FFFFFF"/>
                    </a:solidFill>
                  </a:tcPr>
                </a:tc>
                <a:tc>
                  <a:txBody>
                    <a:bodyPr/>
                    <a:lstStyle/>
                    <a:p>
                      <a:r>
                        <a:rPr sz="900" b="0">
                          <a:solidFill>
                            <a:srgbClr val="4B4B4B"/>
                          </a:solidFill>
                          <a:latin typeface="Arial"/>
                        </a:rPr>
                        <a:t>Every New Business persona lands on the New Business Dashboard after sign-in; the System Administrator and the Auditor land on the home page of the platform.</a:t>
                      </a:r>
                    </a:p>
                  </a:txBody>
                  <a:tcPr marL="54864" marR="54864" marT="27432" marB="27432">
                    <a:solidFill>
                      <a:srgbClr val="FFFFFF"/>
                    </a:solidFill>
                  </a:tcPr>
                </a:tc>
                <a:tc>
                  <a:txBody>
                    <a:bodyPr/>
                    <a:lstStyle/>
                    <a:p>
                      <a:r>
                        <a:rPr sz="900" b="0">
                          <a:solidFill>
                            <a:srgbClr val="4B4B4B"/>
                          </a:solidFill>
                          <a:latin typeface="Arial"/>
                        </a:rPr>
                        <a:t>Confirm the landing page of each persona, or land the Processing and TSU personas on their workbench.</a:t>
                      </a:r>
                    </a:p>
                  </a:txBody>
                  <a:tcPr marL="54864" marR="54864" marT="27432" marB="27432">
                    <a:solidFill>
                      <a:srgbClr val="FFFFFF"/>
                    </a:solidFill>
                  </a:tcPr>
                </a:tc>
              </a:tr>
              <a:tr h="502920">
                <a:tc>
                  <a:txBody>
                    <a:bodyPr/>
                    <a:lstStyle/>
                    <a:p>
                      <a:r>
                        <a:rPr sz="900" b="0">
                          <a:solidFill>
                            <a:srgbClr val="4B4B4B"/>
                          </a:solidFill>
                          <a:latin typeface="Arial"/>
                        </a:rPr>
                        <a:t>UX-NB-02</a:t>
                      </a:r>
                    </a:p>
                  </a:txBody>
                  <a:tcPr marL="54864" marR="54864" marT="27432" marB="27432">
                    <a:solidFill>
                      <a:srgbClr val="E5F5FF"/>
                    </a:solidFill>
                  </a:tcPr>
                </a:tc>
                <a:tc>
                  <a:txBody>
                    <a:bodyPr/>
                    <a:lstStyle/>
                    <a:p>
                      <a:r>
                        <a:rPr sz="900" b="0">
                          <a:solidFill>
                            <a:srgbClr val="4B4B4B"/>
                          </a:solidFill>
                          <a:latin typeface="Arial"/>
                        </a:rPr>
                        <a:t>SCR-NB-29, SCR-NB-30</a:t>
                      </a:r>
                    </a:p>
                  </a:txBody>
                  <a:tcPr marL="54864" marR="54864" marT="27432" marB="27432">
                    <a:solidFill>
                      <a:srgbClr val="E5F5FF"/>
                    </a:solidFill>
                  </a:tcPr>
                </a:tc>
                <a:tc>
                  <a:txBody>
                    <a:bodyPr/>
                    <a:lstStyle/>
                    <a:p>
                      <a:r>
                        <a:rPr sz="900" b="0">
                          <a:solidFill>
                            <a:srgbClr val="4B4B4B"/>
                          </a:solidFill>
                          <a:latin typeface="Arial"/>
                        </a:rPr>
                        <a:t>The journal preview and the journal of a booked invoice show the ledger account by its number and name and the party of a line by its sub-ledger code (client or insurer code), as the journals of the General Ledger do.</a:t>
                      </a:r>
                    </a:p>
                  </a:txBody>
                  <a:tcPr marL="54864" marR="54864" marT="27432" marB="27432">
                    <a:solidFill>
                      <a:srgbClr val="E5F5FF"/>
                    </a:solidFill>
                  </a:tcPr>
                </a:tc>
                <a:tc>
                  <a:txBody>
                    <a:bodyPr/>
                    <a:lstStyle/>
                    <a:p>
                      <a:r>
                        <a:rPr sz="900" b="0">
                          <a:solidFill>
                            <a:srgbClr val="4B4B4B"/>
                          </a:solidFill>
                          <a:latin typeface="Arial"/>
                        </a:rPr>
                        <a:t>Confirm the account number and the party code, or show the party's name with the code under it.</a:t>
                      </a:r>
                    </a:p>
                  </a:txBody>
                  <a:tcPr marL="54864" marR="54864" marT="27432" marB="27432">
                    <a:solidFill>
                      <a:srgbClr val="E5F5FF"/>
                    </a:solidFill>
                  </a:tcPr>
                </a:tc>
              </a:tr>
              <a:tr h="365760">
                <a:tc>
                  <a:txBody>
                    <a:bodyPr/>
                    <a:lstStyle/>
                    <a:p>
                      <a:r>
                        <a:rPr sz="900" b="0">
                          <a:solidFill>
                            <a:srgbClr val="4B4B4B"/>
                          </a:solidFill>
                          <a:latin typeface="Arial"/>
                        </a:rPr>
                        <a:t>UX-NB-03</a:t>
                      </a:r>
                    </a:p>
                  </a:txBody>
                  <a:tcPr marL="54864" marR="54864" marT="27432" marB="27432">
                    <a:solidFill>
                      <a:srgbClr val="FFFFFF"/>
                    </a:solidFill>
                  </a:tcPr>
                </a:tc>
                <a:tc>
                  <a:txBody>
                    <a:bodyPr/>
                    <a:lstStyle/>
                    <a:p>
                      <a:r>
                        <a:rPr sz="900" b="0">
                          <a:solidFill>
                            <a:srgbClr val="4B4B4B"/>
                          </a:solidFill>
                          <a:latin typeface="Arial"/>
                        </a:rPr>
                        <a:t>SCR-NB-40</a:t>
                      </a:r>
                    </a:p>
                  </a:txBody>
                  <a:tcPr marL="54864" marR="54864" marT="27432" marB="27432">
                    <a:solidFill>
                      <a:srgbClr val="FFFFFF"/>
                    </a:solidFill>
                  </a:tcPr>
                </a:tc>
                <a:tc>
                  <a:txBody>
                    <a:bodyPr/>
                    <a:lstStyle/>
                    <a:p>
                      <a:r>
                        <a:rPr sz="900" b="0">
                          <a:solidFill>
                            <a:srgbClr val="4B4B4B"/>
                          </a:solidFill>
                          <a:latin typeface="Arial"/>
                        </a:rPr>
                        <a:t>The Account Status Report lists the product by its code and wraps the ARN over three lines in its narrow column; the printed report has the same layout.</a:t>
                      </a:r>
                    </a:p>
                  </a:txBody>
                  <a:tcPr marL="54864" marR="54864" marT="27432" marB="27432">
                    <a:solidFill>
                      <a:srgbClr val="FFFFFF"/>
                    </a:solidFill>
                  </a:tcPr>
                </a:tc>
                <a:tc>
                  <a:txBody>
                    <a:bodyPr/>
                    <a:lstStyle/>
                    <a:p>
                      <a:r>
                        <a:rPr sz="900" b="0">
                          <a:solidFill>
                            <a:srgbClr val="4B4B4B"/>
                          </a:solidFill>
                          <a:latin typeface="Arial"/>
                        </a:rPr>
                        <a:t>Show the product name with the code under it and keep the ARN on one line, or confirm the compact layout.</a:t>
                      </a:r>
                    </a:p>
                  </a:txBody>
                  <a:tcPr marL="54864" marR="54864" marT="27432" marB="27432">
                    <a:solidFill>
                      <a:srgbClr val="FFFFFF"/>
                    </a:solidFill>
                  </a:tcPr>
                </a:tc>
              </a:tr>
              <a:tr h="365760">
                <a:tc>
                  <a:txBody>
                    <a:bodyPr/>
                    <a:lstStyle/>
                    <a:p>
                      <a:r>
                        <a:rPr sz="900" b="0">
                          <a:solidFill>
                            <a:srgbClr val="4B4B4B"/>
                          </a:solidFill>
                          <a:latin typeface="Arial"/>
                        </a:rPr>
                        <a:t>UX-NB-04</a:t>
                      </a:r>
                    </a:p>
                  </a:txBody>
                  <a:tcPr marL="54864" marR="54864" marT="27432" marB="27432">
                    <a:solidFill>
                      <a:srgbClr val="E5F5FF"/>
                    </a:solidFill>
                  </a:tcPr>
                </a:tc>
                <a:tc>
                  <a:txBody>
                    <a:bodyPr/>
                    <a:lstStyle/>
                    <a:p>
                      <a:r>
                        <a:rPr sz="900" b="0">
                          <a:solidFill>
                            <a:srgbClr val="4B4B4B"/>
                          </a:solidFill>
                          <a:latin typeface="Arial"/>
                        </a:rPr>
                        <a:t>SCR-NB-43</a:t>
                      </a:r>
                    </a:p>
                  </a:txBody>
                  <a:tcPr marL="54864" marR="54864" marT="27432" marB="27432">
                    <a:solidFill>
                      <a:srgbClr val="E5F5FF"/>
                    </a:solidFill>
                  </a:tcPr>
                </a:tc>
                <a:tc>
                  <a:txBody>
                    <a:bodyPr/>
                    <a:lstStyle/>
                    <a:p>
                      <a:r>
                        <a:rPr sz="900" b="0">
                          <a:solidFill>
                            <a:srgbClr val="4B4B4B"/>
                          </a:solidFill>
                          <a:latin typeface="Arial"/>
                        </a:rPr>
                        <a:t>The record types of the retention rules are shown in words made from their internal names (for example Csf Contact Change, Eb Programme).</a:t>
                      </a:r>
                    </a:p>
                  </a:txBody>
                  <a:tcPr marL="54864" marR="54864" marT="27432" marB="27432">
                    <a:solidFill>
                      <a:srgbClr val="E5F5FF"/>
                    </a:solidFill>
                  </a:tcPr>
                </a:tc>
                <a:tc>
                  <a:txBody>
                    <a:bodyPr/>
                    <a:lstStyle/>
                    <a:p>
                      <a:r>
                        <a:rPr sz="900" b="0">
                          <a:solidFill>
                            <a:srgbClr val="4B4B4B"/>
                          </a:solidFill>
                          <a:latin typeface="Arial"/>
                        </a:rPr>
                        <a:t>Give each record type a business name (for example Customer servicing contact change, Employee Benefits programme).</a:t>
                      </a:r>
                    </a:p>
                  </a:txBody>
                  <a:tcPr marL="54864" marR="54864" marT="27432" marB="27432">
                    <a:solidFill>
                      <a:srgbClr val="E5F5FF"/>
                    </a:solidFill>
                  </a:tcPr>
                </a:tc>
              </a:tr>
              <a:tr h="502920">
                <a:tc>
                  <a:txBody>
                    <a:bodyPr/>
                    <a:lstStyle/>
                    <a:p>
                      <a:r>
                        <a:rPr sz="900" b="0">
                          <a:solidFill>
                            <a:srgbClr val="4B4B4B"/>
                          </a:solidFill>
                          <a:latin typeface="Arial"/>
                        </a:rPr>
                        <a:t>UX-NB-05</a:t>
                      </a:r>
                    </a:p>
                  </a:txBody>
                  <a:tcPr marL="54864" marR="54864" marT="27432" marB="27432">
                    <a:solidFill>
                      <a:srgbClr val="FFFFFF"/>
                    </a:solidFill>
                  </a:tcPr>
                </a:tc>
                <a:tc>
                  <a:txBody>
                    <a:bodyPr/>
                    <a:lstStyle/>
                    <a:p>
                      <a:r>
                        <a:rPr sz="900" b="0">
                          <a:solidFill>
                            <a:srgbClr val="4B4B4B"/>
                          </a:solidFill>
                          <a:latin typeface="Arial"/>
                        </a:rPr>
                        <a:t>SCR-NB-42</a:t>
                      </a:r>
                    </a:p>
                  </a:txBody>
                  <a:tcPr marL="54864" marR="54864" marT="27432" marB="27432">
                    <a:solidFill>
                      <a:srgbClr val="FFFFFF"/>
                    </a:solidFill>
                  </a:tcPr>
                </a:tc>
                <a:tc>
                  <a:txBody>
                    <a:bodyPr/>
                    <a:lstStyle/>
                    <a:p>
                      <a:r>
                        <a:rPr sz="900" b="0">
                          <a:solidFill>
                            <a:srgbClr val="4B4B4B"/>
                          </a:solidFill>
                          <a:latin typeface="Arial"/>
                        </a:rPr>
                        <a:t>Lists of Values shows the code of each list under its name and the code of each value in its own column; these codes are what the upload templates and interfaces carry.</a:t>
                      </a:r>
                    </a:p>
                  </a:txBody>
                  <a:tcPr marL="54864" marR="54864" marT="27432" marB="27432">
                    <a:solidFill>
                      <a:srgbClr val="FFFFFF"/>
                    </a:solidFill>
                  </a:tcPr>
                </a:tc>
                <a:tc>
                  <a:txBody>
                    <a:bodyPr/>
                    <a:lstStyle/>
                    <a:p>
                      <a:r>
                        <a:rPr sz="900" b="0">
                          <a:solidFill>
                            <a:srgbClr val="4B4B4B"/>
                          </a:solidFill>
                          <a:latin typeface="Arial"/>
                        </a:rPr>
                        <a:t>Keep the codes for the Business Administrator, or show them only in the tooltip.</a:t>
                      </a:r>
                    </a:p>
                  </a:txBody>
                  <a:tcPr marL="54864" marR="54864" marT="27432" marB="27432">
                    <a:solidFill>
                      <a:srgbClr val="FFFFFF"/>
                    </a:solidFill>
                  </a:tcPr>
                </a:tc>
              </a:tr>
              <a:tr h="502920">
                <a:tc>
                  <a:txBody>
                    <a:bodyPr/>
                    <a:lstStyle/>
                    <a:p>
                      <a:r>
                        <a:rPr sz="900" b="0">
                          <a:solidFill>
                            <a:srgbClr val="4B4B4B"/>
                          </a:solidFill>
                          <a:latin typeface="Arial"/>
                        </a:rPr>
                        <a:t>UX-NB-06</a:t>
                      </a:r>
                    </a:p>
                  </a:txBody>
                  <a:tcPr marL="54864" marR="54864" marT="27432" marB="27432">
                    <a:solidFill>
                      <a:srgbClr val="E5F5FF"/>
                    </a:solidFill>
                  </a:tcPr>
                </a:tc>
                <a:tc>
                  <a:txBody>
                    <a:bodyPr/>
                    <a:lstStyle/>
                    <a:p>
                      <a:r>
                        <a:rPr sz="900" b="0">
                          <a:solidFill>
                            <a:srgbClr val="4B4B4B"/>
                          </a:solidFill>
                          <a:latin typeface="Arial"/>
                        </a:rPr>
                        <a:t>SCR-NB-45</a:t>
                      </a:r>
                    </a:p>
                  </a:txBody>
                  <a:tcPr marL="54864" marR="54864" marT="27432" marB="27432">
                    <a:solidFill>
                      <a:srgbClr val="E5F5FF"/>
                    </a:solidFill>
                  </a:tcPr>
                </a:tc>
                <a:tc>
                  <a:txBody>
                    <a:bodyPr/>
                    <a:lstStyle/>
                    <a:p>
                      <a:r>
                        <a:rPr sz="900" b="0">
                          <a:solidFill>
                            <a:srgbClr val="4B4B4B"/>
                          </a:solidFill>
                          <a:latin typeface="Arial"/>
                        </a:rPr>
                        <a:t>In the SIT environment no mail server is connected: the Reason column of Outbound Messages and the Dispatch Report show the SIT delivery note instead of the mail server's answer.</a:t>
                      </a:r>
                    </a:p>
                  </a:txBody>
                  <a:tcPr marL="54864" marR="54864" marT="27432" marB="27432">
                    <a:solidFill>
                      <a:srgbClr val="E5F5FF"/>
                    </a:solidFill>
                  </a:tcPr>
                </a:tc>
                <a:tc>
                  <a:txBody>
                    <a:bodyPr/>
                    <a:lstStyle/>
                    <a:p>
                      <a:r>
                        <a:rPr sz="900" b="0">
                          <a:solidFill>
                            <a:srgbClr val="4B4B4B"/>
                          </a:solidFill>
                          <a:latin typeface="Arial"/>
                        </a:rPr>
                        <a:t>No change; the column shows the mail server's answer in production.</a:t>
                      </a:r>
                    </a:p>
                  </a:txBody>
                  <a:tcPr marL="54864" marR="54864" marT="27432" marB="27432">
                    <a:solidFill>
                      <a:srgbClr val="E5F5FF"/>
                    </a:solidFill>
                  </a:tcPr>
                </a:tc>
              </a:tr>
              <a:tr h="502920">
                <a:tc>
                  <a:txBody>
                    <a:bodyPr/>
                    <a:lstStyle/>
                    <a:p>
                      <a:r>
                        <a:rPr sz="900" b="0">
                          <a:solidFill>
                            <a:srgbClr val="4B4B4B"/>
                          </a:solidFill>
                          <a:latin typeface="Arial"/>
                        </a:rPr>
                        <a:t>UX-NB-07</a:t>
                      </a:r>
                    </a:p>
                  </a:txBody>
                  <a:tcPr marL="54864" marR="54864" marT="27432" marB="27432">
                    <a:solidFill>
                      <a:srgbClr val="FFFFFF"/>
                    </a:solidFill>
                  </a:tcPr>
                </a:tc>
                <a:tc>
                  <a:txBody>
                    <a:bodyPr/>
                    <a:lstStyle/>
                    <a:p>
                      <a:r>
                        <a:rPr sz="900" b="0">
                          <a:solidFill>
                            <a:srgbClr val="4B4B4B"/>
                          </a:solidFill>
                          <a:latin typeface="Arial"/>
                        </a:rPr>
                        <a:t>SCR-NB-25</a:t>
                      </a:r>
                    </a:p>
                  </a:txBody>
                  <a:tcPr marL="54864" marR="54864" marT="27432" marB="27432">
                    <a:solidFill>
                      <a:srgbClr val="FFFFFF"/>
                    </a:solidFill>
                  </a:tcPr>
                </a:tc>
                <a:tc>
                  <a:txBody>
                    <a:bodyPr/>
                    <a:lstStyle/>
                    <a:p>
                      <a:r>
                        <a:rPr sz="900" b="0">
                          <a:solidFill>
                            <a:srgbClr val="4B4B4B"/>
                          </a:solidFill>
                          <a:latin typeface="Arial"/>
                        </a:rPr>
                        <a:t>The Extraction Review compares the policy numbers read from the e-policy with the number expected on the account ("1 expected"), not with a policy number, which the account does not have yet.</a:t>
                      </a:r>
                    </a:p>
                  </a:txBody>
                  <a:tcPr marL="54864" marR="54864" marT="27432" marB="27432">
                    <a:solidFill>
                      <a:srgbClr val="FFFFFF"/>
                    </a:solidFill>
                  </a:tcPr>
                </a:tc>
                <a:tc>
                  <a:txBody>
                    <a:bodyPr/>
                    <a:lstStyle/>
                    <a:p>
                      <a:r>
                        <a:rPr sz="900" b="0">
                          <a:solidFill>
                            <a:srgbClr val="4B4B4B"/>
                          </a:solidFill>
                          <a:latin typeface="Arial"/>
                        </a:rPr>
                        <a:t>Confirm the wording, or write "One policy number expected".</a:t>
                      </a:r>
                    </a:p>
                  </a:txBody>
                  <a:tcPr marL="54864" marR="54864" marT="27432" marB="27432">
                    <a:solidFill>
                      <a:srgbClr val="FFFFFF"/>
                    </a:solidFill>
                  </a:tcPr>
                </a:tc>
              </a:tr>
            </a:tbl>
          </a:graphicData>
        </a:graphic>
      </p:graphicFrame>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614</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 New Business</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617</a:t>
            </a:r>
          </a:p>
        </p:txBody>
      </p:sp>
      <p:graphicFrame>
        <p:nvGraphicFramePr>
          <p:cNvPr id="9" name="Table 8"/>
          <p:cNvGraphicFramePr>
            <a:graphicFrameLocks noGrp="1"/>
          </p:cNvGraphicFramePr>
          <p:nvPr/>
        </p:nvGraphicFramePr>
        <p:xfrm>
          <a:off x="548640" y="1325880"/>
          <a:ext cx="11094412" cy="4884395"/>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SCR-NB-01</a:t>
                      </a:r>
                    </a:p>
                  </a:txBody>
                  <a:tcPr marL="54864" marR="54864" marT="27432" marB="27432">
                    <a:solidFill>
                      <a:srgbClr val="FFFFFF"/>
                    </a:solidFill>
                  </a:tcPr>
                </a:tc>
                <a:tc>
                  <a:txBody>
                    <a:bodyPr/>
                    <a:lstStyle/>
                    <a:p>
                      <a:r>
                        <a:rPr sz="850" b="0">
                          <a:solidFill>
                            <a:srgbClr val="4B4B4B"/>
                          </a:solidFill>
                          <a:latin typeface="Arial"/>
                        </a:rPr>
                        <a:t>Clients</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FR-NB-030, FR-NB-046</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Empty list</a:t>
                      </a:r>
                    </a:p>
                  </a:txBody>
                  <a:tcPr marL="54864" marR="54864" marT="27432" marB="27432">
                    <a:solidFill>
                      <a:srgbClr val="FFFFFF"/>
                    </a:solidFill>
                  </a:tcPr>
                </a:tc>
              </a:tr>
              <a:tr h="220979">
                <a:tc>
                  <a:txBody>
                    <a:bodyPr/>
                    <a:lstStyle/>
                    <a:p>
                      <a:r>
                        <a:rPr sz="850" b="0">
                          <a:solidFill>
                            <a:srgbClr val="4B4B4B"/>
                          </a:solidFill>
                          <a:latin typeface="Arial"/>
                        </a:rPr>
                        <a:t>SCR-NB-02</a:t>
                      </a:r>
                    </a:p>
                  </a:txBody>
                  <a:tcPr marL="54864" marR="54864" marT="27432" marB="27432">
                    <a:solidFill>
                      <a:srgbClr val="E5F5FF"/>
                    </a:solidFill>
                  </a:tcPr>
                </a:tc>
                <a:tc>
                  <a:txBody>
                    <a:bodyPr/>
                    <a:lstStyle/>
                    <a:p>
                      <a:r>
                        <a:rPr sz="850" b="0">
                          <a:solidFill>
                            <a:srgbClr val="4B4B4B"/>
                          </a:solidFill>
                          <a:latin typeface="Arial"/>
                        </a:rPr>
                        <a:t>New Client and Edit Client</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FR-NB-031, FR-NB-032, FR-NB-033</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Filled, Validation error, Success message, Empty list</a:t>
                      </a:r>
                    </a:p>
                  </a:txBody>
                  <a:tcPr marL="54864" marR="54864" marT="27432" marB="27432">
                    <a:solidFill>
                      <a:srgbClr val="E5F5FF"/>
                    </a:solidFill>
                  </a:tcPr>
                </a:tc>
              </a:tr>
              <a:tr h="350518">
                <a:tc>
                  <a:txBody>
                    <a:bodyPr/>
                    <a:lstStyle/>
                    <a:p>
                      <a:r>
                        <a:rPr sz="850" b="0">
                          <a:solidFill>
                            <a:srgbClr val="4B4B4B"/>
                          </a:solidFill>
                          <a:latin typeface="Arial"/>
                        </a:rPr>
                        <a:t>SCR-NB-03</a:t>
                      </a:r>
                    </a:p>
                  </a:txBody>
                  <a:tcPr marL="54864" marR="54864" marT="27432" marB="27432">
                    <a:solidFill>
                      <a:srgbClr val="FFFFFF"/>
                    </a:solidFill>
                  </a:tcPr>
                </a:tc>
                <a:tc>
                  <a:txBody>
                    <a:bodyPr/>
                    <a:lstStyle/>
                    <a:p>
                      <a:r>
                        <a:rPr sz="850" b="0">
                          <a:solidFill>
                            <a:srgbClr val="4B4B4B"/>
                          </a:solidFill>
                          <a:latin typeface="Arial"/>
                        </a:rPr>
                        <a:t>Client record</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FR-NB-034, FR-NB-036, FR-NB-037, FR-NB-017, FR-NB-018</a:t>
                      </a:r>
                    </a:p>
                  </a:txBody>
                  <a:tcPr marL="54864" marR="54864" marT="27432" marB="27432">
                    <a:solidFill>
                      <a:srgbClr val="FFFFFF"/>
                    </a:solidFill>
                  </a:tcPr>
                </a:tc>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Default, Validation error, Success message, Pending approval, Rejected or returned</a:t>
                      </a:r>
                    </a:p>
                  </a:txBody>
                  <a:tcPr marL="54864" marR="54864" marT="27432" marB="27432">
                    <a:solidFill>
                      <a:srgbClr val="FFFFFF"/>
                    </a:solidFill>
                  </a:tcPr>
                </a:tc>
              </a:tr>
              <a:tr h="220979">
                <a:tc>
                  <a:txBody>
                    <a:bodyPr/>
                    <a:lstStyle/>
                    <a:p>
                      <a:r>
                        <a:rPr sz="850" b="0">
                          <a:solidFill>
                            <a:srgbClr val="4B4B4B"/>
                          </a:solidFill>
                          <a:latin typeface="Arial"/>
                        </a:rPr>
                        <a:t>SCR-NB-04</a:t>
                      </a:r>
                    </a:p>
                  </a:txBody>
                  <a:tcPr marL="54864" marR="54864" marT="27432" marB="27432">
                    <a:solidFill>
                      <a:srgbClr val="E5F5FF"/>
                    </a:solidFill>
                  </a:tcPr>
                </a:tc>
                <a:tc>
                  <a:txBody>
                    <a:bodyPr/>
                    <a:lstStyle/>
                    <a:p>
                      <a:r>
                        <a:rPr sz="850" b="0">
                          <a:solidFill>
                            <a:srgbClr val="4B4B4B"/>
                          </a:solidFill>
                          <a:latin typeface="Arial"/>
                        </a:rPr>
                        <a:t>KYC Reviews Due</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FR-NB-038</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SCR-NB-05</a:t>
                      </a:r>
                    </a:p>
                  </a:txBody>
                  <a:tcPr marL="54864" marR="54864" marT="27432" marB="27432">
                    <a:solidFill>
                      <a:srgbClr val="FFFFFF"/>
                    </a:solidFill>
                  </a:tcPr>
                </a:tc>
                <a:tc>
                  <a:txBody>
                    <a:bodyPr/>
                    <a:lstStyle/>
                    <a:p>
                      <a:r>
                        <a:rPr sz="850" b="0">
                          <a:solidFill>
                            <a:srgbClr val="4B4B4B"/>
                          </a:solidFill>
                          <a:latin typeface="Arial"/>
                        </a:rPr>
                        <a:t>Quotations</a:t>
                      </a:r>
                    </a:p>
                  </a:txBody>
                  <a:tcPr marL="54864" marR="54864" marT="27432" marB="27432">
                    <a:solidFill>
                      <a:srgbClr val="FFFFFF"/>
                    </a:solidFill>
                  </a:tcPr>
                </a:tc>
                <a:tc>
                  <a:txBody>
                    <a:bodyPr/>
                    <a:lstStyle/>
                    <a:p>
                      <a:r>
                        <a:rPr sz="850" b="0">
                          <a:solidFill>
                            <a:srgbClr val="4B4B4B"/>
                          </a:solidFill>
                          <a:latin typeface="Arial"/>
                        </a:rPr>
                        <a:t>13.2.1</a:t>
                      </a:r>
                    </a:p>
                  </a:txBody>
                  <a:tcPr marL="54864" marR="54864" marT="27432" marB="27432">
                    <a:solidFill>
                      <a:srgbClr val="FFFFFF"/>
                    </a:solidFill>
                  </a:tcPr>
                </a:tc>
                <a:tc>
                  <a:txBody>
                    <a:bodyPr/>
                    <a:lstStyle/>
                    <a:p>
                      <a:r>
                        <a:rPr sz="850" b="0">
                          <a:solidFill>
                            <a:srgbClr val="4B4B4B"/>
                          </a:solidFill>
                          <a:latin typeface="Arial"/>
                        </a:rPr>
                        <a:t>FR-NB-010, FR-NB-042, FR-NB-044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350518">
                <a:tc>
                  <a:txBody>
                    <a:bodyPr/>
                    <a:lstStyle/>
                    <a:p>
                      <a:r>
                        <a:rPr sz="850" b="0">
                          <a:solidFill>
                            <a:srgbClr val="4B4B4B"/>
                          </a:solidFill>
                          <a:latin typeface="Arial"/>
                        </a:rPr>
                        <a:t>SCR-NB-06</a:t>
                      </a:r>
                    </a:p>
                  </a:txBody>
                  <a:tcPr marL="54864" marR="54864" marT="27432" marB="27432">
                    <a:solidFill>
                      <a:srgbClr val="E5F5FF"/>
                    </a:solidFill>
                  </a:tcPr>
                </a:tc>
                <a:tc>
                  <a:txBody>
                    <a:bodyPr/>
                    <a:lstStyle/>
                    <a:p>
                      <a:r>
                        <a:rPr sz="850" b="0">
                          <a:solidFill>
                            <a:srgbClr val="4B4B4B"/>
                          </a:solidFill>
                          <a:latin typeface="Arial"/>
                        </a:rPr>
                        <a:t>New Quotation and Edit Quotation</a:t>
                      </a:r>
                    </a:p>
                  </a:txBody>
                  <a:tcPr marL="54864" marR="54864" marT="27432" marB="27432">
                    <a:solidFill>
                      <a:srgbClr val="E5F5FF"/>
                    </a:solidFill>
                  </a:tcPr>
                </a:tc>
                <a:tc>
                  <a:txBody>
                    <a:bodyPr/>
                    <a:lstStyle/>
                    <a:p>
                      <a:r>
                        <a:rPr sz="850" b="0">
                          <a:solidFill>
                            <a:srgbClr val="4B4B4B"/>
                          </a:solidFill>
                          <a:latin typeface="Arial"/>
                        </a:rPr>
                        <a:t>13.2.2</a:t>
                      </a:r>
                    </a:p>
                  </a:txBody>
                  <a:tcPr marL="54864" marR="54864" marT="27432" marB="27432">
                    <a:solidFill>
                      <a:srgbClr val="E5F5FF"/>
                    </a:solidFill>
                  </a:tcPr>
                </a:tc>
                <a:tc>
                  <a:txBody>
                    <a:bodyPr/>
                    <a:lstStyle/>
                    <a:p>
                      <a:r>
                        <a:rPr sz="850" b="0">
                          <a:solidFill>
                            <a:srgbClr val="4B4B4B"/>
                          </a:solidFill>
                          <a:latin typeface="Arial"/>
                        </a:rPr>
                        <a:t>FR-NB-041, FR-NB-042, FR-NB-047, FR-NB-005, FR-NB-062</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Validation error, Success message, Empty list</a:t>
                      </a:r>
                    </a:p>
                  </a:txBody>
                  <a:tcPr marL="54864" marR="54864" marT="27432" marB="27432">
                    <a:solidFill>
                      <a:srgbClr val="E5F5FF"/>
                    </a:solidFill>
                  </a:tcPr>
                </a:tc>
              </a:tr>
              <a:tr h="350518">
                <a:tc>
                  <a:txBody>
                    <a:bodyPr/>
                    <a:lstStyle/>
                    <a:p>
                      <a:r>
                        <a:rPr sz="850" b="0">
                          <a:solidFill>
                            <a:srgbClr val="4B4B4B"/>
                          </a:solidFill>
                          <a:latin typeface="Arial"/>
                        </a:rPr>
                        <a:t>SCR-NB-07</a:t>
                      </a:r>
                    </a:p>
                  </a:txBody>
                  <a:tcPr marL="54864" marR="54864" marT="27432" marB="27432">
                    <a:solidFill>
                      <a:srgbClr val="FFFFFF"/>
                    </a:solidFill>
                  </a:tcPr>
                </a:tc>
                <a:tc>
                  <a:txBody>
                    <a:bodyPr/>
                    <a:lstStyle/>
                    <a:p>
                      <a:r>
                        <a:rPr sz="850" b="0">
                          <a:solidFill>
                            <a:srgbClr val="4B4B4B"/>
                          </a:solidFill>
                          <a:latin typeface="Arial"/>
                        </a:rPr>
                        <a:t>Quotation record</a:t>
                      </a:r>
                    </a:p>
                  </a:txBody>
                  <a:tcPr marL="54864" marR="54864" marT="27432" marB="27432">
                    <a:solidFill>
                      <a:srgbClr val="FFFFFF"/>
                    </a:solidFill>
                  </a:tcPr>
                </a:tc>
                <a:tc>
                  <a:txBody>
                    <a:bodyPr/>
                    <a:lstStyle/>
                    <a:p>
                      <a:r>
                        <a:rPr sz="850" b="0">
                          <a:solidFill>
                            <a:srgbClr val="4B4B4B"/>
                          </a:solidFill>
                          <a:latin typeface="Arial"/>
                        </a:rPr>
                        <a:t>13.2.3</a:t>
                      </a:r>
                    </a:p>
                  </a:txBody>
                  <a:tcPr marL="54864" marR="54864" marT="27432" marB="27432">
                    <a:solidFill>
                      <a:srgbClr val="FFFFFF"/>
                    </a:solidFill>
                  </a:tcPr>
                </a:tc>
                <a:tc>
                  <a:txBody>
                    <a:bodyPr/>
                    <a:lstStyle/>
                    <a:p>
                      <a:r>
                        <a:rPr sz="850" b="0">
                          <a:solidFill>
                            <a:srgbClr val="4B4B4B"/>
                          </a:solidFill>
                          <a:latin typeface="Arial"/>
                        </a:rPr>
                        <a:t>FR-NB-042, FR-NB-043, FR-NB-044, FR-NB-045, FR-NB-012, FR-NB-013, FR-NB-014</a:t>
                      </a:r>
                    </a:p>
                  </a:txBody>
                  <a:tcPr marL="54864" marR="54864" marT="27432" marB="27432">
                    <a:solidFill>
                      <a:srgbClr val="FFFFFF"/>
                    </a:solidFill>
                  </a:tcPr>
                </a:tc>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Default, Filled, Validation error, Success message, Read-only or locked, Pending approval, Rejected or returned</a:t>
                      </a:r>
                    </a:p>
                  </a:txBody>
                  <a:tcPr marL="54864" marR="54864" marT="27432" marB="27432">
                    <a:solidFill>
                      <a:srgbClr val="FFFFFF"/>
                    </a:solidFill>
                  </a:tcPr>
                </a:tc>
              </a:tr>
              <a:tr h="220979">
                <a:tc>
                  <a:txBody>
                    <a:bodyPr/>
                    <a:lstStyle/>
                    <a:p>
                      <a:r>
                        <a:rPr sz="850" b="0">
                          <a:solidFill>
                            <a:srgbClr val="4B4B4B"/>
                          </a:solidFill>
                          <a:latin typeface="Arial"/>
                        </a:rPr>
                        <a:t>SCR-NB-08</a:t>
                      </a:r>
                    </a:p>
                  </a:txBody>
                  <a:tcPr marL="54864" marR="54864" marT="27432" marB="27432">
                    <a:solidFill>
                      <a:srgbClr val="E5F5FF"/>
                    </a:solidFill>
                  </a:tcPr>
                </a:tc>
                <a:tc>
                  <a:txBody>
                    <a:bodyPr/>
                    <a:lstStyle/>
                    <a:p>
                      <a:r>
                        <a:rPr sz="850" b="0">
                          <a:solidFill>
                            <a:srgbClr val="4B4B4B"/>
                          </a:solidFill>
                          <a:latin typeface="Arial"/>
                        </a:rPr>
                        <a:t>Quotation Requests</a:t>
                      </a:r>
                    </a:p>
                  </a:txBody>
                  <a:tcPr marL="54864" marR="54864" marT="27432" marB="27432">
                    <a:solidFill>
                      <a:srgbClr val="E5F5FF"/>
                    </a:solidFill>
                  </a:tcPr>
                </a:tc>
                <a:tc>
                  <a:txBody>
                    <a:bodyPr/>
                    <a:lstStyle/>
                    <a:p>
                      <a:r>
                        <a:rPr sz="850" b="0">
                          <a:solidFill>
                            <a:srgbClr val="4B4B4B"/>
                          </a:solidFill>
                          <a:latin typeface="Arial"/>
                        </a:rPr>
                        <a:t>13.2.4</a:t>
                      </a:r>
                    </a:p>
                  </a:txBody>
                  <a:tcPr marL="54864" marR="54864" marT="27432" marB="27432">
                    <a:solidFill>
                      <a:srgbClr val="E5F5FF"/>
                    </a:solidFill>
                  </a:tcPr>
                </a:tc>
                <a:tc>
                  <a:txBody>
                    <a:bodyPr/>
                    <a:lstStyle/>
                    <a:p>
                      <a:r>
                        <a:rPr sz="850" b="0">
                          <a:solidFill>
                            <a:srgbClr val="4B4B4B"/>
                          </a:solidFill>
                          <a:latin typeface="Arial"/>
                        </a:rPr>
                        <a:t>FR-NB-040</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Confirmation with reason</a:t>
                      </a:r>
                    </a:p>
                  </a:txBody>
                  <a:tcPr marL="54864" marR="54864" marT="27432" marB="27432">
                    <a:solidFill>
                      <a:srgbClr val="E5F5FF"/>
                    </a:solidFill>
                  </a:tcPr>
                </a:tc>
              </a:tr>
              <a:tr h="220979">
                <a:tc>
                  <a:txBody>
                    <a:bodyPr/>
                    <a:lstStyle/>
                    <a:p>
                      <a:r>
                        <a:rPr sz="850" b="0">
                          <a:solidFill>
                            <a:srgbClr val="4B4B4B"/>
                          </a:solidFill>
                          <a:latin typeface="Arial"/>
                        </a:rPr>
                        <a:t>SCR-NB-09</a:t>
                      </a:r>
                    </a:p>
                  </a:txBody>
                  <a:tcPr marL="54864" marR="54864" marT="27432" marB="27432">
                    <a:solidFill>
                      <a:srgbClr val="FFFFFF"/>
                    </a:solidFill>
                  </a:tcPr>
                </a:tc>
                <a:tc>
                  <a:txBody>
                    <a:bodyPr/>
                    <a:lstStyle/>
                    <a:p>
                      <a:r>
                        <a:rPr sz="850" b="0">
                          <a:solidFill>
                            <a:srgbClr val="4B4B4B"/>
                          </a:solidFill>
                          <a:latin typeface="Arial"/>
                        </a:rPr>
                        <a:t>Proposal Requests</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FR-NB-050, FR-NB-052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SCR-NB-10</a:t>
                      </a:r>
                    </a:p>
                  </a:txBody>
                  <a:tcPr marL="54864" marR="54864" marT="27432" marB="27432">
                    <a:solidFill>
                      <a:srgbClr val="E5F5FF"/>
                    </a:solidFill>
                  </a:tcPr>
                </a:tc>
                <a:tc>
                  <a:txBody>
                    <a:bodyPr/>
                    <a:lstStyle/>
                    <a:p>
                      <a:r>
                        <a:rPr sz="850" b="0">
                          <a:solidFill>
                            <a:srgbClr val="4B4B4B"/>
                          </a:solidFill>
                          <a:latin typeface="Arial"/>
                        </a:rPr>
                        <a:t>New Proposal Request and Edit Proposal Request</a:t>
                      </a:r>
                    </a:p>
                  </a:txBody>
                  <a:tcPr marL="54864" marR="54864" marT="27432" marB="27432">
                    <a:solidFill>
                      <a:srgbClr val="E5F5FF"/>
                    </a:solidFill>
                  </a:tcPr>
                </a:tc>
                <a:tc>
                  <a:txBody>
                    <a:bodyPr/>
                    <a:lstStyle/>
                    <a:p>
                      <a:r>
                        <a:rPr sz="850" b="0">
                          <a:solidFill>
                            <a:srgbClr val="4B4B4B"/>
                          </a:solidFill>
                          <a:latin typeface="Arial"/>
                        </a:rPr>
                        <a:t>13.3.2</a:t>
                      </a:r>
                    </a:p>
                  </a:txBody>
                  <a:tcPr marL="54864" marR="54864" marT="27432" marB="27432">
                    <a:solidFill>
                      <a:srgbClr val="E5F5FF"/>
                    </a:solidFill>
                  </a:tcPr>
                </a:tc>
                <a:tc>
                  <a:txBody>
                    <a:bodyPr/>
                    <a:lstStyle/>
                    <a:p>
                      <a:r>
                        <a:rPr sz="850" b="0">
                          <a:solidFill>
                            <a:srgbClr val="4B4B4B"/>
                          </a:solidFill>
                          <a:latin typeface="Arial"/>
                        </a:rPr>
                        <a:t>FR-NB-050, FR-NB-005, FR-NB-017</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Filled, Validation error, Success message, Empty list</a:t>
                      </a:r>
                    </a:p>
                  </a:txBody>
                  <a:tcPr marL="54864" marR="54864" marT="27432" marB="27432">
                    <a:solidFill>
                      <a:srgbClr val="E5F5FF"/>
                    </a:solidFill>
                  </a:tcPr>
                </a:tc>
              </a:tr>
              <a:tr h="350518">
                <a:tc>
                  <a:txBody>
                    <a:bodyPr/>
                    <a:lstStyle/>
                    <a:p>
                      <a:r>
                        <a:rPr sz="850" b="0">
                          <a:solidFill>
                            <a:srgbClr val="4B4B4B"/>
                          </a:solidFill>
                          <a:latin typeface="Arial"/>
                        </a:rPr>
                        <a:t>SCR-NB-11</a:t>
                      </a:r>
                    </a:p>
                  </a:txBody>
                  <a:tcPr marL="54864" marR="54864" marT="27432" marB="27432">
                    <a:solidFill>
                      <a:srgbClr val="FFFFFF"/>
                    </a:solidFill>
                  </a:tcPr>
                </a:tc>
                <a:tc>
                  <a:txBody>
                    <a:bodyPr/>
                    <a:lstStyle/>
                    <a:p>
                      <a:r>
                        <a:rPr sz="850" b="0">
                          <a:solidFill>
                            <a:srgbClr val="4B4B4B"/>
                          </a:solidFill>
                          <a:latin typeface="Arial"/>
                        </a:rPr>
                        <a:t>Proposal Request record</a:t>
                      </a:r>
                    </a:p>
                  </a:txBody>
                  <a:tcPr marL="54864" marR="54864" marT="27432" marB="27432">
                    <a:solidFill>
                      <a:srgbClr val="FFFFFF"/>
                    </a:solidFill>
                  </a:tcPr>
                </a:tc>
                <a:tc>
                  <a:txBody>
                    <a:bodyPr/>
                    <a:lstStyle/>
                    <a:p>
                      <a:r>
                        <a:rPr sz="850" b="0">
                          <a:solidFill>
                            <a:srgbClr val="4B4B4B"/>
                          </a:solidFill>
                          <a:latin typeface="Arial"/>
                        </a:rPr>
                        <a:t>13.3.3</a:t>
                      </a:r>
                    </a:p>
                  </a:txBody>
                  <a:tcPr marL="54864" marR="54864" marT="27432" marB="27432">
                    <a:solidFill>
                      <a:srgbClr val="FFFFFF"/>
                    </a:solidFill>
                  </a:tcPr>
                </a:tc>
                <a:tc>
                  <a:txBody>
                    <a:bodyPr/>
                    <a:lstStyle/>
                    <a:p>
                      <a:r>
                        <a:rPr sz="850" b="0">
                          <a:solidFill>
                            <a:srgbClr val="4B4B4B"/>
                          </a:solidFill>
                          <a:latin typeface="Arial"/>
                        </a:rPr>
                        <a:t>FR-NB-051, FR-NB-052, FR-NB-053, FR-NB-054, FR-NB-055, FR-NB-056, FR-NB-057</a:t>
                      </a:r>
                    </a:p>
                  </a:txBody>
                  <a:tcPr marL="54864" marR="54864" marT="27432" marB="27432">
                    <a:solidFill>
                      <a:srgbClr val="FFFFFF"/>
                    </a:solidFill>
                  </a:tcPr>
                </a:tc>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Default, Filled, Success message, Pending approval</a:t>
                      </a:r>
                    </a:p>
                  </a:txBody>
                  <a:tcPr marL="54864" marR="54864" marT="27432" marB="27432">
                    <a:solidFill>
                      <a:srgbClr val="FFFFFF"/>
                    </a:solidFill>
                  </a:tcPr>
                </a:tc>
              </a:tr>
              <a:tr h="220979">
                <a:tc>
                  <a:txBody>
                    <a:bodyPr/>
                    <a:lstStyle/>
                    <a:p>
                      <a:r>
                        <a:rPr sz="850" b="0">
                          <a:solidFill>
                            <a:srgbClr val="4B4B4B"/>
                          </a:solidFill>
                          <a:latin typeface="Arial"/>
                        </a:rPr>
                        <a:t>SCR-NB-12</a:t>
                      </a:r>
                    </a:p>
                  </a:txBody>
                  <a:tcPr marL="54864" marR="54864" marT="27432" marB="27432">
                    <a:solidFill>
                      <a:srgbClr val="E5F5FF"/>
                    </a:solidFill>
                  </a:tcPr>
                </a:tc>
                <a:tc>
                  <a:txBody>
                    <a:bodyPr/>
                    <a:lstStyle/>
                    <a:p>
                      <a:r>
                        <a:rPr sz="850" b="0">
                          <a:solidFill>
                            <a:srgbClr val="4B4B4B"/>
                          </a:solidFill>
                          <a:latin typeface="Arial"/>
                        </a:rPr>
                        <a:t>TSU Workbench</a:t>
                      </a:r>
                    </a:p>
                  </a:txBody>
                  <a:tcPr marL="54864" marR="54864" marT="27432" marB="27432">
                    <a:solidFill>
                      <a:srgbClr val="E5F5FF"/>
                    </a:solidFill>
                  </a:tcPr>
                </a:tc>
                <a:tc>
                  <a:txBody>
                    <a:bodyPr/>
                    <a:lstStyle/>
                    <a:p>
                      <a:r>
                        <a:rPr sz="850" b="0">
                          <a:solidFill>
                            <a:srgbClr val="4B4B4B"/>
                          </a:solidFill>
                          <a:latin typeface="Arial"/>
                        </a:rPr>
                        <a:t>13.3.4</a:t>
                      </a:r>
                    </a:p>
                  </a:txBody>
                  <a:tcPr marL="54864" marR="54864" marT="27432" marB="27432">
                    <a:solidFill>
                      <a:srgbClr val="E5F5FF"/>
                    </a:solidFill>
                  </a:tcPr>
                </a:tc>
                <a:tc>
                  <a:txBody>
                    <a:bodyPr/>
                    <a:lstStyle/>
                    <a:p>
                      <a:r>
                        <a:rPr sz="850" b="0">
                          <a:solidFill>
                            <a:srgbClr val="4B4B4B"/>
                          </a:solidFill>
                          <a:latin typeface="Arial"/>
                        </a:rPr>
                        <a:t>FR-NB-052, FR-NB-011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SCR-NB-13</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13.4.1</a:t>
                      </a:r>
                    </a:p>
                  </a:txBody>
                  <a:tcPr marL="54864" marR="54864" marT="27432" marB="27432">
                    <a:solidFill>
                      <a:srgbClr val="FFFFFF"/>
                    </a:solidFill>
                  </a:tcPr>
                </a:tc>
                <a:tc>
                  <a:txBody>
                    <a:bodyPr/>
                    <a:lstStyle/>
                    <a:p>
                      <a:r>
                        <a:rPr sz="850" b="0">
                          <a:solidFill>
                            <a:srgbClr val="4B4B4B"/>
                          </a:solidFill>
                          <a:latin typeface="Arial"/>
                        </a:rPr>
                        <a:t>FR-NB-060, FR-NB-067</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Confirmation with reason, Success message</a:t>
                      </a:r>
                    </a:p>
                  </a:txBody>
                  <a:tcPr marL="54864" marR="54864" marT="27432" marB="27432">
                    <a:solidFill>
                      <a:srgbClr val="FFFFFF"/>
                    </a:solidFill>
                  </a:tcPr>
                </a:tc>
              </a:tr>
              <a:tr h="350518">
                <a:tc>
                  <a:txBody>
                    <a:bodyPr/>
                    <a:lstStyle/>
                    <a:p>
                      <a:r>
                        <a:rPr sz="850" b="0">
                          <a:solidFill>
                            <a:srgbClr val="4B4B4B"/>
                          </a:solidFill>
                          <a:latin typeface="Arial"/>
                        </a:rPr>
                        <a:t>SCR-NB-14</a:t>
                      </a:r>
                    </a:p>
                  </a:txBody>
                  <a:tcPr marL="54864" marR="54864" marT="27432" marB="27432">
                    <a:solidFill>
                      <a:srgbClr val="E5F5FF"/>
                    </a:solidFill>
                  </a:tcPr>
                </a:tc>
                <a:tc>
                  <a:txBody>
                    <a:bodyPr/>
                    <a:lstStyle/>
                    <a:p>
                      <a:r>
                        <a:rPr sz="850" b="0">
                          <a:solidFill>
                            <a:srgbClr val="4B4B4B"/>
                          </a:solidFill>
                          <a:latin typeface="Arial"/>
                        </a:rPr>
                        <a:t>New Account and Edit Account</a:t>
                      </a:r>
                    </a:p>
                  </a:txBody>
                  <a:tcPr marL="54864" marR="54864" marT="27432" marB="27432">
                    <a:solidFill>
                      <a:srgbClr val="E5F5FF"/>
                    </a:solidFill>
                  </a:tcPr>
                </a:tc>
                <a:tc>
                  <a:txBody>
                    <a:bodyPr/>
                    <a:lstStyle/>
                    <a:p>
                      <a:r>
                        <a:rPr sz="850" b="0">
                          <a:solidFill>
                            <a:srgbClr val="4B4B4B"/>
                          </a:solidFill>
                          <a:latin typeface="Arial"/>
                        </a:rPr>
                        <a:t>13.4.2</a:t>
                      </a:r>
                    </a:p>
                  </a:txBody>
                  <a:tcPr marL="54864" marR="54864" marT="27432" marB="27432">
                    <a:solidFill>
                      <a:srgbClr val="E5F5FF"/>
                    </a:solidFill>
                  </a:tcPr>
                </a:tc>
                <a:tc>
                  <a:txBody>
                    <a:bodyPr/>
                    <a:lstStyle/>
                    <a:p>
                      <a:r>
                        <a:rPr sz="850" b="0">
                          <a:solidFill>
                            <a:srgbClr val="4B4B4B"/>
                          </a:solidFill>
                          <a:latin typeface="Arial"/>
                        </a:rPr>
                        <a:t>FR-NB-061, FR-NB-062, FR-NB-063, FR-NB-064, FR-NB-066, FR-NB-068, FR-NB-069</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Validation error, Success message, Empty list</a:t>
                      </a:r>
                    </a:p>
                  </a:txBody>
                  <a:tcPr marL="54864" marR="54864" marT="27432" marB="27432">
                    <a:solidFill>
                      <a:srgbClr val="E5F5FF"/>
                    </a:solidFill>
                  </a:tcPr>
                </a:tc>
              </a:tr>
              <a:tr h="480057">
                <a:tc>
                  <a:txBody>
                    <a:bodyPr/>
                    <a:lstStyle/>
                    <a:p>
                      <a:r>
                        <a:rPr sz="850" b="0">
                          <a:solidFill>
                            <a:srgbClr val="4B4B4B"/>
                          </a:solidFill>
                          <a:latin typeface="Arial"/>
                        </a:rPr>
                        <a:t>SCR-NB-15</a:t>
                      </a:r>
                    </a:p>
                  </a:txBody>
                  <a:tcPr marL="54864" marR="54864" marT="27432" marB="27432">
                    <a:solidFill>
                      <a:srgbClr val="FFFFFF"/>
                    </a:solidFill>
                  </a:tcPr>
                </a:tc>
                <a:tc>
                  <a:txBody>
                    <a:bodyPr/>
                    <a:lstStyle/>
                    <a:p>
                      <a:r>
                        <a:rPr sz="850" b="0">
                          <a:solidFill>
                            <a:srgbClr val="4B4B4B"/>
                          </a:solidFill>
                          <a:latin typeface="Arial"/>
                        </a:rPr>
                        <a:t>Account record</a:t>
                      </a:r>
                    </a:p>
                  </a:txBody>
                  <a:tcPr marL="54864" marR="54864" marT="27432" marB="27432">
                    <a:solidFill>
                      <a:srgbClr val="FFFFFF"/>
                    </a:solidFill>
                  </a:tcPr>
                </a:tc>
                <a:tc>
                  <a:txBody>
                    <a:bodyPr/>
                    <a:lstStyle/>
                    <a:p>
                      <a:r>
                        <a:rPr sz="850" b="0">
                          <a:solidFill>
                            <a:srgbClr val="4B4B4B"/>
                          </a:solidFill>
                          <a:latin typeface="Arial"/>
                        </a:rPr>
                        <a:t>13.4.3</a:t>
                      </a:r>
                    </a:p>
                  </a:txBody>
                  <a:tcPr marL="54864" marR="54864" marT="27432" marB="27432">
                    <a:solidFill>
                      <a:srgbClr val="FFFFFF"/>
                    </a:solidFill>
                  </a:tcPr>
                </a:tc>
                <a:tc>
                  <a:txBody>
                    <a:bodyPr/>
                    <a:lstStyle/>
                    <a:p>
                      <a:r>
                        <a:rPr sz="850" b="0">
                          <a:solidFill>
                            <a:srgbClr val="4B4B4B"/>
                          </a:solidFill>
                          <a:latin typeface="Arial"/>
                        </a:rPr>
                        <a:t>FR-NB-060, FR-NB-064, FR-NB-067, FR-NB-068, FR-NB-069, FR-NB-113, FR-NB-012</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Validation error, Confirmation with reason, Read-only or locked, Pending approval, Rejected or returned</a:t>
                      </a:r>
                    </a:p>
                  </a:txBody>
                  <a:tcPr marL="54864" marR="54864" marT="27432" marB="27432">
                    <a:solidFill>
                      <a:srgbClr val="FFFFFF"/>
                    </a:solidFill>
                  </a:tcPr>
                </a:tc>
              </a:tr>
              <a:tr h="220979">
                <a:tc>
                  <a:txBody>
                    <a:bodyPr/>
                    <a:lstStyle/>
                    <a:p>
                      <a:r>
                        <a:rPr sz="850" b="0">
                          <a:solidFill>
                            <a:srgbClr val="4B4B4B"/>
                          </a:solidFill>
                          <a:latin typeface="Arial"/>
                        </a:rPr>
                        <a:t>SCR-NB-16</a:t>
                      </a:r>
                    </a:p>
                  </a:txBody>
                  <a:tcPr marL="54864" marR="54864" marT="27432" marB="27432">
                    <a:solidFill>
                      <a:srgbClr val="E5F5FF"/>
                    </a:solidFill>
                  </a:tcPr>
                </a:tc>
                <a:tc>
                  <a:txBody>
                    <a:bodyPr/>
                    <a:lstStyle/>
                    <a:p>
                      <a:r>
                        <a:rPr sz="850" b="0">
                          <a:solidFill>
                            <a:srgbClr val="4B4B4B"/>
                          </a:solidFill>
                          <a:latin typeface="Arial"/>
                        </a:rPr>
                        <a:t>FFY Register</a:t>
                      </a:r>
                    </a:p>
                  </a:txBody>
                  <a:tcPr marL="54864" marR="54864" marT="27432" marB="27432">
                    <a:solidFill>
                      <a:srgbClr val="E5F5FF"/>
                    </a:solidFill>
                  </a:tcPr>
                </a:tc>
                <a:tc>
                  <a:txBody>
                    <a:bodyPr/>
                    <a:lstStyle/>
                    <a:p>
                      <a:r>
                        <a:rPr sz="850" b="0">
                          <a:solidFill>
                            <a:srgbClr val="4B4B4B"/>
                          </a:solidFill>
                          <a:latin typeface="Arial"/>
                        </a:rPr>
                        <a:t>13.4.4</a:t>
                      </a:r>
                    </a:p>
                  </a:txBody>
                  <a:tcPr marL="54864" marR="54864" marT="27432" marB="27432">
                    <a:solidFill>
                      <a:srgbClr val="E5F5FF"/>
                    </a:solidFill>
                  </a:tcPr>
                </a:tc>
                <a:tc>
                  <a:txBody>
                    <a:bodyPr/>
                    <a:lstStyle/>
                    <a:p>
                      <a:r>
                        <a:rPr sz="850" b="0">
                          <a:solidFill>
                            <a:srgbClr val="4B4B4B"/>
                          </a:solidFill>
                          <a:latin typeface="Arial"/>
                        </a:rPr>
                        <a:t>FR-NB-068</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SCR-NB-17</a:t>
                      </a:r>
                    </a:p>
                  </a:txBody>
                  <a:tcPr marL="54864" marR="54864" marT="27432" marB="27432">
                    <a:solidFill>
                      <a:srgbClr val="FFFFFF"/>
                    </a:solidFill>
                  </a:tcPr>
                </a:tc>
                <a:tc>
                  <a:txBody>
                    <a:bodyPr/>
                    <a:lstStyle/>
                    <a:p>
                      <a:r>
                        <a:rPr sz="850" b="0">
                          <a:solidFill>
                            <a:srgbClr val="4B4B4B"/>
                          </a:solidFill>
                          <a:latin typeface="Arial"/>
                        </a:rPr>
                        <a:t>Direct Payment</a:t>
                      </a:r>
                    </a:p>
                  </a:txBody>
                  <a:tcPr marL="54864" marR="54864" marT="27432" marB="27432">
                    <a:solidFill>
                      <a:srgbClr val="FFFFFF"/>
                    </a:solidFill>
                  </a:tcPr>
                </a:tc>
                <a:tc>
                  <a:txBody>
                    <a:bodyPr/>
                    <a:lstStyle/>
                    <a:p>
                      <a:r>
                        <a:rPr sz="850" b="0">
                          <a:solidFill>
                            <a:srgbClr val="4B4B4B"/>
                          </a:solidFill>
                          <a:latin typeface="Arial"/>
                        </a:rPr>
                        <a:t>13.4.5</a:t>
                      </a:r>
                    </a:p>
                  </a:txBody>
                  <a:tcPr marL="54864" marR="54864" marT="27432" marB="27432">
                    <a:solidFill>
                      <a:srgbClr val="FFFFFF"/>
                    </a:solidFill>
                  </a:tcPr>
                </a:tc>
                <a:tc>
                  <a:txBody>
                    <a:bodyPr/>
                    <a:lstStyle/>
                    <a:p>
                      <a:r>
                        <a:rPr sz="850" b="0">
                          <a:solidFill>
                            <a:srgbClr val="4B4B4B"/>
                          </a:solidFill>
                          <a:latin typeface="Arial"/>
                        </a:rPr>
                        <a:t>FR-NB-069</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bl>
          </a:graphicData>
        </a:graphic>
      </p:graphicFrame>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618</a:t>
            </a:r>
          </a:p>
        </p:txBody>
      </p:sp>
      <p:graphicFrame>
        <p:nvGraphicFramePr>
          <p:cNvPr id="9" name="Table 8"/>
          <p:cNvGraphicFramePr>
            <a:graphicFrameLocks noGrp="1"/>
          </p:cNvGraphicFramePr>
          <p:nvPr/>
        </p:nvGraphicFramePr>
        <p:xfrm>
          <a:off x="548640" y="1325880"/>
          <a:ext cx="11094412" cy="484629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SCR-NB-18</a:t>
                      </a:r>
                    </a:p>
                  </a:txBody>
                  <a:tcPr marL="54864" marR="54864" marT="27432" marB="27432">
                    <a:solidFill>
                      <a:srgbClr val="FFFFFF"/>
                    </a:solidFill>
                  </a:tcPr>
                </a:tc>
                <a:tc>
                  <a:txBody>
                    <a:bodyPr/>
                    <a:lstStyle/>
                    <a:p>
                      <a:r>
                        <a:rPr sz="850" b="0">
                          <a:solidFill>
                            <a:srgbClr val="4B4B4B"/>
                          </a:solidFill>
                          <a:latin typeface="Arial"/>
                        </a:rPr>
                        <a:t>Placement Workbench</a:t>
                      </a:r>
                    </a:p>
                  </a:txBody>
                  <a:tcPr marL="54864" marR="54864" marT="27432" marB="27432">
                    <a:solidFill>
                      <a:srgbClr val="FFFFFF"/>
                    </a:solidFill>
                  </a:tcPr>
                </a:tc>
                <a:tc>
                  <a:txBody>
                    <a:bodyPr/>
                    <a:lstStyle/>
                    <a:p>
                      <a:r>
                        <a:rPr sz="850" b="0">
                          <a:solidFill>
                            <a:srgbClr val="4B4B4B"/>
                          </a:solidFill>
                          <a:latin typeface="Arial"/>
                        </a:rPr>
                        <a:t>13.5.1</a:t>
                      </a:r>
                    </a:p>
                  </a:txBody>
                  <a:tcPr marL="54864" marR="54864" marT="27432" marB="27432">
                    <a:solidFill>
                      <a:srgbClr val="FFFFFF"/>
                    </a:solidFill>
                  </a:tcPr>
                </a:tc>
                <a:tc>
                  <a:txBody>
                    <a:bodyPr/>
                    <a:lstStyle/>
                    <a:p>
                      <a:r>
                        <a:rPr sz="850" b="0">
                          <a:solidFill>
                            <a:srgbClr val="4B4B4B"/>
                          </a:solidFill>
                          <a:latin typeface="Arial"/>
                        </a:rPr>
                        <a:t>FR-NB-080, FR-NB-081, FR-NB-084, FR-NB-085, FR-NB-086, FR-NB-087</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Validation error, Empty list</a:t>
                      </a:r>
                    </a:p>
                  </a:txBody>
                  <a:tcPr marL="54864" marR="54864" marT="27432" marB="27432">
                    <a:solidFill>
                      <a:srgbClr val="FFFFFF"/>
                    </a:solidFill>
                  </a:tcPr>
                </a:tc>
              </a:tr>
              <a:tr h="350518">
                <a:tc>
                  <a:txBody>
                    <a:bodyPr/>
                    <a:lstStyle/>
                    <a:p>
                      <a:r>
                        <a:rPr sz="850" b="0">
                          <a:solidFill>
                            <a:srgbClr val="4B4B4B"/>
                          </a:solidFill>
                          <a:latin typeface="Arial"/>
                        </a:rPr>
                        <a:t>SCR-NB-19</a:t>
                      </a:r>
                    </a:p>
                  </a:txBody>
                  <a:tcPr marL="54864" marR="54864" marT="27432" marB="27432">
                    <a:solidFill>
                      <a:srgbClr val="E5F5FF"/>
                    </a:solidFill>
                  </a:tcPr>
                </a:tc>
                <a:tc>
                  <a:txBody>
                    <a:bodyPr/>
                    <a:lstStyle/>
                    <a:p>
                      <a:r>
                        <a:rPr sz="850" b="0">
                          <a:solidFill>
                            <a:srgbClr val="4B4B4B"/>
                          </a:solidFill>
                          <a:latin typeface="Arial"/>
                        </a:rPr>
                        <a:t>Account Placement</a:t>
                      </a:r>
                    </a:p>
                  </a:txBody>
                  <a:tcPr marL="54864" marR="54864" marT="27432" marB="27432">
                    <a:solidFill>
                      <a:srgbClr val="E5F5FF"/>
                    </a:solidFill>
                  </a:tcPr>
                </a:tc>
                <a:tc>
                  <a:txBody>
                    <a:bodyPr/>
                    <a:lstStyle/>
                    <a:p>
                      <a:r>
                        <a:rPr sz="850" b="0">
                          <a:solidFill>
                            <a:srgbClr val="4B4B4B"/>
                          </a:solidFill>
                          <a:latin typeface="Arial"/>
                        </a:rPr>
                        <a:t>13.5.2</a:t>
                      </a:r>
                    </a:p>
                  </a:txBody>
                  <a:tcPr marL="54864" marR="54864" marT="27432" marB="27432">
                    <a:solidFill>
                      <a:srgbClr val="E5F5FF"/>
                    </a:solidFill>
                  </a:tcPr>
                </a:tc>
                <a:tc>
                  <a:txBody>
                    <a:bodyPr/>
                    <a:lstStyle/>
                    <a:p>
                      <a:r>
                        <a:rPr sz="850" b="0">
                          <a:solidFill>
                            <a:srgbClr val="4B4B4B"/>
                          </a:solidFill>
                          <a:latin typeface="Arial"/>
                        </a:rPr>
                        <a:t>FR-NB-080, FR-NB-081, FR-NB-082, FR-NB-083, FR-NB-084, FR-NB-085, FR-NB-086, FR-NB-092</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Confirmation with reason, Rejected or returned</a:t>
                      </a:r>
                    </a:p>
                  </a:txBody>
                  <a:tcPr marL="54864" marR="54864" marT="27432" marB="27432">
                    <a:solidFill>
                      <a:srgbClr val="E5F5FF"/>
                    </a:solidFill>
                  </a:tcPr>
                </a:tc>
              </a:tr>
              <a:tr h="220979">
                <a:tc>
                  <a:txBody>
                    <a:bodyPr/>
                    <a:lstStyle/>
                    <a:p>
                      <a:r>
                        <a:rPr sz="850" b="0">
                          <a:solidFill>
                            <a:srgbClr val="4B4B4B"/>
                          </a:solidFill>
                          <a:latin typeface="Arial"/>
                        </a:rPr>
                        <a:t>SCR-NB-20</a:t>
                      </a:r>
                    </a:p>
                  </a:txBody>
                  <a:tcPr marL="54864" marR="54864" marT="27432" marB="27432">
                    <a:solidFill>
                      <a:srgbClr val="FFFFFF"/>
                    </a:solidFill>
                  </a:tcPr>
                </a:tc>
                <a:tc>
                  <a:txBody>
                    <a:bodyPr/>
                    <a:lstStyle/>
                    <a:p>
                      <a:r>
                        <a:rPr sz="850" b="0">
                          <a:solidFill>
                            <a:srgbClr val="4B4B4B"/>
                          </a:solidFill>
                          <a:latin typeface="Arial"/>
                        </a:rPr>
                        <a:t>Placement Slips</a:t>
                      </a:r>
                    </a:p>
                  </a:txBody>
                  <a:tcPr marL="54864" marR="54864" marT="27432" marB="27432">
                    <a:solidFill>
                      <a:srgbClr val="FFFFFF"/>
                    </a:solidFill>
                  </a:tcPr>
                </a:tc>
                <a:tc>
                  <a:txBody>
                    <a:bodyPr/>
                    <a:lstStyle/>
                    <a:p>
                      <a:r>
                        <a:rPr sz="850" b="0">
                          <a:solidFill>
                            <a:srgbClr val="4B4B4B"/>
                          </a:solidFill>
                          <a:latin typeface="Arial"/>
                        </a:rPr>
                        <a:t>13.5.3</a:t>
                      </a:r>
                    </a:p>
                  </a:txBody>
                  <a:tcPr marL="54864" marR="54864" marT="27432" marB="27432">
                    <a:solidFill>
                      <a:srgbClr val="FFFFFF"/>
                    </a:solidFill>
                  </a:tcPr>
                </a:tc>
                <a:tc>
                  <a:txBody>
                    <a:bodyPr/>
                    <a:lstStyle/>
                    <a:p>
                      <a:r>
                        <a:rPr sz="850" b="0">
                          <a:solidFill>
                            <a:srgbClr val="4B4B4B"/>
                          </a:solidFill>
                          <a:latin typeface="Arial"/>
                        </a:rPr>
                        <a:t>FR-NB-080, FR-NB-081, FR-NB-087</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SCR-NB-21</a:t>
                      </a:r>
                    </a:p>
                  </a:txBody>
                  <a:tcPr marL="54864" marR="54864" marT="27432" marB="27432">
                    <a:solidFill>
                      <a:srgbClr val="E5F5FF"/>
                    </a:solidFill>
                  </a:tcPr>
                </a:tc>
                <a:tc>
                  <a:txBody>
                    <a:bodyPr/>
                    <a:lstStyle/>
                    <a:p>
                      <a:r>
                        <a:rPr sz="850" b="0">
                          <a:solidFill>
                            <a:srgbClr val="4B4B4B"/>
                          </a:solidFill>
                          <a:latin typeface="Arial"/>
                        </a:rPr>
                        <a:t>CLPC Billing</a:t>
                      </a:r>
                    </a:p>
                  </a:txBody>
                  <a:tcPr marL="54864" marR="54864" marT="27432" marB="27432">
                    <a:solidFill>
                      <a:srgbClr val="E5F5FF"/>
                    </a:solidFill>
                  </a:tcPr>
                </a:tc>
                <a:tc>
                  <a:txBody>
                    <a:bodyPr/>
                    <a:lstStyle/>
                    <a:p>
                      <a:r>
                        <a:rPr sz="850" b="0">
                          <a:solidFill>
                            <a:srgbClr val="4B4B4B"/>
                          </a:solidFill>
                          <a:latin typeface="Arial"/>
                        </a:rPr>
                        <a:t>13.5.4</a:t>
                      </a:r>
                    </a:p>
                  </a:txBody>
                  <a:tcPr marL="54864" marR="54864" marT="27432" marB="27432">
                    <a:solidFill>
                      <a:srgbClr val="E5F5FF"/>
                    </a:solidFill>
                  </a:tcPr>
                </a:tc>
                <a:tc>
                  <a:txBody>
                    <a:bodyPr/>
                    <a:lstStyle/>
                    <a:p>
                      <a:r>
                        <a:rPr sz="850" b="0">
                          <a:solidFill>
                            <a:srgbClr val="4B4B4B"/>
                          </a:solidFill>
                          <a:latin typeface="Arial"/>
                        </a:rPr>
                        <a:t>FR-NB-090, FR-NB-091</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SCR-NB-22</a:t>
                      </a:r>
                    </a:p>
                  </a:txBody>
                  <a:tcPr marL="54864" marR="54864" marT="27432" marB="27432">
                    <a:solidFill>
                      <a:srgbClr val="FFFFFF"/>
                    </a:solidFill>
                  </a:tcPr>
                </a:tc>
                <a:tc>
                  <a:txBody>
                    <a:bodyPr/>
                    <a:lstStyle/>
                    <a:p>
                      <a:r>
                        <a:rPr sz="850" b="0">
                          <a:solidFill>
                            <a:srgbClr val="4B4B4B"/>
                          </a:solidFill>
                          <a:latin typeface="Arial"/>
                        </a:rPr>
                        <a:t>Payment Report</a:t>
                      </a:r>
                    </a:p>
                  </a:txBody>
                  <a:tcPr marL="54864" marR="54864" marT="27432" marB="27432">
                    <a:solidFill>
                      <a:srgbClr val="FFFFFF"/>
                    </a:solidFill>
                  </a:tcPr>
                </a:tc>
                <a:tc>
                  <a:txBody>
                    <a:bodyPr/>
                    <a:lstStyle/>
                    <a:p>
                      <a:r>
                        <a:rPr sz="850" b="0">
                          <a:solidFill>
                            <a:srgbClr val="4B4B4B"/>
                          </a:solidFill>
                          <a:latin typeface="Arial"/>
                        </a:rPr>
                        <a:t>13.5.5</a:t>
                      </a:r>
                    </a:p>
                  </a:txBody>
                  <a:tcPr marL="54864" marR="54864" marT="27432" marB="27432">
                    <a:solidFill>
                      <a:srgbClr val="FFFFFF"/>
                    </a:solidFill>
                  </a:tcPr>
                </a:tc>
                <a:tc>
                  <a:txBody>
                    <a:bodyPr/>
                    <a:lstStyle/>
                    <a:p>
                      <a:r>
                        <a:rPr sz="850" b="0">
                          <a:solidFill>
                            <a:srgbClr val="4B4B4B"/>
                          </a:solidFill>
                          <a:latin typeface="Arial"/>
                        </a:rPr>
                        <a:t>FR-NB-091, FR-NB-092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Pending approval</a:t>
                      </a:r>
                    </a:p>
                  </a:txBody>
                  <a:tcPr marL="54864" marR="54864" marT="27432" marB="27432">
                    <a:solidFill>
                      <a:srgbClr val="FFFFFF"/>
                    </a:solidFill>
                  </a:tcPr>
                </a:tc>
              </a:tr>
              <a:tr h="350518">
                <a:tc>
                  <a:txBody>
                    <a:bodyPr/>
                    <a:lstStyle/>
                    <a:p>
                      <a:r>
                        <a:rPr sz="850" b="0">
                          <a:solidFill>
                            <a:srgbClr val="4B4B4B"/>
                          </a:solidFill>
                          <a:latin typeface="Arial"/>
                        </a:rPr>
                        <a:t>SCR-NB-23</a:t>
                      </a:r>
                    </a:p>
                  </a:txBody>
                  <a:tcPr marL="54864" marR="54864" marT="27432" marB="27432">
                    <a:solidFill>
                      <a:srgbClr val="E5F5FF"/>
                    </a:solidFill>
                  </a:tcPr>
                </a:tc>
                <a:tc>
                  <a:txBody>
                    <a:bodyPr/>
                    <a:lstStyle/>
                    <a:p>
                      <a:r>
                        <a:rPr sz="850" b="0">
                          <a:solidFill>
                            <a:srgbClr val="4B4B4B"/>
                          </a:solidFill>
                          <a:latin typeface="Arial"/>
                        </a:rPr>
                        <a:t>Issuance Workbench</a:t>
                      </a:r>
                    </a:p>
                  </a:txBody>
                  <a:tcPr marL="54864" marR="54864" marT="27432" marB="27432">
                    <a:solidFill>
                      <a:srgbClr val="E5F5FF"/>
                    </a:solidFill>
                  </a:tcPr>
                </a:tc>
                <a:tc>
                  <a:txBody>
                    <a:bodyPr/>
                    <a:lstStyle/>
                    <a:p>
                      <a:r>
                        <a:rPr sz="850" b="0">
                          <a:solidFill>
                            <a:srgbClr val="4B4B4B"/>
                          </a:solidFill>
                          <a:latin typeface="Arial"/>
                        </a:rPr>
                        <a:t>13.6.1</a:t>
                      </a:r>
                    </a:p>
                  </a:txBody>
                  <a:tcPr marL="54864" marR="54864" marT="27432" marB="27432">
                    <a:solidFill>
                      <a:srgbClr val="E5F5FF"/>
                    </a:solidFill>
                  </a:tcPr>
                </a:tc>
                <a:tc>
                  <a:txBody>
                    <a:bodyPr/>
                    <a:lstStyle/>
                    <a:p>
                      <a:r>
                        <a:rPr sz="850" b="0">
                          <a:solidFill>
                            <a:srgbClr val="4B4B4B"/>
                          </a:solidFill>
                          <a:latin typeface="Arial"/>
                        </a:rPr>
                        <a:t>FR-NB-100, FR-NB-101, FR-NB-102, FR-NB-103, FR-NB-105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SCR-NB-24</a:t>
                      </a:r>
                    </a:p>
                  </a:txBody>
                  <a:tcPr marL="54864" marR="54864" marT="27432" marB="27432">
                    <a:solidFill>
                      <a:srgbClr val="FFFFFF"/>
                    </a:solidFill>
                  </a:tcPr>
                </a:tc>
                <a:tc>
                  <a:txBody>
                    <a:bodyPr/>
                    <a:lstStyle/>
                    <a:p>
                      <a:r>
                        <a:rPr sz="850" b="0">
                          <a:solidFill>
                            <a:srgbClr val="4B4B4B"/>
                          </a:solidFill>
                          <a:latin typeface="Arial"/>
                        </a:rPr>
                        <a:t>E-policy Upload</a:t>
                      </a:r>
                    </a:p>
                  </a:txBody>
                  <a:tcPr marL="54864" marR="54864" marT="27432" marB="27432">
                    <a:solidFill>
                      <a:srgbClr val="FFFFFF"/>
                    </a:solidFill>
                  </a:tcPr>
                </a:tc>
                <a:tc>
                  <a:txBody>
                    <a:bodyPr/>
                    <a:lstStyle/>
                    <a:p>
                      <a:r>
                        <a:rPr sz="850" b="0">
                          <a:solidFill>
                            <a:srgbClr val="4B4B4B"/>
                          </a:solidFill>
                          <a:latin typeface="Arial"/>
                        </a:rPr>
                        <a:t>13.6.2</a:t>
                      </a:r>
                    </a:p>
                  </a:txBody>
                  <a:tcPr marL="54864" marR="54864" marT="27432" marB="27432">
                    <a:solidFill>
                      <a:srgbClr val="FFFFFF"/>
                    </a:solidFill>
                  </a:tcPr>
                </a:tc>
                <a:tc>
                  <a:txBody>
                    <a:bodyPr/>
                    <a:lstStyle/>
                    <a:p>
                      <a:r>
                        <a:rPr sz="850" b="0">
                          <a:solidFill>
                            <a:srgbClr val="4B4B4B"/>
                          </a:solidFill>
                          <a:latin typeface="Arial"/>
                        </a:rPr>
                        <a:t>FR-NB-100, FR-NB-102</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Success message, Empty list</a:t>
                      </a:r>
                    </a:p>
                  </a:txBody>
                  <a:tcPr marL="54864" marR="54864" marT="27432" marB="27432">
                    <a:solidFill>
                      <a:srgbClr val="FFFFFF"/>
                    </a:solidFill>
                  </a:tcPr>
                </a:tc>
              </a:tr>
              <a:tr h="220979">
                <a:tc>
                  <a:txBody>
                    <a:bodyPr/>
                    <a:lstStyle/>
                    <a:p>
                      <a:r>
                        <a:rPr sz="850" b="0">
                          <a:solidFill>
                            <a:srgbClr val="4B4B4B"/>
                          </a:solidFill>
                          <a:latin typeface="Arial"/>
                        </a:rPr>
                        <a:t>SCR-NB-25</a:t>
                      </a:r>
                    </a:p>
                  </a:txBody>
                  <a:tcPr marL="54864" marR="54864" marT="27432" marB="27432">
                    <a:solidFill>
                      <a:srgbClr val="E5F5FF"/>
                    </a:solidFill>
                  </a:tcPr>
                </a:tc>
                <a:tc>
                  <a:txBody>
                    <a:bodyPr/>
                    <a:lstStyle/>
                    <a:p>
                      <a:r>
                        <a:rPr sz="850" b="0">
                          <a:solidFill>
                            <a:srgbClr val="4B4B4B"/>
                          </a:solidFill>
                          <a:latin typeface="Arial"/>
                        </a:rPr>
                        <a:t>Extraction Review</a:t>
                      </a:r>
                    </a:p>
                  </a:txBody>
                  <a:tcPr marL="54864" marR="54864" marT="27432" marB="27432">
                    <a:solidFill>
                      <a:srgbClr val="E5F5FF"/>
                    </a:solidFill>
                  </a:tcPr>
                </a:tc>
                <a:tc>
                  <a:txBody>
                    <a:bodyPr/>
                    <a:lstStyle/>
                    <a:p>
                      <a:r>
                        <a:rPr sz="850" b="0">
                          <a:solidFill>
                            <a:srgbClr val="4B4B4B"/>
                          </a:solidFill>
                          <a:latin typeface="Arial"/>
                        </a:rPr>
                        <a:t>13.6.3</a:t>
                      </a:r>
                    </a:p>
                  </a:txBody>
                  <a:tcPr marL="54864" marR="54864" marT="27432" marB="27432">
                    <a:solidFill>
                      <a:srgbClr val="E5F5FF"/>
                    </a:solidFill>
                  </a:tcPr>
                </a:tc>
                <a:tc>
                  <a:txBody>
                    <a:bodyPr/>
                    <a:lstStyle/>
                    <a:p>
                      <a:r>
                        <a:rPr sz="850" b="0">
                          <a:solidFill>
                            <a:srgbClr val="4B4B4B"/>
                          </a:solidFill>
                          <a:latin typeface="Arial"/>
                        </a:rPr>
                        <a:t>FR-NB-101, FR-NB-102, FR-NB-114</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SCR-NB-26</a:t>
                      </a:r>
                    </a:p>
                  </a:txBody>
                  <a:tcPr marL="54864" marR="54864" marT="27432" marB="27432">
                    <a:solidFill>
                      <a:srgbClr val="FFFFFF"/>
                    </a:solidFill>
                  </a:tcPr>
                </a:tc>
                <a:tc>
                  <a:txBody>
                    <a:bodyPr/>
                    <a:lstStyle/>
                    <a:p>
                      <a:r>
                        <a:rPr sz="850" b="0">
                          <a:solidFill>
                            <a:srgbClr val="4B4B4B"/>
                          </a:solidFill>
                          <a:latin typeface="Arial"/>
                        </a:rPr>
                        <a:t>Insurance Advice</a:t>
                      </a:r>
                    </a:p>
                  </a:txBody>
                  <a:tcPr marL="54864" marR="54864" marT="27432" marB="27432">
                    <a:solidFill>
                      <a:srgbClr val="FFFFFF"/>
                    </a:solidFill>
                  </a:tcPr>
                </a:tc>
                <a:tc>
                  <a:txBody>
                    <a:bodyPr/>
                    <a:lstStyle/>
                    <a:p>
                      <a:r>
                        <a:rPr sz="850" b="0">
                          <a:solidFill>
                            <a:srgbClr val="4B4B4B"/>
                          </a:solidFill>
                          <a:latin typeface="Arial"/>
                        </a:rPr>
                        <a:t>13.6.4</a:t>
                      </a:r>
                    </a:p>
                  </a:txBody>
                  <a:tcPr marL="54864" marR="54864" marT="27432" marB="27432">
                    <a:solidFill>
                      <a:srgbClr val="FFFFFF"/>
                    </a:solidFill>
                  </a:tcPr>
                </a:tc>
                <a:tc>
                  <a:txBody>
                    <a:bodyPr/>
                    <a:lstStyle/>
                    <a:p>
                      <a:r>
                        <a:rPr sz="850" b="0">
                          <a:solidFill>
                            <a:srgbClr val="4B4B4B"/>
                          </a:solidFill>
                          <a:latin typeface="Arial"/>
                        </a:rPr>
                        <a:t>FR-NB-103, FR-NB-104, FR-NB-107</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220979">
                <a:tc>
                  <a:txBody>
                    <a:bodyPr/>
                    <a:lstStyle/>
                    <a:p>
                      <a:r>
                        <a:rPr sz="850" b="0">
                          <a:solidFill>
                            <a:srgbClr val="4B4B4B"/>
                          </a:solidFill>
                          <a:latin typeface="Arial"/>
                        </a:rPr>
                        <a:t>SCR-NB-27</a:t>
                      </a:r>
                    </a:p>
                  </a:txBody>
                  <a:tcPr marL="54864" marR="54864" marT="27432" marB="27432">
                    <a:solidFill>
                      <a:srgbClr val="E5F5FF"/>
                    </a:solidFill>
                  </a:tcPr>
                </a:tc>
                <a:tc>
                  <a:txBody>
                    <a:bodyPr/>
                    <a:lstStyle/>
                    <a:p>
                      <a:r>
                        <a:rPr sz="850" b="0">
                          <a:solidFill>
                            <a:srgbClr val="4B4B4B"/>
                          </a:solidFill>
                          <a:latin typeface="Arial"/>
                        </a:rPr>
                        <a:t>E-policy Dispatch</a:t>
                      </a:r>
                    </a:p>
                  </a:txBody>
                  <a:tcPr marL="54864" marR="54864" marT="27432" marB="27432">
                    <a:solidFill>
                      <a:srgbClr val="E5F5FF"/>
                    </a:solidFill>
                  </a:tcPr>
                </a:tc>
                <a:tc>
                  <a:txBody>
                    <a:bodyPr/>
                    <a:lstStyle/>
                    <a:p>
                      <a:r>
                        <a:rPr sz="850" b="0">
                          <a:solidFill>
                            <a:srgbClr val="4B4B4B"/>
                          </a:solidFill>
                          <a:latin typeface="Arial"/>
                        </a:rPr>
                        <a:t>13.6.5</a:t>
                      </a:r>
                    </a:p>
                  </a:txBody>
                  <a:tcPr marL="54864" marR="54864" marT="27432" marB="27432">
                    <a:solidFill>
                      <a:srgbClr val="E5F5FF"/>
                    </a:solidFill>
                  </a:tcPr>
                </a:tc>
                <a:tc>
                  <a:txBody>
                    <a:bodyPr/>
                    <a:lstStyle/>
                    <a:p>
                      <a:r>
                        <a:rPr sz="850" b="0">
                          <a:solidFill>
                            <a:srgbClr val="4B4B4B"/>
                          </a:solidFill>
                          <a:latin typeface="Arial"/>
                        </a:rPr>
                        <a:t>FR-NB-105, FR-NB-106</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SCR-NB-28</a:t>
                      </a:r>
                    </a:p>
                  </a:txBody>
                  <a:tcPr marL="54864" marR="54864" marT="27432" marB="27432">
                    <a:solidFill>
                      <a:srgbClr val="FFFFFF"/>
                    </a:solidFill>
                  </a:tcPr>
                </a:tc>
                <a:tc>
                  <a:txBody>
                    <a:bodyPr/>
                    <a:lstStyle/>
                    <a:p>
                      <a:r>
                        <a:rPr sz="850" b="0">
                          <a:solidFill>
                            <a:srgbClr val="4B4B4B"/>
                          </a:solidFill>
                          <a:latin typeface="Arial"/>
                        </a:rPr>
                        <a:t>Booking Workbench</a:t>
                      </a:r>
                    </a:p>
                  </a:txBody>
                  <a:tcPr marL="54864" marR="54864" marT="27432" marB="27432">
                    <a:solidFill>
                      <a:srgbClr val="FFFFFF"/>
                    </a:solidFill>
                  </a:tcPr>
                </a:tc>
                <a:tc>
                  <a:txBody>
                    <a:bodyPr/>
                    <a:lstStyle/>
                    <a:p>
                      <a:r>
                        <a:rPr sz="850" b="0">
                          <a:solidFill>
                            <a:srgbClr val="4B4B4B"/>
                          </a:solidFill>
                          <a:latin typeface="Arial"/>
                        </a:rPr>
                        <a:t>13.7.1</a:t>
                      </a:r>
                    </a:p>
                  </a:txBody>
                  <a:tcPr marL="54864" marR="54864" marT="27432" marB="27432">
                    <a:solidFill>
                      <a:srgbClr val="FFFFFF"/>
                    </a:solidFill>
                  </a:tcPr>
                </a:tc>
                <a:tc>
                  <a:txBody>
                    <a:bodyPr/>
                    <a:lstStyle/>
                    <a:p>
                      <a:r>
                        <a:rPr sz="850" b="0">
                          <a:solidFill>
                            <a:srgbClr val="4B4B4B"/>
                          </a:solidFill>
                          <a:latin typeface="Arial"/>
                        </a:rPr>
                        <a:t>FR-NB-110, FR-NB-111, FR-NB-112, FR-NB-114</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350518">
                <a:tc>
                  <a:txBody>
                    <a:bodyPr/>
                    <a:lstStyle/>
                    <a:p>
                      <a:r>
                        <a:rPr sz="850" b="0">
                          <a:solidFill>
                            <a:srgbClr val="4B4B4B"/>
                          </a:solidFill>
                          <a:latin typeface="Arial"/>
                        </a:rPr>
                        <a:t>SCR-NB-29</a:t>
                      </a:r>
                    </a:p>
                  </a:txBody>
                  <a:tcPr marL="54864" marR="54864" marT="27432" marB="27432">
                    <a:solidFill>
                      <a:srgbClr val="E5F5FF"/>
                    </a:solidFill>
                  </a:tcPr>
                </a:tc>
                <a:tc>
                  <a:txBody>
                    <a:bodyPr/>
                    <a:lstStyle/>
                    <a:p>
                      <a:r>
                        <a:rPr sz="850" b="0">
                          <a:solidFill>
                            <a:srgbClr val="4B4B4B"/>
                          </a:solidFill>
                          <a:latin typeface="Arial"/>
                        </a:rPr>
                        <a:t>Pre-booking Confirmation</a:t>
                      </a:r>
                    </a:p>
                  </a:txBody>
                  <a:tcPr marL="54864" marR="54864" marT="27432" marB="27432">
                    <a:solidFill>
                      <a:srgbClr val="E5F5FF"/>
                    </a:solidFill>
                  </a:tcPr>
                </a:tc>
                <a:tc>
                  <a:txBody>
                    <a:bodyPr/>
                    <a:lstStyle/>
                    <a:p>
                      <a:r>
                        <a:rPr sz="850" b="0">
                          <a:solidFill>
                            <a:srgbClr val="4B4B4B"/>
                          </a:solidFill>
                          <a:latin typeface="Arial"/>
                        </a:rPr>
                        <a:t>13.7.2</a:t>
                      </a:r>
                    </a:p>
                  </a:txBody>
                  <a:tcPr marL="54864" marR="54864" marT="27432" marB="27432">
                    <a:solidFill>
                      <a:srgbClr val="E5F5FF"/>
                    </a:solidFill>
                  </a:tcPr>
                </a:tc>
                <a:tc>
                  <a:txBody>
                    <a:bodyPr/>
                    <a:lstStyle/>
                    <a:p>
                      <a:r>
                        <a:rPr sz="850" b="0">
                          <a:solidFill>
                            <a:srgbClr val="4B4B4B"/>
                          </a:solidFill>
                          <a:latin typeface="Arial"/>
                        </a:rPr>
                        <a:t>FR-NB-110, FR-NB-113, FR-NB-114, FR-NB-117, FR-NB-118, FR-NB-119</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350518">
                <a:tc>
                  <a:txBody>
                    <a:bodyPr/>
                    <a:lstStyle/>
                    <a:p>
                      <a:r>
                        <a:rPr sz="850" b="0">
                          <a:solidFill>
                            <a:srgbClr val="4B4B4B"/>
                          </a:solidFill>
                          <a:latin typeface="Arial"/>
                        </a:rPr>
                        <a:t>SCR-NB-30</a:t>
                      </a:r>
                    </a:p>
                  </a:txBody>
                  <a:tcPr marL="54864" marR="54864" marT="27432" marB="27432">
                    <a:solidFill>
                      <a:srgbClr val="FFFFFF"/>
                    </a:solidFill>
                  </a:tcPr>
                </a:tc>
                <a:tc>
                  <a:txBody>
                    <a:bodyPr/>
                    <a:lstStyle/>
                    <a:p>
                      <a:r>
                        <a:rPr sz="850" b="0">
                          <a:solidFill>
                            <a:srgbClr val="4B4B4B"/>
                          </a:solidFill>
                          <a:latin typeface="Arial"/>
                        </a:rPr>
                        <a:t>Booked Invoice</a:t>
                      </a:r>
                    </a:p>
                  </a:txBody>
                  <a:tcPr marL="54864" marR="54864" marT="27432" marB="27432">
                    <a:solidFill>
                      <a:srgbClr val="FFFFFF"/>
                    </a:solidFill>
                  </a:tcPr>
                </a:tc>
                <a:tc>
                  <a:txBody>
                    <a:bodyPr/>
                    <a:lstStyle/>
                    <a:p>
                      <a:r>
                        <a:rPr sz="850" b="0">
                          <a:solidFill>
                            <a:srgbClr val="4B4B4B"/>
                          </a:solidFill>
                          <a:latin typeface="Arial"/>
                        </a:rPr>
                        <a:t>13.7.3</a:t>
                      </a:r>
                    </a:p>
                  </a:txBody>
                  <a:tcPr marL="54864" marR="54864" marT="27432" marB="27432">
                    <a:solidFill>
                      <a:srgbClr val="FFFFFF"/>
                    </a:solidFill>
                  </a:tcPr>
                </a:tc>
                <a:tc>
                  <a:txBody>
                    <a:bodyPr/>
                    <a:lstStyle/>
                    <a:p>
                      <a:r>
                        <a:rPr sz="850" b="0">
                          <a:solidFill>
                            <a:srgbClr val="4B4B4B"/>
                          </a:solidFill>
                          <a:latin typeface="Arial"/>
                        </a:rPr>
                        <a:t>FR-NB-110, FR-NB-115, FR-NB-116, FR-NB-117, FR-NB-118</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220979">
                <a:tc>
                  <a:txBody>
                    <a:bodyPr/>
                    <a:lstStyle/>
                    <a:p>
                      <a:r>
                        <a:rPr sz="850" b="0">
                          <a:solidFill>
                            <a:srgbClr val="4B4B4B"/>
                          </a:solidFill>
                          <a:latin typeface="Arial"/>
                        </a:rPr>
                        <a:t>SCR-NB-31</a:t>
                      </a:r>
                    </a:p>
                  </a:txBody>
                  <a:tcPr marL="54864" marR="54864" marT="27432" marB="27432">
                    <a:solidFill>
                      <a:srgbClr val="E5F5FF"/>
                    </a:solidFill>
                  </a:tcPr>
                </a:tc>
                <a:tc>
                  <a:txBody>
                    <a:bodyPr/>
                    <a:lstStyle/>
                    <a:p>
                      <a:r>
                        <a:rPr sz="850" b="0">
                          <a:solidFill>
                            <a:srgbClr val="4B4B4B"/>
                          </a:solidFill>
                          <a:latin typeface="Arial"/>
                        </a:rPr>
                        <a:t>Endorsements and New Endorsement</a:t>
                      </a:r>
                    </a:p>
                  </a:txBody>
                  <a:tcPr marL="54864" marR="54864" marT="27432" marB="27432">
                    <a:solidFill>
                      <a:srgbClr val="E5F5FF"/>
                    </a:solidFill>
                  </a:tcPr>
                </a:tc>
                <a:tc>
                  <a:txBody>
                    <a:bodyPr/>
                    <a:lstStyle/>
                    <a:p>
                      <a:r>
                        <a:rPr sz="850" b="0">
                          <a:solidFill>
                            <a:srgbClr val="4B4B4B"/>
                          </a:solidFill>
                          <a:latin typeface="Arial"/>
                        </a:rPr>
                        <a:t>13.7.4</a:t>
                      </a:r>
                    </a:p>
                  </a:txBody>
                  <a:tcPr marL="54864" marR="54864" marT="27432" marB="27432">
                    <a:solidFill>
                      <a:srgbClr val="E5F5FF"/>
                    </a:solidFill>
                  </a:tcPr>
                </a:tc>
                <a:tc>
                  <a:txBody>
                    <a:bodyPr/>
                    <a:lstStyle/>
                    <a:p>
                      <a:r>
                        <a:rPr sz="850" b="0">
                          <a:solidFill>
                            <a:srgbClr val="4B4B4B"/>
                          </a:solidFill>
                          <a:latin typeface="Arial"/>
                        </a:rPr>
                        <a:t>FR-NB-115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SCR-NB-32</a:t>
                      </a:r>
                    </a:p>
                  </a:txBody>
                  <a:tcPr marL="54864" marR="54864" marT="27432" marB="27432">
                    <a:solidFill>
                      <a:srgbClr val="FFFFFF"/>
                    </a:solidFill>
                  </a:tcPr>
                </a:tc>
                <a:tc>
                  <a:txBody>
                    <a:bodyPr/>
                    <a:lstStyle/>
                    <a:p>
                      <a:r>
                        <a:rPr sz="850" b="0">
                          <a:solidFill>
                            <a:srgbClr val="4B4B4B"/>
                          </a:solidFill>
                          <a:latin typeface="Arial"/>
                        </a:rPr>
                        <a:t>Service Invoices</a:t>
                      </a:r>
                    </a:p>
                  </a:txBody>
                  <a:tcPr marL="54864" marR="54864" marT="27432" marB="27432">
                    <a:solidFill>
                      <a:srgbClr val="FFFFFF"/>
                    </a:solidFill>
                  </a:tcPr>
                </a:tc>
                <a:tc>
                  <a:txBody>
                    <a:bodyPr/>
                    <a:lstStyle/>
                    <a:p>
                      <a:r>
                        <a:rPr sz="850" b="0">
                          <a:solidFill>
                            <a:srgbClr val="4B4B4B"/>
                          </a:solidFill>
                          <a:latin typeface="Arial"/>
                        </a:rPr>
                        <a:t>13.7.5</a:t>
                      </a:r>
                    </a:p>
                  </a:txBody>
                  <a:tcPr marL="54864" marR="54864" marT="27432" marB="27432">
                    <a:solidFill>
                      <a:srgbClr val="FFFFFF"/>
                    </a:solidFill>
                  </a:tcPr>
                </a:tc>
                <a:tc>
                  <a:txBody>
                    <a:bodyPr/>
                    <a:lstStyle/>
                    <a:p>
                      <a:r>
                        <a:rPr sz="850" b="0">
                          <a:solidFill>
                            <a:srgbClr val="4B4B4B"/>
                          </a:solidFill>
                          <a:latin typeface="Arial"/>
                        </a:rPr>
                        <a:t>FR-NB-117</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SCR-NB-33</a:t>
                      </a:r>
                    </a:p>
                  </a:txBody>
                  <a:tcPr marL="54864" marR="54864" marT="27432" marB="27432">
                    <a:solidFill>
                      <a:srgbClr val="E5F5FF"/>
                    </a:solidFill>
                  </a:tcPr>
                </a:tc>
                <a:tc>
                  <a:txBody>
                    <a:bodyPr/>
                    <a:lstStyle/>
                    <a:p>
                      <a:r>
                        <a:rPr sz="850" b="0">
                          <a:solidFill>
                            <a:srgbClr val="4B4B4B"/>
                          </a:solidFill>
                          <a:latin typeface="Arial"/>
                        </a:rPr>
                        <a:t>Batch Runs</a:t>
                      </a:r>
                    </a:p>
                  </a:txBody>
                  <a:tcPr marL="54864" marR="54864" marT="27432" marB="27432">
                    <a:solidFill>
                      <a:srgbClr val="E5F5FF"/>
                    </a:solidFill>
                  </a:tcPr>
                </a:tc>
                <a:tc>
                  <a:txBody>
                    <a:bodyPr/>
                    <a:lstStyle/>
                    <a:p>
                      <a:r>
                        <a:rPr sz="850" b="0">
                          <a:solidFill>
                            <a:srgbClr val="4B4B4B"/>
                          </a:solidFill>
                          <a:latin typeface="Arial"/>
                        </a:rPr>
                        <a:t>13.7.6</a:t>
                      </a:r>
                    </a:p>
                  </a:txBody>
                  <a:tcPr marL="54864" marR="54864" marT="27432" marB="27432">
                    <a:solidFill>
                      <a:srgbClr val="E5F5FF"/>
                    </a:solidFill>
                  </a:tcPr>
                </a:tc>
                <a:tc>
                  <a:txBody>
                    <a:bodyPr/>
                    <a:lstStyle/>
                    <a:p>
                      <a:r>
                        <a:rPr sz="850" b="0">
                          <a:solidFill>
                            <a:srgbClr val="4B4B4B"/>
                          </a:solidFill>
                          <a:latin typeface="Arial"/>
                        </a:rPr>
                        <a:t>FR-NB-111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Empty list</a:t>
                      </a:r>
                    </a:p>
                  </a:txBody>
                  <a:tcPr marL="54864" marR="54864" marT="27432" marB="27432">
                    <a:solidFill>
                      <a:srgbClr val="E5F5FF"/>
                    </a:solidFill>
                  </a:tcPr>
                </a:tc>
              </a:tr>
              <a:tr h="220979">
                <a:tc>
                  <a:txBody>
                    <a:bodyPr/>
                    <a:lstStyle/>
                    <a:p>
                      <a:r>
                        <a:rPr sz="850" b="0">
                          <a:solidFill>
                            <a:srgbClr val="4B4B4B"/>
                          </a:solidFill>
                          <a:latin typeface="Arial"/>
                        </a:rPr>
                        <a:t>SCR-NB-34</a:t>
                      </a:r>
                    </a:p>
                  </a:txBody>
                  <a:tcPr marL="54864" marR="54864" marT="27432" marB="27432">
                    <a:solidFill>
                      <a:srgbClr val="FFFFFF"/>
                    </a:solidFill>
                  </a:tcPr>
                </a:tc>
                <a:tc>
                  <a:txBody>
                    <a:bodyPr/>
                    <a:lstStyle/>
                    <a:p>
                      <a:r>
                        <a:rPr sz="850" b="0">
                          <a:solidFill>
                            <a:srgbClr val="4B4B4B"/>
                          </a:solidFill>
                          <a:latin typeface="Arial"/>
                        </a:rPr>
                        <a:t>Booking Setup</a:t>
                      </a:r>
                    </a:p>
                  </a:txBody>
                  <a:tcPr marL="54864" marR="54864" marT="27432" marB="27432">
                    <a:solidFill>
                      <a:srgbClr val="FFFFFF"/>
                    </a:solidFill>
                  </a:tcPr>
                </a:tc>
                <a:tc>
                  <a:txBody>
                    <a:bodyPr/>
                    <a:lstStyle/>
                    <a:p>
                      <a:r>
                        <a:rPr sz="850" b="0">
                          <a:solidFill>
                            <a:srgbClr val="4B4B4B"/>
                          </a:solidFill>
                          <a:latin typeface="Arial"/>
                        </a:rPr>
                        <a:t>13.7.7</a:t>
                      </a:r>
                    </a:p>
                  </a:txBody>
                  <a:tcPr marL="54864" marR="54864" marT="27432" marB="27432">
                    <a:solidFill>
                      <a:srgbClr val="FFFFFF"/>
                    </a:solidFill>
                  </a:tcPr>
                </a:tc>
                <a:tc>
                  <a:txBody>
                    <a:bodyPr/>
                    <a:lstStyle/>
                    <a:p>
                      <a:r>
                        <a:rPr sz="850" b="0">
                          <a:solidFill>
                            <a:srgbClr val="4B4B4B"/>
                          </a:solidFill>
                          <a:latin typeface="Arial"/>
                        </a:rPr>
                        <a:t>FR-NB-112, FR-NB-117, FR-NB-118</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SCR-NB-35</a:t>
                      </a:r>
                    </a:p>
                  </a:txBody>
                  <a:tcPr marL="54864" marR="54864" marT="27432" marB="27432">
                    <a:solidFill>
                      <a:srgbClr val="E5F5FF"/>
                    </a:solidFill>
                  </a:tcPr>
                </a:tc>
                <a:tc>
                  <a:txBody>
                    <a:bodyPr/>
                    <a:lstStyle/>
                    <a:p>
                      <a:r>
                        <a:rPr sz="850" b="0">
                          <a:solidFill>
                            <a:srgbClr val="4B4B4B"/>
                          </a:solidFill>
                          <a:latin typeface="Arial"/>
                        </a:rPr>
                        <a:t>Bulk Uploads</a:t>
                      </a:r>
                    </a:p>
                  </a:txBody>
                  <a:tcPr marL="54864" marR="54864" marT="27432" marB="27432">
                    <a:solidFill>
                      <a:srgbClr val="E5F5FF"/>
                    </a:solidFill>
                  </a:tcPr>
                </a:tc>
                <a:tc>
                  <a:txBody>
                    <a:bodyPr/>
                    <a:lstStyle/>
                    <a:p>
                      <a:r>
                        <a:rPr sz="850" b="0">
                          <a:solidFill>
                            <a:srgbClr val="4B4B4B"/>
                          </a:solidFill>
                          <a:latin typeface="Arial"/>
                        </a:rPr>
                        <a:t>13.8.1</a:t>
                      </a:r>
                    </a:p>
                  </a:txBody>
                  <a:tcPr marL="54864" marR="54864" marT="27432" marB="27432">
                    <a:solidFill>
                      <a:srgbClr val="E5F5FF"/>
                    </a:solidFill>
                  </a:tcPr>
                </a:tc>
                <a:tc>
                  <a:txBody>
                    <a:bodyPr/>
                    <a:lstStyle/>
                    <a:p>
                      <a:r>
                        <a:rPr sz="850" b="0">
                          <a:solidFill>
                            <a:srgbClr val="4B4B4B"/>
                          </a:solidFill>
                          <a:latin typeface="Arial"/>
                        </a:rPr>
                        <a:t>FR-NB-019</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bl>
          </a:graphicData>
        </a:graphic>
      </p:graphicFrame>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619</a:t>
            </a:r>
          </a:p>
        </p:txBody>
      </p:sp>
      <p:graphicFrame>
        <p:nvGraphicFramePr>
          <p:cNvPr id="9" name="Table 8"/>
          <p:cNvGraphicFramePr>
            <a:graphicFrameLocks noGrp="1"/>
          </p:cNvGraphicFramePr>
          <p:nvPr/>
        </p:nvGraphicFramePr>
        <p:xfrm>
          <a:off x="548640" y="1325880"/>
          <a:ext cx="11094412" cy="48996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SCR-NB-36</a:t>
                      </a:r>
                    </a:p>
                  </a:txBody>
                  <a:tcPr marL="54864" marR="54864" marT="27432" marB="27432">
                    <a:solidFill>
                      <a:srgbClr val="FFFFFF"/>
                    </a:solidFill>
                  </a:tcPr>
                </a:tc>
                <a:tc>
                  <a:txBody>
                    <a:bodyPr/>
                    <a:lstStyle/>
                    <a:p>
                      <a:r>
                        <a:rPr sz="850" b="0">
                          <a:solidFill>
                            <a:srgbClr val="4B4B4B"/>
                          </a:solidFill>
                          <a:latin typeface="Arial"/>
                        </a:rPr>
                        <a:t>Bulk upload wizard</a:t>
                      </a:r>
                    </a:p>
                  </a:txBody>
                  <a:tcPr marL="54864" marR="54864" marT="27432" marB="27432">
                    <a:solidFill>
                      <a:srgbClr val="FFFFFF"/>
                    </a:solidFill>
                  </a:tcPr>
                </a:tc>
                <a:tc>
                  <a:txBody>
                    <a:bodyPr/>
                    <a:lstStyle/>
                    <a:p>
                      <a:r>
                        <a:rPr sz="850" b="0">
                          <a:solidFill>
                            <a:srgbClr val="4B4B4B"/>
                          </a:solidFill>
                          <a:latin typeface="Arial"/>
                        </a:rPr>
                        <a:t>13.8.2</a:t>
                      </a:r>
                    </a:p>
                  </a:txBody>
                  <a:tcPr marL="54864" marR="54864" marT="27432" marB="27432">
                    <a:solidFill>
                      <a:srgbClr val="FFFFFF"/>
                    </a:solidFill>
                  </a:tcPr>
                </a:tc>
                <a:tc>
                  <a:txBody>
                    <a:bodyPr/>
                    <a:lstStyle/>
                    <a:p>
                      <a:r>
                        <a:rPr sz="850" b="0">
                          <a:solidFill>
                            <a:srgbClr val="4B4B4B"/>
                          </a:solidFill>
                          <a:latin typeface="Arial"/>
                        </a:rPr>
                        <a:t>FR-NB-019, FR-NB-035, FR-NB-045, FR-NB-046, FR-NB-065, FR-NB-068, FR-NB-111</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Validation error, Success message, Empty list, Document as received</a:t>
                      </a:r>
                    </a:p>
                  </a:txBody>
                  <a:tcPr marL="54864" marR="54864" marT="27432" marB="27432">
                    <a:solidFill>
                      <a:srgbClr val="FFFFFF"/>
                    </a:solidFill>
                  </a:tcPr>
                </a:tc>
              </a:tr>
              <a:tr h="220979">
                <a:tc>
                  <a:txBody>
                    <a:bodyPr/>
                    <a:lstStyle/>
                    <a:p>
                      <a:r>
                        <a:rPr sz="850" b="0">
                          <a:solidFill>
                            <a:srgbClr val="4B4B4B"/>
                          </a:solidFill>
                          <a:latin typeface="Arial"/>
                        </a:rPr>
                        <a:t>SCR-NB-37</a:t>
                      </a:r>
                    </a:p>
                  </a:txBody>
                  <a:tcPr marL="54864" marR="54864" marT="27432" marB="27432">
                    <a:solidFill>
                      <a:srgbClr val="E5F5FF"/>
                    </a:solidFill>
                  </a:tcPr>
                </a:tc>
                <a:tc>
                  <a:txBody>
                    <a:bodyPr/>
                    <a:lstStyle/>
                    <a:p>
                      <a:r>
                        <a:rPr sz="850" b="0">
                          <a:solidFill>
                            <a:srgbClr val="4B4B4B"/>
                          </a:solidFill>
                          <a:latin typeface="Arial"/>
                        </a:rPr>
                        <a:t>NB Dashboard</a:t>
                      </a:r>
                    </a:p>
                  </a:txBody>
                  <a:tcPr marL="54864" marR="54864" marT="27432" marB="27432">
                    <a:solidFill>
                      <a:srgbClr val="E5F5FF"/>
                    </a:solidFill>
                  </a:tcPr>
                </a:tc>
                <a:tc>
                  <a:txBody>
                    <a:bodyPr/>
                    <a:lstStyle/>
                    <a:p>
                      <a:r>
                        <a:rPr sz="850" b="0">
                          <a:solidFill>
                            <a:srgbClr val="4B4B4B"/>
                          </a:solidFill>
                          <a:latin typeface="Arial"/>
                        </a:rPr>
                        <a:t>13.8.3</a:t>
                      </a:r>
                    </a:p>
                  </a:txBody>
                  <a:tcPr marL="54864" marR="54864" marT="27432" marB="27432">
                    <a:solidFill>
                      <a:srgbClr val="E5F5FF"/>
                    </a:solidFill>
                  </a:tcPr>
                </a:tc>
                <a:tc>
                  <a:txBody>
                    <a:bodyPr/>
                    <a:lstStyle/>
                    <a:p>
                      <a:r>
                        <a:rPr sz="850" b="0">
                          <a:solidFill>
                            <a:srgbClr val="4B4B4B"/>
                          </a:solidFill>
                          <a:latin typeface="Arial"/>
                        </a:rPr>
                        <a:t>FR-NB-120, FR-NB-122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SCR-NB-38</a:t>
                      </a:r>
                    </a:p>
                  </a:txBody>
                  <a:tcPr marL="54864" marR="54864" marT="27432" marB="27432">
                    <a:solidFill>
                      <a:srgbClr val="FFFFFF"/>
                    </a:solidFill>
                  </a:tcPr>
                </a:tc>
                <a:tc>
                  <a:txBody>
                    <a:bodyPr/>
                    <a:lstStyle/>
                    <a:p>
                      <a:r>
                        <a:rPr sz="850" b="0">
                          <a:solidFill>
                            <a:srgbClr val="4B4B4B"/>
                          </a:solidFill>
                          <a:latin typeface="Arial"/>
                        </a:rPr>
                        <a:t>My Work</a:t>
                      </a:r>
                    </a:p>
                  </a:txBody>
                  <a:tcPr marL="54864" marR="54864" marT="27432" marB="27432">
                    <a:solidFill>
                      <a:srgbClr val="FFFFFF"/>
                    </a:solidFill>
                  </a:tcPr>
                </a:tc>
                <a:tc>
                  <a:txBody>
                    <a:bodyPr/>
                    <a:lstStyle/>
                    <a:p>
                      <a:r>
                        <a:rPr sz="850" b="0">
                          <a:solidFill>
                            <a:srgbClr val="4B4B4B"/>
                          </a:solidFill>
                          <a:latin typeface="Arial"/>
                        </a:rPr>
                        <a:t>13.8.4</a:t>
                      </a:r>
                    </a:p>
                  </a:txBody>
                  <a:tcPr marL="54864" marR="54864" marT="27432" marB="27432">
                    <a:solidFill>
                      <a:srgbClr val="FFFFFF"/>
                    </a:solidFill>
                  </a:tcPr>
                </a:tc>
                <a:tc>
                  <a:txBody>
                    <a:bodyPr/>
                    <a:lstStyle/>
                    <a:p>
                      <a:r>
                        <a:rPr sz="850" b="0">
                          <a:solidFill>
                            <a:srgbClr val="4B4B4B"/>
                          </a:solidFill>
                          <a:latin typeface="Arial"/>
                        </a:rPr>
                        <a:t>FR-NB-011, FR-NB-010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SCR-NB-39</a:t>
                      </a:r>
                    </a:p>
                  </a:txBody>
                  <a:tcPr marL="54864" marR="54864" marT="27432" marB="27432">
                    <a:solidFill>
                      <a:srgbClr val="E5F5FF"/>
                    </a:solidFill>
                  </a:tcPr>
                </a:tc>
                <a:tc>
                  <a:txBody>
                    <a:bodyPr/>
                    <a:lstStyle/>
                    <a:p>
                      <a:r>
                        <a:rPr sz="850" b="0">
                          <a:solidFill>
                            <a:srgbClr val="4B4B4B"/>
                          </a:solidFill>
                          <a:latin typeface="Arial"/>
                        </a:rPr>
                        <a:t>My Approvals</a:t>
                      </a:r>
                    </a:p>
                  </a:txBody>
                  <a:tcPr marL="54864" marR="54864" marT="27432" marB="27432">
                    <a:solidFill>
                      <a:srgbClr val="E5F5FF"/>
                    </a:solidFill>
                  </a:tcPr>
                </a:tc>
                <a:tc>
                  <a:txBody>
                    <a:bodyPr/>
                    <a:lstStyle/>
                    <a:p>
                      <a:r>
                        <a:rPr sz="850" b="0">
                          <a:solidFill>
                            <a:srgbClr val="4B4B4B"/>
                          </a:solidFill>
                          <a:latin typeface="Arial"/>
                        </a:rPr>
                        <a:t>13.8.5</a:t>
                      </a:r>
                    </a:p>
                  </a:txBody>
                  <a:tcPr marL="54864" marR="54864" marT="27432" marB="27432">
                    <a:solidFill>
                      <a:srgbClr val="E5F5FF"/>
                    </a:solidFill>
                  </a:tcPr>
                </a:tc>
                <a:tc>
                  <a:txBody>
                    <a:bodyPr/>
                    <a:lstStyle/>
                    <a:p>
                      <a:r>
                        <a:rPr sz="850" b="0">
                          <a:solidFill>
                            <a:srgbClr val="4B4B4B"/>
                          </a:solidFill>
                          <a:latin typeface="Arial"/>
                        </a:rPr>
                        <a:t>FR-NB-133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SCR-NB-40</a:t>
                      </a:r>
                    </a:p>
                  </a:txBody>
                  <a:tcPr marL="54864" marR="54864" marT="27432" marB="27432">
                    <a:solidFill>
                      <a:srgbClr val="FFFFFF"/>
                    </a:solidFill>
                  </a:tcPr>
                </a:tc>
                <a:tc>
                  <a:txBody>
                    <a:bodyPr/>
                    <a:lstStyle/>
                    <a:p>
                      <a:r>
                        <a:rPr sz="850" b="0">
                          <a:solidFill>
                            <a:srgbClr val="4B4B4B"/>
                          </a:solidFill>
                          <a:latin typeface="Arial"/>
                        </a:rPr>
                        <a:t>New Business Reports</a:t>
                      </a:r>
                    </a:p>
                  </a:txBody>
                  <a:tcPr marL="54864" marR="54864" marT="27432" marB="27432">
                    <a:solidFill>
                      <a:srgbClr val="FFFFFF"/>
                    </a:solidFill>
                  </a:tcPr>
                </a:tc>
                <a:tc>
                  <a:txBody>
                    <a:bodyPr/>
                    <a:lstStyle/>
                    <a:p>
                      <a:r>
                        <a:rPr sz="850" b="0">
                          <a:solidFill>
                            <a:srgbClr val="4B4B4B"/>
                          </a:solidFill>
                          <a:latin typeface="Arial"/>
                        </a:rPr>
                        <a:t>13.8.6</a:t>
                      </a:r>
                    </a:p>
                  </a:txBody>
                  <a:tcPr marL="54864" marR="54864" marT="27432" marB="27432">
                    <a:solidFill>
                      <a:srgbClr val="FFFFFF"/>
                    </a:solidFill>
                  </a:tcPr>
                </a:tc>
                <a:tc>
                  <a:txBody>
                    <a:bodyPr/>
                    <a:lstStyle/>
                    <a:p>
                      <a:r>
                        <a:rPr sz="850" b="0">
                          <a:solidFill>
                            <a:srgbClr val="4B4B4B"/>
                          </a:solidFill>
                          <a:latin typeface="Arial"/>
                        </a:rPr>
                        <a:t>FR-NB-121, FR-NB-122, FR-NB-123, FR-NB-124, FR-NB-125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SCR-NB-41</a:t>
                      </a:r>
                    </a:p>
                  </a:txBody>
                  <a:tcPr marL="54864" marR="54864" marT="27432" marB="27432">
                    <a:solidFill>
                      <a:srgbClr val="E5F5FF"/>
                    </a:solidFill>
                  </a:tcPr>
                </a:tc>
                <a:tc>
                  <a:txBody>
                    <a:bodyPr/>
                    <a:lstStyle/>
                    <a:p>
                      <a:r>
                        <a:rPr sz="850" b="0">
                          <a:solidFill>
                            <a:srgbClr val="4B4B4B"/>
                          </a:solidFill>
                          <a:latin typeface="Arial"/>
                        </a:rPr>
                        <a:t>Production Targets</a:t>
                      </a:r>
                    </a:p>
                  </a:txBody>
                  <a:tcPr marL="54864" marR="54864" marT="27432" marB="27432">
                    <a:solidFill>
                      <a:srgbClr val="E5F5FF"/>
                    </a:solidFill>
                  </a:tcPr>
                </a:tc>
                <a:tc>
                  <a:txBody>
                    <a:bodyPr/>
                    <a:lstStyle/>
                    <a:p>
                      <a:r>
                        <a:rPr sz="850" b="0">
                          <a:solidFill>
                            <a:srgbClr val="4B4B4B"/>
                          </a:solidFill>
                          <a:latin typeface="Arial"/>
                        </a:rPr>
                        <a:t>13.8.7</a:t>
                      </a:r>
                    </a:p>
                  </a:txBody>
                  <a:tcPr marL="54864" marR="54864" marT="27432" marB="27432">
                    <a:solidFill>
                      <a:srgbClr val="E5F5FF"/>
                    </a:solidFill>
                  </a:tcPr>
                </a:tc>
                <a:tc>
                  <a:txBody>
                    <a:bodyPr/>
                    <a:lstStyle/>
                    <a:p>
                      <a:r>
                        <a:rPr sz="850" b="0">
                          <a:solidFill>
                            <a:srgbClr val="4B4B4B"/>
                          </a:solidFill>
                          <a:latin typeface="Arial"/>
                        </a:rPr>
                        <a:t>FR-NB-122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SCR-NB-42</a:t>
                      </a:r>
                    </a:p>
                  </a:txBody>
                  <a:tcPr marL="54864" marR="54864" marT="27432" marB="27432">
                    <a:solidFill>
                      <a:srgbClr val="FFFFFF"/>
                    </a:solidFill>
                  </a:tcPr>
                </a:tc>
                <a:tc>
                  <a:txBody>
                    <a:bodyPr/>
                    <a:lstStyle/>
                    <a:p>
                      <a:r>
                        <a:rPr sz="850" b="0">
                          <a:solidFill>
                            <a:srgbClr val="4B4B4B"/>
                          </a:solidFill>
                          <a:latin typeface="Arial"/>
                        </a:rPr>
                        <a:t>Lists of Values</a:t>
                      </a:r>
                    </a:p>
                  </a:txBody>
                  <a:tcPr marL="54864" marR="54864" marT="27432" marB="27432">
                    <a:solidFill>
                      <a:srgbClr val="FFFFFF"/>
                    </a:solidFill>
                  </a:tcPr>
                </a:tc>
                <a:tc>
                  <a:txBody>
                    <a:bodyPr/>
                    <a:lstStyle/>
                    <a:p>
                      <a:r>
                        <a:rPr sz="850" b="0">
                          <a:solidFill>
                            <a:srgbClr val="4B4B4B"/>
                          </a:solidFill>
                          <a:latin typeface="Arial"/>
                        </a:rPr>
                        <a:t>13.8.8</a:t>
                      </a:r>
                    </a:p>
                  </a:txBody>
                  <a:tcPr marL="54864" marR="54864" marT="27432" marB="27432">
                    <a:solidFill>
                      <a:srgbClr val="FFFFFF"/>
                    </a:solidFill>
                  </a:tcPr>
                </a:tc>
                <a:tc>
                  <a:txBody>
                    <a:bodyPr/>
                    <a:lstStyle/>
                    <a:p>
                      <a:r>
                        <a:rPr sz="850" b="0">
                          <a:solidFill>
                            <a:srgbClr val="4B4B4B"/>
                          </a:solidFill>
                          <a:latin typeface="Arial"/>
                        </a:rPr>
                        <a:t>FR-NB-132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SCR-NB-43</a:t>
                      </a:r>
                    </a:p>
                  </a:txBody>
                  <a:tcPr marL="54864" marR="54864" marT="27432" marB="27432">
                    <a:solidFill>
                      <a:srgbClr val="E5F5FF"/>
                    </a:solidFill>
                  </a:tcPr>
                </a:tc>
                <a:tc>
                  <a:txBody>
                    <a:bodyPr/>
                    <a:lstStyle/>
                    <a:p>
                      <a:r>
                        <a:rPr sz="850" b="0">
                          <a:solidFill>
                            <a:srgbClr val="4B4B4B"/>
                          </a:solidFill>
                          <a:latin typeface="Arial"/>
                        </a:rPr>
                        <a:t>Data Retention</a:t>
                      </a:r>
                    </a:p>
                  </a:txBody>
                  <a:tcPr marL="54864" marR="54864" marT="27432" marB="27432">
                    <a:solidFill>
                      <a:srgbClr val="E5F5FF"/>
                    </a:solidFill>
                  </a:tcPr>
                </a:tc>
                <a:tc>
                  <a:txBody>
                    <a:bodyPr/>
                    <a:lstStyle/>
                    <a:p>
                      <a:r>
                        <a:rPr sz="850" b="0">
                          <a:solidFill>
                            <a:srgbClr val="4B4B4B"/>
                          </a:solidFill>
                          <a:latin typeface="Arial"/>
                        </a:rPr>
                        <a:t>13.8.9</a:t>
                      </a:r>
                    </a:p>
                  </a:txBody>
                  <a:tcPr marL="54864" marR="54864" marT="27432" marB="27432">
                    <a:solidFill>
                      <a:srgbClr val="E5F5FF"/>
                    </a:solidFill>
                  </a:tcPr>
                </a:tc>
                <a:tc>
                  <a:txBody>
                    <a:bodyPr/>
                    <a:lstStyle/>
                    <a:p>
                      <a:r>
                        <a:rPr sz="850" b="0">
                          <a:solidFill>
                            <a:srgbClr val="4B4B4B"/>
                          </a:solidFill>
                          <a:latin typeface="Arial"/>
                        </a:rPr>
                        <a:t>FR-NB-137</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SCR-NB-44</a:t>
                      </a:r>
                    </a:p>
                  </a:txBody>
                  <a:tcPr marL="54864" marR="54864" marT="27432" marB="27432">
                    <a:solidFill>
                      <a:srgbClr val="FFFFFF"/>
                    </a:solidFill>
                  </a:tcPr>
                </a:tc>
                <a:tc>
                  <a:txBody>
                    <a:bodyPr/>
                    <a:lstStyle/>
                    <a:p>
                      <a:r>
                        <a:rPr sz="850" b="0">
                          <a:solidFill>
                            <a:srgbClr val="4B4B4B"/>
                          </a:solidFill>
                          <a:latin typeface="Arial"/>
                        </a:rPr>
                        <a:t>Document Templates</a:t>
                      </a:r>
                    </a:p>
                  </a:txBody>
                  <a:tcPr marL="54864" marR="54864" marT="27432" marB="27432">
                    <a:solidFill>
                      <a:srgbClr val="FFFFFF"/>
                    </a:solidFill>
                  </a:tcPr>
                </a:tc>
                <a:tc>
                  <a:txBody>
                    <a:bodyPr/>
                    <a:lstStyle/>
                    <a:p>
                      <a:r>
                        <a:rPr sz="850" b="0">
                          <a:solidFill>
                            <a:srgbClr val="4B4B4B"/>
                          </a:solidFill>
                          <a:latin typeface="Arial"/>
                        </a:rPr>
                        <a:t>13.8.10</a:t>
                      </a:r>
                    </a:p>
                  </a:txBody>
                  <a:tcPr marL="54864" marR="54864" marT="27432" marB="27432">
                    <a:solidFill>
                      <a:srgbClr val="FFFFFF"/>
                    </a:solidFill>
                  </a:tcPr>
                </a:tc>
                <a:tc>
                  <a:txBody>
                    <a:bodyPr/>
                    <a:lstStyle/>
                    <a:p>
                      <a:r>
                        <a:rPr sz="850" b="0">
                          <a:solidFill>
                            <a:srgbClr val="4B4B4B"/>
                          </a:solidFill>
                          <a:latin typeface="Arial"/>
                        </a:rPr>
                        <a:t>FR-NB-004</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SCR-NB-45</a:t>
                      </a:r>
                    </a:p>
                  </a:txBody>
                  <a:tcPr marL="54864" marR="54864" marT="27432" marB="27432">
                    <a:solidFill>
                      <a:srgbClr val="E5F5FF"/>
                    </a:solidFill>
                  </a:tcPr>
                </a:tc>
                <a:tc>
                  <a:txBody>
                    <a:bodyPr/>
                    <a:lstStyle/>
                    <a:p>
                      <a:r>
                        <a:rPr sz="850" b="0">
                          <a:solidFill>
                            <a:srgbClr val="4B4B4B"/>
                          </a:solidFill>
                          <a:latin typeface="Arial"/>
                        </a:rPr>
                        <a:t>Outbound Messages</a:t>
                      </a:r>
                    </a:p>
                  </a:txBody>
                  <a:tcPr marL="54864" marR="54864" marT="27432" marB="27432">
                    <a:solidFill>
                      <a:srgbClr val="E5F5FF"/>
                    </a:solidFill>
                  </a:tcPr>
                </a:tc>
                <a:tc>
                  <a:txBody>
                    <a:bodyPr/>
                    <a:lstStyle/>
                    <a:p>
                      <a:r>
                        <a:rPr sz="850" b="0">
                          <a:solidFill>
                            <a:srgbClr val="4B4B4B"/>
                          </a:solidFill>
                          <a:latin typeface="Arial"/>
                        </a:rPr>
                        <a:t>13.8.11</a:t>
                      </a:r>
                    </a:p>
                  </a:txBody>
                  <a:tcPr marL="54864" marR="54864" marT="27432" marB="27432">
                    <a:solidFill>
                      <a:srgbClr val="E5F5FF"/>
                    </a:solidFill>
                  </a:tcPr>
                </a:tc>
                <a:tc>
                  <a:txBody>
                    <a:bodyPr/>
                    <a:lstStyle/>
                    <a:p>
                      <a:r>
                        <a:rPr sz="850" b="0">
                          <a:solidFill>
                            <a:srgbClr val="4B4B4B"/>
                          </a:solidFill>
                          <a:latin typeface="Arial"/>
                        </a:rPr>
                        <a:t>FR-NB-013, FR-NB-015</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SCR-NB-46</a:t>
                      </a:r>
                    </a:p>
                  </a:txBody>
                  <a:tcPr marL="54864" marR="54864" marT="27432" marB="27432">
                    <a:solidFill>
                      <a:srgbClr val="FFFFFF"/>
                    </a:solidFill>
                  </a:tcPr>
                </a:tc>
                <a:tc>
                  <a:txBody>
                    <a:bodyPr/>
                    <a:lstStyle/>
                    <a:p>
                      <a:r>
                        <a:rPr sz="850" b="0">
                          <a:solidFill>
                            <a:srgbClr val="4B4B4B"/>
                          </a:solidFill>
                          <a:latin typeface="Arial"/>
                        </a:rPr>
                        <a:t>Sign in</a:t>
                      </a:r>
                    </a:p>
                  </a:txBody>
                  <a:tcPr marL="54864" marR="54864" marT="27432" marB="27432">
                    <a:solidFill>
                      <a:srgbClr val="FFFFFF"/>
                    </a:solidFill>
                  </a:tcPr>
                </a:tc>
                <a:tc>
                  <a:txBody>
                    <a:bodyPr/>
                    <a:lstStyle/>
                    <a:p>
                      <a:r>
                        <a:rPr sz="850" b="0">
                          <a:solidFill>
                            <a:srgbClr val="4B4B4B"/>
                          </a:solidFill>
                          <a:latin typeface="Arial"/>
                        </a:rPr>
                        <a:t>13.8.12</a:t>
                      </a:r>
                    </a:p>
                  </a:txBody>
                  <a:tcPr marL="54864" marR="54864" marT="27432" marB="27432">
                    <a:solidFill>
                      <a:srgbClr val="FFFFFF"/>
                    </a:solidFill>
                  </a:tcPr>
                </a:tc>
                <a:tc>
                  <a:txBody>
                    <a:bodyPr/>
                    <a:lstStyle/>
                    <a:p>
                      <a:r>
                        <a:rPr sz="850" b="0">
                          <a:solidFill>
                            <a:srgbClr val="4B4B4B"/>
                          </a:solidFill>
                          <a:latin typeface="Arial"/>
                        </a:rPr>
                        <a:t>FR-NB-130, FR-NB-131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Empty list</a:t>
                      </a:r>
                    </a:p>
                  </a:txBody>
                  <a:tcPr marL="54864" marR="54864" marT="27432" marB="27432">
                    <a:solidFill>
                      <a:srgbClr val="FFFFFF"/>
                    </a:solidFill>
                  </a:tcPr>
                </a:tc>
              </a:tr>
              <a:tr h="220979">
                <a:tc>
                  <a:txBody>
                    <a:bodyPr/>
                    <a:lstStyle/>
                    <a:p>
                      <a:r>
                        <a:rPr sz="850" b="0">
                          <a:solidFill>
                            <a:srgbClr val="4B4B4B"/>
                          </a:solidFill>
                          <a:latin typeface="Arial"/>
                        </a:rPr>
                        <a:t>NAV-NB-01</a:t>
                      </a:r>
                    </a:p>
                  </a:txBody>
                  <a:tcPr marL="54864" marR="54864" marT="27432" marB="27432">
                    <a:solidFill>
                      <a:srgbClr val="E5F5FF"/>
                    </a:solidFill>
                  </a:tcPr>
                </a:tc>
                <a:tc>
                  <a:txBody>
                    <a:bodyPr/>
                    <a:lstStyle/>
                    <a:p>
                      <a:r>
                        <a:rPr sz="850" b="0">
                          <a:solidFill>
                            <a:srgbClr val="4B4B4B"/>
                          </a:solidFill>
                          <a:latin typeface="Arial"/>
                        </a:rPr>
                        <a:t>Landing page and menu: Marketing Account Officer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NAV-NB-02</a:t>
                      </a:r>
                    </a:p>
                  </a:txBody>
                  <a:tcPr marL="54864" marR="54864" marT="27432" marB="27432">
                    <a:solidFill>
                      <a:srgbClr val="FFFFFF"/>
                    </a:solidFill>
                  </a:tcPr>
                </a:tc>
                <a:tc>
                  <a:txBody>
                    <a:bodyPr/>
                    <a:lstStyle/>
                    <a:p>
                      <a:r>
                        <a:rPr sz="850" b="0">
                          <a:solidFill>
                            <a:srgbClr val="4B4B4B"/>
                          </a:solidFill>
                          <a:latin typeface="Arial"/>
                        </a:rPr>
                        <a:t>Landing page and menu: Marketing TL / TH / UH</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NAV-NB-03</a:t>
                      </a:r>
                    </a:p>
                  </a:txBody>
                  <a:tcPr marL="54864" marR="54864" marT="27432" marB="27432">
                    <a:solidFill>
                      <a:srgbClr val="E5F5FF"/>
                    </a:solidFill>
                  </a:tcPr>
                </a:tc>
                <a:tc>
                  <a:txBody>
                    <a:bodyPr/>
                    <a:lstStyle/>
                    <a:p>
                      <a:r>
                        <a:rPr sz="850" b="0">
                          <a:solidFill>
                            <a:srgbClr val="4B4B4B"/>
                          </a:solidFill>
                          <a:latin typeface="Arial"/>
                        </a:rPr>
                        <a:t>Landing page and menu: Technical Support Unit</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NAV-NB-04</a:t>
                      </a:r>
                    </a:p>
                  </a:txBody>
                  <a:tcPr marL="54864" marR="54864" marT="27432" marB="27432">
                    <a:solidFill>
                      <a:srgbClr val="FFFFFF"/>
                    </a:solidFill>
                  </a:tcPr>
                </a:tc>
                <a:tc>
                  <a:txBody>
                    <a:bodyPr/>
                    <a:lstStyle/>
                    <a:p>
                      <a:r>
                        <a:rPr sz="850" b="0">
                          <a:solidFill>
                            <a:srgbClr val="4B4B4B"/>
                          </a:solidFill>
                          <a:latin typeface="Arial"/>
                        </a:rPr>
                        <a:t>Landing page and menu: Processing</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NAV-NB-05</a:t>
                      </a:r>
                    </a:p>
                  </a:txBody>
                  <a:tcPr marL="54864" marR="54864" marT="27432" marB="27432">
                    <a:solidFill>
                      <a:srgbClr val="E5F5FF"/>
                    </a:solidFill>
                  </a:tcPr>
                </a:tc>
                <a:tc>
                  <a:txBody>
                    <a:bodyPr/>
                    <a:lstStyle/>
                    <a:p>
                      <a:r>
                        <a:rPr sz="850" b="0">
                          <a:solidFill>
                            <a:srgbClr val="4B4B4B"/>
                          </a:solidFill>
                          <a:latin typeface="Arial"/>
                        </a:rPr>
                        <a:t>Landing page and menu: Processing Team Leader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NAV-NB-06</a:t>
                      </a:r>
                    </a:p>
                  </a:txBody>
                  <a:tcPr marL="54864" marR="54864" marT="27432" marB="27432">
                    <a:solidFill>
                      <a:srgbClr val="FFFFFF"/>
                    </a:solidFill>
                  </a:tcPr>
                </a:tc>
                <a:tc>
                  <a:txBody>
                    <a:bodyPr/>
                    <a:lstStyle/>
                    <a:p>
                      <a:r>
                        <a:rPr sz="850" b="0">
                          <a:solidFill>
                            <a:srgbClr val="4B4B4B"/>
                          </a:solidFill>
                          <a:latin typeface="Arial"/>
                        </a:rPr>
                        <a:t>Landing page and menu: New Business Approver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NAV-NB-07</a:t>
                      </a:r>
                    </a:p>
                  </a:txBody>
                  <a:tcPr marL="54864" marR="54864" marT="27432" marB="27432">
                    <a:solidFill>
                      <a:srgbClr val="E5F5FF"/>
                    </a:solidFill>
                  </a:tcPr>
                </a:tc>
                <a:tc>
                  <a:txBody>
                    <a:bodyPr/>
                    <a:lstStyle/>
                    <a:p>
                      <a:r>
                        <a:rPr sz="850" b="0">
                          <a:solidFill>
                            <a:srgbClr val="4B4B4B"/>
                          </a:solidFill>
                          <a:latin typeface="Arial"/>
                        </a:rPr>
                        <a:t>Landing page and menu: E-policy Sender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NAV-NB-08</a:t>
                      </a:r>
                    </a:p>
                  </a:txBody>
                  <a:tcPr marL="54864" marR="54864" marT="27432" marB="27432">
                    <a:solidFill>
                      <a:srgbClr val="FFFFFF"/>
                    </a:solidFill>
                  </a:tcPr>
                </a:tc>
                <a:tc>
                  <a:txBody>
                    <a:bodyPr/>
                    <a:lstStyle/>
                    <a:p>
                      <a:r>
                        <a:rPr sz="850" b="0">
                          <a:solidFill>
                            <a:srgbClr val="4B4B4B"/>
                          </a:solidFill>
                          <a:latin typeface="Arial"/>
                        </a:rPr>
                        <a:t>Landing page and menu: Adjustment</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NAV-NB-09</a:t>
                      </a:r>
                    </a:p>
                  </a:txBody>
                  <a:tcPr marL="54864" marR="54864" marT="27432" marB="27432">
                    <a:solidFill>
                      <a:srgbClr val="E5F5FF"/>
                    </a:solidFill>
                  </a:tcPr>
                </a:tc>
                <a:tc>
                  <a:txBody>
                    <a:bodyPr/>
                    <a:lstStyle/>
                    <a:p>
                      <a:r>
                        <a:rPr sz="850" b="0">
                          <a:solidFill>
                            <a:srgbClr val="4B4B4B"/>
                          </a:solidFill>
                          <a:latin typeface="Arial"/>
                        </a:rPr>
                        <a:t>Landing page and menu: Business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bl>
          </a:graphicData>
        </a:graphic>
      </p:graphicFrame>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 New Business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620</a:t>
            </a:r>
          </a:p>
        </p:txBody>
      </p:sp>
      <p:graphicFrame>
        <p:nvGraphicFramePr>
          <p:cNvPr id="9" name="Table 8"/>
          <p:cNvGraphicFramePr>
            <a:graphicFrameLocks noGrp="1"/>
          </p:cNvGraphicFramePr>
          <p:nvPr/>
        </p:nvGraphicFramePr>
        <p:xfrm>
          <a:off x="548640" y="1325880"/>
          <a:ext cx="11094412" cy="287272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NAV-NB-10</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NAV-NB-11</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Insurance quotation (quotation letter)</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FR-NB-004, FR-NB-044</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Quotation slip</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FR-NB-053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Comparative table</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FR-NB-055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DO-04</a:t>
                      </a:r>
                    </a:p>
                  </a:txBody>
                  <a:tcPr marL="54864" marR="54864" marT="27432" marB="27432">
                    <a:solidFill>
                      <a:srgbClr val="E5F5FF"/>
                    </a:solidFill>
                  </a:tcPr>
                </a:tc>
                <a:tc>
                  <a:txBody>
                    <a:bodyPr/>
                    <a:lstStyle/>
                    <a:p>
                      <a:r>
                        <a:rPr sz="850" b="0">
                          <a:solidFill>
                            <a:srgbClr val="4B4B4B"/>
                          </a:solidFill>
                          <a:latin typeface="Arial"/>
                        </a:rPr>
                        <a:t>Proposal slip</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FR-NB-056</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DO-05</a:t>
                      </a:r>
                    </a:p>
                  </a:txBody>
                  <a:tcPr marL="54864" marR="54864" marT="27432" marB="27432">
                    <a:solidFill>
                      <a:srgbClr val="FFFFFF"/>
                    </a:solidFill>
                  </a:tcPr>
                </a:tc>
                <a:tc>
                  <a:txBody>
                    <a:bodyPr/>
                    <a:lstStyle/>
                    <a:p>
                      <a:r>
                        <a:rPr sz="850" b="0">
                          <a:solidFill>
                            <a:srgbClr val="4B4B4B"/>
                          </a:solidFill>
                          <a:latin typeface="Arial"/>
                        </a:rPr>
                        <a:t>Placement slip</a:t>
                      </a:r>
                    </a:p>
                  </a:txBody>
                  <a:tcPr marL="54864" marR="54864" marT="27432" marB="27432">
                    <a:solidFill>
                      <a:srgbClr val="FFFFFF"/>
                    </a:solidFill>
                  </a:tcPr>
                </a:tc>
                <a:tc>
                  <a:txBody>
                    <a:bodyPr/>
                    <a:lstStyle/>
                    <a:p>
                      <a:r>
                        <a:rPr sz="850" b="0">
                          <a:solidFill>
                            <a:srgbClr val="4B4B4B"/>
                          </a:solidFill>
                          <a:latin typeface="Arial"/>
                        </a:rPr>
                        <a:t>17.5</a:t>
                      </a:r>
                    </a:p>
                  </a:txBody>
                  <a:tcPr marL="54864" marR="54864" marT="27432" marB="27432">
                    <a:solidFill>
                      <a:srgbClr val="FFFFFF"/>
                    </a:solidFill>
                  </a:tcPr>
                </a:tc>
                <a:tc>
                  <a:txBody>
                    <a:bodyPr/>
                    <a:lstStyle/>
                    <a:p>
                      <a:r>
                        <a:rPr sz="850" b="0">
                          <a:solidFill>
                            <a:srgbClr val="4B4B4B"/>
                          </a:solidFill>
                          <a:latin typeface="Arial"/>
                        </a:rPr>
                        <a:t>FR-NB-080, FR-NB-081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DO-06</a:t>
                      </a:r>
                    </a:p>
                  </a:txBody>
                  <a:tcPr marL="54864" marR="54864" marT="27432" marB="27432">
                    <a:solidFill>
                      <a:srgbClr val="E5F5FF"/>
                    </a:solidFill>
                  </a:tcPr>
                </a:tc>
                <a:tc>
                  <a:txBody>
                    <a:bodyPr/>
                    <a:lstStyle/>
                    <a:p>
                      <a:r>
                        <a:rPr sz="850" b="0">
                          <a:solidFill>
                            <a:srgbClr val="4B4B4B"/>
                          </a:solidFill>
                          <a:latin typeface="Arial"/>
                        </a:rPr>
                        <a:t>Hold cover request</a:t>
                      </a:r>
                    </a:p>
                  </a:txBody>
                  <a:tcPr marL="54864" marR="54864" marT="27432" marB="27432">
                    <a:solidFill>
                      <a:srgbClr val="E5F5FF"/>
                    </a:solidFill>
                  </a:tcPr>
                </a:tc>
                <a:tc>
                  <a:txBody>
                    <a:bodyPr/>
                    <a:lstStyle/>
                    <a:p>
                      <a:r>
                        <a:rPr sz="850" b="0">
                          <a:solidFill>
                            <a:srgbClr val="4B4B4B"/>
                          </a:solidFill>
                          <a:latin typeface="Arial"/>
                        </a:rPr>
                        <a:t>17.6</a:t>
                      </a:r>
                    </a:p>
                  </a:txBody>
                  <a:tcPr marL="54864" marR="54864" marT="27432" marB="27432">
                    <a:solidFill>
                      <a:srgbClr val="E5F5FF"/>
                    </a:solidFill>
                  </a:tcPr>
                </a:tc>
                <a:tc>
                  <a:txBody>
                    <a:bodyPr/>
                    <a:lstStyle/>
                    <a:p>
                      <a:r>
                        <a:rPr sz="850" b="0">
                          <a:solidFill>
                            <a:srgbClr val="4B4B4B"/>
                          </a:solidFill>
                          <a:latin typeface="Arial"/>
                        </a:rPr>
                        <a:t>FR-NB-082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DO-07</a:t>
                      </a:r>
                    </a:p>
                  </a:txBody>
                  <a:tcPr marL="54864" marR="54864" marT="27432" marB="27432">
                    <a:solidFill>
                      <a:srgbClr val="FFFFFF"/>
                    </a:solidFill>
                  </a:tcPr>
                </a:tc>
                <a:tc>
                  <a:txBody>
                    <a:bodyPr/>
                    <a:lstStyle/>
                    <a:p>
                      <a:r>
                        <a:rPr sz="850" b="0">
                          <a:solidFill>
                            <a:srgbClr val="4B4B4B"/>
                          </a:solidFill>
                          <a:latin typeface="Arial"/>
                        </a:rPr>
                        <a:t>Insurance Advice</a:t>
                      </a:r>
                    </a:p>
                  </a:txBody>
                  <a:tcPr marL="54864" marR="54864" marT="27432" marB="27432">
                    <a:solidFill>
                      <a:srgbClr val="FFFFFF"/>
                    </a:solidFill>
                  </a:tcPr>
                </a:tc>
                <a:tc>
                  <a:txBody>
                    <a:bodyPr/>
                    <a:lstStyle/>
                    <a:p>
                      <a:r>
                        <a:rPr sz="850" b="0">
                          <a:solidFill>
                            <a:srgbClr val="4B4B4B"/>
                          </a:solidFill>
                          <a:latin typeface="Arial"/>
                        </a:rPr>
                        <a:t>17.7</a:t>
                      </a:r>
                    </a:p>
                  </a:txBody>
                  <a:tcPr marL="54864" marR="54864" marT="27432" marB="27432">
                    <a:solidFill>
                      <a:srgbClr val="FFFFFF"/>
                    </a:solidFill>
                  </a:tcPr>
                </a:tc>
                <a:tc>
                  <a:txBody>
                    <a:bodyPr/>
                    <a:lstStyle/>
                    <a:p>
                      <a:r>
                        <a:rPr sz="850" b="0">
                          <a:solidFill>
                            <a:srgbClr val="4B4B4B"/>
                          </a:solidFill>
                          <a:latin typeface="Arial"/>
                        </a:rPr>
                        <a:t>FR-NB-103, FR-NB-104</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DO-08</a:t>
                      </a:r>
                    </a:p>
                  </a:txBody>
                  <a:tcPr marL="54864" marR="54864" marT="27432" marB="27432">
                    <a:solidFill>
                      <a:srgbClr val="E5F5FF"/>
                    </a:solidFill>
                  </a:tcPr>
                </a:tc>
                <a:tc>
                  <a:txBody>
                    <a:bodyPr/>
                    <a:lstStyle/>
                    <a:p>
                      <a:r>
                        <a:rPr sz="850" b="0">
                          <a:solidFill>
                            <a:srgbClr val="4B4B4B"/>
                          </a:solidFill>
                          <a:latin typeface="Arial"/>
                        </a:rPr>
                        <a:t>Service invoice and service invoice credit</a:t>
                      </a:r>
                    </a:p>
                  </a:txBody>
                  <a:tcPr marL="54864" marR="54864" marT="27432" marB="27432">
                    <a:solidFill>
                      <a:srgbClr val="E5F5FF"/>
                    </a:solidFill>
                  </a:tcPr>
                </a:tc>
                <a:tc>
                  <a:txBody>
                    <a:bodyPr/>
                    <a:lstStyle/>
                    <a:p>
                      <a:r>
                        <a:rPr sz="850" b="0">
                          <a:solidFill>
                            <a:srgbClr val="4B4B4B"/>
                          </a:solidFill>
                          <a:latin typeface="Arial"/>
                        </a:rPr>
                        <a:t>17.8</a:t>
                      </a:r>
                    </a:p>
                  </a:txBody>
                  <a:tcPr marL="54864" marR="54864" marT="27432" marB="27432">
                    <a:solidFill>
                      <a:srgbClr val="E5F5FF"/>
                    </a:solidFill>
                  </a:tcPr>
                </a:tc>
                <a:tc>
                  <a:txBody>
                    <a:bodyPr/>
                    <a:lstStyle/>
                    <a:p>
                      <a:r>
                        <a:rPr sz="850" b="0">
                          <a:solidFill>
                            <a:srgbClr val="4B4B4B"/>
                          </a:solidFill>
                          <a:latin typeface="Arial"/>
                        </a:rPr>
                        <a:t>FR-NB-117</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DO-09</a:t>
                      </a:r>
                    </a:p>
                  </a:txBody>
                  <a:tcPr marL="54864" marR="54864" marT="27432" marB="27432">
                    <a:solidFill>
                      <a:srgbClr val="FFFFFF"/>
                    </a:solidFill>
                  </a:tcPr>
                </a:tc>
                <a:tc>
                  <a:txBody>
                    <a:bodyPr/>
                    <a:lstStyle/>
                    <a:p>
                      <a:r>
                        <a:rPr sz="850" b="0">
                          <a:solidFill>
                            <a:srgbClr val="4B4B4B"/>
                          </a:solidFill>
                          <a:latin typeface="Arial"/>
                        </a:rPr>
                        <a:t>CLPC billing file</a:t>
                      </a:r>
                    </a:p>
                  </a:txBody>
                  <a:tcPr marL="54864" marR="54864" marT="27432" marB="27432">
                    <a:solidFill>
                      <a:srgbClr val="FFFFFF"/>
                    </a:solidFill>
                  </a:tcPr>
                </a:tc>
                <a:tc>
                  <a:txBody>
                    <a:bodyPr/>
                    <a:lstStyle/>
                    <a:p>
                      <a:r>
                        <a:rPr sz="850" b="0">
                          <a:solidFill>
                            <a:srgbClr val="4B4B4B"/>
                          </a:solidFill>
                          <a:latin typeface="Arial"/>
                        </a:rPr>
                        <a:t>17.9</a:t>
                      </a:r>
                    </a:p>
                  </a:txBody>
                  <a:tcPr marL="54864" marR="54864" marT="27432" marB="27432">
                    <a:solidFill>
                      <a:srgbClr val="FFFFFF"/>
                    </a:solidFill>
                  </a:tcPr>
                </a:tc>
                <a:tc>
                  <a:txBody>
                    <a:bodyPr/>
                    <a:lstStyle/>
                    <a:p>
                      <a:r>
                        <a:rPr sz="850" b="0">
                          <a:solidFill>
                            <a:srgbClr val="4B4B4B"/>
                          </a:solidFill>
                          <a:latin typeface="Arial"/>
                        </a:rPr>
                        <a:t>FR-NB-090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DO-10</a:t>
                      </a:r>
                    </a:p>
                  </a:txBody>
                  <a:tcPr marL="54864" marR="54864" marT="27432" marB="27432">
                    <a:solidFill>
                      <a:srgbClr val="E5F5FF"/>
                    </a:solidFill>
                  </a:tcPr>
                </a:tc>
                <a:tc>
                  <a:txBody>
                    <a:bodyPr/>
                    <a:lstStyle/>
                    <a:p>
                      <a:r>
                        <a:rPr sz="850" b="0">
                          <a:solidFill>
                            <a:srgbClr val="4B4B4B"/>
                          </a:solidFill>
                          <a:latin typeface="Arial"/>
                        </a:rPr>
                        <a:t>Reports (New Business Reports)</a:t>
                      </a:r>
                    </a:p>
                  </a:txBody>
                  <a:tcPr marL="54864" marR="54864" marT="27432" marB="27432">
                    <a:solidFill>
                      <a:srgbClr val="E5F5FF"/>
                    </a:solidFill>
                  </a:tcPr>
                </a:tc>
                <a:tc>
                  <a:txBody>
                    <a:bodyPr/>
                    <a:lstStyle/>
                    <a:p>
                      <a:r>
                        <a:rPr sz="850" b="0">
                          <a:solidFill>
                            <a:srgbClr val="4B4B4B"/>
                          </a:solidFill>
                          <a:latin typeface="Arial"/>
                        </a:rPr>
                        <a:t>17.10</a:t>
                      </a:r>
                    </a:p>
                  </a:txBody>
                  <a:tcPr marL="54864" marR="54864" marT="27432" marB="27432">
                    <a:solidFill>
                      <a:srgbClr val="E5F5FF"/>
                    </a:solidFill>
                  </a:tcPr>
                </a:tc>
                <a:tc>
                  <a:txBody>
                    <a:bodyPr/>
                    <a:lstStyle/>
                    <a:p>
                      <a:r>
                        <a:rPr sz="850" b="0">
                          <a:solidFill>
                            <a:srgbClr val="4B4B4B"/>
                          </a:solidFill>
                          <a:latin typeface="Arial"/>
                        </a:rPr>
                        <a:t>FR-NB-124, FR-NB-125</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BRD-1 New Business</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