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deck guides the business units through the BRD-1 New Business sign-off pack, release set v2.1. It explains what the pack is, how to read it, the steps up to sign-off and what happens after. It is presented at the kick-off and stays in the pack as file 01.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Stress that the pack shows the screens, fields, rules and messages the business is asked to confirm.</a:t>
            </a:r>
          </a:p>
          <a:p>
            <a:r>
              <a:t>Signing means: this is what we get; the look, feel, fields, rules, messages and navigation are frozen.</a:t>
            </a:r>
          </a:p>
          <a:p>
            <a:r>
              <a:t>Data on the screenshots is seed data of the SIT environment; names and numbers are fictitious.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files are numbered in reading order so they sort that way in the BRD folder. 00 Start Here is the short version of this deck; 02 FRS and 03 workbook carry the same rows; 04 and 05 are the test plan traced to the screens; 07 to 09 are the UX screen documents for the BDOI UX Design team, taken from the same screens.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files are numbered in reading order so they sort that way in the BRD folder. 00 Start Here is the short version of this deck; 02 FRS and 03 workbook carry the same rows; 04 and 05 are the test plan traced to the screens; 07 to 09 are the UX screen documents for the BDOI UX Design team, taken from the same screens.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Nobody needs to read the whole FRS. Each role starts with its chapters and its sheets of the workbook; the walkthroughs in chapter 14 are the fastest way to see the whole process.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Pack issued: Day 0 (Mon 28-Sep-2026).</a:t>
            </a:r>
          </a:p>
          <a:p>
            <a:r>
              <a:t>2. Kick-off and screen walkthrough on SIT: 4 sessions, 1 to 6-Oct-2026.</a:t>
            </a:r>
          </a:p>
          <a:p>
            <a:r>
              <a:t>3. Review with the workbook: 10 working days after the walkthroughs, until Fri 16-Oct-2026.</a:t>
            </a:r>
          </a:p>
          <a:p>
            <a:r>
              <a:t>4. Comments consolidated and a Q&amp;A session: 3 working days, Q&amp;A on Wed 21-Oct-2026.</a:t>
            </a:r>
          </a:p>
          <a:p>
            <a:r>
              <a:t>5. One revision cycle (v2.2): 2 working days, v2.2 on Fri 23-Oct-2026; check by the reviewers until Wed 28-Oct-2026.</a:t>
            </a:r>
          </a:p>
          <a:p>
            <a:r>
              <a:t>6. Sign-off meeting and signature: Fri 30-Oct-2026.</a:t>
            </a:r>
          </a:p>
          <a:p>
            <a:r>
              <a:t>7. Content freeze: From Mon 2-Nov-2026.</a:t>
            </a:r>
          </a:p>
          <a:p>
            <a:r>
              <a:t>8. Traceability into SIT and UAT: SIT Jan - Jul 2027; UAT Aug - Dec 2027.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 responsible, A accountable, C consulted, I informed. The durations are indicative; the dates are those of the Start Here guide.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 responsible, A accountable, C consulted, I informed. The durations are indicative; the dates are those of the Start Here guide.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set holds business content only: screens, fields, rules, messages, notifications, documents, walkthroughs and reports. Business users sign the business content; BDOI IT reviews the interfaces, the user access and the Technical Specification, a separate document that holds the technical content; the Program Manager of Business Project Services reviews the traceability and the completeness; the Product Owner approves the whole set; iorta TechNXT prepares it.</a:t>
            </a:r>
          </a:p>
          <a:p>
            <a:r>
              <a:t>The roles are those of the BRD approval sheet (BRD-1 approval sheets (New Business BRD 05132026): IT Walkthrough Addendum pp.8-10; Fire and Motor BRD ID consolidation p.138-139; Workshop Addendum p.32 (copy p.54)).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set holds business content only: screens, fields, rules, messages, notifications, documents, walkthroughs and reports. Business users sign the business content; BDOI IT reviews the interfaces, the user access and the Technical Specification, a separate document that holds the technical content; the Program Manager of Business Project Services reviews the traceability and the completeness; the Product Owner approves the whole set; iorta TechNXT prepares it.</a:t>
            </a:r>
          </a:p>
          <a:p>
            <a:r>
              <a:t>The roles are those of the BRD approval sheet (BRD-1 approval sheets (New Business BRD 05132026): IT Walkthrough Addendum pp.8-10; Fire and Motor BRD ID consolidation p.138-139; Workshop Addendum p.32 (copy p.54)).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certificate sheet of the workbook lists the same signatories in the same order: prepared by, input provided by, reviewed by, approved by, as on the BRD approval sheet. A role the set adds to the approval sheet is marked there.</a:t>
            </a:r>
          </a:p>
          <a:p>
            <a:r>
              <a:t>iorta TechNXT project team: Project Manager, Business Analysis, test lead: Added for this set (author of the FRS set).</a:t>
            </a:r>
          </a:p>
          <a:p>
            <a:r>
              <a:t>Business Analyst, Enterprise Services Group - Business Project Services (BPS): Prepared by (p.138; IT Walkthrough Addendum p.8).</a:t>
            </a:r>
          </a:p>
          <a:p>
            <a:r>
              <a:t>Marketing Business Services and System Support (MBS), BU representatives: p.138; Input provided by on the IT Walkthrough Addendum (pp.8-9); reviewer of the Workshop Addendum (p.32).</a:t>
            </a:r>
          </a:p>
          <a:p>
            <a:r>
              <a:t>Technical Support Unit (TSU), BU representatives: Added for this set (BU input named in the BRD revision log).</a:t>
            </a:r>
          </a:p>
          <a:p>
            <a:r>
              <a:t>Program Manager, Enterprise Services Group - Business Project Services (BPS): Reviewed by (p.32; IT Walkthrough Addendum p.10); Approved by (p.139).</a:t>
            </a:r>
          </a:p>
          <a:p>
            <a:r>
              <a:t>BA Unit Head, Enterprise Services Group - Business Project Services (BPS): Reviewed by (IT Walkthrough Addendum p.10).</a:t>
            </a:r>
          </a:p>
          <a:p>
            <a:r>
              <a:t>BDOI Information Technology Group (BDOI IT): Reviewed by (p.138).</a:t>
            </a:r>
          </a:p>
          <a:p>
            <a:r>
              <a:t>Compliance Officer: Added for this 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certificate sheet of the workbook lists the same signatories in the same order: prepared by, input provided by, reviewed by, approved by, as on the BRD approval sheet. A role the set adds to the approval sheet is marked there.</a:t>
            </a:r>
          </a:p>
          <a:p>
            <a:r>
              <a:t>Product Owner, Marketing Business System: Approved by (p.139, p.32; IT Walkthrough Addendum p.10).</a:t>
            </a:r>
          </a:p>
          <a:p>
            <a:r>
              <a:t>Unit Head - Processing: Approved by (p.32).</a:t>
            </a:r>
          </a:p>
          <a:p>
            <a:r>
              <a:t>Unit Head - Combank and Corbank: Approved by (p.139, p.32; IT Walkthrough Addendum p.10).</a:t>
            </a:r>
          </a:p>
          <a:p>
            <a:r>
              <a:t>Head - Retail Marketing: Approved by (p.139, p.32; IT Walkthrough Addendum p.10).</a:t>
            </a:r>
          </a:p>
          <a:p>
            <a:r>
              <a:t>Head of Institutional Banking, SM and BDO Accounts: Approved by (p.139).</a:t>
            </a:r>
          </a:p>
          <a:p>
            <a:r>
              <a:t>Head - Comptrollership: Approved by (p.139); marked not required on the IT Walkthrough Addendum (p.10).</a:t>
            </a:r>
          </a:p>
          <a:p>
            <a:r>
              <a:t>Officer-in-Charge (OIC), BDO Insurance and Reinsurance Brokers: Approved by (IT Walkthrough Addendum p.10).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No. column is the numbered marker on the screenshot of the FRS, or the column number of a load template. The drop-down columns accept only the listed values. The Comments log, Meeting minutes and Version history sheets are kept by the project team; the Sign-off certificate is signed at the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process runs from client onboarding and KYC, through the quotation or the PRF, the account, payment and placement, issuance and booking, to the hand-off to Operations and Accounting.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persona sees only the menu entries of its role; the full menu of each persona is in FRS chapter 12 and on the Menu by persona sheet of the workbook.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Screenshots of the SIT environment with seed data; every screen of the module is in FRS chapter 13.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the rules the business units ask about most. Each rule is stated with its FR on the screen where it applies.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contract is part of the signed set. This contract is part of the signed BRD-1 set. A later change in BRD-2, BRD-3, BRD-4, BRD-5, BRD-6, BRD-9, BRD-10, BRD-11, BRD-12 or BRD-13, or in an external interface, that changes what New Business takes or hands over as listed here is raised as a change request against this signed set through the Change Management Register, with its effort in man-days, before it is delivered.</a:t>
            </a:r>
          </a:p>
          <a:p>
            <a:r>
              <a:t>IC-01 BRD-3 Product Maintenance (In): Product lines, cover types and products with their flags (package, direct payment eligible, FFY eligible, multi-year and maximum term, mortgagee applicable, fleet)</a:t>
            </a:r>
          </a:p>
          <a:p>
            <a:r>
              <a:t>IC-02 BRD-3 Product Maintenance (In): Package versions with their rate scheme, rate exceptions approved for a transaction, rates and taxes, short-period table, motor limits</a:t>
            </a:r>
          </a:p>
          <a:p>
            <a:r>
              <a:t>IC-03 BRD-3 Product Maintenance (In): Field rules and mandatory documents per product, TSU routing rules, incentive criteria</a:t>
            </a:r>
          </a:p>
          <a:p>
            <a:r>
              <a:t>IC-04 BRD-10 Sanction Screening (Out): New clients, changes of a client's identity and accounts submitted to Processing</a:t>
            </a:r>
          </a:p>
          <a:p>
            <a:r>
              <a:t>IC-05 BRD-10 Sanction Screening (In): The client's risk profile set by screening and risk profiling (KYC risk rating) and the tags Politically exposed person and Watchlist review</a:t>
            </a:r>
          </a:p>
          <a:p>
            <a:r>
              <a:t>IC-06 BRD-11 User Access Maintenance (In): Users, roles, permissions and the persona menus; sign-in, password, lock-out and session rules; access requests and their approval</a:t>
            </a:r>
          </a:p>
          <a:p>
            <a:r>
              <a:t>IC-07 BRD-2 Operations (Out): Every booked invoice (booking, endorsement, cancellation) with its premium components, commission, DTIP, insurer shares and parties</a:t>
            </a:r>
          </a:p>
          <a:p>
            <a:r>
              <a:t>IC-08 BRD-2 Operations (In): Payment confirmations of Cashiering receipts for accounts awaiting payment</a:t>
            </a:r>
          </a:p>
          <a:p>
            <a:r>
              <a:t>IC-09 BRD-4 Collections (Out): Premium receivables of booked invoices (through the Operations invoice ledger) and the direct-payment accounts whose commission BDOI collects from the insurer</a:t>
            </a:r>
          </a:p>
          <a:p>
            <a:r>
              <a:t>IC-20 BRD-4 Collections (In): The payment status of each booked invoice (unpaid, partly paid, fully paid), which starts the incentive eligibility evaluation (BRNB.107)</a:t>
            </a:r>
          </a:p>
          <a:p>
            <a:r>
              <a:t>IC-10 BRD-5 Accounting, Disbursement and ACSL (Out): The GL journal of each booking, endorsement and cancellation (event BROKER_BOOKING), the sub-ledger open items, service invoices and the cost center dimension</a:t>
            </a:r>
          </a:p>
          <a:p>
            <a:r>
              <a:t>IC-11 BRD-6 Renewal (Out): Booked New Business accounts, their policy years, FFY tag and expiry, as the source of renewal candidates</a:t>
            </a:r>
          </a:p>
          <a:p>
            <a:r>
              <a:t>IC-12 BRD-6 Renewal (In): Renewals that take the New Business path (For Quotation, For Proposal) and renewal accounts to place and book</a:t>
            </a:r>
          </a:p>
          <a:p>
            <a:r>
              <a:t>IC-21 BRD-6 Renewal (Out): The incentive eligibility rule of booked and fully paid transactions, with the endorsements considered (one rule for New Business BRNB.107 and Renewal BRRN.041)</a:t>
            </a:r>
          </a:p>
          <a:p>
            <a:r>
              <a:t>IC-13 BRD-9 Customer Servicing Facility (Out): Client master and contacts, accounts with ARN and PN numbers, loan application numbers, policy numbers and e-policies</a:t>
            </a:r>
          </a:p>
          <a:p>
            <a:r>
              <a:t>IC-14 BRD-12 Submitted Policies (Out): Placement and booking of the submitted policies converted to accounts</a:t>
            </a:r>
          </a:p>
          <a:p>
            <a:r>
              <a:t>IC-15 BRD-13 Data Migration (In): Legacy clients (C01-C03), accounts and policies, open invoices loaded into the New Business structures at cut-over</a:t>
            </a:r>
          </a:p>
          <a:p>
            <a:r>
              <a:t>IC-16 Insurers (external) (Out / In): Quotation slips, placement slips with the EOPT details of the client, hold cover requests and service invoices by e-mail; insurer terms, confirmations and e-policies received by e-mail and keyed in or uploaded</a:t>
            </a:r>
          </a:p>
          <a:p>
            <a:r>
              <a:t>IC-17 CLPC (BDO Unibank) (Out / In): CBG Fire billing file out; payment report back</a:t>
            </a:r>
          </a:p>
          <a:p>
            <a:r>
              <a:t>IC-18 HLS and other source systems (BDO Unibank) (In): Quotation requests and bulk quotations or accounts</a:t>
            </a:r>
          </a:p>
          <a:p>
            <a:r>
              <a:t>IC-19 Clients and mortgagee banks (external) (Out): Quotations with their supporting documents, proposals, e-policies and Insurance Advices by e-mail, password protected, with the password in a separate e-mail; Insurance Advices sent automatically to the recipients enrolled in the MIS set-up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ways to handle a case: an in-scope clarification (no change to the signed set, answered in the comments log); a change request with mandays in the Change Management Register; a delta sign-off of the affected pages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these examples to agree the handling of a case during the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sign-off meeting starts when the exit criteria are met; the set is done when the certificate is signed and the content of the set is frozen.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sign-off the content is frozen as signed and the approved deltas are scheduled.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Nothing in a signed set changes without a request in the register.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 steps:</a:t>
            </a:r>
          </a:p>
          <a:p>
            <a:r>
              <a:t>Kick-off and first SIT walkthrough on Thu 1-Oct-2026</a:t>
            </a:r>
          </a:p>
          <a:p>
            <a:r>
              <a:t>Workbooks returned by Fri 16-Oct-2026; Q&amp;A on Wed 21-Oct-2026; sign-off on Fri 30-Oct-2026</a:t>
            </a:r>
          </a:p>
          <a:p>
            <a:r>
              <a:t>Next release sets: BRD-3 Product Maintenance and BRD-11 User Access (Nov 2026), then BRD-10, 12, 6, 9, then BRD-2, 4, 5, then BRD-13, then BRD-7 and BRD-8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other BRD sets follow the same pack, guide and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i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48640"/>
            <a:ext cx="2926080" cy="5960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194560"/>
            <a:ext cx="10058400" cy="1280160"/>
          </a:xfrm>
          <a:prstGeom prst="rect">
            <a:avLst/>
          </a:prstGeom>
          <a:noFill/>
        </p:spPr>
        <p:txBody>
          <a:bodyPr wrap="square" anchor="b" lIns="45720" rIns="45720">
            <a:spAutoFit/>
          </a:bodyPr>
          <a:lstStyle/>
          <a:p>
            <a:r>
              <a:rPr sz="4000" b="1" i="0">
                <a:solidFill>
                  <a:srgbClr val="004EA8"/>
                </a:solidFill>
                <a:latin typeface="Arial"/>
              </a:rPr>
              <a:t>Sign-off Pack Guide: BRD-1 New Business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3611880"/>
            <a:ext cx="2011680" cy="5080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794760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000" b="0" i="0">
                <a:solidFill>
                  <a:srgbClr val="2E2E2E"/>
                </a:solidFill>
                <a:latin typeface="Arial"/>
              </a:rPr>
              <a:t>BRD-1 New Business business sign-off pack, release set v2.1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4340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600" b="0" i="0">
                <a:solidFill>
                  <a:srgbClr val="656565"/>
                </a:solidFill>
                <a:latin typeface="Arial"/>
              </a:rPr>
              <a:t>BIBS – BDOI Broker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43600"/>
            <a:ext cx="8229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 i="0">
                <a:solidFill>
                  <a:srgbClr val="656565"/>
                </a:solidFill>
                <a:latin typeface="Arial"/>
              </a:rPr>
              <a:t>BDO Insurance and Reinsurance Brokers, Inc. | Version 2.1 | 8 October 2026 |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51215" y="5897880"/>
            <a:ext cx="1828800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000" b="0" i="0">
                <a:solidFill>
                  <a:srgbClr val="656565"/>
                </a:solidFill>
                <a:latin typeface="Arial"/>
              </a:rPr>
              <a:t>Prepared by</a:t>
            </a:r>
          </a:p>
        </p:txBody>
      </p:sp>
      <p:pic>
        <p:nvPicPr>
          <p:cNvPr id="9" name="Picture 8" descr="iorta-techn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1455" y="5806440"/>
            <a:ext cx="1371600" cy="40421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5097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00" b="1" i="0">
                <a:solidFill>
                  <a:srgbClr val="004EA8"/>
                </a:solidFill>
                <a:latin typeface="Arial"/>
              </a:rPr>
              <a:t>Purpose of the pack and what sign-off means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2540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i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457200"/>
            <a:ext cx="1645920" cy="335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C2C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900" b="0" i="0">
                <a:solidFill>
                  <a:srgbClr val="656565"/>
                </a:solidFill>
                <a:latin typeface="Arial"/>
              </a:rPr>
              <a:t>Confidential – BDOI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 i="0">
                <a:solidFill>
                  <a:srgbClr val="656565"/>
                </a:solidFill>
                <a:latin typeface="Arial"/>
              </a:rPr>
              <a:t>Sign-off Pack Guide BRD-1 New Business | v2.1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56565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109441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004EA8"/>
                </a:solidFill>
                <a:latin typeface="Arial"/>
              </a:rPr>
              <a:t>•  </a:t>
            </a:r>
            <a:r>
              <a:rPr sz="1800">
                <a:solidFill>
                  <a:srgbClr val="4B4B4B"/>
                </a:solidFill>
                <a:latin typeface="Arial"/>
              </a:rPr>
              <a:t>The pack shows the proposed New Business of BIBS, screen by screen, so each business unit confirms what it will get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656565"/>
                </a:solidFill>
                <a:latin typeface="Arial"/>
              </a:rPr>
              <a:t>–  </a:t>
            </a:r>
            <a:r>
              <a:rPr sz="1600">
                <a:solidFill>
                  <a:srgbClr val="4B4B4B"/>
                </a:solidFill>
                <a:latin typeface="Arial"/>
              </a:rPr>
              <a:t>Content: 46 screens, 472 fields, 116 business rules, 526 messages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656565"/>
                </a:solidFill>
                <a:latin typeface="Arial"/>
              </a:rPr>
              <a:t>–  </a:t>
            </a:r>
            <a:r>
              <a:rPr sz="1600">
                <a:solidFill>
                  <a:srgbClr val="4B4B4B"/>
                </a:solidFill>
                <a:latin typeface="Arial"/>
              </a:rPr>
              <a:t>Every screen with numbered fields, the navigation per persona, three end-to-end walkthroughs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04EA8"/>
                </a:solidFill>
                <a:latin typeface="Arial"/>
              </a:rPr>
              <a:t>•  </a:t>
            </a:r>
            <a:r>
              <a:rPr sz="1800">
                <a:solidFill>
                  <a:srgbClr val="4B4B4B"/>
                </a:solidFill>
                <a:latin typeface="Arial"/>
              </a:rPr>
              <a:t>Signing freezes the content, the screens and the navigation of the module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656565"/>
                </a:solidFill>
                <a:latin typeface="Arial"/>
              </a:rPr>
              <a:t>–  </a:t>
            </a:r>
            <a:r>
              <a:rPr sz="1600">
                <a:solidFill>
                  <a:srgbClr val="4B4B4B"/>
                </a:solidFill>
                <a:latin typeface="Arial"/>
              </a:rPr>
              <a:t>After sign-off a change goes through the Change Management Register with its mandays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656565"/>
                </a:solidFill>
                <a:latin typeface="Arial"/>
              </a:rPr>
              <a:t>–  </a:t>
            </a:r>
            <a:r>
              <a:rPr sz="1600">
                <a:solidFill>
                  <a:srgbClr val="4B4B4B"/>
                </a:solidFill>
                <a:latin typeface="Arial"/>
              </a:rPr>
              <a:t>Configuration values marked default (SLA hours, thresholds, list entries, templates) stay open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04EA8"/>
                </a:solidFill>
                <a:latin typeface="Arial"/>
              </a:rPr>
              <a:t>•  </a:t>
            </a:r>
            <a:r>
              <a:rPr sz="1800">
                <a:solidFill>
                  <a:srgbClr val="4B4B4B"/>
                </a:solidFill>
                <a:latin typeface="Arial"/>
              </a:rPr>
              <a:t>The screenshots use fictitious seed data only, in the BDO theme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5097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00" b="1" i="0">
                <a:solidFill>
                  <a:srgbClr val="004EA8"/>
                </a:solidFill>
                <a:latin typeface="Arial"/>
              </a:rPr>
              <a:t>The pack at a glance (1 of 2)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2540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i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457200"/>
            <a:ext cx="1645920" cy="335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C2C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900" b="0" i="0">
                <a:solidFill>
                  <a:srgbClr val="656565"/>
                </a:solidFill>
                <a:latin typeface="Arial"/>
              </a:rPr>
              <a:t>Confidential – BDOI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 i="0">
                <a:solidFill>
                  <a:srgbClr val="656565"/>
                </a:solidFill>
                <a:latin typeface="Arial"/>
              </a:rPr>
              <a:t>Sign-off Pack Guide BRD-1 New Business | v2.1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56565"/>
                </a:solidFill>
                <a:latin typeface="Arial"/>
              </a:rPr>
              <a:t>3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371600"/>
          <a:ext cx="11094413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25749"/>
                <a:gridCol w="4370527"/>
                <a:gridCol w="2185263"/>
                <a:gridCol w="1512874"/>
              </a:tblGrid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File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What it is for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Who reads it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When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00_BIBS_StartHere_BRD-01_New_Business_v2.1.docx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Start Here: the map of the pack, who reads what, the steps and the dates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Everyone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First, on issue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01_BIBS_GuideDeck_BRD-01_New_Business_v2.1.pptx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Sign-off Pack Guide: purpose, approach, the module at a glance, caveats, entry and exit criteria, change control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Business owner, unit heads; presented at the kick-off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Kick-off session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02_BIBS_FRS_BRD-01_New_Business_v2.1.docx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Functional Requirements Specification v2.1 (re-based on the New Business BRD of 13 May 2026): requirements, navigation, 46 screen specifications with screenshots, walkthroughs, messages, notifications, documents, uploads, cross-BRD contract, user-story view and storyboard index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Business users of each area; Finance, Compliance and BDOI IT for their chapters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During the review, with the SIT walkthroughs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03_BIBS_Signoff_BRD-01_New_Business_v2.1.xlsx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Sign-off workbook: one row per screen, field, rule and message with the BU review columns; comments log, meeting minutes, version history, sign-off certificate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Every reviewer; the business owner signs it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During the review and at sign-off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04_BIBS_TestPlan_BRD-01_New_Business_v2.1.xlsx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Test plan workbook: the test cases traced to the FRs and to the screens, including one screen case and one message case per screen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Business users who will run UAT; BDOI IT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After the screens; used again in SIT and UAT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5097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00" b="1" i="0">
                <a:solidFill>
                  <a:srgbClr val="004EA8"/>
                </a:solidFill>
                <a:latin typeface="Arial"/>
              </a:rPr>
              <a:t>The pack at a glance (2 of 2)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2540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i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457200"/>
            <a:ext cx="1645920" cy="335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C2C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900" b="0" i="0">
                <a:solidFill>
                  <a:srgbClr val="656565"/>
                </a:solidFill>
                <a:latin typeface="Arial"/>
              </a:rPr>
              <a:t>Confidential – BDOI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 i="0">
                <a:solidFill>
                  <a:srgbClr val="656565"/>
                </a:solidFill>
                <a:latin typeface="Arial"/>
              </a:rPr>
              <a:t>Sign-off Pack Guide BRD-1 New Business | v2.1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56565"/>
                </a:solidFill>
                <a:latin typeface="Arial"/>
              </a:rPr>
              <a:t>4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371600"/>
          <a:ext cx="11094413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25749"/>
                <a:gridCol w="4370527"/>
                <a:gridCol w="2185263"/>
                <a:gridCol w="1512874"/>
              </a:tblGrid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File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What it is for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Who reads it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When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05_BIBS_TestPlan_BRD-01_New_Business_Summary_v2.1.docx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Test plan summary: scope, approach, coverage and the cases by area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Business owner, BDOI IT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Before sign-off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07_BIBS_UXDeck_BRD-01_New_Business_v2.1.pptx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UX Screen Deck for the BDOI UX Design team: design foundation, navigation and personas, every walkthrough step by step and every screen with all its states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BDOI UX Design team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From the issue, in parallel with the review; re-issued with each version of the set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08_BIBS_UXScreens_BRD-01_New_Business_v2.1.xlsx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UX screen register: one row per screen image with the screen, personas, walkthrough and step, state, FRS section and requirements, UXD status and comments, and the Changed in this issue flag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BDOI UX Design team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Kept by the UX Design team; the changed rows are flagged at each issue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09_BIBS_UXScreens_BRD-01_New_Business_v2.1.zip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Image package: every screen image at twice the screen resolution (PNG) and the register as CSV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BDOI UX Design team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Imported into the design tool at each issue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5097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00" b="1" i="0">
                <a:solidFill>
                  <a:srgbClr val="004EA8"/>
                </a:solidFill>
                <a:latin typeface="Arial"/>
              </a:rPr>
              <a:t>Where to start: reading order per role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2540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i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457200"/>
            <a:ext cx="1645920" cy="335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C2C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900" b="0" i="0">
                <a:solidFill>
                  <a:srgbClr val="656565"/>
                </a:solidFill>
                <a:latin typeface="Arial"/>
              </a:rPr>
              <a:t>Confidential – BDOI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 i="0">
                <a:solidFill>
                  <a:srgbClr val="656565"/>
                </a:solidFill>
                <a:latin typeface="Arial"/>
              </a:rPr>
              <a:t>Sign-off Pack Guide BRD-1 New Business | v2.1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56565"/>
                </a:solidFill>
                <a:latin typeface="Arial"/>
              </a:rPr>
              <a:t>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371600"/>
          <a:ext cx="11094414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3923"/>
                <a:gridCol w="8710491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Role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Read, in this order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Business owner (Product Owner, Head of MBS)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00 Start Here; 01 Guide deck; FRS chapters 1-3 (context and personas), 14 (walkthroughs), 20 (sign-off) and 21 (proposed rules for confirmation, CLR-NB-44 to 50 new in v2.1); appendices User-story view and Storyboard index; workbook Sign-off certificate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Business users (Marketing, TSU, Processing)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FRS chapter 12 (navigation) and the screens of your area in chapter 13; walkthroughs in chapter 14; messages in chapter 15; workbook Screen standards, Screen catalogue, Field register, Business rules and Messages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Finance (Comptrollership)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FRS Booking requirements (chapter 4) and generated documents (chapter 17: service invoice); walkthrough A steps 16-17; cross-BRD contract with Operations, Collections and Accounting (chapter 19); workbook Business rules of the booking screens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Compliance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Client onboarding and KYC screens (SCR-NB-01 to 04); sanction screening lines of the contract (chapter 19); retention rules; messages of the client screens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BDOI IT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Interfaces and integration (chapter 7), non-functional requirements (chapter 8), menu by persona (chapter 12), cross-BRD contract (chapter 19); integrations pending specifications (Guide deck, caveats)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BDOI UX Design team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07 UX Screen Deck: design foundation and navigation first, then the personas, walkthroughs and screens of the design work; 08 UX screen register (filter Changed in this issue at each new issue); 09 image package in the design tool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iorta TechNXT project team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All documents; keeps the comments log, the meeting minutes and the version history of the workbook, answers every comment and keeps the traceability to SIT and UAT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5097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00" b="1" i="0">
                <a:solidFill>
                  <a:srgbClr val="004EA8"/>
                </a:solidFill>
                <a:latin typeface="Arial"/>
              </a:rPr>
              <a:t>Approach: from issue to closure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2540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i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457200"/>
            <a:ext cx="1645920" cy="335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C2C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900" b="0" i="0">
                <a:solidFill>
                  <a:srgbClr val="656565"/>
                </a:solidFill>
                <a:latin typeface="Arial"/>
              </a:rPr>
              <a:t>Confidential – BDOI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 i="0">
                <a:solidFill>
                  <a:srgbClr val="656565"/>
                </a:solidFill>
                <a:latin typeface="Arial"/>
              </a:rPr>
              <a:t>Sign-off Pack Guide BRD-1 New Business | v2.1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56565"/>
                </a:solidFill>
                <a:latin typeface="Arial"/>
              </a:rP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17320"/>
            <a:ext cx="2464993" cy="2011680"/>
          </a:xfrm>
          <a:prstGeom prst="roundRect">
            <a:avLst/>
          </a:prstGeom>
          <a:solidFill>
            <a:srgbClr val="E5F5FF"/>
          </a:solidFill>
          <a:ln>
            <a:solidFill>
              <a:srgbClr val="99C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8368" y="1527048"/>
            <a:ext cx="384048" cy="384048"/>
          </a:xfrm>
          <a:prstGeom prst="ellipse">
            <a:avLst/>
          </a:prstGeom>
          <a:solidFill>
            <a:srgbClr val="FDB9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E2E2E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1490472"/>
            <a:ext cx="1824913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300" b="1" i="0">
                <a:solidFill>
                  <a:srgbClr val="004EA8"/>
                </a:solidFill>
                <a:latin typeface="Arial"/>
              </a:rPr>
              <a:t>Pack issued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057400"/>
            <a:ext cx="2245537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0" i="0">
                <a:solidFill>
                  <a:srgbClr val="4B4B4B"/>
                </a:solidFill>
                <a:latin typeface="Arial"/>
              </a:rPr>
              <a:t>Release set v2.1 in the BRD-01 folder (the changed screens flagged in the UX register); invitations to the sessions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971800"/>
            <a:ext cx="2245537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1" i="0">
                <a:solidFill>
                  <a:srgbClr val="2E2E2E"/>
                </a:solidFill>
                <a:latin typeface="Arial"/>
              </a:rPr>
              <a:t>Day 0 (Mon 28-Sep-2026)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077641" y="2295144"/>
            <a:ext cx="283464" cy="256032"/>
          </a:xfrm>
          <a:prstGeom prst="rightArrow">
            <a:avLst/>
          </a:prstGeom>
          <a:solidFill>
            <a:srgbClr val="004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425113" y="1417320"/>
            <a:ext cx="2464993" cy="2011680"/>
          </a:xfrm>
          <a:prstGeom prst="roundRect">
            <a:avLst/>
          </a:prstGeom>
          <a:solidFill>
            <a:srgbClr val="E5F5FF"/>
          </a:solidFill>
          <a:ln>
            <a:solidFill>
              <a:srgbClr val="99C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34841" y="1527048"/>
            <a:ext cx="384048" cy="384048"/>
          </a:xfrm>
          <a:prstGeom prst="ellipse">
            <a:avLst/>
          </a:prstGeom>
          <a:solidFill>
            <a:srgbClr val="FDB9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E2E2E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92041" y="1490472"/>
            <a:ext cx="1824913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300" b="1" i="0">
                <a:solidFill>
                  <a:srgbClr val="004EA8"/>
                </a:solidFill>
                <a:latin typeface="Arial"/>
              </a:rPr>
              <a:t>Kick-off and screen walkthrough on SIT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4841" y="2057400"/>
            <a:ext cx="2245537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0" i="0">
                <a:solidFill>
                  <a:srgbClr val="4B4B4B"/>
                </a:solidFill>
                <a:latin typeface="Arial"/>
              </a:rPr>
              <a:t>Screens shown live; first questions logged in the comments log; minutes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34841" y="2971800"/>
            <a:ext cx="2245537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1" i="0">
                <a:solidFill>
                  <a:srgbClr val="2E2E2E"/>
                </a:solidFill>
                <a:latin typeface="Arial"/>
              </a:rPr>
              <a:t>4 sessions, 1 to 6-Oct-2026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954115" y="2295144"/>
            <a:ext cx="283464" cy="256032"/>
          </a:xfrm>
          <a:prstGeom prst="rightArrow">
            <a:avLst/>
          </a:prstGeom>
          <a:solidFill>
            <a:srgbClr val="004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301587" y="1417320"/>
            <a:ext cx="2464993" cy="2011680"/>
          </a:xfrm>
          <a:prstGeom prst="roundRect">
            <a:avLst/>
          </a:prstGeom>
          <a:solidFill>
            <a:srgbClr val="E5F5FF"/>
          </a:solidFill>
          <a:ln>
            <a:solidFill>
              <a:srgbClr val="99C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11315" y="1527048"/>
            <a:ext cx="384048" cy="384048"/>
          </a:xfrm>
          <a:prstGeom prst="ellipse">
            <a:avLst/>
          </a:prstGeom>
          <a:solidFill>
            <a:srgbClr val="FDB9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E2E2E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68515" y="1490472"/>
            <a:ext cx="1824913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300" b="1" i="0">
                <a:solidFill>
                  <a:srgbClr val="004EA8"/>
                </a:solidFill>
                <a:latin typeface="Arial"/>
              </a:rPr>
              <a:t>Review with the workbook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1315" y="2057400"/>
            <a:ext cx="2245537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0" i="0">
                <a:solidFill>
                  <a:srgbClr val="4B4B4B"/>
                </a:solidFill>
                <a:latin typeface="Arial"/>
              </a:rPr>
              <a:t>Every row marked Accept, Change requested or Comment; comments log entries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1315" y="2971800"/>
            <a:ext cx="2245537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1" i="0">
                <a:solidFill>
                  <a:srgbClr val="2E2E2E"/>
                </a:solidFill>
                <a:latin typeface="Arial"/>
              </a:rPr>
              <a:t>10 working days after the walkthroughs, until Fri 16-Oct-2026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8830589" y="2295144"/>
            <a:ext cx="283464" cy="256032"/>
          </a:xfrm>
          <a:prstGeom prst="rightArrow">
            <a:avLst/>
          </a:prstGeom>
          <a:solidFill>
            <a:srgbClr val="004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178061" y="1417320"/>
            <a:ext cx="2464993" cy="2011680"/>
          </a:xfrm>
          <a:prstGeom prst="roundRect">
            <a:avLst/>
          </a:prstGeom>
          <a:solidFill>
            <a:srgbClr val="E5F5FF"/>
          </a:solidFill>
          <a:ln>
            <a:solidFill>
              <a:srgbClr val="99C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287789" y="1527048"/>
            <a:ext cx="384048" cy="384048"/>
          </a:xfrm>
          <a:prstGeom prst="ellipse">
            <a:avLst/>
          </a:prstGeom>
          <a:solidFill>
            <a:srgbClr val="FDB9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E2E2E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44989" y="1490472"/>
            <a:ext cx="1824913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300" b="1" i="0">
                <a:solidFill>
                  <a:srgbClr val="004EA8"/>
                </a:solidFill>
                <a:latin typeface="Arial"/>
              </a:rPr>
              <a:t>Comments consolidated and a Q&amp;A session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87789" y="2057400"/>
            <a:ext cx="2245537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0" i="0">
                <a:solidFill>
                  <a:srgbClr val="4B4B4B"/>
                </a:solidFill>
                <a:latin typeface="Arial"/>
              </a:rPr>
              <a:t>One consolidated comments log, each item typed (clarification, correction, change request) and answered; Q&amp;A minutes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87789" y="2971800"/>
            <a:ext cx="2245537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1" i="0">
                <a:solidFill>
                  <a:srgbClr val="2E2E2E"/>
                </a:solidFill>
                <a:latin typeface="Arial"/>
              </a:rPr>
              <a:t>3 working days, Q&amp;A on Wed 21-Oct-2026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3840480"/>
            <a:ext cx="2464993" cy="2011680"/>
          </a:xfrm>
          <a:prstGeom prst="roundRect">
            <a:avLst/>
          </a:prstGeom>
          <a:solidFill>
            <a:srgbClr val="E5F5FF"/>
          </a:solidFill>
          <a:ln>
            <a:solidFill>
              <a:srgbClr val="99C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58368" y="3950208"/>
            <a:ext cx="384048" cy="384048"/>
          </a:xfrm>
          <a:prstGeom prst="ellipse">
            <a:avLst/>
          </a:prstGeom>
          <a:solidFill>
            <a:srgbClr val="FDB9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E2E2E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" y="3913632"/>
            <a:ext cx="1824913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300" b="1" i="0">
                <a:solidFill>
                  <a:srgbClr val="004EA8"/>
                </a:solidFill>
                <a:latin typeface="Arial"/>
              </a:rPr>
              <a:t>One revision cycle (v2.2)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4480560"/>
            <a:ext cx="2245537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0" i="0">
                <a:solidFill>
                  <a:srgbClr val="4B4B4B"/>
                </a:solidFill>
                <a:latin typeface="Arial"/>
              </a:rPr>
              <a:t>Release set v2.2 with the changed rows marked; change requests raised for the rest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5394960"/>
            <a:ext cx="2245537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1" i="0">
                <a:solidFill>
                  <a:srgbClr val="2E2E2E"/>
                </a:solidFill>
                <a:latin typeface="Arial"/>
              </a:rPr>
              <a:t>2 working days, v2.2 on Fri 23-Oct-2026; check by the reviewers until Wed 28-Oct-2026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3077641" y="4718304"/>
            <a:ext cx="283464" cy="256032"/>
          </a:xfrm>
          <a:prstGeom prst="rightArrow">
            <a:avLst/>
          </a:prstGeom>
          <a:solidFill>
            <a:srgbClr val="004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3425113" y="3840480"/>
            <a:ext cx="2464993" cy="2011680"/>
          </a:xfrm>
          <a:prstGeom prst="roundRect">
            <a:avLst/>
          </a:prstGeom>
          <a:solidFill>
            <a:srgbClr val="E5F5FF"/>
          </a:solidFill>
          <a:ln>
            <a:solidFill>
              <a:srgbClr val="99C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534841" y="3950208"/>
            <a:ext cx="384048" cy="384048"/>
          </a:xfrm>
          <a:prstGeom prst="ellipse">
            <a:avLst/>
          </a:prstGeom>
          <a:solidFill>
            <a:srgbClr val="FDB9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E2E2E"/>
                </a:solidFill>
                <a:latin typeface="Arial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992041" y="3913632"/>
            <a:ext cx="1824913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300" b="1" i="0">
                <a:solidFill>
                  <a:srgbClr val="004EA8"/>
                </a:solidFill>
                <a:latin typeface="Arial"/>
              </a:rPr>
              <a:t>Sign-off meeting and signature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34841" y="4480560"/>
            <a:ext cx="2245537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0" i="0">
                <a:solidFill>
                  <a:srgbClr val="4B4B4B"/>
                </a:solidFill>
                <a:latin typeface="Arial"/>
              </a:rPr>
              <a:t>Signed sign-off certificate; minutes; open items accepted as assumptions or change requests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34841" y="5394960"/>
            <a:ext cx="2245537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1" i="0">
                <a:solidFill>
                  <a:srgbClr val="2E2E2E"/>
                </a:solidFill>
                <a:latin typeface="Arial"/>
              </a:rPr>
              <a:t>Fri 30-Oct-2026</a:t>
            </a:r>
          </a:p>
        </p:txBody>
      </p:sp>
      <p:sp>
        <p:nvSpPr>
          <p:cNvPr id="43" name="Right Arrow 42"/>
          <p:cNvSpPr/>
          <p:nvPr/>
        </p:nvSpPr>
        <p:spPr>
          <a:xfrm>
            <a:off x="5954115" y="4718304"/>
            <a:ext cx="283464" cy="256032"/>
          </a:xfrm>
          <a:prstGeom prst="rightArrow">
            <a:avLst/>
          </a:prstGeom>
          <a:solidFill>
            <a:srgbClr val="004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301587" y="3840480"/>
            <a:ext cx="2464993" cy="2011680"/>
          </a:xfrm>
          <a:prstGeom prst="roundRect">
            <a:avLst/>
          </a:prstGeom>
          <a:solidFill>
            <a:srgbClr val="E5F5FF"/>
          </a:solidFill>
          <a:ln>
            <a:solidFill>
              <a:srgbClr val="99C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411315" y="3950208"/>
            <a:ext cx="384048" cy="384048"/>
          </a:xfrm>
          <a:prstGeom prst="ellipse">
            <a:avLst/>
          </a:prstGeom>
          <a:solidFill>
            <a:srgbClr val="FDB9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E2E2E"/>
                </a:solidFill>
                <a:latin typeface="Arial"/>
              </a:rPr>
              <a:t>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68515" y="3913632"/>
            <a:ext cx="1824913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300" b="1" i="0">
                <a:solidFill>
                  <a:srgbClr val="004EA8"/>
                </a:solidFill>
                <a:latin typeface="Arial"/>
              </a:rPr>
              <a:t>Content freeze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11315" y="4480560"/>
            <a:ext cx="2245537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0" i="0">
                <a:solidFill>
                  <a:srgbClr val="4B4B4B"/>
                </a:solidFill>
                <a:latin typeface="Arial"/>
              </a:rPr>
              <a:t>Content frozen as signed; approved deltas scheduled in the Change Management Register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11315" y="5394960"/>
            <a:ext cx="2245537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1" i="0">
                <a:solidFill>
                  <a:srgbClr val="2E2E2E"/>
                </a:solidFill>
                <a:latin typeface="Arial"/>
              </a:rPr>
              <a:t>From Mon 2-Nov-2026</a:t>
            </a:r>
          </a:p>
        </p:txBody>
      </p:sp>
      <p:sp>
        <p:nvSpPr>
          <p:cNvPr id="49" name="Right Arrow 48"/>
          <p:cNvSpPr/>
          <p:nvPr/>
        </p:nvSpPr>
        <p:spPr>
          <a:xfrm>
            <a:off x="8830589" y="4718304"/>
            <a:ext cx="283464" cy="256032"/>
          </a:xfrm>
          <a:prstGeom prst="rightArrow">
            <a:avLst/>
          </a:prstGeom>
          <a:solidFill>
            <a:srgbClr val="004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9178061" y="3840480"/>
            <a:ext cx="2464993" cy="2011680"/>
          </a:xfrm>
          <a:prstGeom prst="roundRect">
            <a:avLst/>
          </a:prstGeom>
          <a:solidFill>
            <a:srgbClr val="E5F5FF"/>
          </a:solidFill>
          <a:ln>
            <a:solidFill>
              <a:srgbClr val="99C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287789" y="3950208"/>
            <a:ext cx="384048" cy="384048"/>
          </a:xfrm>
          <a:prstGeom prst="ellipse">
            <a:avLst/>
          </a:prstGeom>
          <a:solidFill>
            <a:srgbClr val="FDB9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E2E2E"/>
                </a:solidFill>
                <a:latin typeface="Arial"/>
              </a:rPr>
              <a:t>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744989" y="3913632"/>
            <a:ext cx="1824913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300" b="1" i="0">
                <a:solidFill>
                  <a:srgbClr val="004EA8"/>
                </a:solidFill>
                <a:latin typeface="Arial"/>
              </a:rPr>
              <a:t>Traceability into SIT and UAT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87789" y="4480560"/>
            <a:ext cx="2245537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0" i="0">
                <a:solidFill>
                  <a:srgbClr val="4B4B4B"/>
                </a:solidFill>
                <a:latin typeface="Arial"/>
              </a:rPr>
              <a:t>SIT and UAT runs traced to the signed screens, rules and messages; results against each row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87789" y="5394960"/>
            <a:ext cx="2245537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1" i="0">
                <a:solidFill>
                  <a:srgbClr val="2E2E2E"/>
                </a:solidFill>
                <a:latin typeface="Arial"/>
              </a:rPr>
              <a:t>SIT Jan - Jul 2027; UAT Aug - Dec 2027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5097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00" b="1" i="0">
                <a:solidFill>
                  <a:srgbClr val="004EA8"/>
                </a:solidFill>
                <a:latin typeface="Arial"/>
              </a:rPr>
              <a:t>Steps in detail (1 of 2): who, inputs, outputs, duration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2540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i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457200"/>
            <a:ext cx="1645920" cy="335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C2C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900" b="0" i="0">
                <a:solidFill>
                  <a:srgbClr val="656565"/>
                </a:solidFill>
                <a:latin typeface="Arial"/>
              </a:rPr>
              <a:t>Confidential – BDOI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 i="0">
                <a:solidFill>
                  <a:srgbClr val="656565"/>
                </a:solidFill>
                <a:latin typeface="Arial"/>
              </a:rPr>
              <a:t>Sign-off Pack Guide BRD-1 New Business | v2.1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56565"/>
                </a:solidFill>
                <a:latin typeface="Arial"/>
              </a:rPr>
              <a:t>7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371600"/>
          <a:ext cx="11094412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7978"/>
                <a:gridCol w="2794148"/>
                <a:gridCol w="2301063"/>
                <a:gridCol w="2629787"/>
                <a:gridCol w="1561436"/>
              </a:tblGrid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Step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Who (R, A, C, I)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Inputs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Outputs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Duration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1. Pack issued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R: iorta TechNXT Project Manager; A: iorta TechNXT delivery lead; I: all reviewers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FRS v2.0, workbook, test plan, guide and deck; re-issued as v2.1 on Thu 8-Oct-2026 on the New Business BRD of 13 May 2026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Release set v2.1 in the BRD-01 folder (the changed screens flagged in the UX register); invitations to the sessions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Day 0 (Mon 28-Sep-2026)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2. Kick-off and screen walkthrough on SIT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R: iorta TechNXT Business Analysis; A: BDOI Product Owner; C: unit heads; I: BDOI IT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Guide deck; SIT users with seed data; walkthroughs A, B and C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Screens shown live; first questions logged in the comments log; minutes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4 sessions, 1 to 6-Oct-2026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3. Review with the workbook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R: business users of each unit; A: unit heads; C: iorta TechNXT (questions)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FRS chapters of the area; workbook sheets with the BU review columns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Every row marked Accept, Change requested or Comment; comments log entries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10 working days after the walkthroughs, until Fri 16-Oct-2026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4. Comments consolidated and a Q&amp;A session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R: iorta TechNXT Project Manager and Business Analysis; A: BDOI Product Owner; C: reviewers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Returned workbooks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One consolidated comments log, each item typed (clarification, correction, change request) and answered; Q&amp;A minutes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3 working days, Q&amp;A on Wed 21-Oct-2026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5097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00" b="1" i="0">
                <a:solidFill>
                  <a:srgbClr val="004EA8"/>
                </a:solidFill>
                <a:latin typeface="Arial"/>
              </a:rPr>
              <a:t>Steps in detail (2 of 2): who, inputs, outputs, duration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2540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i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457200"/>
            <a:ext cx="1645920" cy="335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C2C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900" b="0" i="0">
                <a:solidFill>
                  <a:srgbClr val="656565"/>
                </a:solidFill>
                <a:latin typeface="Arial"/>
              </a:rPr>
              <a:t>Confidential – BDOI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 i="0">
                <a:solidFill>
                  <a:srgbClr val="656565"/>
                </a:solidFill>
                <a:latin typeface="Arial"/>
              </a:rPr>
              <a:t>Sign-off Pack Guide BRD-1 New Business | v2.1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56565"/>
                </a:solidFill>
                <a:latin typeface="Arial"/>
              </a:rPr>
              <a:t>8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371600"/>
          <a:ext cx="11094412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7978"/>
                <a:gridCol w="2794148"/>
                <a:gridCol w="2301063"/>
                <a:gridCol w="2629787"/>
                <a:gridCol w="1561436"/>
              </a:tblGrid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Step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Who (R, A, C, I)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Inputs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Outputs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Duration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5. One revision cycle (v2.2)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R: iorta TechNXT Business Analysis; A: iorta TechNXT delivery lead; C: reviewers who raised the items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Agreed clarifications and corrections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Release set v2.2 with the changed rows marked; change requests raised for the rest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2 working days, v2.2 on Fri 23-Oct-2026; check by the reviewers until Wed 28-Oct-2026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6. Sign-off meeting and signature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R: iorta TechNXT Project Manager; A: BDOI Product Owner; C: unit heads, Finance, Compliance, BDOI IT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v2.2 (or v2.1 when no revision is needed); open items with their decision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Signed sign-off certificate; minutes; open items accepted as assumptions or change requests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Fri 30-Oct-2026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7. Content freeze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R: iorta TechNXT delivery lead; A: BDOI Product Owner; I: BDOI IT, other BRD owners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Signed set; change requests with mandays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Content frozen as signed; approved deltas scheduled in the Change Management Register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From Mon 2-Nov-2026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8. Traceability into SIT and UAT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R: iorta TechNXT test lead; A: BDOI Product Owner; C: business users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Signed FRS rows and test plan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SIT and UAT runs traced to the signed screens, rules and messages; results against each row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SIT Jan - Jul 2027; UAT Aug - Dec 2027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5097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00" b="1" i="0">
                <a:solidFill>
                  <a:srgbClr val="004EA8"/>
                </a:solidFill>
                <a:latin typeface="Arial"/>
              </a:rPr>
              <a:t>Who signs what: parts of the set (1 of 2)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2540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i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457200"/>
            <a:ext cx="1645920" cy="335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C2C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900" b="0" i="0">
                <a:solidFill>
                  <a:srgbClr val="656565"/>
                </a:solidFill>
                <a:latin typeface="Arial"/>
              </a:rPr>
              <a:t>Confidential – BDOI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 i="0">
                <a:solidFill>
                  <a:srgbClr val="656565"/>
                </a:solidFill>
                <a:latin typeface="Arial"/>
              </a:rPr>
              <a:t>Sign-off Pack Guide BRD-1 New Business | v2.1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56565"/>
                </a:solidFill>
                <a:latin typeface="Arial"/>
              </a:rPr>
              <a:t>9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371600"/>
          <a:ext cx="11094412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22036"/>
                <a:gridCol w="1496865"/>
                <a:gridCol w="2025170"/>
                <a:gridCol w="1937120"/>
                <a:gridCol w="2113221"/>
              </a:tblGrid>
              <a:tr h="36576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Part of the set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Prepares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Provides input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Reviews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Approves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Screens and fields (FRS screen specifications; workbook Screen catalogue, Field register)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iorta TechNXT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MBS, TSU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Program Manager (BPS)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Product Owner, UH Processing, UH Combank and Corbank, Head Retail Marketing, Head Institutional Banking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Business rules and validations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iorta TechNXT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MBS, TSU, BA (BPS)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Program Manager (BPS), BA Unit Head (BPS), Compliance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Product Owner, UH Processing, UH Combank and Corbank, Head Retail Marketing, Head Institutional Banking, Head Comptrollership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Messages and notifications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iorta TechNXT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MBS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Program Manager (BPS)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Product Owner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Documents and reports (slips, advices, service invoices, reports)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iorta TechNXT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MBS, TSU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Program Manager (BPS)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Product Owner, UH Processing, Head Comptrollership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Walkthroughs (end-to-end, screen by screen)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iorta TechNXT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MBS, TSU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Program Manager (BPS)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Product Owner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5097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00" b="1" i="0">
                <a:solidFill>
                  <a:srgbClr val="004EA8"/>
                </a:solidFill>
                <a:latin typeface="Arial"/>
              </a:rPr>
              <a:t>Who signs what: parts of the set (2 of 2)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2540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i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457200"/>
            <a:ext cx="1645920" cy="335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C2C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900" b="0" i="0">
                <a:solidFill>
                  <a:srgbClr val="656565"/>
                </a:solidFill>
                <a:latin typeface="Arial"/>
              </a:rPr>
              <a:t>Confidential – BDOI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 i="0">
                <a:solidFill>
                  <a:srgbClr val="656565"/>
                </a:solidFill>
                <a:latin typeface="Arial"/>
              </a:rPr>
              <a:t>Sign-off Pack Guide BRD-1 New Business | v2.1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56565"/>
                </a:solidFill>
                <a:latin typeface="Arial"/>
              </a:rPr>
              <a:t>10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371600"/>
          <a:ext cx="11094412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22036"/>
                <a:gridCol w="1496865"/>
                <a:gridCol w="2025170"/>
                <a:gridCol w="1937120"/>
                <a:gridCol w="2113221"/>
              </a:tblGrid>
              <a:tr h="36576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Part of the set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Prepares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Provides input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Reviews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Approves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Proposed business rules and clarifications for confirmation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iorta TechNXT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BA (BPS), MBS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Program Manager (BPS), BA Unit Head (BPS)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Product Owner, OIC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Interfaces, user access and menus by persona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iorta TechNXT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MBS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BDOI IT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Product Owner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Test plan (04 workbook, 05 summary)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iorta TechNXT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MBS, TSU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Program Manager (BPS), BDOI IT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Product Owner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Technical Specification (separate document, not part of the business sign-off)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iorta TechNXT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BDOI IT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BDOI IT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BDOI IT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5097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00" b="1" i="0">
                <a:solidFill>
                  <a:srgbClr val="004EA8"/>
                </a:solidFill>
                <a:latin typeface="Arial"/>
              </a:rPr>
              <a:t>Who signs what: signatories (1 of 2)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2540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i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457200"/>
            <a:ext cx="1645920" cy="335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C2C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900" b="0" i="0">
                <a:solidFill>
                  <a:srgbClr val="656565"/>
                </a:solidFill>
                <a:latin typeface="Arial"/>
              </a:rPr>
              <a:t>Confidential – BDOI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 i="0">
                <a:solidFill>
                  <a:srgbClr val="656565"/>
                </a:solidFill>
                <a:latin typeface="Arial"/>
              </a:rPr>
              <a:t>Sign-off Pack Guide BRD-1 New Business | v2.1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56565"/>
                </a:solidFill>
                <a:latin typeface="Arial"/>
              </a:rPr>
              <a:t>11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371600"/>
          <a:ext cx="11094413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2967"/>
                <a:gridCol w="4050341"/>
                <a:gridCol w="5371105"/>
              </a:tblGrid>
              <a:tr h="36576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Capacity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Role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Confirms by signing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Prepared by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iorta TechNXT project team: Project Manager, Business Analysis, test lead (iorta TechNXT)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The set is complete and consistent as issued, traced to the BRD and to the screens; every comment is answered in the comments log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Prepared by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Business Analyst, Enterprise Services Group - Business Project Services (BPS) (BDO Unibank ESG)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The set states the BRD requirements as written; every departure is listed in the proposed rules and clarifications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Input provided by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Marketing Business Services and System Support (MBS), BU representatives (BDOI)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The screens, fields, rules and messages of New Business match the business input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Input provided by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Technical Support Unit (TSU), BU representatives (BDOI)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The PRF, quotation slip, insurer terms and proposal slip screens match the business input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Reviewed by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Program Manager, Enterprise Services Group - Business Project Services (BPS) (BDO Unibank ESG)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Traceability of every BRD requirement to the set and completeness of the set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Reviewed by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BA Unit Head, Enterprise Services Group - Business Project Services (BPS) (BDO Unibank ESG)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The requirements of the IT Walkthrough Addendum are stated in the set as approved, and every departure is listed for confirmation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Reviewed by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BDOI Information Technology Group (BDOI IT) (BDOI)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Interfaces, user access and menus, and the Technical Specification (a separate document); not the business screens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Reviewed by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Compliance Officer (BDOI)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KYC, the screening hand-off and record retention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5097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00" b="1" i="0">
                <a:solidFill>
                  <a:srgbClr val="004EA8"/>
                </a:solidFill>
                <a:latin typeface="Arial"/>
              </a:rPr>
              <a:t>Who signs what: signatories (2 of 2)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2540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i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457200"/>
            <a:ext cx="1645920" cy="335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C2C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900" b="0" i="0">
                <a:solidFill>
                  <a:srgbClr val="656565"/>
                </a:solidFill>
                <a:latin typeface="Arial"/>
              </a:rPr>
              <a:t>Confidential – BDOI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 i="0">
                <a:solidFill>
                  <a:srgbClr val="656565"/>
                </a:solidFill>
                <a:latin typeface="Arial"/>
              </a:rPr>
              <a:t>Sign-off Pack Guide BRD-1 New Business | v2.1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56565"/>
                </a:solidFill>
                <a:latin typeface="Arial"/>
              </a:rPr>
              <a:t>12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371600"/>
          <a:ext cx="11094413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2967"/>
                <a:gridCol w="4050341"/>
                <a:gridCol w="5371105"/>
              </a:tblGrid>
              <a:tr h="36576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Capacity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Role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Confirms by signing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Approved by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Product Owner, Marketing Business System (BDOI)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Owns the set and approves all of its contents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Approved by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Unit Head - Processing (BDOI)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Payment, placement, issuance and booking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Approved by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Unit Head - Combank and Corbank (BDOI)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Clients, quotations, PRFs and accounts of Combank and Corbank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Approved by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Head - Retail Marketing (BDOI)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Clients, quotations and accounts of Retail Marketing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Approved by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Head of Institutional Banking, SM and BDO Accounts (BDOI)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Clients, quotations and accounts of the institutional accounts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Approved by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Head - Comptrollership (BDOI)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Booking entries, service invoices and the hand-off to Accounting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Approved by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Officer-in-Charge (OIC), BDO Insurance and Reinsurance Brokers (BDOI)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The requirements of the IT Walkthrough Addendum and the proposed rules that follow from them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5097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00" b="1" i="0">
                <a:solidFill>
                  <a:srgbClr val="004EA8"/>
                </a:solidFill>
                <a:latin typeface="Arial"/>
              </a:rPr>
              <a:t>How to fill in the sign-off workbook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2540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i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457200"/>
            <a:ext cx="1645920" cy="335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C2C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900" b="0" i="0">
                <a:solidFill>
                  <a:srgbClr val="656565"/>
                </a:solidFill>
                <a:latin typeface="Arial"/>
              </a:rPr>
              <a:t>Confidential – BDOI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 i="0">
                <a:solidFill>
                  <a:srgbClr val="656565"/>
                </a:solidFill>
                <a:latin typeface="Arial"/>
              </a:rPr>
              <a:t>Sign-off Pack Guide BRD-1 New Business | v2.1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56565"/>
                </a:solidFill>
                <a:latin typeface="Arial"/>
              </a:rPr>
              <a:t>13</a:t>
            </a:r>
          </a:p>
        </p:txBody>
      </p:sp>
      <p:pic>
        <p:nvPicPr>
          <p:cNvPr id="9" name="Picture 8" descr="signoff-workbook-field-regis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25880"/>
            <a:ext cx="7498079" cy="1680490"/>
          </a:xfrm>
          <a:prstGeom prst="rect">
            <a:avLst/>
          </a:prstGeom>
          <a:ln w="9525">
            <a:solidFill>
              <a:srgbClr val="C2C2C1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548640" y="5852160"/>
            <a:ext cx="7498079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0" i="1">
                <a:solidFill>
                  <a:srgbClr val="656565"/>
                </a:solidFill>
                <a:latin typeface="Arial"/>
              </a:rPr>
              <a:t>Field register sheet of the sign-off workbook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21039" y="1325880"/>
            <a:ext cx="3322016" cy="4846320"/>
          </a:xfrm>
          <a:prstGeom prst="rect">
            <a:avLst/>
          </a:prstGeom>
          <a:solidFill>
            <a:srgbClr val="E5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21039" y="1325880"/>
            <a:ext cx="50800" cy="4846320"/>
          </a:xfrm>
          <a:prstGeom prst="rect">
            <a:avLst/>
          </a:prstGeom>
          <a:solidFill>
            <a:srgbClr val="004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199" y="1417320"/>
            <a:ext cx="309341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004EA8"/>
                </a:solidFill>
                <a:latin typeface="Arial"/>
              </a:rPr>
              <a:t>•  </a:t>
            </a:r>
            <a:r>
              <a:rPr sz="1300">
                <a:solidFill>
                  <a:srgbClr val="4B4B4B"/>
                </a:solidFill>
                <a:latin typeface="Arial"/>
              </a:rPr>
              <a:t>Review the rows of your area on Screen standards, Screen catalogue, Field register, Business rules, Messages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04EA8"/>
                </a:solidFill>
                <a:latin typeface="Arial"/>
              </a:rPr>
              <a:t>•  </a:t>
            </a:r>
            <a:r>
              <a:rPr sz="1300">
                <a:solidFill>
                  <a:srgbClr val="4B4B4B"/>
                </a:solidFill>
                <a:latin typeface="Arial"/>
              </a:rPr>
              <a:t>BU review: Accept, Change requested or Comment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04EA8"/>
                </a:solidFill>
                <a:latin typeface="Arial"/>
              </a:rPr>
              <a:t>•  </a:t>
            </a:r>
            <a:r>
              <a:rPr sz="1300">
                <a:solidFill>
                  <a:srgbClr val="4B4B4B"/>
                </a:solidFill>
                <a:latin typeface="Arial"/>
              </a:rPr>
              <a:t>BU comment: the change asked for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04EA8"/>
                </a:solidFill>
                <a:latin typeface="Arial"/>
              </a:rPr>
              <a:t>•  </a:t>
            </a:r>
            <a:r>
              <a:rPr sz="1300">
                <a:solidFill>
                  <a:srgbClr val="4B4B4B"/>
                </a:solidFill>
                <a:latin typeface="Arial"/>
              </a:rPr>
              <a:t>Reviewer and Review date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04EA8"/>
                </a:solidFill>
                <a:latin typeface="Arial"/>
              </a:rPr>
              <a:t>•  </a:t>
            </a:r>
            <a:r>
              <a:rPr sz="1300">
                <a:solidFill>
                  <a:srgbClr val="4B4B4B"/>
                </a:solidFill>
                <a:latin typeface="Arial"/>
              </a:rPr>
              <a:t>Questions go to the Comments log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04EA8"/>
                </a:solidFill>
                <a:latin typeface="Arial"/>
              </a:rPr>
              <a:t>•  </a:t>
            </a:r>
            <a:r>
              <a:rPr sz="1300">
                <a:solidFill>
                  <a:srgbClr val="4B4B4B"/>
                </a:solidFill>
                <a:latin typeface="Arial"/>
              </a:rPr>
              <a:t>Leave the other columns unchanged; one workbook per unit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5097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00" b="1" i="0">
                <a:solidFill>
                  <a:srgbClr val="004EA8"/>
                </a:solidFill>
                <a:latin typeface="Arial"/>
              </a:rPr>
              <a:t>New Business at a glance: process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2540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i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457200"/>
            <a:ext cx="1645920" cy="335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C2C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900" b="0" i="0">
                <a:solidFill>
                  <a:srgbClr val="656565"/>
                </a:solidFill>
                <a:latin typeface="Arial"/>
              </a:rPr>
              <a:t>Confidential – BDOI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 i="0">
                <a:solidFill>
                  <a:srgbClr val="656565"/>
                </a:solidFill>
                <a:latin typeface="Arial"/>
              </a:rPr>
              <a:t>Sign-off Pack Guide BRD-1 New Business | v2.1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56565"/>
                </a:solidFill>
                <a:latin typeface="Arial"/>
              </a:rPr>
              <a:t>14</a:t>
            </a:r>
          </a:p>
        </p:txBody>
      </p:sp>
      <p:pic>
        <p:nvPicPr>
          <p:cNvPr id="9" name="Picture 8" descr="brd01_process_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0616" y="1325880"/>
            <a:ext cx="6490463" cy="4480560"/>
          </a:xfrm>
          <a:prstGeom prst="rect">
            <a:avLst/>
          </a:prstGeom>
          <a:ln w="9525">
            <a:solidFill>
              <a:srgbClr val="C2C2C1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548640" y="5852160"/>
            <a:ext cx="11094415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0" i="1">
                <a:solidFill>
                  <a:srgbClr val="656565"/>
                </a:solidFill>
                <a:latin typeface="Arial"/>
              </a:rPr>
              <a:t>BRD-1 process from the client to the booked invoice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5097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00" b="1" i="0">
                <a:solidFill>
                  <a:srgbClr val="004EA8"/>
                </a:solidFill>
                <a:latin typeface="Arial"/>
              </a:rPr>
              <a:t>New Business at a glance: personas and menus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2540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i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457200"/>
            <a:ext cx="1645920" cy="335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C2C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900" b="0" i="0">
                <a:solidFill>
                  <a:srgbClr val="656565"/>
                </a:solidFill>
                <a:latin typeface="Arial"/>
              </a:rPr>
              <a:t>Confidential – BDOI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 i="0">
                <a:solidFill>
                  <a:srgbClr val="656565"/>
                </a:solidFill>
                <a:latin typeface="Arial"/>
              </a:rPr>
              <a:t>Sign-off Pack Guide BRD-1 New Business | v2.1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56565"/>
                </a:solidFill>
                <a:latin typeface="Arial"/>
              </a:rPr>
              <a:t>15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371600"/>
          <a:ext cx="11094413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1527"/>
                <a:gridCol w="1144661"/>
                <a:gridCol w="968560"/>
                <a:gridCol w="6339665"/>
              </a:tblGrid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Persona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SIT user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Screens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Menu sections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Marketing Account Officer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ao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New Business Dashboard, My Work, Clients, Quotation / Proposal, Accounts &amp; Placement, Non-Package Management, Placement &amp; Booking, Policy Issuance, Bulk Processing, New Business Reports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Marketing TL / TH / UH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mkttl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New Business Dashboard, My Work, Clients, Quotation / Proposal, Accounts &amp; Placement, Non-Package Management, Placement &amp; Booking, Policy Issuance, Bulk Processing, New Business Reports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Technical Support Unit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tsu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New Business Dashboard, My Work, Clients, Quotation / Proposal, Accounts &amp; Placement, Non-Package Management, Placement &amp; Booking, Policy Issuance, New Business Reports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Processing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proc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New Business Dashboard, My Work, Clients, Quotation / Proposal, Accounts &amp; Placement, Placement &amp; Booking, Policy Issuance, Booking, Bulk Processing, New Business Reports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Processing Team Leader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proctl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New Business Dashboard, My Work, Clients, Quotation / Proposal, Accounts &amp; Placement, Placement &amp; Booking, Policy Issuance, Booking, Bulk Processing, New Business Reports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New Business Approver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approver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New Business Dashboard, My Work, Clients, Quotation / Proposal, Accounts &amp; Placement, Placement &amp; Booking, Policy Issuance, Booking, New Business Reports, Broking Setup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E-policy Sender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epol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New Business Dashboard, My Work, Clients, Accounts &amp; Placement, Placement &amp; Booking, Policy Issuance, New Business Reports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Adjustment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adjust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New Business Dashboard, My Work, Clients, Accounts &amp; Placement, Placement &amp; Booking, Policy Issuance, Booking, Bulk Processing, New Business Reports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Business Administrator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badmin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New Business Dashboard, My Work, Booking, Bulk Processing, New Business Reports, Broking Setup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System Administrator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admin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New Business Dashboard, My Work, Booking, Bulk Processing, New Business Reports, Broking Setup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Auditor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auditor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New Business Dashboard, My Work, Clients, Quotation / Proposal, Accounts &amp; Placement, Placement &amp; Booking, Policy Issuance, Booking, New Business Reports, Broking Setup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5097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00" b="1" i="0">
                <a:solidFill>
                  <a:srgbClr val="004EA8"/>
                </a:solidFill>
                <a:latin typeface="Arial"/>
              </a:rPr>
              <a:t>New Business at a glance: key screens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2540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i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457200"/>
            <a:ext cx="1645920" cy="335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C2C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900" b="0" i="0">
                <a:solidFill>
                  <a:srgbClr val="656565"/>
                </a:solidFill>
                <a:latin typeface="Arial"/>
              </a:rPr>
              <a:t>Confidential – BDOI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 i="0">
                <a:solidFill>
                  <a:srgbClr val="656565"/>
                </a:solidFill>
                <a:latin typeface="Arial"/>
              </a:rPr>
              <a:t>Sign-off Pack Guide BRD-1 New Business | v2.1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56565"/>
                </a:solidFill>
                <a:latin typeface="Arial"/>
              </a:rPr>
              <a:t>16</a:t>
            </a:r>
          </a:p>
        </p:txBody>
      </p:sp>
      <p:pic>
        <p:nvPicPr>
          <p:cNvPr id="9" name="Picture 8" descr="scr-nb-01-01-l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8836" y="1325880"/>
            <a:ext cx="1349654" cy="1874520"/>
          </a:xfrm>
          <a:prstGeom prst="rect">
            <a:avLst/>
          </a:prstGeom>
          <a:ln w="9525">
            <a:solidFill>
              <a:srgbClr val="C2C2C1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548640" y="3200400"/>
            <a:ext cx="5410047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0" i="1">
                <a:solidFill>
                  <a:srgbClr val="656565"/>
                </a:solidFill>
                <a:latin typeface="Arial"/>
              </a:rPr>
              <a:t>Clients work list</a:t>
            </a:r>
          </a:p>
        </p:txBody>
      </p:sp>
      <p:pic>
        <p:nvPicPr>
          <p:cNvPr id="11" name="Picture 10" descr="wt-a-0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4793" y="1325880"/>
            <a:ext cx="2606475" cy="1874520"/>
          </a:xfrm>
          <a:prstGeom prst="rect">
            <a:avLst/>
          </a:prstGeom>
          <a:ln w="9525">
            <a:solidFill>
              <a:srgbClr val="C2C2C1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6233007" y="3200400"/>
            <a:ext cx="5410047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0" i="1">
                <a:solidFill>
                  <a:srgbClr val="656565"/>
                </a:solidFill>
                <a:latin typeface="Arial"/>
              </a:rPr>
              <a:t>Quotation converted into an account</a:t>
            </a:r>
          </a:p>
        </p:txBody>
      </p:sp>
      <p:pic>
        <p:nvPicPr>
          <p:cNvPr id="13" name="Picture 12" descr="scr-nb-18-01-lis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92336" y="3566160"/>
            <a:ext cx="1322654" cy="1874520"/>
          </a:xfrm>
          <a:prstGeom prst="rect">
            <a:avLst/>
          </a:prstGeom>
          <a:ln w="9525">
            <a:solidFill>
              <a:srgbClr val="C2C2C1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548640" y="5440680"/>
            <a:ext cx="5410047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0" i="1">
                <a:solidFill>
                  <a:srgbClr val="656565"/>
                </a:solidFill>
                <a:latin typeface="Arial"/>
              </a:rPr>
              <a:t>Placement Workbench</a:t>
            </a:r>
          </a:p>
        </p:txBody>
      </p:sp>
      <p:pic>
        <p:nvPicPr>
          <p:cNvPr id="15" name="Picture 14" descr="wt-a-1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52755" y="3566160"/>
            <a:ext cx="2970550" cy="1874520"/>
          </a:xfrm>
          <a:prstGeom prst="rect">
            <a:avLst/>
          </a:prstGeom>
          <a:ln w="9525">
            <a:solidFill>
              <a:srgbClr val="C2C2C1"/>
            </a:solidFill>
          </a:ln>
        </p:spPr>
      </p:pic>
      <p:sp>
        <p:nvSpPr>
          <p:cNvPr id="16" name="TextBox 15"/>
          <p:cNvSpPr txBox="1"/>
          <p:nvPr/>
        </p:nvSpPr>
        <p:spPr>
          <a:xfrm>
            <a:off x="6233007" y="5440680"/>
            <a:ext cx="5410047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0" i="1">
                <a:solidFill>
                  <a:srgbClr val="656565"/>
                </a:solidFill>
                <a:latin typeface="Arial"/>
              </a:rPr>
              <a:t>Booked invoice with its journal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5097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00" b="1" i="0">
                <a:solidFill>
                  <a:srgbClr val="004EA8"/>
                </a:solidFill>
                <a:latin typeface="Arial"/>
              </a:rPr>
              <a:t>Key business rules and validations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2540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i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457200"/>
            <a:ext cx="1645920" cy="335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C2C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900" b="0" i="0">
                <a:solidFill>
                  <a:srgbClr val="656565"/>
                </a:solidFill>
                <a:latin typeface="Arial"/>
              </a:rPr>
              <a:t>Confidential – BDOI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 i="0">
                <a:solidFill>
                  <a:srgbClr val="656565"/>
                </a:solidFill>
                <a:latin typeface="Arial"/>
              </a:rPr>
              <a:t>Sign-off Pack Guide BRD-1 New Business | v2.1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56565"/>
                </a:solidFill>
                <a:latin typeface="Arial"/>
              </a:rPr>
              <a:t>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109441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004EA8"/>
                </a:solidFill>
                <a:latin typeface="Arial"/>
              </a:rPr>
              <a:t>•  </a:t>
            </a:r>
            <a:r>
              <a:rPr sz="1400">
                <a:solidFill>
                  <a:srgbClr val="4B4B4B"/>
                </a:solidFill>
                <a:latin typeface="Arial"/>
              </a:rPr>
              <a:t>A prospect needs only its type and name; the KYC documents and minimum fields are needed before the KYC is submitted, and a second user verifies it.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04EA8"/>
                </a:solidFill>
                <a:latin typeface="Arial"/>
              </a:rPr>
              <a:t>•  </a:t>
            </a:r>
            <a:r>
              <a:rPr sz="1400">
                <a:solidFill>
                  <a:srgbClr val="4B4B4B"/>
                </a:solidFill>
                <a:latin typeface="Arial"/>
              </a:rPr>
              <a:t>Clients are checked for duplicates on TIN, ID and name with birth date (blocking) and on e-mail, mobile and corporate name (warning).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04EA8"/>
                </a:solidFill>
                <a:latin typeface="Arial"/>
              </a:rPr>
              <a:t>•  </a:t>
            </a:r>
            <a:r>
              <a:rPr sz="1400">
                <a:solidFill>
                  <a:srgbClr val="4B4B4B"/>
                </a:solidFill>
                <a:latin typeface="Arial"/>
              </a:rPr>
              <a:t>A quotation or PRF is approved by someone other than its maker; a quotation is sent only once approved and still valid.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04EA8"/>
                </a:solidFill>
                <a:latin typeface="Arial"/>
              </a:rPr>
              <a:t>•  </a:t>
            </a:r>
            <a:r>
              <a:rPr sz="1400">
                <a:solidFill>
                  <a:srgbClr val="4B4B4B"/>
                </a:solidFill>
                <a:latin typeface="Arial"/>
              </a:rPr>
              <a:t>An account needs a confirmed client; Processing validates it only when every mandatory field and document of the product is there.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04EA8"/>
                </a:solidFill>
                <a:latin typeface="Arial"/>
              </a:rPr>
              <a:t>•  </a:t>
            </a:r>
            <a:r>
              <a:rPr sz="1400">
                <a:solidFill>
                  <a:srgbClr val="4B4B4B"/>
                </a:solidFill>
                <a:latin typeface="Arial"/>
              </a:rPr>
              <a:t>A risk is insured on one live account only (vehicle identifiers; client, location and item for property).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04EA8"/>
                </a:solidFill>
                <a:latin typeface="Arial"/>
              </a:rPr>
              <a:t>•  </a:t>
            </a:r>
            <a:r>
              <a:rPr sz="1400">
                <a:solidFill>
                  <a:srgbClr val="4B4B4B"/>
                </a:solidFill>
                <a:latin typeface="Arial"/>
              </a:rPr>
              <a:t>Placement needs the payment gate open: CLPC payment matched for CBG Fire, payment or client confirmation for the other lines, or the direct-payment tag.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04EA8"/>
                </a:solidFill>
                <a:latin typeface="Arial"/>
              </a:rPr>
              <a:t>•  </a:t>
            </a:r>
            <a:r>
              <a:rPr sz="1400">
                <a:solidFill>
                  <a:srgbClr val="4B4B4B"/>
                </a:solidFill>
                <a:latin typeface="Arial"/>
              </a:rPr>
              <a:t>Booking posts the journal (receivable, payable to the insurer, commission) and the service invoice; cancellations and endorsements follow the same rules.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04EA8"/>
                </a:solidFill>
                <a:latin typeface="Arial"/>
              </a:rPr>
              <a:t>•  </a:t>
            </a:r>
            <a:r>
              <a:rPr sz="1400">
                <a:solidFill>
                  <a:srgbClr val="4B4B4B"/>
                </a:solidFill>
                <a:latin typeface="Arial"/>
              </a:rPr>
              <a:t>Bulk uploads validate every row before anything is saved; rejected rows come back in the error file.</a:t>
            </a:r>
          </a:p>
          <a:p>
            <a:pPr lvl="1">
              <a:spcAft>
                <a:spcPts val="600"/>
              </a:spcAft>
            </a:pPr>
            <a:r>
              <a:rPr sz="1200">
                <a:solidFill>
                  <a:srgbClr val="656565"/>
                </a:solidFill>
                <a:latin typeface="Arial"/>
              </a:rPr>
              <a:t>–  </a:t>
            </a:r>
            <a:r>
              <a:rPr sz="1200">
                <a:solidFill>
                  <a:srgbClr val="4B4B4B"/>
                </a:solidFill>
                <a:latin typeface="Arial"/>
              </a:rPr>
              <a:t>Full list: FRS chapter 13 per screen, 116 rules on the Business rules sheet and 526 messages in FRS chapter 15 and on the Messages sheet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5097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00" b="1" i="0">
                <a:solidFill>
                  <a:srgbClr val="004EA8"/>
                </a:solidFill>
                <a:latin typeface="Arial"/>
              </a:rPr>
              <a:t>Cross-module dependencies and impacts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2540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i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457200"/>
            <a:ext cx="1645920" cy="335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C2C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900" b="0" i="0">
                <a:solidFill>
                  <a:srgbClr val="656565"/>
                </a:solidFill>
                <a:latin typeface="Arial"/>
              </a:rPr>
              <a:t>Confidential – BDOI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 i="0">
                <a:solidFill>
                  <a:srgbClr val="656565"/>
                </a:solidFill>
                <a:latin typeface="Arial"/>
              </a:rPr>
              <a:t>Sign-off Pack Guide BRD-1 New Business | v2.1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56565"/>
                </a:solidFill>
                <a:latin typeface="Arial"/>
              </a:rPr>
              <a:t>18</a:t>
            </a:r>
          </a:p>
        </p:txBody>
      </p:sp>
      <p:pic>
        <p:nvPicPr>
          <p:cNvPr id="9" name="Picture 8" descr="brd01_contract_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0042" y="1325880"/>
            <a:ext cx="7291611" cy="4480560"/>
          </a:xfrm>
          <a:prstGeom prst="rect">
            <a:avLst/>
          </a:prstGeom>
          <a:ln w="9525">
            <a:solidFill>
              <a:srgbClr val="C2C2C1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548640" y="5852160"/>
            <a:ext cx="11094415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0" i="1">
                <a:solidFill>
                  <a:srgbClr val="656565"/>
                </a:solidFill>
                <a:latin typeface="Arial"/>
              </a:rPr>
              <a:t>What New Business takes from and hands to the other BRDs and systems (FRS chapter 19)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5097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00" b="1" i="0">
                <a:solidFill>
                  <a:srgbClr val="004EA8"/>
                </a:solidFill>
                <a:latin typeface="Arial"/>
              </a:rPr>
              <a:t>Caveats and possibilities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2540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i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457200"/>
            <a:ext cx="1645920" cy="335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C2C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900" b="0" i="0">
                <a:solidFill>
                  <a:srgbClr val="656565"/>
                </a:solidFill>
                <a:latin typeface="Arial"/>
              </a:rPr>
              <a:t>Confidential – BDOI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 i="0">
                <a:solidFill>
                  <a:srgbClr val="656565"/>
                </a:solidFill>
                <a:latin typeface="Arial"/>
              </a:rPr>
              <a:t>Sign-off Pack Guide BRD-1 New Business | v2.1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56565"/>
                </a:solidFill>
                <a:latin typeface="Arial"/>
              </a:rPr>
              <a:t>19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371600"/>
          <a:ext cx="11094414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7120"/>
                <a:gridCol w="4578647"/>
                <a:gridCol w="4578647"/>
              </a:tblGrid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Topic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What can happen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How it is handled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Additional requirements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New needs can surface during the review, SIT or UAT.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In-scope clarification when the signed text already covers it; otherwise a change request with mandays.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Other BRDs change New Business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Product Maintenance, Sanction Screening, User Access, Operations, Collections, Accounting, Renewal, CSF, Submitted Policies, Data Migration and the Core Replacement can change what New Business takes or hands over.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The change is raised against the other BRD and assessed against the cross-BRD contract; when it touches this set, a delta sign-off of the affected pages only.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Integrations pending BDOI IT specifications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HLS, CLPC transport, electronic channels to insurers (file transfer or system-to-system), directory sign-in and the mail relay depend on specifications from BDOI IT.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A manual or file-based step until the specification arrives; the interface is then a change request.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New version of the BRD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BDOI re-issued the New Business BRD on 13 May 2026 with the Addendum after the IT walkthrough, which restates five requirements (BRNB.042, 060, 100, 100.1 and 107).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The set is re-based as v2.1: the FRs, test cases and screens concerned are changed, the new rules are listed for confirmation (CLR-NB-44 to 50) and the changed screens are flagged; the review covers the changed rows as a delta.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Open questions and assumptions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Open questions of FRS section 10.3 (product matrix, approval chain, document layouts, TSU thresholds and others) follow the assumptions of section 10.1; chapter 21 lists the proposed rules for confirmation.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Answered as configuration where possible (lists, parameters, templates); otherwise a change request; the assumption stands until then.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5097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00" b="1" i="0">
                <a:solidFill>
                  <a:srgbClr val="004EA8"/>
                </a:solidFill>
                <a:latin typeface="Arial"/>
              </a:rPr>
              <a:t>Caveats: worked examples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2540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i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457200"/>
            <a:ext cx="1645920" cy="335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C2C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900" b="0" i="0">
                <a:solidFill>
                  <a:srgbClr val="656565"/>
                </a:solidFill>
                <a:latin typeface="Arial"/>
              </a:rPr>
              <a:t>Confidential – BDOI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 i="0">
                <a:solidFill>
                  <a:srgbClr val="656565"/>
                </a:solidFill>
                <a:latin typeface="Arial"/>
              </a:rPr>
              <a:t>Sign-off Pack Guide BRD-1 New Business | v2.1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56565"/>
                </a:solidFill>
                <a:latin typeface="Arial"/>
              </a:rPr>
              <a:t>20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371600"/>
          <a:ext cx="11094414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3221"/>
                <a:gridCol w="8981193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Topic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Example and how it is handled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Additional requirements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A reviewer asks for the KYC risk rating on the Clients list: a new column, so a change request; asking which statuses the list shows is a clarification.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Other BRDs change New Business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BRD-3 adds a mandatory field to a product: the account field rules change; the affected screen specification pages are re-issued and signed as a delta.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Integrations pending BDOI IT specifications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CLPC billing is a download and an upload today; an automatic transfer is added when the CLPC layout and transport are agreed.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New version of the BRD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The incentive indicator is now set only when the booked invoice is fully paid, after the endorsements are considered; the Booking FRs, test cases and screen rules show the new rule, and CLR-NB-46 asks BDOI to confirm what fully paid means.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Open questions and assumptions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The approval chain is one approval stage; a two-level chain for large premiums, once BDOI states the limits, is a change request.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5097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00" b="1" i="0">
                <a:solidFill>
                  <a:srgbClr val="004EA8"/>
                </a:solidFill>
                <a:latin typeface="Arial"/>
              </a:rPr>
              <a:t>Entry and exit criteria, definition of done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2540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i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457200"/>
            <a:ext cx="1645920" cy="335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C2C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900" b="0" i="0">
                <a:solidFill>
                  <a:srgbClr val="656565"/>
                </a:solidFill>
                <a:latin typeface="Arial"/>
              </a:rPr>
              <a:t>Confidential – BDOI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 i="0">
                <a:solidFill>
                  <a:srgbClr val="656565"/>
                </a:solidFill>
                <a:latin typeface="Arial"/>
              </a:rPr>
              <a:t>Sign-off Pack Guide BRD-1 New Business | v2.1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56565"/>
                </a:solidFill>
                <a:latin typeface="Arial"/>
              </a:rPr>
              <a:t>21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325880"/>
            <a:ext cx="3515258" cy="457200"/>
          </a:xfrm>
          <a:prstGeom prst="rect">
            <a:avLst/>
          </a:prstGeom>
          <a:solidFill>
            <a:srgbClr val="004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325880"/>
            <a:ext cx="3515258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Arial"/>
              </a:rPr>
              <a:t>Entry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783080"/>
            <a:ext cx="3515258" cy="4343400"/>
          </a:xfrm>
          <a:prstGeom prst="rect">
            <a:avLst/>
          </a:prstGeom>
          <a:solidFill>
            <a:srgbClr val="E5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920240"/>
            <a:ext cx="3332378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004EA8"/>
                </a:solidFill>
                <a:latin typeface="Arial"/>
              </a:rPr>
              <a:t>•  </a:t>
            </a:r>
            <a:r>
              <a:rPr sz="1200">
                <a:solidFill>
                  <a:srgbClr val="4B4B4B"/>
                </a:solidFill>
                <a:latin typeface="Arial"/>
              </a:rPr>
              <a:t>Every screenshot of the set is taken on the SIT environment with seed data.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04EA8"/>
                </a:solidFill>
                <a:latin typeface="Arial"/>
              </a:rPr>
              <a:t>•  </a:t>
            </a:r>
            <a:r>
              <a:rPr sz="1200">
                <a:solidFill>
                  <a:srgbClr val="4B4B4B"/>
                </a:solidFill>
                <a:latin typeface="Arial"/>
              </a:rPr>
              <a:t>Reviewers have their SIT users and the walkthrough sessions are held.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04EA8"/>
                </a:solidFill>
                <a:latin typeface="Arial"/>
              </a:rPr>
              <a:t>•  </a:t>
            </a:r>
            <a:r>
              <a:rPr sz="1200">
                <a:solidFill>
                  <a:srgbClr val="4B4B4B"/>
                </a:solidFill>
                <a:latin typeface="Arial"/>
              </a:rPr>
              <a:t>The test plan is traced to the FRS and to the screens.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38218" y="1325880"/>
            <a:ext cx="3515258" cy="457200"/>
          </a:xfrm>
          <a:prstGeom prst="rect">
            <a:avLst/>
          </a:prstGeom>
          <a:solidFill>
            <a:srgbClr val="004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29658" y="1325880"/>
            <a:ext cx="3515258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Arial"/>
              </a:rPr>
              <a:t>Exit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38218" y="1783080"/>
            <a:ext cx="3515258" cy="4343400"/>
          </a:xfrm>
          <a:prstGeom prst="rect">
            <a:avLst/>
          </a:prstGeom>
          <a:solidFill>
            <a:srgbClr val="E5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29658" y="1920240"/>
            <a:ext cx="3332378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004EA8"/>
                </a:solidFill>
                <a:latin typeface="Arial"/>
              </a:rPr>
              <a:t>•  </a:t>
            </a:r>
            <a:r>
              <a:rPr sz="1200">
                <a:solidFill>
                  <a:srgbClr val="4B4B4B"/>
                </a:solidFill>
                <a:latin typeface="Arial"/>
              </a:rPr>
              <a:t>Every row of the workbook reviewed by its unit (Accept, Change requested or Comment).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04EA8"/>
                </a:solidFill>
                <a:latin typeface="Arial"/>
              </a:rPr>
              <a:t>•  </a:t>
            </a:r>
            <a:r>
              <a:rPr sz="1200">
                <a:solidFill>
                  <a:srgbClr val="4B4B4B"/>
                </a:solidFill>
                <a:latin typeface="Arial"/>
              </a:rPr>
              <a:t>Every comments log item closed: answered, corrected in v2.2, or raised as a change request.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04EA8"/>
                </a:solidFill>
                <a:latin typeface="Arial"/>
              </a:rPr>
              <a:t>•  </a:t>
            </a:r>
            <a:r>
              <a:rPr sz="1200">
                <a:solidFill>
                  <a:srgbClr val="4B4B4B"/>
                </a:solidFill>
                <a:latin typeface="Arial"/>
              </a:rPr>
              <a:t>Open questions closed or accepted as assumptions.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04EA8"/>
                </a:solidFill>
                <a:latin typeface="Arial"/>
              </a:rPr>
              <a:t>•  </a:t>
            </a:r>
            <a:r>
              <a:rPr sz="1200">
                <a:solidFill>
                  <a:srgbClr val="4B4B4B"/>
                </a:solidFill>
                <a:latin typeface="Arial"/>
              </a:rPr>
              <a:t>The sign-off certificate signed by every signatory of the Who signs what matrix: prepared, input, reviewed and approved as on the BRD approval sheet; the Product Owner approves the whole set.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27796" y="1325880"/>
            <a:ext cx="3515258" cy="457200"/>
          </a:xfrm>
          <a:prstGeom prst="rect">
            <a:avLst/>
          </a:prstGeom>
          <a:solidFill>
            <a:srgbClr val="004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19236" y="1325880"/>
            <a:ext cx="3515258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Arial"/>
              </a:rPr>
              <a:t>Done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27796" y="1783080"/>
            <a:ext cx="3515258" cy="4343400"/>
          </a:xfrm>
          <a:prstGeom prst="rect">
            <a:avLst/>
          </a:prstGeom>
          <a:solidFill>
            <a:srgbClr val="E5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19236" y="1920240"/>
            <a:ext cx="3332378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004EA8"/>
                </a:solidFill>
                <a:latin typeface="Arial"/>
              </a:rPr>
              <a:t>•  </a:t>
            </a:r>
            <a:r>
              <a:rPr sz="1200">
                <a:solidFill>
                  <a:srgbClr val="4B4B4B"/>
                </a:solidFill>
                <a:latin typeface="Arial"/>
              </a:rPr>
              <a:t>Signed certificate filed with the set; version history updated.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04EA8"/>
                </a:solidFill>
                <a:latin typeface="Arial"/>
              </a:rPr>
              <a:t>•  </a:t>
            </a:r>
            <a:r>
              <a:rPr sz="1200">
                <a:solidFill>
                  <a:srgbClr val="4B4B4B"/>
                </a:solidFill>
                <a:latin typeface="Arial"/>
              </a:rPr>
              <a:t>Content frozen as signed; deltas listed in the Change Management Register with mandays.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04EA8"/>
                </a:solidFill>
                <a:latin typeface="Arial"/>
              </a:rPr>
              <a:t>•  </a:t>
            </a:r>
            <a:r>
              <a:rPr sz="1200">
                <a:solidFill>
                  <a:srgbClr val="4B4B4B"/>
                </a:solidFill>
                <a:latin typeface="Arial"/>
              </a:rPr>
              <a:t>Test plan agreed for SIT and UAT.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5097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00" b="1" i="0">
                <a:solidFill>
                  <a:srgbClr val="004EA8"/>
                </a:solidFill>
                <a:latin typeface="Arial"/>
              </a:rPr>
              <a:t>After sign-off: readiness checklist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2540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i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457200"/>
            <a:ext cx="1645920" cy="335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C2C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900" b="0" i="0">
                <a:solidFill>
                  <a:srgbClr val="656565"/>
                </a:solidFill>
                <a:latin typeface="Arial"/>
              </a:rPr>
              <a:t>Confidential – BDOI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 i="0">
                <a:solidFill>
                  <a:srgbClr val="656565"/>
                </a:solidFill>
                <a:latin typeface="Arial"/>
              </a:rPr>
              <a:t>Sign-off Pack Guide BRD-1 New Business | v2.1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56565"/>
                </a:solidFill>
                <a:latin typeface="Arial"/>
              </a:rPr>
              <a:t>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109441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004EA8"/>
                </a:solidFill>
                <a:latin typeface="Arial"/>
              </a:rPr>
              <a:t>•  </a:t>
            </a:r>
            <a:r>
              <a:rPr sz="1600">
                <a:solidFill>
                  <a:srgbClr val="4B4B4B"/>
                </a:solidFill>
                <a:latin typeface="Arial"/>
              </a:rPr>
              <a:t>☐  Signed FRS, sign-off workbook and screens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04EA8"/>
                </a:solidFill>
                <a:latin typeface="Arial"/>
              </a:rPr>
              <a:t>•  </a:t>
            </a:r>
            <a:r>
              <a:rPr sz="1600">
                <a:solidFill>
                  <a:srgbClr val="4B4B4B"/>
                </a:solidFill>
                <a:latin typeface="Arial"/>
              </a:rPr>
              <a:t>☐  Open questions closed or accepted as assumptions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04EA8"/>
                </a:solidFill>
                <a:latin typeface="Arial"/>
              </a:rPr>
              <a:t>•  </a:t>
            </a:r>
            <a:r>
              <a:rPr sz="1600">
                <a:solidFill>
                  <a:srgbClr val="4B4B4B"/>
                </a:solidFill>
                <a:latin typeface="Arial"/>
              </a:rPr>
              <a:t>☐  Configuration inputs from the business: lists of values, parameters, document templates, products, users and roles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04EA8"/>
                </a:solidFill>
                <a:latin typeface="Arial"/>
              </a:rPr>
              <a:t>•  </a:t>
            </a:r>
            <a:r>
              <a:rPr sz="1600">
                <a:solidFill>
                  <a:srgbClr val="4B4B4B"/>
                </a:solidFill>
                <a:latin typeface="Arial"/>
              </a:rPr>
              <a:t>☐  Agreed test plan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04EA8"/>
                </a:solidFill>
                <a:latin typeface="Arial"/>
              </a:rPr>
              <a:t>•  </a:t>
            </a:r>
            <a:r>
              <a:rPr sz="1600">
                <a:solidFill>
                  <a:srgbClr val="4B4B4B"/>
                </a:solidFill>
                <a:latin typeface="Arial"/>
              </a:rPr>
              <a:t>☐  Migration mapping of the New Business objects signed (BRD-13)</a:t>
            </a:r>
          </a:p>
          <a:p>
            <a:pPr lvl="1">
              <a:spcAft>
                <a:spcPts val="600"/>
              </a:spcAft>
            </a:pPr>
            <a:r>
              <a:rPr sz="1400">
                <a:solidFill>
                  <a:srgbClr val="656565"/>
                </a:solidFill>
                <a:latin typeface="Arial"/>
              </a:rPr>
              <a:t>–  </a:t>
            </a:r>
            <a:r>
              <a:rPr sz="1400">
                <a:solidFill>
                  <a:srgbClr val="4B4B4B"/>
                </a:solidFill>
                <a:latin typeface="Arial"/>
              </a:rPr>
              <a:t>After sign-off the content is frozen as signed and the approved deltas are scheduled.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5097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00" b="1" i="0">
                <a:solidFill>
                  <a:srgbClr val="004EA8"/>
                </a:solidFill>
                <a:latin typeface="Arial"/>
              </a:rPr>
              <a:t>Change control after sign-off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2540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i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457200"/>
            <a:ext cx="1645920" cy="335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C2C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900" b="0" i="0">
                <a:solidFill>
                  <a:srgbClr val="656565"/>
                </a:solidFill>
                <a:latin typeface="Arial"/>
              </a:rPr>
              <a:t>Confidential – BDOI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 i="0">
                <a:solidFill>
                  <a:srgbClr val="656565"/>
                </a:solidFill>
                <a:latin typeface="Arial"/>
              </a:rPr>
              <a:t>Sign-off Pack Guide BRD-1 New Business | v2.1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56565"/>
                </a:solidFill>
                <a:latin typeface="Arial"/>
              </a:rPr>
              <a:t>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109441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004EA8"/>
                </a:solidFill>
                <a:latin typeface="Arial"/>
              </a:rPr>
              <a:t>•  </a:t>
            </a:r>
            <a:r>
              <a:rPr sz="1800">
                <a:solidFill>
                  <a:srgbClr val="4B4B4B"/>
                </a:solidFill>
                <a:latin typeface="Arial"/>
              </a:rPr>
              <a:t>A change to anything frozen is raised in the Change Management Register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656565"/>
                </a:solidFill>
                <a:latin typeface="Arial"/>
              </a:rPr>
              <a:t>–  </a:t>
            </a:r>
            <a:r>
              <a:rPr sz="1600">
                <a:solidFill>
                  <a:srgbClr val="4B4B4B"/>
                </a:solidFill>
                <a:latin typeface="Arial"/>
              </a:rPr>
              <a:t>The screen, field, rule or message concerned, the reason and the priority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04EA8"/>
                </a:solidFill>
                <a:latin typeface="Arial"/>
              </a:rPr>
              <a:t>•  </a:t>
            </a:r>
            <a:r>
              <a:rPr sz="1800">
                <a:solidFill>
                  <a:srgbClr val="4B4B4B"/>
                </a:solidFill>
                <a:latin typeface="Arial"/>
              </a:rPr>
              <a:t>The project team assesses the mandays and the effect on the other BRDs through the cross-BRD contract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04EA8"/>
                </a:solidFill>
                <a:latin typeface="Arial"/>
              </a:rPr>
              <a:t>•  </a:t>
            </a:r>
            <a:r>
              <a:rPr sz="1800">
                <a:solidFill>
                  <a:srgbClr val="4B4B4B"/>
                </a:solidFill>
                <a:latin typeface="Arial"/>
              </a:rPr>
              <a:t>The owners of every BRD concerned approve it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04EA8"/>
                </a:solidFill>
                <a:latin typeface="Arial"/>
              </a:rPr>
              <a:t>•  </a:t>
            </a:r>
            <a:r>
              <a:rPr sz="1800">
                <a:solidFill>
                  <a:srgbClr val="4B4B4B"/>
                </a:solidFill>
                <a:latin typeface="Arial"/>
              </a:rPr>
              <a:t>Delivered as a new version of the set (v2.1, v2.2...) with the changed pages signed again (delta sign-off)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04EA8"/>
                </a:solidFill>
                <a:latin typeface="Arial"/>
              </a:rPr>
              <a:t>•  </a:t>
            </a:r>
            <a:r>
              <a:rPr sz="1800">
                <a:solidFill>
                  <a:srgbClr val="4B4B4B"/>
                </a:solidFill>
                <a:latin typeface="Arial"/>
              </a:rPr>
              <a:t>Configuration values marked default change in BIBS without a change request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5097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00" b="1" i="0">
                <a:solidFill>
                  <a:srgbClr val="004EA8"/>
                </a:solidFill>
                <a:latin typeface="Arial"/>
              </a:rPr>
              <a:t>Governance, contacts and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2540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i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457200"/>
            <a:ext cx="1645920" cy="335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C2C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900" b="0" i="0">
                <a:solidFill>
                  <a:srgbClr val="656565"/>
                </a:solidFill>
                <a:latin typeface="Arial"/>
              </a:rPr>
              <a:t>Confidential – BDOI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 i="0">
                <a:solidFill>
                  <a:srgbClr val="656565"/>
                </a:solidFill>
                <a:latin typeface="Arial"/>
              </a:rPr>
              <a:t>Sign-off Pack Guide BRD-1 New Business | v2.1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56565"/>
                </a:solidFill>
                <a:latin typeface="Arial"/>
              </a:rPr>
              <a:t>24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371600"/>
          <a:ext cx="11094414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1527"/>
                <a:gridCol w="3698138"/>
                <a:gridCol w="4754749"/>
              </a:tblGrid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Role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Who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Does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Business owner and approver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BDOI Product Owner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Accountable for the sign-off; chairs the sign-off meeting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Input provider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Marketing Business Services and System Support (MBS); TSU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Coordinates the units' review; signs for the business input (BRD approval sheet: input)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Reviewers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Marketing, TSU, Processing, Comptrollership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Review their screens and rows; raise comments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Finance, Compliance, BDOI IT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Comptrollership, Compliance, BDOI IT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Comptrollership approves booking and accounting; Compliance reviews KYC and screening; BDOI IT reviews interfaces, access and the Technical Specification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BRD owner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Business Project Services, BDO Unibank ESG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Business Analyst: the BRD as written; Program Manager: traceability and completeness; sign-off coordination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Delivery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iorta TechNXT Project Manager, Business Analysis, test lead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Sessions, answers, comments log, revisions, change requests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5097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00" b="1" i="0">
                <a:solidFill>
                  <a:srgbClr val="004EA8"/>
                </a:solidFill>
                <a:latin typeface="Arial"/>
              </a:rPr>
              <a:t>Next steps and the release order of the other BRD sets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2540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i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457200"/>
            <a:ext cx="1645920" cy="335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C2C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900" b="0" i="0">
                <a:solidFill>
                  <a:srgbClr val="656565"/>
                </a:solidFill>
                <a:latin typeface="Arial"/>
              </a:rPr>
              <a:t>Confidential – BDOI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 i="0">
                <a:solidFill>
                  <a:srgbClr val="656565"/>
                </a:solidFill>
                <a:latin typeface="Arial"/>
              </a:rPr>
              <a:t>Sign-off Pack Guide BRD-1 New Business | v2.1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56565"/>
                </a:solidFill>
                <a:latin typeface="Arial"/>
              </a:rPr>
              <a:t>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109441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004EA8"/>
                </a:solidFill>
                <a:latin typeface="Arial"/>
              </a:rPr>
              <a:t>•  </a:t>
            </a:r>
            <a:r>
              <a:rPr sz="1600">
                <a:solidFill>
                  <a:srgbClr val="4B4B4B"/>
                </a:solidFill>
                <a:latin typeface="Arial"/>
              </a:rPr>
              <a:t>Kick-off and first SIT walkthrough on Thu 1-Oct-2026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04EA8"/>
                </a:solidFill>
                <a:latin typeface="Arial"/>
              </a:rPr>
              <a:t>•  </a:t>
            </a:r>
            <a:r>
              <a:rPr sz="1600">
                <a:solidFill>
                  <a:srgbClr val="4B4B4B"/>
                </a:solidFill>
                <a:latin typeface="Arial"/>
              </a:rPr>
              <a:t>Workbooks returned by Fri 16-Oct-2026; Q&amp;A on Wed 21-Oct-2026; sign-off on Fri 30-Oct-2026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04EA8"/>
                </a:solidFill>
                <a:latin typeface="Arial"/>
              </a:rPr>
              <a:t>•  </a:t>
            </a:r>
            <a:r>
              <a:rPr sz="1600">
                <a:solidFill>
                  <a:srgbClr val="4B4B4B"/>
                </a:solidFill>
                <a:latin typeface="Arial"/>
              </a:rPr>
              <a:t>Next release sets: BRD-3 Product Maintenance and BRD-11 User Access (Nov 2026), then BRD-10, 12, 6, 9, then BRD-2, 4, 5, then BRD-13, then BRD-7 and BRD-8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Sign-off Pack Guide BRD-1 New Business</dc:title>
  <dc:subject>BIBS – BDOI Broker System</dc:subject>
  <dc:creator>iorta TechNXT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