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BRD-4 Collections sign-off pack, release set v2.0.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(Thu 1-Oct-2026); sessions scheduled after the BRD-2 Operations walkthroughs.</a:t>
            </a:r>
          </a:p>
          <a:p>
            <a:r>
              <a:t>2. Kick-off and screen walkthrough on SIT: 3 sessions, 23 to 25-Nov-2026.</a:t>
            </a:r>
          </a:p>
          <a:p>
            <a:r>
              <a:t>3. Review with the workbook: 10 working days after the walkthroughs, until Wed 9-Dec-2026.</a:t>
            </a:r>
          </a:p>
          <a:p>
            <a:r>
              <a:t>4. Comments consolidated and a Q&amp;A session: 3 working days, Q&amp;A on Mon 14-Dec-2026.</a:t>
            </a:r>
          </a:p>
          <a:p>
            <a:r>
              <a:t>5. One revision cycle (v2.1): 2 working days, v2.1 on Wed 16-Dec-2026; check by the reviewers until Fri 18-Dec-2026.</a:t>
            </a:r>
          </a:p>
          <a:p>
            <a:r>
              <a:t>6. Sign-off meeting and signature: Tue 22-Dec-2026.</a:t>
            </a:r>
          </a:p>
          <a:p>
            <a:r>
              <a:t>7. Content freeze: From Wed 23-Dec-2026.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(Collections BRD approval sheets: CMS BRD p.93-94 (Prepared, Reviewed, Validated, Approved by), renumbering addendum p.34 and Collections Addendum p.22).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(Collections BRD approval sheets: CMS BRD p.93-94 (Prepared, Reviewed, Validated, Approved by), renumbering addendum p.34 and Collections Addendum p.22).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 (Zean C. Ibay): Prepared by (p.93 and p.34).</a:t>
            </a:r>
          </a:p>
          <a:p>
            <a:r>
              <a:t>Collections and Marketing Support, HO Marketing Support BBG, Operations, Marketing and Business Services, Marketing - Head Office, Marketing Business Services and System Support (Pia Grace M. Pinili, Maria Victoria Evangelista, Grace Tordesillas, Ma. Fides E. Rivera, Arra R. Rivera, Rhommel Mark Galler): Reviewed by (p.93, p.34, p.22); Input Provider in the intended audience (p.37).</a:t>
            </a:r>
          </a:p>
          <a:p>
            <a:r>
              <a:t>Operations: Financial Transactions and Processing (Perjelyn Joy Gutierrez): Reviewed by (p.93); Input Provider (p.37).</a:t>
            </a:r>
          </a:p>
          <a:p>
            <a:r>
              <a:t>VP and Head, BDOI Operations (John Benedict S. Santos): Reviewed by, with the caveat on exports (p.93).</a:t>
            </a:r>
          </a:p>
          <a:p>
            <a:r>
              <a:t>BDOI Information Technology Group: IT Core Business Delivery (Reynaldo Valera Jr.) and IT AIO Core Business Delivery - Insurance (Wynonah Allyssa D. Agojo): Validated by and Prepared by (p.93-94); Reviewed by (p.34).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Program Manager, Enterprise Services Group - Business Project Services (BPS) (Dan Ace Cauton): Validated by (p.94); Approved by (p.34); Reviewed by (p.22).</a:t>
            </a:r>
          </a:p>
          <a:p>
            <a:r>
              <a:t>Product Owner, AVP (Shellah Marie C. Miranda): Approved by (p.94, p.34, p.22).</a:t>
            </a:r>
          </a:p>
          <a:p>
            <a:r>
              <a:t>Product Owner, AVP (Jose Melvin Jarin): Approved by (p.22).</a:t>
            </a:r>
          </a:p>
          <a:p>
            <a:r>
              <a:t>Unit Head - Combank and Corbank (Mark Joseph C. Makalintal) and Heads of Retail Marketing (Edmundante F. Ramirez, Roderick Lim): Approved by (p.22).</a:t>
            </a:r>
          </a:p>
          <a:p>
            <a:r>
              <a:t>Head - Comptrollership, VP (Ronald Allan E. De Leon): Approved by (p.22).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 The menus of 1 more personas of the other BRDs are there too, one table and one sheet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A change to anything in this contract is raised in the Change Management Register and assessed with the owners of the other BRD: Collections reads the Operations invoice ledger and hands its work to Cashiering, Commission Receivables and Adjustment, so a change of a disposition with an Operations action, of a request type or of a balance component changes what Operations receives and is signed by both owners as a delta.</a:t>
            </a:r>
          </a:p>
          <a:p>
            <a:r>
              <a:t>IC-01 BRD-2 Operations (invoice ledger) (In): Every booked invoice with its premium receivable by component, PR2307, payment and remittance status, direct payment and CWT flags, holds, pending negative adjustments and the team that locks it</a:t>
            </a:r>
          </a:p>
          <a:p>
            <a:r>
              <a:t>IC-02 BRD-1 New Business (In): The account, client, policy, insurer shares, account officer, market segment and sales unit of each booked invoice</a:t>
            </a:r>
          </a:p>
          <a:p>
            <a:r>
              <a:t>IC-03 BRD-2 Operations (Cashiering) (Out): A check pick-up request (pick-up date, address, contact, check amount, number and bank) from the disposition For check pick-up</a:t>
            </a:r>
          </a:p>
          <a:p>
            <a:r>
              <a:t>IC-04 BRD-2 Operations (Cashiering) (Out): A BIR 2307 tag (path, certificate number and period, 2% amount) from the disposition PR 2307 for reversal</a:t>
            </a:r>
          </a:p>
          <a:p>
            <a:r>
              <a:t>IC-05 BRD-2 Operations (Commission Receivables) (Out): A direct payment account from the disposition DP PR for reversal, for the direct payment list of Commission Receivables</a:t>
            </a:r>
          </a:p>
          <a:p>
            <a:r>
              <a:t>IC-06 BRD-2 Operations (Commission Receivables) (In): A direct payment account returned by the insurer</a:t>
            </a:r>
          </a:p>
          <a:p>
            <a:r>
              <a:t>IC-07 BRD-2 Operations (Cashiering) (In): The unapplied payments of Cashiering with their payment, matched account, Cashiering tab and status</a:t>
            </a:r>
          </a:p>
          <a:p>
            <a:r>
              <a:t>IC-08 BRD-2 Operations (Cashiering) (Out): A request on an unapplied payment (apply to an invoice, refund, reclass, transfer to another unit) from a collector disposition, and the answer of Cashiering (accepted, rejected, applied)</a:t>
            </a:r>
          </a:p>
          <a:p>
            <a:r>
              <a:t>IC-09 BRD-2 Operations (Adjustment) (Out): The cancellation of an account the client will not pay (disposition Cancel account)</a:t>
            </a:r>
          </a:p>
          <a:p>
            <a:r>
              <a:t>IC-10 BRD-3 Product Maintenance (sales organisation) (In): Market segments, sales units and their Unit Heads</a:t>
            </a:r>
          </a:p>
          <a:p>
            <a:r>
              <a:t>IC-11 BRD-11 User Access Maintenance (In): Users, roles and the Collections permissions; the handlers that may receive accounts and escalations</a:t>
            </a:r>
          </a:p>
          <a:p>
            <a:r>
              <a:t>IC-12 BRD-13 Data Migration (In): Legacy invoices open at cut-over and the collection follow-up carried from legacy (disposition, promises, installments, collector)</a:t>
            </a:r>
          </a:p>
          <a:p>
            <a:r>
              <a:t>IC-13 Client (e-mail) (Out): The statement of account of a billing cycle, password protected, and its password in a separate e-mail</a:t>
            </a:r>
          </a:p>
          <a:p>
            <a:r>
              <a:t>IC-14 BDOI file server (FS04) (Out): The daily For Application To Invoice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Mon 23-Nov-2026</a:t>
            </a:r>
          </a:p>
          <a:p>
            <a:r>
              <a:t>Workbooks returned by Wed 9-Dec-2026; Q&amp;A on Mon 14-Dec-2026; sign-off on Tue 22-Dec-2026</a:t>
            </a:r>
          </a:p>
          <a:p>
            <a:r>
              <a:t>BRD-5 Accounting, Disbursement and ACSL follows in the same window;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BRD-4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BRD-4 Collections business sign-off pack, release set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2.0 | 1 October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Collections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19 screens, 152 fields, 52 business rules, 148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00_BIBS_StartHere_BRD-04_Collections_v2.0.docx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01_BIBS_GuideDeck_BRD-04_Collections_v2.0.pptx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 and impacts on other modules,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and section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02_BIBS_FRS_BRD-04_Collections_v2.0.docx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v2.0: requirements, navigation, 19 screen specifications with screenshots, five walkthroughs, messages, notifications, documents, upload template, cross-BRD contract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handlers and team leads, Marketing AOs and unit heads; Cashiering, Commission Receivables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03_BIBS_Signoff_BRD-04_Collections_v2.0.xlsx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04_BIBS_TestPlan_BRD-04_Collections_v2.0.xlsx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05_BIBS_TestPlan_BRD-04_Collections_Summary_v2.0.docx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07_BIBS_UXDeck_BRD-04_Collections_v2.0.pptx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08_BIBS_UXScreens_BRD-04_Collections_v2.0.xlsx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09_BIBS_UXScreens_BRD-04_Collections_v2.0.zip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(PNG), the component crops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Owners; Marketing unit and section heads)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 and 21 (proposed rules for confirmation);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Handlers and Collection Team Leads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sections 4.2 to 4.7; the screens of chapter 13 (SCR-CL-01 to 13); walkthroughs A, B and D; messages in chapter 15; the statement of account DO-01 in chapter 17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Officers, Handlers and Team Leads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 Worklist, Collection Account and Client View (SCR-CL-02 to 04); escalations (SCR-CL-11, 12); walkthroughs A, B and E; the Collections Bulk Update template in chapter 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Unapplied Payment Handlers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 4.8; Unapplied Payments, Unapplied Payment and Requests to Cashiering (SCR-CL-14 to 16); walkthrough C; document DO-05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Section Heads and set-up users (Business Administrator)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Assignments, Collections Files and Collections Setup (SCR-CL-17 to 19); Escalation Rules (SCR-CL-13); configuration in chapter 9; the files DO-02 to DO-04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Operations: Cashiering and Commission Receivables (BRD-2)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hand-offs and requests (FRS sections 4.4 and 4.8, chapter 19); walkthroughs A (step 6) and C (step 3); the DP PR and PR 2307 for Reversal files; FRS section 4.10 for the commission receivable gate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 4.10 (commission receivable and incentives, rows FR-CL-090 to 094) and the proposed rules of chapter 21 on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configuration and jobs (chapter 9), cross-BRD contract (chapter 19); the Technical Specification, reviewed by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v2.0 in the BRD-04 folder;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(Thu 1-Oct-2026); sessions scheduled after the BRD-2 Operations walkthroughs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 (worklist and account, promises and escalations, unapplied payments, plans and billing, set-up);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sessions, 23 to 25-Nov-2026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Wed 9-Dec-2026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Mon 14-Dec-2026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v2.1 on Wed 16-Dec-2026; check by the reviewers until Fri 18-Dec-2026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Tue 22-Dec-2026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Wed 23-Dec-2026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v2.0, workbook, test plan, guide and deck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v2.0 in the BRD-04 folder;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(Thu 1-Oct-2026); sessions scheduled after the BRD-2 Operations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Collections and Marketing Support, Marketing unit heads; I: Operations,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 to 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 (worklist and account, promises and escalations, unapplied payments, plans and billing, set-up);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sessions, 23 to 25-Nov-2026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Collection handlers and team leads, Marketing AOs and unit heads; A: Collections and Marketing Support;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Wed 9-Dec-2026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Mon 14-Dec-2026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v2.1 on Wed 16-Dec-2026; check by the reviewers until Fri 18-Dec-2026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Marketing heads, Operations Head, Comptrollership,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v2.1 (or v2.0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Tue 22-Dec-2026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Wed 23-Dec-2026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Documents, files and reports (statement of account, worklist and reversal files, application file,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heads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gate and the draft rows on incentives (FR-CL-090 to 094)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TechNXT, BA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Scheduled runs and files, hand-offs inside BIBS,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UX screen deck, UX screen register and image package (07 to 09, for the BDOI UX Design team; the screens as specified in this set)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(Zean C. Ibay)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and Marketing Support, HO Marketing Support BBG, Operations, Marketing and Business Services, Marketing - Head Office, Marketing Business Services and System Support (Pia Grace M. Pinili, Maria Victoria Evangelista, Grace Tordesillas, Ma. Fides E. Rivera, Arra R. Rivera, Rhommel Mark Galler)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worklist, collection account, disposition, promise, installment, escalation, billing statement and unapplied payment screens, fields, rules and messages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 (Perjelyn Joy Gutierrez)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hand-offs to Cashiering and Commission Receivables, the requests on unapplied payments and the reversal files match what Operations carries out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VP and Head, BDOI Operations (John Benedict S. Santos)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Collections process with Operations and the caveat of p.93: exports and downloads run in the background and do not slow the system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Group: IT Core Business Delivery (Reynaldo Valera Jr.) and IT AIO Core Business Delivery - Insurance (Wynonah Allyssa D. Agojo)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Scheduled runs and files, user access and menus, the hand-offs inside BIBS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(Dan Ace Cauton) (BDO Unibank ESG)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(Shellah Marie C. Miranda)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(Jose Melvin Jarin)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addendum functions: escalation, bulk update, reassignment, installments, promises, billing statements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Combank and Corbank (Mark Joseph C. Makalintal) and Heads of Retail Marketing (Edmundante F. Ramirez, Roderick Lim)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collector screens, rules and messages for the Corporate, Commercial and Retail Marketing units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Comptrollership, VP (Ronald Allan E. De Leon)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commission receivable gate and the draft rows on incentives, commission refunds and mixed payments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2157342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brd04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920" y="1325880"/>
            <a:ext cx="7199854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BRD-4 process from the client to the booked invoice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Team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Team Lead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Section Head (Corporate / Retail)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clxuh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Unapplied Payment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upphandler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 Unit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 (read access and exports)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 (read access and exports)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 (read access)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wt-a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195" y="1325880"/>
            <a:ext cx="2822937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PR Worklist: the outstanding accounts of the handler</a:t>
            </a:r>
          </a:p>
        </p:txBody>
      </p:sp>
      <p:pic>
        <p:nvPicPr>
          <p:cNvPr id="11" name="Picture 10" descr="wt-a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817" y="1325880"/>
            <a:ext cx="2716426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Collection account with the disposition handed to Cashiering</a:t>
            </a:r>
          </a:p>
        </p:txBody>
      </p:sp>
      <p:pic>
        <p:nvPicPr>
          <p:cNvPr id="13" name="Picture 12" descr="wt-b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26" y="356616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An escalation in action with the team lead</a:t>
            </a:r>
          </a:p>
        </p:txBody>
      </p:sp>
      <p:pic>
        <p:nvPicPr>
          <p:cNvPr id="15" name="Picture 14" descr="wt-c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305" y="3566160"/>
            <a:ext cx="3657451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An unapplied payment sent to Cashiering for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Every booked invoice with premium receivable above the threshold (10.00 by default) is a collection account, refreshed every night from the Operations invoice ledger; Collections keeps no second copy of the money and posts no accounting entry.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New accounts go to a handler by the assignment rules, else to their account officer; team leads reassign accounts permanently or until an end date.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disposition with an Operations action is handed over inside BIBS: check pick-up and BIR 2307 tags to Cashiering, direct payment accounts to Commission Receivables; some dispositions are reserved to some roles.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Promises to pay are checked every night against the payments applied; a broken promise notifies the collector and escalates the account.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Escalation rules (aging, no commitment, broken promises, overdue installments, amount) escalate accounts every night; a new or changed rule applies only once another user authorizes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request on an unapplied payment is carried out by Cashiering with its own approvals; For Application to Invoice needs a valid invoice number of the ledger.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Updating several accounts at once needs the bulk update permission; an account opened by one user is locked to the others for the edit-lock time.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Files and exports run in the background and are published with the time from which they may be downloaded.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52 rules on the Business rules sheet and 148 messages in FRS chapter 15 and on the Messages sheet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pic>
        <p:nvPicPr>
          <p:cNvPr id="9" name="Picture 8" descr="brd04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47" y="1325880"/>
            <a:ext cx="10019600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Collections takes from and hands to the other BRDs and systems (FRS chapter 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 reads the Operations invoice ledger (BRD-2) and hands its work to Cashiering, Commission Receivables and Adjustment. A change of a Collections disposition or request can change what Operations receives.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Each change is assessed against the cross-BRD contract (FRS chapter 19); when it touches another set, a delta sign-off of the affected pages of both sets.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(booking), Operations (balances, payment application, requests), Product Maintenance (sales organisation), User Access (roles) and Data Migration (legacy follow-up) can change what Collections shows.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Lists of values still to confirm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PR and unapplied payment dispositions, the effort codes and the escalation defaults carry provisional values marked to confirm (CQ08, CQ14).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gives its lists; they are loaded as configuration on the Lists of Values and Collections Setup screens, without a change request.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rows in draft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rows on incentives, commission refunds and mixed payments (FR-CL-091 to 094) come from the draft addendum only (CQ01).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as proposed rules; confirmed or changed when BDOI signs the addendum.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transfer of the daily application file to the file server FS04 and the Marketing Diary kept in ISYS depend on BDOI IT (OQ17, CQ20).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download from Collections Files until the transfer is specified; the automatic transfer is then a change request. The technical detail is in the Technical Specification, reviewed by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follow the assumptions of section 10.1; chapter 21 lists the proposed rules and clarifications for confirmation.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 of values,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bank AO on the PR Worklist: a new column, so a change request; asking which accounts the Credit Balances tab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new disposition that hands accounts to Adjustment needs a new hand-off in Operations: both owners confirm the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Operations changes the payment application hierarchy: the outstanding by component on the collection account changes and is signed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Lists of values still to confirm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adds the disposition For legal follow-up with category C and Marketing as owner: a list value and its attributes.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rows in draft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If BDOI drops automatic incentive billing, FR-CL-092 is removed in v2.1 without affecting the rest of the set.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application file is downloaded each morning and copied to FS04 by Cashiering until the transfer is agreed.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minimal balance threshold is 10.00 until BDOI confirms it (CQ03); the answer is a parameter value.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BRD-2 Operations walkthroughs are held (the invoice ledger and the Cashiering screens are the input and the output of Collections).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team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v2.1,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Collections BRD approval sheets;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the PR and unapplied payment dispositions with their category, owner, Operations action and reserved roles, effort codes, escalation reasons and rules, billing frequencies, the threshold, aging brackets and edit-lock time, the assignment rules and the Unit Heads, the statement of account wording,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open collection follow-up (dispositions, promises, installments, collectors)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Shellah Marie C. Miranda, AVP,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Approvers of the addendum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Jose Melvin Jarin, AVP, Product Owner; Mark Joseph C. Makalintal, Unit Head - Combank and Corbank; Edmundante F. Ramirez and Roderick Lim, Retail Marketing; Ronald Allan E. De Leon, Head -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 the addendum functions and the commission receivable rows for their units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John Benedict S. Santos, VP and Head, BDOI Operations; Collections and Marketing Support (Pia Grace M. Pinili, Maria Victoria Evangelista), HO Marketing Support BBG (Grace Tordesillas), Marketing (Ma. Fides E. Rivera, Arra R. Rivera, Rhommel Mark Galler), Operations FT&amp;P (Perjelyn Joy Gutierrez)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IT Core Business Delivery (Reynaldo Valera Jr.) and IT AIO Core Business Delivery - Insurance (Wynonah Allyssa D. Agojo)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Reviews the scheduled runs, files,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Dan Ace Cauton, Program Manager, and Zean C. Ibay, Business Analyst, ESG-BPS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Traceability to the BRD; sign-off coordination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Mon 23-Nov-2026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Wed 9-Dec-2026; Q&amp;A on Mon 14-Dec-2026; sign-off on Tue 22-Dec-2026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BRD-5 Accounting, Disbursement and ACSL follows in the same window;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BRD-4 Collections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