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guides the business units through the BRD-4 Collections sign-off pack, release set v2.1. It explains what the pack is, how to read it, the steps up to sign-off and what happens after. It is presented at the kick-off and stays in the pack as file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pack shows the screens, fields, rules and messages the business is asked to confirm.</a:t>
            </a:r>
          </a:p>
          <a:p>
            <a:r>
              <a:t>Signing means: this is what we get; the look, feel, fields, rules, messages and navigation are frozen.</a:t>
            </a:r>
          </a:p>
          <a:p>
            <a:r>
              <a:t>Data on the screenshots is seed data of the SIT environment; names and numbers are fictitious.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files are numbered in reading order so they sort that way in the BRD folder. 00 Start Here is the short version of this deck; 02 FRS and 03 workbook carry the same rows; 04 and 05 are the test plan traced to the screens; 07 to 09 are the UX screen documents for the BDOI UX Design team, taken from the same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needs to read the whole FRS. Each role starts with its chapters and its sheets of the workbook; the walkthroughs in chapter 14 are the fastest way to see the whole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Pack issued: Day 0 (Thu 8-Oct-2026); sessions scheduled after the BRD-2 Operations walkthroughs.</a:t>
            </a:r>
          </a:p>
          <a:p>
            <a:r>
              <a:t>2. Kick-off and screen walkthrough on SIT: 3 sessions, 23 to 25-Nov-2026.</a:t>
            </a:r>
          </a:p>
          <a:p>
            <a:r>
              <a:t>3. Review with the workbook: 10 working days after the walkthroughs, until Wed 9-Dec-2026.</a:t>
            </a:r>
          </a:p>
          <a:p>
            <a:r>
              <a:t>4. Comments consolidated and a Q&amp;A session: 3 working days, Q&amp;A on Mon 14-Dec-2026.</a:t>
            </a:r>
          </a:p>
          <a:p>
            <a:r>
              <a:t>5. One revision cycle (v2.2): 2 working days, v2.2 on Wed 16-Dec-2026; check by the reviewers until Fri 18-Dec-2026.</a:t>
            </a:r>
          </a:p>
          <a:p>
            <a:r>
              <a:t>6. Sign-off meeting and signature: Tue 22-Dec-2026.</a:t>
            </a:r>
          </a:p>
          <a:p>
            <a:r>
              <a:t>7. Content freeze: From Wed 23-Dec-2026.</a:t>
            </a:r>
          </a:p>
          <a:p>
            <a:r>
              <a:t>8. Traceability into SIT and UAT: SIT Jan - Jul 2027; UAT Aug - Dec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responsible, A accountable, C consulted, I informed. The durations are indicative; the dates are those of the Start Here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(Collections BRD approval sheets: CMS BRD p.95-96 (Prepared, Reviewed, Validated, Approved by), renumbering addendum p.36 and Collections Addendum p.24).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holds business content only: screens, fields, rules, messages, notifications, documents, walkthroughs and reports. Business users sign the business content; BDOI IT reviews the interfaces, the user access and the Technical Specification, a separate document that holds the technical content; the Program Manager of Business Project Services reviews the traceability and the completeness; the Product Owner approves the whole set; iorta TechNXT prepares it.</a:t>
            </a:r>
          </a:p>
          <a:p>
            <a:r>
              <a:t>The roles are those of the BRD approval sheet (Collections BRD approval sheets: CMS BRD p.95-96 (Prepared, Reviewed, Validated, Approved by), renumbering addendum p.36 and Collections Addendum p.24).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iorta TechNXT project team: Project Manager, Business Analysis, test lead: Added for this set (author of the FRS set).</a:t>
            </a:r>
          </a:p>
          <a:p>
            <a:r>
              <a:t>Business Analyst, Enterprise Services Group - Business Project Services (BPS) (Zean C. Ibay): Prepared by (p.95 and p.36).</a:t>
            </a:r>
          </a:p>
          <a:p>
            <a:r>
              <a:t>Collections and Marketing Support, HO Marketing Support BBG, Operations, Marketing and Business Services, Marketing - Head Office, Marketing Business Services and System Support (Pia Grace M. Pinili, Maria Victoria Evangelista, Grace Tordesillas, Ma. Fides E. Rivera, Arra R. Rivera, Rhommel Mark Galler): Reviewed by (p.95, p.36, p.24); Input Provider in the intended audience (p.39).</a:t>
            </a:r>
          </a:p>
          <a:p>
            <a:r>
              <a:t>Operations: Financial Transactions and Processing (Perjelyn Joy Gutierrez): Reviewed by (p.95); Input Provider (p.39).</a:t>
            </a:r>
          </a:p>
          <a:p>
            <a:r>
              <a:t>VP and Head, BDOI Operations (John Benedict S. Santos): Reviewed by, with the caveat on exports (p.95).</a:t>
            </a:r>
          </a:p>
          <a:p>
            <a:r>
              <a:t>BDOI Information Technology Group: IT Core Business Delivery (Reynaldo Valera Jr.) and IT AIO Core Business Delivery - Insurance (Wynonah Allyssa D. Agojo): Validated by and Prepared by (p.95-96); Reviewed by (p.36).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certificate sheet of the workbook lists the same signatories in the same order: prepared by, input provided by, reviewed by, approved by, as on the BRD approval sheet. A role the set adds to the approval sheet is marked there.</a:t>
            </a:r>
          </a:p>
          <a:p>
            <a:r>
              <a:t>Program Manager, Enterprise Services Group - Business Project Services (BPS) (Dan Ace Cauton): Validated by (p.96); Approved by (p.36); Reviewed by (p.24).</a:t>
            </a:r>
          </a:p>
          <a:p>
            <a:r>
              <a:t>Product Owner, AVP (Shellah Marie C. Miranda): Approved by (p.96, p.36, p.24).</a:t>
            </a:r>
          </a:p>
          <a:p>
            <a:r>
              <a:t>Product Owner, AVP (Jose Melvin Jarin): Approved by (p.24).</a:t>
            </a:r>
          </a:p>
          <a:p>
            <a:r>
              <a:t>Unit Head - Combank and Corbank (Mark Joseph C. Makalintal) and Heads of Retail Marketing (Edmundante F. Ramirez, Roderick Lim): Approved by (p.24).</a:t>
            </a:r>
          </a:p>
          <a:p>
            <a:r>
              <a:t>Head - Comptrollership, VP (Ronald Allan E. De Leon): Approved by (p.24).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No. column is the numbered marker on the screenshot of the FRS, or the column number of a load template. The drop-down columns accept only the listed values. The Comments log, Meeting minutes and Version history sheets are kept by the project team; the Sign-off certificate is signed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runs from client onboarding and KYC, through the quotation or the PRF, the account, payment and placement, issuance and booking, to the hand-off to Operations and Accounting.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persona sees only the menu entries of its role; the full menu of each persona is in FRS chapter 12 and on the Menu by persona sheet of the workbook. The menus of 2 more personas of the other BRDs are there too, one table and one sheet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of the SIT environment with seed data; every screen of the module is in FRS chapter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rules the business units ask about most. Each rule is stated with its FR on the screen where it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contract is part of the signed set. A change to anything in this contract is raised in the Change Management Register and assessed with the owners of the other BRD: Collections reads the Operations invoice ledger and hands its work to Cashiering, Commission Receivables and Adjustment, so a change of a disposition with an Operations action, of a request type or of a balance component changes what Operations receives and is signed by both owners as a delta.</a:t>
            </a:r>
          </a:p>
          <a:p>
            <a:r>
              <a:t>IC-01 BRD-2 Operations (invoice ledger) (In): Every booked invoice with its premium receivable by component, PR2307, payment and remittance status, direct payment and CWT flags, holds, pending negative adjustments and the team that locks it</a:t>
            </a:r>
          </a:p>
          <a:p>
            <a:r>
              <a:t>IC-02 BRD-1 New Business (In): The account, client, policy, insurer shares, account officer, market segment and sales unit of each booked invoice</a:t>
            </a:r>
          </a:p>
          <a:p>
            <a:r>
              <a:t>IC-04 BRD-2 Operations (Cashiering) (Out): A BIR 2307 tag (path, certificate number and period, 2% amount) from the disposition PR 2307 for reversal</a:t>
            </a:r>
          </a:p>
          <a:p>
            <a:r>
              <a:t>IC-05 BRD-2 Operations (Commission Receivables) (Out): A direct payment account from the disposition DP PR for reversal, for the direct payment list of Commission Receivables</a:t>
            </a:r>
          </a:p>
          <a:p>
            <a:r>
              <a:t>IC-06 BRD-2 Operations (Commission Receivables) (In): A direct payment account returned by the insurer</a:t>
            </a:r>
          </a:p>
          <a:p>
            <a:r>
              <a:t>IC-07 BRD-2 Operations (Cashiering) (In): The unapplied payments of Cashiering with their payment, matched account, Cashiering tab and status</a:t>
            </a:r>
          </a:p>
          <a:p>
            <a:r>
              <a:t>IC-08 BRD-2 Operations (Cashiering) (Out): A request on an unapplied payment (apply to an invoice, refund, reclass, transfer to another unit) from a collector disposition, and the answer of Cashiering (accepted, rejected, applied)</a:t>
            </a:r>
          </a:p>
          <a:p>
            <a:r>
              <a:t>IC-09 BRD-2 Operations (Adjustment) (Out): The cancellation of an account the client will not pay (disposition Cancel account)</a:t>
            </a:r>
          </a:p>
          <a:p>
            <a:r>
              <a:t>IC-10 BRD-3 Product Maintenance (sales organisation) (In): Market segments, sales units and their Unit Heads</a:t>
            </a:r>
          </a:p>
          <a:p>
            <a:r>
              <a:t>IC-11 BRD-11 User Access Maintenance (In): Users, roles and the Collections permissions; the handlers that may receive accounts and escalations</a:t>
            </a:r>
          </a:p>
          <a:p>
            <a:r>
              <a:t>IC-12 BRD-13 Data Migration (In): Legacy invoices open at cut-over and the collection follow-up carried from legacy (disposition, promises, installments, collector)</a:t>
            </a:r>
          </a:p>
          <a:p>
            <a:r>
              <a:t>IC-13 Client (e-mail) (Out): The statement of account of a billing cycle, password protected, and its password in a separate e-mail</a:t>
            </a:r>
          </a:p>
          <a:p>
            <a:r>
              <a:t>IC-14 BDOI file server (FS04) (Out): The daily For Application To Invoice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to handle a case: an in-scope clarification (no change to the signed set, answered in the comments log); a change request with mandays in the Change Management Register; a delta sign-off of the affected pages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examples to agree the handling of a case during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sign-off meeting starts when the exit criteria are met; the set is done when the certificate is signed and the content of the set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sign-off the content is frozen as signed and the approved deltas are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a signed set changes without a request in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steps:</a:t>
            </a:r>
          </a:p>
          <a:p>
            <a:r>
              <a:t>Kick-off and first SIT walkthrough on Mon 23-Nov-2026</a:t>
            </a:r>
          </a:p>
          <a:p>
            <a:r>
              <a:t>Workbooks returned by Wed 9-Dec-2026; Q&amp;A on Mon 14-Dec-2026; sign-off on Tue 22-Dec-2026</a:t>
            </a:r>
          </a:p>
          <a:p>
            <a:r>
              <a:t>BRD-5 Accounting, Disbursement and ACSL follows in the same window; then BRD-13, then BRD-7 and BRD-8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other BRD sets follow the same pack, guide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926080" cy="596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0058400" cy="12801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 i="0">
                <a:solidFill>
                  <a:srgbClr val="004EA8"/>
                </a:solidFill>
                <a:latin typeface="Arial"/>
              </a:rPr>
              <a:t>Sign-off Pack Guide: BRD-4 Collections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11880"/>
            <a:ext cx="2011680" cy="508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 i="0">
                <a:solidFill>
                  <a:srgbClr val="2E2E2E"/>
                </a:solidFill>
                <a:latin typeface="Arial"/>
              </a:rPr>
              <a:t>BRD-4 Collections business sign-off pack, release set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0" i="0">
                <a:solidFill>
                  <a:srgbClr val="656565"/>
                </a:solidFill>
                <a:latin typeface="Arial"/>
              </a:rPr>
              <a:t>BIBS – BDOI Broker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 i="0">
                <a:solidFill>
                  <a:srgbClr val="656565"/>
                </a:solidFill>
                <a:latin typeface="Arial"/>
              </a:rPr>
              <a:t>BDO Insurance and Reinsurance Brokers, Inc. | Version 2.1 | 8 October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1215" y="589788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000" b="0" i="0">
                <a:solidFill>
                  <a:srgbClr val="656565"/>
                </a:solidFill>
                <a:latin typeface="Arial"/>
              </a:rPr>
              <a:t>Prepared by</a:t>
            </a:r>
          </a:p>
        </p:txBody>
      </p:sp>
      <p:pic>
        <p:nvPicPr>
          <p:cNvPr id="9" name="Picture 8" descr="iorta-techn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455" y="5806440"/>
            <a:ext cx="1371600" cy="404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Purpose of the pack and what sign-off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pack shows the proposed Collections of BIBS, screen by screen, so each business unit confirms what it will get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Content: 19 screens, 151 fields, 54 business rules, 146 messages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Every screen with numbered fields, the navigation per persona, three end-to-end walkthroughs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Signing freezes the content, the screens and the navigation of the module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After sign-off a change goes through the Change Management Register with its mandays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Configuration values marked default (SLA hours, thresholds, list entries, templates) stay open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screenshots use fictitious seed data only, in the BDO theme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00_BIBS_StartHere_BRD-04_Collections_v2.1.docx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Start Here: the map of the pack, who reads what, the steps and the dates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First, on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01_BIBS_GuideDeck_BRD-04_Collections_v2.1.pptx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Pack Guide: purpose, approach, the module at a glance, caveats and impacts on other modules, entry and exit criteria, change control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unit and section heads; presented at the kick-off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Kick-off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02_BIBS_FRS_BRD-04_Collections_v2.1.docx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Functional Requirements Specification v2.1: requirements re-based on the Collections BRD with the minutes of 27-Apr-2026, navigation, 19 screen specifications with screenshots, five walkthroughs, messages, notifications, documents, upload template, cross-BRD contract, user-story view and storyboard index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 handlers and team leads, Marketing AOs and unit heads; Cashiering, Commission Receivables and BDOI IT for their chapters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review, with the SIT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03_BIBS_Signoff_BRD-04_Collections_v2.1.xlsx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Sign-off workbook: one row per screen, field, rule and message with the BU review columns; comments log, meeting minutes, version history, sign-off certificate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reviewer; the business owner signs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During the review and at sign-off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04_BIBS_TestPlan_BRD-04_Collections_v2.1.xlsx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workbook: the test cases traced to the FRs and to the screens, including one screen case and one message case per screen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users who will run UAT;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After the screens; used again in SIT and UAT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The pack at a glance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370527"/>
                <a:gridCol w="2185263"/>
                <a:gridCol w="1512874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is for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reads it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05_BIBS_TestPlan_BRD-04_Collections_Summary_v2.1.docx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Test plan summary: scope, approach, coverage and the cases by area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Before sign-off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07_BIBS_UXDeck_BRD-04_Collections_v2.1.pptx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Deck for the BDOI UX Design team: design foundation, navigation and personas, every walkthrough step by step and every screen with all its states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the issue, in parallel with the review; re-issued with each version of the set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08_BIBS_UXScreens_BRD-04_Collections_v2.1.xlsx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UX screen register: one row per screen image with the screen, personas, walkthrough and step, state, FRS section and requirements, UXD status and comments, and the Changed in this issue flag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Kept by the UX Design team; the changed rows are flagged at each issue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09_BIBS_UXScreens_BRD-04_Collections_v2.1.zip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Image package: every screen image at twice the screen resolution (PNG), the component crops and the register as CSV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Imported into the design tool at each issue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Where to start: reading order per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923"/>
                <a:gridCol w="871049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Read, in this order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Business owner (Product Owners; Marketing unit and section heads)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00 Start Here; 01 Guide deck; FRS chapters 1-3 (context and personas), 14 (walkthroughs), 20 (sign-off), 21 (proposed rules for confirmation) and 22 (user-story view); workbook Sign-off certificate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Collection Handlers and Collection Team Leads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sections 4.2 to 4.7; the screens of chapter 13 (SCR-CL-01 to 13); walkthroughs A, B and D with the storyboard index of chapter 23; messages in chapter 15; the statement of account DO-01 in chapter 17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Marketing Account Officers, Handlers and Team Leads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PR Worklist, Collection Account and Client View (SCR-CL-02 to 04); escalations (SCR-CL-11, 12); walkthroughs A, B and E; the Collections Bulk Update template in chapter 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Unapplied Payment Handlers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section 4.8; Unapplied Payments, Unapplied Payment and Requests to Cashiering (SCR-CL-14 to 16); walkthrough C; document DO-05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Section Heads and set-up users (Business Administrator)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Assignments, Collections Files and Collections Setup (SCR-CL-17 to 19); Escalation Rules (SCR-CL-13); configuration in chapter 9; the files DO-02 to DO-04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Operations: Cashiering and Commission Receivables (BRD-2)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hand-offs and requests (FRS sections 4.4 and 4.8, chapter 19); the billing statements generated by Operations (section 4.7, walkthrough D steps 2 to 4); walkthrough C (step 3); the DP PR and PR 2307 for Reversal files; FRS section 4.10 for the commission receivable gate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Comptrollership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FRS section 4.10 (commission receivable and incentives, rows FR-CL-090 to 094) and the proposed rules of chapter 21 on them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Interfaces and integration (chapter 7), non-functional requirements (chapter 8), configuration and jobs (chapter 9), cross-BRD contract (chapter 19); the Technical Specification, reviewed by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UX Design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07 UX Screen Deck: design foundation and navigation first, then the personas, walkthroughs and screens of the design work; 08 UX screen register (filter Changed in this issue at each new issue); 09 image package in the design 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All documents; keeps the comments log, the meeting minutes and the version history of the workbook, answers every comment and keeps the traceability 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Approach: from issue to closure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Pack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v2.1 in the BRD-04 folder; invitations to the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Day 0 (Thu 8-Oct-2026); sessions scheduled after the BRD-2 Operations walkthroughs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7641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5113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841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2041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Kick-off and screen walkthrough on 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841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Screens shown live (worklist and account, promises and escalations, unapplied payments, plans and billing, set-up); first questions logged in the comments log;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4841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sessions, 23 to 25-Nov-2026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4115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1587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1315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8515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Review with the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5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Every row marked Accept, Change requested or Comment; comments log entries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10 working days after the walkthroughs, until Wed 9-Dec-2026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0589" y="229514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8061" y="141732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87789" y="152704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4989" y="149047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Comments consolidated and a Q&amp;A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7789" y="205740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One consolidated comments log, each item typed (clarification, correction, change request) and answered; Q&amp;A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789" y="297180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3 working days, Q&amp;A on Mon 14-Dec-2026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One revision cycle (v2.2)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Release set v2.2 with the changed rows marked; change requests raised for the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2 working days, v2.2 on Wed 16-Dec-2026; check by the reviewers until Fri 18-Dec-2026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077641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25113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34841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2041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Sign-off meeting and signature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4841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Signed sign-off certificate; minutes; open items accepted as assumptions or change requests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4841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Tue 22-Dec-2026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54115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1587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11315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8515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Content freeze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1315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Content frozen as signed; approved deltas scheduled in the Change Management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1315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From Wed 23-Dec-2026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30589" y="4718304"/>
            <a:ext cx="283464" cy="256032"/>
          </a:xfrm>
          <a:prstGeom prst="rightArrow">
            <a:avLst/>
          </a:prstGeom>
          <a:solidFill>
            <a:srgbClr val="00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78061" y="3840480"/>
            <a:ext cx="2464993" cy="2011680"/>
          </a:xfrm>
          <a:prstGeom prst="roundRect">
            <a:avLst/>
          </a:prstGeom>
          <a:solidFill>
            <a:srgbClr val="E5F5FF"/>
          </a:solidFill>
          <a:ln>
            <a:solidFill>
              <a:srgbClr val="99C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87789" y="3950208"/>
            <a:ext cx="384048" cy="384048"/>
          </a:xfrm>
          <a:prstGeom prst="ellipse">
            <a:avLst/>
          </a:prstGeom>
          <a:solidFill>
            <a:srgbClr val="FDB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E2E2E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4989" y="3913632"/>
            <a:ext cx="1824913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00" b="1" i="0">
                <a:solidFill>
                  <a:srgbClr val="004EA8"/>
                </a:solidFill>
                <a:latin typeface="Arial"/>
              </a:rPr>
              <a:t>Traceability into SIT and UAT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7789" y="4480560"/>
            <a:ext cx="2245537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 i="0">
                <a:solidFill>
                  <a:srgbClr val="4B4B4B"/>
                </a:solidFill>
                <a:latin typeface="Arial"/>
              </a:rPr>
              <a:t>SIT and UAT runs traced to the signed screens, rules and messages; results against each row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7789" y="5394960"/>
            <a:ext cx="2245537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1" i="0">
                <a:solidFill>
                  <a:srgbClr val="2E2E2E"/>
                </a:solidFill>
                <a:latin typeface="Arial"/>
              </a:rPr>
              <a:t>SIT Jan - Jul 2027; UAT Aug - Dec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(1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1. Pack issued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iorta TechNXT delivery lead; I: all 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v2.1, workbook, test plan, guide and deck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v2.1 in the BRD-04 folder; invitations to the sessions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Day 0 (Thu 8-Oct-2026); sessions scheduled after the BRD-2 Operations walkthroughs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2. Kick-off and screen walkthrough on SIT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BDOI Product Owner; C: Collections and Marketing Support, Marketing unit heads; I: Operations,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Guide deck; SIT users with seed data; walkthroughs A to 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Screens shown live (worklist and account, promises and escalations, unapplied payments, plans and billing, set-up); first questions logged in the comments log;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sessions, 23 to 25-Nov-2026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3. Review with the workbook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Collection handlers and team leads, Marketing AOs and unit heads; A: Collections and Marketing Support; C: iorta TechNXT (questions)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FRS chapters of the area; workbook sheets with the BU review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Every row marked Accept, Change requested or Comment; comments log entries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 working days after the walkthroughs, until Wed 9-Dec-2026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4. Comments consolidated and a Q&amp;A session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 and Business Analysis; A: BDOI Product Owner; C: reviewers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Returned workbooks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One consolidated comments log, each item typed (clarification, correction, change request) and answered; Q&amp;A minutes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3 working days, Q&amp;A on Mon 14-Dec-2026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Steps in detail (2 of 2): who, inputs, outputs,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78"/>
                <a:gridCol w="2794148"/>
                <a:gridCol w="2301063"/>
                <a:gridCol w="2629787"/>
                <a:gridCol w="1561436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 (R, A, C, I)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Outputs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5. One revision cycle (v2.2)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Business Analysis; A: iorta TechNXT delivery lead; C: reviewers who raised the items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Agreed clarifications and corrections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Release set v2.2 with the changed rows marked; change requests raised for the 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2 working days, v2.2 on Wed 16-Dec-2026; check by the reviewers until Fri 18-Dec-2026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6. Sign-off meeting and signature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Project Manager; A: BDOI Product Owner; C: Marketing heads, Operations Head, Comptrollership, 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v2.2 (or v2.1 when no revision is needed); open items with their decision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sign-off certificate; minutes; open items accepted as assumptions or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Tue 22-Dec-2026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7. Content freeze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delivery lead; A: BDOI Product Owner; I: BDOI IT, other BRD owners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set; change requests with mandays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Content frozen as signed; approved deltas scheduled in the Change Management Register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From Wed 23-Dec-2026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8. Traceability into SIT and UAT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R: iorta TechNXT test lead; A: BDOI Product Owner; C: business users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FRS rows and test plan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and UAT runs traced to the signed screens, rules and messages; results against each row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SIT Jan - Jul 2027; UAT Aug - Dec 2027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Screens and fields (FRS screen specifications; workbook Screen catalogue, Field register)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Marketing heads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rules and validations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BA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Marketing heads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Messages and notifications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Marketing heads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Documents, files and reports (statement of account, worklist and reversal files, application file, reports)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FT&amp;P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Marketing heads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 gate and the draft rows on incentives (FR-CL-090 to 094)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BA (BPS),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Comptrollership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Walkthroughs (end-to-end, screen by screen)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parts of the set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036"/>
                <a:gridCol w="1496865"/>
                <a:gridCol w="2025170"/>
                <a:gridCol w="1937120"/>
                <a:gridCol w="2113221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Part of the set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Prepares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Provides input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Reviews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Approves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Proposed business rules and clarifications for confirmation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TechNXT, BA (BPS)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input, FT&amp;P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Operations Head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Product Owner (Operations), Marketing heads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Scheduled runs and files, hand-offs inside BIBS, user access and menus by persona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IT, Operations Head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Test plan (04 workbook, 05 summary)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(BPS), 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UX screen deck, UX screen register and image package (07 to 09, for the BDOI UX Design team; the screens as specified in this set)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&amp; Marketing input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 (BPS)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Technical Specification (separate document, not part of the business sign-off)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team: Project Manager, Business Analysis, test lead (iorta TechNXT)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is complete and consistent as issued, traced to the BRD and to the screens; every comment is answered in the comments 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Prepared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Business Analyst, Enterprise Services Group - Business Project Services (BPS) (Zean C. Ibay) (BDO Unibank ESG)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set states the BRD requirements as written; every departure is listed in the proposed rules and clarifications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Collections and Marketing Support, HO Marketing Support BBG, Operations, Marketing and Business Services, Marketing - Head Office, Marketing Business Services and System Support (Pia Grace M. Pinili, Maria Victoria Evangelista, Grace Tordesillas, Ma. Fides E. Rivera, Arra R. Rivera, Rhommel Mark Galler)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worklist, collection account, disposition, promise, installment, escalation, billing statement and unapplied payment screens, fields, rules and messages match the business input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Input provided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Operations: Financial Transactions and Processing (Perjelyn Joy Gutierrez)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hand-offs to Cashiering and Commission Receivables, the requests on unapplied payments and the reversal files match what Operations carries out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VP and Head, BDOI Operations (John Benedict S. Santos)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Collections process with Operations and the caveat of p.95: exports and downloads run in the background and do not slow the system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Reviewed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BDOI Information Technology Group: IT Core Business Delivery (Reynaldo Valera Jr.) and IT AIO Core Business Delivery - Insurance (Wynonah Allyssa D. Agojo)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Scheduled runs and files, user access and menus, the hand-offs inside BIBS and the Technical Specification (a separate document); not the business screens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Who signs what: signatories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967"/>
                <a:gridCol w="4050341"/>
                <a:gridCol w="5371105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Capacity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Confirms by signing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Program Manager, Enterprise Services Group - Business Project Services (BPS) (Dan Ace Cauton) (BDO Unibank ESG)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Traceability of every BRD requirement to the set and completeness of the 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AVP (Shellah Marie C. Miranda)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Owns the set and approves all of its contents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Product Owner, AVP (Jose Melvin Jarin)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addendum functions: escalation, bulk update, reassignment, installments, promises, billing statements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Unit Head - Combank and Corbank (Mark Joseph C. Makalintal) and Heads of Retail Marketing (Edmundante F. Ramirez, Roderick Lim) (BDOI)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collector screens, rules and messages for the Corporate, Commercial and Retail Marketing units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Approved by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Head - Comptrollership, VP (Ronald Allan E. De Leon) (BDOI)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B4B4B"/>
                          </a:solidFill>
                          <a:latin typeface="Arial"/>
                        </a:rPr>
                        <a:t>The commission receivable gate and the draft rows on incentives, commission refunds and mixed payments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How to fill in the sign-off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signoff-workbook-field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498079" cy="2157342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74980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Field register sheet of the sign-off workbook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39" y="1325880"/>
            <a:ext cx="3322016" cy="484632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39" y="1325880"/>
            <a:ext cx="50800" cy="484632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1417320"/>
            <a:ext cx="30934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 the rows of your area on Screen standards, Screen catalogue, Field register, Business rules, Messages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review: Accept, Change requested or Comment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BU comment: the change asked for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Reviewer and Review date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Questions go to the Comments log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4EA8"/>
                </a:solidFill>
                <a:latin typeface="Arial"/>
              </a:rPr>
              <a:t>•  </a:t>
            </a:r>
            <a:r>
              <a:rPr sz="1300">
                <a:solidFill>
                  <a:srgbClr val="4B4B4B"/>
                </a:solidFill>
                <a:latin typeface="Arial"/>
              </a:rPr>
              <a:t>Leave the other columns unchanged; one workbook per unit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Collections at a glance: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brd04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920" y="1325880"/>
            <a:ext cx="7199854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BRD-4 process from the client to the booked invoice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Collections at a glance: personas and menus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1144661"/>
                <a:gridCol w="968560"/>
                <a:gridCol w="6339665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SIT user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Screens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Menu sections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Account Officer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Team Lead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mkttl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Marketing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mkthandler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 Handler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clxhandler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 Team Lead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clxtl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Section Head (Corporate / Retail)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clxuh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Unapplied Payment 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upphandler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Processing Unit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proc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 (read access and exports)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cashier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Disbursement (read access and exports)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disb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Comptrollership (read access)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comptrol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Administrator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badmin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System Administrator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auditor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Collections at a glance: key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16</a:t>
            </a:r>
          </a:p>
        </p:txBody>
      </p:sp>
      <p:pic>
        <p:nvPicPr>
          <p:cNvPr id="9" name="Picture 8" descr="wt-a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195" y="1325880"/>
            <a:ext cx="2822937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PR Worklist: the outstanding accounts of the handler</a:t>
            </a:r>
          </a:p>
        </p:txBody>
      </p:sp>
      <p:pic>
        <p:nvPicPr>
          <p:cNvPr id="11" name="Picture 10" descr="wt-a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241" y="1325880"/>
            <a:ext cx="2245578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320040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Collection account with the first collection effort logged</a:t>
            </a:r>
          </a:p>
        </p:txBody>
      </p:sp>
      <p:pic>
        <p:nvPicPr>
          <p:cNvPr id="13" name="Picture 12" descr="wt-b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426" y="3566160"/>
            <a:ext cx="2606475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An escalation in action with the team lead</a:t>
            </a:r>
          </a:p>
        </p:txBody>
      </p:sp>
      <p:pic>
        <p:nvPicPr>
          <p:cNvPr id="15" name="Picture 14" descr="wt-c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305" y="3566160"/>
            <a:ext cx="3657451" cy="187452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233007" y="5440680"/>
            <a:ext cx="54100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An unapplied payment sent to Cashiering for application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Key business rules and validations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Every booked invoice with premium receivable above the threshold (10.00 by default) is a collection account, refreshed every night from the Operations invoice ledger; Collections keeps no second copy of the money and posts no accounting entry.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New accounts go to a handler by the assignment rules, else to their account officer; team leads reassign accounts permanently or until an end date.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disposition with an Operations action is handed over inside BIBS: BIR 2307 tags to Cashiering, direct payment accounts to Commission Receivables; there is no check pick-up (removed from scope by Operations); some dispositions are reserved to some roles.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Operations generates and sends the statements of account of the installment plans; the Collections users see them (minutes of 27-Apr-2026).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Promises to pay are checked every night against the payments applied; a broken promise notifies the collector and escalates the account.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Escalation rules (aging, no commitment, broken promises, overdue installments, amount) escalate accounts every night; a new or changed rule applies only once another user authorizes 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A request on an unapplied payment is carried out by Cashiering with its own approvals; For Application to Invoice needs a valid invoice number of the ledger.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Updating several accounts at once needs the bulk update permission; an account opened by one user is locked to the others for the edit-lock time.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4EA8"/>
                </a:solidFill>
                <a:latin typeface="Arial"/>
              </a:rPr>
              <a:t>•  </a:t>
            </a:r>
            <a:r>
              <a:rPr sz="1400">
                <a:solidFill>
                  <a:srgbClr val="4B4B4B"/>
                </a:solidFill>
                <a:latin typeface="Arial"/>
              </a:rPr>
              <a:t>Files and exports run in the background and are published with the time from which they may be downloaded.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656565"/>
                </a:solidFill>
                <a:latin typeface="Arial"/>
              </a:rPr>
              <a:t>–  </a:t>
            </a:r>
            <a:r>
              <a:rPr sz="1200">
                <a:solidFill>
                  <a:srgbClr val="4B4B4B"/>
                </a:solidFill>
                <a:latin typeface="Arial"/>
              </a:rPr>
              <a:t>Full list: FRS chapter 13 per screen, 54 rules on the Business rules sheet and 146 messages in FRS chapter 15 and on the Messages sheet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Cross-module dependencies and impacts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18</a:t>
            </a:r>
          </a:p>
        </p:txBody>
      </p:sp>
      <p:pic>
        <p:nvPicPr>
          <p:cNvPr id="9" name="Picture 8" descr="brd04_contrac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47" y="1325880"/>
            <a:ext cx="10019600" cy="4480560"/>
          </a:xfrm>
          <a:prstGeom prst="rect">
            <a:avLst/>
          </a:prstGeom>
          <a:ln w="9525">
            <a:solidFill>
              <a:srgbClr val="C2C2C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56565"/>
                </a:solidFill>
                <a:latin typeface="Arial"/>
              </a:rPr>
              <a:t>What Collections takes from and hands to the other BRDs and systems (FRS chapter 19)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 and possibilities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20"/>
                <a:gridCol w="4578647"/>
                <a:gridCol w="4578647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can happen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needs can surface during the review, SIT or UAT.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In-scope clarification when the signed text already covers it; otherwise a change request with mandays.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Collections reads the Operations invoice ledger (BRD-2) and hands its work to Cashiering, Commission Receivables and Adjustment. A change of a Collections disposition or request can change what Operations receives.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Each change is assessed against the cross-BRD contract (FRS chapter 19); when it touches another set, a delta sign-off of the affected pages of both sets.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New Business (booking), Operations (balances, payment application, requests), Product Maintenance (sales organisation), User Access (roles) and Data Migration (legacy follow-up) can change what Collections shows.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change is raised against the other BRD and assessed against the contract; when it touches this set, a delta sign-off of the affected pages only.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Lists of values still to confirm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PR and unapplied payment dispositions, the effort codes and the escalation defaults carry provisional values marked to confirm (CQ08, CQ14).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gives its lists; they are loaded as configuration on the Lists of Values and Collections Setup screens, without a change request.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 rows in draft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rows on incentives, commission refunds and mixed payments (FR-CL-091 to 094) come from the draft addendum; the minutes of 27-Apr-2026 confirm their intent, not their scope (CQ01).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Signed as proposed rules; confirmed or changed when BDOI signs the addendum.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The transfer of the daily application file to the file server FS04 and the Marketing Diary kept in ISYS depend on BDOI IT (OQ17, CQ20).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 download from Collections Files until the transfer is specified; the automatic transfer is then a change request. The technical detail is in the Technical Specification, reviewed by BDOI IT.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Open questions of FRS section 10.3 follow the assumptions of section 10.1; chapter 21 lists the proposed rules and clarifications for confirmation.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Answered as configuration where possible (lists of values, parameters, templates); otherwise a change request; the assumption stands until then.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Caveats: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21"/>
                <a:gridCol w="898119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Example and how it is handled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Additional requirements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reviewer asks for the bank AO on the PR Worklist: a new column, so a change request; asking which accounts the Credit Balances tab shows is a clarification.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Impacts on other modules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A new disposition that hands accounts to Adjustment needs a new hand-off in Operations: both owners confirm the delta.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Other BRDs change Collections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Operations changes the payment application hierarchy: the outstanding by component on the collection account changes and is signed as a delta.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Lists of values still to confirm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BDOI adds the disposition For legal follow-up with category C and Marketing as owner: a list value and its attributes.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Commission receivable rows in draft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If BDOI drops automatic incentive billing, FR-CL-092 is removed in v2.2 without affecting the rest of the set.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Integrations pending BDOI IT specifications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application file is downloaded each morning and copied to FS04 by Cashiering until the transfer is agreed.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Open questions and assumptions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B4B4B"/>
                          </a:solidFill>
                          <a:latin typeface="Arial"/>
                        </a:rPr>
                        <a:t>The minimal balance threshold is 10.00 until BDOI confirms it (CQ03); the answer is a parameter value.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Entry and exit criteria, definition of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screenshot of the set is taken on the SIT environment with seed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Reviewers have their SIT users and the walkthrough sessions are held.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test plan is traced to the FRS and to the screens.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BRD-2 Operations walkthroughs are held (the invoice ledger and the Cashiering screens are the input and the output of Collections).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9658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row of the workbook reviewed by its team (Accept, Change requested or Comment).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Every comments log item closed: answered, corrected in v2.2, or raised as a change request.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Open questions closed or accepted as assumptions.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The sign-off certificate signed by every signatory of the Who signs what matrix: prepared, input, reviewed and approved as on the Collections BRD approval sheets; the Product Owner approves the whole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325880"/>
            <a:ext cx="3515258" cy="457200"/>
          </a:xfrm>
          <a:prstGeom prst="rect">
            <a:avLst/>
          </a:prstGeom>
          <a:solidFill>
            <a:srgbClr val="00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9236" y="1325880"/>
            <a:ext cx="351525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7796" y="1783080"/>
            <a:ext cx="3515258" cy="4343400"/>
          </a:xfrm>
          <a:prstGeom prst="rect">
            <a:avLst/>
          </a:prstGeom>
          <a:solidFill>
            <a:srgbClr val="E5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1920240"/>
            <a:ext cx="333237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Signed certificate filed with the set; version history updated.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Content frozen as signed; deltas listed in the Change Management Register with mandays.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04EA8"/>
                </a:solidFill>
                <a:latin typeface="Arial"/>
              </a:rPr>
              <a:t>•  </a:t>
            </a:r>
            <a:r>
              <a:rPr sz="1200">
                <a:solidFill>
                  <a:srgbClr val="4B4B4B"/>
                </a:solidFill>
                <a:latin typeface="Arial"/>
              </a:rPr>
              <a:t>Test plan agreed for SIT and UAT.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After sign-off: readiness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Signed FRS, sign-off workbook and screens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Open questions closed or accepted as assumptions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Configuration inputs from the business: the PR and unapplied payment dispositions with their category, owner, Operations action and reserved roles, effort codes, escalation reasons and rules, billing frequencies, the threshold, aging brackets and edit-lock time, the assignment rules and the Unit Heads, the statement of account wording, users and roles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Agreed test plan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☐  Migration mapping of the open collection follow-up (dispositions, promises, installments, collectors) signed (BRD-13)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56565"/>
                </a:solidFill>
                <a:latin typeface="Arial"/>
              </a:rPr>
              <a:t>–  </a:t>
            </a:r>
            <a:r>
              <a:rPr sz="1400">
                <a:solidFill>
                  <a:srgbClr val="4B4B4B"/>
                </a:solidFill>
                <a:latin typeface="Arial"/>
              </a:rPr>
              <a:t>After sign-off the content is frozen as signed and the approved deltas are scheduled.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Change control after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A change to anything frozen is raised in the Change Management Register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56565"/>
                </a:solidFill>
                <a:latin typeface="Arial"/>
              </a:rPr>
              <a:t>–  </a:t>
            </a:r>
            <a:r>
              <a:rPr sz="1600">
                <a:solidFill>
                  <a:srgbClr val="4B4B4B"/>
                </a:solidFill>
                <a:latin typeface="Arial"/>
              </a:rPr>
              <a:t>The screen, field, rule or message concerned, the reason and the priority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project team assesses the mandays and the effect on the other BRDs through the cross-BRD contract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The owners of every BRD concerned approve 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Delivered as a new version of the set (v2.1, v2.2...) with the changed pages signed again (delta sign-off)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4EA8"/>
                </a:solidFill>
                <a:latin typeface="Arial"/>
              </a:rPr>
              <a:t>•  </a:t>
            </a:r>
            <a:r>
              <a:rPr sz="1800">
                <a:solidFill>
                  <a:srgbClr val="4B4B4B"/>
                </a:solidFill>
                <a:latin typeface="Arial"/>
              </a:rPr>
              <a:t>Configuration values marked default change in BIBS without a change request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Governance, contacts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3698138"/>
                <a:gridCol w="4754749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Does</a:t>
                      </a:r>
                    </a:p>
                  </a:txBody>
                  <a:tcPr marL="73152" marR="73152" marT="36576" marB="36576">
                    <a:solidFill>
                      <a:srgbClr val="004E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Business owner and approver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Shellah Marie C. Miranda, AVP, Product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Accountable for the sign-off; chairs the sign-off meeting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Approvers of the addendum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Jose Melvin Jarin, AVP, Product Owner; Mark Joseph C. Makalintal, Unit Head - Combank and Corbank; Edmundante F. Ramirez and Roderick Lim, Retail Marketing; Ronald Allan E. De Leon, Head - Comptrollership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Approve the addendum functions and the commission receivable rows for their units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John Benedict S. Santos, VP and Head, BDOI Operations; Collections and Marketing Support (Pia Grace M. Pinili, Maria Victoria Evangelista), HO Marketing Support BBG (Grace Tordesillas), Marketing (Ma. Fides E. Rivera, Arra R. Rivera, Rhommel Mark Galler), Operations FT&amp;P (Perjelyn Joy Gutierrez)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 their screens and rows; raise comments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BDOI IT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IT Core Business Delivery (Reynaldo Valera Jr.) and IT AIO Core Business Delivery - Insurance (Wynonah Allyssa D. Agojo)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Reviews the scheduled runs, files, access and the Technical Specification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BRD owner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Dan Ace Cauton, Program Manager, and Zean C. Ibay, Business Analyst, ESG-BPS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Traceability to the BRD; sign-off coordination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iorta TechNXT Project Manager, Business Analysis, test lead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B4B4B"/>
                          </a:solidFill>
                          <a:latin typeface="Arial"/>
                        </a:rPr>
                        <a:t>Sessions, answers, comments log, revisions, change requests</a:t>
                      </a:r>
                    </a:p>
                  </a:txBody>
                  <a:tcPr marL="73152" marR="73152" marT="36576" marB="36576">
                    <a:solidFill>
                      <a:srgbClr val="E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5097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00" b="1" i="0">
                <a:solidFill>
                  <a:srgbClr val="004EA8"/>
                </a:solidFill>
                <a:latin typeface="Arial"/>
              </a:rPr>
              <a:t>Next steps and the release order of the other BRD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254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i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57200"/>
            <a:ext cx="1645920" cy="335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6355080"/>
            <a:ext cx="11094415" cy="9525"/>
          </a:xfrm>
          <a:prstGeom prst="rect">
            <a:avLst/>
          </a:prstGeom>
          <a:solidFill>
            <a:srgbClr val="C2C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900" b="0" i="0">
                <a:solidFill>
                  <a:srgbClr val="656565"/>
                </a:solidFill>
                <a:latin typeface="Arial"/>
              </a:rPr>
              <a:t>Confidential – BDOI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56565"/>
                </a:solidFill>
                <a:latin typeface="Arial"/>
              </a:rPr>
              <a:t>Sign-off Pack Guide BRD-4 Collections | 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656565"/>
                </a:solidFill>
                <a:latin typeface="Arial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Kick-off and first SIT walkthrough on Mon 23-Nov-2026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Workbooks returned by Wed 9-Dec-2026; Q&amp;A on Mon 14-Dec-2026; sign-off on Tue 22-Dec-2026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4EA8"/>
                </a:solidFill>
                <a:latin typeface="Arial"/>
              </a:rPr>
              <a:t>•  </a:t>
            </a:r>
            <a:r>
              <a:rPr sz="1600">
                <a:solidFill>
                  <a:srgbClr val="4B4B4B"/>
                </a:solidFill>
                <a:latin typeface="Arial"/>
              </a:rPr>
              <a:t>BRD-5 Accounting, Disbursement and ACSL follows in the same window; then BRD-13, then BRD-7 and BRD-8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Sign-off Pack Guide BRD-4 Collections</dc:title>
  <dc:subject>BIBS – BDOI Broker System</dc:subject>
  <dc:creator>iorta TechNXT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