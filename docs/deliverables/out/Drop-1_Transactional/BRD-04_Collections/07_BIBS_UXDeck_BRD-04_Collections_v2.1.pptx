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BRD-4 Collections sign-off set, release set v2.1,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(Collections BRD approval sheets: CMS BRD p.95-96 (Prepared, Reviewed, Validated, Approved by), renumbering addendum p.36 and Collections Addendum p.24);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(Collections BRD approval sheets: CMS BRD p.95-96 (Prepared, Reviewed, Validated, Approved by), renumbering addendum p.36 and Collections Addendum p.24);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NAV-CL-01_menu.png.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BRD-1: 20; BRD-12: 7; BRD-2: 4; BRD-3: 6; BRD-5: 4; BRD-6: 5;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NAV-CL-02_menu.png.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BRD-1: 21; BRD-12: 7; BRD-2: 12; BRD-3: 7; BRD-5: 2; BRD-6: 6;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NAV-CL-03_menu.png.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NAV-CL-04_menu.png.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NAV-CL-04_menu.png.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BRD-1: 13; BRD-2: 12;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NAV-CL-05_menu.png.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NAV-CL-06_menu.png.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NAV-CL-07_menu.png.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NAV-CL-08_menu.png.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NAV-CL-08_menu.png.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24; BRD-12: 6; BRD-2: 4; BRD-3: 1; BRD-6: 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NAV-CL-09_menu.png.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NAV-CL-09_menu.png.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13; BRD-2: 22;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NAV-CL-10_menu.png.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NAV-CL-10_menu.png.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12; BRD-2: 7; BRD-3: 1; BRD-5: 16;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NAV-CL-11_menu.png.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NAV-CL-11_menu.png.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BRD-2: 8; BRD-3: 1; BRD-5: 26;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NAV-CL-12_menu.png.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NAV-CL-12_menu.png.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NAV-CL-12_menu.png.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BRD-11: 6; BRD-2: 5; BRD-3: 10; BRD-5: 14; BRD-6: 3;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NAV-CL-13_menu.png.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NAV-CL-13_menu.png.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NAV-CL-13_menu.png.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BRD-2: 7; BRD-3: 8;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menu entries in all; entries of the other BRDs: BRD-1: 19; BRD-10: 7; BRD-11: 4; BRD-13: 10; BRD-2: 6; BRD-3: 10; BRD-5: 51;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NAV-CL-01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Team Lead. Menu and landing page: NAV-CL-02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Handler. Menu and landing page: NAV-CL-03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Handler. Menu and landing page: NAV-CL-04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Team Lead. Menu and landing page: NAV-CL-05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Head (Corporate / Retail). Menu and landing page: NAV-CL-06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Unapplied Payment Handler. Menu and landing page: NAV-CL-07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Unit. Menu and landing page: NAV-CL-08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 (read access and exports). Menu and landing page: NAV-CL-09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(read access and exports). Menu and landing page: NAV-CL-10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(read access). Menu and landing page: NAV-CL-11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NAV-CL-12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NAV-CL-13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NAV-CL-14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handler records the disposition agreed with the client (for example Coordinate further, or PR 2307 for reversal with the certificate); a disposition with an Operations action is handed over inside BIBS.; The client pays by deposit, bills payment or a check sent to Cashiering; Cashiering receipts the payment, it is applied by component in the invoice ledger and the next refresh updates the outstanding of the account.; When the account is paid, it moves to Completed Collections; it reopens if the balance comes back.</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Section Head (Corporate / Retail): Clicks Refresh Worklist Now on Collections Setup</a:t>
            </a:r>
          </a:p>
          <a:p>
            <a:r>
              <a:t>2. Collection Handler: Opens Collections Home</a:t>
            </a:r>
          </a:p>
          <a:p>
            <a:r>
              <a:t>3. Collection Handler: Opens the PR Worklist with Only mine ticked</a:t>
            </a:r>
          </a:p>
          <a:p>
            <a:r>
              <a:t>4. Collection Handler: Opens the account and clicks Log Effort: Phone call to the client's finance officer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SCR-CL-19_wt-a-step-01.png.</a:t>
            </a:r>
          </a:p>
          <a:p>
            <a:r>
              <a:t>Persona does: Clicks Refresh Worklist Now on Collections Setup</a:t>
            </a:r>
          </a:p>
          <a:p>
            <a:r>
              <a:t>System does: Worklist refreshed</a:t>
            </a:r>
          </a:p>
          <a:p>
            <a:r>
              <a:t>Shown: Message with the outcome of the refresh: the accounts listed and updated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SCR-CL-01_wt-a-step-02.png.</a:t>
            </a:r>
          </a:p>
          <a:p>
            <a:r>
              <a:t>Persona does: Opens Collections Home</a:t>
            </a:r>
          </a:p>
          <a:p>
            <a:r>
              <a:t>System does: Assigned</a:t>
            </a:r>
          </a:p>
          <a:p>
            <a:r>
              <a:t>Shown: My Open Accounts counts the new account assigned to her by the rule; the open amounts by aging bracket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SCR-CL-02_wt-a-step-03.png.</a:t>
            </a:r>
          </a:p>
          <a:p>
            <a:r>
              <a:t>Persona does: Opens the PR Worklist with Only mine ticked</a:t>
            </a:r>
          </a:p>
          <a:p>
            <a:r>
              <a:t>System does: In the worklist</a:t>
            </a:r>
          </a:p>
          <a:p>
            <a:r>
              <a:t>Shown: The new invoice with the client, segment, booking date and aging, outstanding premium, her name as handler and no disposition yet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SCR-CL-03_wt-a-step-04.png.</a:t>
            </a:r>
          </a:p>
          <a:p>
            <a:r>
              <a:t>Persona does: Opens the account and clicks Log Effort: Phone call to the client's finance officer</a:t>
            </a:r>
          </a:p>
          <a:p>
            <a:r>
              <a:t>System does: Effort logged</a:t>
            </a:r>
          </a:p>
          <a:p>
            <a:r>
              <a:t>Shown: Message: Effort logged; the Summary tab shows the last effort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nightly promise check marks the promise kept, partially kept or broken against the payments applied by the promised date; a broken promise notifies the handler and escalates the account through the broken-promise rule.; From the next escalation run, an account of one million or more is escalated to the Section Head.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Collection Handler: Clicks Record Promise and enters the invoice, the promised payment date in ten days and half of the outstanding</a:t>
            </a:r>
          </a:p>
          <a:p>
            <a:r>
              <a:t>2. Collection Handler: Clicks Escalate Accounts and enters the invoice, Team Lead and the reason Credit term extension refused by the insurer</a:t>
            </a:r>
          </a:p>
          <a:p>
            <a:r>
              <a:t>3. Collection Team Lead: Opens the escalation from With Team Lead and clicks Acknowledge</a:t>
            </a:r>
          </a:p>
          <a:p>
            <a:r>
              <a:t>4. Collection Team Lead: Clicks Resolve and gives the resolution</a:t>
            </a:r>
          </a:p>
          <a:p>
            <a:r>
              <a:t>5. Authorizer of master data: Opens Escalation Rules and, from the row menu of CLX-AMOUNT-1M, authorizes the rule made by the Business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SCR-CL-08_wt-b-step-01.png.</a:t>
            </a:r>
          </a:p>
          <a:p>
            <a:r>
              <a:t>Persona does: Clicks Record Promise and enters the invoice, the promised payment date in ten days and half of the outstanding</a:t>
            </a:r>
          </a:p>
          <a:p>
            <a:r>
              <a:t>System does: Promise open</a:t>
            </a:r>
          </a:p>
          <a:p>
            <a:r>
              <a:t>Shown: Promises Recorded: the promise of the invoice recorded; it is on Open Promises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SCR-CL-11_wt-b-step-02.png.</a:t>
            </a:r>
          </a:p>
          <a:p>
            <a:r>
              <a:t>Persona does: Clicks Escalate Accounts and enters the invoice, Team Lead and the reason Credit term extension refused by the insurer</a:t>
            </a:r>
          </a:p>
          <a:p>
            <a:r>
              <a:t>System does: Escalated</a:t>
            </a:r>
          </a:p>
          <a:p>
            <a:r>
              <a:t>Shown: Escalation Results: one escalation raised for the account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SCR-CL-12_wt-b-step-03.png.</a:t>
            </a:r>
          </a:p>
          <a:p>
            <a:r>
              <a:t>Persona does: Opens the escalation from With Team Lead and clicks Acknowledge</a:t>
            </a:r>
          </a:p>
          <a:p>
            <a:r>
              <a:t>System does: In action</a:t>
            </a:r>
          </a:p>
          <a:p>
            <a:r>
              <a:t>Shown: The escalation is In action with the step in its history</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SCR-CL-12_wt-b-step-04.png.</a:t>
            </a:r>
          </a:p>
          <a:p>
            <a:r>
              <a:t>Persona does: Clicks Resolve and gives the resolution</a:t>
            </a:r>
          </a:p>
          <a:p>
            <a:r>
              <a:t>System does: Resolved</a:t>
            </a:r>
          </a:p>
          <a:p>
            <a:r>
              <a:t>Shown: The escalation is Resolved with the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SCR-CL-13_wt-b-step-05.png.</a:t>
            </a:r>
          </a:p>
          <a:p>
            <a:r>
              <a:t>Persona does: Opens Escalation Rules and, from the row menu of CLX-AMOUNT-1M, authorizes the rule made by the Business Administrator</a:t>
            </a:r>
          </a:p>
          <a:p>
            <a:r>
              <a:t>System does: Rule in force</a:t>
            </a:r>
          </a:p>
          <a:p>
            <a:r>
              <a:t>Shown: The rule is Active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application reduces the outstanding of the invoice in the ledger; the next refresh updates the collection account.; The daily For Application To Invoice file of the next morning lists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Unapplied Payment Handler: Selects the payment, clicks Request Application and enters the invoice number</a:t>
            </a:r>
          </a:p>
          <a:p>
            <a:r>
              <a:t>2. Unapplied Payment Handler: Opens Requests to Cashiering</a:t>
            </a:r>
          </a:p>
          <a:p>
            <a:r>
              <a:t>3. Cashier (read access and exports): Opens Incoming Requests, selects the collector request and clicks Accept Request with Submit the disposition now</a:t>
            </a:r>
          </a:p>
          <a:p>
            <a:r>
              <a:t>4. Unapplied Payment Handler: Opens the Executed tab of Requests to Cashiering</a:t>
            </a:r>
          </a:p>
          <a:p>
            <a:r>
              <a:t>5. Unapplied Payment Handler: Opens the unapplied payment, History tab</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SCR-CL-14_wt-c-step-01.png.</a:t>
            </a:r>
          </a:p>
          <a:p>
            <a:r>
              <a:t>Persona does: Selects the payment, clicks Request Application and enters the invoice number</a:t>
            </a:r>
          </a:p>
          <a:p>
            <a:r>
              <a:t>System does: Request sent</a:t>
            </a:r>
          </a:p>
          <a:p>
            <a:r>
              <a:t>Shown: Message: Disposition recorded; request sent to Cashiering</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SCR-CL-16_wt-c-step-02.png.</a:t>
            </a:r>
          </a:p>
          <a:p>
            <a:r>
              <a:t>Persona does: Opens Requests to Cashiering</a:t>
            </a:r>
          </a:p>
          <a:p>
            <a:r>
              <a:t>System does: With Cashiering</a:t>
            </a:r>
          </a:p>
          <a:p>
            <a:r>
              <a:t>Shown: The request Sent with the Cashiering reference of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SCR-OP-13_wt-c-step-03.png.</a:t>
            </a:r>
          </a:p>
          <a:p>
            <a:r>
              <a:t>Persona does: Opens Incoming Requests, selects the collector request and clicks Accept Request with Submit the disposition now</a:t>
            </a:r>
          </a:p>
          <a:p>
            <a:r>
              <a:t>System does: Applied</a:t>
            </a:r>
          </a:p>
          <a:p>
            <a:r>
              <a:t>Shown: The request accepted; the application of the payment is processed at once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SCR-CL-16_wt-c-step-04.png.</a:t>
            </a:r>
          </a:p>
          <a:p>
            <a:r>
              <a:t>Persona does: Opens the Executed tab of Requests to Cashiering</a:t>
            </a:r>
          </a:p>
          <a:p>
            <a:r>
              <a:t>System does: Executed</a:t>
            </a:r>
          </a:p>
          <a:p>
            <a:r>
              <a:t>Shown: The request Applied with the Cashiering reference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SCR-CL-15_wt-c-step-05.png.</a:t>
            </a:r>
          </a:p>
          <a:p>
            <a:r>
              <a:t>Persona does: Opens the unapplied payment, History tab</a:t>
            </a:r>
          </a:p>
          <a:p>
            <a:r>
              <a:t>System does: History kept</a:t>
            </a:r>
          </a:p>
          <a:p>
            <a:r>
              <a:t>Shown: The payment, the collector disposition, the request and its application, kept after the payment is applied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payments applied in the ledger are allocated to the installments, oldest first; an installment past its due date is Overdue and can escalate the account.; Billing is monitoring only: the statement creates no receivable and no commission billing.</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Collection Handler: Clicks New Installment Plan: installments of one invoice, the invoice, the first due date, 4 installments, Quarterly</a:t>
            </a:r>
          </a:p>
          <a:p>
            <a:r>
              <a:t>2. Operations billing user (Cashiering Team Leader / Head): Opens the plan, the row menu of cycle 1 and clicks Generate SOA, then the Statements of Account tab</a:t>
            </a:r>
          </a:p>
          <a:p>
            <a:r>
              <a:t>3. Operations billing user (Cashiering Team Leader / Head): Opens the statement and clicks Send via Email</a:t>
            </a:r>
          </a:p>
          <a:p>
            <a:r>
              <a:t>4. Operations billing user (Cashiering Team Leader / Head): Clicks Send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SCR-CL-05_wt-d-step-01.png.</a:t>
            </a:r>
          </a:p>
          <a:p>
            <a:r>
              <a:t>Persona does: Clicks New Installment Plan: installments of one invoice, the invoice, the first due date, 4 installments, Quarterly</a:t>
            </a:r>
          </a:p>
          <a:p>
            <a:r>
              <a:t>System does: Plan active</a:t>
            </a:r>
          </a:p>
          <a:p>
            <a:r>
              <a:t>Shown: Message: &lt;plan&gt; created with 4 installments; the plan opens with its installments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SCR-CL-06_wt-d-step-02.png.</a:t>
            </a:r>
          </a:p>
          <a:p>
            <a:r>
              <a:t>Persona does: Opens the plan, the row menu of cycle 1 and clicks Generate SOA, then the Statements of Account tab</a:t>
            </a:r>
          </a:p>
          <a:p>
            <a:r>
              <a:t>System does: Billed</a:t>
            </a:r>
          </a:p>
          <a:p>
            <a:r>
              <a:t>Shown: Message: &lt;SOA&gt; generated; the statement of cycle 1 To Send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SCR-CL-10_wt-d-step-03.png.</a:t>
            </a:r>
          </a:p>
          <a:p>
            <a:r>
              <a:t>Persona does: Opens the statement and clicks Send via Email</a:t>
            </a:r>
          </a:p>
          <a:p>
            <a:r>
              <a:t>System does: Ready to send</a:t>
            </a:r>
          </a:p>
          <a:p>
            <a:r>
              <a:t>Shown: The e-mail with the client's address, the proposed subject and message and the protected attachment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SCR-CL-10_wt-d-step-03.png.</a:t>
            </a:r>
          </a:p>
          <a:p>
            <a:r>
              <a:t>Persona does: Opens the statement and clicks Send via Email</a:t>
            </a:r>
          </a:p>
          <a:p>
            <a:r>
              <a:t>System does: Ready to send</a:t>
            </a:r>
          </a:p>
          <a:p>
            <a:r>
              <a:t>Shown: The e-mail with the client's address, the proposed subject and message and the protected attachment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SCR-CL-10_wt-d-step-04.png.</a:t>
            </a:r>
          </a:p>
          <a:p>
            <a:r>
              <a:t>Persona does: Clicks Send</a:t>
            </a:r>
          </a:p>
          <a:p>
            <a:r>
              <a:t>System does: Sent</a:t>
            </a:r>
          </a:p>
          <a:p>
            <a:r>
              <a:t>Shown: Message: &lt;SOA&gt; sent to &lt;address&gt;; the statement is Sent and E-mails Sent lists the e-mail; the Collection Handler sees it Sent on the plan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controls of Collections, each with the message the user sees: a disposition reserved to other roles, an account another user is working on, a promise above the outstanding, and an invoice number in the wrong format.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The account officer records the disposition No / missing policy number on an account</a:t>
            </a:r>
          </a:p>
          <a:p>
            <a:r>
              <a:t>2. Collection Team Lead: Opens the account the Collection Handler is working on</a:t>
            </a:r>
          </a:p>
          <a:p>
            <a:r>
              <a:t>3. Collection Handler: Records a promise of an amount above the outstanding of the account</a:t>
            </a:r>
          </a:p>
          <a:p>
            <a:r>
              <a:t>4. Unapplied Payment Handler: Requests the application of a payment to an invoice number in the wrong format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SCR-CL-03_wt-e-step-01.png.</a:t>
            </a:r>
          </a:p>
          <a:p>
            <a:r>
              <a:t>Persona does: The account officer records the disposition No / missing policy number on an account</a:t>
            </a:r>
          </a:p>
          <a:p>
            <a:r>
              <a:t>System does: Refused</a:t>
            </a:r>
          </a:p>
          <a:p>
            <a:r>
              <a:t>Shown: The refusal: the disposition is reserved to other roles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SCR-CL-03_wt-e-step-02.png.</a:t>
            </a:r>
          </a:p>
          <a:p>
            <a:r>
              <a:t>Persona does: Opens the account the Collection Handler is working on</a:t>
            </a:r>
          </a:p>
          <a:p>
            <a:r>
              <a:t>System does: Read only</a:t>
            </a:r>
          </a:p>
          <a:p>
            <a:r>
              <a:t>Shown: &lt;name&gt; is editing since &lt;time&gt;; Update Remarks, Log Effort and Record Disposition are not offered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SCR-CL-08_wt-e-step-03.png.</a:t>
            </a:r>
          </a:p>
          <a:p>
            <a:r>
              <a:t>Persona does: Records a promise of an amount above the outstanding of the account</a:t>
            </a:r>
          </a:p>
          <a:p>
            <a:r>
              <a:t>System does: Refused</a:t>
            </a:r>
          </a:p>
          <a:p>
            <a:r>
              <a:t>Shown: Promises Recorded with the outcome of the invoice: the promised amount is above the outstanding</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SCR-CL-14_wt-e-step-04.png.</a:t>
            </a:r>
          </a:p>
          <a:p>
            <a:r>
              <a:t>Persona does: Requests the application of a payment to an invoice number in the wrong format</a:t>
            </a:r>
          </a:p>
          <a:p>
            <a:r>
              <a:t>System does: Refused</a:t>
            </a:r>
          </a:p>
          <a:p>
            <a:r>
              <a:t>Shown: Under the field: The invoice number does not have the expected format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SCR-CL-01: SCR-CL-01_home.png, SCR-CL-01_wt-a-step-02.png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SCR-CL-01_home.png; FRS section 13.1.1.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SCR-CL-02: SCR-CL-02_list.png, SCR-CL-02_filters.png, SCR-CL-02_reassign.png, SCR-CL-02_wt-a-step-03.png, SCR-CL-02_empty.png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SCR-CL-02_list.png;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SCR-CL-02_list.png;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SCR-CL-02_list.png;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SCR-CL-02_filters.png;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SCR-CL-02_filters.png;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SCR-CL-02_filters.png;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SCR-CL-02_reassign.png;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SCR-CL-02_empty.png; FRS section 13.1.2.</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SCR-CL-02_empty.png; FRS section 13.1.2.</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SCR-CL-02_empty.png; FRS section 13.1.2.</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SCR-CL-03: SCR-CL-03_record.png, SCR-CL-03_dispositions.png, SCR-CL-03_history.png, SCR-CL-03_locked.png, SCR-CL-03_wt-a-step-04.png, SCR-CL-03_wt-e-step-01.png, SCR-CL-03_wt-e-step-02.png, SCR-CL-03_auditor.png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SCR-CL-03_record.png;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SCR-CL-03_record.png;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SCR-CL-03_record.png;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SCR-CL-03_dispositions.png;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SCR-CL-03_dispositions.png;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SCR-CL-03_history.png;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SCR-CL-03_history.png;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SCR-CL-03_locked.png;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SCR-CL-03_locked.png;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SCR-CL-03_locked.png;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SCR-CL-04: SCR-CL-04_client.png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SCR-CL-04_client.png; FRS section 13.1.4.</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SCR-CL-05: SCR-CL-05_list.png, SCR-CL-05_new.png, SCR-CL-05_wt-d-step-01.png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SCR-CL-05_list.png; FRS section 13.2.1.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SCR-CL-05_new.png; FRS section 13.2.1.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SCR-CL-05_new.png; FRS section 13.2.1.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SCR-CL-06: SCR-CL-06_record.png, SCR-CL-06_actions.png, SCR-CL-06_wt-d-step-02.png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SCR-CL-06_record.png;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SCR-CL-06_record.png;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SCR-CL-06_actions.png;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SCR-CL-06_actions.png;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SCR-CL-07: SCR-CL-07_list.png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SCR-CL-07_list.png; FRS section 13.2.3.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SCR-CL-08: SCR-CL-08_list.png, SCR-CL-08_new.png, SCR-CL-08_error.png, SCR-CL-08_wt-b-step-01.png, SCR-CL-08_wt-e-step-03.png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SCR-CL-08_list.png;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SCR-CL-08_new.png;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SCR-CL-08_new.png;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SCR-CL-08_error.png;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SCR-CL-08_error.png;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SCR-CL-09: SCR-CL-09_list.png, SCR-CL-09_run.png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SCR-CL-09_list.png; FRS section 13.2.5.</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SCR-CL-09_run.png; FRS section 13.2.5.</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SCR-CL-10: SCR-CL-10_record.png, SCR-CL-10_send.png, SCR-CL-10_wt-d-step-03.png, SCR-CL-10_wt-d-step-04.png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SCR-CL-10_record.png;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SCR-CL-10_record.png;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SCR-CL-10_record.png;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SCR-CL-10_send.png;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SCR-CL-10_send.png;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SCR-CL-10_send.png;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SCR-CL-11: SCR-CL-11_list.png, SCR-CL-11_new.png, SCR-CL-11_wt-b-step-02.png, SCR-CL-11_empty.png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SCR-CL-11_list.png; FRS section 13.3.1.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SCR-CL-11_new.png; FRS section 13.3.1.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SCR-CL-11_new.png; FRS section 13.3.1.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SCR-CL-11_empty.png; FRS section 13.3.1.</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SCR-CL-12: SCR-CL-12_record.png, SCR-CL-12_resolve.png, SCR-CL-12_wt-b-step-03.png, SCR-CL-12_wt-b-step-04.png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SCR-CL-12_record.png;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SCR-CL-12_record.png;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SCR-CL-12_record.png;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SCR-CL-12_resolve.png;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SCR-CL-13: SCR-CL-13_list.png, SCR-CL-13_new.png, SCR-CL-13_wt-b-step-05.png, SCR-CL-13_actions.png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SCR-CL-13_actions.png; FRS section 13.3.3.</a:t>
            </a:r>
          </a:p>
          <a:p>
            <a:r>
              <a:t>Personas: Section Head (Corporate / Retail).</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SCR-CL-13_new.png;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SCR-CL-13_new.png;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SCR-CL-13_new.png;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SCR-CL-13_list.png;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SCR-CL-14: SCR-CL-14_list.png, SCR-CL-14_apply.png, SCR-CL-14_error.png, SCR-CL-14_wt-c-step-01.png, SCR-CL-14_wt-e-step-04.png, SCR-CL-14_filters.png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SCR-CL-14_apply.png;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SCR-CL-14_apply.png;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SCR-CL-14_filters.png; FRS section 13.4.1.</a:t>
            </a:r>
          </a:p>
          <a:p>
            <a:r>
              <a:t>Personas: Unapplied Payment Handler.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SCR-CL-14_filters.png; FRS section 13.4.1.</a:t>
            </a:r>
          </a:p>
          <a:p>
            <a:r>
              <a:t>Personas: Unapplied Payment Handler.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SCR-CL-14_error.png;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SCR-CL-14_error.png;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SCR-CL-14_list.png;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SCR-CL-14_list.png;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SCR-CL-15: SCR-CL-15_record.png, SCR-CL-15_history.png, SCR-CL-15_wt-c-step-05.png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SCR-CL-15_record.png;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SCR-CL-15_record.png;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SCR-CL-15_history.png;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SCR-CL-15_history.png;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SCR-CL-16: SCR-CL-16_list.png, SCR-CL-16_wt-c-step-02.png, SCR-CL-16_wt-c-step-04.png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SCR-CL-16_list.png; FRS section 13.4.3.</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SCR-CL-17: SCR-CL-17_list.png, SCR-CL-17_preview.png, SCR-CL-17_new.png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SCR-CL-17_list.png;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SCR-CL-17_list.png;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SCR-CL-17_preview.png;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SCR-CL-17_preview.png;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SCR-CL-17_preview.png;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SCR-CL-17_new.png;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SCR-CL-18: SCR-CL-18_list.png, SCR-CL-18_generate.png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SCR-CL-18_list.png; FRS section 13.5.2.</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SCR-CL-18_list.png; FRS section 13.5.2.</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SCR-CL-18_generate.png; FRS section 13.5.2.</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SCR-CL-19: SCR-CL-19_record.png, SCR-CL-19_change.png, SCR-CL-19_wt-a-step-01.png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SCR-CL-19_change.png;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Title and reference: Statement of Account, SOA number and date – from the statement; Account: Name of the assured, ARN, billing frequency, billing cycle and due date – from the installment plan; Installments billed: the installment of the cycle and any earlier installment still unpaid (arrears), with invoice, policy year, coverage, due date, amount, paid and balance – from the plan and the invoice ledger; Amount due and the text of the template: settle the amount on or before the due date; disregard if paid; issued for monitoring only, creates no new receivable</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Client and account: Client Code, Name of Assured, Invoice No., Policy No., Account (ARN), Booking Date, Aging Bracket, Invoicing Branch, Insurer, Product Line, Inception, Expiry – from the invoice ledger; Amounts: Currency, Total Premium, Outstanding Premium, PR2307 Amount – from the invoice ledger; Ownership: Market Segment, Sales Unit, Unit Head, Account Officer, Collection Handler – from the sales organisation and the assignments; Collection work: Client Payment Status, Invoice Category, Disposition, Category (A/B/C), Tagging Owner, Last Collection Effort Date, Last Collection Effort Code, Remarks, Status – from the collection account</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Every collection account of the invoices booked in the period, any status, with the columns of the Outstanding PR List</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The accounts tagged DP PR for reversal or PR 2307 for reversal in the period, with the columns of the Outstanding PR List – from the collection accounts; Tagging: Date Tagged, Tagged By, Tag Remarks – from the disposition; Commission: Basic Commission, VAT on Commission, WTAX Rate and Diff (Premium Balance less PR2307) – from the invoice ledger</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One line per application request: Requested On, Payment Date, Payment File Name, Transaction No., Paid Amount, Currency, Payment Type, Payor, Reference No., Name of Assured, Invoice No., User ID (who made the disposition), Unapplied Reference, Status, Cashiering Reference – from the requests and Cashiering</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7.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2.png"/><Relationship Id="rId4"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3.png"/><Relationship Id="rId4"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4.png"/><Relationship Id="rId4"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3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3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3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3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3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3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3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4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4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4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4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4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4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4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49.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50.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5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5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5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5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5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5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6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6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6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70.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7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7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7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7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7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7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8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8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8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8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8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88.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89.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90.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9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9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9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9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9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200.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20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20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0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06.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0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08.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09.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10.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1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1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1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1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1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1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1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2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2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24.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25.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2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29.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31.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3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33.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34.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35.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36.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38.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39.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40.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4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44.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45.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4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4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48.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49.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50.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51.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5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BRD-4 Collections</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BRD-4 Collections: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BRD-4 Collections as the FRS v2.1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19 screens, 100 screen images, 52 screen states, 14 personas, 5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(v2.1, 8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187452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594360">
                <a:tc>
                  <a:txBody>
                    <a:bodyPr/>
                    <a:lstStyle/>
                    <a:p>
                      <a:r>
                        <a:rPr sz="1100" b="0">
                          <a:solidFill>
                            <a:srgbClr val="4B4B4B"/>
                          </a:solidFill>
                          <a:latin typeface="Arial"/>
                        </a:rPr>
                        <a:t>CHG-CL-2.1-01</a:t>
                      </a:r>
                    </a:p>
                  </a:txBody>
                  <a:tcPr marL="54864" marR="54864" marT="27432" marB="27432">
                    <a:solidFill>
                      <a:srgbClr val="FFFFFF"/>
                    </a:solidFill>
                  </a:tcPr>
                </a:tc>
                <a:tc>
                  <a:txBody>
                    <a:bodyPr/>
                    <a:lstStyle/>
                    <a:p>
                      <a:r>
                        <a:rPr sz="1100" b="0">
                          <a:solidFill>
                            <a:srgbClr val="4B4B4B"/>
                          </a:solidFill>
                          <a:latin typeface="Arial"/>
                        </a:rPr>
                        <a:t>Check pick-up removed from scope: no For check pick-up disposition and no pick-up details in Record Disposition; walkthrough A ends at the first collection effort (its steps 5 and 6 are retired)</a:t>
                      </a:r>
                    </a:p>
                  </a:txBody>
                  <a:tcPr marL="54864" marR="54864" marT="27432" marB="27432">
                    <a:solidFill>
                      <a:srgbClr val="FFFFFF"/>
                    </a:solidFill>
                  </a:tcPr>
                </a:tc>
                <a:tc>
                  <a:txBody>
                    <a:bodyPr/>
                    <a:lstStyle/>
                    <a:p>
                      <a:r>
                        <a:rPr sz="1100" b="0">
                          <a:solidFill>
                            <a:srgbClr val="4B4B4B"/>
                          </a:solidFill>
                          <a:latin typeface="Arial"/>
                        </a:rPr>
                        <a:t>SCR-CL-02, SCR-CL-03</a:t>
                      </a:r>
                    </a:p>
                  </a:txBody>
                  <a:tcPr marL="54864" marR="54864" marT="27432" marB="27432">
                    <a:solidFill>
                      <a:srgbClr val="FFFFFF"/>
                    </a:solidFill>
                  </a:tcPr>
                </a:tc>
                <a:tc>
                  <a:txBody>
                    <a:bodyPr/>
                    <a:lstStyle/>
                    <a:p>
                      <a:r>
                        <a:rPr sz="1100" b="0">
                          <a:solidFill>
                            <a:srgbClr val="4B4B4B"/>
                          </a:solidFill>
                          <a:latin typeface="Arial"/>
                        </a:rPr>
                        <a:t>2</a:t>
                      </a:r>
                    </a:p>
                  </a:txBody>
                  <a:tcPr marL="54864" marR="54864" marT="27432" marB="27432">
                    <a:solidFill>
                      <a:srgbClr val="FFFFFF"/>
                    </a:solidFill>
                  </a:tcPr>
                </a:tc>
              </a:tr>
              <a:tr h="594360">
                <a:tc>
                  <a:txBody>
                    <a:bodyPr/>
                    <a:lstStyle/>
                    <a:p>
                      <a:r>
                        <a:rPr sz="1100" b="0">
                          <a:solidFill>
                            <a:srgbClr val="4B4B4B"/>
                          </a:solidFill>
                          <a:latin typeface="Arial"/>
                        </a:rPr>
                        <a:t>CHG-CL-2.1-02</a:t>
                      </a:r>
                    </a:p>
                  </a:txBody>
                  <a:tcPr marL="54864" marR="54864" marT="27432" marB="27432">
                    <a:solidFill>
                      <a:srgbClr val="E5F5FF"/>
                    </a:solidFill>
                  </a:tcPr>
                </a:tc>
                <a:tc>
                  <a:txBody>
                    <a:bodyPr/>
                    <a:lstStyle/>
                    <a:p>
                      <a:r>
                        <a:rPr sz="1100" b="0">
                          <a:solidFill>
                            <a:srgbClr val="4B4B4B"/>
                          </a:solidFill>
                          <a:latin typeface="Arial"/>
                        </a:rPr>
                        <a:t>Billing statements generated, sent and cancelled by the Operations billing user; Collections users see the statements read only (Billing Run, Generate SOA, Send via Email and Cancel Statement not offered to them)</a:t>
                      </a:r>
                    </a:p>
                  </a:txBody>
                  <a:tcPr marL="54864" marR="54864" marT="27432" marB="27432">
                    <a:solidFill>
                      <a:srgbClr val="E5F5FF"/>
                    </a:solidFill>
                  </a:tcPr>
                </a:tc>
                <a:tc>
                  <a:txBody>
                    <a:bodyPr/>
                    <a:lstStyle/>
                    <a:p>
                      <a:r>
                        <a:rPr sz="1100" b="0">
                          <a:solidFill>
                            <a:srgbClr val="4B4B4B"/>
                          </a:solidFill>
                          <a:latin typeface="Arial"/>
                        </a:rPr>
                        <a:t>SCR-CL-06, SCR-CL-09, SCR-CL-10</a:t>
                      </a:r>
                    </a:p>
                  </a:txBody>
                  <a:tcPr marL="54864" marR="54864" marT="27432" marB="27432">
                    <a:solidFill>
                      <a:srgbClr val="E5F5FF"/>
                    </a:solidFill>
                  </a:tcPr>
                </a:tc>
                <a:tc>
                  <a:txBody>
                    <a:bodyPr/>
                    <a:lstStyle/>
                    <a:p>
                      <a:r>
                        <a:rPr sz="1100" b="0">
                          <a:solidFill>
                            <a:srgbClr val="4B4B4B"/>
                          </a:solidFill>
                          <a:latin typeface="Arial"/>
                        </a:rPr>
                        <a:t>9</a:t>
                      </a:r>
                    </a:p>
                  </a:txBody>
                  <a:tcPr marL="54864" marR="54864" marT="27432" marB="27432">
                    <a:solidFill>
                      <a:srgbClr val="E5F5FF"/>
                    </a:solidFill>
                  </a:tcPr>
                </a:tc>
              </a:tr>
              <a:tr h="426720">
                <a:tc>
                  <a:txBody>
                    <a:bodyPr/>
                    <a:lstStyle/>
                    <a:p>
                      <a:r>
                        <a:rPr sz="1100" b="0">
                          <a:solidFill>
                            <a:srgbClr val="4B4B4B"/>
                          </a:solidFill>
                          <a:latin typeface="Arial"/>
                        </a:rPr>
                        <a:t>CHG-CL-2.1-03</a:t>
                      </a:r>
                    </a:p>
                  </a:txBody>
                  <a:tcPr marL="54864" marR="54864" marT="27432" marB="27432">
                    <a:solidFill>
                      <a:srgbClr val="FFFFFF"/>
                    </a:solidFill>
                  </a:tcPr>
                </a:tc>
                <a:tc>
                  <a:txBody>
                    <a:bodyPr/>
                    <a:lstStyle/>
                    <a:p>
                      <a:r>
                        <a:rPr sz="1100" b="0">
                          <a:solidFill>
                            <a:srgbClr val="4B4B4B"/>
                          </a:solidFill>
                          <a:latin typeface="Arial"/>
                        </a:rPr>
                        <a:t>Collections Home: tiles Broken Promises, Promises Due, Overdue Installments and Open Escalations for the handlers and team leads (proposed, CLR-CL-35)</a:t>
                      </a:r>
                    </a:p>
                  </a:txBody>
                  <a:tcPr marL="54864" marR="54864" marT="27432" marB="27432">
                    <a:solidFill>
                      <a:srgbClr val="FFFFFF"/>
                    </a:solidFill>
                  </a:tcPr>
                </a:tc>
                <a:tc>
                  <a:txBody>
                    <a:bodyPr/>
                    <a:lstStyle/>
                    <a:p>
                      <a:r>
                        <a:rPr sz="1100" b="0">
                          <a:solidFill>
                            <a:srgbClr val="4B4B4B"/>
                          </a:solidFill>
                          <a:latin typeface="Arial"/>
                        </a:rPr>
                        <a:t>SCR-CL-01</a:t>
                      </a:r>
                    </a:p>
                  </a:txBody>
                  <a:tcPr marL="54864" marR="54864" marT="27432" marB="27432">
                    <a:solidFill>
                      <a:srgbClr val="FFFFFF"/>
                    </a:solidFill>
                  </a:tcPr>
                </a:tc>
                <a:tc>
                  <a:txBody>
                    <a:bodyPr/>
                    <a:lstStyle/>
                    <a:p>
                      <a:r>
                        <a:rPr sz="1100" b="0">
                          <a:solidFill>
                            <a:srgbClr val="4B4B4B"/>
                          </a:solidFill>
                          <a:latin typeface="Arial"/>
                        </a:rPr>
                        <a:t>2</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66344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 (Zean C. Ibay)</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77724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Collections and Marketing Support, HO Marketing Support BBG, Operations, Marketing and Business Services, Marketing - Head Office, Marketing Business Services and System Support (Pia Grace M. Pinili, Maria Victoria Evangelista, Grace Tordesillas, Ma. Fides E. Rivera, Arra R. Rivera, Rhommel Mark Galler)</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worklist, collection account, disposition, promise, installment, escalation, billing statement and unapplied payment screens, fields, rules and messages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Operations: Financial Transactions and Processing (Perjelyn Joy Gutierrez)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hand-offs to Cashiering and Commission Receivables, the requests on unapplied payments and the reversal files match what Operations carries out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VP and Head, BDOI Operations (John Benedict S. Santos)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Collections process with Operations and the caveat of p.95: exports and downloads run in the background and do not slow the system</a:t>
                      </a:r>
                    </a:p>
                  </a:txBody>
                  <a:tcPr marL="54864" marR="54864" marT="27432" marB="27432">
                    <a:solidFill>
                      <a:srgbClr val="FFFFFF"/>
                    </a:solidFill>
                  </a:tcPr>
                </a:tc>
              </a:tr>
              <a:tr h="50292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IT Core Business Delivery (Reynaldo Valera Jr.) and IT AIO Core Business Delivery - Insurance (Wynonah Allyssa D. Agojo)</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Scheduled runs and files, user access and menus, the hand-offs inside BIBS and the Technical Specification (a separate document); not the business screens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Program Manager, Enterprise Services Group - Business Project Services (BPS) (Dan Ace Cauton)</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AVP (Shellah Marie C. Miranda)</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and approves all of its contents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AVP (Jose Melvin Jarin)</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addendum functions: escalation, bulk update, reassignment, installments, promises, billing statements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Combank and Corbank (Mark Joseph C. Makalintal) and Heads of Retail Marketing (Edmundante F. Ramirez, Roderick Lim)</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collector screens, rules and messages for the Corporate, Commercial and Retail Marketing units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 VP (Ronald Allan E. De Leon)</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commission receivable gate and the draft rows on incentives, commission refunds and mixed payments</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59436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87680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flags (for example On Hold or Locked by Adjustment on a collection account) and the key facts. Page actions on the right in one order: secondary, primary, and the destructive action last and apart.</a:t>
                      </a:r>
                    </a:p>
                  </a:txBody>
                  <a:tcPr marL="54864" marR="54864" marT="27432" marB="27432">
                    <a:solidFill>
                      <a:srgbClr val="FFFFFF"/>
                    </a:solidFill>
                  </a:tcPr>
                </a:tc>
              </a:tr>
              <a:tr h="7010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stage shows in amber after the stage it came from;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3962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hand-offs of an account: Feed, Reference, Sent, Taken, Status);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 A table fits the page: related values share a column (one under the other) rather than scrolling sideways.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5486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Pending Authorization, With Outstanding Balance); an agreed short form, with the full label in the tooltip, only for a label longer than 21 characters.</a:t>
                      </a:r>
                    </a:p>
                  </a:txBody>
                  <a:tcPr marL="54864" marR="54864" marT="27432" marB="27432">
                    <a:solidFill>
                      <a:srgbClr val="FFFFFF"/>
                    </a:solidFill>
                  </a:tcPr>
                </a:tc>
              </a:tr>
              <a:tr h="2438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insurers by name; users by their names, never by their user ID.</a:t>
                      </a:r>
                    </a:p>
                  </a:txBody>
                  <a:tcPr marL="54864" marR="54864" marT="27432" marB="27432">
                    <a:solidFill>
                      <a:srgbClr val="E5F5FF"/>
                    </a:solidFill>
                  </a:tcPr>
                </a:tc>
              </a:tr>
              <a:tr h="3962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277368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(coverage, billing cycle, the period of a file) is shown in lists on two lines, the start date and "to" the end date, each date kept whole; an open end reads "to open". In a sentence or a label and value grid it is one line: "01-Sep-2026 to 30-Nov-2026".</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authorize,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NAV-CL-01 The page Marketing Account Officer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NAV-CL-01 Every group of the menu open (part 1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NAV-CL-01 Every group of the menu open (part 2 of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Account Officer: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NAV-CL-02 The page Marketing Team Lead sees after sign-in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NAV-CL-02 Every group of the menu open (part 1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NAV-CL-02 Every group of the menu open (part 2 of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Team Lead: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Assignments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NAV-CL-03 The page Marketing Handler sees after sign-in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263066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NAV-CL-03 Every group of the menu open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Handler: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NAV-CL-04 The page Collection Handler sees after sign-in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Handler: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NAV-CL-04 Every group of the menu open (part 1 of 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Handler: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4865027" y="1261872"/>
            <a:ext cx="2461641" cy="26219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NAV-CL-04 Every group of the menu open (part 2 of 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Collection Handler: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NAV-CL-05 The page Collection Team Lead sees after sign-in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Team Lead: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27.png"/>
          <p:cNvPicPr>
            <a:picLocks noChangeAspect="1"/>
          </p:cNvPicPr>
          <p:nvPr/>
        </p:nvPicPr>
        <p:blipFill>
          <a:blip r:embed="rId5"/>
          <a:stretch>
            <a:fillRect/>
          </a:stretch>
        </p:blipFill>
        <p:spPr>
          <a:xfrm>
            <a:off x="6210147" y="1261872"/>
            <a:ext cx="2461641" cy="4611243"/>
          </a:xfrm>
          <a:prstGeom prst="rect">
            <a:avLst/>
          </a:prstGeom>
          <a:ln w="9525">
            <a:solidFill>
              <a:srgbClr val="C2C2C1"/>
            </a:solidFill>
          </a:ln>
        </p:spPr>
      </p:pic>
      <p:pic>
        <p:nvPicPr>
          <p:cNvPr id="13" name="Picture 12" descr="slice-00028.png"/>
          <p:cNvPicPr>
            <a:picLocks noChangeAspect="1"/>
          </p:cNvPicPr>
          <p:nvPr/>
        </p:nvPicPr>
        <p:blipFill>
          <a:blip r:embed="rId6"/>
          <a:stretch>
            <a:fillRect/>
          </a:stretch>
        </p:blipFill>
        <p:spPr>
          <a:xfrm>
            <a:off x="8900388" y="1261872"/>
            <a:ext cx="2461641" cy="344543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NAV-CL-05 Every group of the menu open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Collection Team Lead: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Assignments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Section Head (Corporate / Retail):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NAV-CL-06 The page Section Head (Corporate / Retail)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Section Head (Corporate / Retail):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0.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31.png"/>
          <p:cNvPicPr>
            <a:picLocks noChangeAspect="1"/>
          </p:cNvPicPr>
          <p:nvPr/>
        </p:nvPicPr>
        <p:blipFill>
          <a:blip r:embed="rId5"/>
          <a:stretch>
            <a:fillRect/>
          </a:stretch>
        </p:blipFill>
        <p:spPr>
          <a:xfrm>
            <a:off x="6210147" y="1261872"/>
            <a:ext cx="2461641" cy="4611243"/>
          </a:xfrm>
          <a:prstGeom prst="rect">
            <a:avLst/>
          </a:prstGeom>
          <a:ln w="9525">
            <a:solidFill>
              <a:srgbClr val="C2C2C1"/>
            </a:solidFill>
          </a:ln>
        </p:spPr>
      </p:pic>
      <p:pic>
        <p:nvPicPr>
          <p:cNvPr id="13" name="Picture 12" descr="slice-00032.png"/>
          <p:cNvPicPr>
            <a:picLocks noChangeAspect="1"/>
          </p:cNvPicPr>
          <p:nvPr/>
        </p:nvPicPr>
        <p:blipFill>
          <a:blip r:embed="rId6"/>
          <a:stretch>
            <a:fillRect/>
          </a:stretch>
        </p:blipFill>
        <p:spPr>
          <a:xfrm>
            <a:off x="8900388" y="1261872"/>
            <a:ext cx="2461641" cy="37921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NAV-CL-06 Every group of the menu open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Section Head (Corporate / Retail):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graphicFrame>
        <p:nvGraphicFramePr>
          <p:cNvPr id="9" name="Table 8"/>
          <p:cNvGraphicFramePr>
            <a:graphicFrameLocks noGrp="1"/>
          </p:cNvGraphicFramePr>
          <p:nvPr/>
        </p:nvGraphicFramePr>
        <p:xfrm>
          <a:off x="548640" y="1325880"/>
          <a:ext cx="11094414" cy="36271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Assignments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Setup</a:t>
                      </a:r>
                    </a:p>
                  </a:txBody>
                  <a:tcPr marL="54864" marR="54864" marT="27432" marB="27432">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Unapplied Payment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NAV-CL-07 The page Unapplied Payment Handler sees after sign-in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Unapplied Payment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263066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NAV-CL-07 Every group of the menu open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Unapplied Payment Handler: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NAV-CL-08 The page Processing Unit sees after sign-in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9.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4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NAV-CL-08 Every group of the menu open (part 1 of 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6210147" y="1261872"/>
            <a:ext cx="2461641" cy="276067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NAV-CL-08 Every group of the menu open (part 2 of 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graphicFrame>
        <p:nvGraphicFramePr>
          <p:cNvPr id="9" name="Table 8"/>
          <p:cNvGraphicFramePr>
            <a:graphicFrameLocks noGrp="1"/>
          </p:cNvGraphicFramePr>
          <p:nvPr/>
        </p:nvGraphicFramePr>
        <p:xfrm>
          <a:off x="548640" y="1325880"/>
          <a:ext cx="11094414" cy="25908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Cashier (read access and exports):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NAV-CL-09 The page Cashier (read access and exports) sees after sign-in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Cashier (read access and exports):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3.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4.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6.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NAV-CL-09 Every group of the menu open (part 1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Cashier (read access and exports):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7.png"/>
          <p:cNvPicPr>
            <a:picLocks noChangeAspect="1"/>
          </p:cNvPicPr>
          <p:nvPr/>
        </p:nvPicPr>
        <p:blipFill>
          <a:blip r:embed="rId3"/>
          <a:stretch>
            <a:fillRect/>
          </a:stretch>
        </p:blipFill>
        <p:spPr>
          <a:xfrm>
            <a:off x="3519906" y="1261872"/>
            <a:ext cx="2461641" cy="4658915"/>
          </a:xfrm>
          <a:prstGeom prst="rect">
            <a:avLst/>
          </a:prstGeom>
          <a:ln w="9525">
            <a:solidFill>
              <a:srgbClr val="C2C2C1"/>
            </a:solidFill>
          </a:ln>
        </p:spPr>
      </p:pic>
      <p:pic>
        <p:nvPicPr>
          <p:cNvPr id="11" name="Picture 10" descr="slice-00048.png"/>
          <p:cNvPicPr>
            <a:picLocks noChangeAspect="1"/>
          </p:cNvPicPr>
          <p:nvPr/>
        </p:nvPicPr>
        <p:blipFill>
          <a:blip r:embed="rId4"/>
          <a:stretch>
            <a:fillRect/>
          </a:stretch>
        </p:blipFill>
        <p:spPr>
          <a:xfrm>
            <a:off x="6210147" y="1261872"/>
            <a:ext cx="2461641" cy="12134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NAV-CL-09 Every group of the menu open (part 2 of 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Cashier (read access and exports):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Disbursement (read access and exports):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NAV-CL-10 The page Disbursement (read access and exports) sees after sign-in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Disbursement (read access and exports):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0.png"/>
          <p:cNvPicPr>
            <a:picLocks noChangeAspect="1"/>
          </p:cNvPicPr>
          <p:nvPr/>
        </p:nvPicPr>
        <p:blipFill>
          <a:blip r:embed="rId4"/>
          <a:stretch>
            <a:fillRect/>
          </a:stretch>
        </p:blipFill>
        <p:spPr>
          <a:xfrm>
            <a:off x="3519906" y="1261872"/>
            <a:ext cx="2461641" cy="4611243"/>
          </a:xfrm>
          <a:prstGeom prst="rect">
            <a:avLst/>
          </a:prstGeom>
          <a:ln w="9525">
            <a:solidFill>
              <a:srgbClr val="C2C2C1"/>
            </a:solidFill>
          </a:ln>
        </p:spPr>
      </p:pic>
      <p:pic>
        <p:nvPicPr>
          <p:cNvPr id="12" name="Picture 11" descr="slice-0005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2.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NAV-CL-10 Every group of the menu open (part 1 of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Disbursement (read access and exports):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3.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54.png"/>
          <p:cNvPicPr>
            <a:picLocks noChangeAspect="1"/>
          </p:cNvPicPr>
          <p:nvPr/>
        </p:nvPicPr>
        <p:blipFill>
          <a:blip r:embed="rId4"/>
          <a:stretch>
            <a:fillRect/>
          </a:stretch>
        </p:blipFill>
        <p:spPr>
          <a:xfrm>
            <a:off x="6210147" y="1261872"/>
            <a:ext cx="2461641" cy="148651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NAV-CL-10 Every group of the menu open (part 2 of 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(read access and exports):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NAV-CL-11 The page Comptrollership (read access) sees after sign-in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5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8.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NAV-CL-11 Every group of the menu open (part 1 of 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1.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62.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NAV-CL-11 Every group of the menu open (part 2 of 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Comptrollership (read access):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The page Business Administrator sees after sign-in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6.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Every group of the menu open (part 1 of 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7.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68.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6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0.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Every group of the menu open (part 2 of 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Every group of the menu open (part 3 of 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Business Administrator: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Setup</a:t>
                      </a:r>
                    </a:p>
                  </a:txBody>
                  <a:tcPr marL="54864" marR="54864" marT="27432" marB="27432">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The page System Administrator sees after sign-in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2.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7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7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5.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Every group of the menu open (part 1 of 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7.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7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Every group of the menu open (part 2 of 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2.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83.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Every group of the menu open (part 3 of 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Setup</a:t>
                      </a:r>
                    </a:p>
                  </a:txBody>
                  <a:tcPr marL="54864" marR="54864" marT="27432" marB="27432">
                    <a:solidFill>
                      <a:srgbClr val="E5F5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The page Auditor sees after sign-in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4.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8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6.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8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1 of 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1.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2 of 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3.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9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5.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3 of 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8.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99.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4 of 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who follows up the premium of the own accounts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Follows up own accounts; efforts, dispositions, promises, manual escalation; unapplied dispositions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WT-E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team lead who acts on escalations, reassigns accounts and updates several accounts at once</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AO, plus bulk update, assignment, installment plans, viewing the billing statements and acting on escalations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SCR-CL-17 Assignments</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handler who follows up the accounts of the unit, also several at once</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AO, plus bulk update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Collection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graphicFrame>
        <p:nvGraphicFramePr>
          <p:cNvPr id="9" name="Table 8"/>
          <p:cNvGraphicFramePr>
            <a:graphicFrameLocks noGrp="1"/>
          </p:cNvGraphicFramePr>
          <p:nvPr/>
        </p:nvGraphicFramePr>
        <p:xfrm>
          <a:off x="548640" y="1307592"/>
          <a:ext cx="5410047" cy="187452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collection handler who works the accounts assigned to her: efforts, dispositions, promises and installment plans; she sees the statements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Works the assigned accounts, unapplied payments and installment plans; views the billing statements, Remittance and the Production Register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NAV-CL-04</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3, 4; WT-B steps 1, 2; WT-D steps 1; WT-E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Collection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the collection handlers, who assigns the accounts and acts on the escalations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handler, plus assignment and acting on escalations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 4; WT-E steps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SCR-CL-17 Assignments</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Section Head (Corporate / Retail)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head of the Corporate or Retail section, who keeps the Collections set-up and reads the audit log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TL, plus Collections set-up (threshold, disposition options) and the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SCR-CL-17 Assignments</a:t>
            </a:r>
          </a:p>
          <a:p>
            <a:pPr>
              <a:spcAft>
                <a:spcPts val="600"/>
              </a:spcAft>
            </a:pPr>
            <a:r>
              <a:rPr sz="900">
                <a:solidFill>
                  <a:srgbClr val="004EA8"/>
                </a:solidFill>
                <a:latin typeface="Arial"/>
              </a:rPr>
              <a:t>•  </a:t>
            </a:r>
            <a:r>
              <a:rPr sz="900">
                <a:solidFill>
                  <a:srgbClr val="4B4B4B"/>
                </a:solidFill>
                <a:latin typeface="Arial"/>
              </a:rPr>
              <a:t>SCR-CL-18 Collections Files</a:t>
            </a:r>
          </a:p>
          <a:p>
            <a:pPr>
              <a:spcAft>
                <a:spcPts val="600"/>
              </a:spcAft>
            </a:pPr>
            <a:r>
              <a:rPr sz="900">
                <a:solidFill>
                  <a:srgbClr val="004EA8"/>
                </a:solidFill>
                <a:latin typeface="Arial"/>
              </a:rPr>
              <a:t>•  </a:t>
            </a:r>
            <a:r>
              <a:rPr sz="900">
                <a:solidFill>
                  <a:srgbClr val="4B4B4B"/>
                </a:solidFill>
                <a:latin typeface="Arial"/>
              </a:rPr>
              <a:t>SCR-CL-19 Collections Setup</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Unapplied Payment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handler of the unapplied payments, who records the dispositions and the requests to Cashiering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Dispositions and application requests on unapplied payments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1, 2, 4, 5; WT-E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 Unit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Processing officer, who records the disposition No / missing policy number</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Disposition "no / missing policy number" only</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 (read access and exports)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graphicFrame>
        <p:nvGraphicFramePr>
          <p:cNvPr id="9" name="Table 8"/>
          <p:cNvGraphicFramePr>
            <a:graphicFrameLocks noGrp="1"/>
          </p:cNvGraphicFramePr>
          <p:nvPr/>
        </p:nvGraphicFramePr>
        <p:xfrm>
          <a:off x="548640" y="1307592"/>
          <a:ext cx="5410047" cy="204216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cashier who reads the Collections screens and carries out the collector requests; the Cashiering Team Leader / Head generates the statements of account</a:t>
                      </a:r>
                    </a:p>
                  </a:txBody>
                  <a:tcPr marL="54864" marR="54864" marT="27432" marB="27432">
                    <a:solidFill>
                      <a:srgbClr val="FFFFFF"/>
                    </a:solidFill>
                  </a:tcPr>
                </a:tc>
              </a:tr>
              <a:tr h="92964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and exports; executes the application requests on its Incoming Requests screen; the Cashiering Team Leader / Head is the proposed Operations billing user who generates and sends the billing statements (CLR-CL-32)</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Disbursement (read access and exports)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officer with read access to Collections and its files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and reports (Disbursement also exports)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 (read access)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officer with read access to Collections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and reports (Disbursement also exports)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who keeps the Collections set-up and the escalation rules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Collections set-up, audit log, interface (sync) view and job runs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SCR-CL-19 Collections Setup</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set-up (SYSADMIN) and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a:p>
            <a:pPr>
              <a:spcAft>
                <a:spcPts val="600"/>
              </a:spcAft>
            </a:pPr>
            <a:r>
              <a:rPr sz="900">
                <a:solidFill>
                  <a:srgbClr val="004EA8"/>
                </a:solidFill>
                <a:latin typeface="Arial"/>
              </a:rPr>
              <a:t>•  </a:t>
            </a:r>
            <a:r>
              <a:rPr sz="900">
                <a:solidFill>
                  <a:srgbClr val="4B4B4B"/>
                </a:solidFill>
                <a:latin typeface="Arial"/>
              </a:rPr>
              <a:t>SCR-CL-19 Collections Setup</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Collections and its audit log</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set-up (SYSADMIN) and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new outstanding account from the refresh of the worklist to the first collection effort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new outstanding account from the refresh of the worklist to the first collection effort</a:t>
                      </a:r>
                    </a:p>
                  </a:txBody>
                  <a:tcPr marL="54864" marR="54864" marT="27432" marB="27432">
                    <a:solidFill>
                      <a:srgbClr val="FFFFFF"/>
                    </a:solidFill>
                  </a:tcPr>
                </a:tc>
              </a:tr>
              <a:tr h="1005835">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Two accounts booked by Processing are in the Operations invoice ledger, unpaid. The refresh of the worklist (every night; here run on demand from Collections Setup) lists their invoices and assigns them by the assignment rules. The Collection Handler finds the new account in her worklist and logs a phone call to the client. The check pick-up by Cashiering that ended this walkthrough in version 2.0 is removed from scope by the Operations Cashiering annex (CSHID.009); its two frames are retired (CLR-CL-33).</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accounts ARN-2026-940007 and ARN-2026-940008 booked by Processing (Mabuhay General Insurance Corp.); assignment rule Consumer banking accounts (segment CBG) to Clara Collection Handler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Section Head (Corporate / Retail), Collection Handler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Section Head (Corporate / Retail)</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Collections Setup</a:t>
            </a:r>
          </a:p>
        </p:txBody>
      </p:sp>
      <p:sp>
        <p:nvSpPr>
          <p:cNvPr id="16" name="Rounded Rectangle 15"/>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Collections Home</a:t>
            </a:r>
          </a:p>
        </p:txBody>
      </p:sp>
      <p:sp>
        <p:nvSpPr>
          <p:cNvPr id="17" name="Rounded Rectangle 16"/>
          <p:cNvSpPr/>
          <p:nvPr/>
        </p:nvSpPr>
        <p:spPr>
          <a:xfrm>
            <a:off x="7087970"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PR Worklist</a:t>
            </a:r>
          </a:p>
        </p:txBody>
      </p:sp>
      <p:sp>
        <p:nvSpPr>
          <p:cNvPr id="18" name="Rounded Rectangle 17"/>
          <p:cNvSpPr/>
          <p:nvPr/>
        </p:nvSpPr>
        <p:spPr>
          <a:xfrm>
            <a:off x="9415803"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Collection Account</a:t>
            </a:r>
          </a:p>
        </p:txBody>
      </p:sp>
      <p:cxnSp>
        <p:nvCxnSpPr>
          <p:cNvPr id="19" name="Connector 18"/>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6802"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14635"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4: Collections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Section Head (Corporate / Retail): Clicks Refresh Worklist Now on Collections Setup</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Worklist refreshed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with the outcome of the refresh: the accounts listed and updated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Collection Handler on Collections Home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4: Collections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CHG-CL-2.1-03</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wt-a-02.png"/>
          <p:cNvPicPr>
            <a:picLocks noChangeAspect="1"/>
          </p:cNvPicPr>
          <p:nvPr/>
        </p:nvPicPr>
        <p:blipFill>
          <a:blip r:embed="rId3"/>
          <a:stretch>
            <a:fillRect/>
          </a:stretch>
        </p:blipFill>
        <p:spPr>
          <a:xfrm>
            <a:off x="548640" y="1261872"/>
            <a:ext cx="7665415" cy="3601423"/>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SCR-CL-01</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Collections Home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My Open Accounts counts the new account assigned to her by the rule; the open amounts by aging bracket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Collection Handler on PR Worklist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4: PR Worklist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3.png"/>
          <p:cNvPicPr>
            <a:picLocks noChangeAspect="1"/>
          </p:cNvPicPr>
          <p:nvPr/>
        </p:nvPicPr>
        <p:blipFill>
          <a:blip r:embed="rId3"/>
          <a:stretch>
            <a:fillRect/>
          </a:stretch>
        </p:blipFill>
        <p:spPr>
          <a:xfrm>
            <a:off x="814806" y="1261872"/>
            <a:ext cx="7133082"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the PR Worklist with Only mine ticked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the worklist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new invoice with the client, segment, booking date and aging, outstanding premium, her name as handler and no disposition yet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Collection Handler on Collection Account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4: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4.png"/>
          <p:cNvPicPr>
            <a:picLocks noChangeAspect="1"/>
          </p:cNvPicPr>
          <p:nvPr/>
        </p:nvPicPr>
        <p:blipFill>
          <a:blip r:embed="rId3"/>
          <a:stretch>
            <a:fillRect/>
          </a:stretch>
        </p:blipFill>
        <p:spPr>
          <a:xfrm>
            <a:off x="1544250" y="1261872"/>
            <a:ext cx="5674194"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the account and clicks Log Effort: Phone call to the client's finance officer</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Effort logged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Effort logged; the Summary tab shows the last effort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A promise to pay, the escalation of the account and its resolution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A promise to pay, the escalation of the account and its resolution</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client of walkthrough A promises to pay half of the premium in ten days. The insurer refuses a credit term extension, so the Collection Handler escalates the account to the Collection Team Lead, who acknowledges it and resolves it with the agreed arrangement. The authorizer of master data then authorizes the escalation rule for accounts of one million or more that the Business Administrator set up.</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account of walkthrough A; escalation rule CLX-AMOUNT-1M waiting for authorization (made by the Business Administrator)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Collection Handler, Collection Team Lead, Authorizer of master data</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2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Collection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Authorizer of master data</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Promises to Pay</a:t>
            </a:r>
          </a:p>
        </p:txBody>
      </p:sp>
      <p:sp>
        <p:nvSpPr>
          <p:cNvPr id="19" name="Rounded Rectangle 18"/>
          <p:cNvSpPr/>
          <p:nvPr/>
        </p:nvSpPr>
        <p:spPr>
          <a:xfrm>
            <a:off x="4294571"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Escalations</a:t>
            </a:r>
          </a:p>
        </p:txBody>
      </p:sp>
      <p:sp>
        <p:nvSpPr>
          <p:cNvPr id="20" name="Rounded Rectangle 19"/>
          <p:cNvSpPr/>
          <p:nvPr/>
        </p:nvSpPr>
        <p:spPr>
          <a:xfrm>
            <a:off x="6156838"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Escalation</a:t>
            </a:r>
          </a:p>
        </p:txBody>
      </p:sp>
      <p:sp>
        <p:nvSpPr>
          <p:cNvPr id="21" name="Rounded Rectangle 20"/>
          <p:cNvSpPr/>
          <p:nvPr/>
        </p:nvSpPr>
        <p:spPr>
          <a:xfrm>
            <a:off x="8019105"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Escalation</a:t>
            </a:r>
          </a:p>
        </p:txBody>
      </p:sp>
      <p:sp>
        <p:nvSpPr>
          <p:cNvPr id="22" name="Rounded Rectangle 21"/>
          <p:cNvSpPr/>
          <p:nvPr/>
        </p:nvSpPr>
        <p:spPr>
          <a:xfrm>
            <a:off x="9881372" y="3136392"/>
            <a:ext cx="16610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Escalation Rules</a:t>
            </a:r>
          </a:p>
        </p:txBody>
      </p:sp>
      <p:sp>
        <p:nvSpPr>
          <p:cNvPr id="23" name="Rounded Rectangle 22"/>
          <p:cNvSpPr/>
          <p:nvPr/>
        </p:nvSpPr>
        <p:spPr>
          <a:xfrm>
            <a:off x="10884103"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cxnSp>
        <p:nvCxnSpPr>
          <p:cNvPr id="24" name="Connector 23"/>
          <p:cNvCxnSpPr/>
          <p:nvPr/>
        </p:nvCxnSpPr>
        <p:spPr>
          <a:xfrm>
            <a:off x="40934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5567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7937"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8020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 of 5: Promises to Pay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548640" y="1261872"/>
            <a:ext cx="7665415" cy="384232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Record Promise and enters the invoice, the promised payment date in ten days and half of the outstanding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Promise open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Promises Recorded: the promise of the invoice recorded; it is on Open Promises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Collection Handler on Escalations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5: Escalations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2.png"/>
          <p:cNvPicPr>
            <a:picLocks noChangeAspect="1"/>
          </p:cNvPicPr>
          <p:nvPr/>
        </p:nvPicPr>
        <p:blipFill>
          <a:blip r:embed="rId3"/>
          <a:stretch>
            <a:fillRect/>
          </a:stretch>
        </p:blipFill>
        <p:spPr>
          <a:xfrm>
            <a:off x="548640" y="1261872"/>
            <a:ext cx="7665415" cy="293949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Escalate Accounts and enters the invoice, Team Lead and the reason Credit term extension refused by the insurer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Escalated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Escalation Results: one escalation raised for the account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Collection Team Lead on Escalation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5: Escalation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Team Lead: Opens the escalation from With Team Lead and clicks Acknowledge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action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escalation is In action with the step in its history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Collection Team Lead on Escalation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5: Escalation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Team Lead: Clicks Resolve and gives the resolution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Resolved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escalation is Resolved with the resolution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Authorizer of master data on Escalation Rules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5: Escalation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5.png"/>
          <p:cNvPicPr>
            <a:picLocks noChangeAspect="1"/>
          </p:cNvPicPr>
          <p:nvPr/>
        </p:nvPicPr>
        <p:blipFill>
          <a:blip r:embed="rId3"/>
          <a:stretch>
            <a:fillRect/>
          </a:stretch>
        </p:blipFill>
        <p:spPr>
          <a:xfrm>
            <a:off x="548640" y="1261872"/>
            <a:ext cx="7665415" cy="428554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Authorizer of master data: Opens Escalation Rules and, from the row menu of CLX-AMOUNT-1M, authorizes the rule made by the Business Administrator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Rule in force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rule is Active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An unapplied payment applied to an invoice at the collector's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An unapplied payment applied to an invoice at the collector's request</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payment that Cashiering could not match waits in the unapplied payments. The Unapplied Payment Handler finds the invoice the client paid and requests its application; Cashiering accepts the request on its Incoming Requests and the payment is applied to the invoice; the collector sees the request executed and the whole history of the payment.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unapplied payment UNP-2026-000008 (Liza Manalo, 1,200.00, not matched); the invoice of account ARN-2026-940008</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Unapplied Payment Handler, Cashier (read access and exports)</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Unapplied Payment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Cashier (read access and exports)</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Unapplied Payments</a:t>
            </a:r>
          </a:p>
        </p:txBody>
      </p:sp>
      <p:sp>
        <p:nvSpPr>
          <p:cNvPr id="16" name="Rounded Rectangle 15"/>
          <p:cNvSpPr/>
          <p:nvPr/>
        </p:nvSpPr>
        <p:spPr>
          <a:xfrm>
            <a:off x="4294571"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Requests to Cashiering</a:t>
            </a:r>
          </a:p>
        </p:txBody>
      </p:sp>
      <p:sp>
        <p:nvSpPr>
          <p:cNvPr id="17" name="Rounded Rectangle 16"/>
          <p:cNvSpPr/>
          <p:nvPr/>
        </p:nvSpPr>
        <p:spPr>
          <a:xfrm>
            <a:off x="6156838"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Incoming Requests</a:t>
            </a:r>
          </a:p>
        </p:txBody>
      </p:sp>
      <p:sp>
        <p:nvSpPr>
          <p:cNvPr id="18" name="Rounded Rectangle 17"/>
          <p:cNvSpPr/>
          <p:nvPr/>
        </p:nvSpPr>
        <p:spPr>
          <a:xfrm>
            <a:off x="8019105"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Requests to Cashiering</a:t>
            </a:r>
          </a:p>
        </p:txBody>
      </p:sp>
      <p:sp>
        <p:nvSpPr>
          <p:cNvPr id="19" name="Rounded Rectangle 18"/>
          <p:cNvSpPr/>
          <p:nvPr/>
        </p:nvSpPr>
        <p:spPr>
          <a:xfrm>
            <a:off x="9881372"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Unapplied Payment</a:t>
            </a:r>
          </a:p>
        </p:txBody>
      </p:sp>
      <p:cxnSp>
        <p:nvCxnSpPr>
          <p:cNvPr id="20" name="Connector 19"/>
          <p:cNvCxnSpPr/>
          <p:nvPr/>
        </p:nvCxnSpPr>
        <p:spPr>
          <a:xfrm>
            <a:off x="40934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5567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817937"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80204"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5: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1.png"/>
          <p:cNvPicPr>
            <a:picLocks noChangeAspect="1"/>
          </p:cNvPicPr>
          <p:nvPr/>
        </p:nvPicPr>
        <p:blipFill>
          <a:blip r:embed="rId3"/>
          <a:stretch>
            <a:fillRect/>
          </a:stretch>
        </p:blipFill>
        <p:spPr>
          <a:xfrm>
            <a:off x="548640" y="1261872"/>
            <a:ext cx="7665415" cy="392868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Selects the payment, clicks Request Application and enters the invoice number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Request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Disposition recorded; request sent to Cashiering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Unapplied Payment Handler on Requests to Cashiering</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5: Requests to Cashiering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c-02.png"/>
          <p:cNvPicPr>
            <a:picLocks noChangeAspect="1"/>
          </p:cNvPicPr>
          <p:nvPr/>
        </p:nvPicPr>
        <p:blipFill>
          <a:blip r:embed="rId3"/>
          <a:stretch>
            <a:fillRect/>
          </a:stretch>
        </p:blipFill>
        <p:spPr>
          <a:xfrm>
            <a:off x="548640" y="1261872"/>
            <a:ext cx="7665415" cy="365532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Opens Requests to Cashiering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With Cashiering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Sent with the Cashiering reference of the request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 (read access and exports) on Incoming Requests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5: Incoming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3.png"/>
          <p:cNvPicPr>
            <a:picLocks noChangeAspect="1"/>
          </p:cNvPicPr>
          <p:nvPr/>
        </p:nvPicPr>
        <p:blipFill>
          <a:blip r:embed="rId3"/>
          <a:stretch>
            <a:fillRect/>
          </a:stretch>
        </p:blipFill>
        <p:spPr>
          <a:xfrm>
            <a:off x="548640" y="1261872"/>
            <a:ext cx="7665415" cy="42199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(read access and exports): Opens Incoming Requests, selects the collector request and clicks Accept Request with Submit the disposition now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Applied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accepted; the application of the payment is processed at once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Unapplied Payment Handler on Requests to Cashiering</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4 of 5: Requests to Cashiering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4.png"/>
          <p:cNvPicPr>
            <a:picLocks noChangeAspect="1"/>
          </p:cNvPicPr>
          <p:nvPr/>
        </p:nvPicPr>
        <p:blipFill>
          <a:blip r:embed="rId3"/>
          <a:stretch>
            <a:fillRect/>
          </a:stretch>
        </p:blipFill>
        <p:spPr>
          <a:xfrm>
            <a:off x="548640" y="1261872"/>
            <a:ext cx="7665415" cy="376935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Opens the Executed tab of Requests to Cashiering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Executed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Applied with the Cashiering reference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Unapplied Payment Handler on Unapplied Payment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5: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c-05.png"/>
          <p:cNvPicPr>
            <a:picLocks noChangeAspect="1"/>
          </p:cNvPicPr>
          <p:nvPr/>
        </p:nvPicPr>
        <p:blipFill>
          <a:blip r:embed="rId3"/>
          <a:stretch>
            <a:fillRect/>
          </a:stretch>
        </p:blipFill>
        <p:spPr>
          <a:xfrm>
            <a:off x="1230862" y="1261872"/>
            <a:ext cx="6300971"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Opens the unapplied payment, History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History kept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payment, the collector disposition, the request and its application, kept after the payment is applied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WT-D An installment plan and the statement of account of its first cycle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An installment plan and the statement of account of its first cycle</a:t>
                      </a:r>
                    </a:p>
                  </a:txBody>
                  <a:tcPr marL="54864" marR="54864" marT="27432" marB="27432">
                    <a:solidFill>
                      <a:srgbClr val="FFFFFF"/>
                    </a:solidFill>
                  </a:tcPr>
                </a:tc>
              </a:tr>
              <a:tr h="1005835">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client of walkthrough A agrees to pay the premium in four quarterly installments. The Collection Handler creates the plan on the invoice. The Operations billing user generates the statement of account of the first cycle and sends it to the client by e-mail, the PDF protected by a password sent separately; the Collection Handler sees the statement on the plan, read only. Billing statements are produced by Operations under the minutes of 27 April 2026 (CLR-CL-32); in the screenshots of steps 2 to 4 the seed user of the Collection Handler generated and sent the statement.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invoice of walkthrough A; the client's e-mail address from the client profile</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Collection Handler, Operations billing user (Cashiering Team Leader / Head)</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Operations billing user (Cashiering Team Leader / Head)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Installment Plans</a:t>
            </a:r>
          </a:p>
        </p:txBody>
      </p:sp>
      <p:sp>
        <p:nvSpPr>
          <p:cNvPr id="16" name="Rounded Rectangle 15"/>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Installment Plan</a:t>
            </a:r>
          </a:p>
        </p:txBody>
      </p:sp>
      <p:sp>
        <p:nvSpPr>
          <p:cNvPr id="17" name="Rounded Rectangle 16"/>
          <p:cNvSpPr/>
          <p:nvPr/>
        </p:nvSpPr>
        <p:spPr>
          <a:xfrm>
            <a:off x="7087970"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Statement of Account</a:t>
            </a:r>
          </a:p>
        </p:txBody>
      </p:sp>
      <p:sp>
        <p:nvSpPr>
          <p:cNvPr id="18" name="Rounded Rectangle 17"/>
          <p:cNvSpPr/>
          <p:nvPr/>
        </p:nvSpPr>
        <p:spPr>
          <a:xfrm>
            <a:off x="9415803"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Statement of Account</a:t>
            </a:r>
          </a:p>
        </p:txBody>
      </p:sp>
      <p:cxnSp>
        <p:nvCxnSpPr>
          <p:cNvPr id="19" name="Connector 18"/>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6802"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14635"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4: Installment Plans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1.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New Installment Plan: installments of one invoice, the invoice, the first due date, 4 installments, Quarterly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Plan active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&lt;plan&gt; created with 4 installments; the plan opens with its installments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Operations billing user (Cashiering Team Leader / Head) on Installment Plan</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2 of 4: Installment Plan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d-02.png"/>
          <p:cNvPicPr>
            <a:picLocks noChangeAspect="1"/>
          </p:cNvPicPr>
          <p:nvPr/>
        </p:nvPicPr>
        <p:blipFill>
          <a:blip r:embed="rId3"/>
          <a:stretch>
            <a:fillRect/>
          </a:stretch>
        </p:blipFill>
        <p:spPr>
          <a:xfrm>
            <a:off x="548640" y="1261872"/>
            <a:ext cx="7665415" cy="1771970"/>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Operations billing user (Cashiering Team Leader / Head): Opens the plan, the row menu of cycle 1 and clicks Generate SOA, then the Statements of Account tab</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Billed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&lt;SOA&gt; generated; the statement of cycle 1 To Send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Operations billing user (Cashiering Team Leader / Head) on Statement of Account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3 of 4: Statement of Account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00.png"/>
          <p:cNvPicPr>
            <a:picLocks noChangeAspect="1"/>
          </p:cNvPicPr>
          <p:nvPr/>
        </p:nvPicPr>
        <p:blipFill>
          <a:blip r:embed="rId3"/>
          <a:stretch>
            <a:fillRect/>
          </a:stretch>
        </p:blipFill>
        <p:spPr>
          <a:xfrm>
            <a:off x="548640" y="1261872"/>
            <a:ext cx="7665415" cy="4620361"/>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SCR-CL-10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Operations billing user (Cashiering Team Leader / Head): Opens the statement and clicks Send via Email</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Ready to send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e-mail with the client's address, the proposed subject and message and the protected attachment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Operations billing user (Cashiering Team Leader / Head) on Statement of Account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3 of 4: Statement of Account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01.png"/>
          <p:cNvPicPr>
            <a:picLocks noChangeAspect="1"/>
          </p:cNvPicPr>
          <p:nvPr/>
        </p:nvPicPr>
        <p:blipFill>
          <a:blip r:embed="rId3"/>
          <a:stretch>
            <a:fillRect/>
          </a:stretch>
        </p:blipFill>
        <p:spPr>
          <a:xfrm>
            <a:off x="548640" y="1261872"/>
            <a:ext cx="7665415" cy="213559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SCR-CL-10 (part 2 of 2)</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4 of 4: Statement of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d-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SCR-CL-10</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Operations billing user (Cashiering Team Leader / Head): Clicks Send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&lt;SOA&gt; sent to &lt;address&gt;; the statement is Sent and E-mails Sent lists the e-mail; the Collection Handler sees it Sent on the plan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Controls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WT-E Controls and the messages the user sees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Four controls of Collections, each with the message the user sees: a disposition reserved to other roles, an account another user is working on, a promise above the outstanding, and an invoice number in the wrong format.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open accounts of the seed data; the account of walkthrough A held by the Collection Handler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Collection Team Lead, Collection Handler, Unapplied Payment Handler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3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14.5</a:t>
                      </a:r>
                    </a:p>
                  </a:txBody>
                  <a:tcPr marL="54864" marR="54864" marT="27432" marB="27432">
                    <a:solidFill>
                      <a:srgbClr val="FFFFFF"/>
                    </a:solidFill>
                  </a:tcPr>
                </a:tc>
              </a:tr>
            </a:tbl>
          </a:graphicData>
        </a:graphic>
      </p:graphicFrame>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Collection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Unapplied Payment Handler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Collection Account</a:t>
            </a:r>
          </a:p>
        </p:txBody>
      </p:sp>
      <p:sp>
        <p:nvSpPr>
          <p:cNvPr id="22" name="Rounded Rectangle 21"/>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Collection Account</a:t>
            </a:r>
          </a:p>
        </p:txBody>
      </p:sp>
      <p:sp>
        <p:nvSpPr>
          <p:cNvPr id="23" name="Rounded Rectangle 22"/>
          <p:cNvSpPr/>
          <p:nvPr/>
        </p:nvSpPr>
        <p:spPr>
          <a:xfrm>
            <a:off x="7087970"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Promises to Pay</a:t>
            </a:r>
          </a:p>
        </p:txBody>
      </p:sp>
      <p:sp>
        <p:nvSpPr>
          <p:cNvPr id="24" name="Rounded Rectangle 23"/>
          <p:cNvSpPr/>
          <p:nvPr/>
        </p:nvSpPr>
        <p:spPr>
          <a:xfrm>
            <a:off x="9415803" y="400507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Unapplied Payments</a:t>
            </a:r>
          </a:p>
        </p:txBody>
      </p:sp>
      <p:cxnSp>
        <p:nvCxnSpPr>
          <p:cNvPr id="25" name="Connector 24"/>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8680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214635"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1 of 4: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1.png"/>
          <p:cNvPicPr>
            <a:picLocks noChangeAspect="1"/>
          </p:cNvPicPr>
          <p:nvPr/>
        </p:nvPicPr>
        <p:blipFill>
          <a:blip r:embed="rId3"/>
          <a:stretch>
            <a:fillRect/>
          </a:stretch>
        </p:blipFill>
        <p:spPr>
          <a:xfrm>
            <a:off x="649008" y="1261872"/>
            <a:ext cx="746467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The account officer records the disposition No / missing policy number on an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refusal: the disposition is reserved to other roles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Collection Team Lead on Collection Account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2 of 4: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e-02.png"/>
          <p:cNvPicPr>
            <a:picLocks noChangeAspect="1"/>
          </p:cNvPicPr>
          <p:nvPr/>
        </p:nvPicPr>
        <p:blipFill>
          <a:blip r:embed="rId3"/>
          <a:stretch>
            <a:fillRect/>
          </a:stretch>
        </p:blipFill>
        <p:spPr>
          <a:xfrm>
            <a:off x="1563683" y="1261872"/>
            <a:ext cx="563532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Team Lead: Opens the account the Collection Handler is working 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Read only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&lt;name&gt; is editing since &lt;time&gt;; Update Remarks, Log Effort and Record Disposition are not offered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Collection Handler on Promises to Pay</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3 of 4: Promises to Pay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3.png"/>
          <p:cNvPicPr>
            <a:picLocks noChangeAspect="1"/>
          </p:cNvPicPr>
          <p:nvPr/>
        </p:nvPicPr>
        <p:blipFill>
          <a:blip r:embed="rId3"/>
          <a:stretch>
            <a:fillRect/>
          </a:stretch>
        </p:blipFill>
        <p:spPr>
          <a:xfrm>
            <a:off x="1389316" y="1261872"/>
            <a:ext cx="5984063"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Records a promise of an amount above the outstanding of the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Promises Recorded with the outcome of the invoice: the promised amount is above the outstanding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Unapplied Payment Handler on Unapplied Payments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4 of 4: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4.png"/>
          <p:cNvPicPr>
            <a:picLocks noChangeAspect="1"/>
          </p:cNvPicPr>
          <p:nvPr/>
        </p:nvPicPr>
        <p:blipFill>
          <a:blip r:embed="rId3"/>
          <a:stretch>
            <a:fillRect/>
          </a:stretch>
        </p:blipFill>
        <p:spPr>
          <a:xfrm>
            <a:off x="973312" y="1261872"/>
            <a:ext cx="6816071"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Requests the application of a payment to an invoice number in the wrong format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field: The invoice number does not have the expected format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Collections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CHG-CL-2.1-03</a:t>
            </a:r>
          </a:p>
        </p:txBody>
      </p:sp>
      <p:graphicFrame>
        <p:nvGraphicFramePr>
          <p:cNvPr id="10" name="Table 9"/>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Collections: the collector's work queues counted live (own open accounts, all open accounts, unassigned accounts, direct payments returned by insurers, credit balances, files ready this week, unapplied payments awaiting a disposition, own requests in Cashiering), each opening its list, and the open amounts per aging bracket for all market segments or one.</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Collections Home</a:t>
                      </a:r>
                    </a:p>
                    <a:p>
                      <a:r>
                        <a:rPr sz="950" b="0">
                          <a:solidFill>
                            <a:srgbClr val="4B4B4B"/>
                          </a:solidFill>
                          <a:latin typeface="Arial"/>
                        </a:rPr>
                        <a:t>Finance › Collections › Collections Home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FR-CL-085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work waiting and opens it.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graphicFrame>
        <p:nvGraphicFramePr>
          <p:cNvPr id="9" name="Table 8"/>
          <p:cNvGraphicFramePr>
            <a:graphicFrameLocks noGrp="1"/>
          </p:cNvGraphicFramePr>
          <p:nvPr/>
        </p:nvGraphicFramePr>
        <p:xfrm>
          <a:off x="548640" y="1325880"/>
          <a:ext cx="11094411" cy="192022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tiles</a:t>
                      </a:r>
                    </a:p>
                  </a:txBody>
                  <a:tcPr marL="54864" marR="54864" marT="27432" marB="27432">
                    <a:solidFill>
                      <a:srgbClr val="FFFFFF"/>
                    </a:solidFill>
                  </a:tcPr>
                </a:tc>
                <a:tc>
                  <a:txBody>
                    <a:bodyPr/>
                    <a:lstStyle/>
                    <a:p>
                      <a:r>
                        <a:rPr sz="850" b="0">
                          <a:solidFill>
                            <a:srgbClr val="4B4B4B"/>
                          </a:solidFill>
                          <a:latin typeface="Arial"/>
                        </a:rPr>
                        <a:t>My Open Accounts, All Open Accounts, Unassigned Accounts, DP Returned by Insurer, Credit Balances, Files Ready This Week, Unapplied Awaiting Disposition, My Requests in Cashiering</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Open Accounts by Aging Bracket</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segments or one segment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Open Accounts by Aging Bracket</a:t>
                      </a:r>
                    </a:p>
                  </a:txBody>
                  <a:tcPr marL="54864" marR="54864" marT="27432" marB="27432">
                    <a:solidFill>
                      <a:srgbClr val="FFFFFF"/>
                    </a:solidFill>
                  </a:tcPr>
                </a:tc>
                <a:tc>
                  <a:txBody>
                    <a:bodyPr/>
                    <a:lstStyle/>
                    <a:p>
                      <a:r>
                        <a:rPr sz="850" b="0">
                          <a:solidFill>
                            <a:srgbClr val="4B4B4B"/>
                          </a:solidFill>
                          <a:latin typeface="Arial"/>
                        </a:rPr>
                        <a:t>Aging bracket bar</a:t>
                      </a:r>
                    </a:p>
                  </a:txBody>
                  <a:tcPr marL="54864" marR="54864" marT="27432" marB="27432">
                    <a:solidFill>
                      <a:srgbClr val="FFFFFF"/>
                    </a:solidFill>
                  </a:tcPr>
                </a:tc>
                <a:tc>
                  <a:txBody>
                    <a:bodyPr/>
                    <a:lstStyle/>
                    <a:p>
                      <a:r>
                        <a:rPr sz="850" b="0">
                          <a:solidFill>
                            <a:srgbClr val="4B4B4B"/>
                          </a:solidFill>
                          <a:latin typeface="Arial"/>
                        </a:rPr>
                        <a:t>Bar</a:t>
                      </a:r>
                    </a:p>
                  </a:txBody>
                  <a:tcPr marL="54864" marR="54864" marT="27432" marB="27432">
                    <a:solidFill>
                      <a:srgbClr val="FFFFFF"/>
                    </a:solidFill>
                  </a:tcPr>
                </a:tc>
                <a:tc>
                  <a:txBody>
                    <a:bodyPr/>
                    <a:lstStyle/>
                    <a:p>
                      <a:r>
                        <a:rPr sz="850" b="0">
                          <a:solidFill>
                            <a:srgbClr val="4B4B4B"/>
                          </a:solidFill>
                          <a:latin typeface="Arial"/>
                        </a:rPr>
                        <a:t>Bracket (0-30, 31-45, 46-60, 61-90, 91-120, 121+), open amount and number of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Brackets of the aging brackets parameter</a:t>
                      </a:r>
                    </a:p>
                  </a:txBody>
                  <a:tcPr marL="54864" marR="54864" marT="27432" marB="27432">
                    <a:solidFill>
                      <a:srgbClr val="FFFFFF"/>
                    </a:solidFill>
                  </a:tcPr>
                </a:tc>
                <a:tc>
                  <a:txBody>
                    <a:bodyPr/>
                    <a:lstStyle/>
                    <a:p>
                      <a:r>
                        <a:rPr sz="850" b="0">
                          <a:solidFill>
                            <a:srgbClr val="4B4B4B"/>
                          </a:solidFill>
                          <a:latin typeface="Arial"/>
                        </a:rPr>
                        <a:t>No open accounts</a:t>
                      </a:r>
                    </a:p>
                  </a:txBody>
                  <a:tcPr marL="54864" marR="54864" marT="27432" marB="27432">
                    <a:solidFill>
                      <a:srgbClr val="FFFFFF"/>
                    </a:solidFill>
                  </a:tcPr>
                </a:tc>
              </a:tr>
            </a:tbl>
          </a:graphicData>
        </a:graphic>
      </p:graphicFrame>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PR Worklist</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 Worklist on the Open Accounts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Collections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 (for example the worklist filtered on the user's accounts)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collection accounts, the unapplied payments, the requests and the files of the company in the header (FR-CL-085).</a:t>
                      </a:r>
                    </a:p>
                  </a:txBody>
                  <a:tcPr marL="54864" marR="54864" marT="27432" marB="27432">
                    <a:solidFill>
                      <a:srgbClr val="FFFFFF"/>
                    </a:solidFill>
                  </a:tcPr>
                </a:tc>
              </a:tr>
              <a:tr h="243840">
                <a:tc>
                  <a:txBody>
                    <a:bodyPr/>
                    <a:lstStyle/>
                    <a:p>
                      <a:r>
                        <a:rPr sz="1000" b="0">
                          <a:solidFill>
                            <a:srgbClr val="4B4B4B"/>
                          </a:solidFill>
                          <a:latin typeface="Arial"/>
                        </a:rPr>
                        <a:t>The aging chart counts the open accounts and their net outstanding per bracket of the aging brackets parameter (FR-CL-085, FR-CL-011).</a:t>
                      </a:r>
                    </a:p>
                  </a:txBody>
                  <a:tcPr marL="54864" marR="54864" marT="27432" marB="27432">
                    <a:solidFill>
                      <a:srgbClr val="E5F5FF"/>
                    </a:solidFill>
                  </a:tcPr>
                </a:tc>
              </a:tr>
            </a:tbl>
          </a:graphicData>
        </a:graphic>
      </p:graphicFrame>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Opens Collections Home</a:t>
                      </a:r>
                    </a:p>
                  </a:txBody>
                  <a:tcPr marL="54864" marR="54864" marT="27432" marB="27432">
                    <a:solidFill>
                      <a:srgbClr val="FFFFFF"/>
                    </a:solidFill>
                  </a:tcPr>
                </a:tc>
                <a:tc>
                  <a:txBody>
                    <a:bodyPr/>
                    <a:lstStyle/>
                    <a:p>
                      <a:r>
                        <a:rPr sz="900" b="0">
                          <a:solidFill>
                            <a:srgbClr val="4B4B4B"/>
                          </a:solidFill>
                          <a:latin typeface="Arial"/>
                        </a:rPr>
                        <a:t>SCR-CL-01_wt-a-step-02.png</a:t>
                      </a:r>
                    </a:p>
                  </a:txBody>
                  <a:tcPr marL="54864" marR="54864" marT="27432" marB="27432">
                    <a:solidFill>
                      <a:srgbClr val="FFFFFF"/>
                    </a:solidFill>
                  </a:tcPr>
                </a:tc>
              </a:tr>
            </a:tbl>
          </a:graphicData>
        </a:graphic>
      </p:graphicFrame>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Collections Home: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CHG-CL-2.1-03</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cl-01-01-home.png"/>
          <p:cNvPicPr>
            <a:picLocks noChangeAspect="1"/>
          </p:cNvPicPr>
          <p:nvPr/>
        </p:nvPicPr>
        <p:blipFill>
          <a:blip r:embed="rId3"/>
          <a:stretch>
            <a:fillRect/>
          </a:stretch>
        </p:blipFill>
        <p:spPr>
          <a:xfrm>
            <a:off x="1055071" y="1261872"/>
            <a:ext cx="10081553"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Home of the Collection Handler with the work tiles and the aging chart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CHG-CL-2.1-01</a:t>
            </a:r>
          </a:p>
        </p:txBody>
      </p:sp>
      <p:graphicFrame>
        <p:nvGraphicFramePr>
          <p:cNvPr id="10" name="Table 9"/>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row per booked invoice with outstanding premium receivable above the threshold, refreshed nightly from the Operations invoice ledger: status tabs, search, the Filters panel, Only mine, and the actions on the selected accounts (log an effort, record a disposition, reassign). The totals under the list add up the filtered accounts by client or by account; Export to Files publishes the list on Collections Files.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 Worklist</a:t>
                      </a:r>
                    </a:p>
                    <a:p>
                      <a:r>
                        <a:rPr sz="950" b="0">
                          <a:solidFill>
                            <a:srgbClr val="4B4B4B"/>
                          </a:solidFill>
                          <a:latin typeface="Arial"/>
                        </a:rPr>
                        <a:t>Collections Home › Open PR Worklist or a work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FR-CL-010, FR-CL-011, FR-CL-013, FR-CL-014, FR-CL-015, FR-CL-017, FR-CL-021, FR-CL-031, FR-CL-033, FR-CL-034, FR-CL-084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finds the accounts to follow up and records the work on one or many at once.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25880"/>
          <a:ext cx="11094411" cy="490725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Accounts / Credit Balances / Completed Collections / Excluded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ARN, Policy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Invoice, ARN, policy number or client 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Only mine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Accounts handled by the user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Market Segment / Sales Unit / Unit Head / Handler / Account Officer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or user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Equal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Aging Bracket / Category (A/B/C) / Disposition / Promise Status /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Bracket label, A, B or C, disposition, promise status, client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Equal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Outstanding From / Outstanding To</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Range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Unassigned only / Escalated only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number with a Legacy tag for a migrated invoice; policy number or ARN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accounts match the filters</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Client / Assured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code (opens the client view) with the name of the assured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Segment / Unit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Market segment and sales unit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Booked / Aging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Booking date; aging in days with its bracket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Outstanding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Currency and net outstanding premium receivable, 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Handler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of the current handler, or Unassigned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graphicFrame>
        <p:nvGraphicFramePr>
          <p:cNvPr id="9" name="Table 8"/>
          <p:cNvGraphicFramePr>
            <a:graphicFrameLocks noGrp="1"/>
          </p:cNvGraphicFramePr>
          <p:nvPr/>
        </p:nvGraphicFramePr>
        <p:xfrm>
          <a:off x="548640" y="1325880"/>
          <a:ext cx="11094411" cy="393189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Disposition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Label of the current disposition as a tag, with its category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Open, Credit, Completed or Excluded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Totals</a:t>
                      </a:r>
                    </a:p>
                  </a:txBody>
                  <a:tcPr marL="54864" marR="54864" marT="27432" marB="27432">
                    <a:solidFill>
                      <a:srgbClr val="FFFFFF"/>
                    </a:solidFill>
                  </a:tcPr>
                </a:tc>
                <a:tc>
                  <a:txBody>
                    <a:bodyPr/>
                    <a:lstStyle/>
                    <a:p>
                      <a:r>
                        <a:rPr sz="850" b="0">
                          <a:solidFill>
                            <a:srgbClr val="4B4B4B"/>
                          </a:solidFill>
                          <a:latin typeface="Arial"/>
                        </a:rPr>
                        <a:t>By Client / By Account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Totals by client or by ARN of the filtered accounts: Accounts and Outstanding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Record Disposition dialog</a:t>
                      </a:r>
                    </a:p>
                  </a:txBody>
                  <a:tcPr marL="54864" marR="54864" marT="27432" marB="27432">
                    <a:solidFill>
                      <a:srgbClr val="E5F5FF"/>
                    </a:solidFill>
                  </a:tcPr>
                </a:tc>
                <a:tc>
                  <a:txBody>
                    <a:bodyPr/>
                    <a:lstStyle/>
                    <a:p>
                      <a:r>
                        <a:rPr sz="850" b="0">
                          <a:solidFill>
                            <a:srgbClr val="4B4B4B"/>
                          </a:solidFill>
                          <a:latin typeface="Arial"/>
                        </a:rPr>
                        <a:t>Disposition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values of the PR collector disposition list; the category, who acts next and the reserved roles show under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Value allowed for the user's role</a:t>
                      </a:r>
                    </a:p>
                  </a:txBody>
                  <a:tcPr marL="54864" marR="54864" marT="27432" marB="27432">
                    <a:solidFill>
                      <a:srgbClr val="E5F5FF"/>
                    </a:solidFill>
                  </a:tcPr>
                </a:tc>
                <a:tc>
                  <a:txBody>
                    <a:bodyPr/>
                    <a:lstStyle/>
                    <a:p>
                      <a:r>
                        <a:rPr sz="850" b="0">
                          <a:solidFill>
                            <a:srgbClr val="4B4B4B"/>
                          </a:solidFill>
                          <a:latin typeface="Arial"/>
                        </a:rPr>
                        <a:t>Choose a disposition</a:t>
                      </a:r>
                    </a:p>
                  </a:txBody>
                  <a:tcPr marL="54864" marR="54864" marT="27432" marB="27432">
                    <a:solidFill>
                      <a:srgbClr val="E5F5FF"/>
                    </a:solidFill>
                  </a:tcPr>
                </a:tc>
              </a:tr>
              <a:tr h="739135">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Record Disposition dialog</a:t>
                      </a:r>
                    </a:p>
                  </a:txBody>
                  <a:tcPr marL="54864" marR="54864" marT="27432" marB="27432">
                    <a:solidFill>
                      <a:srgbClr val="FFFFFF"/>
                    </a:solidFill>
                  </a:tcPr>
                </a:tc>
                <a:tc>
                  <a:txBody>
                    <a:bodyPr/>
                    <a:lstStyle/>
                    <a:p>
                      <a:r>
                        <a:rPr sz="850" b="0">
                          <a:solidFill>
                            <a:srgbClr val="4B4B4B"/>
                          </a:solidFill>
                          <a:latin typeface="Arial"/>
                        </a:rPr>
                        <a:t>2307 Path / Certificate No. / Certificate Period From / Certificate Period To / 2% Amount</a:t>
                      </a:r>
                    </a:p>
                  </a:txBody>
                  <a:tcPr marL="54864" marR="54864" marT="27432" marB="27432">
                    <a:solidFill>
                      <a:srgbClr val="FFFFFF"/>
                    </a:solidFill>
                  </a:tcPr>
                </a:tc>
                <a:tc>
                  <a:txBody>
                    <a:bodyPr/>
                    <a:lstStyle/>
                    <a:p>
                      <a:r>
                        <a:rPr sz="850" b="0">
                          <a:solidFill>
                            <a:srgbClr val="4B4B4B"/>
                          </a:solidFill>
                          <a:latin typeface="Arial"/>
                        </a:rPr>
                        <a:t>Drop-down, text, date, number</a:t>
                      </a:r>
                    </a:p>
                  </a:txBody>
                  <a:tcPr marL="54864" marR="54864" marT="27432" marB="27432">
                    <a:solidFill>
                      <a:srgbClr val="FFFFFF"/>
                    </a:solidFill>
                  </a:tcPr>
                </a:tc>
                <a:tc>
                  <a:txBody>
                    <a:bodyPr/>
                    <a:lstStyle/>
                    <a:p>
                      <a:r>
                        <a:rPr sz="850" b="0">
                          <a:solidFill>
                            <a:srgbClr val="4B4B4B"/>
                          </a:solidFill>
                          <a:latin typeface="Arial"/>
                        </a:rPr>
                        <a:t>Shown for a disposition handed to BIR 2307: certificate received or paid in cash</a:t>
                      </a:r>
                    </a:p>
                  </a:txBody>
                  <a:tcPr marL="54864" marR="54864" marT="27432" marB="27432">
                    <a:solidFill>
                      <a:srgbClr val="FFFFFF"/>
                    </a:solidFill>
                  </a:tcPr>
                </a:tc>
                <a:tc>
                  <a:txBody>
                    <a:bodyPr/>
                    <a:lstStyle/>
                    <a:p>
                      <a:r>
                        <a:rPr sz="850" b="0">
                          <a:solidFill>
                            <a:srgbClr val="4B4B4B"/>
                          </a:solidFill>
                          <a:latin typeface="Arial"/>
                        </a:rPr>
                        <a:t>Y / Cond.: certificate / N / N / N</a:t>
                      </a:r>
                    </a:p>
                  </a:txBody>
                  <a:tcPr marL="54864" marR="54864" marT="27432" marB="27432">
                    <a:solidFill>
                      <a:srgbClr val="FFFFFF"/>
                    </a:solidFill>
                  </a:tcPr>
                </a:tc>
                <a:tc>
                  <a:txBody>
                    <a:bodyPr/>
                    <a:lstStyle/>
                    <a:p>
                      <a:r>
                        <a:rPr sz="850" b="0">
                          <a:solidFill>
                            <a:srgbClr val="4B4B4B"/>
                          </a:solidFill>
                          <a:latin typeface="Arial"/>
                        </a:rPr>
                        <a:t>Certificate number for a certificate</a:t>
                      </a:r>
                    </a:p>
                  </a:txBody>
                  <a:tcPr marL="54864" marR="54864" marT="27432" marB="27432">
                    <a:solidFill>
                      <a:srgbClr val="FFFFFF"/>
                    </a:solidFill>
                  </a:tcPr>
                </a:tc>
                <a:tc>
                  <a:txBody>
                    <a:bodyPr/>
                    <a:lstStyle/>
                    <a:p>
                      <a:r>
                        <a:rPr sz="850" b="0">
                          <a:solidFill>
                            <a:srgbClr val="4B4B4B"/>
                          </a:solidFill>
                          <a:latin typeface="Arial"/>
                        </a:rPr>
                        <a:t>A certificate tag needs the certificate number</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Record Disposition dialog</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Log Collection Effort dialog</a:t>
                      </a:r>
                    </a:p>
                  </a:txBody>
                  <a:tcPr marL="54864" marR="54864" marT="27432" marB="27432">
                    <a:solidFill>
                      <a:srgbClr val="FFFFFF"/>
                    </a:solidFill>
                  </a:tcPr>
                </a:tc>
                <a:tc>
                  <a:txBody>
                    <a:bodyPr/>
                    <a:lstStyle/>
                    <a:p>
                      <a:r>
                        <a:rPr sz="850" b="0">
                          <a:solidFill>
                            <a:srgbClr val="4B4B4B"/>
                          </a:solidFill>
                          <a:latin typeface="Arial"/>
                        </a:rPr>
                        <a:t>Effort / Channel / Contact Person / Remarks</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Effort list; channel up to 30 and contact up to 120 characters</a:t>
                      </a:r>
                    </a:p>
                  </a:txBody>
                  <a:tcPr marL="54864" marR="54864" marT="27432" marB="27432">
                    <a:solidFill>
                      <a:srgbClr val="FFFFFF"/>
                    </a:solidFill>
                  </a:tcPr>
                </a:tc>
                <a:tc>
                  <a:txBody>
                    <a:bodyPr/>
                    <a:lstStyle/>
                    <a:p>
                      <a:r>
                        <a:rPr sz="850" b="0">
                          <a:solidFill>
                            <a:srgbClr val="4B4B4B"/>
                          </a:solidFill>
                          <a:latin typeface="Arial"/>
                        </a:rPr>
                        <a:t>Y / N / N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effort</a:t>
                      </a:r>
                    </a:p>
                  </a:txBody>
                  <a:tcPr marL="54864" marR="54864" marT="27432" marB="27432">
                    <a:solidFill>
                      <a:srgbClr val="FFFFFF"/>
                    </a:solidFill>
                  </a:tcPr>
                </a:tc>
              </a:tr>
              <a:tr h="609596">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Reassign Accounts dialog</a:t>
                      </a:r>
                    </a:p>
                  </a:txBody>
                  <a:tcPr marL="54864" marR="54864" marT="27432" marB="27432">
                    <a:solidFill>
                      <a:srgbClr val="E5F5FF"/>
                    </a:solidFill>
                  </a:tcPr>
                </a:tc>
                <a:tc>
                  <a:txBody>
                    <a:bodyPr/>
                    <a:lstStyle/>
                    <a:p>
                      <a:r>
                        <a:rPr sz="850" b="0">
                          <a:solidFill>
                            <a:srgbClr val="4B4B4B"/>
                          </a:solidFill>
                          <a:latin typeface="Arial"/>
                        </a:rPr>
                        <a:t>New Handler / Kind / Until / Reason</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Handlers by name; Permanent or Temporary; end date of a temporary reassignment</a:t>
                      </a:r>
                    </a:p>
                  </a:txBody>
                  <a:tcPr marL="54864" marR="54864" marT="27432" marB="27432">
                    <a:solidFill>
                      <a:srgbClr val="E5F5FF"/>
                    </a:solidFill>
                  </a:tcPr>
                </a:tc>
                <a:tc>
                  <a:txBody>
                    <a:bodyPr/>
                    <a:lstStyle/>
                    <a:p>
                      <a:r>
                        <a:rPr sz="850" b="0">
                          <a:solidFill>
                            <a:srgbClr val="4B4B4B"/>
                          </a:solidFill>
                          <a:latin typeface="Arial"/>
                        </a:rPr>
                        <a:t>Y / Y / Cond.: temporary / Y</a:t>
                      </a:r>
                    </a:p>
                  </a:txBody>
                  <a:tcPr marL="54864" marR="54864" marT="27432" marB="27432">
                    <a:solidFill>
                      <a:srgbClr val="E5F5FF"/>
                    </a:solidFill>
                  </a:tcPr>
                </a:tc>
                <a:tc>
                  <a:txBody>
                    <a:bodyPr/>
                    <a:lstStyle/>
                    <a:p>
                      <a:r>
                        <a:rPr sz="850" b="0">
                          <a:solidFill>
                            <a:srgbClr val="4B4B4B"/>
                          </a:solidFill>
                          <a:latin typeface="Arial"/>
                        </a:rPr>
                        <a:t>Temporary ends after today</a:t>
                      </a:r>
                    </a:p>
                  </a:txBody>
                  <a:tcPr marL="54864" marR="54864" marT="27432" marB="27432">
                    <a:solidFill>
                      <a:srgbClr val="E5F5FF"/>
                    </a:solidFill>
                  </a:tcPr>
                </a:tc>
                <a:tc>
                  <a:txBody>
                    <a:bodyPr/>
                    <a:lstStyle/>
                    <a:p>
                      <a:r>
                        <a:rPr sz="850" b="0">
                          <a:solidFill>
                            <a:srgbClr val="4B4B4B"/>
                          </a:solidFill>
                          <a:latin typeface="Arial"/>
                        </a:rPr>
                        <a:t>A temporary reassignment ends after today</a:t>
                      </a:r>
                    </a:p>
                  </a:txBody>
                  <a:tcPr marL="54864" marR="54864" marT="27432" marB="27432">
                    <a:solidFill>
                      <a:srgbClr val="E5F5FF"/>
                    </a:solidFill>
                  </a:tcPr>
                </a:tc>
              </a:tr>
            </a:tbl>
          </a:graphicData>
        </a:graphic>
      </p:graphicFrame>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25880"/>
          <a:ext cx="11094412" cy="245362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Search / Filters / Apply Filters / Clear</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Filters the accounts on the server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Log Effort</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One account selected; several with the bulk update permission</a:t>
                      </a:r>
                    </a:p>
                  </a:txBody>
                  <a:tcPr marL="54864" marR="54864" marT="27432" marB="27432">
                    <a:solidFill>
                      <a:srgbClr val="E5F5FF"/>
                    </a:solidFill>
                  </a:tcPr>
                </a:tc>
                <a:tc>
                  <a:txBody>
                    <a:bodyPr/>
                    <a:lstStyle/>
                    <a:p>
                      <a:r>
                        <a:rPr sz="850" b="0">
                          <a:solidFill>
                            <a:srgbClr val="4B4B4B"/>
                          </a:solidFill>
                          <a:latin typeface="Arial"/>
                        </a:rPr>
                        <a:t>Logs the effort on each selected account under one bulk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Record Disposition</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One account selected; several with the bulk update permission</a:t>
                      </a:r>
                    </a:p>
                  </a:txBody>
                  <a:tcPr marL="54864" marR="54864" marT="27432" marB="27432">
                    <a:solidFill>
                      <a:srgbClr val="FFFFFF"/>
                    </a:solidFill>
                  </a:tcPr>
                </a:tc>
                <a:tc>
                  <a:txBody>
                    <a:bodyPr/>
                    <a:lstStyle/>
                    <a:p>
                      <a:r>
                        <a:rPr sz="850" b="0">
                          <a:solidFill>
                            <a:srgbClr val="4B4B4B"/>
                          </a:solidFill>
                          <a:latin typeface="Arial"/>
                        </a:rPr>
                        <a:t>Records the disposition on each selected account; an Operations action is handed to Cashiering or Commission</a:t>
                      </a:r>
                    </a:p>
                  </a:txBody>
                  <a:tcPr marL="54864" marR="54864" marT="27432" marB="27432">
                    <a:solidFill>
                      <a:srgbClr val="FFFFFF"/>
                    </a:solidFill>
                  </a:tcPr>
                </a:tc>
                <a:tc>
                  <a:txBody>
                    <a:bodyPr/>
                    <a:lstStyle/>
                    <a:p>
                      <a:r>
                        <a:rPr sz="850" b="0">
                          <a:solidFill>
                            <a:srgbClr val="4B4B4B"/>
                          </a:solidFill>
                          <a:latin typeface="Arial"/>
                        </a:rPr>
                        <a:t>Disposition recorded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Reassign</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Accounts selected</a:t>
                      </a:r>
                    </a:p>
                  </a:txBody>
                  <a:tcPr marL="54864" marR="54864" marT="27432" marB="27432">
                    <a:solidFill>
                      <a:srgbClr val="E5F5FF"/>
                    </a:solidFill>
                  </a:tcPr>
                </a:tc>
                <a:tc>
                  <a:txBody>
                    <a:bodyPr/>
                    <a:lstStyle/>
                    <a:p>
                      <a:r>
                        <a:rPr sz="850" b="0">
                          <a:solidFill>
                            <a:srgbClr val="4B4B4B"/>
                          </a:solidFill>
                          <a:latin typeface="Arial"/>
                        </a:rPr>
                        <a:t>Moves the accounts to the new handler, permanently or until the end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Account reassigned (NT-03)</a:t>
                      </a:r>
                    </a:p>
                  </a:txBody>
                  <a:tcPr marL="54864" marR="54864" marT="27432" marB="27432">
                    <a:solidFill>
                      <a:srgbClr val="E5F5FF"/>
                    </a:solidFill>
                  </a:tcPr>
                </a:tc>
              </a:tr>
              <a:tr h="350518">
                <a:tc>
                  <a:txBody>
                    <a:bodyPr/>
                    <a:lstStyle/>
                    <a:p>
                      <a:r>
                        <a:rPr sz="850" b="0">
                          <a:solidFill>
                            <a:srgbClr val="4B4B4B"/>
                          </a:solidFill>
                          <a:latin typeface="Arial"/>
                        </a:rPr>
                        <a:t>Export to Files</a:t>
                      </a:r>
                    </a:p>
                  </a:txBody>
                  <a:tcPr marL="54864" marR="54864" marT="27432" marB="27432">
                    <a:solidFill>
                      <a:srgbClr val="FFFFFF"/>
                    </a:solidFill>
                  </a:tcPr>
                </a:tc>
                <a:tc>
                  <a:txBody>
                    <a:bodyPr/>
                    <a:lstStyle/>
                    <a:p>
                      <a:r>
                        <a:rPr sz="850" b="0">
                          <a:solidFill>
                            <a:srgbClr val="4B4B4B"/>
                          </a:solidFill>
                          <a:latin typeface="Arial"/>
                        </a:rPr>
                        <a:t>Users with the export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Publishes the Outstanding PR List of the filters on Collections Files in the background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Collections file ready (NT-06)</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Every Collections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collection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graphicFrame>
        <p:nvGraphicFramePr>
          <p:cNvPr id="9" name="Table 8"/>
          <p:cNvGraphicFramePr>
            <a:graphicFrameLocks noGrp="1"/>
          </p:cNvGraphicFramePr>
          <p:nvPr/>
        </p:nvGraphicFramePr>
        <p:xfrm>
          <a:off x="548640" y="1325880"/>
          <a:ext cx="11094415" cy="17678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An invoice is listed when the total of its premium receivable components and PR2307 is above the minimal balance threshold (10.00 by default); a negative balance of a cancellation is excluded and other credits show on Credit Balances (FR-CL-010, FR-CL-011, FR-CL-013).</a:t>
                      </a:r>
                    </a:p>
                  </a:txBody>
                  <a:tcPr marL="54864" marR="54864" marT="27432" marB="27432">
                    <a:solidFill>
                      <a:srgbClr val="FFFFFF"/>
                    </a:solidFill>
                  </a:tcPr>
                </a:tc>
              </a:tr>
              <a:tr h="396240">
                <a:tc>
                  <a:txBody>
                    <a:bodyPr/>
                    <a:lstStyle/>
                    <a:p>
                      <a:r>
                        <a:rPr sz="1000" b="0">
                          <a:solidFill>
                            <a:srgbClr val="4B4B4B"/>
                          </a:solidFill>
                          <a:latin typeface="Arial"/>
                        </a:rPr>
                        <a:t>The worklist is refreshed every night from the invoice ledger and after each payment; paid accounts move to Completed Collections and reopen when the balance comes back (FR-CL-017, FR-CL-018).</a:t>
                      </a:r>
                    </a:p>
                  </a:txBody>
                  <a:tcPr marL="54864" marR="54864" marT="27432" marB="27432">
                    <a:solidFill>
                      <a:srgbClr val="E5F5FF"/>
                    </a:solidFill>
                  </a:tcPr>
                </a:tc>
              </a:tr>
              <a:tr h="243840">
                <a:tc>
                  <a:txBody>
                    <a:bodyPr/>
                    <a:lstStyle/>
                    <a:p>
                      <a:r>
                        <a:rPr sz="1000" b="0">
                          <a:solidFill>
                            <a:srgbClr val="4B4B4B"/>
                          </a:solidFill>
                          <a:latin typeface="Arial"/>
                        </a:rPr>
                        <a:t>Updating several accounts at once needs the bulk update permission; at most 500 accounts per action, one bulk reference for all (FR-CL-034).</a:t>
                      </a:r>
                    </a:p>
                  </a:txBody>
                  <a:tcPr marL="54864" marR="54864" marT="27432" marB="27432">
                    <a:solidFill>
                      <a:srgbClr val="FFFFFF"/>
                    </a:solidFill>
                  </a:tcPr>
                </a:tc>
              </a:tr>
              <a:tr h="243840">
                <a:tc>
                  <a:txBody>
                    <a:bodyPr/>
                    <a:lstStyle/>
                    <a:p>
                      <a:r>
                        <a:rPr sz="1000" b="0">
                          <a:solidFill>
                            <a:srgbClr val="4B4B4B"/>
                          </a:solidFill>
                          <a:latin typeface="Arial"/>
                        </a:rPr>
                        <a:t>A disposition reserved to some roles is refused for the other roles (FR-CL-031).</a:t>
                      </a:r>
                    </a:p>
                  </a:txBody>
                  <a:tcPr marL="54864" marR="54864" marT="27432" marB="27432">
                    <a:solidFill>
                      <a:srgbClr val="E5F5FF"/>
                    </a:solidFill>
                  </a:tcPr>
                </a:tc>
              </a:tr>
              <a:tr h="243840">
                <a:tc>
                  <a:txBody>
                    <a:bodyPr/>
                    <a:lstStyle/>
                    <a:p>
                      <a:r>
                        <a:rPr sz="1000" b="0">
                          <a:solidFill>
                            <a:srgbClr val="4B4B4B"/>
                          </a:solidFill>
                          <a:latin typeface="Arial"/>
                        </a:rPr>
                        <a:t>Exports run in the background and are capped at the maximum number of rows of the export parameter (FR-CL-084).</a:t>
                      </a:r>
                    </a:p>
                  </a:txBody>
                  <a:tcPr marL="54864" marR="54864" marT="27432" marB="27432">
                    <a:solidFill>
                      <a:srgbClr val="FFFFFF"/>
                    </a:solidFill>
                  </a:tcPr>
                </a:tc>
              </a:tr>
            </a:tbl>
          </a:graphicData>
        </a:graphic>
      </p:graphicFrame>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the PR Worklist with Only mine ticked</a:t>
                      </a:r>
                    </a:p>
                  </a:txBody>
                  <a:tcPr marL="54864" marR="54864" marT="27432" marB="27432">
                    <a:solidFill>
                      <a:srgbClr val="FFFFFF"/>
                    </a:solidFill>
                  </a:tcPr>
                </a:tc>
                <a:tc>
                  <a:txBody>
                    <a:bodyPr/>
                    <a:lstStyle/>
                    <a:p>
                      <a:r>
                        <a:rPr sz="900" b="0">
                          <a:solidFill>
                            <a:srgbClr val="4B4B4B"/>
                          </a:solidFill>
                          <a:latin typeface="Arial"/>
                        </a:rPr>
                        <a:t>SCR-CL-02_wt-a-step-03.png</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2.png"/>
          <p:cNvPicPr>
            <a:picLocks noChangeAspect="1"/>
          </p:cNvPicPr>
          <p:nvPr/>
        </p:nvPicPr>
        <p:blipFill>
          <a:blip r:embed="rId3"/>
          <a:stretch>
            <a:fillRect/>
          </a:stretch>
        </p:blipFill>
        <p:spPr>
          <a:xfrm>
            <a:off x="548640" y="1261872"/>
            <a:ext cx="11094415" cy="44912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of the Collection Team Lead: open accounts with handler, disposition and status (part 1 of 3)</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3.png"/>
          <p:cNvPicPr>
            <a:picLocks noChangeAspect="1"/>
          </p:cNvPicPr>
          <p:nvPr/>
        </p:nvPicPr>
        <p:blipFill>
          <a:blip r:embed="rId3"/>
          <a:stretch>
            <a:fillRect/>
          </a:stretch>
        </p:blipFill>
        <p:spPr>
          <a:xfrm>
            <a:off x="548640" y="1261872"/>
            <a:ext cx="11094415" cy="4517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of the Collection Team Lead: open accounts with handler, disposition and status (part 2 of 3)</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4.png"/>
          <p:cNvPicPr>
            <a:picLocks noChangeAspect="1"/>
          </p:cNvPicPr>
          <p:nvPr/>
        </p:nvPicPr>
        <p:blipFill>
          <a:blip r:embed="rId3"/>
          <a:stretch>
            <a:fillRect/>
          </a:stretch>
        </p:blipFill>
        <p:spPr>
          <a:xfrm>
            <a:off x="548640" y="1261872"/>
            <a:ext cx="11094415" cy="20775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of the Collection Team Lead: open accounts with handler, disposition and status (part 3 of 3)</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5.png"/>
          <p:cNvPicPr>
            <a:picLocks noChangeAspect="1"/>
          </p:cNvPicPr>
          <p:nvPr/>
        </p:nvPicPr>
        <p:blipFill>
          <a:blip r:embed="rId3"/>
          <a:stretch>
            <a:fillRect/>
          </a:stretch>
        </p:blipFill>
        <p:spPr>
          <a:xfrm>
            <a:off x="548640" y="1261872"/>
            <a:ext cx="11094415" cy="47325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with the Filters panel open (part 1 of 3)</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6.png"/>
          <p:cNvPicPr>
            <a:picLocks noChangeAspect="1"/>
          </p:cNvPicPr>
          <p:nvPr/>
        </p:nvPicPr>
        <p:blipFill>
          <a:blip r:embed="rId3"/>
          <a:stretch>
            <a:fillRect/>
          </a:stretch>
        </p:blipFill>
        <p:spPr>
          <a:xfrm>
            <a:off x="548640" y="1261872"/>
            <a:ext cx="11094415" cy="47325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with the Filters panel open (part 2 of 3)</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7.png"/>
          <p:cNvPicPr>
            <a:picLocks noChangeAspect="1"/>
          </p:cNvPicPr>
          <p:nvPr/>
        </p:nvPicPr>
        <p:blipFill>
          <a:blip r:embed="rId3"/>
          <a:stretch>
            <a:fillRect/>
          </a:stretch>
        </p:blipFill>
        <p:spPr>
          <a:xfrm>
            <a:off x="548640" y="1261872"/>
            <a:ext cx="11094415" cy="38705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with the Filters panel open (part 3 of 3)</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cl-02-03-reassign.png"/>
          <p:cNvPicPr>
            <a:picLocks noChangeAspect="1"/>
          </p:cNvPicPr>
          <p:nvPr/>
        </p:nvPicPr>
        <p:blipFill>
          <a:blip r:embed="rId3"/>
          <a:stretch>
            <a:fillRect/>
          </a:stretch>
        </p:blipFill>
        <p:spPr>
          <a:xfrm>
            <a:off x="814436" y="1261872"/>
            <a:ext cx="10562822"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Accounts dialog for two selected accounts, temporary until an end date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Empty list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08.png"/>
          <p:cNvPicPr>
            <a:picLocks noChangeAspect="1"/>
          </p:cNvPicPr>
          <p:nvPr/>
        </p:nvPicPr>
        <p:blipFill>
          <a:blip r:embed="rId3"/>
          <a:stretch>
            <a:fillRect/>
          </a:stretch>
        </p:blipFill>
        <p:spPr>
          <a:xfrm>
            <a:off x="548640" y="1261872"/>
            <a:ext cx="11094415" cy="41699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account (part 1 of 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Empty list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09.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account (part 2 of 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Empty list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10.png"/>
          <p:cNvPicPr>
            <a:picLocks noChangeAspect="1"/>
          </p:cNvPicPr>
          <p:nvPr/>
        </p:nvPicPr>
        <p:blipFill>
          <a:blip r:embed="rId3"/>
          <a:stretch>
            <a:fillRect/>
          </a:stretch>
        </p:blipFill>
        <p:spPr>
          <a:xfrm>
            <a:off x="548640" y="1261872"/>
            <a:ext cx="11094415" cy="92294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account (part 3 of 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CHG-CL-2.1-01</a:t>
            </a:r>
          </a:p>
        </p:txBody>
      </p:sp>
      <p:graphicFrame>
        <p:nvGraphicFramePr>
          <p:cNvPr id="10" name="Table 9"/>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collection account: the assured, invoice and ARN chips, the collection, payment and remittance statuses, the flags and the key facts; the collector's actions (update remarks and category, log an effort, record a disposition) and the tabs Summary (net PR breakdown by component), Payments, Timeline, Policy &amp; Co-insurance, Dispositions &amp; Efforts (with the hand-offs to Operations) and History (assignments and field changes). Opening the account takes the edit lock.</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 Worklist › Collection Account</a:t>
                      </a:r>
                    </a:p>
                    <a:p>
                      <a:r>
                        <a:rPr sz="950" b="0">
                          <a:solidFill>
                            <a:srgbClr val="4B4B4B"/>
                          </a:solidFill>
                          <a:latin typeface="Arial"/>
                        </a:rPr>
                        <a:t>PR Worklist › open a row</a:t>
                      </a:r>
                    </a:p>
                    <a:p>
                      <a:r>
                        <a:rPr sz="950" b="0">
                          <a:solidFill>
                            <a:srgbClr val="4B4B4B"/>
                          </a:solidFill>
                          <a:latin typeface="Arial"/>
                        </a:rPr>
                        <a:t>Client View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FR-CL-002, FR-CL-003, FR-CL-005, FR-CL-016, FR-CL-018, FR-CL-031, FR-CL-032, FR-CL-033, FR-CL-041, FR-CL-043, FR-CL-044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records the work on the account and sees everything that happened to it.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(8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5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Invoice and ARN chips, status pills</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Collection status; payment status; remittance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Flags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Direct Payment, 2% CWT, On Hold, Pending Negative Adjustment, Locked by &lt;team&gt;, Marketing Action or Operations Action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Facts</a:t>
                      </a:r>
                    </a:p>
                  </a:txBody>
                  <a:tcPr marL="54864" marR="54864" marT="27432" marB="27432">
                    <a:solidFill>
                      <a:srgbClr val="FFFFFF"/>
                    </a:solidFill>
                  </a:tcPr>
                </a:tc>
                <a:tc>
                  <a:txBody>
                    <a:bodyPr/>
                    <a:lstStyle/>
                    <a:p>
                      <a:r>
                        <a:rPr sz="850" b="0">
                          <a:solidFill>
                            <a:srgbClr val="4B4B4B"/>
                          </a:solidFill>
                          <a:latin typeface="Arial"/>
                        </a:rPr>
                        <a:t>Client / Outstanding / PR2307 / Aging / Insurer / Handler / AO / UH</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Client code; amounts with the currency; days with the bracket and the booking date; insurer name; names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Booked / Endorsements / Adjustments / Payments Applied / Written Off / Reversed / Net Outstanding</a:t>
                      </a:r>
                    </a:p>
                  </a:txBody>
                  <a:tcPr marL="54864" marR="54864" marT="27432" marB="27432">
                    <a:solidFill>
                      <a:srgbClr val="E5F5FF"/>
                    </a:solidFill>
                  </a:tcPr>
                </a:tc>
                <a:tc>
                  <a:txBody>
                    <a:bodyPr/>
                    <a:lstStyle/>
                    <a:p>
                      <a:r>
                        <a:rPr sz="850" b="0">
                          <a:solidFill>
                            <a:srgbClr val="4B4B4B"/>
                          </a:solidFill>
                          <a:latin typeface="Arial"/>
                        </a:rPr>
                        <a:t>Total</a:t>
                      </a:r>
                    </a:p>
                  </a:txBody>
                  <a:tcPr marL="54864" marR="54864" marT="27432" marB="27432">
                    <a:solidFill>
                      <a:srgbClr val="E5F5FF"/>
                    </a:solidFill>
                  </a:tcPr>
                </a:tc>
                <a:tc>
                  <a:txBody>
                    <a:bodyPr/>
                    <a:lstStyle/>
                    <a:p>
                      <a:r>
                        <a:rPr sz="850" b="0">
                          <a:solidFill>
                            <a:srgbClr val="4B4B4B"/>
                          </a:solidFill>
                          <a:latin typeface="Arial"/>
                        </a:rPr>
                        <a:t>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Component / Booked / Adjusted / Applied / Written Off / Outstanding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premium component by name (Basic Premium, DST, Premium Tax / VAT, LGT, FST, PR 2307, Other Charges)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invoice is no longer in the ledger</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Remarks / Last Effort / Promise / Escalation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Collector's remarks; label and time of the last effort; promise and escalation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Payments</a:t>
                      </a:r>
                    </a:p>
                  </a:txBody>
                  <a:tcPr marL="54864" marR="54864" marT="27432" marB="27432">
                    <a:solidFill>
                      <a:srgbClr val="FFFFFF"/>
                    </a:solidFill>
                  </a:tcPr>
                </a:tc>
                <a:tc>
                  <a:txBody>
                    <a:bodyPr/>
                    <a:lstStyle/>
                    <a:p>
                      <a:r>
                        <a:rPr sz="850" b="0">
                          <a:solidFill>
                            <a:srgbClr val="4B4B4B"/>
                          </a:solidFill>
                          <a:latin typeface="Arial"/>
                        </a:rPr>
                        <a:t>Premium Due / Paid / Outstanding</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Payments</a:t>
                      </a:r>
                    </a:p>
                  </a:txBody>
                  <a:tcPr marL="54864" marR="54864" marT="27432" marB="27432">
                    <a:solidFill>
                      <a:srgbClr val="E5F5FF"/>
                    </a:solidFill>
                  </a:tcPr>
                </a:tc>
                <a:tc>
                  <a:txBody>
                    <a:bodyPr/>
                    <a:lstStyle/>
                    <a:p>
                      <a:r>
                        <a:rPr sz="850" b="0">
                          <a:solidFill>
                            <a:srgbClr val="4B4B4B"/>
                          </a:solidFill>
                          <a:latin typeface="Arial"/>
                        </a:rPr>
                        <a:t>Date / Type / AR / OR / Reference / Amount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payment applied or reversed, with the module that applied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payment applied yet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Timeline</a:t>
                      </a:r>
                    </a:p>
                  </a:txBody>
                  <a:tcPr marL="54864" marR="54864" marT="27432" marB="27432">
                    <a:solidFill>
                      <a:srgbClr val="FFFFFF"/>
                    </a:solidFill>
                  </a:tcPr>
                </a:tc>
                <a:tc>
                  <a:txBody>
                    <a:bodyPr/>
                    <a:lstStyle/>
                    <a:p>
                      <a:r>
                        <a:rPr sz="850" b="0">
                          <a:solidFill>
                            <a:srgbClr val="4B4B4B"/>
                          </a:solidFill>
                          <a:latin typeface="Arial"/>
                        </a:rPr>
                        <a:t>Date and Time / Type / Event / By / Amount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Ledger movements and Collections actions, newest first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history yet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Policy &amp; Co-insurance</a:t>
                      </a:r>
                    </a:p>
                  </a:txBody>
                  <a:tcPr marL="54864" marR="54864" marT="27432" marB="27432">
                    <a:solidFill>
                      <a:srgbClr val="E5F5FF"/>
                    </a:solidFill>
                  </a:tcPr>
                </a:tc>
                <a:tc>
                  <a:txBody>
                    <a:bodyPr/>
                    <a:lstStyle/>
                    <a:p>
                      <a:r>
                        <a:rPr sz="850" b="0">
                          <a:solidFill>
                            <a:srgbClr val="4B4B4B"/>
                          </a:solidFill>
                          <a:latin typeface="Arial"/>
                        </a:rPr>
                        <a:t>Invoice No. / Kind / Booked / Gross / Balance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invoice family of the policy year with the balance and payment status of each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Policy &amp; Co-insurance</a:t>
                      </a:r>
                    </a:p>
                  </a:txBody>
                  <a:tcPr marL="54864" marR="54864" marT="27432" marB="27432">
                    <a:solidFill>
                      <a:srgbClr val="FFFFFF"/>
                    </a:solidFill>
                  </a:tcPr>
                </a:tc>
                <a:tc>
                  <a:txBody>
                    <a:bodyPr/>
                    <a:lstStyle/>
                    <a:p>
                      <a:r>
                        <a:rPr sz="850" b="0">
                          <a:solidFill>
                            <a:srgbClr val="4B4B4B"/>
                          </a:solidFill>
                          <a:latin typeface="Arial"/>
                        </a:rPr>
                        <a:t>Policy / Product / Risk / Period / Booked / Receipt Date (first AR)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Policy with its year; period dd-MMM-yyyy to 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Policy &amp; Co-insurance</a:t>
                      </a:r>
                    </a:p>
                  </a:txBody>
                  <a:tcPr marL="54864" marR="54864" marT="27432" marB="27432">
                    <a:solidFill>
                      <a:srgbClr val="E5F5FF"/>
                    </a:solidFill>
                  </a:tcPr>
                </a:tc>
                <a:tc>
                  <a:txBody>
                    <a:bodyPr/>
                    <a:lstStyle/>
                    <a:p>
                      <a:r>
                        <a:rPr sz="850" b="0">
                          <a:solidFill>
                            <a:srgbClr val="4B4B4B"/>
                          </a:solidFill>
                          <a:latin typeface="Arial"/>
                        </a:rPr>
                        <a:t>Insurer / Share % / Lead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name, share and the lead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Dispositions &amp; Efforts</a:t>
                      </a:r>
                    </a:p>
                  </a:txBody>
                  <a:tcPr marL="54864" marR="54864" marT="27432" marB="27432">
                    <a:solidFill>
                      <a:srgbClr val="FFFFFF"/>
                    </a:solidFill>
                  </a:tcPr>
                </a:tc>
                <a:tc>
                  <a:txBody>
                    <a:bodyPr/>
                    <a:lstStyle/>
                    <a:p>
                      <a:r>
                        <a:rPr sz="850" b="0">
                          <a:solidFill>
                            <a:srgbClr val="4B4B4B"/>
                          </a:solidFill>
                          <a:latin typeface="Arial"/>
                        </a:rPr>
                        <a:t>Disposition / Remarks / Hand-off / Encoded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Label of the disposition, current or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disposition yet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Dispositions &amp; Efforts</a:t>
                      </a:r>
                    </a:p>
                  </a:txBody>
                  <a:tcPr marL="54864" marR="54864" marT="27432" marB="27432">
                    <a:solidFill>
                      <a:srgbClr val="E5F5FF"/>
                    </a:solidFill>
                  </a:tcPr>
                </a:tc>
                <a:tc>
                  <a:txBody>
                    <a:bodyPr/>
                    <a:lstStyle/>
                    <a:p>
                      <a:r>
                        <a:rPr sz="850" b="0">
                          <a:solidFill>
                            <a:srgbClr val="4B4B4B"/>
                          </a:solidFill>
                          <a:latin typeface="Arial"/>
                        </a:rPr>
                        <a:t>When / Effort / Channel / Contact / Remarks / Encoded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Label of the effort;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effort logged yet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Dispositions &amp; Efforts</a:t>
                      </a:r>
                    </a:p>
                  </a:txBody>
                  <a:tcPr marL="54864" marR="54864" marT="27432" marB="27432">
                    <a:solidFill>
                      <a:srgbClr val="FFFFFF"/>
                    </a:solidFill>
                  </a:tcPr>
                </a:tc>
                <a:tc>
                  <a:txBody>
                    <a:bodyPr/>
                    <a:lstStyle/>
                    <a:p>
                      <a:r>
                        <a:rPr sz="850" b="0">
                          <a:solidFill>
                            <a:srgbClr val="4B4B4B"/>
                          </a:solidFill>
                          <a:latin typeface="Arial"/>
                        </a:rPr>
                        <a:t>Feed / Reference / Sent / Taken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Hand-offs to Cashiering and Commission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Nothing handed to Operations</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Date / Handler / Kind / Valid / Reason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Assignments with the previous and new handler by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Changed / Field / From / To / User / Source IP / Bulk Ref.</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changed field: the field by name, the values by label and the handler by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Update Remarks and Category dialog</a:t>
                      </a:r>
                    </a:p>
                  </a:txBody>
                  <a:tcPr marL="54864" marR="54864" marT="27432" marB="27432">
                    <a:solidFill>
                      <a:srgbClr val="E5F5FF"/>
                    </a:solidFill>
                  </a:tcPr>
                </a:tc>
                <a:tc>
                  <a:txBody>
                    <a:bodyPr/>
                    <a:lstStyle/>
                    <a:p>
                      <a:r>
                        <a:rPr sz="850" b="0">
                          <a:solidFill>
                            <a:srgbClr val="4B4B4B"/>
                          </a:solidFill>
                          <a:latin typeface="Arial"/>
                        </a:rPr>
                        <a:t>Tagging Category / Remarks</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None, A, B or C; 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Category A, B or C</a:t>
                      </a:r>
                    </a:p>
                  </a:txBody>
                  <a:tcPr marL="54864" marR="54864" marT="27432" marB="27432">
                    <a:solidFill>
                      <a:srgbClr val="E5F5FF"/>
                    </a:solidFill>
                  </a:tcPr>
                </a:tc>
                <a:tc>
                  <a:txBody>
                    <a:bodyPr/>
                    <a:lstStyle/>
                    <a:p>
                      <a:r>
                        <a:rPr sz="850" b="0">
                          <a:solidFill>
                            <a:srgbClr val="4B4B4B"/>
                          </a:solidFill>
                          <a:latin typeface="Arial"/>
                        </a:rPr>
                        <a:t>The tagging category is A, B or C</a:t>
                      </a:r>
                    </a:p>
                  </a:txBody>
                  <a:tcPr marL="54864" marR="54864" marT="27432" marB="27432">
                    <a:solidFill>
                      <a:srgbClr val="E5F5FF"/>
                    </a:solidFill>
                  </a:tcPr>
                </a:tc>
              </a:tr>
            </a:tbl>
          </a:graphicData>
        </a:graphic>
      </p:graphicFrame>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Invoice 360</a:t>
                      </a:r>
                    </a:p>
                  </a:txBody>
                  <a:tcPr marL="54864" marR="54864" marT="27432" marB="27432">
                    <a:solidFill>
                      <a:srgbClr val="FFFFFF"/>
                    </a:solidFill>
                  </a:tcPr>
                </a:tc>
                <a:tc>
                  <a:txBody>
                    <a:bodyPr/>
                    <a:lstStyle/>
                    <a:p>
                      <a:r>
                        <a:rPr sz="850" b="0">
                          <a:solidFill>
                            <a:srgbClr val="4B4B4B"/>
                          </a:solidFill>
                          <a:latin typeface="Arial"/>
                        </a:rPr>
                        <a:t>Users with Operations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invoice in Operations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Refresh from Ledger</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Reads the balances of the invoice again from the invoice ledger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Update Remarks</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Open or Credit, not locked by another user</a:t>
                      </a:r>
                    </a:p>
                  </a:txBody>
                  <a:tcPr marL="54864" marR="54864" marT="27432" marB="27432">
                    <a:solidFill>
                      <a:srgbClr val="FFFFFF"/>
                    </a:solidFill>
                  </a:tcPr>
                </a:tc>
                <a:tc>
                  <a:txBody>
                    <a:bodyPr/>
                    <a:lstStyle/>
                    <a:p>
                      <a:r>
                        <a:rPr sz="850" b="0">
                          <a:solidFill>
                            <a:srgbClr val="4B4B4B"/>
                          </a:solidFill>
                          <a:latin typeface="Arial"/>
                        </a:rPr>
                        <a:t>Saves the remarks and the tagging category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Log Effort</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Open or Credit, not locked by another user</a:t>
                      </a:r>
                    </a:p>
                  </a:txBody>
                  <a:tcPr marL="54864" marR="54864" marT="27432" marB="27432">
                    <a:solidFill>
                      <a:srgbClr val="E5F5FF"/>
                    </a:solidFill>
                  </a:tcPr>
                </a:tc>
                <a:tc>
                  <a:txBody>
                    <a:bodyPr/>
                    <a:lstStyle/>
                    <a:p>
                      <a:r>
                        <a:rPr sz="850" b="0">
                          <a:solidFill>
                            <a:srgbClr val="4B4B4B"/>
                          </a:solidFill>
                          <a:latin typeface="Arial"/>
                        </a:rPr>
                        <a:t>Logs the effort with its channel and contact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Record Disposition</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Open or Credit, not locked by another user</a:t>
                      </a:r>
                    </a:p>
                  </a:txBody>
                  <a:tcPr marL="54864" marR="54864" marT="27432" marB="27432">
                    <a:solidFill>
                      <a:srgbClr val="FFFFFF"/>
                    </a:solidFill>
                  </a:tcPr>
                </a:tc>
                <a:tc>
                  <a:txBody>
                    <a:bodyPr/>
                    <a:lstStyle/>
                    <a:p>
                      <a:r>
                        <a:rPr sz="850" b="0">
                          <a:solidFill>
                            <a:srgbClr val="4B4B4B"/>
                          </a:solidFill>
                          <a:latin typeface="Arial"/>
                        </a:rPr>
                        <a:t>Records the disposition; the previous one is kept as superseded; an Operations action is handed over</a:t>
                      </a:r>
                    </a:p>
                  </a:txBody>
                  <a:tcPr marL="54864" marR="54864" marT="27432" marB="27432">
                    <a:solidFill>
                      <a:srgbClr val="FFFFFF"/>
                    </a:solidFill>
                  </a:tcPr>
                </a:tc>
                <a:tc>
                  <a:txBody>
                    <a:bodyPr/>
                    <a:lstStyle/>
                    <a:p>
                      <a:r>
                        <a:rPr sz="850" b="0">
                          <a:solidFill>
                            <a:srgbClr val="4B4B4B"/>
                          </a:solidFill>
                          <a:latin typeface="Arial"/>
                        </a:rPr>
                        <a:t>Disposition recorded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account is locked to the user who opened it to work on it for the edit-lock time (15 minutes by default); another user cannot change it meanwhile (FR-CL-005).</a:t>
                      </a:r>
                    </a:p>
                  </a:txBody>
                  <a:tcPr marL="54864" marR="54864" marT="27432" marB="27432">
                    <a:solidFill>
                      <a:srgbClr val="FFFFFF"/>
                    </a:solidFill>
                  </a:tcPr>
                </a:tc>
              </a:tr>
              <a:tr h="243840">
                <a:tc>
                  <a:txBody>
                    <a:bodyPr/>
                    <a:lstStyle/>
                    <a:p>
                      <a:r>
                        <a:rPr sz="1000" b="0">
                          <a:solidFill>
                            <a:srgbClr val="4B4B4B"/>
                          </a:solidFill>
                          <a:latin typeface="Arial"/>
                        </a:rPr>
                        <a:t>Every change is recorded field by field with the old and new value, the user, the time and the source address (FR-CL-003).</a:t>
                      </a:r>
                    </a:p>
                  </a:txBody>
                  <a:tcPr marL="54864" marR="54864" marT="27432" marB="27432">
                    <a:solidFill>
                      <a:srgbClr val="E5F5FF"/>
                    </a:solidFill>
                  </a:tcPr>
                </a:tc>
              </a:tr>
              <a:tr h="243840">
                <a:tc>
                  <a:txBody>
                    <a:bodyPr/>
                    <a:lstStyle/>
                    <a:p>
                      <a:r>
                        <a:rPr sz="1000" b="0">
                          <a:solidFill>
                            <a:srgbClr val="4B4B4B"/>
                          </a:solidFill>
                          <a:latin typeface="Arial"/>
                        </a:rPr>
                        <a:t>Dispositions are never deleted: a new one supersedes the previous one (FR-CL-018, FR-CL-031).</a:t>
                      </a:r>
                    </a:p>
                  </a:txBody>
                  <a:tcPr marL="54864" marR="54864" marT="27432" marB="27432">
                    <a:solidFill>
                      <a:srgbClr val="FFFFFF"/>
                    </a:solidFill>
                  </a:tcPr>
                </a:tc>
              </a:tr>
              <a:tr h="243840">
                <a:tc>
                  <a:txBody>
                    <a:bodyPr/>
                    <a:lstStyle/>
                    <a:p>
                      <a:r>
                        <a:rPr sz="1000" b="0">
                          <a:solidFill>
                            <a:srgbClr val="4B4B4B"/>
                          </a:solidFill>
                          <a:latin typeface="Arial"/>
                        </a:rPr>
                        <a:t>The net PR breakdown is read live from the invoice ledger; Collections keeps no second copy of the money (FR-CL-016).</a:t>
                      </a:r>
                    </a:p>
                  </a:txBody>
                  <a:tcPr marL="54864" marR="54864" marT="27432" marB="27432">
                    <a:solidFill>
                      <a:srgbClr val="E5F5FF"/>
                    </a:solidFill>
                  </a:tcPr>
                </a:tc>
              </a:tr>
              <a:tr h="396240">
                <a:tc>
                  <a:txBody>
                    <a:bodyPr/>
                    <a:lstStyle/>
                    <a:p>
                      <a:r>
                        <a:rPr sz="1000" b="0">
                          <a:solidFill>
                            <a:srgbClr val="4B4B4B"/>
                          </a:solidFill>
                          <a:latin typeface="Arial"/>
                        </a:rPr>
                        <a:t>A BIR 2307 tag is handed to Cashiering and a direct payment account to Commission Receivables; there is no check pick-up, which the Operations Cashiering annex removed from scope (FR-CL-032).</a:t>
                      </a:r>
                    </a:p>
                  </a:txBody>
                  <a:tcPr marL="54864" marR="54864" marT="27432" marB="27432">
                    <a:solidFill>
                      <a:srgbClr val="FFFF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1</a:t>
                      </a:r>
                    </a:p>
                  </a:txBody>
                  <a:tcPr marL="54864" marR="54864" marT="27432" marB="27432">
                    <a:solidFill>
                      <a:srgbClr val="FFFFFF"/>
                    </a:solidFill>
                  </a:tcPr>
                </a:tc>
                <a:tc>
                  <a:txBody>
                    <a:bodyPr/>
                    <a:lstStyle/>
                    <a:p>
                      <a:r>
                        <a:rPr sz="900" b="0">
                          <a:solidFill>
                            <a:srgbClr val="4B4B4B"/>
                          </a:solidFill>
                          <a:latin typeface="Arial"/>
                        </a:rPr>
                        <a:t>The account officer records the disposition No / missing policy number on an account</a:t>
                      </a:r>
                    </a:p>
                  </a:txBody>
                  <a:tcPr marL="54864" marR="54864" marT="27432" marB="27432">
                    <a:solidFill>
                      <a:srgbClr val="FFFFFF"/>
                    </a:solidFill>
                  </a:tcPr>
                </a:tc>
                <a:tc>
                  <a:txBody>
                    <a:bodyPr/>
                    <a:lstStyle/>
                    <a:p>
                      <a:r>
                        <a:rPr sz="900" b="0">
                          <a:solidFill>
                            <a:srgbClr val="4B4B4B"/>
                          </a:solidFill>
                          <a:latin typeface="Arial"/>
                        </a:rPr>
                        <a:t>SCR-CL-03_wt-e-step-01.png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4</a:t>
                      </a:r>
                    </a:p>
                  </a:txBody>
                  <a:tcPr marL="54864" marR="54864" marT="27432" marB="27432">
                    <a:solidFill>
                      <a:srgbClr val="E5F5FF"/>
                    </a:solidFill>
                  </a:tcPr>
                </a:tc>
                <a:tc>
                  <a:txBody>
                    <a:bodyPr/>
                    <a:lstStyle/>
                    <a:p>
                      <a:r>
                        <a:rPr sz="900" b="0">
                          <a:solidFill>
                            <a:srgbClr val="4B4B4B"/>
                          </a:solidFill>
                          <a:latin typeface="Arial"/>
                        </a:rPr>
                        <a:t>Opens the account and clicks Log Effort: Phone call to the client's finance officer</a:t>
                      </a:r>
                    </a:p>
                  </a:txBody>
                  <a:tcPr marL="54864" marR="54864" marT="27432" marB="27432">
                    <a:solidFill>
                      <a:srgbClr val="E5F5FF"/>
                    </a:solidFill>
                  </a:tcPr>
                </a:tc>
                <a:tc>
                  <a:txBody>
                    <a:bodyPr/>
                    <a:lstStyle/>
                    <a:p>
                      <a:r>
                        <a:rPr sz="900" b="0">
                          <a:solidFill>
                            <a:srgbClr val="4B4B4B"/>
                          </a:solidFill>
                          <a:latin typeface="Arial"/>
                        </a:rPr>
                        <a:t>SCR-CL-03_wt-a-step-04.png</a:t>
                      </a:r>
                    </a:p>
                  </a:txBody>
                  <a:tcPr marL="54864" marR="54864" marT="27432" marB="27432">
                    <a:solidFill>
                      <a:srgbClr val="E5F5FF"/>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WT-E step 2</a:t>
                      </a:r>
                    </a:p>
                  </a:txBody>
                  <a:tcPr marL="54864" marR="54864" marT="27432" marB="27432">
                    <a:solidFill>
                      <a:srgbClr val="FFFFFF"/>
                    </a:solidFill>
                  </a:tcPr>
                </a:tc>
                <a:tc>
                  <a:txBody>
                    <a:bodyPr/>
                    <a:lstStyle/>
                    <a:p>
                      <a:r>
                        <a:rPr sz="900" b="0">
                          <a:solidFill>
                            <a:srgbClr val="4B4B4B"/>
                          </a:solidFill>
                          <a:latin typeface="Arial"/>
                        </a:rPr>
                        <a:t>Opens the account the Collection Handler is working on</a:t>
                      </a:r>
                    </a:p>
                  </a:txBody>
                  <a:tcPr marL="54864" marR="54864" marT="27432" marB="27432">
                    <a:solidFill>
                      <a:srgbClr val="FFFFFF"/>
                    </a:solidFill>
                  </a:tcPr>
                </a:tc>
                <a:tc>
                  <a:txBody>
                    <a:bodyPr/>
                    <a:lstStyle/>
                    <a:p>
                      <a:r>
                        <a:rPr sz="900" b="0">
                          <a:solidFill>
                            <a:srgbClr val="4B4B4B"/>
                          </a:solidFill>
                          <a:latin typeface="Arial"/>
                        </a:rPr>
                        <a:t>SCR-CL-03_wt-e-step-02.png</a:t>
                      </a:r>
                    </a:p>
                  </a:txBody>
                  <a:tcPr marL="54864" marR="54864" marT="27432" marB="27432">
                    <a:solidFill>
                      <a:srgbClr val="FFFFFF"/>
                    </a:solidFill>
                  </a:tcPr>
                </a:tc>
              </a:tr>
            </a:tbl>
          </a:graphicData>
        </a:graphic>
      </p:graphicFrame>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 account: header, facts, actions and the net PR breakdown by component (part 1 of 3)</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 account: header, facts, actions and the net PR breakdown by component (part 2 of 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3.png"/>
          <p:cNvPicPr>
            <a:picLocks noChangeAspect="1"/>
          </p:cNvPicPr>
          <p:nvPr/>
        </p:nvPicPr>
        <p:blipFill>
          <a:blip r:embed="rId3"/>
          <a:stretch>
            <a:fillRect/>
          </a:stretch>
        </p:blipFill>
        <p:spPr>
          <a:xfrm>
            <a:off x="548640" y="1261872"/>
            <a:ext cx="11094415" cy="34430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 account: header, facts, actions and the net PR breakdown by component (part 3 of 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4.png"/>
          <p:cNvPicPr>
            <a:picLocks noChangeAspect="1"/>
          </p:cNvPicPr>
          <p:nvPr/>
        </p:nvPicPr>
        <p:blipFill>
          <a:blip r:embed="rId3"/>
          <a:stretch>
            <a:fillRect/>
          </a:stretch>
        </p:blipFill>
        <p:spPr>
          <a:xfrm>
            <a:off x="548640" y="1261872"/>
            <a:ext cx="11094415" cy="36784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Dispositions &amp; Efforts tab with the hand-off to Cashiering (part 1 of 2)</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5.png"/>
          <p:cNvPicPr>
            <a:picLocks noChangeAspect="1"/>
          </p:cNvPicPr>
          <p:nvPr/>
        </p:nvPicPr>
        <p:blipFill>
          <a:blip r:embed="rId3"/>
          <a:stretch>
            <a:fillRect/>
          </a:stretch>
        </p:blipFill>
        <p:spPr>
          <a:xfrm>
            <a:off x="548640" y="1261872"/>
            <a:ext cx="11094415" cy="34817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Dispositions &amp; Efforts tab with the hand-off to Cashiering (part 2 of 2)</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6.png"/>
          <p:cNvPicPr>
            <a:picLocks noChangeAspect="1"/>
          </p:cNvPicPr>
          <p:nvPr/>
        </p:nvPicPr>
        <p:blipFill>
          <a:blip r:embed="rId3"/>
          <a:stretch>
            <a:fillRect/>
          </a:stretch>
        </p:blipFill>
        <p:spPr>
          <a:xfrm>
            <a:off x="548640" y="1261872"/>
            <a:ext cx="11094415" cy="36391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assignments and the field changes with From, To, user and source (part 1 of 2)</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7.png"/>
          <p:cNvPicPr>
            <a:picLocks noChangeAspect="1"/>
          </p:cNvPicPr>
          <p:nvPr/>
        </p:nvPicPr>
        <p:blipFill>
          <a:blip r:embed="rId3"/>
          <a:stretch>
            <a:fillRect/>
          </a:stretch>
        </p:blipFill>
        <p:spPr>
          <a:xfrm>
            <a:off x="548640" y="1261872"/>
            <a:ext cx="11094415" cy="32457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assignments and the field changes with From, To, user and source (part 2 of 2)</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account while another user works on it: the editing notice and no actions (part 1 of 3)</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account while another user works on it: the editing notice and no actions (part 2 of 3)</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0.png"/>
          <p:cNvPicPr>
            <a:picLocks noChangeAspect="1"/>
          </p:cNvPicPr>
          <p:nvPr/>
        </p:nvPicPr>
        <p:blipFill>
          <a:blip r:embed="rId3"/>
          <a:stretch>
            <a:fillRect/>
          </a:stretch>
        </p:blipFill>
        <p:spPr>
          <a:xfrm>
            <a:off x="548640" y="1261872"/>
            <a:ext cx="11094415" cy="34622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account while another user works on it: the editing notice and no actions (part 3 of 3)</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collection account as the Auditor sees it, without the actions (part 1 of 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collection account as the Auditor sees it, without the actions (part 2 of 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3.png"/>
          <p:cNvPicPr>
            <a:picLocks noChangeAspect="1"/>
          </p:cNvPicPr>
          <p:nvPr/>
        </p:nvPicPr>
        <p:blipFill>
          <a:blip r:embed="rId3"/>
          <a:stretch>
            <a:fillRect/>
          </a:stretch>
        </p:blipFill>
        <p:spPr>
          <a:xfrm>
            <a:off x="548640" y="1261872"/>
            <a:ext cx="11094415" cy="34622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collection account as the Auditor sees it, without the actions (part 3 of 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Client 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collection account of one client, open, completed or credit, with the number of open accounts, their net outstanding and the open PR2307.</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 Worklist › Client View</a:t>
                      </a:r>
                    </a:p>
                    <a:p>
                      <a:r>
                        <a:rPr sz="950" b="0">
                          <a:solidFill>
                            <a:srgbClr val="4B4B4B"/>
                          </a:solidFill>
                          <a:latin typeface="Arial"/>
                        </a:rPr>
                        <a:t>PR Worklist › client code of a row, or a client of Totals by Client</a:t>
                      </a:r>
                    </a:p>
                    <a:p>
                      <a:r>
                        <a:rPr sz="950" b="0">
                          <a:solidFill>
                            <a:srgbClr val="4B4B4B"/>
                          </a:solidFill>
                          <a:latin typeface="Arial"/>
                        </a:rPr>
                        <a:t>Collection Account › Client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whole exposure of a client before calling.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Totals</a:t>
                      </a:r>
                    </a:p>
                  </a:txBody>
                  <a:tcPr marL="54864" marR="54864" marT="27432" marB="27432">
                    <a:solidFill>
                      <a:srgbClr val="FFFFFF"/>
                    </a:solidFill>
                  </a:tcPr>
                </a:tc>
                <a:tc>
                  <a:txBody>
                    <a:bodyPr/>
                    <a:lstStyle/>
                    <a:p>
                      <a:r>
                        <a:rPr sz="850" b="0">
                          <a:solidFill>
                            <a:srgbClr val="4B4B4B"/>
                          </a:solidFill>
                          <a:latin typeface="Arial"/>
                        </a:rPr>
                        <a:t>Open Accounts / Net Outstanding / PR2307 Open</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Count; amounts with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Invoice No. / ARN / Policy / Booked / Aging / Outstanding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ARN and policy; booking date; days; currency and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client has no collection account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Handler / Disposition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Handler's name or Unassigned; label of the disposition; collection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collection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totals add up the open accounts of the client only (FR-CL-014).</a:t>
                      </a:r>
                    </a:p>
                  </a:txBody>
                  <a:tcPr marL="54864" marR="54864" marT="27432" marB="27432">
                    <a:solidFill>
                      <a:srgbClr val="FFFFFF"/>
                    </a:solidFill>
                  </a:tcPr>
                </a:tc>
              </a:tr>
            </a:tbl>
          </a:graphicData>
        </a:graphic>
      </p:graphicFrame>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Client View: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4-01-client.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View: the accounts of a client with the totals of the open ones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installment plans of multi-year and installment accounts by status, and a new plan: over the policy years of a multi-year account, or the outstanding premium of one invoice split in equal installments.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Installment Plans</a:t>
                      </a:r>
                    </a:p>
                    <a:p>
                      <a:r>
                        <a:rPr sz="950" b="0">
                          <a:solidFill>
                            <a:srgbClr val="4B4B4B"/>
                          </a:solidFill>
                          <a:latin typeface="Arial"/>
                        </a:rPr>
                        <a:t>Finance › Collections › Installment Plans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FR-CL-040, FR-CL-041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billed per cycle on a plan the collector can follow.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graphicFrame>
        <p:nvGraphicFramePr>
          <p:cNvPr id="9" name="Table 8"/>
          <p:cNvGraphicFramePr>
            <a:graphicFrameLocks noGrp="1"/>
          </p:cNvGraphicFramePr>
          <p:nvPr/>
        </p:nvGraphicFramePr>
        <p:xfrm>
          <a:off x="548640" y="1325880"/>
          <a:ext cx="11094411" cy="37642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Active Plans / Completed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Plan No., ARN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Plan No. / Invoice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IPL-yyyy-nnnnnn with the invoice, or All policy years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installment plans to display</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 / Name of Assured / Frequency / Basis / First Due / Installments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Frequency label; Policy Years, Generated or Entered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Total / Paid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Two decimals; Active, Completed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Installment Plan dialog</a:t>
                      </a:r>
                    </a:p>
                  </a:txBody>
                  <a:tcPr marL="54864" marR="54864" marT="27432" marB="27432">
                    <a:solidFill>
                      <a:srgbClr val="E5F5FF"/>
                    </a:solidFill>
                  </a:tcPr>
                </a:tc>
                <a:tc>
                  <a:txBody>
                    <a:bodyPr/>
                    <a:lstStyle/>
                    <a:p>
                      <a:r>
                        <a:rPr sz="850" b="0">
                          <a:solidFill>
                            <a:srgbClr val="4B4B4B"/>
                          </a:solidFill>
                          <a:latin typeface="Arial"/>
                        </a:rPr>
                        <a:t>Plan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Policy years of a multi-year account; Installments of one invoice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Installment Plan dialog</a:t>
                      </a:r>
                    </a:p>
                  </a:txBody>
                  <a:tcPr marL="54864" marR="54864" marT="27432" marB="27432">
                    <a:solidFill>
                      <a:srgbClr val="FFFFFF"/>
                    </a:solidFill>
                  </a:tcPr>
                </a:tc>
                <a:tc>
                  <a:txBody>
                    <a:bodyPr/>
                    <a:lstStyle/>
                    <a:p>
                      <a:r>
                        <a:rPr sz="850" b="0">
                          <a:solidFill>
                            <a:srgbClr val="4B4B4B"/>
                          </a:solidFill>
                          <a:latin typeface="Arial"/>
                        </a:rPr>
                        <a:t>Account Reference No. (ARN)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Shown for policy years</a:t>
                      </a:r>
                    </a:p>
                  </a:txBody>
                  <a:tcPr marL="54864" marR="54864" marT="27432" marB="27432">
                    <a:solidFill>
                      <a:srgbClr val="FFFFFF"/>
                    </a:solidFill>
                  </a:tcPr>
                </a:tc>
                <a:tc>
                  <a:txBody>
                    <a:bodyPr/>
                    <a:lstStyle/>
                    <a:p>
                      <a:r>
                        <a:rPr sz="850" b="0">
                          <a:solidFill>
                            <a:srgbClr val="4B4B4B"/>
                          </a:solidFill>
                          <a:latin typeface="Arial"/>
                        </a:rPr>
                        <a:t>Cond.: policy years</a:t>
                      </a:r>
                    </a:p>
                  </a:txBody>
                  <a:tcPr marL="54864" marR="54864" marT="27432" marB="27432">
                    <a:solidFill>
                      <a:srgbClr val="FFFFFF"/>
                    </a:solidFill>
                  </a:tcPr>
                </a:tc>
                <a:tc>
                  <a:txBody>
                    <a:bodyPr/>
                    <a:lstStyle/>
                    <a:p>
                      <a:r>
                        <a:rPr sz="850" b="0">
                          <a:solidFill>
                            <a:srgbClr val="4B4B4B"/>
                          </a:solidFill>
                          <a:latin typeface="Arial"/>
                        </a:rPr>
                        <a:t>The account has a booked policy year</a:t>
                      </a:r>
                    </a:p>
                  </a:txBody>
                  <a:tcPr marL="54864" marR="54864" marT="27432" marB="27432">
                    <a:solidFill>
                      <a:srgbClr val="FFFFFF"/>
                    </a:solidFill>
                  </a:tcPr>
                </a:tc>
                <a:tc>
                  <a:txBody>
                    <a:bodyPr/>
                    <a:lstStyle/>
                    <a:p>
                      <a:r>
                        <a:rPr sz="850" b="0">
                          <a:solidFill>
                            <a:srgbClr val="4B4B4B"/>
                          </a:solidFill>
                          <a:latin typeface="Arial"/>
                        </a:rPr>
                        <a:t>Enter the account reference number</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Installment Plan dialog</a:t>
                      </a:r>
                    </a:p>
                  </a:txBody>
                  <a:tcPr marL="54864" marR="54864" marT="27432" marB="27432">
                    <a:solidFill>
                      <a:srgbClr val="E5F5FF"/>
                    </a:solidFill>
                  </a:tcPr>
                </a:tc>
                <a:tc>
                  <a:txBody>
                    <a:bodyPr/>
                    <a:lstStyle/>
                    <a:p>
                      <a:r>
                        <a:rPr sz="850" b="0">
                          <a:solidFill>
                            <a:srgbClr val="4B4B4B"/>
                          </a:solidFill>
                          <a:latin typeface="Arial"/>
                        </a:rPr>
                        <a:t>Invoice No. / First Due Date / Number of Installments</a:t>
                      </a:r>
                    </a:p>
                  </a:txBody>
                  <a:tcPr marL="54864" marR="54864" marT="27432" marB="27432">
                    <a:solidFill>
                      <a:srgbClr val="E5F5FF"/>
                    </a:solidFill>
                  </a:tcPr>
                </a:tc>
                <a:tc>
                  <a:txBody>
                    <a:bodyPr/>
                    <a:lstStyle/>
                    <a:p>
                      <a:r>
                        <a:rPr sz="850" b="0">
                          <a:solidFill>
                            <a:srgbClr val="4B4B4B"/>
                          </a:solidFill>
                          <a:latin typeface="Arial"/>
                        </a:rPr>
                        <a:t>Text, date, number</a:t>
                      </a:r>
                    </a:p>
                  </a:txBody>
                  <a:tcPr marL="54864" marR="54864" marT="27432" marB="27432">
                    <a:solidFill>
                      <a:srgbClr val="E5F5FF"/>
                    </a:solidFill>
                  </a:tcPr>
                </a:tc>
                <a:tc>
                  <a:txBody>
                    <a:bodyPr/>
                    <a:lstStyle/>
                    <a:p>
                      <a:r>
                        <a:rPr sz="850" b="0">
                          <a:solidFill>
                            <a:srgbClr val="4B4B4B"/>
                          </a:solidFill>
                          <a:latin typeface="Arial"/>
                        </a:rPr>
                        <a:t>Shown for one invoice; 1 to 120 installments</a:t>
                      </a:r>
                    </a:p>
                  </a:txBody>
                  <a:tcPr marL="54864" marR="54864" marT="27432" marB="27432">
                    <a:solidFill>
                      <a:srgbClr val="E5F5FF"/>
                    </a:solidFill>
                  </a:tcPr>
                </a:tc>
                <a:tc>
                  <a:txBody>
                    <a:bodyPr/>
                    <a:lstStyle/>
                    <a:p>
                      <a:r>
                        <a:rPr sz="850" b="0">
                          <a:solidFill>
                            <a:srgbClr val="4B4B4B"/>
                          </a:solidFill>
                          <a:latin typeface="Arial"/>
                        </a:rPr>
                        <a:t>Cond.: one invoice</a:t>
                      </a:r>
                    </a:p>
                  </a:txBody>
                  <a:tcPr marL="54864" marR="54864" marT="27432" marB="27432">
                    <a:solidFill>
                      <a:srgbClr val="E5F5FF"/>
                    </a:solidFill>
                  </a:tcPr>
                </a:tc>
                <a:tc>
                  <a:txBody>
                    <a:bodyPr/>
                    <a:lstStyle/>
                    <a:p>
                      <a:r>
                        <a:rPr sz="850" b="0">
                          <a:solidFill>
                            <a:srgbClr val="4B4B4B"/>
                          </a:solidFill>
                          <a:latin typeface="Arial"/>
                        </a:rPr>
                        <a:t>Invoice with outstanding premium; 1 to 120</a:t>
                      </a:r>
                    </a:p>
                  </a:txBody>
                  <a:tcPr marL="54864" marR="54864" marT="27432" marB="27432">
                    <a:solidFill>
                      <a:srgbClr val="E5F5FF"/>
                    </a:solidFill>
                  </a:tcPr>
                </a:tc>
                <a:tc>
                  <a:txBody>
                    <a:bodyPr/>
                    <a:lstStyle/>
                    <a:p>
                      <a:r>
                        <a:rPr sz="850" b="0">
                          <a:solidFill>
                            <a:srgbClr val="4B4B4B"/>
                          </a:solidFill>
                          <a:latin typeface="Arial"/>
                        </a:rPr>
                        <a:t>Enter between 1 and 120 installments</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Installment Plan dialog</a:t>
                      </a:r>
                    </a:p>
                  </a:txBody>
                  <a:tcPr marL="54864" marR="54864" marT="27432" marB="27432">
                    <a:solidFill>
                      <a:srgbClr val="FFFFFF"/>
                    </a:solidFill>
                  </a:tcPr>
                </a:tc>
                <a:tc>
                  <a:txBody>
                    <a:bodyPr/>
                    <a:lstStyle/>
                    <a:p>
                      <a:r>
                        <a:rPr sz="850" b="0">
                          <a:solidFill>
                            <a:srgbClr val="4B4B4B"/>
                          </a:solidFill>
                          <a:latin typeface="Arial"/>
                        </a:rPr>
                        <a:t>Billing Frequency / Remarks</a:t>
                      </a:r>
                    </a:p>
                  </a:txBody>
                  <a:tcPr marL="54864" marR="54864" marT="27432" marB="27432">
                    <a:solidFill>
                      <a:srgbClr val="FFFFFF"/>
                    </a:solidFill>
                  </a:tcPr>
                </a:tc>
                <a:tc>
                  <a:txBody>
                    <a:bodyPr/>
                    <a:lstStyle/>
                    <a:p>
                      <a:r>
                        <a:rPr sz="850" b="0">
                          <a:solidFill>
                            <a:srgbClr val="4B4B4B"/>
                          </a:solidFill>
                          <a:latin typeface="Arial"/>
                        </a:rPr>
                        <a:t>Drop-down, text area</a:t>
                      </a:r>
                    </a:p>
                  </a:txBody>
                  <a:tcPr marL="54864" marR="54864" marT="27432" marB="27432">
                    <a:solidFill>
                      <a:srgbClr val="FFFFFF"/>
                    </a:solidFill>
                  </a:tcPr>
                </a:tc>
                <a:tc>
                  <a:txBody>
                    <a:bodyPr/>
                    <a:lstStyle/>
                    <a:p>
                      <a:r>
                        <a:rPr sz="850" b="0">
                          <a:solidFill>
                            <a:srgbClr val="4B4B4B"/>
                          </a:solidFill>
                          <a:latin typeface="Arial"/>
                        </a:rPr>
                        <a:t>Annual, Semi-annual, Quarterly, Monthly</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billing frequency</a:t>
                      </a:r>
                    </a:p>
                  </a:txBody>
                  <a:tcPr marL="54864" marR="54864" marT="27432" marB="27432">
                    <a:solidFill>
                      <a:srgbClr val="FFFFFF"/>
                    </a:solidFill>
                  </a:tcPr>
                </a:tc>
              </a:tr>
            </a:tbl>
          </a:graphicData>
        </a:graphic>
      </p:graphicFrame>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Installment Plan</a:t>
                      </a:r>
                    </a:p>
                  </a:txBody>
                  <a:tcPr marL="54864" marR="54864" marT="27432" marB="27432">
                    <a:solidFill>
                      <a:srgbClr val="FFFFFF"/>
                    </a:solidFill>
                  </a:tcPr>
                </a:tc>
                <a:tc>
                  <a:txBody>
                    <a:bodyPr/>
                    <a:lstStyle/>
                    <a:p>
                      <a:r>
                        <a:rPr sz="850" b="0">
                          <a:solidFill>
                            <a:srgbClr val="4B4B4B"/>
                          </a:solidFill>
                          <a:latin typeface="Arial"/>
                        </a:rPr>
                        <a:t>Users with the billing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Create Plan</a:t>
                      </a:r>
                    </a:p>
                  </a:txBody>
                  <a:tcPr marL="54864" marR="54864" marT="27432" marB="27432">
                    <a:solidFill>
                      <a:srgbClr val="E5F5FF"/>
                    </a:solidFill>
                  </a:tcPr>
                </a:tc>
                <a:tc>
                  <a:txBody>
                    <a:bodyPr/>
                    <a:lstStyle/>
                    <a:p>
                      <a:r>
                        <a:rPr sz="850" b="0">
                          <a:solidFill>
                            <a:srgbClr val="4B4B4B"/>
                          </a:solidFill>
                          <a:latin typeface="Arial"/>
                        </a:rPr>
                        <a:t>Users with the billing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Creates the plan with its installments and opens it</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plan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policy-year plan bills every policy year of a multi-year account per cycle; a generated plan splits the outstanding premium of one invoice in equal installments (FR-CL-040).</a:t>
                      </a:r>
                    </a:p>
                  </a:txBody>
                  <a:tcPr marL="54864" marR="54864" marT="27432" marB="27432">
                    <a:solidFill>
                      <a:srgbClr val="FFFFFF"/>
                    </a:solidFill>
                  </a:tcPr>
                </a:tc>
              </a:tr>
              <a:tr h="243840">
                <a:tc>
                  <a:txBody>
                    <a:bodyPr/>
                    <a:lstStyle/>
                    <a:p>
                      <a:r>
                        <a:rPr sz="1000" b="0">
                          <a:solidFill>
                            <a:srgbClr val="4B4B4B"/>
                          </a:solidFill>
                          <a:latin typeface="Arial"/>
                        </a:rPr>
                        <a:t>One live plan per invoice or account: a second plan is refused until the first is cancelled (FR-CL-040).</a:t>
                      </a:r>
                    </a:p>
                  </a:txBody>
                  <a:tcPr marL="54864" marR="54864" marT="27432" marB="27432">
                    <a:solidFill>
                      <a:srgbClr val="E5F5FF"/>
                    </a:solidFill>
                  </a:tcPr>
                </a:tc>
              </a:tr>
              <a:tr h="243840">
                <a:tc>
                  <a:txBody>
                    <a:bodyPr/>
                    <a:lstStyle/>
                    <a:p>
                      <a:r>
                        <a:rPr sz="1000" b="0">
                          <a:solidFill>
                            <a:srgbClr val="4B4B4B"/>
                          </a:solidFill>
                          <a:latin typeface="Arial"/>
                        </a:rPr>
                        <a:t>A plan changes neither the booking nor the accounting; payments are allocated from the invoice ledger (FR-CL-041).</a:t>
                      </a:r>
                    </a:p>
                  </a:txBody>
                  <a:tcPr marL="54864" marR="54864" marT="27432" marB="27432">
                    <a:solidFill>
                      <a:srgbClr val="FFFFFF"/>
                    </a:solidFill>
                  </a:tcPr>
                </a:tc>
              </a:tr>
            </a:tbl>
          </a:graphicData>
        </a:graphic>
      </p:graphicFrame>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Clicks New Installment Plan: installments of one invoice, the invoice, the first due date, 4 installments, Quarterly</a:t>
                      </a:r>
                    </a:p>
                  </a:txBody>
                  <a:tcPr marL="54864" marR="54864" marT="27432" marB="27432">
                    <a:solidFill>
                      <a:srgbClr val="FFFFFF"/>
                    </a:solidFill>
                  </a:tcPr>
                </a:tc>
                <a:tc>
                  <a:txBody>
                    <a:bodyPr/>
                    <a:lstStyle/>
                    <a:p>
                      <a:r>
                        <a:rPr sz="900" b="0">
                          <a:solidFill>
                            <a:srgbClr val="4B4B4B"/>
                          </a:solidFill>
                          <a:latin typeface="Arial"/>
                        </a:rPr>
                        <a:t>SCR-CL-05_wt-d-step-01.png</a:t>
                      </a:r>
                    </a:p>
                  </a:txBody>
                  <a:tcPr marL="54864" marR="54864" marT="27432" marB="27432">
                    <a:solidFill>
                      <a:srgbClr val="FFFFFF"/>
                    </a:solidFill>
                  </a:tcPr>
                </a:tc>
              </a:tr>
            </a:tbl>
          </a:graphicData>
        </a:graphic>
      </p:graphicFrame>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5-01-list.png"/>
          <p:cNvPicPr>
            <a:picLocks noChangeAspect="1"/>
          </p:cNvPicPr>
          <p:nvPr/>
        </p:nvPicPr>
        <p:blipFill>
          <a:blip r:embed="rId3"/>
          <a:stretch>
            <a:fillRect/>
          </a:stretch>
        </p:blipFill>
        <p:spPr>
          <a:xfrm>
            <a:off x="1829973" y="1261872"/>
            <a:ext cx="853174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 Plans: the active plans with their basis, total and paid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4.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Installment Plan dialog: installments of one invoice (part 1 of 2)</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5.png"/>
          <p:cNvPicPr>
            <a:picLocks noChangeAspect="1"/>
          </p:cNvPicPr>
          <p:nvPr/>
        </p:nvPicPr>
        <p:blipFill>
          <a:blip r:embed="rId3"/>
          <a:stretch>
            <a:fillRect/>
          </a:stretch>
        </p:blipFill>
        <p:spPr>
          <a:xfrm>
            <a:off x="548640" y="1261872"/>
            <a:ext cx="11094415" cy="39981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Installment Plan dialog: installments of one invoice (part 2 of 2)</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graphicFrame>
        <p:nvGraphicFramePr>
          <p:cNvPr id="10" name="Table 9"/>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plan: the account and its facts, the installments (billing cycles) with the payments allocated from the ledger and their status, the statements of account of the plan and the promises to pay on its invoices; the row menu of an installment generates its statement of account or records a promise.</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Installment Plans › Installment Plan</a:t>
                      </a:r>
                    </a:p>
                    <a:p>
                      <a:r>
                        <a:rPr sz="950" b="0">
                          <a:solidFill>
                            <a:srgbClr val="4B4B4B"/>
                          </a:solidFill>
                          <a:latin typeface="Arial"/>
                        </a:rPr>
                        <a:t>Installment Plans › open a row</a:t>
                      </a:r>
                    </a:p>
                    <a:p>
                      <a:r>
                        <a:rPr sz="950" b="0">
                          <a:solidFill>
                            <a:srgbClr val="4B4B4B"/>
                          </a:solidFill>
                          <a:latin typeface="Arial"/>
                        </a:rPr>
                        <a:t>Installments Due › open a row</a:t>
                      </a:r>
                    </a:p>
                    <a:p>
                      <a:r>
                        <a:rPr sz="950" b="0">
                          <a:solidFill>
                            <a:srgbClr val="4B4B4B"/>
                          </a:solidFill>
                          <a:latin typeface="Arial"/>
                        </a:rPr>
                        <a:t>Statement of Account › Open Installment Plan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FR-CL-040, FR-CL-041, FR-CL-042, FR-CL-060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follows each cycle of the plan, sees its statement and records the promises.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Plan and ARN chips, status pill, basis tag</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Active, Completed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Invoice / Billing Frequency / Total / Paid / First Due / Created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Amounts with the currency;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Installments / Statements of Account / Promises to Pay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Installments</a:t>
                      </a:r>
                    </a:p>
                  </a:txBody>
                  <a:tcPr marL="54864" marR="54864" marT="27432" marB="27432">
                    <a:solidFill>
                      <a:srgbClr val="E5F5FF"/>
                    </a:solidFill>
                  </a:tcPr>
                </a:tc>
                <a:tc>
                  <a:txBody>
                    <a:bodyPr/>
                    <a:lstStyle/>
                    <a:p>
                      <a:r>
                        <a:rPr sz="850" b="0">
                          <a:solidFill>
                            <a:srgbClr val="4B4B4B"/>
                          </a:solidFill>
                          <a:latin typeface="Arial"/>
                        </a:rPr>
                        <a:t>Cycle / Policy Year / Invoice No. / Coverage / Due Date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Coverage on two lines; Scheduled for a policy year not booked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installments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Installments</a:t>
                      </a:r>
                    </a:p>
                  </a:txBody>
                  <a:tcPr marL="54864" marR="54864" marT="27432" marB="27432">
                    <a:solidFill>
                      <a:srgbClr val="FFFFFF"/>
                    </a:solidFill>
                  </a:tcPr>
                </a:tc>
                <a:tc>
                  <a:txBody>
                    <a:bodyPr/>
                    <a:lstStyle/>
                    <a:p>
                      <a:r>
                        <a:rPr sz="850" b="0">
                          <a:solidFill>
                            <a:srgbClr val="4B4B4B"/>
                          </a:solidFill>
                          <a:latin typeface="Arial"/>
                        </a:rPr>
                        <a:t>Amount / Paid / Balance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Two decimals; Not Due, Due, Overdue, Partial or Paid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Statements of Account</a:t>
                      </a:r>
                    </a:p>
                  </a:txBody>
                  <a:tcPr marL="54864" marR="54864" marT="27432" marB="27432">
                    <a:solidFill>
                      <a:srgbClr val="E5F5FF"/>
                    </a:solidFill>
                  </a:tcPr>
                </a:tc>
                <a:tc>
                  <a:txBody>
                    <a:bodyPr/>
                    <a:lstStyle/>
                    <a:p>
                      <a:r>
                        <a:rPr sz="850" b="0">
                          <a:solidFill>
                            <a:srgbClr val="4B4B4B"/>
                          </a:solidFill>
                          <a:latin typeface="Arial"/>
                        </a:rPr>
                        <a:t>SOA No. / Cycle / Billing Cycle / Due Date / Amount Due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statements generated yet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Promises to Pay</a:t>
                      </a:r>
                    </a:p>
                  </a:txBody>
                  <a:tcPr marL="54864" marR="54864" marT="27432" marB="27432">
                    <a:solidFill>
                      <a:srgbClr val="FFFFFF"/>
                    </a:solidFill>
                  </a:tcPr>
                </a:tc>
                <a:tc>
                  <a:txBody>
                    <a:bodyPr/>
                    <a:lstStyle/>
                    <a:p>
                      <a:r>
                        <a:rPr sz="850" b="0">
                          <a:solidFill>
                            <a:srgbClr val="4B4B4B"/>
                          </a:solidFill>
                          <a:latin typeface="Arial"/>
                        </a:rPr>
                        <a:t>Invoice No. / Promised On / Promised Date / Promised / Paid in Time / Recorded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promises to pay recorded</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Cancel Installment Plan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reason</a:t>
                      </a:r>
                    </a:p>
                  </a:txBody>
                  <a:tcPr marL="54864" marR="54864" marT="27432" marB="27432">
                    <a:solidFill>
                      <a:srgbClr val="E5F5FF"/>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Refresh Allocation</a:t>
                      </a:r>
                    </a:p>
                  </a:txBody>
                  <a:tcPr marL="54864" marR="54864" marT="27432" marB="27432">
                    <a:solidFill>
                      <a:srgbClr val="FFFFFF"/>
                    </a:solidFill>
                  </a:tcPr>
                </a:tc>
                <a:tc>
                  <a:txBody>
                    <a:bodyPr/>
                    <a:lstStyle/>
                    <a:p>
                      <a:r>
                        <a:rPr sz="850" b="0">
                          <a:solidFill>
                            <a:srgbClr val="4B4B4B"/>
                          </a:solidFill>
                          <a:latin typeface="Arial"/>
                        </a:rPr>
                        <a:t>Collectors with the billing or work permission</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Allocates the latest ledger payments to the installments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Cancel Plan</a:t>
                      </a:r>
                    </a:p>
                  </a:txBody>
                  <a:tcPr marL="54864" marR="54864" marT="27432" marB="27432">
                    <a:solidFill>
                      <a:srgbClr val="E5F5FF"/>
                    </a:solidFill>
                  </a:tcPr>
                </a:tc>
                <a:tc>
                  <a:txBody>
                    <a:bodyPr/>
                    <a:lstStyle/>
                    <a:p>
                      <a:r>
                        <a:rPr sz="850" b="0">
                          <a:solidFill>
                            <a:srgbClr val="4B4B4B"/>
                          </a:solidFill>
                          <a:latin typeface="Arial"/>
                        </a:rPr>
                        <a:t>Users with the billing permission</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Asks for the reason and cancels the plan</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Generate SOA (row menu)</a:t>
                      </a:r>
                    </a:p>
                  </a:txBody>
                  <a:tcPr marL="54864" marR="54864" marT="27432" marB="27432">
                    <a:solidFill>
                      <a:srgbClr val="FFFFFF"/>
                    </a:solidFill>
                  </a:tcPr>
                </a:tc>
                <a:tc>
                  <a:txBody>
                    <a:bodyPr/>
                    <a:lstStyle/>
                    <a:p>
                      <a:r>
                        <a:rPr sz="850" b="0">
                          <a:solidFill>
                            <a:srgbClr val="4B4B4B"/>
                          </a:solidFill>
                          <a:latin typeface="Arial"/>
                        </a:rPr>
                        <a:t>Operations billing user (statement permission)</a:t>
                      </a:r>
                    </a:p>
                  </a:txBody>
                  <a:tcPr marL="54864" marR="54864" marT="27432" marB="27432">
                    <a:solidFill>
                      <a:srgbClr val="FFFFFF"/>
                    </a:solidFill>
                  </a:tcPr>
                </a:tc>
                <a:tc>
                  <a:txBody>
                    <a:bodyPr/>
                    <a:lstStyle/>
                    <a:p>
                      <a:r>
                        <a:rPr sz="850" b="0">
                          <a:solidFill>
                            <a:srgbClr val="4B4B4B"/>
                          </a:solidFill>
                          <a:latin typeface="Arial"/>
                        </a:rPr>
                        <a:t>Cycle not billed yet</a:t>
                      </a:r>
                    </a:p>
                  </a:txBody>
                  <a:tcPr marL="54864" marR="54864" marT="27432" marB="27432">
                    <a:solidFill>
                      <a:srgbClr val="FFFFFF"/>
                    </a:solidFill>
                  </a:tcPr>
                </a:tc>
                <a:tc>
                  <a:txBody>
                    <a:bodyPr/>
                    <a:lstStyle/>
                    <a:p>
                      <a:r>
                        <a:rPr sz="850" b="0">
                          <a:solidFill>
                            <a:srgbClr val="4B4B4B"/>
                          </a:solidFill>
                          <a:latin typeface="Arial"/>
                        </a:rPr>
                        <a:t>Generates the statement of account of the cycle</a:t>
                      </a:r>
                    </a:p>
                  </a:txBody>
                  <a:tcPr marL="54864" marR="54864" marT="27432" marB="27432">
                    <a:solidFill>
                      <a:srgbClr val="FFFFFF"/>
                    </a:solidFill>
                  </a:tcPr>
                </a:tc>
                <a:tc>
                  <a:txBody>
                    <a:bodyPr/>
                    <a:lstStyle/>
                    <a:p>
                      <a:r>
                        <a:rPr sz="850" b="0">
                          <a:solidFill>
                            <a:srgbClr val="4B4B4B"/>
                          </a:solidFill>
                          <a:latin typeface="Arial"/>
                        </a:rPr>
                        <a:t>Statement To Send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Record Promise (row menu)</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Booked installment not paid</a:t>
                      </a:r>
                    </a:p>
                  </a:txBody>
                  <a:tcPr marL="54864" marR="54864" marT="27432" marB="27432">
                    <a:solidFill>
                      <a:srgbClr val="E5F5FF"/>
                    </a:solidFill>
                  </a:tcPr>
                </a:tc>
                <a:tc>
                  <a:txBody>
                    <a:bodyPr/>
                    <a:lstStyle/>
                    <a:p>
                      <a:r>
                        <a:rPr sz="850" b="0">
                          <a:solidFill>
                            <a:srgbClr val="4B4B4B"/>
                          </a:solidFill>
                          <a:latin typeface="Arial"/>
                        </a:rPr>
                        <a:t>Opens Record Promise to Pay for the invoice of the installment</a:t>
                      </a:r>
                    </a:p>
                  </a:txBody>
                  <a:tcPr marL="54864" marR="54864" marT="27432" marB="27432">
                    <a:solidFill>
                      <a:srgbClr val="E5F5FF"/>
                    </a:solidFill>
                  </a:tcPr>
                </a:tc>
                <a:tc>
                  <a:txBody>
                    <a:bodyPr/>
                    <a:lstStyle/>
                    <a:p>
                      <a:r>
                        <a:rPr sz="850" b="0">
                          <a:solidFill>
                            <a:srgbClr val="4B4B4B"/>
                          </a:solidFill>
                          <a:latin typeface="Arial"/>
                        </a:rPr>
                        <a:t>Promise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Payments are allocated from the invoice ledger, oldest due installment first (FR-CL-041).</a:t>
                      </a:r>
                    </a:p>
                  </a:txBody>
                  <a:tcPr marL="54864" marR="54864" marT="27432" marB="27432">
                    <a:solidFill>
                      <a:srgbClr val="FFFFFF"/>
                    </a:solidFill>
                  </a:tcPr>
                </a:tc>
              </a:tr>
              <a:tr h="243840">
                <a:tc>
                  <a:txBody>
                    <a:bodyPr/>
                    <a:lstStyle/>
                    <a:p>
                      <a:r>
                        <a:rPr sz="1000" b="0">
                          <a:solidFill>
                            <a:srgbClr val="4B4B4B"/>
                          </a:solidFill>
                          <a:latin typeface="Arial"/>
                        </a:rPr>
                        <a:t>An installment past its due date and not fully paid is Overdue and can escalate the account through the escalation rules (FR-CL-041, FR-CL-051).</a:t>
                      </a:r>
                    </a:p>
                  </a:txBody>
                  <a:tcPr marL="54864" marR="54864" marT="27432" marB="27432">
                    <a:solidFill>
                      <a:srgbClr val="E5F5FF"/>
                    </a:solidFill>
                  </a:tcPr>
                </a:tc>
              </a:tr>
              <a:tr h="243840">
                <a:tc>
                  <a:txBody>
                    <a:bodyPr/>
                    <a:lstStyle/>
                    <a:p>
                      <a:r>
                        <a:rPr sz="1000" b="0">
                          <a:solidFill>
                            <a:srgbClr val="4B4B4B"/>
                          </a:solidFill>
                          <a:latin typeface="Arial"/>
                        </a:rPr>
                        <a:t>One live statement per plan and billing cycle (FR-CL-060).</a:t>
                      </a:r>
                    </a:p>
                  </a:txBody>
                  <a:tcPr marL="54864" marR="54864" marT="27432" marB="27432">
                    <a:solidFill>
                      <a:srgbClr val="FFFFFF"/>
                    </a:solidFill>
                  </a:tcPr>
                </a:tc>
              </a:tr>
              <a:tr h="243840">
                <a:tc>
                  <a:txBody>
                    <a:bodyPr/>
                    <a:lstStyle/>
                    <a:p>
                      <a:r>
                        <a:rPr sz="1000" b="0">
                          <a:solidFill>
                            <a:srgbClr val="4B4B4B"/>
                          </a:solidFill>
                          <a:latin typeface="Arial"/>
                        </a:rPr>
                        <a:t>The statement of a cycle is generated by the Operations billing user; the collector sees it on the Statements of Account tab (FR-CL-060).</a:t>
                      </a:r>
                    </a:p>
                  </a:txBody>
                  <a:tcPr marL="54864" marR="54864" marT="27432" marB="27432">
                    <a:solidFill>
                      <a:srgbClr val="E5F5FF"/>
                    </a:solidFill>
                  </a:tcPr>
                </a:tc>
              </a:tr>
            </a:tbl>
          </a:graphicData>
        </a:graphic>
      </p:graphicFrame>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2</a:t>
                      </a:r>
                    </a:p>
                  </a:txBody>
                  <a:tcPr marL="54864" marR="54864" marT="27432" marB="27432">
                    <a:solidFill>
                      <a:srgbClr val="FFFFFF"/>
                    </a:solidFill>
                  </a:tcPr>
                </a:tc>
                <a:tc>
                  <a:txBody>
                    <a:bodyPr/>
                    <a:lstStyle/>
                    <a:p>
                      <a:r>
                        <a:rPr sz="900" b="0">
                          <a:solidFill>
                            <a:srgbClr val="4B4B4B"/>
                          </a:solidFill>
                          <a:latin typeface="Arial"/>
                        </a:rPr>
                        <a:t>Opens the plan, the row menu of cycle 1 and clicks Generate SOA, then the Statements of Account tab</a:t>
                      </a:r>
                    </a:p>
                  </a:txBody>
                  <a:tcPr marL="54864" marR="54864" marT="27432" marB="27432">
                    <a:solidFill>
                      <a:srgbClr val="FFFFFF"/>
                    </a:solidFill>
                  </a:tcPr>
                </a:tc>
                <a:tc>
                  <a:txBody>
                    <a:bodyPr/>
                    <a:lstStyle/>
                    <a:p>
                      <a:r>
                        <a:rPr sz="900" b="0">
                          <a:solidFill>
                            <a:srgbClr val="4B4B4B"/>
                          </a:solidFill>
                          <a:latin typeface="Arial"/>
                        </a:rPr>
                        <a:t>SCR-CL-06_wt-d-step-02.png</a:t>
                      </a:r>
                    </a:p>
                  </a:txBody>
                  <a:tcPr marL="54864" marR="54864" marT="27432" marB="27432">
                    <a:solidFill>
                      <a:srgbClr val="FFFFFF"/>
                    </a:solidFill>
                  </a:tcPr>
                </a:tc>
              </a:tr>
            </a:tbl>
          </a:graphicData>
        </a:graphic>
      </p:graphicFrame>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6.png"/>
          <p:cNvPicPr>
            <a:picLocks noChangeAspect="1"/>
          </p:cNvPicPr>
          <p:nvPr/>
        </p:nvPicPr>
        <p:blipFill>
          <a:blip r:embed="rId3"/>
          <a:stretch>
            <a:fillRect/>
          </a:stretch>
        </p:blipFill>
        <p:spPr>
          <a:xfrm>
            <a:off x="548640" y="1261872"/>
            <a:ext cx="11094415" cy="388304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 Plan: the installments with their coverage, due date, amounts and status (part 1 of 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7.png"/>
          <p:cNvPicPr>
            <a:picLocks noChangeAspect="1"/>
          </p:cNvPicPr>
          <p:nvPr/>
        </p:nvPicPr>
        <p:blipFill>
          <a:blip r:embed="rId3"/>
          <a:stretch>
            <a:fillRect/>
          </a:stretch>
        </p:blipFill>
        <p:spPr>
          <a:xfrm>
            <a:off x="548640" y="1261872"/>
            <a:ext cx="11094415" cy="28214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 Plan: the installments with their coverage, due date, amounts and status (part 2 of 2)</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8.png"/>
          <p:cNvPicPr>
            <a:picLocks noChangeAspect="1"/>
          </p:cNvPicPr>
          <p:nvPr/>
        </p:nvPicPr>
        <p:blipFill>
          <a:blip r:embed="rId3"/>
          <a:stretch>
            <a:fillRect/>
          </a:stretch>
        </p:blipFill>
        <p:spPr>
          <a:xfrm>
            <a:off x="548640" y="1261872"/>
            <a:ext cx="11094415" cy="388304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menu of an installment: Generate SOA and Record Promise (part 1 of 2)</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29.png"/>
          <p:cNvPicPr>
            <a:picLocks noChangeAspect="1"/>
          </p:cNvPicPr>
          <p:nvPr/>
        </p:nvPicPr>
        <p:blipFill>
          <a:blip r:embed="rId3"/>
          <a:stretch>
            <a:fillRect/>
          </a:stretch>
        </p:blipFill>
        <p:spPr>
          <a:xfrm>
            <a:off x="548640" y="1261872"/>
            <a:ext cx="11094415" cy="340483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menu of an installment: Generate SOA and Record Promise (part 2 of 2)</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Installments Due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unpaid installments of the live plans falling due up to today, oldest first, with the overdue ones on their own tab, for follow-up and escalation.</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Installments Due</a:t>
                      </a:r>
                    </a:p>
                    <a:p>
                      <a:r>
                        <a:rPr sz="950" b="0">
                          <a:solidFill>
                            <a:srgbClr val="4B4B4B"/>
                          </a:solidFill>
                          <a:latin typeface="Arial"/>
                        </a:rPr>
                        <a:t>Finance › Collections › Installments Due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installments to chase today.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Overdue / Due to Date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Plan No. / ARN / Name of Assured / Cycle / Invoice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installments due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Due Date / Overdue Since / Amount / Balance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Dates dd-MMM-yyyy;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installment plan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installment is due on its due date and overdue the day after when it is not fully paid (FR-CL-041).</a:t>
                      </a:r>
                    </a:p>
                  </a:txBody>
                  <a:tcPr marL="54864" marR="54864" marT="27432" marB="27432">
                    <a:solidFill>
                      <a:srgbClr val="FFFF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Installments Due: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7-01-list.png"/>
          <p:cNvPicPr>
            <a:picLocks noChangeAspect="1"/>
          </p:cNvPicPr>
          <p:nvPr/>
        </p:nvPicPr>
        <p:blipFill>
          <a:blip r:embed="rId3"/>
          <a:stretch>
            <a:fillRect/>
          </a:stretch>
        </p:blipFill>
        <p:spPr>
          <a:xfrm>
            <a:off x="548640" y="1261872"/>
            <a:ext cx="11094415" cy="44568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Installments Due: the overdue installments of the live plans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promises made by clients to pay an amount by a date, checked every night against the payments applied in the invoice ledger: open, broken, kept and withdrawn promises; Record Promise on one invoice, or the same promise on several invoices with the bulk update permission; Withdraw Promise on the selected open promises.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Promises to Pay</a:t>
                      </a:r>
                    </a:p>
                    <a:p>
                      <a:r>
                        <a:rPr sz="950" b="0">
                          <a:solidFill>
                            <a:srgbClr val="4B4B4B"/>
                          </a:solidFill>
                          <a:latin typeface="Arial"/>
                        </a:rPr>
                        <a:t>Finance › Collections › Promises to Pay</a:t>
                      </a:r>
                    </a:p>
                    <a:p>
                      <a:r>
                        <a:rPr sz="950" b="0">
                          <a:solidFill>
                            <a:srgbClr val="4B4B4B"/>
                          </a:solidFill>
                          <a:latin typeface="Arial"/>
                        </a:rPr>
                        <a:t>Installment Plan › installment row menu › Record Promise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FR-CL-042, FR-CL-034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records what the client promised and the system checks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Promises / Broken / Kept / Withdrawn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Kept includes partially kept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No. or ARN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No. / ARN / Name of Assured / Promised On / Promised Date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promises to pay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Promised / Paid in Time / Recorded By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Two decimals; recorder's name with the bulk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 Promise to Pay dialog</a:t>
                      </a:r>
                    </a:p>
                  </a:txBody>
                  <a:tcPr marL="54864" marR="54864" marT="27432" marB="27432">
                    <a:solidFill>
                      <a:srgbClr val="FFFFFF"/>
                    </a:solidFill>
                  </a:tcPr>
                </a:tc>
                <a:tc>
                  <a:txBody>
                    <a:bodyPr/>
                    <a:lstStyle/>
                    <a:p>
                      <a:r>
                        <a:rPr sz="850" b="0">
                          <a:solidFill>
                            <a:srgbClr val="4B4B4B"/>
                          </a:solidFill>
                          <a:latin typeface="Arial"/>
                        </a:rPr>
                        <a:t>Invoice No. / Invoice Nos.</a:t>
                      </a:r>
                    </a:p>
                  </a:txBody>
                  <a:tcPr marL="54864" marR="54864" marT="27432" marB="27432">
                    <a:solidFill>
                      <a:srgbClr val="FFFFFF"/>
                    </a:solidFill>
                  </a:tcPr>
                </a:tc>
                <a:tc>
                  <a:txBody>
                    <a:bodyPr/>
                    <a:lstStyle/>
                    <a:p>
                      <a:r>
                        <a:rPr sz="850" b="0">
                          <a:solidFill>
                            <a:srgbClr val="4B4B4B"/>
                          </a:solidFill>
                          <a:latin typeface="Arial"/>
                        </a:rPr>
                        <a:t>Text, text area</a:t>
                      </a:r>
                    </a:p>
                  </a:txBody>
                  <a:tcPr marL="54864" marR="54864" marT="27432" marB="27432">
                    <a:solidFill>
                      <a:srgbClr val="FFFFFF"/>
                    </a:solidFill>
                  </a:tcPr>
                </a:tc>
                <a:tc>
                  <a:txBody>
                    <a:bodyPr/>
                    <a:lstStyle/>
                    <a:p>
                      <a:r>
                        <a:rPr sz="850" b="0">
                          <a:solidFill>
                            <a:srgbClr val="4B4B4B"/>
                          </a:solidFill>
                          <a:latin typeface="Arial"/>
                        </a:rPr>
                        <a:t>One invoice; several, one per line, with the bulk update permission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Account with something to collect</a:t>
                      </a:r>
                    </a:p>
                  </a:txBody>
                  <a:tcPr marL="54864" marR="54864" marT="27432" marB="27432">
                    <a:solidFill>
                      <a:srgbClr val="FFFFFF"/>
                    </a:solidFill>
                  </a:tcPr>
                </a:tc>
                <a:tc>
                  <a:txBody>
                    <a:bodyPr/>
                    <a:lstStyle/>
                    <a:p>
                      <a:r>
                        <a:rPr sz="850" b="0">
                          <a:solidFill>
                            <a:srgbClr val="4B4B4B"/>
                          </a:solidFill>
                          <a:latin typeface="Arial"/>
                        </a:rPr>
                        <a:t>Enter at least one invoice number</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Promise to Pay dialog</a:t>
                      </a:r>
                    </a:p>
                  </a:txBody>
                  <a:tcPr marL="54864" marR="54864" marT="27432" marB="27432">
                    <a:solidFill>
                      <a:srgbClr val="E5F5FF"/>
                    </a:solidFill>
                  </a:tcPr>
                </a:tc>
                <a:tc>
                  <a:txBody>
                    <a:bodyPr/>
                    <a:lstStyle/>
                    <a:p>
                      <a:r>
                        <a:rPr sz="850" b="0">
                          <a:solidFill>
                            <a:srgbClr val="4B4B4B"/>
                          </a:solidFill>
                          <a:latin typeface="Arial"/>
                        </a:rPr>
                        <a:t>Promised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The day the client made the promise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in the future</a:t>
                      </a:r>
                    </a:p>
                  </a:txBody>
                  <a:tcPr marL="54864" marR="54864" marT="27432" marB="27432">
                    <a:solidFill>
                      <a:srgbClr val="E5F5FF"/>
                    </a:solidFill>
                  </a:tcPr>
                </a:tc>
                <a:tc>
                  <a:txBody>
                    <a:bodyPr/>
                    <a:lstStyle/>
                    <a:p>
                      <a:r>
                        <a:rPr sz="850" b="0">
                          <a:solidFill>
                            <a:srgbClr val="4B4B4B"/>
                          </a:solidFill>
                          <a:latin typeface="Arial"/>
                        </a:rPr>
                        <a:t>The day of the promise cannot be in the future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Record Promise to Pay dialog</a:t>
                      </a:r>
                    </a:p>
                  </a:txBody>
                  <a:tcPr marL="54864" marR="54864" marT="27432" marB="27432">
                    <a:solidFill>
                      <a:srgbClr val="FFFFFF"/>
                    </a:solidFill>
                  </a:tcPr>
                </a:tc>
                <a:tc>
                  <a:txBody>
                    <a:bodyPr/>
                    <a:lstStyle/>
                    <a:p>
                      <a:r>
                        <a:rPr sz="850" b="0">
                          <a:solidFill>
                            <a:srgbClr val="4B4B4B"/>
                          </a:solidFill>
                          <a:latin typeface="Arial"/>
                        </a:rPr>
                        <a:t>Promised Payment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before the day of the promise</a:t>
                      </a:r>
                    </a:p>
                  </a:txBody>
                  <a:tcPr marL="54864" marR="54864" marT="27432" marB="27432">
                    <a:solidFill>
                      <a:srgbClr val="FFFFFF"/>
                    </a:solidFill>
                  </a:tcPr>
                </a:tc>
                <a:tc>
                  <a:txBody>
                    <a:bodyPr/>
                    <a:lstStyle/>
                    <a:p>
                      <a:r>
                        <a:rPr sz="850" b="0">
                          <a:solidFill>
                            <a:srgbClr val="4B4B4B"/>
                          </a:solidFill>
                          <a:latin typeface="Arial"/>
                        </a:rPr>
                        <a:t>The promised date cannot be before the day of the promise</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Record Promise to Pay dialog</a:t>
                      </a:r>
                    </a:p>
                  </a:txBody>
                  <a:tcPr marL="54864" marR="54864" marT="27432" marB="27432">
                    <a:solidFill>
                      <a:srgbClr val="E5F5FF"/>
                    </a:solidFill>
                  </a:tcPr>
                </a:tc>
                <a:tc>
                  <a:txBody>
                    <a:bodyPr/>
                    <a:lstStyle/>
                    <a:p>
                      <a:r>
                        <a:rPr sz="850" b="0">
                          <a:solidFill>
                            <a:srgbClr val="4B4B4B"/>
                          </a:solidFill>
                          <a:latin typeface="Arial"/>
                        </a:rPr>
                        <a:t>Promised Amount / Remarks</a:t>
                      </a:r>
                    </a:p>
                  </a:txBody>
                  <a:tcPr marL="54864" marR="54864" marT="27432" marB="27432">
                    <a:solidFill>
                      <a:srgbClr val="E5F5FF"/>
                    </a:solidFill>
                  </a:tcPr>
                </a:tc>
                <a:tc>
                  <a:txBody>
                    <a:bodyPr/>
                    <a:lstStyle/>
                    <a:p>
                      <a:r>
                        <a:rPr sz="850" b="0">
                          <a:solidFill>
                            <a:srgbClr val="4B4B4B"/>
                          </a:solidFill>
                          <a:latin typeface="Arial"/>
                        </a:rPr>
                        <a:t>Number, text area</a:t>
                      </a:r>
                    </a:p>
                  </a:txBody>
                  <a:tcPr marL="54864" marR="54864" marT="27432" marB="27432">
                    <a:solidFill>
                      <a:srgbClr val="E5F5FF"/>
                    </a:solidFill>
                  </a:tcPr>
                </a:tc>
                <a:tc>
                  <a:txBody>
                    <a:bodyPr/>
                    <a:lstStyle/>
                    <a:p>
                      <a:r>
                        <a:rPr sz="850" b="0">
                          <a:solidFill>
                            <a:srgbClr val="4B4B4B"/>
                          </a:solidFill>
                          <a:latin typeface="Arial"/>
                        </a:rPr>
                        <a:t>Empty for the whole outstanding</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Above zero and at most the outstanding</a:t>
                      </a:r>
                    </a:p>
                  </a:txBody>
                  <a:tcPr marL="54864" marR="54864" marT="27432" marB="27432">
                    <a:solidFill>
                      <a:srgbClr val="E5F5FF"/>
                    </a:solidFill>
                  </a:tcPr>
                </a:tc>
                <a:tc>
                  <a:txBody>
                    <a:bodyPr/>
                    <a:lstStyle/>
                    <a:p>
                      <a:r>
                        <a:rPr sz="850" b="0">
                          <a:solidFill>
                            <a:srgbClr val="4B4B4B"/>
                          </a:solidFill>
                          <a:latin typeface="Arial"/>
                        </a:rPr>
                        <a:t>Enter a positive amount, or leave it empty for the whole outstanding</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Withdraw Promise to Pay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Record Promise</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Records the promise on each invoice and lists the outcome per invoice</a:t>
                      </a:r>
                    </a:p>
                  </a:txBody>
                  <a:tcPr marL="54864" marR="54864" marT="27432" marB="27432">
                    <a:solidFill>
                      <a:srgbClr val="FFFFFF"/>
                    </a:solidFill>
                  </a:tcPr>
                </a:tc>
                <a:tc>
                  <a:txBody>
                    <a:bodyPr/>
                    <a:lstStyle/>
                    <a:p>
                      <a:r>
                        <a:rPr sz="850" b="0">
                          <a:solidFill>
                            <a:srgbClr val="4B4B4B"/>
                          </a:solidFill>
                          <a:latin typeface="Arial"/>
                        </a:rPr>
                        <a:t>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Withdraw Promise</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Open promises selected</a:t>
                      </a:r>
                    </a:p>
                  </a:txBody>
                  <a:tcPr marL="54864" marR="54864" marT="27432" marB="27432">
                    <a:solidFill>
                      <a:srgbClr val="E5F5FF"/>
                    </a:solidFill>
                  </a:tcPr>
                </a:tc>
                <a:tc>
                  <a:txBody>
                    <a:bodyPr/>
                    <a:lstStyle/>
                    <a:p>
                      <a:r>
                        <a:rPr sz="850" b="0">
                          <a:solidFill>
                            <a:srgbClr val="4B4B4B"/>
                          </a:solidFill>
                          <a:latin typeface="Arial"/>
                        </a:rPr>
                        <a:t>Asks for the reason and withdraws them</a:t>
                      </a:r>
                    </a:p>
                  </a:txBody>
                  <a:tcPr marL="54864" marR="54864" marT="27432" marB="27432">
                    <a:solidFill>
                      <a:srgbClr val="E5F5FF"/>
                    </a:solidFill>
                  </a:tcPr>
                </a:tc>
                <a:tc>
                  <a:txBody>
                    <a:bodyPr/>
                    <a:lstStyle/>
                    <a:p>
                      <a:r>
                        <a:rPr sz="850" b="0">
                          <a:solidFill>
                            <a:srgbClr val="4B4B4B"/>
                          </a:solidFill>
                          <a:latin typeface="Arial"/>
                        </a:rPr>
                        <a:t>Withdrawn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promise is kept when the promised amount was paid by the promised date (plus the grace days, 0 by default) or nothing is left to collect, partially kept when part of it was paid, otherwise broken (FR-CL-042).</a:t>
                      </a:r>
                    </a:p>
                  </a:txBody>
                  <a:tcPr marL="54864" marR="54864" marT="27432" marB="27432">
                    <a:solidFill>
                      <a:srgbClr val="FFFFFF"/>
                    </a:solidFill>
                  </a:tcPr>
                </a:tc>
              </a:tr>
              <a:tr h="243840">
                <a:tc>
                  <a:txBody>
                    <a:bodyPr/>
                    <a:lstStyle/>
                    <a:p>
                      <a:r>
                        <a:rPr sz="1000" b="0">
                          <a:solidFill>
                            <a:srgbClr val="4B4B4B"/>
                          </a:solidFill>
                          <a:latin typeface="Arial"/>
                        </a:rPr>
                        <a:t>A new promise on the same invoice replaces the running one (FR-CL-042).</a:t>
                      </a:r>
                    </a:p>
                  </a:txBody>
                  <a:tcPr marL="54864" marR="54864" marT="27432" marB="27432">
                    <a:solidFill>
                      <a:srgbClr val="E5F5FF"/>
                    </a:solidFill>
                  </a:tcPr>
                </a:tc>
              </a:tr>
              <a:tr h="243840">
                <a:tc>
                  <a:txBody>
                    <a:bodyPr/>
                    <a:lstStyle/>
                    <a:p>
                      <a:r>
                        <a:rPr sz="1000" b="0">
                          <a:solidFill>
                            <a:srgbClr val="4B4B4B"/>
                          </a:solidFill>
                          <a:latin typeface="Arial"/>
                        </a:rPr>
                        <a:t>A broken promise notifies the collector and the account officer and escalates the account through the broken-promise rules (FR-CL-042, FR-CL-051).</a:t>
                      </a:r>
                    </a:p>
                  </a:txBody>
                  <a:tcPr marL="54864" marR="54864" marT="27432" marB="27432">
                    <a:solidFill>
                      <a:srgbClr val="FFFF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3</a:t>
                      </a:r>
                    </a:p>
                  </a:txBody>
                  <a:tcPr marL="54864" marR="54864" marT="27432" marB="27432">
                    <a:solidFill>
                      <a:srgbClr val="FFFFFF"/>
                    </a:solidFill>
                  </a:tcPr>
                </a:tc>
                <a:tc>
                  <a:txBody>
                    <a:bodyPr/>
                    <a:lstStyle/>
                    <a:p>
                      <a:r>
                        <a:rPr sz="900" b="0">
                          <a:solidFill>
                            <a:srgbClr val="4B4B4B"/>
                          </a:solidFill>
                          <a:latin typeface="Arial"/>
                        </a:rPr>
                        <a:t>Records a promise of an amount above the outstanding of the account</a:t>
                      </a:r>
                    </a:p>
                  </a:txBody>
                  <a:tcPr marL="54864" marR="54864" marT="27432" marB="27432">
                    <a:solidFill>
                      <a:srgbClr val="FFFFFF"/>
                    </a:solidFill>
                  </a:tcPr>
                </a:tc>
                <a:tc>
                  <a:txBody>
                    <a:bodyPr/>
                    <a:lstStyle/>
                    <a:p>
                      <a:r>
                        <a:rPr sz="900" b="0">
                          <a:solidFill>
                            <a:srgbClr val="4B4B4B"/>
                          </a:solidFill>
                          <a:latin typeface="Arial"/>
                        </a:rPr>
                        <a:t>SCR-CL-08_wt-e-step-03.png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1</a:t>
                      </a:r>
                    </a:p>
                  </a:txBody>
                  <a:tcPr marL="54864" marR="54864" marT="27432" marB="27432">
                    <a:solidFill>
                      <a:srgbClr val="E5F5FF"/>
                    </a:solidFill>
                  </a:tcPr>
                </a:tc>
                <a:tc>
                  <a:txBody>
                    <a:bodyPr/>
                    <a:lstStyle/>
                    <a:p>
                      <a:r>
                        <a:rPr sz="900" b="0">
                          <a:solidFill>
                            <a:srgbClr val="4B4B4B"/>
                          </a:solidFill>
                          <a:latin typeface="Arial"/>
                        </a:rPr>
                        <a:t>Clicks Record Promise and enters the invoice, the promised payment date in ten days and half of the outstanding</a:t>
                      </a:r>
                    </a:p>
                  </a:txBody>
                  <a:tcPr marL="54864" marR="54864" marT="27432" marB="27432">
                    <a:solidFill>
                      <a:srgbClr val="E5F5FF"/>
                    </a:solidFill>
                  </a:tcPr>
                </a:tc>
                <a:tc>
                  <a:txBody>
                    <a:bodyPr/>
                    <a:lstStyle/>
                    <a:p>
                      <a:r>
                        <a:rPr sz="900" b="0">
                          <a:solidFill>
                            <a:srgbClr val="4B4B4B"/>
                          </a:solidFill>
                          <a:latin typeface="Arial"/>
                        </a:rPr>
                        <a:t>SCR-CL-08_wt-b-step-01.png</a:t>
                      </a:r>
                    </a:p>
                  </a:txBody>
                  <a:tcPr marL="54864" marR="54864" marT="27432" marB="27432">
                    <a:solidFill>
                      <a:srgbClr val="E5F5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8-01-list.png"/>
          <p:cNvPicPr>
            <a:picLocks noChangeAspect="1"/>
          </p:cNvPicPr>
          <p:nvPr/>
        </p:nvPicPr>
        <p:blipFill>
          <a:blip r:embed="rId3"/>
          <a:stretch>
            <a:fillRect/>
          </a:stretch>
        </p:blipFill>
        <p:spPr>
          <a:xfrm>
            <a:off x="937742" y="1261872"/>
            <a:ext cx="1031621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Promises to Pay: the open promises with the promised date and amount</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30.png"/>
          <p:cNvPicPr>
            <a:picLocks noChangeAspect="1"/>
          </p:cNvPicPr>
          <p:nvPr/>
        </p:nvPicPr>
        <p:blipFill>
          <a:blip r:embed="rId3"/>
          <a:stretch>
            <a:fillRect/>
          </a:stretch>
        </p:blipFill>
        <p:spPr>
          <a:xfrm>
            <a:off x="548640" y="1261872"/>
            <a:ext cx="11094415" cy="45078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Promise to Pay dialog (part 1 of 2)</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31.png"/>
          <p:cNvPicPr>
            <a:picLocks noChangeAspect="1"/>
          </p:cNvPicPr>
          <p:nvPr/>
        </p:nvPicPr>
        <p:blipFill>
          <a:blip r:embed="rId3"/>
          <a:stretch>
            <a:fillRect/>
          </a:stretch>
        </p:blipFill>
        <p:spPr>
          <a:xfrm>
            <a:off x="548640" y="1261872"/>
            <a:ext cx="11094415" cy="35034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Promise to Pay dialog (part 2 of 2)</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SCR-CL-08 Promises to Pay: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2.png"/>
          <p:cNvPicPr>
            <a:picLocks noChangeAspect="1"/>
          </p:cNvPicPr>
          <p:nvPr/>
        </p:nvPicPr>
        <p:blipFill>
          <a:blip r:embed="rId3"/>
          <a:stretch>
            <a:fillRect/>
          </a:stretch>
        </p:blipFill>
        <p:spPr>
          <a:xfrm>
            <a:off x="548640" y="1261872"/>
            <a:ext cx="11094415" cy="47180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promised amount above the outstanding is refused, with the outcome per invoice (part 1 of 2)</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SCR-CL-08 Promises to Pay: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3.png"/>
          <p:cNvPicPr>
            <a:picLocks noChangeAspect="1"/>
          </p:cNvPicPr>
          <p:nvPr/>
        </p:nvPicPr>
        <p:blipFill>
          <a:blip r:embed="rId3"/>
          <a:stretch>
            <a:fillRect/>
          </a:stretch>
        </p:blipFill>
        <p:spPr>
          <a:xfrm>
            <a:off x="548640" y="1261872"/>
            <a:ext cx="11094415" cy="40173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promised amount above the outstanding is refused, with the outcome per invoice (part 2 of 2)</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Billing Statements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graphicFrame>
        <p:nvGraphicFramePr>
          <p:cNvPr id="10" name="Table 9"/>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statements of account (SOA) per billing cycle of the installment plans: to send, sent and cancelled; the Billing Run generates the statements of every billing cycle falling due in a period and not billed yet. The statements are generated and sent by the Operations billing user; the Collections users see them, read only (CLR-CL-32). In the screenshots the seed user of the Collection Handler generated the statements.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Billing Statements</a:t>
                      </a:r>
                    </a:p>
                    <a:p>
                      <a:r>
                        <a:rPr sz="950" b="0">
                          <a:solidFill>
                            <a:srgbClr val="4B4B4B"/>
                          </a:solidFill>
                          <a:latin typeface="Arial"/>
                        </a:rPr>
                        <a:t>Finance › Collections › Billing Statements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FR-CL-060, FR-CL-061, FR-CL-062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billing cycles due are billed to the clients by Operations and followed by Collections.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Send / Sent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SOA No., ARN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SOA No. / Cycle / ARN / Name of Assured / Frequency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SOA-yyyy-nnnnnn with the cycle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statements of account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Billing Cycle / Due Date / Amount Due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Billing cycle on two lines; 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Billing Run dialog</a:t>
                      </a:r>
                    </a:p>
                  </a:txBody>
                  <a:tcPr marL="54864" marR="54864" marT="27432" marB="27432">
                    <a:solidFill>
                      <a:srgbClr val="FFFFFF"/>
                    </a:solidFill>
                  </a:tcPr>
                </a:tc>
                <a:tc>
                  <a:txBody>
                    <a:bodyPr/>
                    <a:lstStyle/>
                    <a:p>
                      <a:r>
                        <a:rPr sz="850" b="0">
                          <a:solidFill>
                            <a:srgbClr val="4B4B4B"/>
                          </a:solidFill>
                          <a:latin typeface="Arial"/>
                        </a:rPr>
                        <a:t>Due From / Due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period does not end before it starts</a:t>
                      </a:r>
                    </a:p>
                  </a:txBody>
                  <a:tcPr marL="54864" marR="54864" marT="27432" marB="27432">
                    <a:solidFill>
                      <a:srgbClr val="FFFFFF"/>
                    </a:solidFill>
                  </a:tcPr>
                </a:tc>
                <a:tc>
                  <a:txBody>
                    <a:bodyPr/>
                    <a:lstStyle/>
                    <a:p>
                      <a:r>
                        <a:rPr sz="850" b="0">
                          <a:solidFill>
                            <a:srgbClr val="4B4B4B"/>
                          </a:solidFill>
                          <a:latin typeface="Arial"/>
                        </a:rPr>
                        <a:t>The period ends before it starts</a:t>
                      </a:r>
                    </a:p>
                  </a:txBody>
                  <a:tcPr marL="54864" marR="54864" marT="27432" marB="27432">
                    <a:solidFill>
                      <a:srgbClr val="FFFFFF"/>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Billing Run</a:t>
                      </a:r>
                    </a:p>
                  </a:txBody>
                  <a:tcPr marL="54864" marR="54864" marT="27432" marB="27432">
                    <a:solidFill>
                      <a:srgbClr val="FFFFFF"/>
                    </a:solidFill>
                  </a:tcPr>
                </a:tc>
                <a:tc>
                  <a:txBody>
                    <a:bodyPr/>
                    <a:lstStyle/>
                    <a:p>
                      <a:r>
                        <a:rPr sz="850" b="0">
                          <a:solidFill>
                            <a:srgbClr val="4B4B4B"/>
                          </a:solidFill>
                          <a:latin typeface="Arial"/>
                        </a:rPr>
                        <a:t>Operations billing user (statement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Generate Statements</a:t>
                      </a:r>
                    </a:p>
                  </a:txBody>
                  <a:tcPr marL="54864" marR="54864" marT="27432" marB="27432">
                    <a:solidFill>
                      <a:srgbClr val="E5F5FF"/>
                    </a:solidFill>
                  </a:tcPr>
                </a:tc>
                <a:tc>
                  <a:txBody>
                    <a:bodyPr/>
                    <a:lstStyle/>
                    <a:p>
                      <a:r>
                        <a:rPr sz="850" b="0">
                          <a:solidFill>
                            <a:srgbClr val="4B4B4B"/>
                          </a:solidFill>
                          <a:latin typeface="Arial"/>
                        </a:rPr>
                        <a:t>Operations billing user (statement permission)</a:t>
                      </a:r>
                    </a:p>
                  </a:txBody>
                  <a:tcPr marL="54864" marR="54864" marT="27432" marB="27432">
                    <a:solidFill>
                      <a:srgbClr val="E5F5FF"/>
                    </a:solidFill>
                  </a:tcPr>
                </a:tc>
                <a:tc>
                  <a:txBody>
                    <a:bodyPr/>
                    <a:lstStyle/>
                    <a:p>
                      <a:r>
                        <a:rPr sz="850" b="0">
                          <a:solidFill>
                            <a:srgbClr val="4B4B4B"/>
                          </a:solidFill>
                          <a:latin typeface="Arial"/>
                        </a:rPr>
                        <a:t>Both dates entered</a:t>
                      </a:r>
                    </a:p>
                  </a:txBody>
                  <a:tcPr marL="54864" marR="54864" marT="27432" marB="27432">
                    <a:solidFill>
                      <a:srgbClr val="E5F5FF"/>
                    </a:solidFill>
                  </a:tcPr>
                </a:tc>
                <a:tc>
                  <a:txBody>
                    <a:bodyPr/>
                    <a:lstStyle/>
                    <a:p>
                      <a:r>
                        <a:rPr sz="850" b="0">
                          <a:solidFill>
                            <a:srgbClr val="4B4B4B"/>
                          </a:solidFill>
                          <a:latin typeface="Arial"/>
                        </a:rPr>
                        <a:t>Generates one statement per billing cycle due in the period and not billed yet</a:t>
                      </a:r>
                    </a:p>
                  </a:txBody>
                  <a:tcPr marL="54864" marR="54864" marT="27432" marB="27432">
                    <a:solidFill>
                      <a:srgbClr val="E5F5FF"/>
                    </a:solidFill>
                  </a:tcPr>
                </a:tc>
                <a:tc>
                  <a:txBody>
                    <a:bodyPr/>
                    <a:lstStyle/>
                    <a:p>
                      <a:r>
                        <a:rPr sz="850" b="0">
                          <a:solidFill>
                            <a:srgbClr val="4B4B4B"/>
                          </a:solidFill>
                          <a:latin typeface="Arial"/>
                        </a:rPr>
                        <a:t>To Send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statement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live statement per plan and billing cycle; a cancelled statement frees the cycle to be billed again (FR-CL-060, FR-CL-061).</a:t>
                      </a:r>
                    </a:p>
                  </a:txBody>
                  <a:tcPr marL="54864" marR="54864" marT="27432" marB="27432">
                    <a:solidFill>
                      <a:srgbClr val="FFFFFF"/>
                    </a:solidFill>
                  </a:tcPr>
                </a:tc>
              </a:tr>
              <a:tr h="243840">
                <a:tc>
                  <a:txBody>
                    <a:bodyPr/>
                    <a:lstStyle/>
                    <a:p>
                      <a:r>
                        <a:rPr sz="1000" b="0">
                          <a:solidFill>
                            <a:srgbClr val="4B4B4B"/>
                          </a:solidFill>
                          <a:latin typeface="Arial"/>
                        </a:rPr>
                        <a:t>Billing is monitoring only: a statement creates no receivable and no commission billing (FR-CL-062).</a:t>
                      </a:r>
                    </a:p>
                  </a:txBody>
                  <a:tcPr marL="54864" marR="54864" marT="27432" marB="27432">
                    <a:solidFill>
                      <a:srgbClr val="E5F5FF"/>
                    </a:solidFill>
                  </a:tcPr>
                </a:tc>
              </a:tr>
              <a:tr h="243840">
                <a:tc>
                  <a:txBody>
                    <a:bodyPr/>
                    <a:lstStyle/>
                    <a:p>
                      <a:r>
                        <a:rPr sz="1000" b="0">
                          <a:solidFill>
                            <a:srgbClr val="4B4B4B"/>
                          </a:solidFill>
                          <a:latin typeface="Arial"/>
                        </a:rPr>
                        <a:t>Operations generates and sends the statements; the Collections users have visibility only (FR-CL-060, minutes of 27-Apr-2026).</a:t>
                      </a:r>
                    </a:p>
                  </a:txBody>
                  <a:tcPr marL="54864" marR="54864" marT="27432" marB="27432">
                    <a:solidFill>
                      <a:srgbClr val="FFFF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Billing Statements: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cl-09-01-list.png"/>
          <p:cNvPicPr>
            <a:picLocks noChangeAspect="1"/>
          </p:cNvPicPr>
          <p:nvPr/>
        </p:nvPicPr>
        <p:blipFill>
          <a:blip r:embed="rId3"/>
          <a:stretch>
            <a:fillRect/>
          </a:stretch>
        </p:blipFill>
        <p:spPr>
          <a:xfrm>
            <a:off x="1036504" y="1261872"/>
            <a:ext cx="10118686"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Billing Statements: the statements sent to the clients</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Billing Statements: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cl-09-02-run.png"/>
          <p:cNvPicPr>
            <a:picLocks noChangeAspect="1"/>
          </p:cNvPicPr>
          <p:nvPr/>
        </p:nvPicPr>
        <p:blipFill>
          <a:blip r:embed="rId3"/>
          <a:stretch>
            <a:fillRect/>
          </a:stretch>
        </p:blipFill>
        <p:spPr>
          <a:xfrm>
            <a:off x="548640" y="1261872"/>
            <a:ext cx="11094415" cy="40449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Billing Run dialog: the due period of the cycles to bill</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Statement of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graphicFrame>
        <p:nvGraphicFramePr>
          <p:cNvPr id="10" name="Table 9"/>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statement of account: the billing cycle, the installments billed (the cycle and any arrears) with the payments allocated, the PDF from the statement template, the e-mails sent; Send via Email sends the protected PDF to the client, Cancel Statement frees the cycle. Send and cancel are actions of the Operations billing user; the Collections users see the statement and its e-mails and download the PDF (CLR-CL-32).</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Billing Statements › Statement of Account</a:t>
                      </a:r>
                    </a:p>
                    <a:p>
                      <a:r>
                        <a:rPr sz="950" b="0">
                          <a:solidFill>
                            <a:srgbClr val="4B4B4B"/>
                          </a:solidFill>
                          <a:latin typeface="Arial"/>
                        </a:rPr>
                        <a:t>Billing Statements › open a row</a:t>
                      </a:r>
                    </a:p>
                    <a:p>
                      <a:r>
                        <a:rPr sz="950" b="0">
                          <a:solidFill>
                            <a:srgbClr val="4B4B4B"/>
                          </a:solidFill>
                          <a:latin typeface="Arial"/>
                        </a:rPr>
                        <a:t>Installment Plan › Statements of Account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FR-CL-060, FR-CL-061, FR-CL-062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receives the statement of the cycle.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graphicFrame>
        <p:nvGraphicFramePr>
          <p:cNvPr id="9" name="Table 8"/>
          <p:cNvGraphicFramePr>
            <a:graphicFrameLocks noGrp="1"/>
          </p:cNvGraphicFramePr>
          <p:nvPr/>
        </p:nvGraphicFramePr>
        <p:xfrm>
          <a:off x="548640" y="1325880"/>
          <a:ext cx="11094411" cy="280414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SOA and ARN chips, status pill, billing tag</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To Send, Sent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Billing Cycle / Due Date / Amount Due / Plan / Generated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Cycle number and period; the amount due of the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Installments Billed</a:t>
                      </a:r>
                    </a:p>
                  </a:txBody>
                  <a:tcPr marL="54864" marR="54864" marT="27432" marB="27432">
                    <a:solidFill>
                      <a:srgbClr val="FFFFFF"/>
                    </a:solidFill>
                  </a:tcPr>
                </a:tc>
                <a:tc>
                  <a:txBody>
                    <a:bodyPr/>
                    <a:lstStyle/>
                    <a:p>
                      <a:r>
                        <a:rPr sz="850" b="0">
                          <a:solidFill>
                            <a:srgbClr val="4B4B4B"/>
                          </a:solidFill>
                          <a:latin typeface="Arial"/>
                        </a:rPr>
                        <a:t>Line / Invoice No. / Policy Year / Coverage / Due Date / Amount / Paid / Balance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Current Cycle or Arrears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E-mails Sent</a:t>
                      </a:r>
                    </a:p>
                  </a:txBody>
                  <a:tcPr marL="54864" marR="54864" marT="27432" marB="27432">
                    <a:solidFill>
                      <a:srgbClr val="E5F5FF"/>
                    </a:solidFill>
                  </a:tcPr>
                </a:tc>
                <a:tc>
                  <a:txBody>
                    <a:bodyPr/>
                    <a:lstStyle/>
                    <a:p>
                      <a:r>
                        <a:rPr sz="850" b="0">
                          <a:solidFill>
                            <a:srgbClr val="4B4B4B"/>
                          </a:solidFill>
                          <a:latin typeface="Arial"/>
                        </a:rPr>
                        <a:t>Queued / Purpose / To / Subject / Outcome / Sent /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e-mail with the protected attachment marked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Send Statement of Account dialog</a:t>
                      </a:r>
                    </a:p>
                  </a:txBody>
                  <a:tcPr marL="54864" marR="54864" marT="27432" marB="27432">
                    <a:solidFill>
                      <a:srgbClr val="FFFFFF"/>
                    </a:solidFill>
                  </a:tcPr>
                </a:tc>
                <a:tc>
                  <a:txBody>
                    <a:bodyPr/>
                    <a:lstStyle/>
                    <a:p>
                      <a:r>
                        <a:rPr sz="850" b="0">
                          <a:solidFill>
                            <a:srgbClr val="4B4B4B"/>
                          </a:solidFill>
                          <a:latin typeface="Arial"/>
                        </a:rPr>
                        <a:t>To / Cc / Subject / Message</a:t>
                      </a:r>
                    </a:p>
                  </a:txBody>
                  <a:tcPr marL="54864" marR="54864" marT="27432" marB="27432">
                    <a:solidFill>
                      <a:srgbClr val="FFFFFF"/>
                    </a:solidFill>
                  </a:tcPr>
                </a:tc>
                <a:tc>
                  <a:txBody>
                    <a:bodyPr/>
                    <a:lstStyle/>
                    <a:p>
                      <a:r>
                        <a:rPr sz="850" b="0">
                          <a:solidFill>
                            <a:srgbClr val="4B4B4B"/>
                          </a:solidFill>
                          <a:latin typeface="Arial"/>
                        </a:rPr>
                        <a:t>Text, text area</a:t>
                      </a:r>
                    </a:p>
                  </a:txBody>
                  <a:tcPr marL="54864" marR="54864" marT="27432" marB="27432">
                    <a:solidFill>
                      <a:srgbClr val="FFFFFF"/>
                    </a:solidFill>
                  </a:tcPr>
                </a:tc>
                <a:tc>
                  <a:txBody>
                    <a:bodyPr/>
                    <a:lstStyle/>
                    <a:p>
                      <a:r>
                        <a:rPr sz="850" b="0">
                          <a:solidFill>
                            <a:srgbClr val="4B4B4B"/>
                          </a:solidFill>
                          <a:latin typeface="Arial"/>
                        </a:rPr>
                        <a:t>The client's e-mail address proposed; subject and message proposed</a:t>
                      </a:r>
                    </a:p>
                  </a:txBody>
                  <a:tcPr marL="54864" marR="54864" marT="27432" marB="27432">
                    <a:solidFill>
                      <a:srgbClr val="FFFFFF"/>
                    </a:solidFill>
                  </a:tcPr>
                </a:tc>
                <a:tc>
                  <a:txBody>
                    <a:bodyPr/>
                    <a:lstStyle/>
                    <a:p>
                      <a:r>
                        <a:rPr sz="850" b="0">
                          <a:solidFill>
                            <a:srgbClr val="4B4B4B"/>
                          </a:solidFill>
                          <a:latin typeface="Arial"/>
                        </a:rPr>
                        <a:t>Y / N / Y / Y</a:t>
                      </a:r>
                    </a:p>
                  </a:txBody>
                  <a:tcPr marL="54864" marR="54864" marT="27432" marB="27432">
                    <a:solidFill>
                      <a:srgbClr val="FFFFFF"/>
                    </a:solidFill>
                  </a:tcPr>
                </a:tc>
                <a:tc>
                  <a:txBody>
                    <a:bodyPr/>
                    <a:lstStyle/>
                    <a:p>
                      <a:r>
                        <a:rPr sz="850" b="0">
                          <a:solidFill>
                            <a:srgbClr val="4B4B4B"/>
                          </a:solidFill>
                          <a:latin typeface="Arial"/>
                        </a:rPr>
                        <a:t>At least one recipient</a:t>
                      </a:r>
                    </a:p>
                  </a:txBody>
                  <a:tcPr marL="54864" marR="54864" marT="27432" marB="27432">
                    <a:solidFill>
                      <a:srgbClr val="FFFFFF"/>
                    </a:solidFill>
                  </a:tcPr>
                </a:tc>
                <a:tc>
                  <a:txBody>
                    <a:bodyPr/>
                    <a:lstStyle/>
                    <a:p>
                      <a:r>
                        <a:rPr sz="850" b="0">
                          <a:solidFill>
                            <a:srgbClr val="4B4B4B"/>
                          </a:solidFill>
                          <a:latin typeface="Arial"/>
                        </a:rPr>
                        <a:t>Enter at least one recipient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Send Statement of Account dialog</a:t>
                      </a:r>
                    </a:p>
                  </a:txBody>
                  <a:tcPr marL="54864" marR="54864" marT="27432" marB="27432">
                    <a:solidFill>
                      <a:srgbClr val="E5F5FF"/>
                    </a:solidFill>
                  </a:tcPr>
                </a:tc>
                <a:tc>
                  <a:txBody>
                    <a:bodyPr/>
                    <a:lstStyle/>
                    <a:p>
                      <a:r>
                        <a:rPr sz="850" b="0">
                          <a:solidFill>
                            <a:srgbClr val="4B4B4B"/>
                          </a:solidFill>
                          <a:latin typeface="Arial"/>
                        </a:rPr>
                        <a:t>Password hint for the recipient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hint sent with the password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Cancel Statement of Account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PDF</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statement of account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via Email</a:t>
                      </a:r>
                    </a:p>
                  </a:txBody>
                  <a:tcPr marL="54864" marR="54864" marT="27432" marB="27432">
                    <a:solidFill>
                      <a:srgbClr val="E5F5FF"/>
                    </a:solidFill>
                  </a:tcPr>
                </a:tc>
                <a:tc>
                  <a:txBody>
                    <a:bodyPr/>
                    <a:lstStyle/>
                    <a:p>
                      <a:r>
                        <a:rPr sz="850" b="0">
                          <a:solidFill>
                            <a:srgbClr val="4B4B4B"/>
                          </a:solidFill>
                          <a:latin typeface="Arial"/>
                        </a:rPr>
                        <a:t>Operations billing user (statement permission)</a:t>
                      </a:r>
                    </a:p>
                  </a:txBody>
                  <a:tcPr marL="54864" marR="54864" marT="27432" marB="27432">
                    <a:solidFill>
                      <a:srgbClr val="E5F5FF"/>
                    </a:solidFill>
                  </a:tcPr>
                </a:tc>
                <a:tc>
                  <a:txBody>
                    <a:bodyPr/>
                    <a:lstStyle/>
                    <a:p>
                      <a:r>
                        <a:rPr sz="850" b="0">
                          <a:solidFill>
                            <a:srgbClr val="4B4B4B"/>
                          </a:solidFill>
                          <a:latin typeface="Arial"/>
                        </a:rPr>
                        <a:t>Not cancelled</a:t>
                      </a:r>
                    </a:p>
                  </a:txBody>
                  <a:tcPr marL="54864" marR="54864" marT="27432" marB="27432">
                    <a:solidFill>
                      <a:srgbClr val="E5F5FF"/>
                    </a:solidFill>
                  </a:tcPr>
                </a:tc>
                <a:tc>
                  <a:txBody>
                    <a:bodyPr/>
                    <a:lstStyle/>
                    <a:p>
                      <a:r>
                        <a:rPr sz="850" b="0">
                          <a:solidFill>
                            <a:srgbClr val="4B4B4B"/>
                          </a:solidFill>
                          <a:latin typeface="Arial"/>
                        </a:rPr>
                        <a:t>Sends the PDF, protected by a password sent in a separate e-mail, and records the e-mail</a:t>
                      </a:r>
                    </a:p>
                  </a:txBody>
                  <a:tcPr marL="54864" marR="54864" marT="27432" marB="27432">
                    <a:solidFill>
                      <a:srgbClr val="E5F5FF"/>
                    </a:solidFill>
                  </a:tcPr>
                </a:tc>
                <a:tc>
                  <a:txBody>
                    <a:bodyPr/>
                    <a:lstStyle/>
                    <a:p>
                      <a:r>
                        <a:rPr sz="850" b="0">
                          <a:solidFill>
                            <a:srgbClr val="4B4B4B"/>
                          </a:solidFill>
                          <a:latin typeface="Arial"/>
                        </a:rPr>
                        <a:t>Sent</a:t>
                      </a:r>
                    </a:p>
                  </a:txBody>
                  <a:tcPr marL="54864" marR="54864" marT="27432" marB="27432">
                    <a:solidFill>
                      <a:srgbClr val="E5F5FF"/>
                    </a:solidFill>
                  </a:tcPr>
                </a:tc>
                <a:tc>
                  <a:txBody>
                    <a:bodyPr/>
                    <a:lstStyle/>
                    <a:p>
                      <a:r>
                        <a:rPr sz="850" b="0">
                          <a:solidFill>
                            <a:srgbClr val="4B4B4B"/>
                          </a:solidFill>
                          <a:latin typeface="Arial"/>
                        </a:rPr>
                        <a:t>Statement of account e-mail (NT-11, NT-12)</a:t>
                      </a:r>
                    </a:p>
                  </a:txBody>
                  <a:tcPr marL="54864" marR="54864" marT="27432" marB="27432">
                    <a:solidFill>
                      <a:srgbClr val="E5F5FF"/>
                    </a:solidFill>
                  </a:tcPr>
                </a:tc>
              </a:tr>
              <a:tr h="350518">
                <a:tc>
                  <a:txBody>
                    <a:bodyPr/>
                    <a:lstStyle/>
                    <a:p>
                      <a:r>
                        <a:rPr sz="850" b="0">
                          <a:solidFill>
                            <a:srgbClr val="4B4B4B"/>
                          </a:solidFill>
                          <a:latin typeface="Arial"/>
                        </a:rPr>
                        <a:t>Cancel Statement</a:t>
                      </a:r>
                    </a:p>
                  </a:txBody>
                  <a:tcPr marL="54864" marR="54864" marT="27432" marB="27432">
                    <a:solidFill>
                      <a:srgbClr val="FFFFFF"/>
                    </a:solidFill>
                  </a:tcPr>
                </a:tc>
                <a:tc>
                  <a:txBody>
                    <a:bodyPr/>
                    <a:lstStyle/>
                    <a:p>
                      <a:r>
                        <a:rPr sz="850" b="0">
                          <a:solidFill>
                            <a:srgbClr val="4B4B4B"/>
                          </a:solidFill>
                          <a:latin typeface="Arial"/>
                        </a:rPr>
                        <a:t>Operations billing user (statement permission)</a:t>
                      </a:r>
                    </a:p>
                  </a:txBody>
                  <a:tcPr marL="54864" marR="54864" marT="27432" marB="27432">
                    <a:solidFill>
                      <a:srgbClr val="FFFFFF"/>
                    </a:solidFill>
                  </a:tcPr>
                </a:tc>
                <a:tc>
                  <a:txBody>
                    <a:bodyPr/>
                    <a:lstStyle/>
                    <a:p>
                      <a:r>
                        <a:rPr sz="850" b="0">
                          <a:solidFill>
                            <a:srgbClr val="4B4B4B"/>
                          </a:solidFill>
                          <a:latin typeface="Arial"/>
                        </a:rPr>
                        <a:t>Not cancelled</a:t>
                      </a:r>
                    </a:p>
                  </a:txBody>
                  <a:tcPr marL="54864" marR="54864" marT="27432" marB="27432">
                    <a:solidFill>
                      <a:srgbClr val="FFFFFF"/>
                    </a:solidFill>
                  </a:tcPr>
                </a:tc>
                <a:tc>
                  <a:txBody>
                    <a:bodyPr/>
                    <a:lstStyle/>
                    <a:p>
                      <a:r>
                        <a:rPr sz="850" b="0">
                          <a:solidFill>
                            <a:srgbClr val="4B4B4B"/>
                          </a:solidFill>
                          <a:latin typeface="Arial"/>
                        </a:rPr>
                        <a:t>Asks for the reason and cancels the statement; the cycle can be billed again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PDF comes from the statement of account template and records the template version used (FR-CL-060).</a:t>
                      </a:r>
                    </a:p>
                  </a:txBody>
                  <a:tcPr marL="54864" marR="54864" marT="27432" marB="27432">
                    <a:solidFill>
                      <a:srgbClr val="FFFFFF"/>
                    </a:solidFill>
                  </a:tcPr>
                </a:tc>
              </a:tr>
              <a:tr h="243840">
                <a:tc>
                  <a:txBody>
                    <a:bodyPr/>
                    <a:lstStyle/>
                    <a:p>
                      <a:r>
                        <a:rPr sz="1000" b="0">
                          <a:solidFill>
                            <a:srgbClr val="4B4B4B"/>
                          </a:solidFill>
                          <a:latin typeface="Arial"/>
                        </a:rPr>
                        <a:t>The PDF e-mailed to the client is password protected; the password follows in a separate e-mail (FR-CL-061).</a:t>
                      </a:r>
                    </a:p>
                  </a:txBody>
                  <a:tcPr marL="54864" marR="54864" marT="27432" marB="27432">
                    <a:solidFill>
                      <a:srgbClr val="E5F5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Opens the statement and clicks Send via Email</a:t>
                      </a:r>
                    </a:p>
                  </a:txBody>
                  <a:tcPr marL="54864" marR="54864" marT="27432" marB="27432">
                    <a:solidFill>
                      <a:srgbClr val="FFFFFF"/>
                    </a:solidFill>
                  </a:tcPr>
                </a:tc>
                <a:tc>
                  <a:txBody>
                    <a:bodyPr/>
                    <a:lstStyle/>
                    <a:p>
                      <a:r>
                        <a:rPr sz="900" b="0">
                          <a:solidFill>
                            <a:srgbClr val="4B4B4B"/>
                          </a:solidFill>
                          <a:latin typeface="Arial"/>
                        </a:rPr>
                        <a:t>SCR-CL-10_wt-d-step-03.png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Clicks Send</a:t>
                      </a:r>
                    </a:p>
                  </a:txBody>
                  <a:tcPr marL="54864" marR="54864" marT="27432" marB="27432">
                    <a:solidFill>
                      <a:srgbClr val="E5F5FF"/>
                    </a:solidFill>
                  </a:tcPr>
                </a:tc>
                <a:tc>
                  <a:txBody>
                    <a:bodyPr/>
                    <a:lstStyle/>
                    <a:p>
                      <a:r>
                        <a:rPr sz="900" b="0">
                          <a:solidFill>
                            <a:srgbClr val="4B4B4B"/>
                          </a:solidFill>
                          <a:latin typeface="Arial"/>
                        </a:rPr>
                        <a:t>SCR-CL-10_wt-d-step-04.png</a:t>
                      </a:r>
                    </a:p>
                  </a:txBody>
                  <a:tcPr marL="54864" marR="54864" marT="27432" marB="27432">
                    <a:solidFill>
                      <a:srgbClr val="E5F5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4.png"/>
          <p:cNvPicPr>
            <a:picLocks noChangeAspect="1"/>
          </p:cNvPicPr>
          <p:nvPr/>
        </p:nvPicPr>
        <p:blipFill>
          <a:blip r:embed="rId3"/>
          <a:stretch>
            <a:fillRect/>
          </a:stretch>
        </p:blipFill>
        <p:spPr>
          <a:xfrm>
            <a:off x="548640" y="1261872"/>
            <a:ext cx="11094415" cy="462426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of Account with the installments billed and the e-mails sent (part 1 of 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of Account with the installments billed and the e-mails sent (part 2 of 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6.png"/>
          <p:cNvPicPr>
            <a:picLocks noChangeAspect="1"/>
          </p:cNvPicPr>
          <p:nvPr/>
        </p:nvPicPr>
        <p:blipFill>
          <a:blip r:embed="rId3"/>
          <a:stretch>
            <a:fillRect/>
          </a:stretch>
        </p:blipFill>
        <p:spPr>
          <a:xfrm>
            <a:off x="548640" y="1261872"/>
            <a:ext cx="11094415" cy="39691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of Account with the installments billed and the e-mails sent (part 3 of 3)</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37.png"/>
          <p:cNvPicPr>
            <a:picLocks noChangeAspect="1"/>
          </p:cNvPicPr>
          <p:nvPr/>
        </p:nvPicPr>
        <p:blipFill>
          <a:blip r:embed="rId3"/>
          <a:stretch>
            <a:fillRect/>
          </a:stretch>
        </p:blipFill>
        <p:spPr>
          <a:xfrm>
            <a:off x="548640" y="1261872"/>
            <a:ext cx="11094415" cy="471132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Statement of Account: the e-mail to the client with the protected PDF (part 1 of 3)</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38.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Statement of Account: the e-mail to the client with the protected PDF (part 2 of 3)</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CHG-CL-2.1-02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39.png"/>
          <p:cNvPicPr>
            <a:picLocks noChangeAspect="1"/>
          </p:cNvPicPr>
          <p:nvPr/>
        </p:nvPicPr>
        <p:blipFill>
          <a:blip r:embed="rId3"/>
          <a:stretch>
            <a:fillRect/>
          </a:stretch>
        </p:blipFill>
        <p:spPr>
          <a:xfrm>
            <a:off x="548640" y="1261872"/>
            <a:ext cx="11094415" cy="28057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Statement of Account: the e-mail to the client with the protected PDF (part 3 of 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Escalation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accounts escalated to the team lead or to the unit / section head, automatically by the escalation rules (aging, no commitment, broken promises, overdue installments, amount) or by a user, by stage; Escalate Accounts escalates one or several invoices by hand.</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Escalations</a:t>
                      </a:r>
                    </a:p>
                    <a:p>
                      <a:r>
                        <a:rPr sz="950" b="0">
                          <a:solidFill>
                            <a:srgbClr val="4B4B4B"/>
                          </a:solidFill>
                          <a:latin typeface="Arial"/>
                        </a:rPr>
                        <a:t>Finance › Collections › Escalations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FR-CL-051, FR-CL-052, FR-CL-053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Accounts that need a decision reach the team lead or the head.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25880"/>
          <a:ext cx="11094411" cy="354327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With Team Lead / With Unit / Section Head / In Action / Returned / Resolved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Escalation, ARN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Escalation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ESC-yyyy-nnnnnn; the rule or the name of the user who raised it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escalations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 / Name of Assured / Reason / Escalated To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Label of the reason; the level or the user's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Outstanding / In Stage Since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Two decimals; date and time with Past SLA when overdue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Escalate Accounts dialog</a:t>
                      </a:r>
                    </a:p>
                  </a:txBody>
                  <a:tcPr marL="54864" marR="54864" marT="27432" marB="27432">
                    <a:solidFill>
                      <a:srgbClr val="E5F5FF"/>
                    </a:solidFill>
                  </a:tcPr>
                </a:tc>
                <a:tc>
                  <a:txBody>
                    <a:bodyPr/>
                    <a:lstStyle/>
                    <a:p>
                      <a:r>
                        <a:rPr sz="850" b="0">
                          <a:solidFill>
                            <a:srgbClr val="4B4B4B"/>
                          </a:solidFill>
                          <a:latin typeface="Arial"/>
                        </a:rPr>
                        <a:t>Invoice Nos.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One per line; the invoices of one account are escalated together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Account with something to collect</a:t>
                      </a:r>
                    </a:p>
                  </a:txBody>
                  <a:tcPr marL="54864" marR="54864" marT="27432" marB="27432">
                    <a:solidFill>
                      <a:srgbClr val="E5F5FF"/>
                    </a:solidFill>
                  </a:tcPr>
                </a:tc>
                <a:tc>
                  <a:txBody>
                    <a:bodyPr/>
                    <a:lstStyle/>
                    <a:p>
                      <a:r>
                        <a:rPr sz="850" b="0">
                          <a:solidFill>
                            <a:srgbClr val="4B4B4B"/>
                          </a:solidFill>
                          <a:latin typeface="Arial"/>
                        </a:rPr>
                        <a:t>Enter at least one invoice number</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Escalate Accounts dialog</a:t>
                      </a:r>
                    </a:p>
                  </a:txBody>
                  <a:tcPr marL="54864" marR="54864" marT="27432" marB="27432">
                    <a:solidFill>
                      <a:srgbClr val="FFFFFF"/>
                    </a:solidFill>
                  </a:tcPr>
                </a:tc>
                <a:tc>
                  <a:txBody>
                    <a:bodyPr/>
                    <a:lstStyle/>
                    <a:p>
                      <a:r>
                        <a:rPr sz="850" b="0">
                          <a:solidFill>
                            <a:srgbClr val="4B4B4B"/>
                          </a:solidFill>
                          <a:latin typeface="Arial"/>
                        </a:rPr>
                        <a:t>Escalate To / User</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Team Lead, Unit Head, Section Head or Designated User; the user for a designated user</a:t>
                      </a:r>
                    </a:p>
                  </a:txBody>
                  <a:tcPr marL="54864" marR="54864" marT="27432" marB="27432">
                    <a:solidFill>
                      <a:srgbClr val="FFFFFF"/>
                    </a:solidFill>
                  </a:tcPr>
                </a:tc>
                <a:tc>
                  <a:txBody>
                    <a:bodyPr/>
                    <a:lstStyle/>
                    <a:p>
                      <a:r>
                        <a:rPr sz="850" b="0">
                          <a:solidFill>
                            <a:srgbClr val="4B4B4B"/>
                          </a:solidFill>
                          <a:latin typeface="Arial"/>
                        </a:rPr>
                        <a:t>Y / Cond.: designated user</a:t>
                      </a:r>
                    </a:p>
                  </a:txBody>
                  <a:tcPr marL="54864" marR="54864" marT="27432" marB="27432">
                    <a:solidFill>
                      <a:srgbClr val="FFFFFF"/>
                    </a:solidFill>
                  </a:tcPr>
                </a:tc>
                <a:tc>
                  <a:txBody>
                    <a:bodyPr/>
                    <a:lstStyle/>
                    <a:p>
                      <a:r>
                        <a:rPr sz="850" b="0">
                          <a:solidFill>
                            <a:srgbClr val="4B4B4B"/>
                          </a:solidFill>
                          <a:latin typeface="Arial"/>
                        </a:rPr>
                        <a:t>The user handles escalations</a:t>
                      </a:r>
                    </a:p>
                  </a:txBody>
                  <a:tcPr marL="54864" marR="54864" marT="27432" marB="27432">
                    <a:solidFill>
                      <a:srgbClr val="FFFFFF"/>
                    </a:solidFill>
                  </a:tcPr>
                </a:tc>
                <a:tc>
                  <a:txBody>
                    <a:bodyPr/>
                    <a:lstStyle/>
                    <a:p>
                      <a:r>
                        <a:rPr sz="850" b="0">
                          <a:solidFill>
                            <a:srgbClr val="4B4B4B"/>
                          </a:solidFill>
                          <a:latin typeface="Arial"/>
                        </a:rPr>
                        <a:t>Name the user who receives the escalation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Escalate Accounts dialog</a:t>
                      </a:r>
                    </a:p>
                  </a:txBody>
                  <a:tcPr marL="54864" marR="54864" marT="27432" marB="27432">
                    <a:solidFill>
                      <a:srgbClr val="E5F5FF"/>
                    </a:solidFill>
                  </a:tcPr>
                </a:tc>
                <a:tc>
                  <a:txBody>
                    <a:bodyPr/>
                    <a:lstStyle/>
                    <a:p>
                      <a:r>
                        <a:rPr sz="850" b="0">
                          <a:solidFill>
                            <a:srgbClr val="4B4B4B"/>
                          </a:solidFill>
                          <a:latin typeface="Arial"/>
                        </a:rPr>
                        <a:t>Reason / Remarks</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Escalation reason list</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reason</a:t>
                      </a:r>
                    </a:p>
                  </a:txBody>
                  <a:tcPr marL="54864" marR="54864" marT="27432" marB="27432">
                    <a:solidFill>
                      <a:srgbClr val="E5F5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Escalate Accounts</a:t>
                      </a:r>
                    </a:p>
                  </a:txBody>
                  <a:tcPr marL="54864" marR="54864" marT="27432" marB="27432">
                    <a:solidFill>
                      <a:srgbClr val="FFFFFF"/>
                    </a:solidFill>
                  </a:tcPr>
                </a:tc>
                <a:tc>
                  <a:txBody>
                    <a:bodyPr/>
                    <a:lstStyle/>
                    <a:p>
                      <a:r>
                        <a:rPr sz="850" b="0">
                          <a:solidFill>
                            <a:srgbClr val="4B4B4B"/>
                          </a:solidFill>
                          <a:latin typeface="Arial"/>
                        </a:rPr>
                        <a:t>Collectors with the escalate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Escalate</a:t>
                      </a:r>
                    </a:p>
                  </a:txBody>
                  <a:tcPr marL="54864" marR="54864" marT="27432" marB="27432">
                    <a:solidFill>
                      <a:srgbClr val="E5F5FF"/>
                    </a:solidFill>
                  </a:tcPr>
                </a:tc>
                <a:tc>
                  <a:txBody>
                    <a:bodyPr/>
                    <a:lstStyle/>
                    <a:p>
                      <a:r>
                        <a:rPr sz="850" b="0">
                          <a:solidFill>
                            <a:srgbClr val="4B4B4B"/>
                          </a:solidFill>
                          <a:latin typeface="Arial"/>
                        </a:rPr>
                        <a:t>Collectors with the escalate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Raises one escalation per account and lists the outcome per invoice</a:t>
                      </a:r>
                    </a:p>
                  </a:txBody>
                  <a:tcPr marL="54864" marR="54864" marT="27432" marB="27432">
                    <a:solidFill>
                      <a:srgbClr val="E5F5FF"/>
                    </a:solidFill>
                  </a:tcPr>
                </a:tc>
                <a:tc>
                  <a:txBody>
                    <a:bodyPr/>
                    <a:lstStyle/>
                    <a:p>
                      <a:r>
                        <a:rPr sz="850" b="0">
                          <a:solidFill>
                            <a:srgbClr val="4B4B4B"/>
                          </a:solidFill>
                          <a:latin typeface="Arial"/>
                        </a:rPr>
                        <a:t>With Team Lead or With Unit / Section Head</a:t>
                      </a:r>
                    </a:p>
                  </a:txBody>
                  <a:tcPr marL="54864" marR="54864" marT="27432" marB="27432">
                    <a:solidFill>
                      <a:srgbClr val="E5F5FF"/>
                    </a:solidFill>
                  </a:tcPr>
                </a:tc>
                <a:tc>
                  <a:txBody>
                    <a:bodyPr/>
                    <a:lstStyle/>
                    <a:p>
                      <a:r>
                        <a:rPr sz="850" b="0">
                          <a:solidFill>
                            <a:srgbClr val="4B4B4B"/>
                          </a:solidFill>
                          <a:latin typeface="Arial"/>
                        </a:rPr>
                        <a:t>Account escalated (NT-02)</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escalation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rules escalate an account once per rule and month; the escalation job runs every night after the promise check (FR-CL-051).</a:t>
                      </a:r>
                    </a:p>
                  </a:txBody>
                  <a:tcPr marL="54864" marR="54864" marT="27432" marB="27432">
                    <a:solidFill>
                      <a:srgbClr val="FFFFFF"/>
                    </a:solidFill>
                  </a:tcPr>
                </a:tc>
              </a:tr>
              <a:tr h="243840">
                <a:tc>
                  <a:txBody>
                    <a:bodyPr/>
                    <a:lstStyle/>
                    <a:p>
                      <a:r>
                        <a:rPr sz="1000" b="0">
                          <a:solidFill>
                            <a:srgbClr val="4B4B4B"/>
                          </a:solidFill>
                          <a:latin typeface="Arial"/>
                        </a:rPr>
                        <a:t>A user escalates one or several invoices regardless of the rules; the invoices of one account become one escalation (FR-CL-052).</a:t>
                      </a:r>
                    </a:p>
                  </a:txBody>
                  <a:tcPr marL="54864" marR="54864" marT="27432" marB="27432">
                    <a:solidFill>
                      <a:srgbClr val="E5F5FF"/>
                    </a:solidFill>
                  </a:tcPr>
                </a:tc>
              </a:tr>
              <a:tr h="243840">
                <a:tc>
                  <a:txBody>
                    <a:bodyPr/>
                    <a:lstStyle/>
                    <a:p>
                      <a:r>
                        <a:rPr sz="1000" b="0">
                          <a:solidFill>
                            <a:srgbClr val="4B4B4B"/>
                          </a:solidFill>
                          <a:latin typeface="Arial"/>
                        </a:rPr>
                        <a:t>Each stage has the SLA of its rule; past it the escalation shows Past SLA and the overdue alert is raised (FR-CL-053).</a:t>
                      </a:r>
                    </a:p>
                  </a:txBody>
                  <a:tcPr marL="54864" marR="54864" marT="27432" marB="27432">
                    <a:solidFill>
                      <a:srgbClr val="FFFF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2</a:t>
                      </a:r>
                    </a:p>
                  </a:txBody>
                  <a:tcPr marL="54864" marR="54864" marT="27432" marB="27432">
                    <a:solidFill>
                      <a:srgbClr val="FFFFFF"/>
                    </a:solidFill>
                  </a:tcPr>
                </a:tc>
                <a:tc>
                  <a:txBody>
                    <a:bodyPr/>
                    <a:lstStyle/>
                    <a:p>
                      <a:r>
                        <a:rPr sz="900" b="0">
                          <a:solidFill>
                            <a:srgbClr val="4B4B4B"/>
                          </a:solidFill>
                          <a:latin typeface="Arial"/>
                        </a:rPr>
                        <a:t>Clicks Escalate Accounts and enters the invoice, Team Lead and the reason Credit term extension refused by the insurer</a:t>
                      </a:r>
                    </a:p>
                  </a:txBody>
                  <a:tcPr marL="54864" marR="54864" marT="27432" marB="27432">
                    <a:solidFill>
                      <a:srgbClr val="FFFFFF"/>
                    </a:solidFill>
                  </a:tcPr>
                </a:tc>
                <a:tc>
                  <a:txBody>
                    <a:bodyPr/>
                    <a:lstStyle/>
                    <a:p>
                      <a:r>
                        <a:rPr sz="900" b="0">
                          <a:solidFill>
                            <a:srgbClr val="4B4B4B"/>
                          </a:solidFill>
                          <a:latin typeface="Arial"/>
                        </a:rPr>
                        <a:t>SCR-CL-11_wt-b-step-02.png</a:t>
                      </a:r>
                    </a:p>
                  </a:txBody>
                  <a:tcPr marL="54864" marR="54864" marT="27432" marB="27432">
                    <a:solidFill>
                      <a:srgbClr val="FFFFFF"/>
                    </a:solidFill>
                  </a:tcPr>
                </a:tc>
              </a:tr>
            </a:tbl>
          </a:graphicData>
        </a:graphic>
      </p:graphicFrame>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11-01-list.png"/>
          <p:cNvPicPr>
            <a:picLocks noChangeAspect="1"/>
          </p:cNvPicPr>
          <p:nvPr/>
        </p:nvPicPr>
        <p:blipFill>
          <a:blip r:embed="rId3"/>
          <a:stretch>
            <a:fillRect/>
          </a:stretch>
        </p:blipFill>
        <p:spPr>
          <a:xfrm>
            <a:off x="1958463" y="1261872"/>
            <a:ext cx="827476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Escalations with the team lead: by rule or by a user, with the reason and the time in stage</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0.png"/>
          <p:cNvPicPr>
            <a:picLocks noChangeAspect="1"/>
          </p:cNvPicPr>
          <p:nvPr/>
        </p:nvPicPr>
        <p:blipFill>
          <a:blip r:embed="rId3"/>
          <a:stretch>
            <a:fillRect/>
          </a:stretch>
        </p:blipFill>
        <p:spPr>
          <a:xfrm>
            <a:off x="548640" y="1261872"/>
            <a:ext cx="11094415" cy="4395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Escalate Accounts dialog: the invoices, the level and the reason (part 1 of 2)</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1.png"/>
          <p:cNvPicPr>
            <a:picLocks noChangeAspect="1"/>
          </p:cNvPicPr>
          <p:nvPr/>
        </p:nvPicPr>
        <p:blipFill>
          <a:blip r:embed="rId3"/>
          <a:stretch>
            <a:fillRect/>
          </a:stretch>
        </p:blipFill>
        <p:spPr>
          <a:xfrm>
            <a:off x="548640" y="1261872"/>
            <a:ext cx="11094415" cy="362409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Escalate Accounts dialog: the invoices, the level and the reason (part 2 of 2)</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cl-11-empty.png"/>
          <p:cNvPicPr>
            <a:picLocks noChangeAspect="1"/>
          </p:cNvPicPr>
          <p:nvPr/>
        </p:nvPicPr>
        <p:blipFill>
          <a:blip r:embed="rId3"/>
          <a:stretch>
            <a:fillRect/>
          </a:stretch>
        </p:blipFill>
        <p:spPr>
          <a:xfrm>
            <a:off x="1198836" y="1261872"/>
            <a:ext cx="979402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escalation tab without escalations</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Escalation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escalation: the account, the reason, the receiving level or user, the outstanding and the SLA; the workflow header with the actions of the stage (acknowledge, escalate to the unit / section head, return to the handler, resubmit, resolve) and the history; the escalated invoices.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Escalations › Escalation</a:t>
                      </a:r>
                    </a:p>
                    <a:p>
                      <a:r>
                        <a:rPr sz="950" b="0">
                          <a:solidFill>
                            <a:srgbClr val="4B4B4B"/>
                          </a:solidFill>
                          <a:latin typeface="Arial"/>
                        </a:rPr>
                        <a:t>Escalations › open a row</a:t>
                      </a:r>
                    </a:p>
                    <a:p>
                      <a:r>
                        <a:rPr sz="950" b="0">
                          <a:solidFill>
                            <a:srgbClr val="4B4B4B"/>
                          </a:solidFill>
                          <a:latin typeface="Arial"/>
                        </a:rPr>
                        <a:t>Notification Account escalated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escalation is acted on and closed with its resolution.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1" cy="31013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Escalation and ARN chips, status pill, By Rule or Manual tag, Past SLA</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Reason / Escalated To / Outstanding / In Stage Since / Raised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Label of the reason; level or user's name; amount with the currency; time with the SLA in hours; the rule or the user's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Escalation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Raised, With the team lead, With the unit / section head, In action, Returned to the handler, Resolved with the history table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Escalated Invoices</a:t>
                      </a:r>
                    </a:p>
                  </a:txBody>
                  <a:tcPr marL="54864" marR="54864" marT="27432" marB="27432">
                    <a:solidFill>
                      <a:srgbClr val="E5F5FF"/>
                    </a:solidFill>
                  </a:tcPr>
                </a:tc>
                <a:tc>
                  <a:txBody>
                    <a:bodyPr/>
                    <a:lstStyle/>
                    <a:p>
                      <a:r>
                        <a:rPr sz="850" b="0">
                          <a:solidFill>
                            <a:srgbClr val="4B4B4B"/>
                          </a:solidFill>
                          <a:latin typeface="Arial"/>
                        </a:rPr>
                        <a:t>Invoice No. / Policy No. / Days Since Booking / Outstanding When Escalated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Action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 area</a:t>
                      </a:r>
                    </a:p>
                  </a:txBody>
                  <a:tcPr marL="54864" marR="54864" marT="27432" marB="27432">
                    <a:solidFill>
                      <a:srgbClr val="FFFFFF"/>
                    </a:solidFill>
                  </a:tcPr>
                </a:tc>
                <a:tc>
                  <a:txBody>
                    <a:bodyPr/>
                    <a:lstStyle/>
                    <a:p>
                      <a:r>
                        <a:rPr sz="850" b="0">
                          <a:solidFill>
                            <a:srgbClr val="4B4B4B"/>
                          </a:solidFill>
                          <a:latin typeface="Arial"/>
                        </a:rPr>
                        <a:t>Escalation reason list or return reason list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Resolve Escalation dialog</a:t>
                      </a:r>
                    </a:p>
                  </a:txBody>
                  <a:tcPr marL="54864" marR="54864" marT="27432" marB="27432">
                    <a:solidFill>
                      <a:srgbClr val="E5F5FF"/>
                    </a:solidFill>
                  </a:tcPr>
                </a:tc>
                <a:tc>
                  <a:txBody>
                    <a:bodyPr/>
                    <a:lstStyle/>
                    <a:p>
                      <a:r>
                        <a:rPr sz="850" b="0">
                          <a:solidFill>
                            <a:srgbClr val="4B4B4B"/>
                          </a:solidFill>
                          <a:latin typeface="Arial"/>
                        </a:rPr>
                        <a:t>Resolution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how the escalation was resolved</a:t>
                      </a:r>
                    </a:p>
                  </a:txBody>
                  <a:tcPr marL="54864" marR="54864" marT="27432" marB="27432">
                    <a:solidFill>
                      <a:srgbClr val="E5F5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2" cy="197356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Acknowledge</a:t>
                      </a:r>
                    </a:p>
                  </a:txBody>
                  <a:tcPr marL="54864" marR="54864" marT="27432" marB="27432">
                    <a:solidFill>
                      <a:srgbClr val="FFFFFF"/>
                    </a:solidFill>
                  </a:tcPr>
                </a:tc>
                <a:tc>
                  <a:txBody>
                    <a:bodyPr/>
                    <a:lstStyle/>
                    <a:p>
                      <a:r>
                        <a:rPr sz="850" b="0">
                          <a:solidFill>
                            <a:srgbClr val="4B4B4B"/>
                          </a:solidFill>
                          <a:latin typeface="Arial"/>
                        </a:rPr>
                        <a:t>Team leads and heads (escalation permission)</a:t>
                      </a:r>
                    </a:p>
                  </a:txBody>
                  <a:tcPr marL="54864" marR="54864" marT="27432" marB="27432">
                    <a:solidFill>
                      <a:srgbClr val="FFFFFF"/>
                    </a:solidFill>
                  </a:tcPr>
                </a:tc>
                <a:tc>
                  <a:txBody>
                    <a:bodyPr/>
                    <a:lstStyle/>
                    <a:p>
                      <a:r>
                        <a:rPr sz="850" b="0">
                          <a:solidFill>
                            <a:srgbClr val="4B4B4B"/>
                          </a:solidFill>
                          <a:latin typeface="Arial"/>
                        </a:rPr>
                        <a:t>With Team Lead or With Unit / Section Head</a:t>
                      </a:r>
                    </a:p>
                  </a:txBody>
                  <a:tcPr marL="54864" marR="54864" marT="27432" marB="27432">
                    <a:solidFill>
                      <a:srgbClr val="FFFFFF"/>
                    </a:solidFill>
                  </a:tcPr>
                </a:tc>
                <a:tc>
                  <a:txBody>
                    <a:bodyPr/>
                    <a:lstStyle/>
                    <a:p>
                      <a:r>
                        <a:rPr sz="850" b="0">
                          <a:solidFill>
                            <a:srgbClr val="4B4B4B"/>
                          </a:solidFill>
                          <a:latin typeface="Arial"/>
                        </a:rPr>
                        <a:t>Takes the escalation into action</a:t>
                      </a:r>
                    </a:p>
                  </a:txBody>
                  <a:tcPr marL="54864" marR="54864" marT="27432" marB="27432">
                    <a:solidFill>
                      <a:srgbClr val="FFFFFF"/>
                    </a:solidFill>
                  </a:tcPr>
                </a:tc>
                <a:tc>
                  <a:txBody>
                    <a:bodyPr/>
                    <a:lstStyle/>
                    <a:p>
                      <a:r>
                        <a:rPr sz="850" b="0">
                          <a:solidFill>
                            <a:srgbClr val="4B4B4B"/>
                          </a:solidFill>
                          <a:latin typeface="Arial"/>
                        </a:rPr>
                        <a:t>In action</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Escalate to the unit / section head</a:t>
                      </a:r>
                    </a:p>
                  </a:txBody>
                  <a:tcPr marL="54864" marR="54864" marT="27432" marB="27432">
                    <a:solidFill>
                      <a:srgbClr val="E5F5FF"/>
                    </a:solidFill>
                  </a:tcPr>
                </a:tc>
                <a:tc>
                  <a:txBody>
                    <a:bodyPr/>
                    <a:lstStyle/>
                    <a:p>
                      <a:r>
                        <a:rPr sz="850" b="0">
                          <a:solidFill>
                            <a:srgbClr val="4B4B4B"/>
                          </a:solidFill>
                          <a:latin typeface="Arial"/>
                        </a:rPr>
                        <a:t>Team leads and heads (escalation permission)</a:t>
                      </a:r>
                    </a:p>
                  </a:txBody>
                  <a:tcPr marL="54864" marR="54864" marT="27432" marB="27432">
                    <a:solidFill>
                      <a:srgbClr val="E5F5FF"/>
                    </a:solidFill>
                  </a:tcPr>
                </a:tc>
                <a:tc>
                  <a:txBody>
                    <a:bodyPr/>
                    <a:lstStyle/>
                    <a:p>
                      <a:r>
                        <a:rPr sz="850" b="0">
                          <a:solidFill>
                            <a:srgbClr val="4B4B4B"/>
                          </a:solidFill>
                          <a:latin typeface="Arial"/>
                        </a:rPr>
                        <a:t>With Team Lead or In Action</a:t>
                      </a:r>
                    </a:p>
                  </a:txBody>
                  <a:tcPr marL="54864" marR="54864" marT="27432" marB="27432">
                    <a:solidFill>
                      <a:srgbClr val="E5F5FF"/>
                    </a:solidFill>
                  </a:tcPr>
                </a:tc>
                <a:tc>
                  <a:txBody>
                    <a:bodyPr/>
                    <a:lstStyle/>
                    <a:p>
                      <a:r>
                        <a:rPr sz="850" b="0">
                          <a:solidFill>
                            <a:srgbClr val="4B4B4B"/>
                          </a:solidFill>
                          <a:latin typeface="Arial"/>
                        </a:rPr>
                        <a:t>Asks for the reason and moves it to the unit / section head</a:t>
                      </a:r>
                    </a:p>
                  </a:txBody>
                  <a:tcPr marL="54864" marR="54864" marT="27432" marB="27432">
                    <a:solidFill>
                      <a:srgbClr val="E5F5FF"/>
                    </a:solidFill>
                  </a:tcPr>
                </a:tc>
                <a:tc>
                  <a:txBody>
                    <a:bodyPr/>
                    <a:lstStyle/>
                    <a:p>
                      <a:r>
                        <a:rPr sz="850" b="0">
                          <a:solidFill>
                            <a:srgbClr val="4B4B4B"/>
                          </a:solidFill>
                          <a:latin typeface="Arial"/>
                        </a:rPr>
                        <a:t>With the unit / section head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Return to the handler</a:t>
                      </a:r>
                    </a:p>
                  </a:txBody>
                  <a:tcPr marL="54864" marR="54864" marT="27432" marB="27432">
                    <a:solidFill>
                      <a:srgbClr val="FFFFFF"/>
                    </a:solidFill>
                  </a:tcPr>
                </a:tc>
                <a:tc>
                  <a:txBody>
                    <a:bodyPr/>
                    <a:lstStyle/>
                    <a:p>
                      <a:r>
                        <a:rPr sz="850" b="0">
                          <a:solidFill>
                            <a:srgbClr val="4B4B4B"/>
                          </a:solidFill>
                          <a:latin typeface="Arial"/>
                        </a:rPr>
                        <a:t>Team leads and heads (escalation permission)</a:t>
                      </a:r>
                    </a:p>
                  </a:txBody>
                  <a:tcPr marL="54864" marR="54864" marT="27432" marB="27432">
                    <a:solidFill>
                      <a:srgbClr val="FFFFFF"/>
                    </a:solidFill>
                  </a:tcPr>
                </a:tc>
                <a:tc>
                  <a:txBody>
                    <a:bodyPr/>
                    <a:lstStyle/>
                    <a:p>
                      <a:r>
                        <a:rPr sz="850" b="0">
                          <a:solidFill>
                            <a:srgbClr val="4B4B4B"/>
                          </a:solidFill>
                          <a:latin typeface="Arial"/>
                        </a:rPr>
                        <a:t>With Team Lead or With Unit / Section Head</a:t>
                      </a:r>
                    </a:p>
                  </a:txBody>
                  <a:tcPr marL="54864" marR="54864" marT="27432" marB="27432">
                    <a:solidFill>
                      <a:srgbClr val="FFFFFF"/>
                    </a:solidFill>
                  </a:tcPr>
                </a:tc>
                <a:tc>
                  <a:txBody>
                    <a:bodyPr/>
                    <a:lstStyle/>
                    <a:p>
                      <a:r>
                        <a:rPr sz="850" b="0">
                          <a:solidFill>
                            <a:srgbClr val="4B4B4B"/>
                          </a:solidFill>
                          <a:latin typeface="Arial"/>
                        </a:rPr>
                        <a:t>Asks for the reason and the instruction and returns it to the handler</a:t>
                      </a:r>
                    </a:p>
                  </a:txBody>
                  <a:tcPr marL="54864" marR="54864" marT="27432" marB="27432">
                    <a:solidFill>
                      <a:srgbClr val="FFFFFF"/>
                    </a:solidFill>
                  </a:tcPr>
                </a:tc>
                <a:tc>
                  <a:txBody>
                    <a:bodyPr/>
                    <a:lstStyle/>
                    <a:p>
                      <a:r>
                        <a:rPr sz="850" b="0">
                          <a:solidFill>
                            <a:srgbClr val="4B4B4B"/>
                          </a:solidFill>
                          <a:latin typeface="Arial"/>
                        </a:rPr>
                        <a:t>Returned to the handler</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Resubmit to the team lead</a:t>
                      </a:r>
                    </a:p>
                  </a:txBody>
                  <a:tcPr marL="54864" marR="54864" marT="27432" marB="27432">
                    <a:solidFill>
                      <a:srgbClr val="E5F5FF"/>
                    </a:solidFill>
                  </a:tcPr>
                </a:tc>
                <a:tc>
                  <a:txBody>
                    <a:bodyPr/>
                    <a:lstStyle/>
                    <a:p>
                      <a:r>
                        <a:rPr sz="850" b="0">
                          <a:solidFill>
                            <a:srgbClr val="4B4B4B"/>
                          </a:solidFill>
                          <a:latin typeface="Arial"/>
                        </a:rPr>
                        <a:t>The handler (work or escalate permission)</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Sends it back to the team lead once the instruction is done</a:t>
                      </a:r>
                    </a:p>
                  </a:txBody>
                  <a:tcPr marL="54864" marR="54864" marT="27432" marB="27432">
                    <a:solidFill>
                      <a:srgbClr val="E5F5FF"/>
                    </a:solidFill>
                  </a:tcPr>
                </a:tc>
                <a:tc>
                  <a:txBody>
                    <a:bodyPr/>
                    <a:lstStyle/>
                    <a:p>
                      <a:r>
                        <a:rPr sz="850" b="0">
                          <a:solidFill>
                            <a:srgbClr val="4B4B4B"/>
                          </a:solidFill>
                          <a:latin typeface="Arial"/>
                        </a:rPr>
                        <a:t>With the team lead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Resolve</a:t>
                      </a:r>
                    </a:p>
                  </a:txBody>
                  <a:tcPr marL="54864" marR="54864" marT="27432" marB="27432">
                    <a:solidFill>
                      <a:srgbClr val="FFFFFF"/>
                    </a:solidFill>
                  </a:tcPr>
                </a:tc>
                <a:tc>
                  <a:txBody>
                    <a:bodyPr/>
                    <a:lstStyle/>
                    <a:p>
                      <a:r>
                        <a:rPr sz="850" b="0">
                          <a:solidFill>
                            <a:srgbClr val="4B4B4B"/>
                          </a:solidFill>
                          <a:latin typeface="Arial"/>
                        </a:rPr>
                        <a:t>Team leads and heads (escalation permission)</a:t>
                      </a:r>
                    </a:p>
                  </a:txBody>
                  <a:tcPr marL="54864" marR="54864" marT="27432" marB="27432">
                    <a:solidFill>
                      <a:srgbClr val="FFFFFF"/>
                    </a:solidFill>
                  </a:tcPr>
                </a:tc>
                <a:tc>
                  <a:txBody>
                    <a:bodyPr/>
                    <a:lstStyle/>
                    <a:p>
                      <a:r>
                        <a:rPr sz="850" b="0">
                          <a:solidFill>
                            <a:srgbClr val="4B4B4B"/>
                          </a:solidFill>
                          <a:latin typeface="Arial"/>
                        </a:rPr>
                        <a:t>In Action</a:t>
                      </a:r>
                    </a:p>
                  </a:txBody>
                  <a:tcPr marL="54864" marR="54864" marT="27432" marB="27432">
                    <a:solidFill>
                      <a:srgbClr val="FFFFFF"/>
                    </a:solidFill>
                  </a:tcPr>
                </a:tc>
                <a:tc>
                  <a:txBody>
                    <a:bodyPr/>
                    <a:lstStyle/>
                    <a:p>
                      <a:r>
                        <a:rPr sz="850" b="0">
                          <a:solidFill>
                            <a:srgbClr val="4B4B4B"/>
                          </a:solidFill>
                          <a:latin typeface="Arial"/>
                        </a:rPr>
                        <a:t>Asks for the resolution and closes it</a:t>
                      </a:r>
                    </a:p>
                  </a:txBody>
                  <a:tcPr marL="54864" marR="54864" marT="27432" marB="27432">
                    <a:solidFill>
                      <a:srgbClr val="FFFFFF"/>
                    </a:solidFill>
                  </a:tcPr>
                </a:tc>
                <a:tc>
                  <a:txBody>
                    <a:bodyPr/>
                    <a:lstStyle/>
                    <a:p>
                      <a:r>
                        <a:rPr sz="850" b="0">
                          <a:solidFill>
                            <a:srgbClr val="4B4B4B"/>
                          </a:solidFill>
                          <a:latin typeface="Arial"/>
                        </a:rPr>
                        <a:t>Resolved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escalation whose invoices are collected is closed automatically (FR-CL-053).</a:t>
                      </a:r>
                    </a:p>
                  </a:txBody>
                  <a:tcPr marL="54864" marR="54864" marT="27432" marB="27432">
                    <a:solidFill>
                      <a:srgbClr val="FFFFFF"/>
                    </a:solidFill>
                  </a:tcPr>
                </a:tc>
              </a:tr>
              <a:tr h="243840">
                <a:tc>
                  <a:txBody>
                    <a:bodyPr/>
                    <a:lstStyle/>
                    <a:p>
                      <a:r>
                        <a:rPr sz="1000" b="0">
                          <a:solidFill>
                            <a:srgbClr val="4B4B4B"/>
                          </a:solidFill>
                          <a:latin typeface="Arial"/>
                        </a:rPr>
                        <a:t>Acting on an escalation needs the escalation permission; the target and the account officers are notified (FR-CL-053).</a:t>
                      </a:r>
                    </a:p>
                  </a:txBody>
                  <a:tcPr marL="54864" marR="54864" marT="27432" marB="27432">
                    <a:solidFill>
                      <a:srgbClr val="E5F5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Opens the escalation from With Team Lead and clicks Acknowledge</a:t>
                      </a:r>
                    </a:p>
                  </a:txBody>
                  <a:tcPr marL="54864" marR="54864" marT="27432" marB="27432">
                    <a:solidFill>
                      <a:srgbClr val="FFFFFF"/>
                    </a:solidFill>
                  </a:tcPr>
                </a:tc>
                <a:tc>
                  <a:txBody>
                    <a:bodyPr/>
                    <a:lstStyle/>
                    <a:p>
                      <a:r>
                        <a:rPr sz="900" b="0">
                          <a:solidFill>
                            <a:srgbClr val="4B4B4B"/>
                          </a:solidFill>
                          <a:latin typeface="Arial"/>
                        </a:rPr>
                        <a:t>SCR-CL-12_wt-b-step-03.png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Clicks Resolve and gives the resolution</a:t>
                      </a:r>
                    </a:p>
                  </a:txBody>
                  <a:tcPr marL="54864" marR="54864" marT="27432" marB="27432">
                    <a:solidFill>
                      <a:srgbClr val="E5F5FF"/>
                    </a:solidFill>
                  </a:tcPr>
                </a:tc>
                <a:tc>
                  <a:txBody>
                    <a:bodyPr/>
                    <a:lstStyle/>
                    <a:p>
                      <a:r>
                        <a:rPr sz="900" b="0">
                          <a:solidFill>
                            <a:srgbClr val="4B4B4B"/>
                          </a:solidFill>
                          <a:latin typeface="Arial"/>
                        </a:rPr>
                        <a:t>SCR-CL-12_wt-b-step-04.png</a:t>
                      </a:r>
                    </a:p>
                  </a:txBody>
                  <a:tcPr marL="54864" marR="54864" marT="27432" marB="27432">
                    <a:solidFill>
                      <a:srgbClr val="E5F5FF"/>
                    </a:solidFill>
                  </a:tcPr>
                </a:tc>
              </a:tr>
            </a:tbl>
          </a:graphicData>
        </a:graphic>
      </p:graphicFrame>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with the team lead: workflow header, actions and the escalated invoices (part 1 of 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with the team lead: workflow header, actions and the escalated invoices (part 2 of 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4.png"/>
          <p:cNvPicPr>
            <a:picLocks noChangeAspect="1"/>
          </p:cNvPicPr>
          <p:nvPr/>
        </p:nvPicPr>
        <p:blipFill>
          <a:blip r:embed="rId3"/>
          <a:stretch>
            <a:fillRect/>
          </a:stretch>
        </p:blipFill>
        <p:spPr>
          <a:xfrm>
            <a:off x="548640" y="1261872"/>
            <a:ext cx="11094415" cy="1721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with the team lead: workflow header, actions and the escalated invoices (part 3 of 3)</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cl-12-02-resolve.png"/>
          <p:cNvPicPr>
            <a:picLocks noChangeAspect="1"/>
          </p:cNvPicPr>
          <p:nvPr/>
        </p:nvPicPr>
        <p:blipFill>
          <a:blip r:embed="rId3"/>
          <a:stretch>
            <a:fillRect/>
          </a:stretch>
        </p:blipFill>
        <p:spPr>
          <a:xfrm>
            <a:off x="548640" y="1261872"/>
            <a:ext cx="11094415" cy="37059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Resolve Escalation dialog with the resolution, after the escalation is acknowledged</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Escalation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What escalates an account automatically: the basis and threshold, the segment, the receiving level or user, the reason, the SLA in hours and the effective dates. Preview lists the accounts a rule escalates today. A new or changed rule applies once another user authorizes it.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 Collection Team Lead, Section Head (Corporate / Retail),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Escalation Rules</a:t>
                      </a:r>
                    </a:p>
                    <a:p>
                      <a:r>
                        <a:rPr sz="950" b="0">
                          <a:solidFill>
                            <a:srgbClr val="4B4B4B"/>
                          </a:solidFill>
                          <a:latin typeface="Arial"/>
                        </a:rPr>
                        <a:t>Finance › Collections › Escalation Rules</a:t>
                      </a:r>
                    </a:p>
                    <a:p>
                      <a:r>
                        <a:rPr sz="950" b="0">
                          <a:solidFill>
                            <a:srgbClr val="4B4B4B"/>
                          </a:solidFill>
                          <a:latin typeface="Arial"/>
                        </a:rPr>
                        <a:t>My Approvals (a rule waiting for authorization)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FR-CL-050, FR-CL-051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escalation rules agreed by the business apply every night.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25880"/>
          <a:ext cx="11094411" cy="415287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Rule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with the name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escalation rules</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Escalates When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Basis, threshold and receiving level or user's name, for example Days since booking ≥ 45 → Team Lead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Segment / Reason / SLA (h)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or the segment; label of the reason; hours; Active, Pending Authorization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Escalation Rule dialog</a:t>
                      </a:r>
                    </a:p>
                  </a:txBody>
                  <a:tcPr marL="54864" marR="54864" marT="27432" marB="27432">
                    <a:solidFill>
                      <a:srgbClr val="E5F5FF"/>
                    </a:solidFill>
                  </a:tcPr>
                </a:tc>
                <a:tc>
                  <a:txBody>
                    <a:bodyPr/>
                    <a:lstStyle/>
                    <a:p>
                      <a:r>
                        <a:rPr sz="850" b="0">
                          <a:solidFill>
                            <a:srgbClr val="4B4B4B"/>
                          </a:solidFill>
                          <a:latin typeface="Arial"/>
                        </a:rPr>
                        <a:t>Code /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60 characters; the code of a new rule only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rule code</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Escalation Rule dialog</a:t>
                      </a:r>
                    </a:p>
                  </a:txBody>
                  <a:tcPr marL="54864" marR="54864" marT="27432" marB="27432">
                    <a:solidFill>
                      <a:srgbClr val="FFFFFF"/>
                    </a:solidFill>
                  </a:tcPr>
                </a:tc>
                <a:tc>
                  <a:txBody>
                    <a:bodyPr/>
                    <a:lstStyle/>
                    <a:p>
                      <a:r>
                        <a:rPr sz="850" b="0">
                          <a:solidFill>
                            <a:srgbClr val="4B4B4B"/>
                          </a:solidFill>
                          <a:latin typeface="Arial"/>
                        </a:rPr>
                        <a:t>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Days since booking; Days since inception; Days since booking without a promise; Broken promises; Days an installment is overdue; Outstanding at or above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Escalation Rule dialog</a:t>
                      </a:r>
                    </a:p>
                  </a:txBody>
                  <a:tcPr marL="54864" marR="54864" marT="27432" marB="27432">
                    <a:solidFill>
                      <a:srgbClr val="E5F5FF"/>
                    </a:solidFill>
                  </a:tcPr>
                </a:tc>
                <a:tc>
                  <a:txBody>
                    <a:bodyPr/>
                    <a:lstStyle/>
                    <a:p>
                      <a:r>
                        <a:rPr sz="850" b="0">
                          <a:solidFill>
                            <a:srgbClr val="4B4B4B"/>
                          </a:solidFill>
                          <a:latin typeface="Arial"/>
                        </a:rPr>
                        <a:t>Threshold</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Days, a number of promises or an amount, depending on the basis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 positive threshold</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Escalation Rule dialog</a:t>
                      </a:r>
                    </a:p>
                  </a:txBody>
                  <a:tcPr marL="54864" marR="54864" marT="27432" marB="27432">
                    <a:solidFill>
                      <a:srgbClr val="FFFFFF"/>
                    </a:solidFill>
                  </a:tcPr>
                </a:tc>
                <a:tc>
                  <a:txBody>
                    <a:bodyPr/>
                    <a:lstStyle/>
                    <a:p>
                      <a:r>
                        <a:rPr sz="850" b="0">
                          <a:solidFill>
                            <a:srgbClr val="4B4B4B"/>
                          </a:solidFill>
                          <a:latin typeface="Arial"/>
                        </a:rPr>
                        <a:t>Segment / Escalate To / User</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Empty for every segment; Team Lead, Unit Head, Section Head or Designated User</a:t>
                      </a:r>
                    </a:p>
                  </a:txBody>
                  <a:tcPr marL="54864" marR="54864" marT="27432" marB="27432">
                    <a:solidFill>
                      <a:srgbClr val="FFFFFF"/>
                    </a:solidFill>
                  </a:tcPr>
                </a:tc>
                <a:tc>
                  <a:txBody>
                    <a:bodyPr/>
                    <a:lstStyle/>
                    <a:p>
                      <a:r>
                        <a:rPr sz="850" b="0">
                          <a:solidFill>
                            <a:srgbClr val="4B4B4B"/>
                          </a:solidFill>
                          <a:latin typeface="Arial"/>
                        </a:rPr>
                        <a:t>N / Y / Cond.: designated user</a:t>
                      </a:r>
                    </a:p>
                  </a:txBody>
                  <a:tcPr marL="54864" marR="54864" marT="27432" marB="27432">
                    <a:solidFill>
                      <a:srgbClr val="FFFFFF"/>
                    </a:solidFill>
                  </a:tcPr>
                </a:tc>
                <a:tc>
                  <a:txBody>
                    <a:bodyPr/>
                    <a:lstStyle/>
                    <a:p>
                      <a:r>
                        <a:rPr sz="850" b="0">
                          <a:solidFill>
                            <a:srgbClr val="4B4B4B"/>
                          </a:solidFill>
                          <a:latin typeface="Arial"/>
                        </a:rPr>
                        <a:t>The user handles escalations</a:t>
                      </a:r>
                    </a:p>
                  </a:txBody>
                  <a:tcPr marL="54864" marR="54864" marT="27432" marB="27432">
                    <a:solidFill>
                      <a:srgbClr val="FFFFFF"/>
                    </a:solidFill>
                  </a:tcPr>
                </a:tc>
                <a:tc>
                  <a:txBody>
                    <a:bodyPr/>
                    <a:lstStyle/>
                    <a:p>
                      <a:r>
                        <a:rPr sz="850" b="0">
                          <a:solidFill>
                            <a:srgbClr val="4B4B4B"/>
                          </a:solidFill>
                          <a:latin typeface="Arial"/>
                        </a:rPr>
                        <a:t>Name the user who receives the escalations</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Escalation Rule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Escalation reason list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escalation reason</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Escalation Rule dialog</a:t>
                      </a:r>
                    </a:p>
                  </a:txBody>
                  <a:tcPr marL="54864" marR="54864" marT="27432" marB="27432">
                    <a:solidFill>
                      <a:srgbClr val="FFFFFF"/>
                    </a:solidFill>
                  </a:tcPr>
                </a:tc>
                <a:tc>
                  <a:txBody>
                    <a:bodyPr/>
                    <a:lstStyle/>
                    <a:p>
                      <a:r>
                        <a:rPr sz="850" b="0">
                          <a:solidFill>
                            <a:srgbClr val="4B4B4B"/>
                          </a:solidFill>
                          <a:latin typeface="Arial"/>
                        </a:rPr>
                        <a:t>SLA (Hours) / Effective From / Effective To</a:t>
                      </a:r>
                    </a:p>
                  </a:txBody>
                  <a:tcPr marL="54864" marR="54864" marT="27432" marB="27432">
                    <a:solidFill>
                      <a:srgbClr val="FFFFFF"/>
                    </a:solidFill>
                  </a:tcPr>
                </a:tc>
                <a:tc>
                  <a:txBody>
                    <a:bodyPr/>
                    <a:lstStyle/>
                    <a:p>
                      <a:r>
                        <a:rPr sz="850" b="0">
                          <a:solidFill>
                            <a:srgbClr val="4B4B4B"/>
                          </a:solidFill>
                          <a:latin typeface="Arial"/>
                        </a:rPr>
                        <a:t>Number, date</a:t>
                      </a:r>
                    </a:p>
                  </a:txBody>
                  <a:tcPr marL="54864" marR="54864" marT="27432" marB="27432">
                    <a:solidFill>
                      <a:srgbClr val="FFFFFF"/>
                    </a:solidFill>
                  </a:tcPr>
                </a:tc>
                <a:tc>
                  <a:txBody>
                    <a:bodyPr/>
                    <a:lstStyle/>
                    <a:p>
                      <a:r>
                        <a:rPr sz="850" b="0">
                          <a:solidFill>
                            <a:srgbClr val="4B4B4B"/>
                          </a:solidFill>
                          <a:latin typeface="Arial"/>
                        </a:rPr>
                        <a:t>1 to 720 hours; dd-MMM-yyyy</a:t>
                      </a:r>
                    </a:p>
                  </a:txBody>
                  <a:tcPr marL="54864" marR="54864" marT="27432" marB="27432">
                    <a:solidFill>
                      <a:srgbClr val="FFFFFF"/>
                    </a:solidFill>
                  </a:tcPr>
                </a:tc>
                <a:tc>
                  <a:txBody>
                    <a:bodyPr/>
                    <a:lstStyle/>
                    <a:p>
                      <a:r>
                        <a:rPr sz="850" b="0">
                          <a:solidFill>
                            <a:srgbClr val="4B4B4B"/>
                          </a:solidFill>
                          <a:latin typeface="Arial"/>
                        </a:rPr>
                        <a:t>Y / Y / N</a:t>
                      </a:r>
                    </a:p>
                  </a:txBody>
                  <a:tcPr marL="54864" marR="54864" marT="27432" marB="27432">
                    <a:solidFill>
                      <a:srgbClr val="FFFFFF"/>
                    </a:solidFill>
                  </a:tcPr>
                </a:tc>
                <a:tc>
                  <a:txBody>
                    <a:bodyPr/>
                    <a:lstStyle/>
                    <a:p>
                      <a:r>
                        <a:rPr sz="850" b="0">
                          <a:solidFill>
                            <a:srgbClr val="4B4B4B"/>
                          </a:solidFill>
                          <a:latin typeface="Arial"/>
                        </a:rPr>
                        <a:t>The rule cannot end before it starts</a:t>
                      </a:r>
                    </a:p>
                  </a:txBody>
                  <a:tcPr marL="54864" marR="54864" marT="27432" marB="27432">
                    <a:solidFill>
                      <a:srgbClr val="FFFFFF"/>
                    </a:solidFill>
                  </a:tcPr>
                </a:tc>
                <a:tc>
                  <a:txBody>
                    <a:bodyPr/>
                    <a:lstStyle/>
                    <a:p>
                      <a:r>
                        <a:rPr sz="850" b="0">
                          <a:solidFill>
                            <a:srgbClr val="4B4B4B"/>
                          </a:solidFill>
                          <a:latin typeface="Arial"/>
                        </a:rPr>
                        <a:t>Enter between 1 and 720 hours</a:t>
                      </a:r>
                    </a:p>
                  </a:txBody>
                  <a:tcPr marL="54864" marR="54864" marT="27432" marB="27432">
                    <a:solidFill>
                      <a:srgbClr val="FFFF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2" cy="219454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Rule</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Saves the rule; it applies once authorized</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Preview (row menu)</a:t>
                      </a:r>
                    </a:p>
                  </a:txBody>
                  <a:tcPr marL="54864" marR="54864" marT="27432" marB="27432">
                    <a:solidFill>
                      <a:srgbClr val="FFFFFF"/>
                    </a:solidFill>
                  </a:tcPr>
                </a:tc>
                <a:tc>
                  <a:txBody>
                    <a:bodyPr/>
                    <a:lstStyle/>
                    <a:p>
                      <a:r>
                        <a:rPr sz="850" b="0">
                          <a:solidFill>
                            <a:srgbClr val="4B4B4B"/>
                          </a:solidFill>
                          <a:latin typeface="Arial"/>
                        </a:rPr>
                        <a:t>Set-up and authorizing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accounts the rule escalates today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Change (row menu)</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Not inactive</a:t>
                      </a:r>
                    </a:p>
                  </a:txBody>
                  <a:tcPr marL="54864" marR="54864" marT="27432" marB="27432">
                    <a:solidFill>
                      <a:srgbClr val="E5F5FF"/>
                    </a:solidFill>
                  </a:tcPr>
                </a:tc>
                <a:tc>
                  <a:txBody>
                    <a:bodyPr/>
                    <a:lstStyle/>
                    <a:p>
                      <a:r>
                        <a:rPr sz="850" b="0">
                          <a:solidFill>
                            <a:srgbClr val="4B4B4B"/>
                          </a:solidFill>
                          <a:latin typeface="Arial"/>
                        </a:rPr>
                        <a:t>Opens the rule; the change waits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Authorize (row menu)</a:t>
                      </a:r>
                    </a:p>
                  </a:txBody>
                  <a:tcPr marL="54864" marR="54864" marT="27432" marB="27432">
                    <a:solidFill>
                      <a:srgbClr val="FFFFFF"/>
                    </a:solidFill>
                  </a:tcPr>
                </a:tc>
                <a:tc>
                  <a:txBody>
                    <a:bodyPr/>
                    <a:lstStyle/>
                    <a:p>
                      <a:r>
                        <a:rPr sz="850" b="0">
                          <a:solidFill>
                            <a:srgbClr val="4B4B4B"/>
                          </a:solidFill>
                          <a:latin typeface="Arial"/>
                        </a:rPr>
                        <a:t>Authorizers of master data, other than the maker</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Asks for confirmation; the rule takes effect for new escalations</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Deactivate (row menu)</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Asks for confirmation; the rule no longer applies</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Maker-checker: the maker of a rule cannot authorize it; pending rules also appear in My Approvals (FR-CL-050).</a:t>
                      </a:r>
                    </a:p>
                  </a:txBody>
                  <a:tcPr marL="54864" marR="54864" marT="27432" marB="27432">
                    <a:solidFill>
                      <a:srgbClr val="FFFFFF"/>
                    </a:solidFill>
                  </a:tcPr>
                </a:tc>
              </a:tr>
              <a:tr h="396240">
                <a:tc>
                  <a:txBody>
                    <a:bodyPr/>
                    <a:lstStyle/>
                    <a:p>
                      <a:r>
                        <a:rPr sz="1000" b="0">
                          <a:solidFill>
                            <a:srgbClr val="4B4B4B"/>
                          </a:solidFill>
                          <a:latin typeface="Arial"/>
                        </a:rPr>
                        <a:t>The defaults of the process: 45 days after booking to the team lead, the 60th day from inception to the unit head, a broken promise to the team lead, an installment 15 days overdue to the team lead (FR-CL-050).</a:t>
                      </a:r>
                    </a:p>
                  </a:txBody>
                  <a:tcPr marL="54864" marR="54864" marT="27432" marB="27432">
                    <a:solidFill>
                      <a:srgbClr val="E5F5FF"/>
                    </a:solidFill>
                  </a:tcPr>
                </a:tc>
              </a:tr>
              <a:tr h="243840">
                <a:tc>
                  <a:txBody>
                    <a:bodyPr/>
                    <a:lstStyle/>
                    <a:p>
                      <a:r>
                        <a:rPr sz="1000" b="0">
                          <a:solidFill>
                            <a:srgbClr val="4B4B4B"/>
                          </a:solidFill>
                          <a:latin typeface="Arial"/>
                        </a:rPr>
                        <a:t>A rule is deactivated, never deleted (FR-CL-050).</a:t>
                      </a:r>
                    </a:p>
                  </a:txBody>
                  <a:tcPr marL="54864" marR="54864" marT="27432" marB="27432">
                    <a:solidFill>
                      <a:srgbClr val="FFFFFF"/>
                    </a:solidFill>
                  </a:tcPr>
                </a:tc>
              </a:tr>
            </a:tbl>
          </a:graphicData>
        </a:graphic>
      </p:graphicFrame>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Opens Escalation Rules and, from the row menu of CLX-AMOUNT-1M, authorizes the rule made by the Business Administrator</a:t>
                      </a:r>
                    </a:p>
                  </a:txBody>
                  <a:tcPr marL="54864" marR="54864" marT="27432" marB="27432">
                    <a:solidFill>
                      <a:srgbClr val="FFFFFF"/>
                    </a:solidFill>
                  </a:tcPr>
                </a:tc>
                <a:tc>
                  <a:txBody>
                    <a:bodyPr/>
                    <a:lstStyle/>
                    <a:p>
                      <a:r>
                        <a:rPr sz="900" b="0">
                          <a:solidFill>
                            <a:srgbClr val="4B4B4B"/>
                          </a:solidFill>
                          <a:latin typeface="Arial"/>
                        </a:rPr>
                        <a:t>SCR-CL-13_wt-b-step-05.png</a:t>
                      </a:r>
                    </a:p>
                  </a:txBody>
                  <a:tcPr marL="54864" marR="54864" marT="27432" marB="27432">
                    <a:solidFill>
                      <a:srgbClr val="FFFF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cl-13-actions.png"/>
          <p:cNvPicPr>
            <a:picLocks noChangeAspect="1"/>
          </p:cNvPicPr>
          <p:nvPr/>
        </p:nvPicPr>
        <p:blipFill>
          <a:blip r:embed="rId3"/>
          <a:stretch>
            <a:fillRect/>
          </a:stretch>
        </p:blipFill>
        <p:spPr>
          <a:xfrm>
            <a:off x="1509498" y="1261872"/>
            <a:ext cx="91726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an escalation rule, opened from the more button of its row</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5.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Escalation Rule dialog (part 1 of 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6.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Escalation Rule dialog (part 2 of 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7.png"/>
          <p:cNvPicPr>
            <a:picLocks noChangeAspect="1"/>
          </p:cNvPicPr>
          <p:nvPr/>
        </p:nvPicPr>
        <p:blipFill>
          <a:blip r:embed="rId3"/>
          <a:stretch>
            <a:fillRect/>
          </a:stretch>
        </p:blipFill>
        <p:spPr>
          <a:xfrm>
            <a:off x="548640" y="1261872"/>
            <a:ext cx="11094415" cy="28057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Escalation Rule dialog (part 3 of 3)</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cl-13-01-list.png"/>
          <p:cNvPicPr>
            <a:picLocks noChangeAspect="1"/>
          </p:cNvPicPr>
          <p:nvPr/>
        </p:nvPicPr>
        <p:blipFill>
          <a:blip r:embed="rId3"/>
          <a:stretch>
            <a:fillRect/>
          </a:stretch>
        </p:blipFill>
        <p:spPr>
          <a:xfrm>
            <a:off x="1509498" y="1261872"/>
            <a:ext cx="91726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Rules with their row menu: the rules in force and one waiting for authorization</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graphicFrame>
        <p:nvGraphicFramePr>
          <p:cNvPr id="9" name="Table 8"/>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Unapplied payments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payments Cashiering could not apply to an invoice, as of today, read from Cashiering (never copied), by Cashiering tab: the payment and its transaction, the unapplied balance, the matched account, the latest collector disposition and where the payment stands in Cashiering. The collector records a disposition on the selected payment, or asks Cashiering to apply it to an invoice.</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Unapplied Payments</a:t>
                      </a:r>
                    </a:p>
                    <a:p>
                      <a:r>
                        <a:rPr sz="950" b="0">
                          <a:solidFill>
                            <a:srgbClr val="4B4B4B"/>
                          </a:solidFill>
                          <a:latin typeface="Arial"/>
                        </a:rPr>
                        <a:t>Finance › Collections › Unapplied Payments</a:t>
                      </a:r>
                    </a:p>
                    <a:p>
                      <a:r>
                        <a:rPr sz="950" b="0">
                          <a:solidFill>
                            <a:srgbClr val="4B4B4B"/>
                          </a:solidFill>
                          <a:latin typeface="Arial"/>
                        </a:rPr>
                        <a:t>Collections Home › Unapplied Awaiting Disposition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FR-CL-070, FR-CL-071, FR-CL-072, FR-CL-073, FR-CL-074, FR-CL-075, FR-CL-076</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unapplied payment has the collector's disposition and, where needed, a request to Cashiering.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SCR-CL-14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Awaiting Disposition / In Cashiering / For Approval / For Reversal / All Open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The Cashiering tab of the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Unapplied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Reference, payor, transaction, check or invoice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Market Segment / Collector Disposition / Age</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Segment; any, no disposition yet or a value; up to 7, 8 to 30, 31 to 90, over 90 days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Unapplied Reference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UNP-yyyy-nnnnnn with the payor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unapplied payments to display</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Payment / Transaction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Payment date with its age in days; transaction number, payment type, bank and check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Unapplied / Paid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Unapplied balance with the amount paid under it, in the base currency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Matched Account / Segment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Invoice or client matched, assured, segment and account officer; Not Matched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Collector Disposition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Label as a tag with the user's name and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Cashiering / Request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Cashiering tab, and the status of the request sent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Disposition dialog</a:t>
                      </a:r>
                    </a:p>
                  </a:txBody>
                  <a:tcPr marL="54864" marR="54864" marT="27432" marB="27432">
                    <a:solidFill>
                      <a:srgbClr val="E5F5FF"/>
                    </a:solidFill>
                  </a:tcPr>
                </a:tc>
                <a:tc>
                  <a:txBody>
                    <a:bodyPr/>
                    <a:lstStyle/>
                    <a:p>
                      <a:r>
                        <a:rPr sz="850" b="0">
                          <a:solidFill>
                            <a:srgbClr val="4B4B4B"/>
                          </a:solidFill>
                          <a:latin typeface="Arial"/>
                        </a:rPr>
                        <a:t>Disposition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values of the unapplied payment disposition list; what Cashiering is asked to do shows under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disposition</a:t>
                      </a:r>
                    </a:p>
                  </a:txBody>
                  <a:tcPr marL="54864" marR="54864" marT="27432" marB="27432">
                    <a:solidFill>
                      <a:srgbClr val="E5F5FF"/>
                    </a:solidFill>
                  </a:tcPr>
                </a:tc>
              </a:tr>
              <a:tr h="609596">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Disposition dialog</a:t>
                      </a:r>
                    </a:p>
                  </a:txBody>
                  <a:tcPr marL="54864" marR="54864" marT="27432" marB="27432">
                    <a:solidFill>
                      <a:srgbClr val="FFFFFF"/>
                    </a:solidFill>
                  </a:tcPr>
                </a:tc>
                <a:tc>
                  <a:txBody>
                    <a:bodyPr/>
                    <a:lstStyle/>
                    <a:p>
                      <a:r>
                        <a:rPr sz="850" b="0">
                          <a:solidFill>
                            <a:srgbClr val="4B4B4B"/>
                          </a:solidFill>
                          <a:latin typeface="Arial"/>
                        </a:rPr>
                        <a:t>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 legacy invoice I followed by eight digits or a BIBS invoice BI-…, checked against the invoice ledger</a:t>
                      </a:r>
                    </a:p>
                  </a:txBody>
                  <a:tcPr marL="54864" marR="54864" marT="27432" marB="27432">
                    <a:solidFill>
                      <a:srgbClr val="FFFFFF"/>
                    </a:solidFill>
                  </a:tcPr>
                </a:tc>
                <a:tc>
                  <a:txBody>
                    <a:bodyPr/>
                    <a:lstStyle/>
                    <a:p>
                      <a:r>
                        <a:rPr sz="850" b="0">
                          <a:solidFill>
                            <a:srgbClr val="4B4B4B"/>
                          </a:solidFill>
                          <a:latin typeface="Arial"/>
                        </a:rPr>
                        <a:t>Cond.: For application to invoice</a:t>
                      </a:r>
                    </a:p>
                  </a:txBody>
                  <a:tcPr marL="54864" marR="54864" marT="27432" marB="27432">
                    <a:solidFill>
                      <a:srgbClr val="FFFFFF"/>
                    </a:solidFill>
                  </a:tcPr>
                </a:tc>
                <a:tc>
                  <a:txBody>
                    <a:bodyPr/>
                    <a:lstStyle/>
                    <a:p>
                      <a:r>
                        <a:rPr sz="850" b="0">
                          <a:solidFill>
                            <a:srgbClr val="4B4B4B"/>
                          </a:solidFill>
                          <a:latin typeface="Arial"/>
                        </a:rPr>
                        <a:t>Format of the invoice number parameter; invoice in the ledger</a:t>
                      </a:r>
                    </a:p>
                  </a:txBody>
                  <a:tcPr marL="54864" marR="54864" marT="27432" marB="27432">
                    <a:solidFill>
                      <a:srgbClr val="FFFFFF"/>
                    </a:solidFill>
                  </a:tcPr>
                </a:tc>
                <a:tc>
                  <a:txBody>
                    <a:bodyPr/>
                    <a:lstStyle/>
                    <a:p>
                      <a:r>
                        <a:rPr sz="850" b="0">
                          <a:solidFill>
                            <a:srgbClr val="4B4B4B"/>
                          </a:solidFill>
                          <a:latin typeface="Arial"/>
                        </a:rPr>
                        <a:t>The invoice number does not have the expected format</a:t>
                      </a:r>
                    </a:p>
                  </a:txBody>
                  <a:tcPr marL="54864" marR="54864" marT="27432" marB="27432">
                    <a:solidFill>
                      <a:srgbClr val="FFFF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SCR-CL-14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Disposition dialog</a:t>
                      </a:r>
                    </a:p>
                  </a:txBody>
                  <a:tcPr marL="54864" marR="54864" marT="27432" marB="27432">
                    <a:solidFill>
                      <a:srgbClr val="FFFFFF"/>
                    </a:solidFill>
                  </a:tcPr>
                </a:tc>
                <a:tc>
                  <a:txBody>
                    <a:bodyPr/>
                    <a:lstStyle/>
                    <a:p>
                      <a:r>
                        <a:rPr sz="850" b="0">
                          <a:solidFill>
                            <a:srgbClr val="4B4B4B"/>
                          </a:solidFill>
                          <a:latin typeface="Arial"/>
                        </a:rPr>
                        <a:t>Amount / Remarks</a:t>
                      </a:r>
                    </a:p>
                  </a:txBody>
                  <a:tcPr marL="54864" marR="54864" marT="27432" marB="27432">
                    <a:solidFill>
                      <a:srgbClr val="FFFFFF"/>
                    </a:solidFill>
                  </a:tcPr>
                </a:tc>
                <a:tc>
                  <a:txBody>
                    <a:bodyPr/>
                    <a:lstStyle/>
                    <a:p>
                      <a:r>
                        <a:rPr sz="850" b="0">
                          <a:solidFill>
                            <a:srgbClr val="4B4B4B"/>
                          </a:solidFill>
                          <a:latin typeface="Arial"/>
                        </a:rPr>
                        <a:t>Number, text area</a:t>
                      </a:r>
                    </a:p>
                  </a:txBody>
                  <a:tcPr marL="54864" marR="54864" marT="27432" marB="27432">
                    <a:solidFill>
                      <a:srgbClr val="FFFFFF"/>
                    </a:solidFill>
                  </a:tcPr>
                </a:tc>
                <a:tc>
                  <a:txBody>
                    <a:bodyPr/>
                    <a:lstStyle/>
                    <a:p>
                      <a:r>
                        <a:rPr sz="850" b="0">
                          <a:solidFill>
                            <a:srgbClr val="4B4B4B"/>
                          </a:solidFill>
                          <a:latin typeface="Arial"/>
                        </a:rPr>
                        <a:t>Empty for the whole unapplied balance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Above zero and at most the balance</a:t>
                      </a:r>
                    </a:p>
                  </a:txBody>
                  <a:tcPr marL="54864" marR="54864" marT="27432" marB="27432">
                    <a:solidFill>
                      <a:srgbClr val="FFFFFF"/>
                    </a:solidFill>
                  </a:tcPr>
                </a:tc>
                <a:tc>
                  <a:txBody>
                    <a:bodyPr/>
                    <a:lstStyle/>
                    <a:p>
                      <a:r>
                        <a:rPr sz="850" b="0">
                          <a:solidFill>
                            <a:srgbClr val="4B4B4B"/>
                          </a:solidFill>
                          <a:latin typeface="Arial"/>
                        </a:rPr>
                        <a:t>Enter an amount above zero and at most &lt;balance&gt;</a:t>
                      </a:r>
                    </a:p>
                  </a:txBody>
                  <a:tcPr marL="54864" marR="54864" marT="27432" marB="27432">
                    <a:solidFill>
                      <a:srgbClr val="FFFF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Requests to Cashiering</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requests sent to Cashiering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Record Disposition</a:t>
                      </a:r>
                    </a:p>
                  </a:txBody>
                  <a:tcPr marL="54864" marR="54864" marT="27432" marB="27432">
                    <a:solidFill>
                      <a:srgbClr val="E5F5FF"/>
                    </a:solidFill>
                  </a:tcPr>
                </a:tc>
                <a:tc>
                  <a:txBody>
                    <a:bodyPr/>
                    <a:lstStyle/>
                    <a:p>
                      <a:r>
                        <a:rPr sz="850" b="0">
                          <a:solidFill>
                            <a:srgbClr val="4B4B4B"/>
                          </a:solidFill>
                          <a:latin typeface="Arial"/>
                        </a:rPr>
                        <a:t>Users with the unapplied work permission</a:t>
                      </a:r>
                    </a:p>
                  </a:txBody>
                  <a:tcPr marL="54864" marR="54864" marT="27432" marB="27432">
                    <a:solidFill>
                      <a:srgbClr val="E5F5FF"/>
                    </a:solidFill>
                  </a:tcPr>
                </a:tc>
                <a:tc>
                  <a:txBody>
                    <a:bodyPr/>
                    <a:lstStyle/>
                    <a:p>
                      <a:r>
                        <a:rPr sz="850" b="0">
                          <a:solidFill>
                            <a:srgbClr val="4B4B4B"/>
                          </a:solidFill>
                          <a:latin typeface="Arial"/>
                        </a:rPr>
                        <a:t>One payment selected</a:t>
                      </a:r>
                    </a:p>
                  </a:txBody>
                  <a:tcPr marL="54864" marR="54864" marT="27432" marB="27432">
                    <a:solidFill>
                      <a:srgbClr val="E5F5FF"/>
                    </a:solidFill>
                  </a:tcPr>
                </a:tc>
                <a:tc>
                  <a:txBody>
                    <a:bodyPr/>
                    <a:lstStyle/>
                    <a:p>
                      <a:r>
                        <a:rPr sz="850" b="0">
                          <a:solidFill>
                            <a:srgbClr val="4B4B4B"/>
                          </a:solidFill>
                          <a:latin typeface="Arial"/>
                        </a:rPr>
                        <a:t>Opens the disposition dialog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Application</a:t>
                      </a:r>
                    </a:p>
                  </a:txBody>
                  <a:tcPr marL="54864" marR="54864" marT="27432" marB="27432">
                    <a:solidFill>
                      <a:srgbClr val="FFFFFF"/>
                    </a:solidFill>
                  </a:tcPr>
                </a:tc>
                <a:tc>
                  <a:txBody>
                    <a:bodyPr/>
                    <a:lstStyle/>
                    <a:p>
                      <a:r>
                        <a:rPr sz="850" b="0">
                          <a:solidFill>
                            <a:srgbClr val="4B4B4B"/>
                          </a:solidFill>
                          <a:latin typeface="Arial"/>
                        </a:rPr>
                        <a:t>Users with the unapplied work permission</a:t>
                      </a:r>
                    </a:p>
                  </a:txBody>
                  <a:tcPr marL="54864" marR="54864" marT="27432" marB="27432">
                    <a:solidFill>
                      <a:srgbClr val="FFFFFF"/>
                    </a:solidFill>
                  </a:tcPr>
                </a:tc>
                <a:tc>
                  <a:txBody>
                    <a:bodyPr/>
                    <a:lstStyle/>
                    <a:p>
                      <a:r>
                        <a:rPr sz="850" b="0">
                          <a:solidFill>
                            <a:srgbClr val="4B4B4B"/>
                          </a:solidFill>
                          <a:latin typeface="Arial"/>
                        </a:rPr>
                        <a:t>One payment selected</a:t>
                      </a:r>
                    </a:p>
                  </a:txBody>
                  <a:tcPr marL="54864" marR="54864" marT="27432" marB="27432">
                    <a:solidFill>
                      <a:srgbClr val="FFFFFF"/>
                    </a:solidFill>
                  </a:tcPr>
                </a:tc>
                <a:tc>
                  <a:txBody>
                    <a:bodyPr/>
                    <a:lstStyle/>
                    <a:p>
                      <a:r>
                        <a:rPr sz="850" b="0">
                          <a:solidFill>
                            <a:srgbClr val="4B4B4B"/>
                          </a:solidFill>
                          <a:latin typeface="Arial"/>
                        </a:rPr>
                        <a:t>Opens the dialog with For Application to Invoice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Disposition / Request Application (dialog)</a:t>
                      </a:r>
                    </a:p>
                  </a:txBody>
                  <a:tcPr marL="54864" marR="54864" marT="27432" marB="27432">
                    <a:solidFill>
                      <a:srgbClr val="E5F5FF"/>
                    </a:solidFill>
                  </a:tcPr>
                </a:tc>
                <a:tc>
                  <a:txBody>
                    <a:bodyPr/>
                    <a:lstStyle/>
                    <a:p>
                      <a:r>
                        <a:rPr sz="850" b="0">
                          <a:solidFill>
                            <a:srgbClr val="4B4B4B"/>
                          </a:solidFill>
                          <a:latin typeface="Arial"/>
                        </a:rPr>
                        <a:t>Users with the unapplied work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Records the disposition; a value with a Cashiering action sends a request to the Incoming Requests of Cashiering</a:t>
                      </a:r>
                    </a:p>
                  </a:txBody>
                  <a:tcPr marL="54864" marR="54864" marT="27432" marB="27432">
                    <a:solidFill>
                      <a:srgbClr val="E5F5FF"/>
                    </a:solidFill>
                  </a:tcPr>
                </a:tc>
                <a:tc>
                  <a:txBody>
                    <a:bodyPr/>
                    <a:lstStyle/>
                    <a:p>
                      <a:r>
                        <a:rPr sz="850" b="0">
                          <a:solidFill>
                            <a:srgbClr val="4B4B4B"/>
                          </a:solidFill>
                          <a:latin typeface="Arial"/>
                        </a:rPr>
                        <a:t>Request Sent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unapplied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active values of the unapplied payment disposition list can be chosen (FR-CL-072, FR-CL-073).</a:t>
                      </a:r>
                    </a:p>
                  </a:txBody>
                  <a:tcPr marL="54864" marR="54864" marT="27432" marB="27432">
                    <a:solidFill>
                      <a:srgbClr val="FFFFFF"/>
                    </a:solidFill>
                  </a:tcPr>
                </a:tc>
              </a:tr>
              <a:tr h="243840">
                <a:tc>
                  <a:txBody>
                    <a:bodyPr/>
                    <a:lstStyle/>
                    <a:p>
                      <a:r>
                        <a:rPr sz="1000" b="0">
                          <a:solidFill>
                            <a:srgbClr val="4B4B4B"/>
                          </a:solidFill>
                          <a:latin typeface="Arial"/>
                        </a:rPr>
                        <a:t>For Application to Invoice needs an invoice number in the format of the invoice number parameter that exists in the invoice ledger (FR-CL-075).</a:t>
                      </a:r>
                    </a:p>
                  </a:txBody>
                  <a:tcPr marL="54864" marR="54864" marT="27432" marB="27432">
                    <a:solidFill>
                      <a:srgbClr val="E5F5FF"/>
                    </a:solidFill>
                  </a:tcPr>
                </a:tc>
              </a:tr>
              <a:tr h="243840">
                <a:tc>
                  <a:txBody>
                    <a:bodyPr/>
                    <a:lstStyle/>
                    <a:p>
                      <a:r>
                        <a:rPr sz="1000" b="0">
                          <a:solidFill>
                            <a:srgbClr val="4B4B4B"/>
                          </a:solidFill>
                          <a:latin typeface="Arial"/>
                        </a:rPr>
                        <a:t>A value with a Cashiering action sends a request to Cashiering, which applies, refunds, reclassifies or transfers the payment with its own approvals (FR-CL-074).</a:t>
                      </a:r>
                    </a:p>
                  </a:txBody>
                  <a:tcPr marL="54864" marR="54864" marT="27432" marB="27432">
                    <a:solidFill>
                      <a:srgbClr val="FFFFFF"/>
                    </a:solidFill>
                  </a:tcPr>
                </a:tc>
              </a:tr>
              <a:tr h="243840">
                <a:tc>
                  <a:txBody>
                    <a:bodyPr/>
                    <a:lstStyle/>
                    <a:p>
                      <a:r>
                        <a:rPr sz="1000" b="0">
                          <a:solidFill>
                            <a:srgbClr val="4B4B4B"/>
                          </a:solidFill>
                          <a:latin typeface="Arial"/>
                        </a:rPr>
                        <a:t>Dispositions are never deleted; the history stays after the payment is applied or refunded (FR-CL-076).</a:t>
                      </a:r>
                    </a:p>
                  </a:txBody>
                  <a:tcPr marL="54864" marR="54864" marT="27432" marB="27432">
                    <a:solidFill>
                      <a:srgbClr val="E5F5FF"/>
                    </a:solidFill>
                  </a:tcPr>
                </a:tc>
              </a:tr>
            </a:tbl>
          </a:graphicData>
        </a:graphic>
      </p:graphicFrame>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4</a:t>
                      </a:r>
                    </a:p>
                  </a:txBody>
                  <a:tcPr marL="54864" marR="54864" marT="27432" marB="27432">
                    <a:solidFill>
                      <a:srgbClr val="FFFFFF"/>
                    </a:solidFill>
                  </a:tcPr>
                </a:tc>
                <a:tc>
                  <a:txBody>
                    <a:bodyPr/>
                    <a:lstStyle/>
                    <a:p>
                      <a:r>
                        <a:rPr sz="900" b="0">
                          <a:solidFill>
                            <a:srgbClr val="4B4B4B"/>
                          </a:solidFill>
                          <a:latin typeface="Arial"/>
                        </a:rPr>
                        <a:t>Requests the application of a payment to an invoice number in the wrong format</a:t>
                      </a:r>
                    </a:p>
                  </a:txBody>
                  <a:tcPr marL="54864" marR="54864" marT="27432" marB="27432">
                    <a:solidFill>
                      <a:srgbClr val="FFFFFF"/>
                    </a:solidFill>
                  </a:tcPr>
                </a:tc>
                <a:tc>
                  <a:txBody>
                    <a:bodyPr/>
                    <a:lstStyle/>
                    <a:p>
                      <a:r>
                        <a:rPr sz="900" b="0">
                          <a:solidFill>
                            <a:srgbClr val="4B4B4B"/>
                          </a:solidFill>
                          <a:latin typeface="Arial"/>
                        </a:rPr>
                        <a:t>SCR-CL-14_wt-e-step-04.png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1</a:t>
                      </a:r>
                    </a:p>
                  </a:txBody>
                  <a:tcPr marL="54864" marR="54864" marT="27432" marB="27432">
                    <a:solidFill>
                      <a:srgbClr val="E5F5FF"/>
                    </a:solidFill>
                  </a:tcPr>
                </a:tc>
                <a:tc>
                  <a:txBody>
                    <a:bodyPr/>
                    <a:lstStyle/>
                    <a:p>
                      <a:r>
                        <a:rPr sz="900" b="0">
                          <a:solidFill>
                            <a:srgbClr val="4B4B4B"/>
                          </a:solidFill>
                          <a:latin typeface="Arial"/>
                        </a:rPr>
                        <a:t>Selects the payment, clicks Request Application and enters the invoice number</a:t>
                      </a:r>
                    </a:p>
                  </a:txBody>
                  <a:tcPr marL="54864" marR="54864" marT="27432" marB="27432">
                    <a:solidFill>
                      <a:srgbClr val="E5F5FF"/>
                    </a:solidFill>
                  </a:tcPr>
                </a:tc>
                <a:tc>
                  <a:txBody>
                    <a:bodyPr/>
                    <a:lstStyle/>
                    <a:p>
                      <a:r>
                        <a:rPr sz="900" b="0">
                          <a:solidFill>
                            <a:srgbClr val="4B4B4B"/>
                          </a:solidFill>
                          <a:latin typeface="Arial"/>
                        </a:rPr>
                        <a:t>SCR-CL-14_wt-c-step-01.png</a:t>
                      </a:r>
                    </a:p>
                  </a:txBody>
                  <a:tcPr marL="54864" marR="54864" marT="27432" marB="27432">
                    <a:solidFill>
                      <a:srgbClr val="E5F5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8.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 Application: the disposition For Application to Invoice with the invoice number (part 1 of 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9.png"/>
          <p:cNvPicPr>
            <a:picLocks noChangeAspect="1"/>
          </p:cNvPicPr>
          <p:nvPr/>
        </p:nvPicPr>
        <p:blipFill>
          <a:blip r:embed="rId3"/>
          <a:stretch>
            <a:fillRect/>
          </a:stretch>
        </p:blipFill>
        <p:spPr>
          <a:xfrm>
            <a:off x="548640" y="1261872"/>
            <a:ext cx="11094415" cy="265377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 Application: the disposition For Application to Invoice with the invoice number (part 2 of 2)</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with the Filters panel open (part 1 of 2)</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1.png"/>
          <p:cNvPicPr>
            <a:picLocks noChangeAspect="1"/>
          </p:cNvPicPr>
          <p:nvPr/>
        </p:nvPicPr>
        <p:blipFill>
          <a:blip r:embed="rId3"/>
          <a:stretch>
            <a:fillRect/>
          </a:stretch>
        </p:blipFill>
        <p:spPr>
          <a:xfrm>
            <a:off x="548640" y="1261872"/>
            <a:ext cx="11094415" cy="37491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with the Filters panel open (part 2 of 2)</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2.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invoice number in the wrong format is refused under the field (part 1 of 2)</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3.png"/>
          <p:cNvPicPr>
            <a:picLocks noChangeAspect="1"/>
          </p:cNvPicPr>
          <p:nvPr/>
        </p:nvPicPr>
        <p:blipFill>
          <a:blip r:embed="rId3"/>
          <a:stretch>
            <a:fillRect/>
          </a:stretch>
        </p:blipFill>
        <p:spPr>
          <a:xfrm>
            <a:off x="548640" y="1261872"/>
            <a:ext cx="11094415" cy="29343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invoice number in the wrong format is refused under the field (part 2 of 2)</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4.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awaiting a disposition, with the matched account and the Cashiering status (part 1 of 2)</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5.png"/>
          <p:cNvPicPr>
            <a:picLocks noChangeAspect="1"/>
          </p:cNvPicPr>
          <p:nvPr/>
        </p:nvPicPr>
        <p:blipFill>
          <a:blip r:embed="rId3"/>
          <a:stretch>
            <a:fillRect/>
          </a:stretch>
        </p:blipFill>
        <p:spPr>
          <a:xfrm>
            <a:off x="548640" y="1261872"/>
            <a:ext cx="11094415" cy="28405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awaiting a disposition, with the matched account and the Cashiering status (part 2 of 2)</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Unapplied payments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unapplied payment as the collector sees it: the payment and the matched account, the collector dispositions, the requests sent to Cashiering with their status, and the whole history kept after the payment is applied or refunded.</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Unapplied Payments › Unapplied Payment</a:t>
                      </a:r>
                    </a:p>
                    <a:p>
                      <a:r>
                        <a:rPr sz="950" b="0">
                          <a:solidFill>
                            <a:srgbClr val="4B4B4B"/>
                          </a:solidFill>
                          <a:latin typeface="Arial"/>
                        </a:rPr>
                        <a:t>Unapplied Payments › open a row</a:t>
                      </a:r>
                    </a:p>
                    <a:p>
                      <a:r>
                        <a:rPr sz="950" b="0">
                          <a:solidFill>
                            <a:srgbClr val="4B4B4B"/>
                          </a:solidFill>
                          <a:latin typeface="Arial"/>
                        </a:rPr>
                        <a:t>Requests to Cashiering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FR-CL-070, FR-CL-073, FR-CL-074, FR-CL-076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payment, what was decided and where Cashiering is with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graphicFrame>
        <p:nvGraphicFramePr>
          <p:cNvPr id="9" name="Table 8"/>
          <p:cNvGraphicFramePr>
            <a:graphicFrameLocks noGrp="1"/>
          </p:cNvGraphicFramePr>
          <p:nvPr/>
        </p:nvGraphicFramePr>
        <p:xfrm>
          <a:off x="548640" y="1325880"/>
          <a:ext cx="11094411" cy="43205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Unapplied chip, Cashiering tab, request status</a:t>
                      </a:r>
                    </a:p>
                  </a:txBody>
                  <a:tcPr marL="54864" marR="54864" marT="27432" marB="27432">
                    <a:solidFill>
                      <a:srgbClr val="FFFFFF"/>
                    </a:solidFill>
                  </a:tcPr>
                </a:tc>
                <a:tc>
                  <a:txBody>
                    <a:bodyPr/>
                    <a:lstStyle/>
                    <a:p>
                      <a:r>
                        <a:rPr sz="850" b="0">
                          <a:solidFill>
                            <a:srgbClr val="4B4B4B"/>
                          </a:solidFill>
                          <a:latin typeface="Arial"/>
                        </a:rPr>
                        <a:t>Reference chip, tag, status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Payment Date / Paid / Unapplied / Transaction / Collector Disposition / Account Officer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Date with the age; amounts with the currency; label;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Payment &amp; Account / Collector Dispositions / Requests to Cashiering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Payment &amp; Account</a:t>
                      </a:r>
                    </a:p>
                  </a:txBody>
                  <a:tcPr marL="54864" marR="54864" marT="27432" marB="27432">
                    <a:solidFill>
                      <a:srgbClr val="E5F5FF"/>
                    </a:solidFill>
                  </a:tcPr>
                </a:tc>
                <a:tc>
                  <a:txBody>
                    <a:bodyPr/>
                    <a:lstStyle/>
                    <a:p>
                      <a:r>
                        <a:rPr sz="850" b="0">
                          <a:solidFill>
                            <a:srgbClr val="4B4B4B"/>
                          </a:solidFill>
                          <a:latin typeface="Arial"/>
                        </a:rPr>
                        <a:t>Payment File / Transaction No. / Payment Type / Bank / Check No. / Payor Reference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Payment &amp; Account</a:t>
                      </a:r>
                    </a:p>
                  </a:txBody>
                  <a:tcPr marL="54864" marR="54864" marT="27432" marB="27432">
                    <a:solidFill>
                      <a:srgbClr val="FFFFFF"/>
                    </a:solidFill>
                  </a:tcPr>
                </a:tc>
                <a:tc>
                  <a:txBody>
                    <a:bodyPr/>
                    <a:lstStyle/>
                    <a:p>
                      <a:r>
                        <a:rPr sz="850" b="0">
                          <a:solidFill>
                            <a:srgbClr val="4B4B4B"/>
                          </a:solidFill>
                          <a:latin typeface="Arial"/>
                        </a:rPr>
                        <a:t>Matched Client / Matched Invoice / Name of Assured / PR Balance / Inception / Market Segment / Sales Unit / Unit Head / Account Officer / Insurer / Invoice Category / Collection Handler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Names of the users; insurer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Collector Dispositions</a:t>
                      </a:r>
                    </a:p>
                  </a:txBody>
                  <a:tcPr marL="54864" marR="54864" marT="27432" marB="27432">
                    <a:solidFill>
                      <a:srgbClr val="E5F5FF"/>
                    </a:solidFill>
                  </a:tcPr>
                </a:tc>
                <a:tc>
                  <a:txBody>
                    <a:bodyPr/>
                    <a:lstStyle/>
                    <a:p>
                      <a:r>
                        <a:rPr sz="850" b="0">
                          <a:solidFill>
                            <a:srgbClr val="4B4B4B"/>
                          </a:solidFill>
                          <a:latin typeface="Arial"/>
                        </a:rPr>
                        <a:t>Recorded / Disposition / Cashiering / Invoice No. / Amount / By / Remarks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Whole balance when no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collector disposition yet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Requests to Cashiering</a:t>
                      </a:r>
                    </a:p>
                  </a:txBody>
                  <a:tcPr marL="54864" marR="54864" marT="27432" marB="27432">
                    <a:solidFill>
                      <a:srgbClr val="FFFFFF"/>
                    </a:solidFill>
                  </a:tcPr>
                </a:tc>
                <a:tc>
                  <a:txBody>
                    <a:bodyPr/>
                    <a:lstStyle/>
                    <a:p>
                      <a:r>
                        <a:rPr sz="850" b="0">
                          <a:solidFill>
                            <a:srgbClr val="4B4B4B"/>
                          </a:solidFill>
                          <a:latin typeface="Arial"/>
                        </a:rPr>
                        <a:t>Unapplied Reference / Request / Amount / Requested By / Cashiering Reference / Application File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request sent to Cashiering</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When / Event / Description / Amount / By / Reference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history</a:t>
                      </a:r>
                    </a:p>
                  </a:txBody>
                  <a:tcPr marL="54864" marR="54864" marT="27432" marB="27432">
                    <a:solidFill>
                      <a:srgbClr val="E5F5FF"/>
                    </a:solidFill>
                  </a:tcPr>
                </a:tc>
              </a:tr>
            </a:tbl>
          </a:graphicData>
        </a:graphic>
      </p:graphicFrame>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Record Disposition</a:t>
                      </a:r>
                    </a:p>
                  </a:txBody>
                  <a:tcPr marL="54864" marR="54864" marT="27432" marB="27432">
                    <a:solidFill>
                      <a:srgbClr val="FFFFFF"/>
                    </a:solidFill>
                  </a:tcPr>
                </a:tc>
                <a:tc>
                  <a:txBody>
                    <a:bodyPr/>
                    <a:lstStyle/>
                    <a:p>
                      <a:r>
                        <a:rPr sz="850" b="0">
                          <a:solidFill>
                            <a:srgbClr val="4B4B4B"/>
                          </a:solidFill>
                          <a:latin typeface="Arial"/>
                        </a:rPr>
                        <a:t>Users with the unapplied work permission</a:t>
                      </a:r>
                    </a:p>
                  </a:txBody>
                  <a:tcPr marL="54864" marR="54864" marT="27432" marB="27432">
                    <a:solidFill>
                      <a:srgbClr val="FFFFFF"/>
                    </a:solidFill>
                  </a:tcPr>
                </a:tc>
                <a:tc>
                  <a:txBody>
                    <a:bodyPr/>
                    <a:lstStyle/>
                    <a:p>
                      <a:r>
                        <a:rPr sz="850" b="0">
                          <a:solidFill>
                            <a:srgbClr val="4B4B4B"/>
                          </a:solidFill>
                          <a:latin typeface="Arial"/>
                        </a:rPr>
                        <a:t>Balance above zero</a:t>
                      </a:r>
                    </a:p>
                  </a:txBody>
                  <a:tcPr marL="54864" marR="54864" marT="27432" marB="27432">
                    <a:solidFill>
                      <a:srgbClr val="FFFFFF"/>
                    </a:solidFill>
                  </a:tcPr>
                </a:tc>
                <a:tc>
                  <a:txBody>
                    <a:bodyPr/>
                    <a:lstStyle/>
                    <a:p>
                      <a:r>
                        <a:rPr sz="850" b="0">
                          <a:solidFill>
                            <a:srgbClr val="4B4B4B"/>
                          </a:solidFill>
                          <a:latin typeface="Arial"/>
                        </a:rPr>
                        <a:t>Opens the disposition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Request Application</a:t>
                      </a:r>
                    </a:p>
                  </a:txBody>
                  <a:tcPr marL="54864" marR="54864" marT="27432" marB="27432">
                    <a:solidFill>
                      <a:srgbClr val="E5F5FF"/>
                    </a:solidFill>
                  </a:tcPr>
                </a:tc>
                <a:tc>
                  <a:txBody>
                    <a:bodyPr/>
                    <a:lstStyle/>
                    <a:p>
                      <a:r>
                        <a:rPr sz="850" b="0">
                          <a:solidFill>
                            <a:srgbClr val="4B4B4B"/>
                          </a:solidFill>
                          <a:latin typeface="Arial"/>
                        </a:rPr>
                        <a:t>Users with the unapplied work permission</a:t>
                      </a:r>
                    </a:p>
                  </a:txBody>
                  <a:tcPr marL="54864" marR="54864" marT="27432" marB="27432">
                    <a:solidFill>
                      <a:srgbClr val="E5F5FF"/>
                    </a:solidFill>
                  </a:tcPr>
                </a:tc>
                <a:tc>
                  <a:txBody>
                    <a:bodyPr/>
                    <a:lstStyle/>
                    <a:p>
                      <a:r>
                        <a:rPr sz="850" b="0">
                          <a:solidFill>
                            <a:srgbClr val="4B4B4B"/>
                          </a:solidFill>
                          <a:latin typeface="Arial"/>
                        </a:rPr>
                        <a:t>Balance above zero</a:t>
                      </a:r>
                    </a:p>
                  </a:txBody>
                  <a:tcPr marL="54864" marR="54864" marT="27432" marB="27432">
                    <a:solidFill>
                      <a:srgbClr val="E5F5FF"/>
                    </a:solidFill>
                  </a:tcPr>
                </a:tc>
                <a:tc>
                  <a:txBody>
                    <a:bodyPr/>
                    <a:lstStyle/>
                    <a:p>
                      <a:r>
                        <a:rPr sz="850" b="0">
                          <a:solidFill>
                            <a:srgbClr val="4B4B4B"/>
                          </a:solidFill>
                          <a:latin typeface="Arial"/>
                        </a:rPr>
                        <a:t>Opens the dialog with For Application to Invoice chosen</a:t>
                      </a:r>
                    </a:p>
                  </a:txBody>
                  <a:tcPr marL="54864" marR="54864" marT="27432" marB="27432">
                    <a:solidFill>
                      <a:srgbClr val="E5F5FF"/>
                    </a:solidFill>
                  </a:tcPr>
                </a:tc>
                <a:tc>
                  <a:txBody>
                    <a:bodyPr/>
                    <a:lstStyle/>
                    <a:p>
                      <a:r>
                        <a:rPr sz="850" b="0">
                          <a:solidFill>
                            <a:srgbClr val="4B4B4B"/>
                          </a:solidFill>
                          <a:latin typeface="Arial"/>
                        </a:rPr>
                        <a:t>Request Sent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payment is read from Cashiering as of today; the collector never changes the payment itself (FR-CL-070).</a:t>
                      </a:r>
                    </a:p>
                  </a:txBody>
                  <a:tcPr marL="54864" marR="54864" marT="27432" marB="27432">
                    <a:solidFill>
                      <a:srgbClr val="FFFFFF"/>
                    </a:solidFill>
                  </a:tcPr>
                </a:tc>
              </a:tr>
              <a:tr h="243840">
                <a:tc>
                  <a:txBody>
                    <a:bodyPr/>
                    <a:lstStyle/>
                    <a:p>
                      <a:r>
                        <a:rPr sz="1000" b="0">
                          <a:solidFill>
                            <a:srgbClr val="4B4B4B"/>
                          </a:solidFill>
                          <a:latin typeface="Arial"/>
                        </a:rPr>
                        <a:t>The history keeps every disposition and request after the payment is applied or refunded (FR-CL-076).</a:t>
                      </a:r>
                    </a:p>
                  </a:txBody>
                  <a:tcPr marL="54864" marR="54864" marT="27432" marB="27432">
                    <a:solidFill>
                      <a:srgbClr val="E5F5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WT-C step 5</a:t>
                      </a:r>
                    </a:p>
                  </a:txBody>
                  <a:tcPr marL="54864" marR="54864" marT="27432" marB="27432">
                    <a:solidFill>
                      <a:srgbClr val="FFFFFF"/>
                    </a:solidFill>
                  </a:tcPr>
                </a:tc>
                <a:tc>
                  <a:txBody>
                    <a:bodyPr/>
                    <a:lstStyle/>
                    <a:p>
                      <a:r>
                        <a:rPr sz="900" b="0">
                          <a:solidFill>
                            <a:srgbClr val="4B4B4B"/>
                          </a:solidFill>
                          <a:latin typeface="Arial"/>
                        </a:rPr>
                        <a:t>Opens the unapplied payment, History tab</a:t>
                      </a:r>
                    </a:p>
                  </a:txBody>
                  <a:tcPr marL="54864" marR="54864" marT="27432" marB="27432">
                    <a:solidFill>
                      <a:srgbClr val="FFFFFF"/>
                    </a:solidFill>
                  </a:tcPr>
                </a:tc>
                <a:tc>
                  <a:txBody>
                    <a:bodyPr/>
                    <a:lstStyle/>
                    <a:p>
                      <a:r>
                        <a:rPr sz="900" b="0">
                          <a:solidFill>
                            <a:srgbClr val="4B4B4B"/>
                          </a:solidFill>
                          <a:latin typeface="Arial"/>
                        </a:rPr>
                        <a:t>SCR-CL-15_wt-c-step-05.png</a:t>
                      </a:r>
                    </a:p>
                  </a:txBody>
                  <a:tcPr marL="54864" marR="54864" marT="27432" marB="27432">
                    <a:solidFill>
                      <a:srgbClr val="FFFF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Unapplied Payment: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the payment and the matched account (part 1 of 2)</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Unapplied Payment: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7.png"/>
          <p:cNvPicPr>
            <a:picLocks noChangeAspect="1"/>
          </p:cNvPicPr>
          <p:nvPr/>
        </p:nvPicPr>
        <p:blipFill>
          <a:blip r:embed="rId3"/>
          <a:stretch>
            <a:fillRect/>
          </a:stretch>
        </p:blipFill>
        <p:spPr>
          <a:xfrm>
            <a:off x="548640" y="1261872"/>
            <a:ext cx="11094415" cy="31657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the payment and the matched account (part 2 of 2)</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SCR-CL-15 Unapplied Payment: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8.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of an unapplied payment with the dispositions and the request to Cashiering (part 1 of 2)</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SCR-CL-15 Unapplied Payment: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9.png"/>
          <p:cNvPicPr>
            <a:picLocks noChangeAspect="1"/>
          </p:cNvPicPr>
          <p:nvPr/>
        </p:nvPicPr>
        <p:blipFill>
          <a:blip r:embed="rId3"/>
          <a:stretch>
            <a:fillRect/>
          </a:stretch>
        </p:blipFill>
        <p:spPr>
          <a:xfrm>
            <a:off x="548640" y="1261872"/>
            <a:ext cx="11094415" cy="39499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of an unapplied payment with the dispositions and the request to Cashiering (part 2 of 2)</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Requests to Cashiering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Unapplied payments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status of every request sent to Cashiering on a collector disposition: sent, handed over, accepted, executed or rejected, with the Cashiering reference and message and the daily application file that listed it; Check Status asks Cashiering again for the selected open requests.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Requests to Cashiering</a:t>
                      </a:r>
                    </a:p>
                    <a:p>
                      <a:r>
                        <a:rPr sz="950" b="0">
                          <a:solidFill>
                            <a:srgbClr val="4B4B4B"/>
                          </a:solidFill>
                          <a:latin typeface="Arial"/>
                        </a:rPr>
                        <a:t>Finance › Collections › Requests to Cashiering</a:t>
                      </a:r>
                    </a:p>
                    <a:p>
                      <a:r>
                        <a:rPr sz="950" b="0">
                          <a:solidFill>
                            <a:srgbClr val="4B4B4B"/>
                          </a:solidFill>
                          <a:latin typeface="Arial"/>
                        </a:rPr>
                        <a:t>Unapplied Payments › Requests to Cashiering</a:t>
                      </a:r>
                    </a:p>
                    <a:p>
                      <a:r>
                        <a:rPr sz="950" b="0">
                          <a:solidFill>
                            <a:srgbClr val="4B4B4B"/>
                          </a:solidFill>
                          <a:latin typeface="Arial"/>
                        </a:rPr>
                        <a:t>Collections Home › My Requests in Cashiering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FR-CL-074, FR-CL-077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follows each request to its execution.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1" cy="201166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 Executed / Rejected / All Requests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Unapplied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Unapplied Reference / Request / Amount / Requested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Reference with the payor; Apply to Invoice, Refund, Reclass or Transfer to Unit with the invoice; amount or Whole Balance; name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requests to display</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Cashiering Reference / Application File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Reference and message of Cashiering; the date of the daily file; Sent, Deferred, Accepted, Applied or Rejected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Check Status</a:t>
                      </a:r>
                    </a:p>
                  </a:txBody>
                  <a:tcPr marL="54864" marR="54864" marT="27432" marB="27432">
                    <a:solidFill>
                      <a:srgbClr val="FFFFFF"/>
                    </a:solidFill>
                  </a:tcPr>
                </a:tc>
                <a:tc>
                  <a:txBody>
                    <a:bodyPr/>
                    <a:lstStyle/>
                    <a:p>
                      <a:r>
                        <a:rPr sz="850" b="0">
                          <a:solidFill>
                            <a:srgbClr val="4B4B4B"/>
                          </a:solidFill>
                          <a:latin typeface="Arial"/>
                        </a:rPr>
                        <a:t>Users with the unapplied work permission</a:t>
                      </a:r>
                    </a:p>
                  </a:txBody>
                  <a:tcPr marL="54864" marR="54864" marT="27432" marB="27432">
                    <a:solidFill>
                      <a:srgbClr val="FFFFFF"/>
                    </a:solidFill>
                  </a:tcPr>
                </a:tc>
                <a:tc>
                  <a:txBody>
                    <a:bodyPr/>
                    <a:lstStyle/>
                    <a:p>
                      <a:r>
                        <a:rPr sz="850" b="0">
                          <a:solidFill>
                            <a:srgbClr val="4B4B4B"/>
                          </a:solidFill>
                          <a:latin typeface="Arial"/>
                        </a:rPr>
                        <a:t>Open requests selected</a:t>
                      </a:r>
                    </a:p>
                  </a:txBody>
                  <a:tcPr marL="54864" marR="54864" marT="27432" marB="27432">
                    <a:solidFill>
                      <a:srgbClr val="FFFFFF"/>
                    </a:solidFill>
                  </a:tcPr>
                </a:tc>
                <a:tc>
                  <a:txBody>
                    <a:bodyPr/>
                    <a:lstStyle/>
                    <a:p>
                      <a:r>
                        <a:rPr sz="850" b="0">
                          <a:solidFill>
                            <a:srgbClr val="4B4B4B"/>
                          </a:solidFill>
                          <a:latin typeface="Arial"/>
                        </a:rPr>
                        <a:t>Asks Cashiering for the status of each selected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Every Collections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unapplied payment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requester is notified when Cashiering accepts, rejects or executes a request (FR-CL-074).</a:t>
                      </a:r>
                    </a:p>
                  </a:txBody>
                  <a:tcPr marL="54864" marR="54864" marT="27432" marB="27432">
                    <a:solidFill>
                      <a:srgbClr val="FFFFFF"/>
                    </a:solidFill>
                  </a:tcPr>
                </a:tc>
              </a:tr>
              <a:tr h="243840">
                <a:tc>
                  <a:txBody>
                    <a:bodyPr/>
                    <a:lstStyle/>
                    <a:p>
                      <a:r>
                        <a:rPr sz="1000" b="0">
                          <a:solidFill>
                            <a:srgbClr val="4B4B4B"/>
                          </a:solidFill>
                          <a:latin typeface="Arial"/>
                        </a:rPr>
                        <a:t>The daily For Application To Invoice file of the previous day lists the application requests before 06:00 (FR-CL-077).</a:t>
                      </a:r>
                    </a:p>
                  </a:txBody>
                  <a:tcPr marL="54864" marR="54864" marT="27432" marB="27432">
                    <a:solidFill>
                      <a:srgbClr val="E5F5FF"/>
                    </a:solidFill>
                  </a:tcPr>
                </a:tc>
              </a:tr>
            </a:tbl>
          </a:graphicData>
        </a:graphic>
      </p:graphicFrame>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Opens the Executed tab of Requests to Cashiering</a:t>
                      </a:r>
                    </a:p>
                  </a:txBody>
                  <a:tcPr marL="54864" marR="54864" marT="27432" marB="27432">
                    <a:solidFill>
                      <a:srgbClr val="FFFFFF"/>
                    </a:solidFill>
                  </a:tcPr>
                </a:tc>
                <a:tc>
                  <a:txBody>
                    <a:bodyPr/>
                    <a:lstStyle/>
                    <a:p>
                      <a:r>
                        <a:rPr sz="900" b="0">
                          <a:solidFill>
                            <a:srgbClr val="4B4B4B"/>
                          </a:solidFill>
                          <a:latin typeface="Arial"/>
                        </a:rPr>
                        <a:t>SCR-CL-16_wt-c-step-04.png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WT-C step 2</a:t>
                      </a:r>
                    </a:p>
                  </a:txBody>
                  <a:tcPr marL="54864" marR="54864" marT="27432" marB="27432">
                    <a:solidFill>
                      <a:srgbClr val="E5F5FF"/>
                    </a:solidFill>
                  </a:tcPr>
                </a:tc>
                <a:tc>
                  <a:txBody>
                    <a:bodyPr/>
                    <a:lstStyle/>
                    <a:p>
                      <a:r>
                        <a:rPr sz="900" b="0">
                          <a:solidFill>
                            <a:srgbClr val="4B4B4B"/>
                          </a:solidFill>
                          <a:latin typeface="Arial"/>
                        </a:rPr>
                        <a:t>Opens Requests to Cashiering</a:t>
                      </a:r>
                    </a:p>
                  </a:txBody>
                  <a:tcPr marL="54864" marR="54864" marT="27432" marB="27432">
                    <a:solidFill>
                      <a:srgbClr val="E5F5FF"/>
                    </a:solidFill>
                  </a:tcPr>
                </a:tc>
                <a:tc>
                  <a:txBody>
                    <a:bodyPr/>
                    <a:lstStyle/>
                    <a:p>
                      <a:r>
                        <a:rPr sz="900" b="0">
                          <a:solidFill>
                            <a:srgbClr val="4B4B4B"/>
                          </a:solidFill>
                          <a:latin typeface="Arial"/>
                        </a:rPr>
                        <a:t>SCR-CL-16_wt-c-step-02.png</a:t>
                      </a:r>
                    </a:p>
                  </a:txBody>
                  <a:tcPr marL="54864" marR="54864" marT="27432" marB="27432">
                    <a:solidFill>
                      <a:srgbClr val="E5F5FF"/>
                    </a:solidFill>
                  </a:tcPr>
                </a:tc>
              </a:tr>
            </a:tbl>
          </a:graphicData>
        </a:graphic>
      </p:graphicFrame>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Requests to Cashiering: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16-01-list.png"/>
          <p:cNvPicPr>
            <a:picLocks noChangeAspect="1"/>
          </p:cNvPicPr>
          <p:nvPr/>
        </p:nvPicPr>
        <p:blipFill>
          <a:blip r:embed="rId3"/>
          <a:stretch>
            <a:fillRect/>
          </a:stretch>
        </p:blipFill>
        <p:spPr>
          <a:xfrm>
            <a:off x="548640" y="1261872"/>
            <a:ext cx="11094415" cy="44340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Requests to Cashiering: the open requests with the Cashiering reference</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Assignment, files and set-up</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Who handles new accounts by default: the assignment rules tried in priority order by the nightly refresh, each with its criteria and handler; and the reassignment of accounts by criteria after a preview, permanently or temporarily until an end date.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 Collection Team Lead, Section Head (Corporate / Retail)</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Assignments</a:t>
                      </a:r>
                    </a:p>
                    <a:p>
                      <a:r>
                        <a:rPr sz="950" b="0">
                          <a:solidFill>
                            <a:srgbClr val="4B4B4B"/>
                          </a:solidFill>
                          <a:latin typeface="Arial"/>
                        </a:rPr>
                        <a:t>Finance › Collections › Assignments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FR-CL-020, FR-CL-021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workload is spread over the handlers as the team lead decides.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 Assignment Rules</a:t>
                      </a:r>
                    </a:p>
                  </a:txBody>
                  <a:tcPr marL="54864" marR="54864" marT="27432" marB="27432">
                    <a:solidFill>
                      <a:srgbClr val="FFFFFF"/>
                    </a:solidFill>
                  </a:tcPr>
                </a:tc>
                <a:tc>
                  <a:txBody>
                    <a:bodyPr/>
                    <a:lstStyle/>
                    <a:p>
                      <a:r>
                        <a:rPr sz="850" b="0">
                          <a:solidFill>
                            <a:srgbClr val="4B4B4B"/>
                          </a:solidFill>
                          <a:latin typeface="Arial"/>
                        </a:rPr>
                        <a:t>Priority / Rule / Criteria / Handler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Lower numbers are tried first; criteria in words; handler's name; 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assignment rule: new accounts go to their account officer</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Reassign by Criteria</a:t>
                      </a:r>
                    </a:p>
                  </a:txBody>
                  <a:tcPr marL="54864" marR="54864" marT="27432" marB="27432">
                    <a:solidFill>
                      <a:srgbClr val="E5F5FF"/>
                    </a:solidFill>
                  </a:tcPr>
                </a:tc>
                <a:tc>
                  <a:txBody>
                    <a:bodyPr/>
                    <a:lstStyle/>
                    <a:p>
                      <a:r>
                        <a:rPr sz="850" b="0">
                          <a:solidFill>
                            <a:srgbClr val="4B4B4B"/>
                          </a:solidFill>
                          <a:latin typeface="Arial"/>
                        </a:rPr>
                        <a:t>Current Handler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Handlers by name, or any handler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Reassign by Criteria</a:t>
                      </a:r>
                    </a:p>
                  </a:txBody>
                  <a:tcPr marL="54864" marR="54864" marT="27432" marB="27432">
                    <a:solidFill>
                      <a:srgbClr val="FFFFFF"/>
                    </a:solidFill>
                  </a:tcPr>
                </a:tc>
                <a:tc>
                  <a:txBody>
                    <a:bodyPr/>
                    <a:lstStyle/>
                    <a:p>
                      <a:r>
                        <a:rPr sz="850" b="0">
                          <a:solidFill>
                            <a:srgbClr val="4B4B4B"/>
                          </a:solidFill>
                          <a:latin typeface="Arial"/>
                        </a:rPr>
                        <a:t>Market Segment / Sales Unit /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Equal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Reassign by Criteria</a:t>
                      </a:r>
                    </a:p>
                  </a:txBody>
                  <a:tcPr marL="54864" marR="54864" marT="27432" marB="27432">
                    <a:solidFill>
                      <a:srgbClr val="E5F5FF"/>
                    </a:solidFill>
                  </a:tcPr>
                </a:tc>
                <a:tc>
                  <a:txBody>
                    <a:bodyPr/>
                    <a:lstStyle/>
                    <a:p>
                      <a:r>
                        <a:rPr sz="850" b="0">
                          <a:solidFill>
                            <a:srgbClr val="4B4B4B"/>
                          </a:solidFill>
                          <a:latin typeface="Arial"/>
                        </a:rPr>
                        <a:t>Outstanding From / Outstanding To / Aging From (days) / Aging To (days)</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Amounts; days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range starts before it ends</a:t>
                      </a:r>
                    </a:p>
                  </a:txBody>
                  <a:tcPr marL="54864" marR="54864" marT="27432" marB="27432">
                    <a:solidFill>
                      <a:srgbClr val="E5F5FF"/>
                    </a:solidFill>
                  </a:tcPr>
                </a:tc>
                <a:tc>
                  <a:txBody>
                    <a:bodyPr/>
                    <a:lstStyle/>
                    <a:p>
                      <a:r>
                        <a:rPr sz="850" b="0">
                          <a:solidFill>
                            <a:srgbClr val="4B4B4B"/>
                          </a:solidFill>
                          <a:latin typeface="Arial"/>
                        </a:rPr>
                        <a:t>A range must start before it ends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Reassign by Criteria</a:t>
                      </a:r>
                    </a:p>
                  </a:txBody>
                  <a:tcPr marL="54864" marR="54864" marT="27432" marB="27432">
                    <a:solidFill>
                      <a:srgbClr val="FFFFFF"/>
                    </a:solidFill>
                  </a:tcPr>
                </a:tc>
                <a:tc>
                  <a:txBody>
                    <a:bodyPr/>
                    <a:lstStyle/>
                    <a:p>
                      <a:r>
                        <a:rPr sz="850" b="0">
                          <a:solidFill>
                            <a:srgbClr val="4B4B4B"/>
                          </a:solidFill>
                          <a:latin typeface="Arial"/>
                        </a:rPr>
                        <a:t>Invoice No. / Assured / Handler / Outstanding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first 20 accounts found, with the total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account matches the selection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Assignment Rule dialog</a:t>
                      </a:r>
                    </a:p>
                  </a:txBody>
                  <a:tcPr marL="54864" marR="54864" marT="27432" marB="27432">
                    <a:solidFill>
                      <a:srgbClr val="E5F5FF"/>
                    </a:solidFill>
                  </a:tcPr>
                </a:tc>
                <a:tc>
                  <a:txBody>
                    <a:bodyPr/>
                    <a:lstStyle/>
                    <a:p>
                      <a:r>
                        <a:rPr sz="850" b="0">
                          <a:solidFill>
                            <a:srgbClr val="4B4B4B"/>
                          </a:solidFill>
                          <a:latin typeface="Arial"/>
                        </a:rPr>
                        <a:t>Priority / Name / Handler</a:t>
                      </a:r>
                    </a:p>
                  </a:txBody>
                  <a:tcPr marL="54864" marR="54864" marT="27432" marB="27432">
                    <a:solidFill>
                      <a:srgbClr val="E5F5FF"/>
                    </a:solidFill>
                  </a:tcPr>
                </a:tc>
                <a:tc>
                  <a:txBody>
                    <a:bodyPr/>
                    <a:lstStyle/>
                    <a:p>
                      <a:r>
                        <a:rPr sz="850" b="0">
                          <a:solidFill>
                            <a:srgbClr val="4B4B4B"/>
                          </a:solidFill>
                          <a:latin typeface="Arial"/>
                        </a:rPr>
                        <a:t>Number, text, drop-down</a:t>
                      </a:r>
                    </a:p>
                  </a:txBody>
                  <a:tcPr marL="54864" marR="54864" marT="27432" marB="27432">
                    <a:solidFill>
                      <a:srgbClr val="E5F5FF"/>
                    </a:solidFill>
                  </a:tcPr>
                </a:tc>
                <a:tc>
                  <a:txBody>
                    <a:bodyPr/>
                    <a:lstStyle/>
                    <a:p>
                      <a:r>
                        <a:rPr sz="850" b="0">
                          <a:solidFill>
                            <a:srgbClr val="4B4B4B"/>
                          </a:solidFill>
                          <a:latin typeface="Arial"/>
                        </a:rPr>
                        <a:t>Lower numbers are tried first; up to 120 characters; handlers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Name not blank; a handler chosen</a:t>
                      </a:r>
                    </a:p>
                  </a:txBody>
                  <a:tcPr marL="54864" marR="54864" marT="27432" marB="27432">
                    <a:solidFill>
                      <a:srgbClr val="E5F5FF"/>
                    </a:solidFill>
                  </a:tcPr>
                </a:tc>
                <a:tc>
                  <a:txBody>
                    <a:bodyPr/>
                    <a:lstStyle/>
                    <a:p>
                      <a:r>
                        <a:rPr sz="850" b="0">
                          <a:solidFill>
                            <a:srgbClr val="4B4B4B"/>
                          </a:solidFill>
                          <a:latin typeface="Arial"/>
                        </a:rPr>
                        <a:t>Give the rule a name</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Assignment Rule dialog</a:t>
                      </a:r>
                    </a:p>
                  </a:txBody>
                  <a:tcPr marL="54864" marR="54864" marT="27432" marB="27432">
                    <a:solidFill>
                      <a:srgbClr val="FFFFFF"/>
                    </a:solidFill>
                  </a:tcPr>
                </a:tc>
                <a:tc>
                  <a:txBody>
                    <a:bodyPr/>
                    <a:lstStyle/>
                    <a:p>
                      <a:r>
                        <a:rPr sz="850" b="0">
                          <a:solidFill>
                            <a:srgbClr val="4B4B4B"/>
                          </a:solidFill>
                          <a:latin typeface="Arial"/>
                        </a:rPr>
                        <a:t>Market Segment / Sales Unit / Client Code / Outstanding From / Outstanding To / Aging From (days) / Aging To (days)</a:t>
                      </a:r>
                    </a:p>
                  </a:txBody>
                  <a:tcPr marL="54864" marR="54864" marT="27432" marB="27432">
                    <a:solidFill>
                      <a:srgbClr val="FFFFFF"/>
                    </a:solidFill>
                  </a:tcPr>
                </a:tc>
                <a:tc>
                  <a:txBody>
                    <a:bodyPr/>
                    <a:lstStyle/>
                    <a:p>
                      <a:r>
                        <a:rPr sz="850" b="0">
                          <a:solidFill>
                            <a:srgbClr val="4B4B4B"/>
                          </a:solidFill>
                          <a:latin typeface="Arial"/>
                        </a:rPr>
                        <a:t>Text, number</a:t>
                      </a:r>
                    </a:p>
                  </a:txBody>
                  <a:tcPr marL="54864" marR="54864" marT="27432" marB="27432">
                    <a:solidFill>
                      <a:srgbClr val="FFFFFF"/>
                    </a:solidFill>
                  </a:tcPr>
                </a:tc>
                <a:tc>
                  <a:txBody>
                    <a:bodyPr/>
                    <a:lstStyle/>
                    <a:p>
                      <a:r>
                        <a:rPr sz="850" b="0">
                          <a:solidFill>
                            <a:srgbClr val="4B4B4B"/>
                          </a:solidFill>
                          <a:latin typeface="Arial"/>
                        </a:rPr>
                        <a:t>Empty criteria match every account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range starts before it ends</a:t>
                      </a:r>
                    </a:p>
                  </a:txBody>
                  <a:tcPr marL="54864" marR="54864" marT="27432" marB="27432">
                    <a:solidFill>
                      <a:srgbClr val="FFFFFF"/>
                    </a:solidFill>
                  </a:tcPr>
                </a:tc>
                <a:tc>
                  <a:txBody>
                    <a:bodyPr/>
                    <a:lstStyle/>
                    <a:p>
                      <a:r>
                        <a:rPr sz="850" b="0">
                          <a:solidFill>
                            <a:srgbClr val="4B4B4B"/>
                          </a:solidFill>
                          <a:latin typeface="Arial"/>
                        </a:rPr>
                        <a:t>A range must start before it ends</a:t>
                      </a:r>
                    </a:p>
                  </a:txBody>
                  <a:tcPr marL="54864" marR="54864" marT="27432" marB="27432">
                    <a:solidFill>
                      <a:srgbClr val="FFFF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2" cy="232408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Team leads and section heads (assignment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Rule</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Saves the rule</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Change Rule (row menu)</a:t>
                      </a:r>
                    </a:p>
                  </a:txBody>
                  <a:tcPr marL="54864" marR="54864" marT="27432" marB="27432">
                    <a:solidFill>
                      <a:srgbClr val="FFFFFF"/>
                    </a:solidFill>
                  </a:tcPr>
                </a:tc>
                <a:tc>
                  <a:txBody>
                    <a:bodyPr/>
                    <a:lstStyle/>
                    <a:p>
                      <a:r>
                        <a:rPr sz="850" b="0">
                          <a:solidFill>
                            <a:srgbClr val="4B4B4B"/>
                          </a:solidFill>
                          <a:latin typeface="Arial"/>
                        </a:rPr>
                        <a:t>Team leads and section heads (assignment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Activate / Deactivate (row menu)</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Inactive / Active</a:t>
                      </a:r>
                    </a:p>
                  </a:txBody>
                  <a:tcPr marL="54864" marR="54864" marT="27432" marB="27432">
                    <a:solidFill>
                      <a:srgbClr val="E5F5FF"/>
                    </a:solidFill>
                  </a:tcPr>
                </a:tc>
                <a:tc>
                  <a:txBody>
                    <a:bodyPr/>
                    <a:lstStyle/>
                    <a:p>
                      <a:r>
                        <a:rPr sz="850" b="0">
                          <a:solidFill>
                            <a:srgbClr val="4B4B4B"/>
                          </a:solidFill>
                          <a:latin typeface="Arial"/>
                        </a:rPr>
                        <a:t>Switches the rule on or off</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Preview Accounts</a:t>
                      </a:r>
                    </a:p>
                  </a:txBody>
                  <a:tcPr marL="54864" marR="54864" marT="27432" marB="27432">
                    <a:solidFill>
                      <a:srgbClr val="FFFFFF"/>
                    </a:solidFill>
                  </a:tcPr>
                </a:tc>
                <a:tc>
                  <a:txBody>
                    <a:bodyPr/>
                    <a:lstStyle/>
                    <a:p>
                      <a:r>
                        <a:rPr sz="850" b="0">
                          <a:solidFill>
                            <a:srgbClr val="4B4B4B"/>
                          </a:solidFill>
                          <a:latin typeface="Arial"/>
                        </a:rPr>
                        <a:t>Team leads and section heads (assignment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open accounts of the criteria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Reassign n Account(s)</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At least one account found</a:t>
                      </a:r>
                    </a:p>
                  </a:txBody>
                  <a:tcPr marL="54864" marR="54864" marT="27432" marB="27432">
                    <a:solidFill>
                      <a:srgbClr val="E5F5FF"/>
                    </a:solidFill>
                  </a:tcPr>
                </a:tc>
                <a:tc>
                  <a:txBody>
                    <a:bodyPr/>
                    <a:lstStyle/>
                    <a:p>
                      <a:r>
                        <a:rPr sz="850" b="0">
                          <a:solidFill>
                            <a:srgbClr val="4B4B4B"/>
                          </a:solidFill>
                          <a:latin typeface="Arial"/>
                        </a:rPr>
                        <a:t>Opens Reassign Accounts for the accounts found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Account reassigned (NT-03)</a:t>
                      </a:r>
                    </a:p>
                  </a:txBody>
                  <a:tcPr marL="54864" marR="54864" marT="27432" marB="27432">
                    <a:solidFill>
                      <a:srgbClr val="E5F5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New accounts go to the handler of the first active rule they meet, else to their account officer (FR-CL-020).</a:t>
                      </a:r>
                    </a:p>
                  </a:txBody>
                  <a:tcPr marL="54864" marR="54864" marT="27432" marB="27432">
                    <a:solidFill>
                      <a:srgbClr val="FFFFFF"/>
                    </a:solidFill>
                  </a:tcPr>
                </a:tc>
              </a:tr>
              <a:tr h="243840">
                <a:tc>
                  <a:txBody>
                    <a:bodyPr/>
                    <a:lstStyle/>
                    <a:p>
                      <a:r>
                        <a:rPr sz="1000" b="0">
                          <a:solidFill>
                            <a:srgbClr val="4B4B4B"/>
                          </a:solidFill>
                          <a:latin typeface="Arial"/>
                        </a:rPr>
                        <a:t>The new handler must be an active collection handler; a temporary reassignment ends after today and the account returns to its handler on the end date (FR-CL-021).</a:t>
                      </a:r>
                    </a:p>
                  </a:txBody>
                  <a:tcPr marL="54864" marR="54864" marT="27432" marB="27432">
                    <a:solidFill>
                      <a:srgbClr val="E5F5FF"/>
                    </a:solidFill>
                  </a:tcPr>
                </a:tc>
              </a:tr>
              <a:tr h="243840">
                <a:tc>
                  <a:txBody>
                    <a:bodyPr/>
                    <a:lstStyle/>
                    <a:p>
                      <a:r>
                        <a:rPr sz="1000" b="0">
                          <a:solidFill>
                            <a:srgbClr val="4B4B4B"/>
                          </a:solidFill>
                          <a:latin typeface="Arial"/>
                        </a:rPr>
                        <a:t>Every reassignment keeps its history on the account and notifies the handlers (FR-CL-021).</a:t>
                      </a:r>
                    </a:p>
                  </a:txBody>
                  <a:tcPr marL="54864" marR="54864" marT="27432" marB="27432">
                    <a:solidFill>
                      <a:srgbClr val="FFFF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0.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Assignments: the default assignment rules with their row menu, and Reassign by Criteria (part 1 of 2)</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1.png"/>
          <p:cNvPicPr>
            <a:picLocks noChangeAspect="1"/>
          </p:cNvPicPr>
          <p:nvPr/>
        </p:nvPicPr>
        <p:blipFill>
          <a:blip r:embed="rId3"/>
          <a:stretch>
            <a:fillRect/>
          </a:stretch>
        </p:blipFill>
        <p:spPr>
          <a:xfrm>
            <a:off x="548640" y="1261872"/>
            <a:ext cx="11094415" cy="34239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Assignments: the default assignment rules with their row menu, and Reassign by Criteria (part 2 of 2)</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2.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by Criteria: the accounts of a handler found by the preview (part 1 of 3)</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3.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by Criteria: the accounts of a handler found by the preview (part 2 of 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4.png"/>
          <p:cNvPicPr>
            <a:picLocks noChangeAspect="1"/>
          </p:cNvPicPr>
          <p:nvPr/>
        </p:nvPicPr>
        <p:blipFill>
          <a:blip r:embed="rId3"/>
          <a:stretch>
            <a:fillRect/>
          </a:stretch>
        </p:blipFill>
        <p:spPr>
          <a:xfrm>
            <a:off x="548640" y="1261872"/>
            <a:ext cx="11094415" cy="11859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by Criteria: the accounts of a handler found by the preview (part 3 of 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17-03-new.png"/>
          <p:cNvPicPr>
            <a:picLocks noChangeAspect="1"/>
          </p:cNvPicPr>
          <p:nvPr/>
        </p:nvPicPr>
        <p:blipFill>
          <a:blip r:embed="rId3"/>
          <a:stretch>
            <a:fillRect/>
          </a:stretch>
        </p:blipFill>
        <p:spPr>
          <a:xfrm>
            <a:off x="1887022" y="1261872"/>
            <a:ext cx="84176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Assignment Rule dialog</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Assignment, files and set-up</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scheduled files and the exports of Collections, with the time from which each may be downloaded: the daily Outstanding PR List and Full Production Report, the weekly DP PR for Reversal and PR 2307 for Reversal files per unit and branch, the monthly ones of the previous month, and the exports of the users.</a:t>
                      </a:r>
                    </a:p>
                  </a:txBody>
                  <a:tcPr marL="54864" marR="54864" marT="27432" marB="27432">
                    <a:solidFill>
                      <a:srgbClr val="FFFFFF"/>
                    </a:solidFill>
                  </a:tcPr>
                </a:tc>
              </a:tr>
              <a:tr h="67056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Cashier (read access and exports), Disbursement (read access and exports),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Collections Files</a:t>
                      </a:r>
                    </a:p>
                    <a:p>
                      <a:r>
                        <a:rPr sz="950" b="0">
                          <a:solidFill>
                            <a:srgbClr val="4B4B4B"/>
                          </a:solidFill>
                          <a:latin typeface="Arial"/>
                        </a:rPr>
                        <a:t>Finance › Collections › Collections Files</a:t>
                      </a:r>
                    </a:p>
                    <a:p>
                      <a:r>
                        <a:rPr sz="950" b="0">
                          <a:solidFill>
                            <a:srgbClr val="4B4B4B"/>
                          </a:solidFill>
                          <a:latin typeface="Arial"/>
                        </a:rPr>
                        <a:t>Collections Home › Files Ready This Week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FR-CL-080, FR-CL-081, FR-CL-082, FR-CL-083, FR-CL-084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takes the files it needs at the time agreed.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Files / Daily / Weekly / Monthly / Exports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Outstanding PR List, Full Production Report, DP PR for Reversal or PR 2307 for Reversal, with the unit and branch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file published yet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Period / Rows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on two lines; number of rows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Published / Available From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Date and time with the user's name; At once or the date and time; Published or Failed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Generate Files dialog</a:t>
                      </a:r>
                    </a:p>
                  </a:txBody>
                  <a:tcPr marL="54864" marR="54864" marT="27432" marB="27432">
                    <a:solidFill>
                      <a:srgbClr val="FFFFFF"/>
                    </a:solidFill>
                  </a:tcPr>
                </a:tc>
                <a:tc>
                  <a:txBody>
                    <a:bodyPr/>
                    <a:lstStyle/>
                    <a:p>
                      <a:r>
                        <a:rPr sz="850" b="0">
                          <a:solidFill>
                            <a:srgbClr val="4B4B4B"/>
                          </a:solidFill>
                          <a:latin typeface="Arial"/>
                        </a:rPr>
                        <a:t>Files / Business Date</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Daily files; Weekly files (week ending that Friday); Monthly files (previous month)</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Download (row menu)</a:t>
                      </a:r>
                    </a:p>
                  </a:txBody>
                  <a:tcPr marL="54864" marR="54864" marT="27432" marB="27432">
                    <a:solidFill>
                      <a:srgbClr val="FFFFFF"/>
                    </a:solidFill>
                  </a:tcPr>
                </a:tc>
                <a:tc>
                  <a:txBody>
                    <a:bodyPr/>
                    <a:lstStyle/>
                    <a:p>
                      <a:r>
                        <a:rPr sz="850" b="0">
                          <a:solidFill>
                            <a:srgbClr val="4B4B4B"/>
                          </a:solidFill>
                          <a:latin typeface="Arial"/>
                        </a:rPr>
                        <a:t>Users with the export permission</a:t>
                      </a:r>
                    </a:p>
                  </a:txBody>
                  <a:tcPr marL="54864" marR="54864" marT="27432" marB="27432">
                    <a:solidFill>
                      <a:srgbClr val="FFFFFF"/>
                    </a:solidFill>
                  </a:tcPr>
                </a:tc>
                <a:tc>
                  <a:txBody>
                    <a:bodyPr/>
                    <a:lstStyle/>
                    <a:p>
                      <a:r>
                        <a:rPr sz="850" b="0">
                          <a:solidFill>
                            <a:srgbClr val="4B4B4B"/>
                          </a:solidFill>
                          <a:latin typeface="Arial"/>
                        </a:rPr>
                        <a:t>Available from its time</a:t>
                      </a:r>
                    </a:p>
                  </a:txBody>
                  <a:tcPr marL="54864" marR="54864" marT="27432" marB="27432">
                    <a:solidFill>
                      <a:srgbClr val="FFFFFF"/>
                    </a:solidFill>
                  </a:tcPr>
                </a:tc>
                <a:tc>
                  <a:txBody>
                    <a:bodyPr/>
                    <a:lstStyle/>
                    <a:p>
                      <a:r>
                        <a:rPr sz="850" b="0">
                          <a:solidFill>
                            <a:srgbClr val="4B4B4B"/>
                          </a:solidFill>
                          <a:latin typeface="Arial"/>
                        </a:rPr>
                        <a:t>Downloads the file (Excel)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Generate Files</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Publishes the files of the business date again; a file already published for its period is kept</a:t>
                      </a:r>
                    </a:p>
                  </a:txBody>
                  <a:tcPr marL="54864" marR="54864" marT="27432" marB="27432">
                    <a:solidFill>
                      <a:srgbClr val="E5F5FF"/>
                    </a:solidFill>
                  </a:tcPr>
                </a:tc>
                <a:tc>
                  <a:txBody>
                    <a:bodyPr/>
                    <a:lstStyle/>
                    <a:p>
                      <a:r>
                        <a:rPr sz="850" b="0">
                          <a:solidFill>
                            <a:srgbClr val="4B4B4B"/>
                          </a:solidFill>
                          <a:latin typeface="Arial"/>
                        </a:rPr>
                        <a:t>Published</a:t>
                      </a:r>
                    </a:p>
                  </a:txBody>
                  <a:tcPr marL="54864" marR="54864" marT="27432" marB="27432">
                    <a:solidFill>
                      <a:srgbClr val="E5F5FF"/>
                    </a:solidFill>
                  </a:tcPr>
                </a:tc>
                <a:tc>
                  <a:txBody>
                    <a:bodyPr/>
                    <a:lstStyle/>
                    <a:p>
                      <a:r>
                        <a:rPr sz="850" b="0">
                          <a:solidFill>
                            <a:srgbClr val="4B4B4B"/>
                          </a:solidFill>
                          <a:latin typeface="Arial"/>
                        </a:rPr>
                        <a:t>Collections file ready (NT-06)</a:t>
                      </a:r>
                    </a:p>
                  </a:txBody>
                  <a:tcPr marL="54864" marR="54864" marT="27432" marB="27432">
                    <a:solidFill>
                      <a:srgbClr val="E5F5FF"/>
                    </a:solidFill>
                  </a:tcPr>
                </a:tc>
              </a:tr>
            </a:tbl>
          </a:graphicData>
        </a:graphic>
      </p:graphicFrame>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file cannot be downloaded before its availability time: daily at once, weekly on the Monday 08:00 after the week (Saturday to Friday), monthly on the first working day (FR-CL-080, FR-CL-081, FR-CL-082, FR-CL-083).</a:t>
                      </a:r>
                    </a:p>
                  </a:txBody>
                  <a:tcPr marL="54864" marR="54864" marT="27432" marB="27432">
                    <a:solidFill>
                      <a:srgbClr val="FFFFFF"/>
                    </a:solidFill>
                  </a:tcPr>
                </a:tc>
              </a:tr>
              <a:tr h="243840">
                <a:tc>
                  <a:txBody>
                    <a:bodyPr/>
                    <a:lstStyle/>
                    <a:p>
                      <a:r>
                        <a:rPr sz="1000" b="0">
                          <a:solidFill>
                            <a:srgbClr val="4B4B4B"/>
                          </a:solidFill>
                          <a:latin typeface="Arial"/>
                        </a:rPr>
                        <a:t>A file that fails raises an alert to the administrators (FR-CL-083).</a:t>
                      </a:r>
                    </a:p>
                  </a:txBody>
                  <a:tcPr marL="54864" marR="54864" marT="27432" marB="27432">
                    <a:solidFill>
                      <a:srgbClr val="E5F5FF"/>
                    </a:solidFill>
                  </a:tcPr>
                </a:tc>
              </a:tr>
              <a:tr h="243840">
                <a:tc>
                  <a:txBody>
                    <a:bodyPr/>
                    <a:lstStyle/>
                    <a:p>
                      <a:r>
                        <a:rPr sz="1000" b="0">
                          <a:solidFill>
                            <a:srgbClr val="4B4B4B"/>
                          </a:solidFill>
                          <a:latin typeface="Arial"/>
                        </a:rPr>
                        <a:t>Downloads need the export permission (FR-CL-084).</a:t>
                      </a:r>
                    </a:p>
                  </a:txBody>
                  <a:tcPr marL="54864" marR="54864" marT="27432" marB="27432">
                    <a:solidFill>
                      <a:srgbClr val="FFFFFF"/>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Files: the daily, weekly and monthly files with their availability (part 1 of 2)</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6.png"/>
          <p:cNvPicPr>
            <a:picLocks noChangeAspect="1"/>
          </p:cNvPicPr>
          <p:nvPr/>
        </p:nvPicPr>
        <p:blipFill>
          <a:blip r:embed="rId3"/>
          <a:stretch>
            <a:fillRect/>
          </a:stretch>
        </p:blipFill>
        <p:spPr>
          <a:xfrm>
            <a:off x="548640" y="1261872"/>
            <a:ext cx="11094415" cy="20562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Files: the daily, weekly and monthly files with their availability (part 2 of 2)</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18-02-generate.png"/>
          <p:cNvPicPr>
            <a:picLocks noChangeAspect="1"/>
          </p:cNvPicPr>
          <p:nvPr/>
        </p:nvPicPr>
        <p:blipFill>
          <a:blip r:embed="rId3"/>
          <a:stretch>
            <a:fillRect/>
          </a:stretch>
        </p:blipFill>
        <p:spPr>
          <a:xfrm>
            <a:off x="548640" y="1261872"/>
            <a:ext cx="11094415" cy="42320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Files dialog of the set-up users</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Assignment, files and set-up</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Collections parameters (minimal balance threshold, aging basis and brackets, export cap, edit-lock time, invoice number format, promise grace days), the attributes of each disposition value (category, tagging owner, Operations action, reserved roles, unapplied-payment attributes), the Unit Head of each sales unit and a refresh of the worklist on demand.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Section Head (Corporate / Retail), Business Administrator, 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Collections Setup</a:t>
                      </a:r>
                    </a:p>
                    <a:p>
                      <a:r>
                        <a:rPr sz="950" b="0">
                          <a:solidFill>
                            <a:srgbClr val="4B4B4B"/>
                          </a:solidFill>
                          <a:latin typeface="Arial"/>
                        </a:rPr>
                        <a:t>Finance › Collections › Collections Setup</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FR-CL-003, FR-CL-012, FR-CL-030, FR-CL-072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keeps the Collections rules without a change request.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25880"/>
          <a:ext cx="11094411" cy="348993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Parameter / Value / Description / Changed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parameter by name, its value, what it does and the name of the last user who changed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Within the range of the parameter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Disposition Rules</a:t>
                      </a:r>
                    </a:p>
                  </a:txBody>
                  <a:tcPr marL="54864" marR="54864" marT="27432" marB="27432">
                    <a:solidFill>
                      <a:srgbClr val="E5F5FF"/>
                    </a:solidFill>
                  </a:tcPr>
                </a:tc>
                <a:tc>
                  <a:txBody>
                    <a:bodyPr/>
                    <a:lstStyle/>
                    <a:p>
                      <a:r>
                        <a:rPr sz="850" b="0">
                          <a:solidFill>
                            <a:srgbClr val="4B4B4B"/>
                          </a:solidFill>
                          <a:latin typeface="Arial"/>
                        </a:rPr>
                        <a:t>PR Dispositions / Unapplied Payment Dispositions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table per list: the label of each disposition value with its code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Disposition Rules</a:t>
                      </a:r>
                    </a:p>
                  </a:txBody>
                  <a:tcPr marL="54864" marR="54864" marT="27432" marB="27432">
                    <a:solidFill>
                      <a:srgbClr val="FFFFFF"/>
                    </a:solidFill>
                  </a:tcPr>
                </a:tc>
                <a:tc>
                  <a:txBody>
                    <a:bodyPr/>
                    <a:lstStyle/>
                    <a:p>
                      <a:r>
                        <a:rPr sz="850" b="0">
                          <a:solidFill>
                            <a:srgbClr val="4B4B4B"/>
                          </a:solidFill>
                          <a:latin typeface="Arial"/>
                        </a:rPr>
                        <a:t>Category / Tagging Owner / Operations Action / Reserved To / Requires Invoice / Cashiering Action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Category A, B or C; Marketing or Operations; the Operations action; the roles the value is reserved to (Every collector when none); Yes or No; the Cashiering action; Not set when blank</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value of the attribute</a:t>
                      </a:r>
                    </a:p>
                  </a:txBody>
                  <a:tcPr marL="54864" marR="54864" marT="27432" marB="27432">
                    <a:solidFill>
                      <a:srgbClr val="FFFFFF"/>
                    </a:solidFill>
                  </a:tcPr>
                </a:tc>
                <a:tc>
                  <a:txBody>
                    <a:bodyPr/>
                    <a:lstStyle/>
                    <a:p>
                      <a:r>
                        <a:rPr sz="850" b="0">
                          <a:solidFill>
                            <a:srgbClr val="4B4B4B"/>
                          </a:solidFill>
                          <a:latin typeface="Arial"/>
                        </a:rPr>
                        <a:t>'&lt;value&gt;' is not a valid &lt;attribute&gt;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Attribute dialog</a:t>
                      </a:r>
                    </a:p>
                  </a:txBody>
                  <a:tcPr marL="54864" marR="54864" marT="27432" marB="27432">
                    <a:solidFill>
                      <a:srgbClr val="E5F5FF"/>
                    </a:solidFill>
                  </a:tcPr>
                </a:tc>
                <a:tc>
                  <a:txBody>
                    <a:bodyPr/>
                    <a:lstStyle/>
                    <a:p>
                      <a:r>
                        <a:rPr sz="850" b="0">
                          <a:solidFill>
                            <a:srgbClr val="4B4B4B"/>
                          </a:solidFill>
                          <a:latin typeface="Arial"/>
                        </a:rPr>
                        <a:t>Attribute value</a:t>
                      </a:r>
                    </a:p>
                  </a:txBody>
                  <a:tcPr marL="54864" marR="54864" marT="27432" marB="27432">
                    <a:solidFill>
                      <a:srgbClr val="E5F5FF"/>
                    </a:solidFill>
                  </a:tcPr>
                </a:tc>
                <a:tc>
                  <a:txBody>
                    <a:bodyPr/>
                    <a:lstStyle/>
                    <a:p>
                      <a:r>
                        <a:rPr sz="850" b="0">
                          <a:solidFill>
                            <a:srgbClr val="4B4B4B"/>
                          </a:solidFill>
                          <a:latin typeface="Arial"/>
                        </a:rPr>
                        <a:t>Drop-down / check boxes</a:t>
                      </a:r>
                    </a:p>
                  </a:txBody>
                  <a:tcPr marL="54864" marR="54864" marT="27432" marB="27432">
                    <a:solidFill>
                      <a:srgbClr val="E5F5FF"/>
                    </a:solidFill>
                  </a:tcPr>
                </a:tc>
                <a:tc>
                  <a:txBody>
                    <a:bodyPr/>
                    <a:lstStyle/>
                    <a:p>
                      <a:r>
                        <a:rPr sz="850" b="0">
                          <a:solidFill>
                            <a:srgbClr val="4B4B4B"/>
                          </a:solidFill>
                          <a:latin typeface="Arial"/>
                        </a:rPr>
                        <a:t>The labels of the attribute's values; the reserved roles as check boxes, none ticked for every collector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value of the attribute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Unit Heads</a:t>
                      </a:r>
                    </a:p>
                  </a:txBody>
                  <a:tcPr marL="54864" marR="54864" marT="27432" marB="27432">
                    <a:solidFill>
                      <a:srgbClr val="FFFFFF"/>
                    </a:solidFill>
                  </a:tcPr>
                </a:tc>
                <a:tc>
                  <a:txBody>
                    <a:bodyPr/>
                    <a:lstStyle/>
                    <a:p>
                      <a:r>
                        <a:rPr sz="850" b="0">
                          <a:solidFill>
                            <a:srgbClr val="4B4B4B"/>
                          </a:solidFill>
                          <a:latin typeface="Arial"/>
                        </a:rPr>
                        <a:t>Unit / Name / Level / Parent / Unit Head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Sales unit with its level and parent; the Unit Head's name or From the parent unit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An active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Change Parameter dialog</a:t>
                      </a:r>
                    </a:p>
                  </a:txBody>
                  <a:tcPr marL="54864" marR="54864" marT="27432" marB="27432">
                    <a:solidFill>
                      <a:srgbClr val="E5F5FF"/>
                    </a:solidFill>
                  </a:tcPr>
                </a:tc>
                <a:tc>
                  <a:txBody>
                    <a:bodyPr/>
                    <a:lstStyle/>
                    <a:p>
                      <a:r>
                        <a:rPr sz="850" b="0">
                          <a:solidFill>
                            <a:srgbClr val="4B4B4B"/>
                          </a:solidFill>
                          <a:latin typeface="Arial"/>
                        </a:rPr>
                        <a:t>Parameter value</a:t>
                      </a:r>
                    </a:p>
                  </a:txBody>
                  <a:tcPr marL="54864" marR="54864" marT="27432" marB="27432">
                    <a:solidFill>
                      <a:srgbClr val="E5F5FF"/>
                    </a:solidFill>
                  </a:tcPr>
                </a:tc>
                <a:tc>
                  <a:txBody>
                    <a:bodyPr/>
                    <a:lstStyle/>
                    <a:p>
                      <a:r>
                        <a:rPr sz="850" b="0">
                          <a:solidFill>
                            <a:srgbClr val="4B4B4B"/>
                          </a:solidFill>
                          <a:latin typeface="Arial"/>
                        </a:rPr>
                        <a:t>Text or drop-down</a:t>
                      </a:r>
                    </a:p>
                  </a:txBody>
                  <a:tcPr marL="54864" marR="54864" marT="27432" marB="27432">
                    <a:solidFill>
                      <a:srgbClr val="E5F5FF"/>
                    </a:solidFill>
                  </a:tcPr>
                </a:tc>
                <a:tc>
                  <a:txBody>
                    <a:bodyPr/>
                    <a:lstStyle/>
                    <a:p>
                      <a:r>
                        <a:rPr sz="850" b="0">
                          <a:solidFill>
                            <a:srgbClr val="4B4B4B"/>
                          </a:solidFill>
                          <a:latin typeface="Arial"/>
                        </a:rPr>
                        <a:t>The value with its hint; the aging basis as a drop-down (Booking date or Inception date)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the range of the parameter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2" cy="197356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Refresh Worklist Now</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Runs the refresh of the worklist from the invoice ledger at once and shows its outcome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Parameter row</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Change Parameter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Attribute value</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attribute of the disposition value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Maintain LOV Values</a:t>
                      </a:r>
                    </a:p>
                  </a:txBody>
                  <a:tcPr marL="54864" marR="54864" marT="27432" marB="27432">
                    <a:solidFill>
                      <a:srgbClr val="E5F5FF"/>
                    </a:solidFill>
                  </a:tcPr>
                </a:tc>
                <a:tc>
                  <a:txBody>
                    <a:bodyPr/>
                    <a:lstStyle/>
                    <a:p>
                      <a:r>
                        <a:rPr sz="850" b="0">
                          <a:solidFill>
                            <a:srgbClr val="4B4B4B"/>
                          </a:solidFill>
                          <a:latin typeface="Arial"/>
                        </a:rPr>
                        <a:t>Users who maintain lists of values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Lists of Values screen to add or deactivate disposition values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Unit row</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Sets the Unit Head of the unit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change is kept in the Collections audit log with the old and new value (FR-CL-003, FR-CL-012).</a:t>
                      </a:r>
                    </a:p>
                  </a:txBody>
                  <a:tcPr marL="54864" marR="54864" marT="27432" marB="27432">
                    <a:solidFill>
                      <a:srgbClr val="FFFFFF"/>
                    </a:solidFill>
                  </a:tcPr>
                </a:tc>
              </a:tr>
              <a:tr h="243840">
                <a:tc>
                  <a:txBody>
                    <a:bodyPr/>
                    <a:lstStyle/>
                    <a:p>
                      <a:r>
                        <a:rPr sz="1000" b="0">
                          <a:solidFill>
                            <a:srgbClr val="4B4B4B"/>
                          </a:solidFill>
                          <a:latin typeface="Arial"/>
                        </a:rPr>
                        <a:t>Disposition values themselves are added and deactivated on the Lists of Values screen with maker-checker; their rules are kept here (FR-CL-030, FR-CL-072).</a:t>
                      </a:r>
                    </a:p>
                  </a:txBody>
                  <a:tcPr marL="54864" marR="54864" marT="27432" marB="27432">
                    <a:solidFill>
                      <a:srgbClr val="E5F5FF"/>
                    </a:solidFill>
                  </a:tcPr>
                </a:tc>
              </a:tr>
              <a:tr h="243840">
                <a:tc>
                  <a:txBody>
                    <a:bodyPr/>
                    <a:lstStyle/>
                    <a:p>
                      <a:r>
                        <a:rPr sz="1000" b="0">
                          <a:solidFill>
                            <a:srgbClr val="4B4B4B"/>
                          </a:solidFill>
                          <a:latin typeface="Arial"/>
                        </a:rPr>
                        <a:t>The minimal balance threshold is 10.00 by default; the business changes it here without a change request (FR-CL-012).</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a:t>
                      </a:r>
                    </a:p>
                  </a:txBody>
                  <a:tcPr marL="54864" marR="54864" marT="27432" marB="27432">
                    <a:solidFill>
                      <a:srgbClr val="FFFFFF"/>
                    </a:solidFill>
                  </a:tcPr>
                </a:tc>
                <a:tc>
                  <a:txBody>
                    <a:bodyPr/>
                    <a:lstStyle/>
                    <a:p>
                      <a:r>
                        <a:rPr sz="900" b="0">
                          <a:solidFill>
                            <a:srgbClr val="4B4B4B"/>
                          </a:solidFill>
                          <a:latin typeface="Arial"/>
                        </a:rPr>
                        <a:t>Clicks Refresh Worklist Now on Collections Setup</a:t>
                      </a:r>
                    </a:p>
                  </a:txBody>
                  <a:tcPr marL="54864" marR="54864" marT="27432" marB="27432">
                    <a:solidFill>
                      <a:srgbClr val="FFFFFF"/>
                    </a:solidFill>
                  </a:tcPr>
                </a:tc>
                <a:tc>
                  <a:txBody>
                    <a:bodyPr/>
                    <a:lstStyle/>
                    <a:p>
                      <a:r>
                        <a:rPr sz="900" b="0">
                          <a:solidFill>
                            <a:srgbClr val="4B4B4B"/>
                          </a:solidFill>
                          <a:latin typeface="Arial"/>
                        </a:rPr>
                        <a:t>SCR-CL-19_wt-a-step-01.png</a:t>
                      </a:r>
                    </a:p>
                  </a:txBody>
                  <a:tcPr marL="54864" marR="54864" marT="27432" marB="27432">
                    <a:solidFill>
                      <a:srgbClr val="FFFFFF"/>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1 of 4)</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2 of 4)</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3 of 4)</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4760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4 of 4)</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19-02-change.png"/>
          <p:cNvPicPr>
            <a:picLocks noChangeAspect="1"/>
          </p:cNvPicPr>
          <p:nvPr/>
        </p:nvPicPr>
        <p:blipFill>
          <a:blip r:embed="rId3"/>
          <a:stretch>
            <a:fillRect/>
          </a:stretch>
        </p:blipFill>
        <p:spPr>
          <a:xfrm>
            <a:off x="548640" y="1261872"/>
            <a:ext cx="11094415" cy="331422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Change Parameter dialog of the minimal balance threshold</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Statement of account (SOA)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pic>
        <p:nvPicPr>
          <p:cNvPr id="9" name="Picture 8" descr="doc-soa.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6517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Statement of account template (wording to confirm, CQ18)</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billing cycle of an installment plan</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Statement of Account › Download PDF; Send via Email; Billing Run and Generate SOA create the statement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Statement of Account, SOA number and date – from the statement</a:t>
                      </a:r>
                    </a:p>
                    <a:p>
                      <a:r>
                        <a:rPr sz="900" b="0">
                          <a:solidFill>
                            <a:srgbClr val="4B4B4B"/>
                          </a:solidFill>
                          <a:latin typeface="Arial"/>
                        </a:rPr>
                        <a:t>Account: Name of the assured, ARN, billing frequency, billing cycle and due date – from the installment plan</a:t>
                      </a:r>
                    </a:p>
                    <a:p>
                      <a:r>
                        <a:rPr sz="900" b="0">
                          <a:solidFill>
                            <a:srgbClr val="4B4B4B"/>
                          </a:solidFill>
                          <a:latin typeface="Arial"/>
                        </a:rPr>
                        <a:t>Installments billed: the installment of the cycle and any earlier installment still unpaid (arrears), with invoice, policy year, coverage, due date, amount, paid and balance – from the plan and the invoice ledger</a:t>
                      </a:r>
                    </a:p>
                    <a:p>
                      <a:r>
                        <a:rPr sz="900" b="0">
                          <a:solidFill>
                            <a:srgbClr val="4B4B4B"/>
                          </a:solidFill>
                          <a:latin typeface="Arial"/>
                        </a:rPr>
                        <a:t>Amount due and the text of the template: settle the amount on or before the due date; disregard if paid; issued for monitoring only, creates no new receivable</a:t>
                      </a:r>
                    </a:p>
                  </a:txBody>
                  <a:tcPr marL="54864" marR="54864" marT="27432" marB="27432">
                    <a:solidFill>
                      <a:srgbClr val="FFFFFF"/>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Outstanding PR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pic>
        <p:nvPicPr>
          <p:cNvPr id="9" name="Picture 8" descr="doc-outstanding-pr.png"/>
          <p:cNvPicPr>
            <a:picLocks noChangeAspect="1"/>
          </p:cNvPicPr>
          <p:nvPr/>
        </p:nvPicPr>
        <p:blipFill>
          <a:blip r:embed="rId3"/>
          <a:stretch>
            <a:fillRect/>
          </a:stretch>
        </p:blipFill>
        <p:spPr>
          <a:xfrm>
            <a:off x="548640" y="1261872"/>
            <a:ext cx="5669280" cy="1138644"/>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9260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Collections reports)</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daily at the end of the day, and on request (Export to Files)</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Collections Files (daily file); PR Worklist › Export to Files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8745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Client and account: Client Code, Name of Assured, Invoice No., Policy No., Account (ARN), Booking Date, Aging Bracket, Invoicing Branch, Insurer, Product Line, Inception, Expiry – from the invoice ledger</a:t>
                      </a:r>
                    </a:p>
                    <a:p>
                      <a:r>
                        <a:rPr sz="900" b="0">
                          <a:solidFill>
                            <a:srgbClr val="4B4B4B"/>
                          </a:solidFill>
                          <a:latin typeface="Arial"/>
                        </a:rPr>
                        <a:t>Amounts: Currency, Total Premium, Outstanding Premium, PR2307 Amount – from the invoice ledger</a:t>
                      </a:r>
                    </a:p>
                    <a:p>
                      <a:r>
                        <a:rPr sz="900" b="0">
                          <a:solidFill>
                            <a:srgbClr val="4B4B4B"/>
                          </a:solidFill>
                          <a:latin typeface="Arial"/>
                        </a:rPr>
                        <a:t>Ownership: Market Segment, Sales Unit, Unit Head, Account Officer, Collection Handler – from the sales organisation and the assignments</a:t>
                      </a:r>
                    </a:p>
                    <a:p>
                      <a:r>
                        <a:rPr sz="900" b="0">
                          <a:solidFill>
                            <a:srgbClr val="4B4B4B"/>
                          </a:solidFill>
                          <a:latin typeface="Arial"/>
                        </a:rPr>
                        <a:t>Collection work: Client Payment Status, Invoice Category, Disposition, Category (A/B/C), Tagging Owner, Last Collection Effort Date, Last Collection Effort Code, Remarks, Status – from the collection account</a:t>
                      </a:r>
                    </a:p>
                  </a:txBody>
                  <a:tcPr marL="54864" marR="54864" marT="27432" marB="27432">
                    <a:solidFill>
                      <a:srgbClr val="FFFFFF"/>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Full Production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pic>
        <p:nvPicPr>
          <p:cNvPr id="9" name="Picture 8" descr="doc-full-production.png"/>
          <p:cNvPicPr>
            <a:picLocks noChangeAspect="1"/>
          </p:cNvPicPr>
          <p:nvPr/>
        </p:nvPicPr>
        <p:blipFill>
          <a:blip r:embed="rId3"/>
          <a:stretch>
            <a:fillRect/>
          </a:stretch>
        </p:blipFill>
        <p:spPr>
          <a:xfrm>
            <a:off x="548640" y="1261872"/>
            <a:ext cx="5669280" cy="1206401"/>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4173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Collections reports)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daily after the end-of-day run (BRD p.63)</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Collections Files (daily file); Report Centre › Full Production Report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3657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Every collection account of the invoices booked in the period, any status, with the columns of the Outstanding PR List</a:t>
                      </a:r>
                    </a:p>
                  </a:txBody>
                  <a:tcPr marL="54864" marR="54864" marT="27432" marB="27432">
                    <a:solidFill>
                      <a:srgbClr val="FFFFFF"/>
                    </a:solidFill>
                  </a:tcPr>
                </a:tc>
              </a:tr>
            </a:tbl>
          </a:graphicData>
        </a:graphic>
      </p:graphicFrame>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DO-04 DP PR for Reversal and PR 2307 for Reversal files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pic>
        <p:nvPicPr>
          <p:cNvPr id="9" name="Picture 8" descr="doc-dp-reversal.png"/>
          <p:cNvPicPr>
            <a:picLocks noChangeAspect="1"/>
          </p:cNvPicPr>
          <p:nvPr/>
        </p:nvPicPr>
        <p:blipFill>
          <a:blip r:embed="rId3"/>
          <a:stretch>
            <a:fillRect/>
          </a:stretch>
        </p:blipFill>
        <p:spPr>
          <a:xfrm>
            <a:off x="548640" y="1261872"/>
            <a:ext cx="5669280" cy="1137585"/>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Collections reports)</a:t>
                      </a:r>
                    </a:p>
                  </a:txBody>
                  <a:tcPr marL="54864" marR="54864" marT="27432" marB="27432">
                    <a:solidFill>
                      <a:srgbClr val="FFFFFF"/>
                    </a:solidFill>
                  </a:tcPr>
                </a:tc>
              </a:tr>
              <a:tr h="50292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weekly per unit and branch (Saturday to Friday, available the Monday 08:00) and monthly for the previous month (first working day)</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Collections Files (weekly and monthly files)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The accounts tagged DP PR for reversal or PR 2307 for reversal in the period, with the columns of the Outstanding PR List – from the collection accounts</a:t>
                      </a:r>
                    </a:p>
                    <a:p>
                      <a:r>
                        <a:rPr sz="900" b="0">
                          <a:solidFill>
                            <a:srgbClr val="4B4B4B"/>
                          </a:solidFill>
                          <a:latin typeface="Arial"/>
                        </a:rPr>
                        <a:t>Tagging: Date Tagged, Tagged By, Tag Remarks – from the disposition</a:t>
                      </a:r>
                    </a:p>
                    <a:p>
                      <a:r>
                        <a:rPr sz="900" b="0">
                          <a:solidFill>
                            <a:srgbClr val="4B4B4B"/>
                          </a:solidFill>
                          <a:latin typeface="Arial"/>
                        </a:rPr>
                        <a:t>Commission: Basic Commission, VAT on Commission, WTAX Rate and Diff (Premium Balance less PR2307) – from the invoice ledger</a:t>
                      </a:r>
                    </a:p>
                  </a:txBody>
                  <a:tcPr marL="54864" marR="54864" marT="27432" marB="27432">
                    <a:solidFill>
                      <a:srgbClr val="FFFFFF"/>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For Application To Invoice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pic>
        <p:nvPicPr>
          <p:cNvPr id="9" name="Picture 8" descr="doc-application-file.png"/>
          <p:cNvPicPr>
            <a:picLocks noChangeAspect="1"/>
          </p:cNvPicPr>
          <p:nvPr/>
        </p:nvPicPr>
        <p:blipFill>
          <a:blip r:embed="rId3"/>
          <a:stretch>
            <a:fillRect/>
          </a:stretch>
        </p:blipFill>
        <p:spPr>
          <a:xfrm>
            <a:off x="548640" y="1261872"/>
            <a:ext cx="5669280" cy="4706572"/>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(fixed layout of the daily application file)</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Text file, daily before 06:00 for the requests of the previous day (BRCLXN.041-042); Report Centre for any period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The daily application job; Requests to Cashiering shows the file of each request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line per application request: Requested On, Payment Date, Payment File Name, Transaction No., Paid Amount, Currency, Payment Type, Payor, Reference No., Name of Assured, Invoice No., User ID (who made the disposition), Unapplied Reference, Status, Cashiering Reference – from the requests and Cashiering</a:t>
                      </a:r>
                    </a:p>
                  </a:txBody>
                  <a:tcPr marL="54864" marR="54864" marT="27432" marB="27432">
                    <a:solidFill>
                      <a:srgbClr val="FFFF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25880"/>
          <a:ext cx="11094413" cy="4373854"/>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escalation moves to another stage by a workflow action (acknowledge, escalate to the unit / section head, return to the handler, resubmit, resolve)</a:t>
                      </a:r>
                    </a:p>
                  </a:txBody>
                  <a:tcPr marL="54864" marR="54864" marT="27432" marB="27432">
                    <a:solidFill>
                      <a:srgbClr val="FFFFFF"/>
                    </a:solidFill>
                  </a:tcPr>
                </a:tc>
                <a:tc>
                  <a:txBody>
                    <a:bodyPr/>
                    <a:lstStyle/>
                    <a:p>
                      <a:r>
                        <a:rPr sz="850" b="0">
                          <a:solidFill>
                            <a:srgbClr val="4B4B4B"/>
                          </a:solidFill>
                          <a:latin typeface="Arial"/>
                        </a:rPr>
                        <a:t>The creator of the escalation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&lt;escalation no&gt;: &lt;new stage name&gt;. Text: &lt;escalation description&gt; - &lt;comment&gt;</a:t>
                      </a:r>
                    </a:p>
                  </a:txBody>
                  <a:tcPr marL="54864" marR="54864" marT="27432" marB="27432">
                    <a:solidFill>
                      <a:srgbClr val="FFFFFF"/>
                    </a:solidFill>
                  </a:tcPr>
                </a:tc>
              </a:tr>
              <a:tr h="609596">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An account is escalated by a rule or by a user (event Account escalated)</a:t>
                      </a:r>
                    </a:p>
                  </a:txBody>
                  <a:tcPr marL="54864" marR="54864" marT="27432" marB="27432">
                    <a:solidFill>
                      <a:srgbClr val="E5F5FF"/>
                    </a:solidFill>
                  </a:tcPr>
                </a:tc>
                <a:tc>
                  <a:txBody>
                    <a:bodyPr/>
                    <a:lstStyle/>
                    <a:p>
                      <a:r>
                        <a:rPr sz="850" b="0">
                          <a:solidFill>
                            <a:srgbClr val="4B4B4B"/>
                          </a:solidFill>
                          <a:latin typeface="Arial"/>
                        </a:rPr>
                        <a:t>The designated user of the escalation, or every user who handles escalations; the account officers of the invoices, other than the user who escalated</a:t>
                      </a:r>
                    </a:p>
                  </a:txBody>
                  <a:tcPr marL="54864" marR="54864" marT="27432" marB="27432">
                    <a:solidFill>
                      <a:srgbClr val="E5F5FF"/>
                    </a:solidFill>
                  </a:tcPr>
                </a:tc>
                <a:tc>
                  <a:txBody>
                    <a:bodyPr/>
                    <a:lstStyle/>
                    <a:p>
                      <a:r>
                        <a:rPr sz="850" b="0">
                          <a:solidFill>
                            <a:srgbClr val="4B4B4B"/>
                          </a:solidFill>
                          <a:latin typeface="Arial"/>
                        </a:rPr>
                        <a:t>Title: &lt;escalation no&gt;: &lt;assured&gt; escalated. Text: Escalated by &lt;name&gt; (or Rule &lt;rule code&gt;) - &lt;currency&gt; &lt;amount&gt; outstanding on &lt;n&gt; invoice(s)</a:t>
                      </a:r>
                    </a:p>
                  </a:txBody>
                  <a:tcPr marL="54864" marR="54864" marT="27432" marB="27432">
                    <a:solidFill>
                      <a:srgbClr val="E5F5FF"/>
                    </a:solidFill>
                  </a:tcPr>
                </a:tc>
              </a:tr>
              <a:tr h="350518">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Collection accounts are reassigned (event Account reassigned)</a:t>
                      </a:r>
                    </a:p>
                  </a:txBody>
                  <a:tcPr marL="54864" marR="54864" marT="27432" marB="27432">
                    <a:solidFill>
                      <a:srgbClr val="FFFFFF"/>
                    </a:solidFill>
                  </a:tcPr>
                </a:tc>
                <a:tc>
                  <a:txBody>
                    <a:bodyPr/>
                    <a:lstStyle/>
                    <a:p>
                      <a:r>
                        <a:rPr sz="850" b="0">
                          <a:solidFill>
                            <a:srgbClr val="4B4B4B"/>
                          </a:solidFill>
                          <a:latin typeface="Arial"/>
                        </a:rPr>
                        <a:t>The new handler; each previous handler of the accounts taken</a:t>
                      </a:r>
                    </a:p>
                  </a:txBody>
                  <a:tcPr marL="54864" marR="54864" marT="27432" marB="27432">
                    <a:solidFill>
                      <a:srgbClr val="FFFFFF"/>
                    </a:solidFill>
                  </a:tcPr>
                </a:tc>
                <a:tc>
                  <a:txBody>
                    <a:bodyPr/>
                    <a:lstStyle/>
                    <a:p>
                      <a:r>
                        <a:rPr sz="850" b="0">
                          <a:solidFill>
                            <a:srgbClr val="4B4B4B"/>
                          </a:solidFill>
                          <a:latin typeface="Arial"/>
                        </a:rPr>
                        <a:t>Title: &lt;n&gt; collection account(s) assigned to you [until &lt;date&gt;], or &lt;n&gt; collection account(s) reassigned to &lt;handler&gt; [until &lt;date&gt;]. Text: the reason</a:t>
                      </a:r>
                    </a:p>
                  </a:txBody>
                  <a:tcPr marL="54864" marR="54864" marT="27432" marB="27432">
                    <a:solidFill>
                      <a:srgbClr val="FFFFFF"/>
                    </a:solidFill>
                  </a:tcPr>
                </a:tc>
              </a:tr>
              <a:tr h="350518">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nightly promise check finds a promise to pay broken (event Promise to pay broken)</a:t>
                      </a:r>
                    </a:p>
                  </a:txBody>
                  <a:tcPr marL="54864" marR="54864" marT="27432" marB="27432">
                    <a:solidFill>
                      <a:srgbClr val="E5F5FF"/>
                    </a:solidFill>
                  </a:tcPr>
                </a:tc>
                <a:tc>
                  <a:txBody>
                    <a:bodyPr/>
                    <a:lstStyle/>
                    <a:p>
                      <a:r>
                        <a:rPr sz="850" b="0">
                          <a:solidFill>
                            <a:srgbClr val="4B4B4B"/>
                          </a:solidFill>
                          <a:latin typeface="Arial"/>
                        </a:rPr>
                        <a:t>The user who recorded the promise and the account officer of the invoice</a:t>
                      </a:r>
                    </a:p>
                  </a:txBody>
                  <a:tcPr marL="54864" marR="54864" marT="27432" marB="27432">
                    <a:solidFill>
                      <a:srgbClr val="E5F5FF"/>
                    </a:solidFill>
                  </a:tcPr>
                </a:tc>
                <a:tc>
                  <a:txBody>
                    <a:bodyPr/>
                    <a:lstStyle/>
                    <a:p>
                      <a:r>
                        <a:rPr sz="850" b="0">
                          <a:solidFill>
                            <a:srgbClr val="4B4B4B"/>
                          </a:solidFill>
                          <a:latin typeface="Arial"/>
                        </a:rPr>
                        <a:t>Title: Promise of &lt;assured&gt; broken. Text: &lt;invoice&gt;: &lt;currency&gt; &lt;amount&gt; promised by &lt;date&gt; was not paid</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insurer returns a direct payment account to Collections (event Direct payment returned by insurer)</a:t>
                      </a:r>
                    </a:p>
                  </a:txBody>
                  <a:tcPr marL="54864" marR="54864" marT="27432" marB="27432">
                    <a:solidFill>
                      <a:srgbClr val="FFFFFF"/>
                    </a:solidFill>
                  </a:tcPr>
                </a:tc>
                <a:tc>
                  <a:txBody>
                    <a:bodyPr/>
                    <a:lstStyle/>
                    <a:p>
                      <a:r>
                        <a:rPr sz="850" b="0">
                          <a:solidFill>
                            <a:srgbClr val="4B4B4B"/>
                          </a:solidFill>
                          <a:latin typeface="Arial"/>
                        </a:rPr>
                        <a:t>The handler of the account</a:t>
                      </a:r>
                    </a:p>
                  </a:txBody>
                  <a:tcPr marL="54864" marR="54864" marT="27432" marB="27432">
                    <a:solidFill>
                      <a:srgbClr val="FFFFFF"/>
                    </a:solidFill>
                  </a:tcPr>
                </a:tc>
                <a:tc>
                  <a:txBody>
                    <a:bodyPr/>
                    <a:lstStyle/>
                    <a:p>
                      <a:r>
                        <a:rPr sz="850" b="0">
                          <a:solidFill>
                            <a:srgbClr val="4B4B4B"/>
                          </a:solidFill>
                          <a:latin typeface="Arial"/>
                        </a:rPr>
                        <a:t>Title: Direct payment returned: &lt;invoice&gt;. Text: the remarks of Commission Receivables</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scheduled Collections file is published (event Collections file ready)</a:t>
                      </a:r>
                    </a:p>
                  </a:txBody>
                  <a:tcPr marL="54864" marR="54864" marT="27432" marB="27432">
                    <a:solidFill>
                      <a:srgbClr val="E5F5FF"/>
                    </a:solidFill>
                  </a:tcPr>
                </a:tc>
                <a:tc>
                  <a:txBody>
                    <a:bodyPr/>
                    <a:lstStyle/>
                    <a:p>
                      <a:r>
                        <a:rPr sz="850" b="0">
                          <a:solidFill>
                            <a:srgbClr val="4B4B4B"/>
                          </a:solidFill>
                          <a:latin typeface="Arial"/>
                        </a:rPr>
                        <a:t>The users who may download the Collections files (export permission)</a:t>
                      </a:r>
                    </a:p>
                  </a:txBody>
                  <a:tcPr marL="54864" marR="54864" marT="27432" marB="27432">
                    <a:solidFill>
                      <a:srgbClr val="E5F5FF"/>
                    </a:solidFill>
                  </a:tcPr>
                </a:tc>
                <a:tc>
                  <a:txBody>
                    <a:bodyPr/>
                    <a:lstStyle/>
                    <a:p>
                      <a:r>
                        <a:rPr sz="850" b="0">
                          <a:solidFill>
                            <a:srgbClr val="4B4B4B"/>
                          </a:solidFill>
                          <a:latin typeface="Arial"/>
                        </a:rPr>
                        <a:t>Title: &lt;report&gt; &lt;period&gt; is ready. Text: Available from &lt;date and time&gt; [&lt;unit and branch&gt;]</a:t>
                      </a:r>
                    </a:p>
                  </a:txBody>
                  <a:tcPr marL="54864" marR="54864" marT="27432" marB="27432">
                    <a:solidFill>
                      <a:srgbClr val="E5F5FF"/>
                    </a:solidFill>
                  </a:tcPr>
                </a:tc>
              </a:tr>
              <a:tr h="350518">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Cashiering accepts, rejects or carries out a request sent on a collector disposition</a:t>
                      </a:r>
                    </a:p>
                  </a:txBody>
                  <a:tcPr marL="54864" marR="54864" marT="27432" marB="27432">
                    <a:solidFill>
                      <a:srgbClr val="FFFFFF"/>
                    </a:solidFill>
                  </a:tcPr>
                </a:tc>
                <a:tc>
                  <a:txBody>
                    <a:bodyPr/>
                    <a:lstStyle/>
                    <a:p>
                      <a:r>
                        <a:rPr sz="850" b="0">
                          <a:solidFill>
                            <a:srgbClr val="4B4B4B"/>
                          </a:solidFill>
                          <a:latin typeface="Arial"/>
                        </a:rPr>
                        <a:t>The user who requested it</a:t>
                      </a:r>
                    </a:p>
                  </a:txBody>
                  <a:tcPr marL="54864" marR="54864" marT="27432" marB="27432">
                    <a:solidFill>
                      <a:srgbClr val="FFFFFF"/>
                    </a:solidFill>
                  </a:tcPr>
                </a:tc>
                <a:tc>
                  <a:txBody>
                    <a:bodyPr/>
                    <a:lstStyle/>
                    <a:p>
                      <a:r>
                        <a:rPr sz="850" b="0">
                          <a:solidFill>
                            <a:srgbClr val="4B4B4B"/>
                          </a:solidFill>
                          <a:latin typeface="Arial"/>
                        </a:rPr>
                        <a:t>Title: &lt;unapplied reference&gt; &lt;request&gt; &lt;status&gt;. Text: the message of Cashiering, or Cashiering decided the request</a:t>
                      </a:r>
                    </a:p>
                  </a:txBody>
                  <a:tcPr marL="54864" marR="54864" marT="27432" marB="27432">
                    <a:solidFill>
                      <a:srgbClr val="FFFFFF"/>
                    </a:solidFill>
                  </a:tcPr>
                </a:tc>
              </a:tr>
              <a:tr h="350518">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The nightly refresh of the worklist fails for a company (Collections refresh failed)</a:t>
                      </a:r>
                    </a:p>
                  </a:txBody>
                  <a:tcPr marL="54864" marR="54864" marT="27432" marB="27432">
                    <a:solidFill>
                      <a:srgbClr val="E5F5FF"/>
                    </a:solidFill>
                  </a:tcPr>
                </a:tc>
                <a:tc>
                  <a:txBody>
                    <a:bodyPr/>
                    <a:lstStyle/>
                    <a:p>
                      <a:r>
                        <a:rPr sz="850" b="0">
                          <a:solidFill>
                            <a:srgbClr val="4B4B4B"/>
                          </a:solidFill>
                          <a:latin typeface="Arial"/>
                        </a:rPr>
                        <a:t>The administrators who receive the alerts of Collections</a:t>
                      </a:r>
                    </a:p>
                  </a:txBody>
                  <a:tcPr marL="54864" marR="54864" marT="27432" marB="27432">
                    <a:solidFill>
                      <a:srgbClr val="E5F5FF"/>
                    </a:solidFill>
                  </a:tcPr>
                </a:tc>
                <a:tc>
                  <a:txBody>
                    <a:bodyPr/>
                    <a:lstStyle/>
                    <a:p>
                      <a:r>
                        <a:rPr sz="850" b="0">
                          <a:solidFill>
                            <a:srgbClr val="4B4B4B"/>
                          </a:solidFill>
                          <a:latin typeface="Arial"/>
                        </a:rPr>
                        <a:t>The collection worklist refresh of &lt;date&gt; failed: &lt;reason&gt;</a:t>
                      </a:r>
                    </a:p>
                  </a:txBody>
                  <a:tcPr marL="54864" marR="54864" marT="27432" marB="27432">
                    <a:solidFill>
                      <a:srgbClr val="E5F5FF"/>
                    </a:solidFill>
                  </a:tcPr>
                </a:tc>
              </a:tr>
              <a:tr h="480057">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escalation stays in a stage beyond the SLA of its rule (Collections escalation overdue)</a:t>
                      </a:r>
                    </a:p>
                  </a:txBody>
                  <a:tcPr marL="54864" marR="54864" marT="27432" marB="27432">
                    <a:solidFill>
                      <a:srgbClr val="FFFFFF"/>
                    </a:solidFill>
                  </a:tcPr>
                </a:tc>
                <a:tc>
                  <a:txBody>
                    <a:bodyPr/>
                    <a:lstStyle/>
                    <a:p>
                      <a:r>
                        <a:rPr sz="850" b="0">
                          <a:solidFill>
                            <a:srgbClr val="4B4B4B"/>
                          </a:solidFill>
                          <a:latin typeface="Arial"/>
                        </a:rPr>
                        <a:t>The receiving level of the escalation and the administrators who receive the alerts of Collections</a:t>
                      </a:r>
                    </a:p>
                  </a:txBody>
                  <a:tcPr marL="54864" marR="54864" marT="27432" marB="27432">
                    <a:solidFill>
                      <a:srgbClr val="FFFFFF"/>
                    </a:solidFill>
                  </a:tcPr>
                </a:tc>
                <a:tc>
                  <a:txBody>
                    <a:bodyPr/>
                    <a:lstStyle/>
                    <a:p>
                      <a:r>
                        <a:rPr sz="850" b="0">
                          <a:solidFill>
                            <a:srgbClr val="4B4B4B"/>
                          </a:solidFill>
                          <a:latin typeface="Arial"/>
                        </a:rPr>
                        <a:t>&lt;escalation no&gt; (&lt;assured&gt;) is past its &lt;hours&gt;-hour SLA in stage &lt;stage&gt;</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scheduled file (daily, weekly, monthly or the application file) is not generated on time (Collections file not published)</a:t>
                      </a:r>
                    </a:p>
                  </a:txBody>
                  <a:tcPr marL="54864" marR="54864" marT="27432" marB="27432">
                    <a:solidFill>
                      <a:srgbClr val="E5F5FF"/>
                    </a:solidFill>
                  </a:tcPr>
                </a:tc>
                <a:tc>
                  <a:txBody>
                    <a:bodyPr/>
                    <a:lstStyle/>
                    <a:p>
                      <a:r>
                        <a:rPr sz="850" b="0">
                          <a:solidFill>
                            <a:srgbClr val="4B4B4B"/>
                          </a:solidFill>
                          <a:latin typeface="Arial"/>
                        </a:rPr>
                        <a:t>The administrators who receive the alerts of Collections</a:t>
                      </a:r>
                    </a:p>
                  </a:txBody>
                  <a:tcPr marL="54864" marR="54864" marT="27432" marB="27432">
                    <a:solidFill>
                      <a:srgbClr val="E5F5FF"/>
                    </a:solidFill>
                  </a:tcPr>
                </a:tc>
                <a:tc>
                  <a:txBody>
                    <a:bodyPr/>
                    <a:lstStyle/>
                    <a:p>
                      <a:r>
                        <a:rPr sz="850" b="0">
                          <a:solidFill>
                            <a:srgbClr val="4B4B4B"/>
                          </a:solidFill>
                          <a:latin typeface="Arial"/>
                        </a:rPr>
                        <a:t>&lt;report&gt; for &lt;period&gt; was not published: &lt;reason&gt;</a:t>
                      </a:r>
                    </a:p>
                  </a:txBody>
                  <a:tcPr marL="54864" marR="54864" marT="27432" marB="27432">
                    <a:solidFill>
                      <a:srgbClr val="E5F5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3" cy="1920228"/>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739135">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via Email on a statement of account</a:t>
                      </a:r>
                    </a:p>
                  </a:txBody>
                  <a:tcPr marL="54864" marR="54864" marT="27432" marB="27432">
                    <a:solidFill>
                      <a:srgbClr val="FFFFFF"/>
                    </a:solidFill>
                  </a:tcPr>
                </a:tc>
                <a:tc>
                  <a:txBody>
                    <a:bodyPr/>
                    <a:lstStyle/>
                    <a:p>
                      <a:r>
                        <a:rPr sz="850" b="0">
                          <a:solidFill>
                            <a:srgbClr val="4B4B4B"/>
                          </a:solidFill>
                          <a:latin typeface="Arial"/>
                        </a:rPr>
                        <a:t>The client's e-mail address (To and Cc as entered)</a:t>
                      </a:r>
                    </a:p>
                  </a:txBody>
                  <a:tcPr marL="54864" marR="54864" marT="27432" marB="27432">
                    <a:solidFill>
                      <a:srgbClr val="FFFFFF"/>
                    </a:solidFill>
                  </a:tcPr>
                </a:tc>
                <a:tc>
                  <a:txBody>
                    <a:bodyPr/>
                    <a:lstStyle/>
                    <a:p>
                      <a:r>
                        <a:rPr sz="850" b="0">
                          <a:solidFill>
                            <a:srgbClr val="4B4B4B"/>
                          </a:solidFill>
                          <a:latin typeface="Arial"/>
                        </a:rPr>
                        <a:t>Subject: Statement of Account &lt;soa no&gt; – &lt;assured&gt;. Body: Dear &lt;assured&gt;, please find attached your statement of account &lt;soa no&gt; for account &lt;ARN&gt;, billing cycle &lt;period&gt;. The amount due is &lt;currency&gt; &lt;amount&gt;, payable on or before &lt;due date&gt;. The attachment is protected; the password follows in a separate e-mail. Please disregard this statement if payment has been made.</a:t>
                      </a:r>
                    </a:p>
                  </a:txBody>
                  <a:tcPr marL="54864" marR="54864" marT="27432" marB="27432">
                    <a:solidFill>
                      <a:srgbClr val="FFFFFF"/>
                    </a:solidFill>
                  </a:tcPr>
                </a:tc>
              </a:tr>
              <a:tr h="350518">
                <a:tc>
                  <a:txBody>
                    <a:bodyPr/>
                    <a:lstStyle/>
                    <a:p>
                      <a:r>
                        <a:rPr sz="850" b="0">
                          <a:solidFill>
                            <a:srgbClr val="4B4B4B"/>
                          </a:solidFill>
                          <a:latin typeface="Arial"/>
                        </a:rPr>
                        <a:t>NT-12</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Follows every protected statement of account e-mail</a:t>
                      </a:r>
                    </a:p>
                  </a:txBody>
                  <a:tcPr marL="54864" marR="54864" marT="27432" marB="27432">
                    <a:solidFill>
                      <a:srgbClr val="E5F5FF"/>
                    </a:solidFill>
                  </a:tcPr>
                </a:tc>
                <a:tc>
                  <a:txBody>
                    <a:bodyPr/>
                    <a:lstStyle/>
                    <a:p>
                      <a:r>
                        <a:rPr sz="850" b="0">
                          <a:solidFill>
                            <a:srgbClr val="4B4B4B"/>
                          </a:solidFill>
                          <a:latin typeface="Arial"/>
                        </a:rPr>
                        <a:t>The same recipients</a:t>
                      </a:r>
                    </a:p>
                  </a:txBody>
                  <a:tcPr marL="54864" marR="54864" marT="27432" marB="27432">
                    <a:solidFill>
                      <a:srgbClr val="E5F5FF"/>
                    </a:solidFill>
                  </a:tcPr>
                </a:tc>
                <a:tc>
                  <a:txBody>
                    <a:bodyPr/>
                    <a:lstStyle/>
                    <a:p>
                      <a:r>
                        <a:rPr sz="850" b="0">
                          <a:solidFill>
                            <a:srgbClr val="4B4B4B"/>
                          </a:solidFill>
                          <a:latin typeface="Arial"/>
                        </a:rPr>
                        <a:t>The password of the attachment of the e-mail &lt;subject&gt;, with the password hint for the recipient</a:t>
                      </a:r>
                    </a:p>
                  </a:txBody>
                  <a:tcPr marL="54864" marR="54864" marT="27432" marB="27432">
                    <a:solidFill>
                      <a:srgbClr val="E5F5FF"/>
                    </a:solidFill>
                  </a:tcPr>
                </a:tc>
              </a:tr>
              <a:tr h="609596">
                <a:tc>
                  <a:txBody>
                    <a:bodyPr/>
                    <a:lstStyle/>
                    <a:p>
                      <a:r>
                        <a:rPr sz="850" b="0">
                          <a:solidFill>
                            <a:srgbClr val="4B4B4B"/>
                          </a:solidFill>
                          <a:latin typeface="Arial"/>
                        </a:rPr>
                        <a:t>NT-13</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item handed to Cashiering or Commission Receivables (BIR 2307 tag, direct payment account) is still not taken after the threshold (Collections item not taken)</a:t>
                      </a:r>
                    </a:p>
                  </a:txBody>
                  <a:tcPr marL="54864" marR="54864" marT="27432" marB="27432">
                    <a:solidFill>
                      <a:srgbClr val="FFFFFF"/>
                    </a:solidFill>
                  </a:tcPr>
                </a:tc>
                <a:tc>
                  <a:txBody>
                    <a:bodyPr/>
                    <a:lstStyle/>
                    <a:p>
                      <a:r>
                        <a:rPr sz="850" b="0">
                          <a:solidFill>
                            <a:srgbClr val="4B4B4B"/>
                          </a:solidFill>
                          <a:latin typeface="Arial"/>
                        </a:rPr>
                        <a:t>The administrators who receive the alerts of Collections</a:t>
                      </a:r>
                    </a:p>
                  </a:txBody>
                  <a:tcPr marL="54864" marR="54864" marT="27432" marB="27432">
                    <a:solidFill>
                      <a:srgbClr val="FFFFFF"/>
                    </a:solidFill>
                  </a:tcPr>
                </a:tc>
                <a:tc>
                  <a:txBody>
                    <a:bodyPr/>
                    <a:lstStyle/>
                    <a:p>
                      <a:r>
                        <a:rPr sz="850" b="0">
                          <a:solidFill>
                            <a:srgbClr val="4B4B4B"/>
                          </a:solidFill>
                          <a:latin typeface="Arial"/>
                        </a:rPr>
                        <a:t>&lt;feed&gt; item of &lt;invoice&gt; not taken by Operations since &lt;date and time&gt;</a:t>
                      </a:r>
                    </a:p>
                  </a:txBody>
                  <a:tcPr marL="54864" marR="54864" marT="27432" marB="27432">
                    <a:solidFill>
                      <a:srgbClr val="FFFF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SCR-CL-10</a:t>
                      </a:r>
                    </a:p>
                  </a:txBody>
                  <a:tcPr marL="54864" marR="54864" marT="27432" marB="27432">
                    <a:solidFill>
                      <a:srgbClr val="FFFFFF"/>
                    </a:solidFill>
                  </a:tcPr>
                </a:tc>
                <a:tc>
                  <a:txBody>
                    <a:bodyPr/>
                    <a:lstStyle/>
                    <a:p>
                      <a:r>
                        <a:rPr sz="900" b="0">
                          <a:solidFill>
                            <a:srgbClr val="4B4B4B"/>
                          </a:solidFill>
                          <a:latin typeface="Arial"/>
                        </a:rPr>
                        <a:t>Download PDF</a:t>
                      </a:r>
                    </a:p>
                  </a:txBody>
                  <a:tcPr marL="54864" marR="54864" marT="27432" marB="27432">
                    <a:solidFill>
                      <a:srgbClr val="FFFFFF"/>
                    </a:solidFill>
                  </a:tcPr>
                </a:tc>
                <a:tc>
                  <a:txBody>
                    <a:bodyPr/>
                    <a:lstStyle/>
                    <a:p>
                      <a:r>
                        <a:rPr sz="900" b="0">
                          <a:solidFill>
                            <a:srgbClr val="4B4B4B"/>
                          </a:solidFill>
                          <a:latin typeface="Arial"/>
                        </a:rPr>
                        <a:t>Every Collections user</a:t>
                      </a:r>
                    </a:p>
                  </a:txBody>
                  <a:tcPr marL="54864" marR="54864" marT="27432" marB="27432">
                    <a:solidFill>
                      <a:srgbClr val="FFFFFF"/>
                    </a:solidFill>
                  </a:tcPr>
                </a:tc>
                <a:tc>
                  <a:txBody>
                    <a:bodyPr/>
                    <a:lstStyle/>
                    <a:p>
                      <a:r>
                        <a:rPr sz="900" b="0">
                          <a:solidFill>
                            <a:srgbClr val="4B4B4B"/>
                          </a:solidFill>
                          <a:latin typeface="Arial"/>
                        </a:rPr>
                        <a:t>Downloads the statement of account (PDF)</a:t>
                      </a:r>
                    </a:p>
                  </a:txBody>
                  <a:tcPr marL="54864" marR="54864" marT="27432" marB="27432">
                    <a:solidFill>
                      <a:srgbClr val="FFFFFF"/>
                    </a:solidFill>
                  </a:tcPr>
                </a:tc>
              </a:tr>
              <a:tr h="228600">
                <a:tc>
                  <a:txBody>
                    <a:bodyPr/>
                    <a:lstStyle/>
                    <a:p>
                      <a:r>
                        <a:rPr sz="900" b="0">
                          <a:solidFill>
                            <a:srgbClr val="4B4B4B"/>
                          </a:solidFill>
                          <a:latin typeface="Arial"/>
                        </a:rPr>
                        <a:t>SCR-CL-18</a:t>
                      </a:r>
                    </a:p>
                  </a:txBody>
                  <a:tcPr marL="54864" marR="54864" marT="27432" marB="27432">
                    <a:solidFill>
                      <a:srgbClr val="E5F5FF"/>
                    </a:solidFill>
                  </a:tcPr>
                </a:tc>
                <a:tc>
                  <a:txBody>
                    <a:bodyPr/>
                    <a:lstStyle/>
                    <a:p>
                      <a:r>
                        <a:rPr sz="900" b="0">
                          <a:solidFill>
                            <a:srgbClr val="4B4B4B"/>
                          </a:solidFill>
                          <a:latin typeface="Arial"/>
                        </a:rPr>
                        <a:t>Download (row menu)</a:t>
                      </a:r>
                    </a:p>
                  </a:txBody>
                  <a:tcPr marL="54864" marR="54864" marT="27432" marB="27432">
                    <a:solidFill>
                      <a:srgbClr val="E5F5FF"/>
                    </a:solidFill>
                  </a:tcPr>
                </a:tc>
                <a:tc>
                  <a:txBody>
                    <a:bodyPr/>
                    <a:lstStyle/>
                    <a:p>
                      <a:r>
                        <a:rPr sz="900" b="0">
                          <a:solidFill>
                            <a:srgbClr val="4B4B4B"/>
                          </a:solidFill>
                          <a:latin typeface="Arial"/>
                        </a:rPr>
                        <a:t>Users with the export permission</a:t>
                      </a:r>
                    </a:p>
                  </a:txBody>
                  <a:tcPr marL="54864" marR="54864" marT="27432" marB="27432">
                    <a:solidFill>
                      <a:srgbClr val="E5F5FF"/>
                    </a:solidFill>
                  </a:tcPr>
                </a:tc>
                <a:tc>
                  <a:txBody>
                    <a:bodyPr/>
                    <a:lstStyle/>
                    <a:p>
                      <a:r>
                        <a:rPr sz="900" b="0">
                          <a:solidFill>
                            <a:srgbClr val="4B4B4B"/>
                          </a:solidFill>
                          <a:latin typeface="Arial"/>
                        </a:rPr>
                        <a:t>Downloads the file (Excel)</a:t>
                      </a:r>
                    </a:p>
                  </a:txBody>
                  <a:tcPr marL="54864" marR="54864" marT="27432" marB="27432">
                    <a:solidFill>
                      <a:srgbClr val="E5F5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graphicFrame>
        <p:nvGraphicFramePr>
          <p:cNvPr id="9" name="Table 8"/>
          <p:cNvGraphicFramePr>
            <a:graphicFrameLocks noGrp="1"/>
          </p:cNvGraphicFramePr>
          <p:nvPr/>
        </p:nvGraphicFramePr>
        <p:xfrm>
          <a:off x="548640" y="1325880"/>
          <a:ext cx="11094413" cy="310896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CLR-CL-25</a:t>
                      </a:r>
                    </a:p>
                  </a:txBody>
                  <a:tcPr marL="54864" marR="54864" marT="27432" marB="27432">
                    <a:solidFill>
                      <a:srgbClr val="FFFFFF"/>
                    </a:solidFill>
                  </a:tcPr>
                </a:tc>
                <a:tc>
                  <a:txBody>
                    <a:bodyPr/>
                    <a:lstStyle/>
                    <a:p>
                      <a:r>
                        <a:rPr sz="900" b="0">
                          <a:solidFill>
                            <a:srgbClr val="4B4B4B"/>
                          </a:solidFill>
                          <a:latin typeface="Arial"/>
                        </a:rPr>
                        <a:t>Client on the worklist (screen standards; SCR-CL-02 to 04)</a:t>
                      </a:r>
                    </a:p>
                  </a:txBody>
                  <a:tcPr marL="54864" marR="54864" marT="27432" marB="27432">
                    <a:solidFill>
                      <a:srgbClr val="FFFFFF"/>
                    </a:solidFill>
                  </a:tcPr>
                </a:tc>
                <a:tc>
                  <a:txBody>
                    <a:bodyPr/>
                    <a:lstStyle/>
                    <a:p>
                      <a:r>
                        <a:rPr sz="900" b="0">
                          <a:solidFill>
                            <a:srgbClr val="4B4B4B"/>
                          </a:solidFill>
                          <a:latin typeface="Arial"/>
                        </a:rPr>
                        <a:t>The client of an account is shown by its client code, a link to the client view, with the name of the assured under it; the client's own name is shown on the client view.</a:t>
                      </a:r>
                    </a:p>
                  </a:txBody>
                  <a:tcPr marL="54864" marR="54864" marT="27432" marB="27432">
                    <a:solidFill>
                      <a:srgbClr val="FFFFFF"/>
                    </a:solidFill>
                  </a:tcPr>
                </a:tc>
                <a:tc>
                  <a:txBody>
                    <a:bodyPr/>
                    <a:lstStyle/>
                    <a:p>
                      <a:r>
                        <a:rPr sz="900" b="0">
                          <a:solidFill>
                            <a:srgbClr val="4B4B4B"/>
                          </a:solidFill>
                          <a:latin typeface="Arial"/>
                        </a:rPr>
                        <a:t>Confirm the client code, or ask for the client's name with the code under it.</a:t>
                      </a:r>
                    </a:p>
                  </a:txBody>
                  <a:tcPr marL="54864" marR="54864" marT="27432" marB="27432">
                    <a:solidFill>
                      <a:srgbClr val="FFFFFF"/>
                    </a:solidFill>
                  </a:tcPr>
                </a:tc>
              </a:tr>
              <a:tr h="502920">
                <a:tc>
                  <a:txBody>
                    <a:bodyPr/>
                    <a:lstStyle/>
                    <a:p>
                      <a:r>
                        <a:rPr sz="900" b="0">
                          <a:solidFill>
                            <a:srgbClr val="4B4B4B"/>
                          </a:solidFill>
                          <a:latin typeface="Arial"/>
                        </a:rPr>
                        <a:t>CLR-CL-26</a:t>
                      </a:r>
                    </a:p>
                  </a:txBody>
                  <a:tcPr marL="54864" marR="54864" marT="27432" marB="27432">
                    <a:solidFill>
                      <a:srgbClr val="E5F5FF"/>
                    </a:solidFill>
                  </a:tcPr>
                </a:tc>
                <a:tc>
                  <a:txBody>
                    <a:bodyPr/>
                    <a:lstStyle/>
                    <a:p>
                      <a:r>
                        <a:rPr sz="900" b="0">
                          <a:solidFill>
                            <a:srgbClr val="4B4B4B"/>
                          </a:solidFill>
                          <a:latin typeface="Arial"/>
                        </a:rPr>
                        <a:t>Filters and criteria typed (screen standards; SCR-CL-02, SCR-CL-17)</a:t>
                      </a:r>
                    </a:p>
                  </a:txBody>
                  <a:tcPr marL="54864" marR="54864" marT="27432" marB="27432">
                    <a:solidFill>
                      <a:srgbClr val="E5F5FF"/>
                    </a:solidFill>
                  </a:tcPr>
                </a:tc>
                <a:tc>
                  <a:txBody>
                    <a:bodyPr/>
                    <a:lstStyle/>
                    <a:p>
                      <a:r>
                        <a:rPr sz="900" b="0">
                          <a:solidFill>
                            <a:srgbClr val="4B4B4B"/>
                          </a:solidFill>
                          <a:latin typeface="Arial"/>
                        </a:rPr>
                        <a:t>The filters of the PR Worklist and the criteria of the assignment rules and of Reassign by Criteria are text fields where the user types a segment, unit, Unit Head, handler or account officer; the handler of a reassignment is chosen by name.</a:t>
                      </a:r>
                    </a:p>
                  </a:txBody>
                  <a:tcPr marL="54864" marR="54864" marT="27432" marB="27432">
                    <a:solidFill>
                      <a:srgbClr val="E5F5FF"/>
                    </a:solidFill>
                  </a:tcPr>
                </a:tc>
                <a:tc>
                  <a:txBody>
                    <a:bodyPr/>
                    <a:lstStyle/>
                    <a:p>
                      <a:r>
                        <a:rPr sz="900" b="0">
                          <a:solidFill>
                            <a:srgbClr val="4B4B4B"/>
                          </a:solidFill>
                          <a:latin typeface="Arial"/>
                        </a:rPr>
                        <a:t>Confirm, or ask for drop-downs of the segments, units and users by name.</a:t>
                      </a:r>
                    </a:p>
                  </a:txBody>
                  <a:tcPr marL="54864" marR="54864" marT="27432" marB="27432">
                    <a:solidFill>
                      <a:srgbClr val="E5F5FF"/>
                    </a:solidFill>
                  </a:tcPr>
                </a:tc>
              </a:tr>
              <a:tr h="640080">
                <a:tc>
                  <a:txBody>
                    <a:bodyPr/>
                    <a:lstStyle/>
                    <a:p>
                      <a:r>
                        <a:rPr sz="900" b="0">
                          <a:solidFill>
                            <a:srgbClr val="4B4B4B"/>
                          </a:solidFill>
                          <a:latin typeface="Arial"/>
                        </a:rPr>
                        <a:t>CLR-CL-27</a:t>
                      </a:r>
                    </a:p>
                  </a:txBody>
                  <a:tcPr marL="54864" marR="54864" marT="27432" marB="27432">
                    <a:solidFill>
                      <a:srgbClr val="FFFFFF"/>
                    </a:solidFill>
                  </a:tcPr>
                </a:tc>
                <a:tc>
                  <a:txBody>
                    <a:bodyPr/>
                    <a:lstStyle/>
                    <a:p>
                      <a:r>
                        <a:rPr sz="900" b="0">
                          <a:solidFill>
                            <a:srgbClr val="4B4B4B"/>
                          </a:solidFill>
                          <a:latin typeface="Arial"/>
                        </a:rPr>
                        <a:t>Collections Setup values (screen standards; SCR-CL-19)</a:t>
                      </a:r>
                    </a:p>
                  </a:txBody>
                  <a:tcPr marL="54864" marR="54864" marT="27432" marB="27432">
                    <a:solidFill>
                      <a:srgbClr val="FFFFFF"/>
                    </a:solidFill>
                  </a:tcPr>
                </a:tc>
                <a:tc>
                  <a:txBody>
                    <a:bodyPr/>
                    <a:lstStyle/>
                    <a:p>
                      <a:r>
                        <a:rPr sz="900" b="0">
                          <a:solidFill>
                            <a:srgbClr val="4B4B4B"/>
                          </a:solidFill>
                          <a:latin typeface="Arial"/>
                        </a:rPr>
                        <a:t>The parameters are listed by name with a business description, and the attributes of a disposition are shown by label and chosen from drop-downs (the reserved roles as check boxes). The Invoice Number Format parameter is kept as the pattern the invoice number is checked against.</a:t>
                      </a:r>
                    </a:p>
                  </a:txBody>
                  <a:tcPr marL="54864" marR="54864" marT="27432" marB="27432">
                    <a:solidFill>
                      <a:srgbClr val="FFFFFF"/>
                    </a:solidFill>
                  </a:tcPr>
                </a:tc>
                <a:tc>
                  <a:txBody>
                    <a:bodyPr/>
                    <a:lstStyle/>
                    <a:p>
                      <a:r>
                        <a:rPr sz="900" b="0">
                          <a:solidFill>
                            <a:srgbClr val="4B4B4B"/>
                          </a:solidFill>
                          <a:latin typeface="Arial"/>
                        </a:rPr>
                        <a:t>Confirm the names and descriptions of the parameters, and whether the invoice number format stays a pattern kept by the System Administrator or becomes a choice of formats.</a:t>
                      </a:r>
                    </a:p>
                  </a:txBody>
                  <a:tcPr marL="54864" marR="54864" marT="27432" marB="27432">
                    <a:solidFill>
                      <a:srgbClr val="FFFFFF"/>
                    </a:solidFill>
                  </a:tcPr>
                </a:tc>
              </a:tr>
              <a:tr h="502920">
                <a:tc>
                  <a:txBody>
                    <a:bodyPr/>
                    <a:lstStyle/>
                    <a:p>
                      <a:r>
                        <a:rPr sz="900" b="0">
                          <a:solidFill>
                            <a:srgbClr val="4B4B4B"/>
                          </a:solidFill>
                          <a:latin typeface="Arial"/>
                        </a:rPr>
                        <a:t>CLR-CL-28</a:t>
                      </a:r>
                    </a:p>
                  </a:txBody>
                  <a:tcPr marL="54864" marR="54864" marT="27432" marB="27432">
                    <a:solidFill>
                      <a:srgbClr val="E5F5FF"/>
                    </a:solidFill>
                  </a:tcPr>
                </a:tc>
                <a:tc>
                  <a:txBody>
                    <a:bodyPr/>
                    <a:lstStyle/>
                    <a:p>
                      <a:r>
                        <a:rPr sz="900" b="0">
                          <a:solidFill>
                            <a:srgbClr val="4B4B4B"/>
                          </a:solidFill>
                          <a:latin typeface="Arial"/>
                        </a:rPr>
                        <a:t>Designated user of an escalation (screen standards; SCR-CL-11, SCR-CL-13)</a:t>
                      </a:r>
                    </a:p>
                  </a:txBody>
                  <a:tcPr marL="54864" marR="54864" marT="27432" marB="27432">
                    <a:solidFill>
                      <a:srgbClr val="E5F5FF"/>
                    </a:solidFill>
                  </a:tcPr>
                </a:tc>
                <a:tc>
                  <a:txBody>
                    <a:bodyPr/>
                    <a:lstStyle/>
                    <a:p>
                      <a:r>
                        <a:rPr sz="900" b="0">
                          <a:solidFill>
                            <a:srgbClr val="4B4B4B"/>
                          </a:solidFill>
                          <a:latin typeface="Arial"/>
                        </a:rPr>
                        <a:t>The designated user of a manual escalation and of an escalation rule is typed as the user ID; a user who does not handle escalations is refused.</a:t>
                      </a:r>
                    </a:p>
                  </a:txBody>
                  <a:tcPr marL="54864" marR="54864" marT="27432" marB="27432">
                    <a:solidFill>
                      <a:srgbClr val="E5F5FF"/>
                    </a:solidFill>
                  </a:tcPr>
                </a:tc>
                <a:tc>
                  <a:txBody>
                    <a:bodyPr/>
                    <a:lstStyle/>
                    <a:p>
                      <a:r>
                        <a:rPr sz="900" b="0">
                          <a:solidFill>
                            <a:srgbClr val="4B4B4B"/>
                          </a:solidFill>
                          <a:latin typeface="Arial"/>
                        </a:rPr>
                        <a:t>Confirm, or ask for a drop-down of the users who handle escalations, by name.</a:t>
                      </a:r>
                    </a:p>
                  </a:txBody>
                  <a:tcPr marL="54864" marR="54864" marT="27432" marB="27432">
                    <a:solidFill>
                      <a:srgbClr val="E5F5FF"/>
                    </a:solidFill>
                  </a:tcPr>
                </a:tc>
              </a:tr>
              <a:tr h="502920">
                <a:tc>
                  <a:txBody>
                    <a:bodyPr/>
                    <a:lstStyle/>
                    <a:p>
                      <a:r>
                        <a:rPr sz="900" b="0">
                          <a:solidFill>
                            <a:srgbClr val="4B4B4B"/>
                          </a:solidFill>
                          <a:latin typeface="Arial"/>
                        </a:rPr>
                        <a:t>CLR-CL-29</a:t>
                      </a:r>
                    </a:p>
                  </a:txBody>
                  <a:tcPr marL="54864" marR="54864" marT="27432" marB="27432">
                    <a:solidFill>
                      <a:srgbClr val="FFFFFF"/>
                    </a:solidFill>
                  </a:tcPr>
                </a:tc>
                <a:tc>
                  <a:txBody>
                    <a:bodyPr/>
                    <a:lstStyle/>
                    <a:p>
                      <a:r>
                        <a:rPr sz="900" b="0">
                          <a:solidFill>
                            <a:srgbClr val="4B4B4B"/>
                          </a:solidFill>
                          <a:latin typeface="Arial"/>
                        </a:rPr>
                        <a:t>Values of the upload template (FR-CL-034; chapter 18)</a:t>
                      </a:r>
                    </a:p>
                  </a:txBody>
                  <a:tcPr marL="54864" marR="54864" marT="27432" marB="27432">
                    <a:solidFill>
                      <a:srgbClr val="FFFFFF"/>
                    </a:solidFill>
                  </a:tcPr>
                </a:tc>
                <a:tc>
                  <a:txBody>
                    <a:bodyPr/>
                    <a:lstStyle/>
                    <a:p>
                      <a:r>
                        <a:rPr sz="900" b="0">
                          <a:solidFill>
                            <a:srgbClr val="4B4B4B"/>
                          </a:solidFill>
                          <a:latin typeface="Arial"/>
                        </a:rPr>
                        <a:t>The Collections Bulk Update template takes the codes of its lists (escalation level TL, UH, SECTION_HEAD or USER; the codes of the escalation reasons, dispositions and efforts), as the template instructions state.</a:t>
                      </a:r>
                    </a:p>
                  </a:txBody>
                  <a:tcPr marL="54864" marR="54864" marT="27432" marB="27432">
                    <a:solidFill>
                      <a:srgbClr val="FFFFFF"/>
                    </a:solidFill>
                  </a:tcPr>
                </a:tc>
                <a:tc>
                  <a:txBody>
                    <a:bodyPr/>
                    <a:lstStyle/>
                    <a:p>
                      <a:r>
                        <a:rPr sz="900" b="0">
                          <a:solidFill>
                            <a:srgbClr val="4B4B4B"/>
                          </a:solidFill>
                          <a:latin typeface="Arial"/>
                        </a:rPr>
                        <a:t>Confirm the codes in the template, or ask for the labels.</a:t>
                      </a:r>
                    </a:p>
                  </a:txBody>
                  <a:tcPr marL="54864" marR="54864" marT="27432" marB="27432">
                    <a:solidFill>
                      <a:srgbClr val="FFFFFF"/>
                    </a:solidFill>
                  </a:tcPr>
                </a:tc>
              </a:tr>
              <a:tr h="365760">
                <a:tc>
                  <a:txBody>
                    <a:bodyPr/>
                    <a:lstStyle/>
                    <a:p>
                      <a:r>
                        <a:rPr sz="900" b="0">
                          <a:solidFill>
                            <a:srgbClr val="4B4B4B"/>
                          </a:solidFill>
                          <a:latin typeface="Arial"/>
                        </a:rPr>
                        <a:t>CLR-CL-30</a:t>
                      </a:r>
                    </a:p>
                  </a:txBody>
                  <a:tcPr marL="54864" marR="54864" marT="27432" marB="27432">
                    <a:solidFill>
                      <a:srgbClr val="E5F5FF"/>
                    </a:solidFill>
                  </a:tcPr>
                </a:tc>
                <a:tc>
                  <a:txBody>
                    <a:bodyPr/>
                    <a:lstStyle/>
                    <a:p>
                      <a:r>
                        <a:rPr sz="900" b="0">
                          <a:solidFill>
                            <a:srgbClr val="4B4B4B"/>
                          </a:solidFill>
                          <a:latin typeface="Arial"/>
                        </a:rPr>
                        <a:t>Disposition and effort values to confirm (FR-CL-030, 033, 072; CQ08)</a:t>
                      </a:r>
                    </a:p>
                  </a:txBody>
                  <a:tcPr marL="54864" marR="54864" marT="27432" marB="27432">
                    <a:solidFill>
                      <a:srgbClr val="E5F5FF"/>
                    </a:solidFill>
                  </a:tcPr>
                </a:tc>
                <a:tc>
                  <a:txBody>
                    <a:bodyPr/>
                    <a:lstStyle/>
                    <a:p>
                      <a:r>
                        <a:rPr sz="900" b="0">
                          <a:solidFill>
                            <a:srgbClr val="4B4B4B"/>
                          </a:solidFill>
                          <a:latin typeface="Arial"/>
                        </a:rPr>
                        <a:t>The seeded dispositions, effort codes and escalation reasons are the values implied by the BRD; BDOI replaces them with its lists as configuration.</a:t>
                      </a:r>
                    </a:p>
                  </a:txBody>
                  <a:tcPr marL="54864" marR="54864" marT="27432" marB="27432">
                    <a:solidFill>
                      <a:srgbClr val="E5F5FF"/>
                    </a:solidFill>
                  </a:tcPr>
                </a:tc>
                <a:tc>
                  <a:txBody>
                    <a:bodyPr/>
                    <a:lstStyle/>
                    <a:p>
                      <a:r>
                        <a:rPr sz="900" b="0">
                          <a:solidFill>
                            <a:srgbClr val="4B4B4B"/>
                          </a:solidFill>
                          <a:latin typeface="Arial"/>
                        </a:rPr>
                        <a:t>Give the lists of dispositions, effort codes and escalation reasons (CQ08).</a:t>
                      </a:r>
                    </a:p>
                  </a:txBody>
                  <a:tcPr marL="54864" marR="54864" marT="27432" marB="27432">
                    <a:solidFill>
                      <a:srgbClr val="E5F5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graphicFrame>
        <p:nvGraphicFramePr>
          <p:cNvPr id="9" name="Table 8"/>
          <p:cNvGraphicFramePr>
            <a:graphicFrameLocks noGrp="1"/>
          </p:cNvGraphicFramePr>
          <p:nvPr/>
        </p:nvGraphicFramePr>
        <p:xfrm>
          <a:off x="548640" y="1325880"/>
          <a:ext cx="11094413" cy="425196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502920">
                <a:tc>
                  <a:txBody>
                    <a:bodyPr/>
                    <a:lstStyle/>
                    <a:p>
                      <a:r>
                        <a:rPr sz="900" b="0">
                          <a:solidFill>
                            <a:srgbClr val="4B4B4B"/>
                          </a:solidFill>
                          <a:latin typeface="Arial"/>
                        </a:rPr>
                        <a:t>UX-CL-01</a:t>
                      </a:r>
                    </a:p>
                  </a:txBody>
                  <a:tcPr marL="54864" marR="54864" marT="27432" marB="27432">
                    <a:solidFill>
                      <a:srgbClr val="FFFFFF"/>
                    </a:solidFill>
                  </a:tcPr>
                </a:tc>
                <a:tc>
                  <a:txBody>
                    <a:bodyPr/>
                    <a:lstStyle/>
                    <a:p>
                      <a:r>
                        <a:rPr sz="900" b="0">
                          <a:solidFill>
                            <a:srgbClr val="4B4B4B"/>
                          </a:solidFill>
                          <a:latin typeface="Arial"/>
                        </a:rPr>
                        <a:t>SCR-CL-01</a:t>
                      </a:r>
                    </a:p>
                  </a:txBody>
                  <a:tcPr marL="54864" marR="54864" marT="27432" marB="27432">
                    <a:solidFill>
                      <a:srgbClr val="FFFFFF"/>
                    </a:solidFill>
                  </a:tcPr>
                </a:tc>
                <a:tc>
                  <a:txBody>
                    <a:bodyPr/>
                    <a:lstStyle/>
                    <a:p>
                      <a:r>
                        <a:rPr sz="900" b="0">
                          <a:solidFill>
                            <a:srgbClr val="4B4B4B"/>
                          </a:solidFill>
                          <a:latin typeface="Arial"/>
                        </a:rPr>
                        <a:t>The Collections personas land on the New Business dashboard after sign-in, the landing page of every broking role; Collections Home is one click away in the menu.</a:t>
                      </a:r>
                    </a:p>
                  </a:txBody>
                  <a:tcPr marL="54864" marR="54864" marT="27432" marB="27432">
                    <a:solidFill>
                      <a:srgbClr val="FFFFFF"/>
                    </a:solidFill>
                  </a:tcPr>
                </a:tc>
                <a:tc>
                  <a:txBody>
                    <a:bodyPr/>
                    <a:lstStyle/>
                    <a:p>
                      <a:r>
                        <a:rPr sz="900" b="0">
                          <a:solidFill>
                            <a:srgbClr val="4B4B4B"/>
                          </a:solidFill>
                          <a:latin typeface="Arial"/>
                        </a:rPr>
                        <a:t>Confirm the landing page, or land each Collections persona on Collections Home.</a:t>
                      </a:r>
                    </a:p>
                  </a:txBody>
                  <a:tcPr marL="54864" marR="54864" marT="27432" marB="27432">
                    <a:solidFill>
                      <a:srgbClr val="FFFFFF"/>
                    </a:solidFill>
                  </a:tcPr>
                </a:tc>
              </a:tr>
              <a:tr h="640080">
                <a:tc>
                  <a:txBody>
                    <a:bodyPr/>
                    <a:lstStyle/>
                    <a:p>
                      <a:r>
                        <a:rPr sz="900" b="0">
                          <a:solidFill>
                            <a:srgbClr val="4B4B4B"/>
                          </a:solidFill>
                          <a:latin typeface="Arial"/>
                        </a:rPr>
                        <a:t>UX-CL-02</a:t>
                      </a:r>
                    </a:p>
                  </a:txBody>
                  <a:tcPr marL="54864" marR="54864" marT="27432" marB="27432">
                    <a:solidFill>
                      <a:srgbClr val="E5F5FF"/>
                    </a:solidFill>
                  </a:tcPr>
                </a:tc>
                <a:tc>
                  <a:txBody>
                    <a:bodyPr/>
                    <a:lstStyle/>
                    <a:p>
                      <a:r>
                        <a:rPr sz="900" b="0">
                          <a:solidFill>
                            <a:srgbClr val="4B4B4B"/>
                          </a:solidFill>
                          <a:latin typeface="Arial"/>
                        </a:rPr>
                        <a:t>SCR-CL-02, SCR-CL-14</a:t>
                      </a:r>
                    </a:p>
                  </a:txBody>
                  <a:tcPr marL="54864" marR="54864" marT="27432" marB="27432">
                    <a:solidFill>
                      <a:srgbClr val="E5F5FF"/>
                    </a:solidFill>
                  </a:tcPr>
                </a:tc>
                <a:tc>
                  <a:txBody>
                    <a:bodyPr/>
                    <a:lstStyle/>
                    <a:p>
                      <a:r>
                        <a:rPr sz="900" b="0">
                          <a:solidFill>
                            <a:srgbClr val="4B4B4B"/>
                          </a:solidFill>
                          <a:latin typeface="Arial"/>
                        </a:rPr>
                        <a:t>The PR Worklist and the Unapplied Payments hold many facts per row: related values share a column, one under the other (Booked / Aging, Payment / Transaction, Unapplied / Paid, Matched Account / Segment, Cashiering / Request), so that every column is in view at 1440 pixels.</a:t>
                      </a:r>
                    </a:p>
                  </a:txBody>
                  <a:tcPr marL="54864" marR="54864" marT="27432" marB="27432">
                    <a:solidFill>
                      <a:srgbClr val="E5F5FF"/>
                    </a:solidFill>
                  </a:tcPr>
                </a:tc>
                <a:tc>
                  <a:txBody>
                    <a:bodyPr/>
                    <a:lstStyle/>
                    <a:p>
                      <a:r>
                        <a:rPr sz="900" b="0">
                          <a:solidFill>
                            <a:srgbClr val="4B4B4B"/>
                          </a:solidFill>
                          <a:latin typeface="Arial"/>
                        </a:rPr>
                        <a:t>Confirm the stacked columns, or choose the columns to keep in view and move the others to the record.</a:t>
                      </a:r>
                    </a:p>
                  </a:txBody>
                  <a:tcPr marL="54864" marR="54864" marT="27432" marB="27432">
                    <a:solidFill>
                      <a:srgbClr val="E5F5FF"/>
                    </a:solidFill>
                  </a:tcPr>
                </a:tc>
              </a:tr>
              <a:tr h="365760">
                <a:tc>
                  <a:txBody>
                    <a:bodyPr/>
                    <a:lstStyle/>
                    <a:p>
                      <a:r>
                        <a:rPr sz="900" b="0">
                          <a:solidFill>
                            <a:srgbClr val="4B4B4B"/>
                          </a:solidFill>
                          <a:latin typeface="Arial"/>
                        </a:rPr>
                        <a:t>UX-CL-03</a:t>
                      </a:r>
                    </a:p>
                  </a:txBody>
                  <a:tcPr marL="54864" marR="54864" marT="27432" marB="27432">
                    <a:solidFill>
                      <a:srgbClr val="FFFFFF"/>
                    </a:solidFill>
                  </a:tcPr>
                </a:tc>
                <a:tc>
                  <a:txBody>
                    <a:bodyPr/>
                    <a:lstStyle/>
                    <a:p>
                      <a:r>
                        <a:rPr sz="900" b="0">
                          <a:solidFill>
                            <a:srgbClr val="4B4B4B"/>
                          </a:solidFill>
                          <a:latin typeface="Arial"/>
                        </a:rPr>
                        <a:t>SCR-CL-02</a:t>
                      </a:r>
                    </a:p>
                  </a:txBody>
                  <a:tcPr marL="54864" marR="54864" marT="27432" marB="27432">
                    <a:solidFill>
                      <a:srgbClr val="FFFFFF"/>
                    </a:solidFill>
                  </a:tcPr>
                </a:tc>
                <a:tc>
                  <a:txBody>
                    <a:bodyPr/>
                    <a:lstStyle/>
                    <a:p>
                      <a:r>
                        <a:rPr sz="900" b="0">
                          <a:solidFill>
                            <a:srgbClr val="4B4B4B"/>
                          </a:solidFill>
                          <a:latin typeface="Arial"/>
                        </a:rPr>
                        <a:t>A migrated invoice carries the Legacy tag; when its booking date is later than today (a legacy booking dated ahead), its aging reads in negative days.</a:t>
                      </a:r>
                    </a:p>
                  </a:txBody>
                  <a:tcPr marL="54864" marR="54864" marT="27432" marB="27432">
                    <a:solidFill>
                      <a:srgbClr val="FFFFFF"/>
                    </a:solidFill>
                  </a:tcPr>
                </a:tc>
                <a:tc>
                  <a:txBody>
                    <a:bodyPr/>
                    <a:lstStyle/>
                    <a:p>
                      <a:r>
                        <a:rPr sz="900" b="0">
                          <a:solidFill>
                            <a:srgbClr val="4B4B4B"/>
                          </a:solidFill>
                          <a:latin typeface="Arial"/>
                        </a:rPr>
                        <a:t>Show the aging of an invoice booked ahead as 0 days, or count it from the inception date.</a:t>
                      </a:r>
                    </a:p>
                  </a:txBody>
                  <a:tcPr marL="54864" marR="54864" marT="27432" marB="27432">
                    <a:solidFill>
                      <a:srgbClr val="FFFFFF"/>
                    </a:solidFill>
                  </a:tcPr>
                </a:tc>
              </a:tr>
              <a:tr h="502920">
                <a:tc>
                  <a:txBody>
                    <a:bodyPr/>
                    <a:lstStyle/>
                    <a:p>
                      <a:r>
                        <a:rPr sz="900" b="0">
                          <a:solidFill>
                            <a:srgbClr val="4B4B4B"/>
                          </a:solidFill>
                          <a:latin typeface="Arial"/>
                        </a:rPr>
                        <a:t>UX-CL-04</a:t>
                      </a:r>
                    </a:p>
                  </a:txBody>
                  <a:tcPr marL="54864" marR="54864" marT="27432" marB="27432">
                    <a:solidFill>
                      <a:srgbClr val="E5F5FF"/>
                    </a:solidFill>
                  </a:tcPr>
                </a:tc>
                <a:tc>
                  <a:txBody>
                    <a:bodyPr/>
                    <a:lstStyle/>
                    <a:p>
                      <a:r>
                        <a:rPr sz="900" b="0">
                          <a:solidFill>
                            <a:srgbClr val="4B4B4B"/>
                          </a:solidFill>
                          <a:latin typeface="Arial"/>
                        </a:rPr>
                        <a:t>SCR-CL-03</a:t>
                      </a:r>
                    </a:p>
                  </a:txBody>
                  <a:tcPr marL="54864" marR="54864" marT="27432" marB="27432">
                    <a:solidFill>
                      <a:srgbClr val="E5F5FF"/>
                    </a:solidFill>
                  </a:tcPr>
                </a:tc>
                <a:tc>
                  <a:txBody>
                    <a:bodyPr/>
                    <a:lstStyle/>
                    <a:p>
                      <a:r>
                        <a:rPr sz="900" b="0">
                          <a:solidFill>
                            <a:srgbClr val="4B4B4B"/>
                          </a:solidFill>
                          <a:latin typeface="Arial"/>
                        </a:rPr>
                        <a:t>The Hand-offs to Operations table on the Dispositions &amp; Efforts tab shows the reference of a hand-off as Operations keeps it (for example CWT:BI-HO-2026-000009:5 for a BIR 2307 tag).</a:t>
                      </a:r>
                    </a:p>
                  </a:txBody>
                  <a:tcPr marL="54864" marR="54864" marT="27432" marB="27432">
                    <a:solidFill>
                      <a:srgbClr val="E5F5FF"/>
                    </a:solidFill>
                  </a:tcPr>
                </a:tc>
                <a:tc>
                  <a:txBody>
                    <a:bodyPr/>
                    <a:lstStyle/>
                    <a:p>
                      <a:r>
                        <a:rPr sz="900" b="0">
                          <a:solidFill>
                            <a:srgbClr val="4B4B4B"/>
                          </a:solidFill>
                          <a:latin typeface="Arial"/>
                        </a:rPr>
                        <a:t>Show the number of the Operations record the hand-off created (the reversal request).</a:t>
                      </a:r>
                    </a:p>
                  </a:txBody>
                  <a:tcPr marL="54864" marR="54864" marT="27432" marB="27432">
                    <a:solidFill>
                      <a:srgbClr val="E5F5FF"/>
                    </a:solidFill>
                  </a:tcPr>
                </a:tc>
              </a:tr>
              <a:tr h="502920">
                <a:tc>
                  <a:txBody>
                    <a:bodyPr/>
                    <a:lstStyle/>
                    <a:p>
                      <a:r>
                        <a:rPr sz="900" b="0">
                          <a:solidFill>
                            <a:srgbClr val="4B4B4B"/>
                          </a:solidFill>
                          <a:latin typeface="Arial"/>
                        </a:rPr>
                        <a:t>UX-CL-05</a:t>
                      </a:r>
                    </a:p>
                  </a:txBody>
                  <a:tcPr marL="54864" marR="54864" marT="27432" marB="27432">
                    <a:solidFill>
                      <a:srgbClr val="FFFFFF"/>
                    </a:solidFill>
                  </a:tcPr>
                </a:tc>
                <a:tc>
                  <a:txBody>
                    <a:bodyPr/>
                    <a:lstStyle/>
                    <a:p>
                      <a:r>
                        <a:rPr sz="900" b="0">
                          <a:solidFill>
                            <a:srgbClr val="4B4B4B"/>
                          </a:solidFill>
                          <a:latin typeface="Arial"/>
                        </a:rPr>
                        <a:t>SCR-CL-15</a:t>
                      </a:r>
                    </a:p>
                  </a:txBody>
                  <a:tcPr marL="54864" marR="54864" marT="27432" marB="27432">
                    <a:solidFill>
                      <a:srgbClr val="FFFFFF"/>
                    </a:solidFill>
                  </a:tcPr>
                </a:tc>
                <a:tc>
                  <a:txBody>
                    <a:bodyPr/>
                    <a:lstStyle/>
                    <a:p>
                      <a:r>
                        <a:rPr sz="900" b="0">
                          <a:solidFill>
                            <a:srgbClr val="4B4B4B"/>
                          </a:solidFill>
                          <a:latin typeface="Arial"/>
                        </a:rPr>
                        <a:t>The History tab of an unapplied payment shows, in its Reference column, the internal reference of a disposition (DSP:3) and of a request to Cashiering (CLX-UPP-4) next to the receipt and request numbers.</a:t>
                      </a:r>
                    </a:p>
                  </a:txBody>
                  <a:tcPr marL="54864" marR="54864" marT="27432" marB="27432">
                    <a:solidFill>
                      <a:srgbClr val="FFFFFF"/>
                    </a:solidFill>
                  </a:tcPr>
                </a:tc>
                <a:tc>
                  <a:txBody>
                    <a:bodyPr/>
                    <a:lstStyle/>
                    <a:p>
                      <a:r>
                        <a:rPr sz="900" b="0">
                          <a:solidFill>
                            <a:srgbClr val="4B4B4B"/>
                          </a:solidFill>
                          <a:latin typeface="Arial"/>
                        </a:rPr>
                        <a:t>Show only the business numbers (AR, CRQ and invoice numbers) and leave the cell blank otherwise.</a:t>
                      </a:r>
                    </a:p>
                  </a:txBody>
                  <a:tcPr marL="54864" marR="54864" marT="27432" marB="27432">
                    <a:solidFill>
                      <a:srgbClr val="FFFFFF"/>
                    </a:solidFill>
                  </a:tcPr>
                </a:tc>
              </a:tr>
              <a:tr h="365760">
                <a:tc>
                  <a:txBody>
                    <a:bodyPr/>
                    <a:lstStyle/>
                    <a:p>
                      <a:r>
                        <a:rPr sz="900" b="0">
                          <a:solidFill>
                            <a:srgbClr val="4B4B4B"/>
                          </a:solidFill>
                          <a:latin typeface="Arial"/>
                        </a:rPr>
                        <a:t>UX-CL-06</a:t>
                      </a:r>
                    </a:p>
                  </a:txBody>
                  <a:tcPr marL="54864" marR="54864" marT="27432" marB="27432">
                    <a:solidFill>
                      <a:srgbClr val="E5F5FF"/>
                    </a:solidFill>
                  </a:tcPr>
                </a:tc>
                <a:tc>
                  <a:txBody>
                    <a:bodyPr/>
                    <a:lstStyle/>
                    <a:p>
                      <a:r>
                        <a:rPr sz="900" b="0">
                          <a:solidFill>
                            <a:srgbClr val="4B4B4B"/>
                          </a:solidFill>
                          <a:latin typeface="Arial"/>
                        </a:rPr>
                        <a:t>SCR-CL-13, SCR-CL-02, SCR-CL-17</a:t>
                      </a:r>
                    </a:p>
                  </a:txBody>
                  <a:tcPr marL="54864" marR="54864" marT="27432" marB="27432">
                    <a:solidFill>
                      <a:srgbClr val="E5F5FF"/>
                    </a:solidFill>
                  </a:tcPr>
                </a:tc>
                <a:tc>
                  <a:txBody>
                    <a:bodyPr/>
                    <a:lstStyle/>
                    <a:p>
                      <a:r>
                        <a:rPr sz="900" b="0">
                          <a:solidFill>
                            <a:srgbClr val="4B4B4B"/>
                          </a:solidFill>
                          <a:latin typeface="Arial"/>
                        </a:rPr>
                        <a:t>The Segment of an escalation rule and the Market Segment, Sales Unit and Unit Head filters are typed in as codes (RETAIL, T-CBG1).</a:t>
                      </a:r>
                    </a:p>
                  </a:txBody>
                  <a:tcPr marL="54864" marR="54864" marT="27432" marB="27432">
                    <a:solidFill>
                      <a:srgbClr val="E5F5FF"/>
                    </a:solidFill>
                  </a:tcPr>
                </a:tc>
                <a:tc>
                  <a:txBody>
                    <a:bodyPr/>
                    <a:lstStyle/>
                    <a:p>
                      <a:r>
                        <a:rPr sz="900" b="0">
                          <a:solidFill>
                            <a:srgbClr val="4B4B4B"/>
                          </a:solidFill>
                          <a:latin typeface="Arial"/>
                        </a:rPr>
                        <a:t>Offer the segments, the sales units and the unit heads as drop-downs by name.</a:t>
                      </a:r>
                    </a:p>
                  </a:txBody>
                  <a:tcPr marL="54864" marR="54864" marT="27432" marB="27432">
                    <a:solidFill>
                      <a:srgbClr val="E5F5FF"/>
                    </a:solidFill>
                  </a:tcPr>
                </a:tc>
              </a:tr>
              <a:tr h="502920">
                <a:tc>
                  <a:txBody>
                    <a:bodyPr/>
                    <a:lstStyle/>
                    <a:p>
                      <a:r>
                        <a:rPr sz="900" b="0">
                          <a:solidFill>
                            <a:srgbClr val="4B4B4B"/>
                          </a:solidFill>
                          <a:latin typeface="Arial"/>
                        </a:rPr>
                        <a:t>UX-CL-07</a:t>
                      </a:r>
                    </a:p>
                  </a:txBody>
                  <a:tcPr marL="54864" marR="54864" marT="27432" marB="27432">
                    <a:solidFill>
                      <a:srgbClr val="FFFFFF"/>
                    </a:solidFill>
                  </a:tcPr>
                </a:tc>
                <a:tc>
                  <a:txBody>
                    <a:bodyPr/>
                    <a:lstStyle/>
                    <a:p>
                      <a:r>
                        <a:rPr sz="900" b="0">
                          <a:solidFill>
                            <a:srgbClr val="4B4B4B"/>
                          </a:solidFill>
                          <a:latin typeface="Arial"/>
                        </a:rPr>
                        <a:t>SCR-CL-19</a:t>
                      </a:r>
                    </a:p>
                  </a:txBody>
                  <a:tcPr marL="54864" marR="54864" marT="27432" marB="27432">
                    <a:solidFill>
                      <a:srgbClr val="FFFFFF"/>
                    </a:solidFill>
                  </a:tcPr>
                </a:tc>
                <a:tc>
                  <a:txBody>
                    <a:bodyPr/>
                    <a:lstStyle/>
                    <a:p>
                      <a:r>
                        <a:rPr sz="900" b="0">
                          <a:solidFill>
                            <a:srgbClr val="4B4B4B"/>
                          </a:solidFill>
                          <a:latin typeface="Arial"/>
                        </a:rPr>
                        <a:t>The Invoice Number Format parameter holds the pattern the system checks the invoice number of "For application to invoice" against, written as an expression.</a:t>
                      </a:r>
                    </a:p>
                  </a:txBody>
                  <a:tcPr marL="54864" marR="54864" marT="27432" marB="27432">
                    <a:solidFill>
                      <a:srgbClr val="FFFFFF"/>
                    </a:solidFill>
                  </a:tcPr>
                </a:tc>
                <a:tc>
                  <a:txBody>
                    <a:bodyPr/>
                    <a:lstStyle/>
                    <a:p>
                      <a:r>
                        <a:rPr sz="900" b="0">
                          <a:solidFill>
                            <a:srgbClr val="4B4B4B"/>
                          </a:solidFill>
                          <a:latin typeface="Arial"/>
                        </a:rPr>
                        <a:t>Confirm that the System Administrator keeps the format, or offer the allowed formats as choices.</a:t>
                      </a:r>
                    </a:p>
                  </a:txBody>
                  <a:tcPr marL="54864" marR="54864" marT="27432" marB="27432">
                    <a:solidFill>
                      <a:srgbClr val="FFFFFF"/>
                    </a:solidFill>
                  </a:tcPr>
                </a:tc>
              </a:tr>
              <a:tr h="640080">
                <a:tc>
                  <a:txBody>
                    <a:bodyPr/>
                    <a:lstStyle/>
                    <a:p>
                      <a:r>
                        <a:rPr sz="900" b="0">
                          <a:solidFill>
                            <a:srgbClr val="4B4B4B"/>
                          </a:solidFill>
                          <a:latin typeface="Arial"/>
                        </a:rPr>
                        <a:t>UX-CL-08</a:t>
                      </a:r>
                    </a:p>
                  </a:txBody>
                  <a:tcPr marL="54864" marR="54864" marT="27432" marB="27432">
                    <a:solidFill>
                      <a:srgbClr val="E5F5FF"/>
                    </a:solidFill>
                  </a:tcPr>
                </a:tc>
                <a:tc>
                  <a:txBody>
                    <a:bodyPr/>
                    <a:lstStyle/>
                    <a:p>
                      <a:r>
                        <a:rPr sz="900" b="0">
                          <a:solidFill>
                            <a:srgbClr val="4B4B4B"/>
                          </a:solidFill>
                          <a:latin typeface="Arial"/>
                        </a:rPr>
                        <a:t>SCR-CL-18</a:t>
                      </a:r>
                    </a:p>
                  </a:txBody>
                  <a:tcPr marL="54864" marR="54864" marT="27432" marB="27432">
                    <a:solidFill>
                      <a:srgbClr val="E5F5FF"/>
                    </a:solidFill>
                  </a:tcPr>
                </a:tc>
                <a:tc>
                  <a:txBody>
                    <a:bodyPr/>
                    <a:lstStyle/>
                    <a:p>
                      <a:r>
                        <a:rPr sz="900" b="0">
                          <a:solidFill>
                            <a:srgbClr val="4B4B4B"/>
                          </a:solidFill>
                          <a:latin typeface="Arial"/>
                        </a:rPr>
                        <a:t>The Collections report files (Outstanding PR List, Full Production Report, DP PR for Reversal) print the product name and the report code in the page footer; the daily application file to Cashiering is the interface file itself, with its field names and the user ID of the requester.</a:t>
                      </a:r>
                    </a:p>
                  </a:txBody>
                  <a:tcPr marL="54864" marR="54864" marT="27432" marB="27432">
                    <a:solidFill>
                      <a:srgbClr val="E5F5FF"/>
                    </a:solidFill>
                  </a:tcPr>
                </a:tc>
                <a:tc>
                  <a:txBody>
                    <a:bodyPr/>
                    <a:lstStyle/>
                    <a:p>
                      <a:r>
                        <a:rPr sz="900" b="0">
                          <a:solidFill>
                            <a:srgbClr val="4B4B4B"/>
                          </a:solidFill>
                          <a:latin typeface="Arial"/>
                        </a:rPr>
                        <a:t>Confirm the footer of the report files (BIBS and the report title), and the layout of the application file with Cashiering.</a:t>
                      </a:r>
                    </a:p>
                  </a:txBody>
                  <a:tcPr marL="54864" marR="54864" marT="27432" marB="27432">
                    <a:solidFill>
                      <a:srgbClr val="E5F5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2" cy="462531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SCR-CL-01</a:t>
                      </a:r>
                    </a:p>
                  </a:txBody>
                  <a:tcPr marL="54864" marR="54864" marT="27432" marB="27432">
                    <a:solidFill>
                      <a:srgbClr val="FFFFFF"/>
                    </a:solidFill>
                  </a:tcPr>
                </a:tc>
                <a:tc>
                  <a:txBody>
                    <a:bodyPr/>
                    <a:lstStyle/>
                    <a:p>
                      <a:r>
                        <a:rPr sz="850" b="0">
                          <a:solidFill>
                            <a:srgbClr val="4B4B4B"/>
                          </a:solidFill>
                          <a:latin typeface="Arial"/>
                        </a:rPr>
                        <a:t>Collections Home</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FR-CL-085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480057">
                <a:tc>
                  <a:txBody>
                    <a:bodyPr/>
                    <a:lstStyle/>
                    <a:p>
                      <a:r>
                        <a:rPr sz="850" b="0">
                          <a:solidFill>
                            <a:srgbClr val="4B4B4B"/>
                          </a:solidFill>
                          <a:latin typeface="Arial"/>
                        </a:rPr>
                        <a:t>SCR-CL-02</a:t>
                      </a:r>
                    </a:p>
                  </a:txBody>
                  <a:tcPr marL="54864" marR="54864" marT="27432" marB="27432">
                    <a:solidFill>
                      <a:srgbClr val="E5F5FF"/>
                    </a:solidFill>
                  </a:tcPr>
                </a:tc>
                <a:tc>
                  <a:txBody>
                    <a:bodyPr/>
                    <a:lstStyle/>
                    <a:p>
                      <a:r>
                        <a:rPr sz="850" b="0">
                          <a:solidFill>
                            <a:srgbClr val="4B4B4B"/>
                          </a:solidFill>
                          <a:latin typeface="Arial"/>
                        </a:rPr>
                        <a:t>PR Worklist</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FR-CL-010, FR-CL-011, FR-CL-013, FR-CL-014, FR-CL-015, FR-CL-017, FR-CL-021, FR-CL-031, FR-CL-033, FR-CL-034, FR-CL-084</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Filled, Empty list</a:t>
                      </a:r>
                    </a:p>
                  </a:txBody>
                  <a:tcPr marL="54864" marR="54864" marT="27432" marB="27432">
                    <a:solidFill>
                      <a:srgbClr val="E5F5FF"/>
                    </a:solidFill>
                  </a:tcPr>
                </a:tc>
              </a:tr>
              <a:tr h="480057">
                <a:tc>
                  <a:txBody>
                    <a:bodyPr/>
                    <a:lstStyle/>
                    <a:p>
                      <a:r>
                        <a:rPr sz="850" b="0">
                          <a:solidFill>
                            <a:srgbClr val="4B4B4B"/>
                          </a:solidFill>
                          <a:latin typeface="Arial"/>
                        </a:rPr>
                        <a:t>SCR-CL-03</a:t>
                      </a:r>
                    </a:p>
                  </a:txBody>
                  <a:tcPr marL="54864" marR="54864" marT="27432" marB="27432">
                    <a:solidFill>
                      <a:srgbClr val="FFFFFF"/>
                    </a:solidFill>
                  </a:tcPr>
                </a:tc>
                <a:tc>
                  <a:txBody>
                    <a:bodyPr/>
                    <a:lstStyle/>
                    <a:p>
                      <a:r>
                        <a:rPr sz="850" b="0">
                          <a:solidFill>
                            <a:srgbClr val="4B4B4B"/>
                          </a:solidFill>
                          <a:latin typeface="Arial"/>
                        </a:rPr>
                        <a:t>Collection Account</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FR-CL-002, FR-CL-003, FR-CL-005, FR-CL-016, FR-CL-018, FR-CL-031, FR-CL-032, FR-CL-033, FR-CL-041, FR-CL-043, FR-CL-044</a:t>
                      </a:r>
                    </a:p>
                  </a:txBody>
                  <a:tcPr marL="54864" marR="54864" marT="27432" marB="27432">
                    <a:solidFill>
                      <a:srgbClr val="FFFFFF"/>
                    </a:solidFill>
                  </a:tcPr>
                </a:tc>
                <a:tc>
                  <a:txBody>
                    <a:bodyPr/>
                    <a:lstStyle/>
                    <a:p>
                      <a:r>
                        <a:rPr sz="850" b="0">
                          <a:solidFill>
                            <a:srgbClr val="4B4B4B"/>
                          </a:solidFill>
                          <a:latin typeface="Arial"/>
                        </a:rPr>
                        <a:t>8</a:t>
                      </a:r>
                    </a:p>
                  </a:txBody>
                  <a:tcPr marL="54864" marR="54864" marT="27432" marB="27432">
                    <a:solidFill>
                      <a:srgbClr val="FFFFFF"/>
                    </a:solidFill>
                  </a:tcPr>
                </a:tc>
                <a:tc>
                  <a:txBody>
                    <a:bodyPr/>
                    <a:lstStyle/>
                    <a:p>
                      <a:r>
                        <a:rPr sz="850" b="0">
                          <a:solidFill>
                            <a:srgbClr val="4B4B4B"/>
                          </a:solidFill>
                          <a:latin typeface="Arial"/>
                        </a:rPr>
                        <a:t>Default, Validation error,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SCR-CL-04</a:t>
                      </a:r>
                    </a:p>
                  </a:txBody>
                  <a:tcPr marL="54864" marR="54864" marT="27432" marB="27432">
                    <a:solidFill>
                      <a:srgbClr val="E5F5FF"/>
                    </a:solidFill>
                  </a:tcPr>
                </a:tc>
                <a:tc>
                  <a:txBody>
                    <a:bodyPr/>
                    <a:lstStyle/>
                    <a:p>
                      <a:r>
                        <a:rPr sz="850" b="0">
                          <a:solidFill>
                            <a:srgbClr val="4B4B4B"/>
                          </a:solidFill>
                          <a:latin typeface="Arial"/>
                        </a:rPr>
                        <a:t>Client View</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FR-CL-014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SCR-CL-05</a:t>
                      </a:r>
                    </a:p>
                  </a:txBody>
                  <a:tcPr marL="54864" marR="54864" marT="27432" marB="27432">
                    <a:solidFill>
                      <a:srgbClr val="FFFFFF"/>
                    </a:solidFill>
                  </a:tcPr>
                </a:tc>
                <a:tc>
                  <a:txBody>
                    <a:bodyPr/>
                    <a:lstStyle/>
                    <a:p>
                      <a:r>
                        <a:rPr sz="850" b="0">
                          <a:solidFill>
                            <a:srgbClr val="4B4B4B"/>
                          </a:solidFill>
                          <a:latin typeface="Arial"/>
                        </a:rPr>
                        <a:t>Installment Plans</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FR-CL-040, FR-CL-041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SCR-CL-06</a:t>
                      </a:r>
                    </a:p>
                  </a:txBody>
                  <a:tcPr marL="54864" marR="54864" marT="27432" marB="27432">
                    <a:solidFill>
                      <a:srgbClr val="E5F5FF"/>
                    </a:solidFill>
                  </a:tcPr>
                </a:tc>
                <a:tc>
                  <a:txBody>
                    <a:bodyPr/>
                    <a:lstStyle/>
                    <a:p>
                      <a:r>
                        <a:rPr sz="850" b="0">
                          <a:solidFill>
                            <a:srgbClr val="4B4B4B"/>
                          </a:solidFill>
                          <a:latin typeface="Arial"/>
                        </a:rPr>
                        <a:t>Installment Plan</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FR-CL-040, FR-CL-041, FR-CL-042, FR-CL-060</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SCR-CL-07</a:t>
                      </a:r>
                    </a:p>
                  </a:txBody>
                  <a:tcPr marL="54864" marR="54864" marT="27432" marB="27432">
                    <a:solidFill>
                      <a:srgbClr val="FFFFFF"/>
                    </a:solidFill>
                  </a:tcPr>
                </a:tc>
                <a:tc>
                  <a:txBody>
                    <a:bodyPr/>
                    <a:lstStyle/>
                    <a:p>
                      <a:r>
                        <a:rPr sz="850" b="0">
                          <a:solidFill>
                            <a:srgbClr val="4B4B4B"/>
                          </a:solidFill>
                          <a:latin typeface="Arial"/>
                        </a:rPr>
                        <a:t>Installments Due</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FR-CL-041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SCR-CL-08</a:t>
                      </a:r>
                    </a:p>
                  </a:txBody>
                  <a:tcPr marL="54864" marR="54864" marT="27432" marB="27432">
                    <a:solidFill>
                      <a:srgbClr val="E5F5FF"/>
                    </a:solidFill>
                  </a:tcPr>
                </a:tc>
                <a:tc>
                  <a:txBody>
                    <a:bodyPr/>
                    <a:lstStyle/>
                    <a:p>
                      <a:r>
                        <a:rPr sz="850" b="0">
                          <a:solidFill>
                            <a:srgbClr val="4B4B4B"/>
                          </a:solidFill>
                          <a:latin typeface="Arial"/>
                        </a:rPr>
                        <a:t>Promises to Pay</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FR-CL-042, FR-CL-034</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Filled, Validation error, Success message</a:t>
                      </a:r>
                    </a:p>
                  </a:txBody>
                  <a:tcPr marL="54864" marR="54864" marT="27432" marB="27432">
                    <a:solidFill>
                      <a:srgbClr val="E5F5FF"/>
                    </a:solidFill>
                  </a:tcPr>
                </a:tc>
              </a:tr>
              <a:tr h="220979">
                <a:tc>
                  <a:txBody>
                    <a:bodyPr/>
                    <a:lstStyle/>
                    <a:p>
                      <a:r>
                        <a:rPr sz="850" b="0">
                          <a:solidFill>
                            <a:srgbClr val="4B4B4B"/>
                          </a:solidFill>
                          <a:latin typeface="Arial"/>
                        </a:rPr>
                        <a:t>SCR-CL-09</a:t>
                      </a:r>
                    </a:p>
                  </a:txBody>
                  <a:tcPr marL="54864" marR="54864" marT="27432" marB="27432">
                    <a:solidFill>
                      <a:srgbClr val="FFFFFF"/>
                    </a:solidFill>
                  </a:tcPr>
                </a:tc>
                <a:tc>
                  <a:txBody>
                    <a:bodyPr/>
                    <a:lstStyle/>
                    <a:p>
                      <a:r>
                        <a:rPr sz="850" b="0">
                          <a:solidFill>
                            <a:srgbClr val="4B4B4B"/>
                          </a:solidFill>
                          <a:latin typeface="Arial"/>
                        </a:rPr>
                        <a:t>Billing Statements</a:t>
                      </a:r>
                    </a:p>
                  </a:txBody>
                  <a:tcPr marL="54864" marR="54864" marT="27432" marB="27432">
                    <a:solidFill>
                      <a:srgbClr val="FFFFFF"/>
                    </a:solidFill>
                  </a:tcPr>
                </a:tc>
                <a:tc>
                  <a:txBody>
                    <a:bodyPr/>
                    <a:lstStyle/>
                    <a:p>
                      <a:r>
                        <a:rPr sz="850" b="0">
                          <a:solidFill>
                            <a:srgbClr val="4B4B4B"/>
                          </a:solidFill>
                          <a:latin typeface="Arial"/>
                        </a:rPr>
                        <a:t>13.2.5</a:t>
                      </a:r>
                    </a:p>
                  </a:txBody>
                  <a:tcPr marL="54864" marR="54864" marT="27432" marB="27432">
                    <a:solidFill>
                      <a:srgbClr val="FFFFFF"/>
                    </a:solidFill>
                  </a:tcPr>
                </a:tc>
                <a:tc>
                  <a:txBody>
                    <a:bodyPr/>
                    <a:lstStyle/>
                    <a:p>
                      <a:r>
                        <a:rPr sz="850" b="0">
                          <a:solidFill>
                            <a:srgbClr val="4B4B4B"/>
                          </a:solidFill>
                          <a:latin typeface="Arial"/>
                        </a:rPr>
                        <a:t>FR-CL-060, FR-CL-061, FR-CL-062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SCR-CL-10</a:t>
                      </a:r>
                    </a:p>
                  </a:txBody>
                  <a:tcPr marL="54864" marR="54864" marT="27432" marB="27432">
                    <a:solidFill>
                      <a:srgbClr val="E5F5FF"/>
                    </a:solidFill>
                  </a:tcPr>
                </a:tc>
                <a:tc>
                  <a:txBody>
                    <a:bodyPr/>
                    <a:lstStyle/>
                    <a:p>
                      <a:r>
                        <a:rPr sz="850" b="0">
                          <a:solidFill>
                            <a:srgbClr val="4B4B4B"/>
                          </a:solidFill>
                          <a:latin typeface="Arial"/>
                        </a:rPr>
                        <a:t>Statement of Account</a:t>
                      </a:r>
                    </a:p>
                  </a:txBody>
                  <a:tcPr marL="54864" marR="54864" marT="27432" marB="27432">
                    <a:solidFill>
                      <a:srgbClr val="E5F5FF"/>
                    </a:solidFill>
                  </a:tcPr>
                </a:tc>
                <a:tc>
                  <a:txBody>
                    <a:bodyPr/>
                    <a:lstStyle/>
                    <a:p>
                      <a:r>
                        <a:rPr sz="850" b="0">
                          <a:solidFill>
                            <a:srgbClr val="4B4B4B"/>
                          </a:solidFill>
                          <a:latin typeface="Arial"/>
                        </a:rPr>
                        <a:t>13.2.6</a:t>
                      </a:r>
                    </a:p>
                  </a:txBody>
                  <a:tcPr marL="54864" marR="54864" marT="27432" marB="27432">
                    <a:solidFill>
                      <a:srgbClr val="E5F5FF"/>
                    </a:solidFill>
                  </a:tcPr>
                </a:tc>
                <a:tc>
                  <a:txBody>
                    <a:bodyPr/>
                    <a:lstStyle/>
                    <a:p>
                      <a:r>
                        <a:rPr sz="850" b="0">
                          <a:solidFill>
                            <a:srgbClr val="4B4B4B"/>
                          </a:solidFill>
                          <a:latin typeface="Arial"/>
                        </a:rPr>
                        <a:t>FR-CL-060, FR-CL-061, FR-CL-062</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SCR-CL-11</a:t>
                      </a:r>
                    </a:p>
                  </a:txBody>
                  <a:tcPr marL="54864" marR="54864" marT="27432" marB="27432">
                    <a:solidFill>
                      <a:srgbClr val="FFFFFF"/>
                    </a:solidFill>
                  </a:tcPr>
                </a:tc>
                <a:tc>
                  <a:txBody>
                    <a:bodyPr/>
                    <a:lstStyle/>
                    <a:p>
                      <a:r>
                        <a:rPr sz="850" b="0">
                          <a:solidFill>
                            <a:srgbClr val="4B4B4B"/>
                          </a:solidFill>
                          <a:latin typeface="Arial"/>
                        </a:rPr>
                        <a:t>Escalations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FR-CL-051, FR-CL-052, FR-CL-053</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 Empty list</a:t>
                      </a:r>
                    </a:p>
                  </a:txBody>
                  <a:tcPr marL="54864" marR="54864" marT="27432" marB="27432">
                    <a:solidFill>
                      <a:srgbClr val="FFFFFF"/>
                    </a:solidFill>
                  </a:tcPr>
                </a:tc>
              </a:tr>
              <a:tr h="220979">
                <a:tc>
                  <a:txBody>
                    <a:bodyPr/>
                    <a:lstStyle/>
                    <a:p>
                      <a:r>
                        <a:rPr sz="850" b="0">
                          <a:solidFill>
                            <a:srgbClr val="4B4B4B"/>
                          </a:solidFill>
                          <a:latin typeface="Arial"/>
                        </a:rPr>
                        <a:t>SCR-CL-12</a:t>
                      </a:r>
                    </a:p>
                  </a:txBody>
                  <a:tcPr marL="54864" marR="54864" marT="27432" marB="27432">
                    <a:solidFill>
                      <a:srgbClr val="E5F5FF"/>
                    </a:solidFill>
                  </a:tcPr>
                </a:tc>
                <a:tc>
                  <a:txBody>
                    <a:bodyPr/>
                    <a:lstStyle/>
                    <a:p>
                      <a:r>
                        <a:rPr sz="850" b="0">
                          <a:solidFill>
                            <a:srgbClr val="4B4B4B"/>
                          </a:solidFill>
                          <a:latin typeface="Arial"/>
                        </a:rPr>
                        <a:t>Escalation</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FR-CL-053</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Confirmation with reason, Success message</a:t>
                      </a:r>
                    </a:p>
                  </a:txBody>
                  <a:tcPr marL="54864" marR="54864" marT="27432" marB="27432">
                    <a:solidFill>
                      <a:srgbClr val="E5F5FF"/>
                    </a:solidFill>
                  </a:tcPr>
                </a:tc>
              </a:tr>
              <a:tr h="220979">
                <a:tc>
                  <a:txBody>
                    <a:bodyPr/>
                    <a:lstStyle/>
                    <a:p>
                      <a:r>
                        <a:rPr sz="850" b="0">
                          <a:solidFill>
                            <a:srgbClr val="4B4B4B"/>
                          </a:solidFill>
                          <a:latin typeface="Arial"/>
                        </a:rPr>
                        <a:t>SCR-CL-13</a:t>
                      </a:r>
                    </a:p>
                  </a:txBody>
                  <a:tcPr marL="54864" marR="54864" marT="27432" marB="27432">
                    <a:solidFill>
                      <a:srgbClr val="FFFFFF"/>
                    </a:solidFill>
                  </a:tcPr>
                </a:tc>
                <a:tc>
                  <a:txBody>
                    <a:bodyPr/>
                    <a:lstStyle/>
                    <a:p>
                      <a:r>
                        <a:rPr sz="850" b="0">
                          <a:solidFill>
                            <a:srgbClr val="4B4B4B"/>
                          </a:solidFill>
                          <a:latin typeface="Arial"/>
                        </a:rPr>
                        <a:t>Escalation Rules</a:t>
                      </a:r>
                    </a:p>
                  </a:txBody>
                  <a:tcPr marL="54864" marR="54864" marT="27432" marB="27432">
                    <a:solidFill>
                      <a:srgbClr val="FFFFFF"/>
                    </a:solidFill>
                  </a:tcPr>
                </a:tc>
                <a:tc>
                  <a:txBody>
                    <a:bodyPr/>
                    <a:lstStyle/>
                    <a:p>
                      <a:r>
                        <a:rPr sz="850" b="0">
                          <a:solidFill>
                            <a:srgbClr val="4B4B4B"/>
                          </a:solidFill>
                          <a:latin typeface="Arial"/>
                        </a:rPr>
                        <a:t>13.3.3</a:t>
                      </a:r>
                    </a:p>
                  </a:txBody>
                  <a:tcPr marL="54864" marR="54864" marT="27432" marB="27432">
                    <a:solidFill>
                      <a:srgbClr val="FFFFFF"/>
                    </a:solidFill>
                  </a:tcPr>
                </a:tc>
                <a:tc>
                  <a:txBody>
                    <a:bodyPr/>
                    <a:lstStyle/>
                    <a:p>
                      <a:r>
                        <a:rPr sz="850" b="0">
                          <a:solidFill>
                            <a:srgbClr val="4B4B4B"/>
                          </a:solidFill>
                          <a:latin typeface="Arial"/>
                        </a:rPr>
                        <a:t>FR-CL-050, FR-CL-051</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 Pending approval</a:t>
                      </a:r>
                    </a:p>
                  </a:txBody>
                  <a:tcPr marL="54864" marR="54864" marT="27432" marB="27432">
                    <a:solidFill>
                      <a:srgbClr val="FFFFFF"/>
                    </a:solidFill>
                  </a:tcPr>
                </a:tc>
              </a:tr>
              <a:tr h="350518">
                <a:tc>
                  <a:txBody>
                    <a:bodyPr/>
                    <a:lstStyle/>
                    <a:p>
                      <a:r>
                        <a:rPr sz="850" b="0">
                          <a:solidFill>
                            <a:srgbClr val="4B4B4B"/>
                          </a:solidFill>
                          <a:latin typeface="Arial"/>
                        </a:rPr>
                        <a:t>SCR-CL-14</a:t>
                      </a:r>
                    </a:p>
                  </a:txBody>
                  <a:tcPr marL="54864" marR="54864" marT="27432" marB="27432">
                    <a:solidFill>
                      <a:srgbClr val="E5F5FF"/>
                    </a:solidFill>
                  </a:tcPr>
                </a:tc>
                <a:tc>
                  <a:txBody>
                    <a:bodyPr/>
                    <a:lstStyle/>
                    <a:p>
                      <a:r>
                        <a:rPr sz="850" b="0">
                          <a:solidFill>
                            <a:srgbClr val="4B4B4B"/>
                          </a:solidFill>
                          <a:latin typeface="Arial"/>
                        </a:rPr>
                        <a:t>Unapplied Payments</a:t>
                      </a:r>
                    </a:p>
                  </a:txBody>
                  <a:tcPr marL="54864" marR="54864" marT="27432" marB="27432">
                    <a:solidFill>
                      <a:srgbClr val="E5F5FF"/>
                    </a:solidFill>
                  </a:tcPr>
                </a:tc>
                <a:tc>
                  <a:txBody>
                    <a:bodyPr/>
                    <a:lstStyle/>
                    <a:p>
                      <a:r>
                        <a:rPr sz="850" b="0">
                          <a:solidFill>
                            <a:srgbClr val="4B4B4B"/>
                          </a:solidFill>
                          <a:latin typeface="Arial"/>
                        </a:rPr>
                        <a:t>13.4.1</a:t>
                      </a:r>
                    </a:p>
                  </a:txBody>
                  <a:tcPr marL="54864" marR="54864" marT="27432" marB="27432">
                    <a:solidFill>
                      <a:srgbClr val="E5F5FF"/>
                    </a:solidFill>
                  </a:tcPr>
                </a:tc>
                <a:tc>
                  <a:txBody>
                    <a:bodyPr/>
                    <a:lstStyle/>
                    <a:p>
                      <a:r>
                        <a:rPr sz="850" b="0">
                          <a:solidFill>
                            <a:srgbClr val="4B4B4B"/>
                          </a:solidFill>
                          <a:latin typeface="Arial"/>
                        </a:rPr>
                        <a:t>FR-CL-070, FR-CL-071, FR-CL-072, FR-CL-073, FR-CL-074, FR-CL-075, FR-CL-076</a:t>
                      </a:r>
                    </a:p>
                  </a:txBody>
                  <a:tcPr marL="54864" marR="54864" marT="27432" marB="27432">
                    <a:solidFill>
                      <a:srgbClr val="E5F5FF"/>
                    </a:solidFill>
                  </a:tcPr>
                </a:tc>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Filled, Validation error,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SCR-CL-15</a:t>
                      </a:r>
                    </a:p>
                  </a:txBody>
                  <a:tcPr marL="54864" marR="54864" marT="27432" marB="27432">
                    <a:solidFill>
                      <a:srgbClr val="FFFFFF"/>
                    </a:solidFill>
                  </a:tcPr>
                </a:tc>
                <a:tc>
                  <a:txBody>
                    <a:bodyPr/>
                    <a:lstStyle/>
                    <a:p>
                      <a:r>
                        <a:rPr sz="850" b="0">
                          <a:solidFill>
                            <a:srgbClr val="4B4B4B"/>
                          </a:solidFill>
                          <a:latin typeface="Arial"/>
                        </a:rPr>
                        <a:t>Unapplied Payment</a:t>
                      </a:r>
                    </a:p>
                  </a:txBody>
                  <a:tcPr marL="54864" marR="54864" marT="27432" marB="27432">
                    <a:solidFill>
                      <a:srgbClr val="FFFFFF"/>
                    </a:solidFill>
                  </a:tcPr>
                </a:tc>
                <a:tc>
                  <a:txBody>
                    <a:bodyPr/>
                    <a:lstStyle/>
                    <a:p>
                      <a:r>
                        <a:rPr sz="850" b="0">
                          <a:solidFill>
                            <a:srgbClr val="4B4B4B"/>
                          </a:solidFill>
                          <a:latin typeface="Arial"/>
                        </a:rPr>
                        <a:t>13.4.2</a:t>
                      </a:r>
                    </a:p>
                  </a:txBody>
                  <a:tcPr marL="54864" marR="54864" marT="27432" marB="27432">
                    <a:solidFill>
                      <a:srgbClr val="FFFFFF"/>
                    </a:solidFill>
                  </a:tcPr>
                </a:tc>
                <a:tc>
                  <a:txBody>
                    <a:bodyPr/>
                    <a:lstStyle/>
                    <a:p>
                      <a:r>
                        <a:rPr sz="850" b="0">
                          <a:solidFill>
                            <a:srgbClr val="4B4B4B"/>
                          </a:solidFill>
                          <a:latin typeface="Arial"/>
                        </a:rPr>
                        <a:t>FR-CL-070, FR-CL-073, FR-CL-074, FR-CL-076</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r h="220979">
                <a:tc>
                  <a:txBody>
                    <a:bodyPr/>
                    <a:lstStyle/>
                    <a:p>
                      <a:r>
                        <a:rPr sz="850" b="0">
                          <a:solidFill>
                            <a:srgbClr val="4B4B4B"/>
                          </a:solidFill>
                          <a:latin typeface="Arial"/>
                        </a:rPr>
                        <a:t>SCR-CL-16</a:t>
                      </a:r>
                    </a:p>
                  </a:txBody>
                  <a:tcPr marL="54864" marR="54864" marT="27432" marB="27432">
                    <a:solidFill>
                      <a:srgbClr val="E5F5FF"/>
                    </a:solidFill>
                  </a:tcPr>
                </a:tc>
                <a:tc>
                  <a:txBody>
                    <a:bodyPr/>
                    <a:lstStyle/>
                    <a:p>
                      <a:r>
                        <a:rPr sz="850" b="0">
                          <a:solidFill>
                            <a:srgbClr val="4B4B4B"/>
                          </a:solidFill>
                          <a:latin typeface="Arial"/>
                        </a:rPr>
                        <a:t>Requests to Cashiering</a:t>
                      </a:r>
                    </a:p>
                  </a:txBody>
                  <a:tcPr marL="54864" marR="54864" marT="27432" marB="27432">
                    <a:solidFill>
                      <a:srgbClr val="E5F5FF"/>
                    </a:solidFill>
                  </a:tcPr>
                </a:tc>
                <a:tc>
                  <a:txBody>
                    <a:bodyPr/>
                    <a:lstStyle/>
                    <a:p>
                      <a:r>
                        <a:rPr sz="850" b="0">
                          <a:solidFill>
                            <a:srgbClr val="4B4B4B"/>
                          </a:solidFill>
                          <a:latin typeface="Arial"/>
                        </a:rPr>
                        <a:t>13.4.3</a:t>
                      </a:r>
                    </a:p>
                  </a:txBody>
                  <a:tcPr marL="54864" marR="54864" marT="27432" marB="27432">
                    <a:solidFill>
                      <a:srgbClr val="E5F5FF"/>
                    </a:solidFill>
                  </a:tcPr>
                </a:tc>
                <a:tc>
                  <a:txBody>
                    <a:bodyPr/>
                    <a:lstStyle/>
                    <a:p>
                      <a:r>
                        <a:rPr sz="850" b="0">
                          <a:solidFill>
                            <a:srgbClr val="4B4B4B"/>
                          </a:solidFill>
                          <a:latin typeface="Arial"/>
                        </a:rPr>
                        <a:t>FR-CL-074, FR-CL-077</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SCR-CL-17</a:t>
                      </a:r>
                    </a:p>
                  </a:txBody>
                  <a:tcPr marL="54864" marR="54864" marT="27432" marB="27432">
                    <a:solidFill>
                      <a:srgbClr val="FFFFFF"/>
                    </a:solidFill>
                  </a:tcPr>
                </a:tc>
                <a:tc>
                  <a:txBody>
                    <a:bodyPr/>
                    <a:lstStyle/>
                    <a:p>
                      <a:r>
                        <a:rPr sz="850" b="0">
                          <a:solidFill>
                            <a:srgbClr val="4B4B4B"/>
                          </a:solidFill>
                          <a:latin typeface="Arial"/>
                        </a:rPr>
                        <a:t>Assignments</a:t>
                      </a:r>
                    </a:p>
                  </a:txBody>
                  <a:tcPr marL="54864" marR="54864" marT="27432" marB="27432">
                    <a:solidFill>
                      <a:srgbClr val="FFFFFF"/>
                    </a:solidFill>
                  </a:tcPr>
                </a:tc>
                <a:tc>
                  <a:txBody>
                    <a:bodyPr/>
                    <a:lstStyle/>
                    <a:p>
                      <a:r>
                        <a:rPr sz="850" b="0">
                          <a:solidFill>
                            <a:srgbClr val="4B4B4B"/>
                          </a:solidFill>
                          <a:latin typeface="Arial"/>
                        </a:rPr>
                        <a:t>13.5.1</a:t>
                      </a:r>
                    </a:p>
                  </a:txBody>
                  <a:tcPr marL="54864" marR="54864" marT="27432" marB="27432">
                    <a:solidFill>
                      <a:srgbClr val="FFFFFF"/>
                    </a:solidFill>
                  </a:tcPr>
                </a:tc>
                <a:tc>
                  <a:txBody>
                    <a:bodyPr/>
                    <a:lstStyle/>
                    <a:p>
                      <a:r>
                        <a:rPr sz="850" b="0">
                          <a:solidFill>
                            <a:srgbClr val="4B4B4B"/>
                          </a:solidFill>
                          <a:latin typeface="Arial"/>
                        </a:rPr>
                        <a:t>FR-CL-020, FR-CL-021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graphicFrame>
        <p:nvGraphicFramePr>
          <p:cNvPr id="9" name="Table 8"/>
          <p:cNvGraphicFramePr>
            <a:graphicFrameLocks noGrp="1"/>
          </p:cNvGraphicFramePr>
          <p:nvPr/>
        </p:nvGraphicFramePr>
        <p:xfrm>
          <a:off x="548640" y="1325880"/>
          <a:ext cx="11094412" cy="493773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SCR-CL-18</a:t>
                      </a:r>
                    </a:p>
                  </a:txBody>
                  <a:tcPr marL="54864" marR="54864" marT="27432" marB="27432">
                    <a:solidFill>
                      <a:srgbClr val="FFFFFF"/>
                    </a:solidFill>
                  </a:tcPr>
                </a:tc>
                <a:tc>
                  <a:txBody>
                    <a:bodyPr/>
                    <a:lstStyle/>
                    <a:p>
                      <a:r>
                        <a:rPr sz="850" b="0">
                          <a:solidFill>
                            <a:srgbClr val="4B4B4B"/>
                          </a:solidFill>
                          <a:latin typeface="Arial"/>
                        </a:rPr>
                        <a:t>Collections Files</a:t>
                      </a:r>
                    </a:p>
                  </a:txBody>
                  <a:tcPr marL="54864" marR="54864" marT="27432" marB="27432">
                    <a:solidFill>
                      <a:srgbClr val="FFFFFF"/>
                    </a:solidFill>
                  </a:tcPr>
                </a:tc>
                <a:tc>
                  <a:txBody>
                    <a:bodyPr/>
                    <a:lstStyle/>
                    <a:p>
                      <a:r>
                        <a:rPr sz="850" b="0">
                          <a:solidFill>
                            <a:srgbClr val="4B4B4B"/>
                          </a:solidFill>
                          <a:latin typeface="Arial"/>
                        </a:rPr>
                        <a:t>13.5.2</a:t>
                      </a:r>
                    </a:p>
                  </a:txBody>
                  <a:tcPr marL="54864" marR="54864" marT="27432" marB="27432">
                    <a:solidFill>
                      <a:srgbClr val="FFFFFF"/>
                    </a:solidFill>
                  </a:tcPr>
                </a:tc>
                <a:tc>
                  <a:txBody>
                    <a:bodyPr/>
                    <a:lstStyle/>
                    <a:p>
                      <a:r>
                        <a:rPr sz="850" b="0">
                          <a:solidFill>
                            <a:srgbClr val="4B4B4B"/>
                          </a:solidFill>
                          <a:latin typeface="Arial"/>
                        </a:rPr>
                        <a:t>FR-CL-080, FR-CL-081, FR-CL-082, FR-CL-083, FR-CL-084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SCR-CL-19</a:t>
                      </a:r>
                    </a:p>
                  </a:txBody>
                  <a:tcPr marL="54864" marR="54864" marT="27432" marB="27432">
                    <a:solidFill>
                      <a:srgbClr val="E5F5FF"/>
                    </a:solidFill>
                  </a:tcPr>
                </a:tc>
                <a:tc>
                  <a:txBody>
                    <a:bodyPr/>
                    <a:lstStyle/>
                    <a:p>
                      <a:r>
                        <a:rPr sz="850" b="0">
                          <a:solidFill>
                            <a:srgbClr val="4B4B4B"/>
                          </a:solidFill>
                          <a:latin typeface="Arial"/>
                        </a:rPr>
                        <a:t>Collections Setup</a:t>
                      </a:r>
                    </a:p>
                  </a:txBody>
                  <a:tcPr marL="54864" marR="54864" marT="27432" marB="27432">
                    <a:solidFill>
                      <a:srgbClr val="E5F5FF"/>
                    </a:solidFill>
                  </a:tcPr>
                </a:tc>
                <a:tc>
                  <a:txBody>
                    <a:bodyPr/>
                    <a:lstStyle/>
                    <a:p>
                      <a:r>
                        <a:rPr sz="850" b="0">
                          <a:solidFill>
                            <a:srgbClr val="4B4B4B"/>
                          </a:solidFill>
                          <a:latin typeface="Arial"/>
                        </a:rPr>
                        <a:t>13.5.3</a:t>
                      </a:r>
                    </a:p>
                  </a:txBody>
                  <a:tcPr marL="54864" marR="54864" marT="27432" marB="27432">
                    <a:solidFill>
                      <a:srgbClr val="E5F5FF"/>
                    </a:solidFill>
                  </a:tcPr>
                </a:tc>
                <a:tc>
                  <a:txBody>
                    <a:bodyPr/>
                    <a:lstStyle/>
                    <a:p>
                      <a:r>
                        <a:rPr sz="850" b="0">
                          <a:solidFill>
                            <a:srgbClr val="4B4B4B"/>
                          </a:solidFill>
                          <a:latin typeface="Arial"/>
                        </a:rPr>
                        <a:t>FR-CL-003, FR-CL-012, FR-CL-030, FR-CL-072</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NAV-CL-01</a:t>
                      </a:r>
                    </a:p>
                  </a:txBody>
                  <a:tcPr marL="54864" marR="54864" marT="27432" marB="27432">
                    <a:solidFill>
                      <a:srgbClr val="FFFFFF"/>
                    </a:solidFill>
                  </a:tcPr>
                </a:tc>
                <a:tc>
                  <a:txBody>
                    <a:bodyPr/>
                    <a:lstStyle/>
                    <a:p>
                      <a:r>
                        <a:rPr sz="850" b="0">
                          <a:solidFill>
                            <a:srgbClr val="4B4B4B"/>
                          </a:solidFill>
                          <a:latin typeface="Arial"/>
                        </a:rPr>
                        <a:t>Landing page and menu: Marketing Account Officer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NAV-CL-02</a:t>
                      </a:r>
                    </a:p>
                  </a:txBody>
                  <a:tcPr marL="54864" marR="54864" marT="27432" marB="27432">
                    <a:solidFill>
                      <a:srgbClr val="E5F5FF"/>
                    </a:solidFill>
                  </a:tcPr>
                </a:tc>
                <a:tc>
                  <a:txBody>
                    <a:bodyPr/>
                    <a:lstStyle/>
                    <a:p>
                      <a:r>
                        <a:rPr sz="850" b="0">
                          <a:solidFill>
                            <a:srgbClr val="4B4B4B"/>
                          </a:solidFill>
                          <a:latin typeface="Arial"/>
                        </a:rPr>
                        <a:t>Landing page and menu: Marketing Team Lead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NAV-CL-03</a:t>
                      </a:r>
                    </a:p>
                  </a:txBody>
                  <a:tcPr marL="54864" marR="54864" marT="27432" marB="27432">
                    <a:solidFill>
                      <a:srgbClr val="FFFFFF"/>
                    </a:solidFill>
                  </a:tcPr>
                </a:tc>
                <a:tc>
                  <a:txBody>
                    <a:bodyPr/>
                    <a:lstStyle/>
                    <a:p>
                      <a:r>
                        <a:rPr sz="850" b="0">
                          <a:solidFill>
                            <a:srgbClr val="4B4B4B"/>
                          </a:solidFill>
                          <a:latin typeface="Arial"/>
                        </a:rPr>
                        <a:t>Landing page and menu: Marketing Handler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NAV-CL-04</a:t>
                      </a:r>
                    </a:p>
                  </a:txBody>
                  <a:tcPr marL="54864" marR="54864" marT="27432" marB="27432">
                    <a:solidFill>
                      <a:srgbClr val="E5F5FF"/>
                    </a:solidFill>
                  </a:tcPr>
                </a:tc>
                <a:tc>
                  <a:txBody>
                    <a:bodyPr/>
                    <a:lstStyle/>
                    <a:p>
                      <a:r>
                        <a:rPr sz="850" b="0">
                          <a:solidFill>
                            <a:srgbClr val="4B4B4B"/>
                          </a:solidFill>
                          <a:latin typeface="Arial"/>
                        </a:rPr>
                        <a:t>Landing page and menu: Collection Handler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NAV-CL-05</a:t>
                      </a:r>
                    </a:p>
                  </a:txBody>
                  <a:tcPr marL="54864" marR="54864" marT="27432" marB="27432">
                    <a:solidFill>
                      <a:srgbClr val="FFFFFF"/>
                    </a:solidFill>
                  </a:tcPr>
                </a:tc>
                <a:tc>
                  <a:txBody>
                    <a:bodyPr/>
                    <a:lstStyle/>
                    <a:p>
                      <a:r>
                        <a:rPr sz="850" b="0">
                          <a:solidFill>
                            <a:srgbClr val="4B4B4B"/>
                          </a:solidFill>
                          <a:latin typeface="Arial"/>
                        </a:rPr>
                        <a:t>Landing page and menu: Collection Team Lead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NAV-CL-06</a:t>
                      </a:r>
                    </a:p>
                  </a:txBody>
                  <a:tcPr marL="54864" marR="54864" marT="27432" marB="27432">
                    <a:solidFill>
                      <a:srgbClr val="E5F5FF"/>
                    </a:solidFill>
                  </a:tcPr>
                </a:tc>
                <a:tc>
                  <a:txBody>
                    <a:bodyPr/>
                    <a:lstStyle/>
                    <a:p>
                      <a:r>
                        <a:rPr sz="850" b="0">
                          <a:solidFill>
                            <a:srgbClr val="4B4B4B"/>
                          </a:solidFill>
                          <a:latin typeface="Arial"/>
                        </a:rPr>
                        <a:t>Landing page and menu: Section Head (Corporate / Retail)</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NAV-CL-07</a:t>
                      </a:r>
                    </a:p>
                  </a:txBody>
                  <a:tcPr marL="54864" marR="54864" marT="27432" marB="27432">
                    <a:solidFill>
                      <a:srgbClr val="FFFFFF"/>
                    </a:solidFill>
                  </a:tcPr>
                </a:tc>
                <a:tc>
                  <a:txBody>
                    <a:bodyPr/>
                    <a:lstStyle/>
                    <a:p>
                      <a:r>
                        <a:rPr sz="850" b="0">
                          <a:solidFill>
                            <a:srgbClr val="4B4B4B"/>
                          </a:solidFill>
                          <a:latin typeface="Arial"/>
                        </a:rPr>
                        <a:t>Landing page and menu: Unapplied Payment Handler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NAV-CL-08</a:t>
                      </a:r>
                    </a:p>
                  </a:txBody>
                  <a:tcPr marL="54864" marR="54864" marT="27432" marB="27432">
                    <a:solidFill>
                      <a:srgbClr val="E5F5FF"/>
                    </a:solidFill>
                  </a:tcPr>
                </a:tc>
                <a:tc>
                  <a:txBody>
                    <a:bodyPr/>
                    <a:lstStyle/>
                    <a:p>
                      <a:r>
                        <a:rPr sz="850" b="0">
                          <a:solidFill>
                            <a:srgbClr val="4B4B4B"/>
                          </a:solidFill>
                          <a:latin typeface="Arial"/>
                        </a:rPr>
                        <a:t>Landing page and menu: Processing Unit</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NAV-CL-09</a:t>
                      </a:r>
                    </a:p>
                  </a:txBody>
                  <a:tcPr marL="54864" marR="54864" marT="27432" marB="27432">
                    <a:solidFill>
                      <a:srgbClr val="FFFFFF"/>
                    </a:solidFill>
                  </a:tcPr>
                </a:tc>
                <a:tc>
                  <a:txBody>
                    <a:bodyPr/>
                    <a:lstStyle/>
                    <a:p>
                      <a:r>
                        <a:rPr sz="850" b="0">
                          <a:solidFill>
                            <a:srgbClr val="4B4B4B"/>
                          </a:solidFill>
                          <a:latin typeface="Arial"/>
                        </a:rPr>
                        <a:t>Landing page and menu: Cashier (read access and exports)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NAV-CL-10</a:t>
                      </a:r>
                    </a:p>
                  </a:txBody>
                  <a:tcPr marL="54864" marR="54864" marT="27432" marB="27432">
                    <a:solidFill>
                      <a:srgbClr val="E5F5FF"/>
                    </a:solidFill>
                  </a:tcPr>
                </a:tc>
                <a:tc>
                  <a:txBody>
                    <a:bodyPr/>
                    <a:lstStyle/>
                    <a:p>
                      <a:r>
                        <a:rPr sz="850" b="0">
                          <a:solidFill>
                            <a:srgbClr val="4B4B4B"/>
                          </a:solidFill>
                          <a:latin typeface="Arial"/>
                        </a:rPr>
                        <a:t>Landing page and menu: Disbursement (read access and exports)</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NAV-CL-11</a:t>
                      </a:r>
                    </a:p>
                  </a:txBody>
                  <a:tcPr marL="54864" marR="54864" marT="27432" marB="27432">
                    <a:solidFill>
                      <a:srgbClr val="FFFFFF"/>
                    </a:solidFill>
                  </a:tcPr>
                </a:tc>
                <a:tc>
                  <a:txBody>
                    <a:bodyPr/>
                    <a:lstStyle/>
                    <a:p>
                      <a:r>
                        <a:rPr sz="850" b="0">
                          <a:solidFill>
                            <a:srgbClr val="4B4B4B"/>
                          </a:solidFill>
                          <a:latin typeface="Arial"/>
                        </a:rPr>
                        <a:t>Landing page and menu: Comptrollership (read access)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NAV-CL-12</a:t>
                      </a:r>
                    </a:p>
                  </a:txBody>
                  <a:tcPr marL="54864" marR="54864" marT="27432" marB="27432">
                    <a:solidFill>
                      <a:srgbClr val="E5F5FF"/>
                    </a:solidFill>
                  </a:tcPr>
                </a:tc>
                <a:tc>
                  <a:txBody>
                    <a:bodyPr/>
                    <a:lstStyle/>
                    <a:p>
                      <a:r>
                        <a:rPr sz="850" b="0">
                          <a:solidFill>
                            <a:srgbClr val="4B4B4B"/>
                          </a:solidFill>
                          <a:latin typeface="Arial"/>
                        </a:rPr>
                        <a:t>Landing page and menu: Business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NAV-CL-13</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NAV-CL-14</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Statement of account (SOA)</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FR-CL-060, FR-CL-061, FR-CL-062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Outstanding PR List</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FR-CL-083, FR-CL-084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Full Production Report</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FR-CL-083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DO-04</a:t>
                      </a:r>
                    </a:p>
                  </a:txBody>
                  <a:tcPr marL="54864" marR="54864" marT="27432" marB="27432">
                    <a:solidFill>
                      <a:srgbClr val="FFFFFF"/>
                    </a:solidFill>
                  </a:tcPr>
                </a:tc>
                <a:tc>
                  <a:txBody>
                    <a:bodyPr/>
                    <a:lstStyle/>
                    <a:p>
                      <a:r>
                        <a:rPr sz="850" b="0">
                          <a:solidFill>
                            <a:srgbClr val="4B4B4B"/>
                          </a:solidFill>
                          <a:latin typeface="Arial"/>
                        </a:rPr>
                        <a:t>DP PR for Reversal and PR 2307 for Reversal files</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FR-CL-080, FR-CL-081, FR-CL-082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DO-05</a:t>
                      </a:r>
                    </a:p>
                  </a:txBody>
                  <a:tcPr marL="54864" marR="54864" marT="27432" marB="27432">
                    <a:solidFill>
                      <a:srgbClr val="E5F5FF"/>
                    </a:solidFill>
                  </a:tcPr>
                </a:tc>
                <a:tc>
                  <a:txBody>
                    <a:bodyPr/>
                    <a:lstStyle/>
                    <a:p>
                      <a:r>
                        <a:rPr sz="850" b="0">
                          <a:solidFill>
                            <a:srgbClr val="4B4B4B"/>
                          </a:solidFill>
                          <a:latin typeface="Arial"/>
                        </a:rPr>
                        <a:t>For Application To Invoice file</a:t>
                      </a:r>
                    </a:p>
                  </a:txBody>
                  <a:tcPr marL="54864" marR="54864" marT="27432" marB="27432">
                    <a:solidFill>
                      <a:srgbClr val="E5F5FF"/>
                    </a:solidFill>
                  </a:tcPr>
                </a:tc>
                <a:tc>
                  <a:txBody>
                    <a:bodyPr/>
                    <a:lstStyle/>
                    <a:p>
                      <a:r>
                        <a:rPr sz="850" b="0">
                          <a:solidFill>
                            <a:srgbClr val="4B4B4B"/>
                          </a:solidFill>
                          <a:latin typeface="Arial"/>
                        </a:rPr>
                        <a:t>17.5</a:t>
                      </a:r>
                    </a:p>
                  </a:txBody>
                  <a:tcPr marL="54864" marR="54864" marT="27432" marB="27432">
                    <a:solidFill>
                      <a:srgbClr val="E5F5FF"/>
                    </a:solidFill>
                  </a:tcPr>
                </a:tc>
                <a:tc>
                  <a:txBody>
                    <a:bodyPr/>
                    <a:lstStyle/>
                    <a:p>
                      <a:r>
                        <a:rPr sz="850" b="0">
                          <a:solidFill>
                            <a:srgbClr val="4B4B4B"/>
                          </a:solidFill>
                          <a:latin typeface="Arial"/>
                        </a:rPr>
                        <a:t>FR-CL-077</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BRD-4 Collections</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