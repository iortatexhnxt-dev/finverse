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ppt/notesSlides/notesSlide247.xml" ContentType="application/vnd.openxmlformats-officedocument.presentationml.notesSlide+xml"/>
  <Override PartName="/ppt/notesSlides/notesSlide248.xml" ContentType="application/vnd.openxmlformats-officedocument.presentationml.notesSlide+xml"/>
  <Override PartName="/ppt/notesSlides/notesSlide249.xml" ContentType="application/vnd.openxmlformats-officedocument.presentationml.notesSlide+xml"/>
  <Override PartName="/ppt/notesSlides/notesSlide25.xml" ContentType="application/vnd.openxmlformats-officedocument.presentationml.notesSlide+xml"/>
  <Override PartName="/ppt/notesSlides/notesSlide250.xml" ContentType="application/vnd.openxmlformats-officedocument.presentationml.notesSlide+xml"/>
  <Override PartName="/ppt/notesSlides/notesSlide251.xml" ContentType="application/vnd.openxmlformats-officedocument.presentationml.notesSlide+xml"/>
  <Override PartName="/ppt/notesSlides/notesSlide252.xml" ContentType="application/vnd.openxmlformats-officedocument.presentationml.notesSlide+xml"/>
  <Override PartName="/ppt/notesSlides/notesSlide253.xml" ContentType="application/vnd.openxmlformats-officedocument.presentationml.notesSlide+xml"/>
  <Override PartName="/ppt/notesSlides/notesSlide254.xml" ContentType="application/vnd.openxmlformats-officedocument.presentationml.notesSlide+xml"/>
  <Override PartName="/ppt/notesSlides/notesSlide255.xml" ContentType="application/vnd.openxmlformats-officedocument.presentationml.notesSlide+xml"/>
  <Override PartName="/ppt/notesSlides/notesSlide256.xml" ContentType="application/vnd.openxmlformats-officedocument.presentationml.notesSlide+xml"/>
  <Override PartName="/ppt/notesSlides/notesSlide257.xml" ContentType="application/vnd.openxmlformats-officedocument.presentationml.notesSlide+xml"/>
  <Override PartName="/ppt/notesSlides/notesSlide258.xml" ContentType="application/vnd.openxmlformats-officedocument.presentationml.notesSlide+xml"/>
  <Override PartName="/ppt/notesSlides/notesSlide259.xml" ContentType="application/vnd.openxmlformats-officedocument.presentationml.notesSlide+xml"/>
  <Override PartName="/ppt/notesSlides/notesSlide26.xml" ContentType="application/vnd.openxmlformats-officedocument.presentationml.notesSlide+xml"/>
  <Override PartName="/ppt/notesSlides/notesSlide260.xml" ContentType="application/vnd.openxmlformats-officedocument.presentationml.notesSlide+xml"/>
  <Override PartName="/ppt/notesSlides/notesSlide261.xml" ContentType="application/vnd.openxmlformats-officedocument.presentationml.notesSlide+xml"/>
  <Override PartName="/ppt/notesSlides/notesSlide262.xml" ContentType="application/vnd.openxmlformats-officedocument.presentationml.notesSlide+xml"/>
  <Override PartName="/ppt/notesSlides/notesSlide263.xml" ContentType="application/vnd.openxmlformats-officedocument.presentationml.notesSlide+xml"/>
  <Override PartName="/ppt/notesSlides/notesSlide264.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 id="425" r:id="rId177"/>
    <p:sldId id="426" r:id="rId178"/>
    <p:sldId id="427" r:id="rId179"/>
    <p:sldId id="428" r:id="rId180"/>
    <p:sldId id="429" r:id="rId181"/>
    <p:sldId id="430" r:id="rId182"/>
    <p:sldId id="431" r:id="rId183"/>
    <p:sldId id="432" r:id="rId184"/>
    <p:sldId id="433" r:id="rId185"/>
    <p:sldId id="434" r:id="rId186"/>
    <p:sldId id="435" r:id="rId187"/>
    <p:sldId id="436" r:id="rId188"/>
    <p:sldId id="437" r:id="rId189"/>
    <p:sldId id="438" r:id="rId190"/>
    <p:sldId id="439" r:id="rId191"/>
    <p:sldId id="440" r:id="rId192"/>
    <p:sldId id="441" r:id="rId193"/>
    <p:sldId id="442" r:id="rId194"/>
    <p:sldId id="443" r:id="rId195"/>
    <p:sldId id="444" r:id="rId196"/>
    <p:sldId id="445" r:id="rId197"/>
    <p:sldId id="446" r:id="rId198"/>
    <p:sldId id="447" r:id="rId199"/>
    <p:sldId id="448" r:id="rId200"/>
    <p:sldId id="449" r:id="rId201"/>
    <p:sldId id="450" r:id="rId202"/>
    <p:sldId id="451" r:id="rId203"/>
    <p:sldId id="452" r:id="rId204"/>
    <p:sldId id="453" r:id="rId205"/>
    <p:sldId id="454" r:id="rId206"/>
    <p:sldId id="455" r:id="rId207"/>
    <p:sldId id="456" r:id="rId208"/>
    <p:sldId id="457" r:id="rId209"/>
    <p:sldId id="458" r:id="rId210"/>
    <p:sldId id="459" r:id="rId211"/>
    <p:sldId id="460" r:id="rId212"/>
    <p:sldId id="461" r:id="rId213"/>
    <p:sldId id="462" r:id="rId214"/>
    <p:sldId id="463" r:id="rId215"/>
    <p:sldId id="464" r:id="rId216"/>
    <p:sldId id="465" r:id="rId217"/>
    <p:sldId id="466" r:id="rId218"/>
    <p:sldId id="467" r:id="rId219"/>
    <p:sldId id="468" r:id="rId220"/>
    <p:sldId id="469" r:id="rId221"/>
    <p:sldId id="470" r:id="rId222"/>
    <p:sldId id="471" r:id="rId223"/>
    <p:sldId id="472" r:id="rId224"/>
    <p:sldId id="473" r:id="rId225"/>
    <p:sldId id="474" r:id="rId226"/>
    <p:sldId id="475" r:id="rId227"/>
    <p:sldId id="476" r:id="rId228"/>
    <p:sldId id="477" r:id="rId229"/>
    <p:sldId id="478" r:id="rId230"/>
    <p:sldId id="479" r:id="rId231"/>
    <p:sldId id="480" r:id="rId232"/>
    <p:sldId id="481" r:id="rId233"/>
    <p:sldId id="482" r:id="rId234"/>
    <p:sldId id="483" r:id="rId235"/>
    <p:sldId id="484" r:id="rId236"/>
    <p:sldId id="485" r:id="rId237"/>
    <p:sldId id="486" r:id="rId238"/>
    <p:sldId id="487" r:id="rId239"/>
    <p:sldId id="488" r:id="rId240"/>
    <p:sldId id="489" r:id="rId241"/>
    <p:sldId id="490" r:id="rId242"/>
    <p:sldId id="491" r:id="rId243"/>
    <p:sldId id="492" r:id="rId244"/>
    <p:sldId id="493" r:id="rId245"/>
    <p:sldId id="494" r:id="rId246"/>
    <p:sldId id="495" r:id="rId247"/>
    <p:sldId id="496" r:id="rId248"/>
    <p:sldId id="497" r:id="rId249"/>
    <p:sldId id="498" r:id="rId250"/>
    <p:sldId id="499" r:id="rId251"/>
    <p:sldId id="500" r:id="rId252"/>
    <p:sldId id="501" r:id="rId253"/>
    <p:sldId id="502" r:id="rId254"/>
    <p:sldId id="503" r:id="rId255"/>
    <p:sldId id="504" r:id="rId256"/>
    <p:sldId id="505" r:id="rId257"/>
    <p:sldId id="506" r:id="rId258"/>
    <p:sldId id="507" r:id="rId259"/>
    <p:sldId id="508" r:id="rId260"/>
    <p:sldId id="509" r:id="rId261"/>
    <p:sldId id="510" r:id="rId262"/>
    <p:sldId id="511" r:id="rId263"/>
    <p:sldId id="512" r:id="rId264"/>
    <p:sldId id="513" r:id="rId265"/>
    <p:sldId id="514" r:id="rId266"/>
    <p:sldId id="515" r:id="rId267"/>
    <p:sldId id="516" r:id="rId268"/>
    <p:sldId id="517" r:id="rId269"/>
    <p:sldId id="518" r:id="rId270"/>
    <p:sldId id="519" r:id="rId271"/>
    <p:sldId id="520" r:id="rId272"/>
    <p:sldId id="521" r:id="rId273"/>
    <p:sldId id="522" r:id="rId274"/>
    <p:sldId id="523" r:id="rId275"/>
    <p:sldId id="524" r:id="rId276"/>
    <p:sldId id="525" r:id="rId277"/>
    <p:sldId id="526" r:id="rId278"/>
    <p:sldId id="527" r:id="rId279"/>
    <p:sldId id="528" r:id="rId280"/>
    <p:sldId id="529" r:id="rId281"/>
    <p:sldId id="530" r:id="rId282"/>
    <p:sldId id="531" r:id="rId283"/>
    <p:sldId id="532" r:id="rId284"/>
    <p:sldId id="533" r:id="rId285"/>
    <p:sldId id="534" r:id="rId286"/>
    <p:sldId id="535" r:id="rId287"/>
    <p:sldId id="536" r:id="rId288"/>
    <p:sldId id="537" r:id="rId289"/>
    <p:sldId id="538" r:id="rId290"/>
    <p:sldId id="539" r:id="rId291"/>
    <p:sldId id="540" r:id="rId292"/>
    <p:sldId id="541" r:id="rId293"/>
    <p:sldId id="542" r:id="rId294"/>
    <p:sldId id="543" r:id="rId295"/>
    <p:sldId id="544" r:id="rId296"/>
    <p:sldId id="545" r:id="rId297"/>
    <p:sldId id="546" r:id="rId298"/>
    <p:sldId id="547" r:id="rId299"/>
    <p:sldId id="548" r:id="rId300"/>
    <p:sldId id="549" r:id="rId301"/>
    <p:sldId id="550" r:id="rId302"/>
    <p:sldId id="551" r:id="rId303"/>
    <p:sldId id="552" r:id="rId304"/>
    <p:sldId id="553" r:id="rId305"/>
    <p:sldId id="554" r:id="rId306"/>
    <p:sldId id="555" r:id="rId307"/>
    <p:sldId id="556" r:id="rId308"/>
    <p:sldId id="557" r:id="rId309"/>
    <p:sldId id="558" r:id="rId310"/>
    <p:sldId id="559" r:id="rId311"/>
    <p:sldId id="560" r:id="rId312"/>
    <p:sldId id="561" r:id="rId313"/>
    <p:sldId id="562" r:id="rId314"/>
    <p:sldId id="563" r:id="rId315"/>
    <p:sldId id="564" r:id="rId316"/>
    <p:sldId id="565" r:id="rId317"/>
    <p:sldId id="566" r:id="rId318"/>
    <p:sldId id="567" r:id="rId319"/>
    <p:sldId id="568" r:id="rId320"/>
    <p:sldId id="569" r:id="rId321"/>
    <p:sldId id="570" r:id="rId322"/>
    <p:sldId id="571" r:id="rId323"/>
    <p:sldId id="572" r:id="rId324"/>
    <p:sldId id="573" r:id="rId325"/>
    <p:sldId id="574" r:id="rId326"/>
    <p:sldId id="575" r:id="rId327"/>
    <p:sldId id="576" r:id="rId328"/>
    <p:sldId id="577" r:id="rId329"/>
    <p:sldId id="578" r:id="rId330"/>
    <p:sldId id="579" r:id="rId331"/>
    <p:sldId id="580" r:id="rId332"/>
    <p:sldId id="581" r:id="rId333"/>
    <p:sldId id="582" r:id="rId334"/>
    <p:sldId id="583" r:id="rId335"/>
    <p:sldId id="584" r:id="rId336"/>
    <p:sldId id="585" r:id="rId337"/>
    <p:sldId id="586" r:id="rId338"/>
    <p:sldId id="587" r:id="rId339"/>
    <p:sldId id="588" r:id="rId340"/>
    <p:sldId id="589" r:id="rId341"/>
    <p:sldId id="590" r:id="rId34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 Id="rId167" Type="http://schemas.openxmlformats.org/officeDocument/2006/relationships/slide" Target="slides/slide160.xml"/><Relationship Id="rId168" Type="http://schemas.openxmlformats.org/officeDocument/2006/relationships/slide" Target="slides/slide161.xml"/><Relationship Id="rId169" Type="http://schemas.openxmlformats.org/officeDocument/2006/relationships/slide" Target="slides/slide162.xml"/><Relationship Id="rId170" Type="http://schemas.openxmlformats.org/officeDocument/2006/relationships/slide" Target="slides/slide163.xml"/><Relationship Id="rId171" Type="http://schemas.openxmlformats.org/officeDocument/2006/relationships/slide" Target="slides/slide164.xml"/><Relationship Id="rId172" Type="http://schemas.openxmlformats.org/officeDocument/2006/relationships/slide" Target="slides/slide165.xml"/><Relationship Id="rId173" Type="http://schemas.openxmlformats.org/officeDocument/2006/relationships/slide" Target="slides/slide166.xml"/><Relationship Id="rId174" Type="http://schemas.openxmlformats.org/officeDocument/2006/relationships/slide" Target="slides/slide167.xml"/><Relationship Id="rId175" Type="http://schemas.openxmlformats.org/officeDocument/2006/relationships/slide" Target="slides/slide168.xml"/><Relationship Id="rId176" Type="http://schemas.openxmlformats.org/officeDocument/2006/relationships/slide" Target="slides/slide169.xml"/><Relationship Id="rId177" Type="http://schemas.openxmlformats.org/officeDocument/2006/relationships/slide" Target="slides/slide170.xml"/><Relationship Id="rId178" Type="http://schemas.openxmlformats.org/officeDocument/2006/relationships/slide" Target="slides/slide171.xml"/><Relationship Id="rId179" Type="http://schemas.openxmlformats.org/officeDocument/2006/relationships/slide" Target="slides/slide172.xml"/><Relationship Id="rId180" Type="http://schemas.openxmlformats.org/officeDocument/2006/relationships/slide" Target="slides/slide173.xml"/><Relationship Id="rId181" Type="http://schemas.openxmlformats.org/officeDocument/2006/relationships/slide" Target="slides/slide174.xml"/><Relationship Id="rId182" Type="http://schemas.openxmlformats.org/officeDocument/2006/relationships/slide" Target="slides/slide175.xml"/><Relationship Id="rId183" Type="http://schemas.openxmlformats.org/officeDocument/2006/relationships/slide" Target="slides/slide176.xml"/><Relationship Id="rId184" Type="http://schemas.openxmlformats.org/officeDocument/2006/relationships/slide" Target="slides/slide177.xml"/><Relationship Id="rId185" Type="http://schemas.openxmlformats.org/officeDocument/2006/relationships/slide" Target="slides/slide178.xml"/><Relationship Id="rId186" Type="http://schemas.openxmlformats.org/officeDocument/2006/relationships/slide" Target="slides/slide179.xml"/><Relationship Id="rId187" Type="http://schemas.openxmlformats.org/officeDocument/2006/relationships/slide" Target="slides/slide180.xml"/><Relationship Id="rId188" Type="http://schemas.openxmlformats.org/officeDocument/2006/relationships/slide" Target="slides/slide181.xml"/><Relationship Id="rId189" Type="http://schemas.openxmlformats.org/officeDocument/2006/relationships/slide" Target="slides/slide182.xml"/><Relationship Id="rId190" Type="http://schemas.openxmlformats.org/officeDocument/2006/relationships/slide" Target="slides/slide183.xml"/><Relationship Id="rId191" Type="http://schemas.openxmlformats.org/officeDocument/2006/relationships/slide" Target="slides/slide184.xml"/><Relationship Id="rId192" Type="http://schemas.openxmlformats.org/officeDocument/2006/relationships/slide" Target="slides/slide185.xml"/><Relationship Id="rId193" Type="http://schemas.openxmlformats.org/officeDocument/2006/relationships/slide" Target="slides/slide186.xml"/><Relationship Id="rId194" Type="http://schemas.openxmlformats.org/officeDocument/2006/relationships/slide" Target="slides/slide187.xml"/><Relationship Id="rId195" Type="http://schemas.openxmlformats.org/officeDocument/2006/relationships/slide" Target="slides/slide188.xml"/><Relationship Id="rId196" Type="http://schemas.openxmlformats.org/officeDocument/2006/relationships/slide" Target="slides/slide189.xml"/><Relationship Id="rId197" Type="http://schemas.openxmlformats.org/officeDocument/2006/relationships/slide" Target="slides/slide190.xml"/><Relationship Id="rId198" Type="http://schemas.openxmlformats.org/officeDocument/2006/relationships/slide" Target="slides/slide191.xml"/><Relationship Id="rId199" Type="http://schemas.openxmlformats.org/officeDocument/2006/relationships/slide" Target="slides/slide192.xml"/><Relationship Id="rId200" Type="http://schemas.openxmlformats.org/officeDocument/2006/relationships/slide" Target="slides/slide193.xml"/><Relationship Id="rId201" Type="http://schemas.openxmlformats.org/officeDocument/2006/relationships/slide" Target="slides/slide194.xml"/><Relationship Id="rId202" Type="http://schemas.openxmlformats.org/officeDocument/2006/relationships/slide" Target="slides/slide195.xml"/><Relationship Id="rId203" Type="http://schemas.openxmlformats.org/officeDocument/2006/relationships/slide" Target="slides/slide196.xml"/><Relationship Id="rId204" Type="http://schemas.openxmlformats.org/officeDocument/2006/relationships/slide" Target="slides/slide197.xml"/><Relationship Id="rId205" Type="http://schemas.openxmlformats.org/officeDocument/2006/relationships/slide" Target="slides/slide198.xml"/><Relationship Id="rId206" Type="http://schemas.openxmlformats.org/officeDocument/2006/relationships/slide" Target="slides/slide199.xml"/><Relationship Id="rId207" Type="http://schemas.openxmlformats.org/officeDocument/2006/relationships/slide" Target="slides/slide200.xml"/><Relationship Id="rId208" Type="http://schemas.openxmlformats.org/officeDocument/2006/relationships/slide" Target="slides/slide201.xml"/><Relationship Id="rId209" Type="http://schemas.openxmlformats.org/officeDocument/2006/relationships/slide" Target="slides/slide202.xml"/><Relationship Id="rId210" Type="http://schemas.openxmlformats.org/officeDocument/2006/relationships/slide" Target="slides/slide203.xml"/><Relationship Id="rId211" Type="http://schemas.openxmlformats.org/officeDocument/2006/relationships/slide" Target="slides/slide204.xml"/><Relationship Id="rId212" Type="http://schemas.openxmlformats.org/officeDocument/2006/relationships/slide" Target="slides/slide205.xml"/><Relationship Id="rId213" Type="http://schemas.openxmlformats.org/officeDocument/2006/relationships/slide" Target="slides/slide206.xml"/><Relationship Id="rId214" Type="http://schemas.openxmlformats.org/officeDocument/2006/relationships/slide" Target="slides/slide207.xml"/><Relationship Id="rId215" Type="http://schemas.openxmlformats.org/officeDocument/2006/relationships/slide" Target="slides/slide208.xml"/><Relationship Id="rId216" Type="http://schemas.openxmlformats.org/officeDocument/2006/relationships/slide" Target="slides/slide209.xml"/><Relationship Id="rId217" Type="http://schemas.openxmlformats.org/officeDocument/2006/relationships/slide" Target="slides/slide210.xml"/><Relationship Id="rId218" Type="http://schemas.openxmlformats.org/officeDocument/2006/relationships/slide" Target="slides/slide211.xml"/><Relationship Id="rId219" Type="http://schemas.openxmlformats.org/officeDocument/2006/relationships/slide" Target="slides/slide212.xml"/><Relationship Id="rId220" Type="http://schemas.openxmlformats.org/officeDocument/2006/relationships/slide" Target="slides/slide213.xml"/><Relationship Id="rId221" Type="http://schemas.openxmlformats.org/officeDocument/2006/relationships/slide" Target="slides/slide214.xml"/><Relationship Id="rId222" Type="http://schemas.openxmlformats.org/officeDocument/2006/relationships/slide" Target="slides/slide215.xml"/><Relationship Id="rId223" Type="http://schemas.openxmlformats.org/officeDocument/2006/relationships/slide" Target="slides/slide216.xml"/><Relationship Id="rId224" Type="http://schemas.openxmlformats.org/officeDocument/2006/relationships/slide" Target="slides/slide217.xml"/><Relationship Id="rId225" Type="http://schemas.openxmlformats.org/officeDocument/2006/relationships/slide" Target="slides/slide218.xml"/><Relationship Id="rId226" Type="http://schemas.openxmlformats.org/officeDocument/2006/relationships/slide" Target="slides/slide219.xml"/><Relationship Id="rId227" Type="http://schemas.openxmlformats.org/officeDocument/2006/relationships/slide" Target="slides/slide220.xml"/><Relationship Id="rId228" Type="http://schemas.openxmlformats.org/officeDocument/2006/relationships/slide" Target="slides/slide221.xml"/><Relationship Id="rId229" Type="http://schemas.openxmlformats.org/officeDocument/2006/relationships/slide" Target="slides/slide222.xml"/><Relationship Id="rId230" Type="http://schemas.openxmlformats.org/officeDocument/2006/relationships/slide" Target="slides/slide223.xml"/><Relationship Id="rId231" Type="http://schemas.openxmlformats.org/officeDocument/2006/relationships/slide" Target="slides/slide224.xml"/><Relationship Id="rId232" Type="http://schemas.openxmlformats.org/officeDocument/2006/relationships/slide" Target="slides/slide225.xml"/><Relationship Id="rId233" Type="http://schemas.openxmlformats.org/officeDocument/2006/relationships/slide" Target="slides/slide226.xml"/><Relationship Id="rId234" Type="http://schemas.openxmlformats.org/officeDocument/2006/relationships/slide" Target="slides/slide227.xml"/><Relationship Id="rId235" Type="http://schemas.openxmlformats.org/officeDocument/2006/relationships/slide" Target="slides/slide228.xml"/><Relationship Id="rId236" Type="http://schemas.openxmlformats.org/officeDocument/2006/relationships/slide" Target="slides/slide229.xml"/><Relationship Id="rId237" Type="http://schemas.openxmlformats.org/officeDocument/2006/relationships/slide" Target="slides/slide230.xml"/><Relationship Id="rId238" Type="http://schemas.openxmlformats.org/officeDocument/2006/relationships/slide" Target="slides/slide231.xml"/><Relationship Id="rId239" Type="http://schemas.openxmlformats.org/officeDocument/2006/relationships/slide" Target="slides/slide232.xml"/><Relationship Id="rId240" Type="http://schemas.openxmlformats.org/officeDocument/2006/relationships/slide" Target="slides/slide233.xml"/><Relationship Id="rId241" Type="http://schemas.openxmlformats.org/officeDocument/2006/relationships/slide" Target="slides/slide234.xml"/><Relationship Id="rId242" Type="http://schemas.openxmlformats.org/officeDocument/2006/relationships/slide" Target="slides/slide235.xml"/><Relationship Id="rId243" Type="http://schemas.openxmlformats.org/officeDocument/2006/relationships/slide" Target="slides/slide236.xml"/><Relationship Id="rId244" Type="http://schemas.openxmlformats.org/officeDocument/2006/relationships/slide" Target="slides/slide237.xml"/><Relationship Id="rId245" Type="http://schemas.openxmlformats.org/officeDocument/2006/relationships/slide" Target="slides/slide238.xml"/><Relationship Id="rId246" Type="http://schemas.openxmlformats.org/officeDocument/2006/relationships/slide" Target="slides/slide239.xml"/><Relationship Id="rId247" Type="http://schemas.openxmlformats.org/officeDocument/2006/relationships/slide" Target="slides/slide240.xml"/><Relationship Id="rId248" Type="http://schemas.openxmlformats.org/officeDocument/2006/relationships/slide" Target="slides/slide241.xml"/><Relationship Id="rId249" Type="http://schemas.openxmlformats.org/officeDocument/2006/relationships/slide" Target="slides/slide242.xml"/><Relationship Id="rId250" Type="http://schemas.openxmlformats.org/officeDocument/2006/relationships/slide" Target="slides/slide243.xml"/><Relationship Id="rId251" Type="http://schemas.openxmlformats.org/officeDocument/2006/relationships/slide" Target="slides/slide244.xml"/><Relationship Id="rId252" Type="http://schemas.openxmlformats.org/officeDocument/2006/relationships/slide" Target="slides/slide245.xml"/><Relationship Id="rId253" Type="http://schemas.openxmlformats.org/officeDocument/2006/relationships/slide" Target="slides/slide246.xml"/><Relationship Id="rId254" Type="http://schemas.openxmlformats.org/officeDocument/2006/relationships/slide" Target="slides/slide247.xml"/><Relationship Id="rId255" Type="http://schemas.openxmlformats.org/officeDocument/2006/relationships/slide" Target="slides/slide248.xml"/><Relationship Id="rId256" Type="http://schemas.openxmlformats.org/officeDocument/2006/relationships/slide" Target="slides/slide249.xml"/><Relationship Id="rId257" Type="http://schemas.openxmlformats.org/officeDocument/2006/relationships/slide" Target="slides/slide250.xml"/><Relationship Id="rId258" Type="http://schemas.openxmlformats.org/officeDocument/2006/relationships/slide" Target="slides/slide251.xml"/><Relationship Id="rId259" Type="http://schemas.openxmlformats.org/officeDocument/2006/relationships/slide" Target="slides/slide252.xml"/><Relationship Id="rId260" Type="http://schemas.openxmlformats.org/officeDocument/2006/relationships/slide" Target="slides/slide253.xml"/><Relationship Id="rId261" Type="http://schemas.openxmlformats.org/officeDocument/2006/relationships/slide" Target="slides/slide254.xml"/><Relationship Id="rId262" Type="http://schemas.openxmlformats.org/officeDocument/2006/relationships/slide" Target="slides/slide255.xml"/><Relationship Id="rId263" Type="http://schemas.openxmlformats.org/officeDocument/2006/relationships/slide" Target="slides/slide256.xml"/><Relationship Id="rId264" Type="http://schemas.openxmlformats.org/officeDocument/2006/relationships/slide" Target="slides/slide257.xml"/><Relationship Id="rId265" Type="http://schemas.openxmlformats.org/officeDocument/2006/relationships/slide" Target="slides/slide258.xml"/><Relationship Id="rId266" Type="http://schemas.openxmlformats.org/officeDocument/2006/relationships/slide" Target="slides/slide259.xml"/><Relationship Id="rId267" Type="http://schemas.openxmlformats.org/officeDocument/2006/relationships/slide" Target="slides/slide260.xml"/><Relationship Id="rId268" Type="http://schemas.openxmlformats.org/officeDocument/2006/relationships/slide" Target="slides/slide261.xml"/><Relationship Id="rId269" Type="http://schemas.openxmlformats.org/officeDocument/2006/relationships/slide" Target="slides/slide262.xml"/><Relationship Id="rId270" Type="http://schemas.openxmlformats.org/officeDocument/2006/relationships/slide" Target="slides/slide263.xml"/><Relationship Id="rId271" Type="http://schemas.openxmlformats.org/officeDocument/2006/relationships/slide" Target="slides/slide264.xml"/><Relationship Id="rId272" Type="http://schemas.openxmlformats.org/officeDocument/2006/relationships/slide" Target="slides/slide265.xml"/><Relationship Id="rId273" Type="http://schemas.openxmlformats.org/officeDocument/2006/relationships/slide" Target="slides/slide266.xml"/><Relationship Id="rId274" Type="http://schemas.openxmlformats.org/officeDocument/2006/relationships/slide" Target="slides/slide267.xml"/><Relationship Id="rId275" Type="http://schemas.openxmlformats.org/officeDocument/2006/relationships/slide" Target="slides/slide268.xml"/><Relationship Id="rId276" Type="http://schemas.openxmlformats.org/officeDocument/2006/relationships/slide" Target="slides/slide269.xml"/><Relationship Id="rId277" Type="http://schemas.openxmlformats.org/officeDocument/2006/relationships/slide" Target="slides/slide270.xml"/><Relationship Id="rId278" Type="http://schemas.openxmlformats.org/officeDocument/2006/relationships/slide" Target="slides/slide271.xml"/><Relationship Id="rId279" Type="http://schemas.openxmlformats.org/officeDocument/2006/relationships/slide" Target="slides/slide272.xml"/><Relationship Id="rId280" Type="http://schemas.openxmlformats.org/officeDocument/2006/relationships/slide" Target="slides/slide273.xml"/><Relationship Id="rId281" Type="http://schemas.openxmlformats.org/officeDocument/2006/relationships/slide" Target="slides/slide274.xml"/><Relationship Id="rId282" Type="http://schemas.openxmlformats.org/officeDocument/2006/relationships/slide" Target="slides/slide275.xml"/><Relationship Id="rId283" Type="http://schemas.openxmlformats.org/officeDocument/2006/relationships/slide" Target="slides/slide276.xml"/><Relationship Id="rId284" Type="http://schemas.openxmlformats.org/officeDocument/2006/relationships/slide" Target="slides/slide277.xml"/><Relationship Id="rId285" Type="http://schemas.openxmlformats.org/officeDocument/2006/relationships/slide" Target="slides/slide278.xml"/><Relationship Id="rId286" Type="http://schemas.openxmlformats.org/officeDocument/2006/relationships/slide" Target="slides/slide279.xml"/><Relationship Id="rId287" Type="http://schemas.openxmlformats.org/officeDocument/2006/relationships/slide" Target="slides/slide280.xml"/><Relationship Id="rId288" Type="http://schemas.openxmlformats.org/officeDocument/2006/relationships/slide" Target="slides/slide281.xml"/><Relationship Id="rId289" Type="http://schemas.openxmlformats.org/officeDocument/2006/relationships/slide" Target="slides/slide282.xml"/><Relationship Id="rId290" Type="http://schemas.openxmlformats.org/officeDocument/2006/relationships/slide" Target="slides/slide283.xml"/><Relationship Id="rId291" Type="http://schemas.openxmlformats.org/officeDocument/2006/relationships/slide" Target="slides/slide284.xml"/><Relationship Id="rId292" Type="http://schemas.openxmlformats.org/officeDocument/2006/relationships/slide" Target="slides/slide285.xml"/><Relationship Id="rId293" Type="http://schemas.openxmlformats.org/officeDocument/2006/relationships/slide" Target="slides/slide286.xml"/><Relationship Id="rId294" Type="http://schemas.openxmlformats.org/officeDocument/2006/relationships/slide" Target="slides/slide287.xml"/><Relationship Id="rId295" Type="http://schemas.openxmlformats.org/officeDocument/2006/relationships/slide" Target="slides/slide288.xml"/><Relationship Id="rId296" Type="http://schemas.openxmlformats.org/officeDocument/2006/relationships/slide" Target="slides/slide289.xml"/><Relationship Id="rId297" Type="http://schemas.openxmlformats.org/officeDocument/2006/relationships/slide" Target="slides/slide290.xml"/><Relationship Id="rId298" Type="http://schemas.openxmlformats.org/officeDocument/2006/relationships/slide" Target="slides/slide291.xml"/><Relationship Id="rId299" Type="http://schemas.openxmlformats.org/officeDocument/2006/relationships/slide" Target="slides/slide292.xml"/><Relationship Id="rId300" Type="http://schemas.openxmlformats.org/officeDocument/2006/relationships/slide" Target="slides/slide293.xml"/><Relationship Id="rId301" Type="http://schemas.openxmlformats.org/officeDocument/2006/relationships/slide" Target="slides/slide294.xml"/><Relationship Id="rId302" Type="http://schemas.openxmlformats.org/officeDocument/2006/relationships/slide" Target="slides/slide295.xml"/><Relationship Id="rId303" Type="http://schemas.openxmlformats.org/officeDocument/2006/relationships/slide" Target="slides/slide296.xml"/><Relationship Id="rId304" Type="http://schemas.openxmlformats.org/officeDocument/2006/relationships/slide" Target="slides/slide297.xml"/><Relationship Id="rId305" Type="http://schemas.openxmlformats.org/officeDocument/2006/relationships/slide" Target="slides/slide298.xml"/><Relationship Id="rId306" Type="http://schemas.openxmlformats.org/officeDocument/2006/relationships/slide" Target="slides/slide299.xml"/><Relationship Id="rId307" Type="http://schemas.openxmlformats.org/officeDocument/2006/relationships/slide" Target="slides/slide300.xml"/><Relationship Id="rId308" Type="http://schemas.openxmlformats.org/officeDocument/2006/relationships/slide" Target="slides/slide301.xml"/><Relationship Id="rId309" Type="http://schemas.openxmlformats.org/officeDocument/2006/relationships/slide" Target="slides/slide302.xml"/><Relationship Id="rId310" Type="http://schemas.openxmlformats.org/officeDocument/2006/relationships/slide" Target="slides/slide303.xml"/><Relationship Id="rId311" Type="http://schemas.openxmlformats.org/officeDocument/2006/relationships/slide" Target="slides/slide304.xml"/><Relationship Id="rId312" Type="http://schemas.openxmlformats.org/officeDocument/2006/relationships/slide" Target="slides/slide305.xml"/><Relationship Id="rId313" Type="http://schemas.openxmlformats.org/officeDocument/2006/relationships/slide" Target="slides/slide306.xml"/><Relationship Id="rId314" Type="http://schemas.openxmlformats.org/officeDocument/2006/relationships/slide" Target="slides/slide307.xml"/><Relationship Id="rId315" Type="http://schemas.openxmlformats.org/officeDocument/2006/relationships/slide" Target="slides/slide308.xml"/><Relationship Id="rId316" Type="http://schemas.openxmlformats.org/officeDocument/2006/relationships/slide" Target="slides/slide309.xml"/><Relationship Id="rId317" Type="http://schemas.openxmlformats.org/officeDocument/2006/relationships/slide" Target="slides/slide310.xml"/><Relationship Id="rId318" Type="http://schemas.openxmlformats.org/officeDocument/2006/relationships/slide" Target="slides/slide311.xml"/><Relationship Id="rId319" Type="http://schemas.openxmlformats.org/officeDocument/2006/relationships/slide" Target="slides/slide312.xml"/><Relationship Id="rId320" Type="http://schemas.openxmlformats.org/officeDocument/2006/relationships/slide" Target="slides/slide313.xml"/><Relationship Id="rId321" Type="http://schemas.openxmlformats.org/officeDocument/2006/relationships/slide" Target="slides/slide314.xml"/><Relationship Id="rId322" Type="http://schemas.openxmlformats.org/officeDocument/2006/relationships/slide" Target="slides/slide315.xml"/><Relationship Id="rId323" Type="http://schemas.openxmlformats.org/officeDocument/2006/relationships/slide" Target="slides/slide316.xml"/><Relationship Id="rId324" Type="http://schemas.openxmlformats.org/officeDocument/2006/relationships/slide" Target="slides/slide317.xml"/><Relationship Id="rId325" Type="http://schemas.openxmlformats.org/officeDocument/2006/relationships/slide" Target="slides/slide318.xml"/><Relationship Id="rId326" Type="http://schemas.openxmlformats.org/officeDocument/2006/relationships/slide" Target="slides/slide319.xml"/><Relationship Id="rId327" Type="http://schemas.openxmlformats.org/officeDocument/2006/relationships/slide" Target="slides/slide320.xml"/><Relationship Id="rId328" Type="http://schemas.openxmlformats.org/officeDocument/2006/relationships/slide" Target="slides/slide321.xml"/><Relationship Id="rId329" Type="http://schemas.openxmlformats.org/officeDocument/2006/relationships/slide" Target="slides/slide322.xml"/><Relationship Id="rId330" Type="http://schemas.openxmlformats.org/officeDocument/2006/relationships/slide" Target="slides/slide323.xml"/><Relationship Id="rId331" Type="http://schemas.openxmlformats.org/officeDocument/2006/relationships/slide" Target="slides/slide324.xml"/><Relationship Id="rId332" Type="http://schemas.openxmlformats.org/officeDocument/2006/relationships/slide" Target="slides/slide325.xml"/><Relationship Id="rId333" Type="http://schemas.openxmlformats.org/officeDocument/2006/relationships/slide" Target="slides/slide326.xml"/><Relationship Id="rId334" Type="http://schemas.openxmlformats.org/officeDocument/2006/relationships/slide" Target="slides/slide327.xml"/><Relationship Id="rId335" Type="http://schemas.openxmlformats.org/officeDocument/2006/relationships/slide" Target="slides/slide328.xml"/><Relationship Id="rId336" Type="http://schemas.openxmlformats.org/officeDocument/2006/relationships/slide" Target="slides/slide329.xml"/><Relationship Id="rId337" Type="http://schemas.openxmlformats.org/officeDocument/2006/relationships/slide" Target="slides/slide330.xml"/><Relationship Id="rId338" Type="http://schemas.openxmlformats.org/officeDocument/2006/relationships/slide" Target="slides/slide331.xml"/><Relationship Id="rId339" Type="http://schemas.openxmlformats.org/officeDocument/2006/relationships/slide" Target="slides/slide332.xml"/><Relationship Id="rId340" Type="http://schemas.openxmlformats.org/officeDocument/2006/relationships/slide" Target="slides/slide333.xml"/><Relationship Id="rId341" Type="http://schemas.openxmlformats.org/officeDocument/2006/relationships/slide" Target="slides/slide334.xml"/><Relationship Id="rId342" Type="http://schemas.openxmlformats.org/officeDocument/2006/relationships/slide" Target="slides/slide3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0.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2.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3.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7.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8.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9.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0.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2.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6.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7.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2.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3.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4.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5.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6.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7.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2.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3.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7.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8.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9.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0.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2.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3.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4.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8.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9.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0.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1.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2.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3.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7.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8.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9.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0.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1.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2.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6.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7.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8.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9.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0.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1.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2.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7.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8.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9.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0.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1.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2.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3.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4.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5.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6.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0.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1.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2.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3.xml"/></Relationships>
</file>

<file path=ppt/notesSlides/_rels/notesSlide2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4.xml"/></Relationships>
</file>

<file path=ppt/notesSlides/_rels/notesSlide2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5.xml"/></Relationships>
</file>

<file path=ppt/notesSlides/_rels/notesSlide2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9.xml"/></Relationships>
</file>

<file path=ppt/notesSlides/_rels/notesSlide2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0.xml"/></Relationships>
</file>

<file path=ppt/notesSlides/_rels/notesSlide2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1.xml"/></Relationships>
</file>

<file path=ppt/notesSlides/_rels/notesSlide2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5.xml"/></Relationships>
</file>

<file path=ppt/notesSlides/_rels/notesSlide2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6.xml"/></Relationships>
</file>

<file path=ppt/notesSlides/_rels/notesSlide2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7.xml"/></Relationships>
</file>

<file path=ppt/notesSlides/_rels/notesSlide2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8.xml"/></Relationships>
</file>

<file path=ppt/notesSlides/_rels/notesSlide2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9.xml"/></Relationships>
</file>

<file path=ppt/notesSlides/_rels/notesSlide2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0.xml"/></Relationships>
</file>

<file path=ppt/notesSlides/_rels/notesSlide2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1.xml"/></Relationships>
</file>

<file path=ppt/notesSlides/_rels/notesSlide2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5.xml"/></Relationships>
</file>

<file path=ppt/notesSlides/_rels/notesSlide2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6.xml"/></Relationships>
</file>

<file path=ppt/notesSlides/_rels/notesSlide2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7.xml"/></Relationships>
</file>

<file path=ppt/notesSlides/_rels/notesSlide2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8.xml"/></Relationships>
</file>

<file path=ppt/notesSlides/_rels/notesSlide2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2.xml"/></Relationships>
</file>

<file path=ppt/notesSlides/_rels/notesSlide2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3.xml"/></Relationships>
</file>

<file path=ppt/notesSlides/_rels/notesSlide2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4.xml"/></Relationships>
</file>

<file path=ppt/notesSlides/_rels/notesSlide2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5.xml"/></Relationships>
</file>

<file path=ppt/notesSlides/_rels/notesSlide2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6.xml"/></Relationships>
</file>

<file path=ppt/notesSlides/_rels/notesSlide2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7.xml"/></Relationships>
</file>

<file path=ppt/notesSlides/_rels/notesSlide2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9.xml"/></Relationships>
</file>

<file path=ppt/notesSlides/_rels/notesSlide2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0.xml"/></Relationships>
</file>

<file path=ppt/notesSlides/_rels/notesSlide2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1.xml"/></Relationships>
</file>

<file path=ppt/notesSlides/_rels/notesSlide2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2.xml"/></Relationships>
</file>

<file path=ppt/notesSlides/_rels/notesSlide2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3.xml"/></Relationships>
</file>

<file path=ppt/notesSlides/_rels/notesSlide2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4.xml"/></Relationships>
</file>

<file path=ppt/notesSlides/_rels/notesSlide2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5.xml"/></Relationships>
</file>

<file path=ppt/notesSlides/_rels/notesSlide2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8.xml"/></Relationships>
</file>

<file path=ppt/notesSlides/_rels/notesSlide2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9.xml"/></Relationships>
</file>

<file path=ppt/notesSlides/_rels/notesSlide2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1.xml"/></Relationships>
</file>

<file path=ppt/notesSlides/_rels/notesSlide2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3.xml"/></Relationships>
</file>

<file path=ppt/notesSlides/_rels/notesSlide2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4.xml"/></Relationships>
</file>

<file path=ppt/notesSlides/_rels/notesSlide2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File 07 of the BRD-4 Collections sign-off set, release set v2.0, for the BDOI UX Design team. The screens are those of the proposed system on SIT with seed data; the names and numbers on them are fictitious.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deck does not replace the FRS: the FRS is signed by the business; the deck is the working material of the UX Design team and follows each issue of the FRS.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register when a new issue arrives: filter Changed in this issue = 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change never waits for the whole set: the delta issue carries the new images and the register with the changed rows flagged; the unchanged rows keep their UXD status and comments.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Roles as on the BRD approval sheet (Collections BRD approval sheets: CMS BRD p.93-94 (Prepared, Reviewed, Validated, Approved by), renumbering addendum p.34 and Collections Addendum p.22); the names are in the sign-off certificate of the workbook.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Roles as on the BRD approval sheet (Collections BRD approval sheets: CMS BRD p.93-94 (Prepared, Reviewed, Validated, Approved by), renumbering addendum p.34 and Collections Addendum p.22); the names are in the sign-off certificate of the workbook.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colour tokens of the screens (BDO Style Guide names in the comments). Blue is the dominant colour; yellow is an accent only, never a fill behind text; never pure black.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Nunito everywhere; Arial is the approved fallback. Display sizes (72 to 24) only for dashboards and landing panels.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8 px baseline grid; desktop web uses a 12-column grid; cards have radius 12 on the Dirty White page.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8 px baseline grid; desktop web uses a 12-column grid; cards have radius 12 on the Dirty White page.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BDO outline icon master files replace the equivalents when BDO Marketing Communications supplies them.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stages of the record in their order, with one row of Current Stage, Since, Due and Assigned To and the actions of the stage on the right. Image: components/ux-scr-pm-04-cmp-stepper.png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standard for errors, warnings, information and success messages, and for the toasts. Image: components/ux-scr-ua-07-cmp-notice.png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list of records is a table in a titled card, with the status tabs and the toolbar above it. Image: components/ux-scr-pm-02-cmp-table.png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Hierarchies (regions, branches, teams and their members) in the table style. Image: components/ux-scr-pm-20-cmp-tree.png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actions of a row of a table, never as links inside the row. Image: components/scr-pm-20-02-actions.png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approve, authorise, post, release, cancel, void and deactivate is confirmed in a dialog. Image: components/scr-pm-04-03-return.png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pill per record status, in its own column. Image: components/scr-ua-06-01-list.png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period (period of cover, package term, statement period) in a list. Image: components/scr-pm-10-01-list.png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Labels above the fields, the error under each field and the summary at the top of a long form. Image: components/scr-ua-07-03-error.png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upload checks all rows before anything is saved. Image: components/scr-ua-09-02-validated.png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icon, label and value grid of the record header and of an outcome card. Image: components/scr-pm-13-06-released.png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screen standards appendix of every FRS, in the same words: BDOI agrees the look of the screens once and checks every screenshot against it.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screen standards appendix of every FRS, in the same words: BDOI agrees the look of the screens once and checks every screenshot against it.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NAV-CL-01_landing.png.</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NAV-CL-01_menu.png.</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NAV-CL-01_menu.png.</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61 menu entries in all; entries of the other BRDs: BRD-1: 20; BRD-12: 7; BRD-2: 4; BRD-3: 6; BRD-5: 4; BRD-6: 5; BRD-7: 1; Platform: 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NAV-CL-02_landing.png.</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NAV-CL-02_menu.png.</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NAV-CL-02_menu.png.</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72 menu entries in all; entries of the other BRDs: BRD-1: 21; BRD-12: 7; BRD-2: 12; BRD-3: 7; BRD-5: 2; BRD-6: 6; BRD-7: 1; Platform: 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NAV-CL-03_landing.png.</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NAV-CL-03_menu.png.</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31 menu entries in all; entries of the other BRDs: BRD-1: 12; BRD-2: 4; BRD-3: 1; Platform: 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NAV-CL-04_landing.png.</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NAV-CL-04_menu.png.</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NAV-CL-04_menu.png.</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menu entries in all; entries of the other BRDs: BRD-1: 13; BRD-2: 12; BRD-3: 1; Platform: 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NAV-CL-05_landing.png.</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NAV-CL-05_menu.png.</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33 menu entries in all; entries of the other BRDs: BRD-1: 12; BRD-2: 4; BRD-3: 1; Platform: 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NAV-CL-06_landing.png.</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NAV-CL-06_menu.png.</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34 menu entries in all; entries of the other BRDs: BRD-1: 12; BRD-2: 4; BRD-3: 1; Platform: 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NAV-CL-07_landing.png.</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NAV-CL-07_menu.png.</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31 menu entries in all; entries of the other BRDs: BRD-1: 12; BRD-2: 4; BRD-3: 1; Platform: 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NAV-CL-08_landing.png.</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NAV-CL-08_menu.png.</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NAV-CL-08_menu.png.</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54 menu entries in all; entries of the other BRDs: BRD-1: 24; BRD-12: 6; BRD-2: 4; BRD-3: 1; BRD-6: 6; Platform: 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NAV-CL-09_landing.png.</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NAV-CL-09_menu.png.</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NAV-CL-09_menu.png.</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 menu entries in all; entries of the other BRDs: BRD-1: 13; BRD-2: 22; BRD-3: 1; Platform: 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NAV-CL-10_landing.png.</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NAV-CL-10_menu.png.</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NAV-CL-10_menu.png.</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54 menu entries in all; entries of the other BRDs: BRD-1: 12; BRD-2: 7; BRD-3: 1; BRD-5: 20; Platform: 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NAV-CL-11_landing.png.</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NAV-CL-11_menu.png.</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NAV-CL-11_menu.png.</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71 menu entries in all; entries of the other BRDs: BRD-1: 12; BRD-13: 10; BRD-2: 8; BRD-3: 1; BRD-5: 26; Platform: 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NAV-CL-12_landing.png.</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NAV-CL-12_menu.png.</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NAV-CL-12_menu.png.</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NAV-CL-12_menu.png.</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84 menu entries in all; entries of the other BRDs: BRD-1: 10; BRD-11: 6; BRD-2: 5; BRD-3: 10; BRD-5: 14; BRD-6: 3; BRD-8: 5; Platform: 12; Platform / BRD-11: 8.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NAV-CL-13_landing.png.</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NAV-CL-13_menu.png.</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NAV-CL-13_menu.png.</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NAV-CL-13_menu.png.</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122 menu entries in all; entries of the other BRDs: BRD-1: 10; BRD-10: 6; BRD-11: 5; BRD-13: 10; BRD-2: 7; BRD-3: 8; BRD-5: 28; BRD-7: 4; BRD-8: 4; Platform: 14; Platform / BRD-11: 14.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NAV-CL-14_landing.png.</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NAV-CL-14_menu.png.</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NAV-CL-14_menu.png.</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NAV-CL-14_menu.png.</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NAV-CL-14_menu.png.</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154 menu entries in all; entries of the other BRDs: BRD-1: 19; BRD-10: 7; BRD-11: 4; BRD-13: 10; BRD-2: 6; BRD-3: 10; BRD-5: 55; BRD-6: 2; BRD-7: 4; BRD-8: 4; Platform: 14; Platform / BRD-11: 9.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Marketing Account Officer. Menu and landing page: NAV-CL-01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Marketing Team Lead. Menu and landing page: NAV-CL-02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Marketing Handler. Menu and landing page: NAV-CL-03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Collection Handler. Menu and landing page: NAV-CL-04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Collection Team Lead. Menu and landing page: NAV-CL-05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Head (Corporate / Retail). Menu and landing page: NAV-CL-06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Unapplied Payment Handler. Menu and landing page: NAV-CL-07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Processing Unit. Menu and landing page: NAV-CL-08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Cashier (read access and exports). Menu and landing page: NAV-CL-09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Disbursement (read access and exports). Menu and landing page: NAV-CL-10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Comptrollership (read access). Menu and landing page: NAV-CL-11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Business Administrator. Menu and landing page: NAV-CL-12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System Administrator. Menu and landing page: NAV-CL-13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Auditor. Menu and landing page: NAV-CL-14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Downstream: Cashiering prints the pick-up list, collects the check and receipts it; the payment is applied by component in the invoice ledger and the next refresh updates the outstanding of the account.; When the account is paid, it moves to Completed Collections; it reopens if the balance comes back.</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Section Head (Corporate / Retail): Clicks Refresh Worklist Now on Collections Setup</a:t>
            </a:r>
          </a:p>
          <a:p>
            <a:r>
              <a:t>2. Collection Handler: Opens Collections Home</a:t>
            </a:r>
          </a:p>
          <a:p>
            <a:r>
              <a:t>3. Collection Handler: Opens the PR Worklist with Only mine ticked</a:t>
            </a:r>
          </a:p>
          <a:p>
            <a:r>
              <a:t>4. Collection Handler: Opens the account and clicks Log Effort: Phone call to the client's finance officer</a:t>
            </a:r>
          </a:p>
          <a:p>
            <a:r>
              <a:t>5. Collection Handler: Clicks Record Disposition, chooses For check pick-up and enters the pick-up date, address, contact person and check amount</a:t>
            </a:r>
          </a:p>
          <a:p>
            <a:r>
              <a:t>6. Cashier (read access and exports): Opens Check Pick-up in Cashiering</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SCR-CL-19_wt-a-step-01.png.</a:t>
            </a:r>
          </a:p>
          <a:p>
            <a:r>
              <a:t>Persona does: Clicks Refresh Worklist Now on Collections Setup</a:t>
            </a:r>
          </a:p>
          <a:p>
            <a:r>
              <a:t>System does: Worklist refreshed</a:t>
            </a:r>
          </a:p>
          <a:p>
            <a:r>
              <a:t>Shown: Message with the outcome of the refresh: the accounts listed and updated</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SCR-CL-01_wt-a-step-02.png.</a:t>
            </a:r>
          </a:p>
          <a:p>
            <a:r>
              <a:t>Persona does: Opens Collections Home</a:t>
            </a:r>
          </a:p>
          <a:p>
            <a:r>
              <a:t>System does: Assigned</a:t>
            </a:r>
          </a:p>
          <a:p>
            <a:r>
              <a:t>Shown: My Open Accounts counts the new account assigned to her by the rule; the open amounts by aging bracket</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SCR-CL-02_wt-a-step-03.png.</a:t>
            </a:r>
          </a:p>
          <a:p>
            <a:r>
              <a:t>Persona does: Opens the PR Worklist with Only mine ticked</a:t>
            </a:r>
          </a:p>
          <a:p>
            <a:r>
              <a:t>System does: In the worklist</a:t>
            </a:r>
          </a:p>
          <a:p>
            <a:r>
              <a:t>Shown: The new invoice with the client, segment, booking date and aging, outstanding premium, her name as handler and no disposition yet</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SCR-CL-03_wt-a-step-04.png.</a:t>
            </a:r>
          </a:p>
          <a:p>
            <a:r>
              <a:t>Persona does: Opens the account and clicks Log Effort: Phone call to the client's finance officer</a:t>
            </a:r>
          </a:p>
          <a:p>
            <a:r>
              <a:t>System does: Effort logged</a:t>
            </a:r>
          </a:p>
          <a:p>
            <a:r>
              <a:t>Shown: Message: Effort logged; the Summary tab shows the last effort</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SCR-CL-03_wt-a-step-05.png.</a:t>
            </a:r>
          </a:p>
          <a:p>
            <a:r>
              <a:t>Persona does: Clicks Record Disposition, chooses For check pick-up and enters the pick-up date, address, contact person and check amount</a:t>
            </a:r>
          </a:p>
          <a:p>
            <a:r>
              <a:t>System does: Handed to Cashiering</a:t>
            </a:r>
          </a:p>
          <a:p>
            <a:r>
              <a:t>Shown: Message: Disposition recorded; Dispositions &amp; Efforts shows the disposition and the hand-off Check Pickup sent to Cashiering</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SCR-CL-03_wt-a-step-05.png.</a:t>
            </a:r>
          </a:p>
          <a:p>
            <a:r>
              <a:t>Persona does: Clicks Record Disposition, chooses For check pick-up and enters the pick-up date, address, contact person and check amount</a:t>
            </a:r>
          </a:p>
          <a:p>
            <a:r>
              <a:t>System does: Handed to Cashiering</a:t>
            </a:r>
          </a:p>
          <a:p>
            <a:r>
              <a:t>Shown: Message: Disposition recorded; Dispositions &amp; Efforts shows the disposition and the hand-off Check Pickup sent to Cashiering</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SCR-OP-17_wt-a-step-06.png.</a:t>
            </a:r>
          </a:p>
          <a:p>
            <a:r>
              <a:t>Persona does: Opens Check Pick-up in Cashiering</a:t>
            </a:r>
          </a:p>
          <a:p>
            <a:r>
              <a:t>System does: With Cashiering</a:t>
            </a:r>
          </a:p>
          <a:p>
            <a:r>
              <a:t>Shown: The pick-up request of the account with its date, address, contact and amount, to be scheduled</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Downstream: The nightly promise check marks the promise kept, partially kept or broken against the payments applied by the promised date; a broken promise notifies the handler and escalates the account through the broken-promise rule.; From the next escalation run, an account of one million or more is escalated to the Section Head.</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Collection Handler: Clicks Record Promise and enters the invoice, the promised payment date in ten days and half of the outstanding</a:t>
            </a:r>
          </a:p>
          <a:p>
            <a:r>
              <a:t>2. Collection Handler: Clicks Escalate Accounts and enters the invoice, Team Lead and the reason Credit term extension refused by the insurer</a:t>
            </a:r>
          </a:p>
          <a:p>
            <a:r>
              <a:t>3. Collection Team Lead: Opens the escalation from With Team Lead and clicks Acknowledge</a:t>
            </a:r>
          </a:p>
          <a:p>
            <a:r>
              <a:t>4. Collection Team Lead: Clicks Resolve and gives the resolution</a:t>
            </a:r>
          </a:p>
          <a:p>
            <a:r>
              <a:t>5. Authorizer of master data: Opens Escalation Rules and, from the row menu of CLX-AMOUNT-1M, authorizes the rule made by the Business Administrator</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SCR-CL-08_wt-b-step-01.png.</a:t>
            </a:r>
          </a:p>
          <a:p>
            <a:r>
              <a:t>Persona does: Clicks Record Promise and enters the invoice, the promised payment date in ten days and half of the outstanding</a:t>
            </a:r>
          </a:p>
          <a:p>
            <a:r>
              <a:t>System does: Promise open</a:t>
            </a:r>
          </a:p>
          <a:p>
            <a:r>
              <a:t>Shown: Promises Recorded: the promise of the invoice recorded; it is on Open Promises</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SCR-CL-11_wt-b-step-02.png.</a:t>
            </a:r>
          </a:p>
          <a:p>
            <a:r>
              <a:t>Persona does: Clicks Escalate Accounts and enters the invoice, Team Lead and the reason Credit term extension refused by the insurer</a:t>
            </a:r>
          </a:p>
          <a:p>
            <a:r>
              <a:t>System does: Escalated</a:t>
            </a:r>
          </a:p>
          <a:p>
            <a:r>
              <a:t>Shown: Escalation Results: one escalation raised for the account</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SCR-CL-12_wt-b-step-03.png.</a:t>
            </a:r>
          </a:p>
          <a:p>
            <a:r>
              <a:t>Persona does: Opens the escalation from With Team Lead and clicks Acknowledge</a:t>
            </a:r>
          </a:p>
          <a:p>
            <a:r>
              <a:t>System does: In action</a:t>
            </a:r>
          </a:p>
          <a:p>
            <a:r>
              <a:t>Shown: The escalation is In action with the step in its history</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SCR-CL-12_wt-b-step-04.png.</a:t>
            </a:r>
          </a:p>
          <a:p>
            <a:r>
              <a:t>Persona does: Clicks Resolve and gives the resolution</a:t>
            </a:r>
          </a:p>
          <a:p>
            <a:r>
              <a:t>System does: Resolved</a:t>
            </a:r>
          </a:p>
          <a:p>
            <a:r>
              <a:t>Shown: The escalation is Resolved with the resolution</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SCR-CL-13_wt-b-step-05.png.</a:t>
            </a:r>
          </a:p>
          <a:p>
            <a:r>
              <a:t>Persona does: Opens Escalation Rules and, from the row menu of CLX-AMOUNT-1M, authorizes the rule made by the Business Administrator</a:t>
            </a:r>
          </a:p>
          <a:p>
            <a:r>
              <a:t>System does: Rule in force</a:t>
            </a:r>
          </a:p>
          <a:p>
            <a:r>
              <a:t>Shown: The rule is Active</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Downstream: The application reduces the outstanding of the invoice in the ledger; the next refresh updates the collection account.; The daily For Application To Invoice file of the next morning lists the request.</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Unapplied Payment Handler: Selects the payment, clicks Request Application and enters the invoice number</a:t>
            </a:r>
          </a:p>
          <a:p>
            <a:r>
              <a:t>2. Unapplied Payment Handler: Opens Requests to Cashiering</a:t>
            </a:r>
          </a:p>
          <a:p>
            <a:r>
              <a:t>3. Cashier (read access and exports): Opens Incoming Requests, selects the collector request and clicks Accept Request with Submit the disposition now</a:t>
            </a:r>
          </a:p>
          <a:p>
            <a:r>
              <a:t>4. Unapplied Payment Handler: Opens the Executed tab of Requests to Cashiering</a:t>
            </a:r>
          </a:p>
          <a:p>
            <a:r>
              <a:t>5. Unapplied Payment Handler: Opens the unapplied payment, History tab</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SCR-CL-14_wt-c-step-01.png.</a:t>
            </a:r>
          </a:p>
          <a:p>
            <a:r>
              <a:t>Persona does: Selects the payment, clicks Request Application and enters the invoice number</a:t>
            </a:r>
          </a:p>
          <a:p>
            <a:r>
              <a:t>System does: Request sent</a:t>
            </a:r>
          </a:p>
          <a:p>
            <a:r>
              <a:t>Shown: Message: Disposition recorded; request sent to Cashiering</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SCR-CL-16_wt-c-step-02.png.</a:t>
            </a:r>
          </a:p>
          <a:p>
            <a:r>
              <a:t>Persona does: Opens Requests to Cashiering</a:t>
            </a:r>
          </a:p>
          <a:p>
            <a:r>
              <a:t>System does: With Cashiering</a:t>
            </a:r>
          </a:p>
          <a:p>
            <a:r>
              <a:t>Shown: The request Sent with the Cashiering reference of the request</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SCR-OP-13_wt-c-step-03.png.</a:t>
            </a:r>
          </a:p>
          <a:p>
            <a:r>
              <a:t>Persona does: Opens Incoming Requests, selects the collector request and clicks Accept Request with Submit the disposition now</a:t>
            </a:r>
          </a:p>
          <a:p>
            <a:r>
              <a:t>System does: Applied</a:t>
            </a:r>
          </a:p>
          <a:p>
            <a:r>
              <a:t>Shown: The request accepted; the application of the payment is processed at once</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SCR-CL-16_wt-c-step-04.png.</a:t>
            </a:r>
          </a:p>
          <a:p>
            <a:r>
              <a:t>Persona does: Opens the Executed tab of Requests to Cashiering</a:t>
            </a:r>
          </a:p>
          <a:p>
            <a:r>
              <a:t>System does: Executed</a:t>
            </a:r>
          </a:p>
          <a:p>
            <a:r>
              <a:t>Shown: The request Applied with the Cashiering reference</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SCR-CL-15_wt-c-step-05.png.</a:t>
            </a:r>
          </a:p>
          <a:p>
            <a:r>
              <a:t>Persona does: Opens the unapplied payment, History tab</a:t>
            </a:r>
          </a:p>
          <a:p>
            <a:r>
              <a:t>System does: History kept</a:t>
            </a:r>
          </a:p>
          <a:p>
            <a:r>
              <a:t>Shown: The payment, the collector disposition, the request and its application, kept after the payment is applied</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Downstream: The payments applied in the ledger are allocated to the installments, oldest first; an installment past its due date is Overdue and can escalate the account.; Billing is monitoring only: the statement creates no receivable and no commission billing.</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Collection Handler: Clicks New Installment Plan: installments of one invoice, the invoice, the first due date, 4 installments, Quarterly</a:t>
            </a:r>
          </a:p>
          <a:p>
            <a:r>
              <a:t>2. Collection Handler: Opens the row menu of cycle 1 and clicks Generate SOA, then the Statements of Account tab</a:t>
            </a:r>
          </a:p>
          <a:p>
            <a:r>
              <a:t>3. Collection Handler: Opens the statement and clicks Send via Email</a:t>
            </a:r>
          </a:p>
          <a:p>
            <a:r>
              <a:t>4. Collection Handler: Clicks Send</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SCR-CL-05_wt-d-step-01.png.</a:t>
            </a:r>
          </a:p>
          <a:p>
            <a:r>
              <a:t>Persona does: Clicks New Installment Plan: installments of one invoice, the invoice, the first due date, 4 installments, Quarterly</a:t>
            </a:r>
          </a:p>
          <a:p>
            <a:r>
              <a:t>System does: Plan active</a:t>
            </a:r>
          </a:p>
          <a:p>
            <a:r>
              <a:t>Shown: Message: &lt;plan&gt; created with 4 installments; the plan opens with its installments</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SCR-CL-06_wt-d-step-02.png.</a:t>
            </a:r>
          </a:p>
          <a:p>
            <a:r>
              <a:t>Persona does: Opens the row menu of cycle 1 and clicks Generate SOA, then the Statements of Account tab</a:t>
            </a:r>
          </a:p>
          <a:p>
            <a:r>
              <a:t>System does: Billed</a:t>
            </a:r>
          </a:p>
          <a:p>
            <a:r>
              <a:t>Shown: Message: &lt;SOA&gt; generated; the statement of cycle 1 To Send</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SCR-CL-10_wt-d-step-03.png.</a:t>
            </a:r>
          </a:p>
          <a:p>
            <a:r>
              <a:t>Persona does: Opens the statement and clicks Send via Email</a:t>
            </a:r>
          </a:p>
          <a:p>
            <a:r>
              <a:t>System does: Ready to send</a:t>
            </a:r>
          </a:p>
          <a:p>
            <a:r>
              <a:t>Shown: The e-mail with the client's address, the proposed subject and message and the protected attachment</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SCR-CL-10_wt-d-step-03.png.</a:t>
            </a:r>
          </a:p>
          <a:p>
            <a:r>
              <a:t>Persona does: Opens the statement and clicks Send via Email</a:t>
            </a:r>
          </a:p>
          <a:p>
            <a:r>
              <a:t>System does: Ready to send</a:t>
            </a:r>
          </a:p>
          <a:p>
            <a:r>
              <a:t>Shown: The e-mail with the client's address, the proposed subject and message and the protected attachment</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SCR-CL-10_wt-d-step-04.png.</a:t>
            </a:r>
          </a:p>
          <a:p>
            <a:r>
              <a:t>Persona does: Clicks Send</a:t>
            </a:r>
          </a:p>
          <a:p>
            <a:r>
              <a:t>System does: Sent</a:t>
            </a:r>
          </a:p>
          <a:p>
            <a:r>
              <a:t>Shown: Message: &lt;SOA&gt; sent to &lt;address&gt;; the statement is Sent and E-mails Sent lists the e-mail</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controls of Collections, each with the message the user sees: a disposition reserved to other roles, an account another user is working on, a promise above the outstanding, and an invoice number in the wrong format.</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Marketing Account Officer: The account officer records the disposition No / missing policy number on an account</a:t>
            </a:r>
          </a:p>
          <a:p>
            <a:r>
              <a:t>2. Collection Team Lead: Opens the account the Collection Handler is working on</a:t>
            </a:r>
          </a:p>
          <a:p>
            <a:r>
              <a:t>3. Collection Handler: Records a promise of an amount above the outstanding of the account</a:t>
            </a:r>
          </a:p>
          <a:p>
            <a:r>
              <a:t>4. Unapplied Payment Handler: Requests the application of a payment to an invoice number in the wrong format</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SCR-CL-03_wt-e-step-01.png.</a:t>
            </a:r>
          </a:p>
          <a:p>
            <a:r>
              <a:t>Persona does: The account officer records the disposition No / missing policy number on an account</a:t>
            </a:r>
          </a:p>
          <a:p>
            <a:r>
              <a:t>System does: Refused</a:t>
            </a:r>
          </a:p>
          <a:p>
            <a:r>
              <a:t>Shown: The refusal: the disposition is reserved to other roles</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SCR-CL-03_wt-e-step-02.png.</a:t>
            </a:r>
          </a:p>
          <a:p>
            <a:r>
              <a:t>Persona does: Opens the account the Collection Handler is working on</a:t>
            </a:r>
          </a:p>
          <a:p>
            <a:r>
              <a:t>System does: Read only</a:t>
            </a:r>
          </a:p>
          <a:p>
            <a:r>
              <a:t>Shown: &lt;name&gt; is editing since &lt;time&gt;; Update Remarks, Log Effort and Record Disposition are not offered</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SCR-CL-08_wt-e-step-03.png.</a:t>
            </a:r>
          </a:p>
          <a:p>
            <a:r>
              <a:t>Persona does: Records a promise of an amount above the outstanding of the account</a:t>
            </a:r>
          </a:p>
          <a:p>
            <a:r>
              <a:t>System does: Refused</a:t>
            </a:r>
          </a:p>
          <a:p>
            <a:r>
              <a:t>Shown: Promises Recorded with the outcome of the invoice: the promised amount is above the outstanding</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SCR-CL-14_wt-e-step-04.png.</a:t>
            </a:r>
          </a:p>
          <a:p>
            <a:r>
              <a:t>Persona does: Requests the application of a payment to an invoice number in the wrong format</a:t>
            </a:r>
          </a:p>
          <a:p>
            <a:r>
              <a:t>System does: Refused</a:t>
            </a:r>
          </a:p>
          <a:p>
            <a:r>
              <a:t>Shown: Under the field: The invoice number does not have the expected format</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SCR-CL-01: SCR-CL-01_home.png, SCR-CL-01_wt-a-step-02.png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SCR-CL-01_home.png; FRS section 13.1.1.</a:t>
            </a:r>
          </a:p>
          <a:p>
            <a:r>
              <a:t>Personas: Collection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SCR-CL-02: SCR-CL-02_list.png, SCR-CL-02_filters.png, SCR-CL-02_disposition.png, SCR-CL-02_reassign.png, SCR-CL-02_wt-a-step-03.png, SCR-CL-02_empty.png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SCR-CL-02_list.png; FRS section 13.1.2.</a:t>
            </a:r>
          </a:p>
          <a:p>
            <a:r>
              <a:t>Personas: Collection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SCR-CL-02_list.png; FRS section 13.1.2.</a:t>
            </a:r>
          </a:p>
          <a:p>
            <a:r>
              <a:t>Personas: Collection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SCR-CL-02_list.png; FRS section 13.1.2.</a:t>
            </a:r>
          </a:p>
          <a:p>
            <a:r>
              <a:t>Personas: Collection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SCR-CL-02_filters.png; FRS section 13.1.2.</a:t>
            </a:r>
          </a:p>
          <a:p>
            <a:r>
              <a:t>Personas: Collection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SCR-CL-02_filters.png; FRS section 13.1.2.</a:t>
            </a:r>
          </a:p>
          <a:p>
            <a:r>
              <a:t>Personas: Collection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SCR-CL-02_filters.png; FRS section 13.1.2.</a:t>
            </a:r>
          </a:p>
          <a:p>
            <a:r>
              <a:t>Personas: Collection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SCR-CL-02_disposition.png; FRS section 13.1.2.</a:t>
            </a:r>
          </a:p>
          <a:p>
            <a:r>
              <a:t>Personas: Collection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SCR-CL-02_disposition.png; FRS section 13.1.2.</a:t>
            </a:r>
          </a:p>
          <a:p>
            <a:r>
              <a:t>Personas: Collection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SCR-CL-02_reassign.png; FRS section 13.1.2.</a:t>
            </a:r>
          </a:p>
          <a:p>
            <a:r>
              <a:t>Personas: Collection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SCR-CL-02_empty.png; FRS section 13.1.2.</a:t>
            </a:r>
          </a:p>
          <a:p>
            <a:r>
              <a:t>Personas: Collection Team Lead.</a:t>
            </a:r>
          </a:p>
          <a:p>
            <a:r>
              <a:t>Taken for this deck (not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SCR-CL-02_empty.png; FRS section 13.1.2.</a:t>
            </a:r>
          </a:p>
          <a:p>
            <a:r>
              <a:t>Personas: Collection Team Lead.</a:t>
            </a:r>
          </a:p>
          <a:p>
            <a:r>
              <a:t>Taken for this deck (not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SCR-CL-02_empty.png; FRS section 13.1.2.</a:t>
            </a:r>
          </a:p>
          <a:p>
            <a:r>
              <a:t>Personas: Collection Team Lead.</a:t>
            </a:r>
          </a:p>
          <a:p>
            <a:r>
              <a:t>Taken for this deck (not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SCR-CL-03: SCR-CL-03_record.png, SCR-CL-03_dispositions.png, SCR-CL-03_history.png, SCR-CL-03_locked.png, SCR-CL-03_wt-a-step-04.png, SCR-CL-03_wt-a-step-05.png, SCR-CL-03_wt-e-step-01.png, SCR-CL-03_wt-e-step-02.png, SCR-CL-03_auditor.png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SCR-CL-03_record.png; FRS section 13.1.3.</a:t>
            </a:r>
          </a:p>
          <a:p>
            <a:r>
              <a:t>Personas: Collection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SCR-CL-03_record.png; FRS section 13.1.3.</a:t>
            </a:r>
          </a:p>
          <a:p>
            <a:r>
              <a:t>Personas: Collection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SCR-CL-03_record.png; FRS section 13.1.3.</a:t>
            </a:r>
          </a:p>
          <a:p>
            <a:r>
              <a:t>Personas: Collection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SCR-CL-03_dispositions.png; FRS section 13.1.3.</a:t>
            </a:r>
          </a:p>
          <a:p>
            <a:r>
              <a:t>Personas: Collection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SCR-CL-03_dispositions.png; FRS section 13.1.3.</a:t>
            </a:r>
          </a:p>
          <a:p>
            <a:r>
              <a:t>Personas: Collection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SCR-CL-03_history.png; FRS section 13.1.3.</a:t>
            </a:r>
          </a:p>
          <a:p>
            <a:r>
              <a:t>Personas: Collection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SCR-CL-03_history.png; FRS section 13.1.3.</a:t>
            </a:r>
          </a:p>
          <a:p>
            <a:r>
              <a:t>Personas: Collection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SCR-CL-03_locked.png; FRS section 13.1.3.</a:t>
            </a:r>
          </a:p>
          <a:p>
            <a:r>
              <a:t>Personas: Collection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SCR-CL-03_locked.png; FRS section 13.1.3.</a:t>
            </a:r>
          </a:p>
          <a:p>
            <a:r>
              <a:t>Personas: Collection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SCR-CL-03_locked.png; FRS section 13.1.3.</a:t>
            </a:r>
          </a:p>
          <a:p>
            <a:r>
              <a:t>Personas: Collection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SCR-CL-03_auditor.png; FRS section 13.1.3.</a:t>
            </a:r>
          </a:p>
          <a:p>
            <a:r>
              <a:t>Personas: Auditor.</a:t>
            </a:r>
          </a:p>
          <a:p>
            <a:r>
              <a:t>Taken for this deck (not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SCR-CL-03_auditor.png; FRS section 13.1.3.</a:t>
            </a:r>
          </a:p>
          <a:p>
            <a:r>
              <a:t>Personas: Auditor.</a:t>
            </a:r>
          </a:p>
          <a:p>
            <a:r>
              <a:t>Taken for this deck (not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SCR-CL-03_auditor.png; FRS section 13.1.3.</a:t>
            </a:r>
          </a:p>
          <a:p>
            <a:r>
              <a:t>Personas: Auditor.</a:t>
            </a:r>
          </a:p>
          <a:p>
            <a:r>
              <a:t>Taken for this deck (not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SCR-CL-04: SCR-CL-04_client.png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SCR-CL-04_client.png; FRS section 13.1.4.</a:t>
            </a:r>
          </a:p>
          <a:p>
            <a:r>
              <a:t>Personas: Collection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SCR-CL-05: SCR-CL-05_list.png, SCR-CL-05_new.png, SCR-CL-05_wt-d-step-01.png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SCR-CL-05_list.png; FRS section 13.2.1.</a:t>
            </a:r>
          </a:p>
          <a:p>
            <a:r>
              <a:t>Personas: Collection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SCR-CL-05_new.png; FRS section 13.2.1.</a:t>
            </a:r>
          </a:p>
          <a:p>
            <a:r>
              <a:t>Personas: Collection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SCR-CL-05_new.png; FRS section 13.2.1.</a:t>
            </a:r>
          </a:p>
          <a:p>
            <a:r>
              <a:t>Personas: Collection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SCR-CL-06: SCR-CL-06_record.png, SCR-CL-06_actions.png, SCR-CL-06_wt-d-step-02.png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SCR-CL-06_record.png; FRS section 13.2.2.</a:t>
            </a:r>
          </a:p>
          <a:p>
            <a:r>
              <a:t>Personas: Collection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SCR-CL-06_record.png; FRS section 13.2.2.</a:t>
            </a:r>
          </a:p>
          <a:p>
            <a:r>
              <a:t>Personas: Collection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SCR-CL-06_actions.png; FRS section 13.2.2.</a:t>
            </a:r>
          </a:p>
          <a:p>
            <a:r>
              <a:t>Personas: Collection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SCR-CL-06_actions.png; FRS section 13.2.2.</a:t>
            </a:r>
          </a:p>
          <a:p>
            <a:r>
              <a:t>Personas: Collection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SCR-CL-07: SCR-CL-07_list.png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SCR-CL-07_list.png; FRS section 13.2.3.</a:t>
            </a:r>
          </a:p>
          <a:p>
            <a:r>
              <a:t>Personas: Collection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SCR-CL-08: SCR-CL-08_list.png, SCR-CL-08_new.png, SCR-CL-08_error.png, SCR-CL-08_wt-b-step-01.png, SCR-CL-08_wt-e-step-03.png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SCR-CL-08_list.png; FRS section 13.2.4.</a:t>
            </a:r>
          </a:p>
          <a:p>
            <a:r>
              <a:t>Personas: Collection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SCR-CL-08_new.png; FRS section 13.2.4.</a:t>
            </a:r>
          </a:p>
          <a:p>
            <a:r>
              <a:t>Personas: Collection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SCR-CL-08_new.png; FRS section 13.2.4.</a:t>
            </a:r>
          </a:p>
          <a:p>
            <a:r>
              <a:t>Personas: Collection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SCR-CL-08_error.png; FRS section 13.2.4.</a:t>
            </a:r>
          </a:p>
          <a:p>
            <a:r>
              <a:t>Personas: Collection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SCR-CL-08_error.png; FRS section 13.2.4.</a:t>
            </a:r>
          </a:p>
          <a:p>
            <a:r>
              <a:t>Personas: Collection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SCR-CL-09: SCR-CL-09_list.png, SCR-CL-09_run.png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SCR-CL-09_list.png; FRS section 13.2.5.</a:t>
            </a:r>
          </a:p>
          <a:p>
            <a:r>
              <a:t>Personas: Collection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SCR-CL-09_run.png; FRS section 13.2.5.</a:t>
            </a:r>
          </a:p>
          <a:p>
            <a:r>
              <a:t>Personas: Collection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SCR-CL-10: SCR-CL-10_record.png, SCR-CL-10_send.png, SCR-CL-10_wt-d-step-03.png, SCR-CL-10_wt-d-step-04.png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SCR-CL-10_record.png; FRS section 13.2.6.</a:t>
            </a:r>
          </a:p>
          <a:p>
            <a:r>
              <a:t>Personas: Collection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SCR-CL-10_record.png; FRS section 13.2.6.</a:t>
            </a:r>
          </a:p>
          <a:p>
            <a:r>
              <a:t>Personas: Collection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SCR-CL-10_record.png; FRS section 13.2.6.</a:t>
            </a:r>
          </a:p>
          <a:p>
            <a:r>
              <a:t>Personas: Collection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SCR-CL-10_send.png; FRS section 13.2.6.</a:t>
            </a:r>
          </a:p>
          <a:p>
            <a:r>
              <a:t>Personas: Collection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SCR-CL-10_send.png; FRS section 13.2.6.</a:t>
            </a:r>
          </a:p>
          <a:p>
            <a:r>
              <a:t>Personas: Collection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SCR-CL-10_send.png; FRS section 13.2.6.</a:t>
            </a:r>
          </a:p>
          <a:p>
            <a:r>
              <a:t>Personas: Collection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SCR-CL-11: SCR-CL-11_list.png, SCR-CL-11_new.png, SCR-CL-11_wt-b-step-02.png, SCR-CL-11_empty.png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SCR-CL-11_list.png; FRS section 13.3.1.</a:t>
            </a:r>
          </a:p>
          <a:p>
            <a:r>
              <a:t>Personas: Collection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SCR-CL-11_new.png; FRS section 13.3.1.</a:t>
            </a:r>
          </a:p>
          <a:p>
            <a:r>
              <a:t>Personas: Collection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SCR-CL-11_new.png; FRS section 13.3.1.</a:t>
            </a:r>
          </a:p>
          <a:p>
            <a:r>
              <a:t>Personas: Collection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SCR-CL-11_empty.png; FRS section 13.3.1.</a:t>
            </a:r>
          </a:p>
          <a:p>
            <a:r>
              <a:t>Personas: Collection Team Lead.</a:t>
            </a:r>
          </a:p>
          <a:p>
            <a:r>
              <a:t>Taken for this deck (not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SCR-CL-12: SCR-CL-12_record.png, SCR-CL-12_resolve.png, SCR-CL-12_wt-b-step-03.png, SCR-CL-12_wt-b-step-04.png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SCR-CL-12_record.png; FRS section 13.3.2.</a:t>
            </a:r>
          </a:p>
          <a:p>
            <a:r>
              <a:t>Personas: Collection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SCR-CL-12_record.png; FRS section 13.3.2.</a:t>
            </a:r>
          </a:p>
          <a:p>
            <a:r>
              <a:t>Personas: Collection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SCR-CL-12_record.png; FRS section 13.3.2.</a:t>
            </a:r>
          </a:p>
          <a:p>
            <a:r>
              <a:t>Personas: Collection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SCR-CL-12_resolve.png; FRS section 13.3.2.</a:t>
            </a:r>
          </a:p>
          <a:p>
            <a:r>
              <a:t>Personas: Collection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SCR-CL-13: SCR-CL-13_list.png, SCR-CL-13_new.png, SCR-CL-13_wt-b-step-05.png, SCR-CL-13_actions.png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2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SCR-CL-13_actions.png; FRS section 13.3.3.</a:t>
            </a:r>
          </a:p>
          <a:p>
            <a:r>
              <a:t>Personas: Section Head (Corporate / Retail).</a:t>
            </a:r>
          </a:p>
          <a:p>
            <a:r>
              <a:t>Taken for this deck (not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SCR-CL-13_new.png; FRS section 13.3.3.</a:t>
            </a:r>
          </a:p>
          <a:p>
            <a:r>
              <a:t>Personas: Section Head (Corporate / Retail).</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SCR-CL-13_new.png; FRS section 13.3.3.</a:t>
            </a:r>
          </a:p>
          <a:p>
            <a:r>
              <a:t>Personas: Section Head (Corporate / Retail).</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SCR-CL-13_new.png; FRS section 13.3.3.</a:t>
            </a:r>
          </a:p>
          <a:p>
            <a:r>
              <a:t>Personas: Section Head (Corporate / Retail).</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SCR-CL-13_list.png; FRS section 13.3.3.</a:t>
            </a:r>
          </a:p>
          <a:p>
            <a:r>
              <a:t>Personas: Section Head (Corporate / Retail).</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SCR-CL-14: SCR-CL-14_list.png, SCR-CL-14_apply.png, SCR-CL-14_error.png, SCR-CL-14_wt-c-step-01.png, SCR-CL-14_wt-e-step-04.png, SCR-CL-14_filters.png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2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SCR-CL-14_apply.png; FRS section 13.4.1.</a:t>
            </a:r>
          </a:p>
          <a:p>
            <a:r>
              <a:t>Personas: Unapplied Payment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SCR-CL-14_apply.png; FRS section 13.4.1.</a:t>
            </a:r>
          </a:p>
          <a:p>
            <a:r>
              <a:t>Personas: Unapplied Payment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SCR-CL-14_filters.png; FRS section 13.4.1.</a:t>
            </a:r>
          </a:p>
          <a:p>
            <a:r>
              <a:t>Personas: Unapplied Payment Handler.</a:t>
            </a:r>
          </a:p>
          <a:p>
            <a:r>
              <a:t>Taken for this deck (not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SCR-CL-14_filters.png; FRS section 13.4.1.</a:t>
            </a:r>
          </a:p>
          <a:p>
            <a:r>
              <a:t>Personas: Unapplied Payment Handler.</a:t>
            </a:r>
          </a:p>
          <a:p>
            <a:r>
              <a:t>Taken for this deck (not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SCR-CL-14_error.png; FRS section 13.4.1.</a:t>
            </a:r>
          </a:p>
          <a:p>
            <a:r>
              <a:t>Personas: Unapplied Payment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SCR-CL-14_error.png; FRS section 13.4.1.</a:t>
            </a:r>
          </a:p>
          <a:p>
            <a:r>
              <a:t>Personas: Unapplied Payment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SCR-CL-14_list.png; FRS section 13.4.1.</a:t>
            </a:r>
          </a:p>
          <a:p>
            <a:r>
              <a:t>Personas: Unapplied Payment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SCR-CL-14_list.png; FRS section 13.4.1.</a:t>
            </a:r>
          </a:p>
          <a:p>
            <a:r>
              <a:t>Personas: Unapplied Payment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SCR-CL-15: SCR-CL-15_record.png, SCR-CL-15_history.png, SCR-CL-15_wt-c-step-05.png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2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SCR-CL-15_record.png; FRS section 13.4.2.</a:t>
            </a:r>
          </a:p>
          <a:p>
            <a:r>
              <a:t>Personas: Unapplied Payment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SCR-CL-15_record.png; FRS section 13.4.2.</a:t>
            </a:r>
          </a:p>
          <a:p>
            <a:r>
              <a:t>Personas: Unapplied Payment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SCR-CL-15_history.png; FRS section 13.4.2.</a:t>
            </a:r>
          </a:p>
          <a:p>
            <a:r>
              <a:t>Personas: Unapplied Payment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SCR-CL-15_history.png; FRS section 13.4.2.</a:t>
            </a:r>
          </a:p>
          <a:p>
            <a:r>
              <a:t>Personas: Unapplied Payment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SCR-CL-16: SCR-CL-16_list.png, SCR-CL-16_wt-c-step-02.png, SCR-CL-16_wt-c-step-04.png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2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SCR-CL-16_list.png; FRS section 13.4.3.</a:t>
            </a:r>
          </a:p>
          <a:p>
            <a:r>
              <a:t>Personas: Unapplied Payment Handler.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SCR-CL-17: SCR-CL-17_list.png, SCR-CL-17_preview.png, SCR-CL-17_new.png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SCR-CL-17_list.png; FRS section 13.5.1.</a:t>
            </a:r>
          </a:p>
          <a:p>
            <a:r>
              <a:t>Personas: Collection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SCR-CL-17_list.png; FRS section 13.5.1.</a:t>
            </a:r>
          </a:p>
          <a:p>
            <a:r>
              <a:t>Personas: Collection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SCR-CL-17_preview.png; FRS section 13.5.1.</a:t>
            </a:r>
          </a:p>
          <a:p>
            <a:r>
              <a:t>Personas: Collection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SCR-CL-17_preview.png; FRS section 13.5.1.</a:t>
            </a:r>
          </a:p>
          <a:p>
            <a:r>
              <a:t>Personas: Collection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SCR-CL-17_preview.png; FRS section 13.5.1.</a:t>
            </a:r>
          </a:p>
          <a:p>
            <a:r>
              <a:t>Personas: Collection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SCR-CL-17_new.png; FRS section 13.5.1.</a:t>
            </a:r>
          </a:p>
          <a:p>
            <a:r>
              <a:t>Personas: Collection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SCR-CL-18: SCR-CL-18_list.png, SCR-CL-18_generate.png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SCR-CL-18_list.png; FRS section 13.5.2.</a:t>
            </a:r>
          </a:p>
          <a:p>
            <a:r>
              <a:t>Personas: Section Head (Corporate / Retail).</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SCR-CL-18_list.png; FRS section 13.5.2.</a:t>
            </a:r>
          </a:p>
          <a:p>
            <a:r>
              <a:t>Personas: Section Head (Corporate / Retail).</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SCR-CL-18_generate.png; FRS section 13.5.2.</a:t>
            </a:r>
          </a:p>
          <a:p>
            <a:r>
              <a:t>Personas: Section Head (Corporate / Retail).</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SCR-CL-19: SCR-CL-19_record.png, SCR-CL-19_change.png, SCR-CL-19_wt-a-step-01.png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2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SCR-CL-19_record.png; FRS section 13.5.3.</a:t>
            </a:r>
          </a:p>
          <a:p>
            <a:r>
              <a:t>Personas: Section Head (Corporate / Retail).</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SCR-CL-19_record.png; FRS section 13.5.3.</a:t>
            </a:r>
          </a:p>
          <a:p>
            <a:r>
              <a:t>Personas: Section Head (Corporate / Retail).</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SCR-CL-19_record.png; FRS section 13.5.3.</a:t>
            </a:r>
          </a:p>
          <a:p>
            <a:r>
              <a:t>Personas: Section Head (Corporate / Retail).</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SCR-CL-19_record.png; FRS section 13.5.3.</a:t>
            </a:r>
          </a:p>
          <a:p>
            <a:r>
              <a:t>Personas: Section Head (Corporate / Retail).</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SCR-CL-19_change.png; FRS section 13.5.3.</a:t>
            </a:r>
          </a:p>
          <a:p>
            <a:r>
              <a:t>Personas: Section Head (Corporate / Retail).</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DO-01_document.png.</a:t>
            </a:r>
          </a:p>
          <a:p>
            <a:r>
              <a:t>Fields: Title and reference: Statement of Account, SOA number and date – from the statement; Account: Name of the assured, ARN, billing frequency, billing cycle and due date – from the installment plan; Installments billed: the installment of the cycle and any earlier installment still unpaid (arrears), with invoice, policy year, coverage, due date, amount, paid and balance – from the plan and the invoice ledger; Amount due and the text of the template: settle the amount on or before the due date; disregard if paid; issued for monitoring only, creates no new receivable</a:t>
            </a:r>
          </a:p>
        </p:txBody>
      </p:sp>
      <p:sp>
        <p:nvSpPr>
          <p:cNvPr id="4" name="Slide Number Placeholder 3"/>
          <p:cNvSpPr>
            <a:spLocks noGrp="1"/>
          </p:cNvSpPr>
          <p:nvPr>
            <p:ph type="sldNum" idx="5" sz="quarter"/>
          </p:nvPr>
        </p:nvSpPr>
        <p:spPr/>
      </p:sp>
    </p:spTree>
  </p:cSld>
  <p:clrMapOvr>
    <a:masterClrMapping/>
  </p:clrMapOvr>
</p:notes>
</file>

<file path=ppt/notesSlides/notesSlide2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DO-02_document.png.</a:t>
            </a:r>
          </a:p>
          <a:p>
            <a:r>
              <a:t>Fields: Client and account: Client Code, Name of Assured, Invoice No., Policy No., Account (ARN), Booking Date, Aging Bracket, Invoicing Branch, Insurer, Product Line, Inception, Expiry – from the invoice ledger; Amounts: Currency, Total Premium, Outstanding Premium, PR2307 Amount – from the invoice ledger; Ownership: Market Segment, Sales Unit, Unit Head, Account Officer, Collection Handler – from the sales organisation and the assignments; Collection work: Client Payment Status, Invoice Category, Disposition, Category (A/B/C), Tagging Owner, Last Collection Effort Date, Last Collection Effort Code, Remarks, Status – from the collection account</a:t>
            </a:r>
          </a:p>
        </p:txBody>
      </p:sp>
      <p:sp>
        <p:nvSpPr>
          <p:cNvPr id="4" name="Slide Number Placeholder 3"/>
          <p:cNvSpPr>
            <a:spLocks noGrp="1"/>
          </p:cNvSpPr>
          <p:nvPr>
            <p:ph type="sldNum" idx="5" sz="quarter"/>
          </p:nvPr>
        </p:nvSpPr>
        <p:spPr/>
      </p:sp>
    </p:spTree>
  </p:cSld>
  <p:clrMapOvr>
    <a:masterClrMapping/>
  </p:clrMapOvr>
</p:notes>
</file>

<file path=ppt/notesSlides/notesSlide2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DO-03_document.png.</a:t>
            </a:r>
          </a:p>
          <a:p>
            <a:r>
              <a:t>Fields: Every collection account of the invoices booked in the period, any status, with the columns of the Outstanding PR List</a:t>
            </a:r>
          </a:p>
        </p:txBody>
      </p:sp>
      <p:sp>
        <p:nvSpPr>
          <p:cNvPr id="4" name="Slide Number Placeholder 3"/>
          <p:cNvSpPr>
            <a:spLocks noGrp="1"/>
          </p:cNvSpPr>
          <p:nvPr>
            <p:ph type="sldNum" idx="5" sz="quarter"/>
          </p:nvPr>
        </p:nvSpPr>
        <p:spPr/>
      </p:sp>
    </p:spTree>
  </p:cSld>
  <p:clrMapOvr>
    <a:masterClrMapping/>
  </p:clrMapOvr>
</p:notes>
</file>

<file path=ppt/notesSlides/notesSlide2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DO-04_document.png.</a:t>
            </a:r>
          </a:p>
          <a:p>
            <a:r>
              <a:t>Fields: The accounts tagged DP PR for reversal or PR 2307 for reversal in the period, with the columns of the Outstanding PR List – from the collection accounts; Tagging: Date Tagged, Tagged By, Tag Remarks – from the disposition; Commission: Basic Commission, VAT on Commission, WTAX Rate and Diff (Premium Balance less PR2307) – from the invoice ledger</a:t>
            </a:r>
          </a:p>
        </p:txBody>
      </p:sp>
      <p:sp>
        <p:nvSpPr>
          <p:cNvPr id="4" name="Slide Number Placeholder 3"/>
          <p:cNvSpPr>
            <a:spLocks noGrp="1"/>
          </p:cNvSpPr>
          <p:nvPr>
            <p:ph type="sldNum" idx="5" sz="quarter"/>
          </p:nvPr>
        </p:nvSpPr>
        <p:spPr/>
      </p:sp>
    </p:spTree>
  </p:cSld>
  <p:clrMapOvr>
    <a:masterClrMapping/>
  </p:clrMapOvr>
</p:notes>
</file>

<file path=ppt/notesSlides/notesSlide2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DO-05_document.png.</a:t>
            </a:r>
          </a:p>
          <a:p>
            <a:r>
              <a:t>Fields: One line per application request: Requested On, Payment Date, Payment File Name, Transaction No., Paid Amount, Currency, Payment Type, Payor, Reference No., Name of Assured, Invoice No., User ID (who made the disposition), Unapplied Reference, Status, Cashiering Reference – from the requests and Cashiering</a:t>
            </a:r>
          </a:p>
        </p:txBody>
      </p:sp>
      <p:sp>
        <p:nvSpPr>
          <p:cNvPr id="4" name="Slide Number Placeholder 3"/>
          <p:cNvSpPr>
            <a:spLocks noGrp="1"/>
          </p:cNvSpPr>
          <p:nvPr>
            <p:ph type="sldNum" idx="5" sz="quarter"/>
          </p:nvPr>
        </p:nvSpPr>
        <p:spPr/>
      </p:sp>
    </p:spTree>
  </p:cSld>
  <p:clrMapOvr>
    <a:masterClrMapping/>
  </p:clrMapOvr>
</p:notes>
</file>

<file path=ppt/notesSlides/notesSlide2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In-app notices appear under the bell and on the Notifications page; e-mails follow the protected e-mail rule of the set.</a:t>
            </a:r>
          </a:p>
        </p:txBody>
      </p:sp>
      <p:sp>
        <p:nvSpPr>
          <p:cNvPr id="4" name="Slide Number Placeholder 3"/>
          <p:cNvSpPr>
            <a:spLocks noGrp="1"/>
          </p:cNvSpPr>
          <p:nvPr>
            <p:ph type="sldNum" idx="5" sz="quarter"/>
          </p:nvPr>
        </p:nvSpPr>
        <p:spPr/>
      </p:sp>
    </p:spTree>
  </p:cSld>
  <p:clrMapOvr>
    <a:masterClrMapping/>
  </p:clrMapOvr>
</p:notes>
</file>

<file path=ppt/notesSlides/notesSlide2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In-app notices appear under the bell and on the Notifications page; e-mails follow the protected e-mail rule of the set.</a:t>
            </a:r>
          </a:p>
        </p:txBody>
      </p:sp>
      <p:sp>
        <p:nvSpPr>
          <p:cNvPr id="4" name="Slide Number Placeholder 3"/>
          <p:cNvSpPr>
            <a:spLocks noGrp="1"/>
          </p:cNvSpPr>
          <p:nvPr>
            <p:ph type="sldNum" idx="5" sz="quarter"/>
          </p:nvPr>
        </p:nvSpPr>
        <p:spPr/>
      </p:sp>
    </p:spTree>
  </p:cSld>
  <p:clrMapOvr>
    <a:masterClrMapping/>
  </p:clrMapOvr>
</p:notes>
</file>

<file path=ppt/notesSlides/notesSlide2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the chapter Proposed business rules and clarifications for confirmation of the FRS (section 21).</a:t>
            </a:r>
          </a:p>
        </p:txBody>
      </p:sp>
      <p:sp>
        <p:nvSpPr>
          <p:cNvPr id="4" name="Slide Number Placeholder 3"/>
          <p:cNvSpPr>
            <a:spLocks noGrp="1"/>
          </p:cNvSpPr>
          <p:nvPr>
            <p:ph type="sldNum" idx="5" sz="quarter"/>
          </p:nvPr>
        </p:nvSpPr>
        <p:spPr/>
      </p:sp>
    </p:spTree>
  </p:cSld>
  <p:clrMapOvr>
    <a:masterClrMapping/>
  </p:clrMapOvr>
</p:notes>
</file>

<file path=ppt/notesSlides/notesSlide2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Neutral proposals for the design; the business decides them with the review of the set.</a:t>
            </a:r>
          </a:p>
        </p:txBody>
      </p:sp>
      <p:sp>
        <p:nvSpPr>
          <p:cNvPr id="4" name="Slide Number Placeholder 3"/>
          <p:cNvSpPr>
            <a:spLocks noGrp="1"/>
          </p:cNvSpPr>
          <p:nvPr>
            <p:ph type="sldNum" idx="5" sz="quarter"/>
          </p:nvPr>
        </p:nvSpPr>
        <p:spPr/>
      </p:sp>
    </p:spTree>
  </p:cSld>
  <p:clrMapOvr>
    <a:masterClrMapping/>
  </p:clrMapOvr>
</p:notes>
</file>

<file path=ppt/notesSlides/notesSlide2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confirm with BDOI with the review of the set.</a:t>
            </a:r>
          </a:p>
        </p:txBody>
      </p:sp>
      <p:sp>
        <p:nvSpPr>
          <p:cNvPr id="4" name="Slide Number Placeholder 3"/>
          <p:cNvSpPr>
            <a:spLocks noGrp="1"/>
          </p:cNvSpPr>
          <p:nvPr>
            <p:ph type="sldNum" idx="5" sz="quarter"/>
          </p:nvPr>
        </p:nvSpPr>
        <p:spPr/>
      </p:sp>
    </p:spTree>
  </p:cSld>
  <p:clrMapOvr>
    <a:masterClrMapping/>
  </p:clrMapOvr>
</p:notes>
</file>

<file path=ppt/notesSlides/notesSlide2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FRS section is the section of the screen specification in the issued FRS; a change reference that names a section names these screens.</a:t>
            </a:r>
          </a:p>
        </p:txBody>
      </p:sp>
      <p:sp>
        <p:nvSpPr>
          <p:cNvPr id="4" name="Slide Number Placeholder 3"/>
          <p:cNvSpPr>
            <a:spLocks noGrp="1"/>
          </p:cNvSpPr>
          <p:nvPr>
            <p:ph type="sldNum" idx="5" sz="quarter"/>
          </p:nvPr>
        </p:nvSpPr>
        <p:spPr/>
      </p:sp>
    </p:spTree>
  </p:cSld>
  <p:clrMapOvr>
    <a:masterClrMapping/>
  </p:clrMapOvr>
</p:notes>
</file>

<file path=ppt/notesSlides/notesSlide2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FRS section is the section of the screen specification in the issued FRS; a change reference that names a section names these screens.</a:t>
            </a:r>
          </a:p>
        </p:txBody>
      </p:sp>
      <p:sp>
        <p:nvSpPr>
          <p:cNvPr id="4" name="Slide Number Placeholder 3"/>
          <p:cNvSpPr>
            <a:spLocks noGrp="1"/>
          </p:cNvSpPr>
          <p:nvPr>
            <p:ph type="sldNum" idx="5" sz="quarter"/>
          </p:nvPr>
        </p:nvSpPr>
        <p:spPr/>
      </p:sp>
    </p:spTree>
  </p:cSld>
  <p:clrMapOvr>
    <a:masterClrMapping/>
  </p:clrMapOvr>
</p:notes>
</file>

<file path=ppt/notesSlides/notesSlide2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FRS section is the section of the screen specification in the issued FRS; a change reference that names a section names these screens.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png"/><Relationship Id="rId4"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png"/><Relationship Id="rId4"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png"/><Relationship Id="rId4"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png"/><Relationship Id="rId4"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png"/><Relationship Id="rId4"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png"/><Relationship Id="rId4"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png"/><Relationship Id="rId4" Type="http://schemas.openxmlformats.org/officeDocument/2006/relationships/notesSlide" Target="../notesSlides/notesSlide2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notesSlide" Target="../notesSlides/notesSlide2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notesSlide" Target="../notesSlides/notesSlide2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png"/><Relationship Id="rId4" Type="http://schemas.openxmlformats.org/officeDocument/2006/relationships/notesSlide" Target="../notesSlides/notesSlide2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notesSlide" Target="../notesSlides/notesSlide3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30.png"/><Relationship Id="rId7" Type="http://schemas.openxmlformats.org/officeDocument/2006/relationships/notesSlide" Target="../notesSlides/notesSlide3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1.png"/><Relationship Id="rId4" Type="http://schemas.openxmlformats.org/officeDocument/2006/relationships/notesSlide" Target="../notesSlides/notesSlide3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image" Target="../media/image34.png"/><Relationship Id="rId6" Type="http://schemas.openxmlformats.org/officeDocument/2006/relationships/image" Target="../media/image35.png"/><Relationship Id="rId7" Type="http://schemas.openxmlformats.org/officeDocument/2006/relationships/notesSlide" Target="../notesSlides/notesSlide3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6.png"/><Relationship Id="rId4" Type="http://schemas.openxmlformats.org/officeDocument/2006/relationships/notesSlide" Target="../notesSlides/notesSlide3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7.png"/><Relationship Id="rId4" Type="http://schemas.openxmlformats.org/officeDocument/2006/relationships/image" Target="../media/image38.png"/><Relationship Id="rId5" Type="http://schemas.openxmlformats.org/officeDocument/2006/relationships/image" Target="../media/image39.png"/><Relationship Id="rId6" Type="http://schemas.openxmlformats.org/officeDocument/2006/relationships/image" Target="../media/image40.png"/><Relationship Id="rId7" Type="http://schemas.openxmlformats.org/officeDocument/2006/relationships/notesSlide" Target="../notesSlides/notesSlide3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1.png"/><Relationship Id="rId4" Type="http://schemas.openxmlformats.org/officeDocument/2006/relationships/notesSlide" Target="../notesSlides/notesSlide3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2.png"/><Relationship Id="rId4" Type="http://schemas.openxmlformats.org/officeDocument/2006/relationships/notesSlide" Target="../notesSlides/notesSlide4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notesSlide" Target="../notesSlides/notesSlide4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7.png"/><Relationship Id="rId4" Type="http://schemas.openxmlformats.org/officeDocument/2006/relationships/notesSlide" Target="../notesSlides/notesSlide4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8.png"/><Relationship Id="rId4" Type="http://schemas.openxmlformats.org/officeDocument/2006/relationships/image" Target="../media/image49.png"/><Relationship Id="rId5" Type="http://schemas.openxmlformats.org/officeDocument/2006/relationships/image" Target="../media/image50.png"/><Relationship Id="rId6" Type="http://schemas.openxmlformats.org/officeDocument/2006/relationships/image" Target="../media/image51.png"/><Relationship Id="rId7" Type="http://schemas.openxmlformats.org/officeDocument/2006/relationships/notesSlide" Target="../notesSlides/notesSlide4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2.png"/><Relationship Id="rId4" Type="http://schemas.openxmlformats.org/officeDocument/2006/relationships/notesSlide" Target="../notesSlides/notesSlide4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image" Target="../media/image34.png"/><Relationship Id="rId6" Type="http://schemas.openxmlformats.org/officeDocument/2006/relationships/image" Target="../media/image35.png"/><Relationship Id="rId7" Type="http://schemas.openxmlformats.org/officeDocument/2006/relationships/notesSlide" Target="../notesSlides/notesSlide4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8.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3.png"/><Relationship Id="rId4" Type="http://schemas.openxmlformats.org/officeDocument/2006/relationships/notesSlide" Target="../notesSlides/notesSlide49.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4.png"/><Relationship Id="rId4" Type="http://schemas.openxmlformats.org/officeDocument/2006/relationships/image" Target="../media/image55.png"/><Relationship Id="rId5" Type="http://schemas.openxmlformats.org/officeDocument/2006/relationships/image" Target="../media/image56.png"/><Relationship Id="rId6" Type="http://schemas.openxmlformats.org/officeDocument/2006/relationships/image" Target="../media/image57.png"/><Relationship Id="rId7" Type="http://schemas.openxmlformats.org/officeDocument/2006/relationships/notesSlide" Target="../notesSlides/notesSlide50.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8.png"/><Relationship Id="rId4" Type="http://schemas.openxmlformats.org/officeDocument/2006/relationships/image" Target="../media/image59.png"/><Relationship Id="rId5" Type="http://schemas.openxmlformats.org/officeDocument/2006/relationships/notesSlide" Target="../notesSlides/notesSlide5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0.png"/><Relationship Id="rId4" Type="http://schemas.openxmlformats.org/officeDocument/2006/relationships/notesSlide" Target="../notesSlides/notesSlide5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1.png"/><Relationship Id="rId4" Type="http://schemas.openxmlformats.org/officeDocument/2006/relationships/image" Target="../media/image62.png"/><Relationship Id="rId5" Type="http://schemas.openxmlformats.org/officeDocument/2006/relationships/image" Target="../media/image63.png"/><Relationship Id="rId6" Type="http://schemas.openxmlformats.org/officeDocument/2006/relationships/image" Target="../media/image64.png"/><Relationship Id="rId7" Type="http://schemas.openxmlformats.org/officeDocument/2006/relationships/notesSlide" Target="../notesSlides/notesSlide5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5.png"/><Relationship Id="rId4" Type="http://schemas.openxmlformats.org/officeDocument/2006/relationships/image" Target="../media/image66.png"/><Relationship Id="rId5" Type="http://schemas.openxmlformats.org/officeDocument/2006/relationships/notesSlide" Target="../notesSlides/notesSlide5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7.png"/><Relationship Id="rId4" Type="http://schemas.openxmlformats.org/officeDocument/2006/relationships/notesSlide" Target="../notesSlides/notesSlide5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8.png"/><Relationship Id="rId4" Type="http://schemas.openxmlformats.org/officeDocument/2006/relationships/image" Target="../media/image69.png"/><Relationship Id="rId5" Type="http://schemas.openxmlformats.org/officeDocument/2006/relationships/image" Target="../media/image70.png"/><Relationship Id="rId6" Type="http://schemas.openxmlformats.org/officeDocument/2006/relationships/image" Target="../media/image71.png"/><Relationship Id="rId7" Type="http://schemas.openxmlformats.org/officeDocument/2006/relationships/notesSlide" Target="../notesSlides/notesSlide58.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2.png"/><Relationship Id="rId4" Type="http://schemas.openxmlformats.org/officeDocument/2006/relationships/image" Target="../media/image73.png"/><Relationship Id="rId5" Type="http://schemas.openxmlformats.org/officeDocument/2006/relationships/notesSlide" Target="../notesSlides/notesSlide59.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0.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4.png"/><Relationship Id="rId4" Type="http://schemas.openxmlformats.org/officeDocument/2006/relationships/notesSlide" Target="../notesSlides/notesSlide6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5.png"/><Relationship Id="rId4" Type="http://schemas.openxmlformats.org/officeDocument/2006/relationships/image" Target="../media/image76.png"/><Relationship Id="rId5" Type="http://schemas.openxmlformats.org/officeDocument/2006/relationships/image" Target="../media/image77.png"/><Relationship Id="rId6" Type="http://schemas.openxmlformats.org/officeDocument/2006/relationships/image" Target="../media/image78.png"/><Relationship Id="rId7" Type="http://schemas.openxmlformats.org/officeDocument/2006/relationships/notesSlide" Target="../notesSlides/notesSlide6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9.png"/><Relationship Id="rId4" Type="http://schemas.openxmlformats.org/officeDocument/2006/relationships/image" Target="../media/image80.png"/><Relationship Id="rId5" Type="http://schemas.openxmlformats.org/officeDocument/2006/relationships/image" Target="../media/image81.png"/><Relationship Id="rId6" Type="http://schemas.openxmlformats.org/officeDocument/2006/relationships/image" Target="../media/image82.png"/><Relationship Id="rId7" Type="http://schemas.openxmlformats.org/officeDocument/2006/relationships/notesSlide" Target="../notesSlides/notesSlide6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3.png"/><Relationship Id="rId4" Type="http://schemas.openxmlformats.org/officeDocument/2006/relationships/notesSlide" Target="../notesSlides/notesSlide6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4.png"/><Relationship Id="rId4" Type="http://schemas.openxmlformats.org/officeDocument/2006/relationships/image" Target="../media/image85.png"/><Relationship Id="rId5" Type="http://schemas.openxmlformats.org/officeDocument/2006/relationships/image" Target="../media/image86.png"/><Relationship Id="rId6" Type="http://schemas.openxmlformats.org/officeDocument/2006/relationships/image" Target="../media/image87.png"/><Relationship Id="rId7" Type="http://schemas.openxmlformats.org/officeDocument/2006/relationships/notesSlide" Target="../notesSlides/notesSlide6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8.png"/><Relationship Id="rId4" Type="http://schemas.openxmlformats.org/officeDocument/2006/relationships/image" Target="../media/image89.png"/><Relationship Id="rId5" Type="http://schemas.openxmlformats.org/officeDocument/2006/relationships/image" Target="../media/image90.png"/><Relationship Id="rId6" Type="http://schemas.openxmlformats.org/officeDocument/2006/relationships/image" Target="../media/image91.png"/><Relationship Id="rId7" Type="http://schemas.openxmlformats.org/officeDocument/2006/relationships/notesSlide" Target="../notesSlides/notesSlide6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2.png"/><Relationship Id="rId4" Type="http://schemas.openxmlformats.org/officeDocument/2006/relationships/notesSlide" Target="../notesSlides/notesSlide68.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9.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3.png"/><Relationship Id="rId4" Type="http://schemas.openxmlformats.org/officeDocument/2006/relationships/notesSlide" Target="../notesSlides/notesSlide70.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4.png"/><Relationship Id="rId4" Type="http://schemas.openxmlformats.org/officeDocument/2006/relationships/image" Target="../media/image95.png"/><Relationship Id="rId5" Type="http://schemas.openxmlformats.org/officeDocument/2006/relationships/image" Target="../media/image96.png"/><Relationship Id="rId6" Type="http://schemas.openxmlformats.org/officeDocument/2006/relationships/image" Target="../media/image97.png"/><Relationship Id="rId7" Type="http://schemas.openxmlformats.org/officeDocument/2006/relationships/notesSlide" Target="../notesSlides/notesSlide7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8.png"/><Relationship Id="rId4" Type="http://schemas.openxmlformats.org/officeDocument/2006/relationships/image" Target="../media/image99.png"/><Relationship Id="rId5" Type="http://schemas.openxmlformats.org/officeDocument/2006/relationships/image" Target="../media/image100.png"/><Relationship Id="rId6" Type="http://schemas.openxmlformats.org/officeDocument/2006/relationships/image" Target="../media/image101.png"/><Relationship Id="rId7" Type="http://schemas.openxmlformats.org/officeDocument/2006/relationships/notesSlide" Target="../notesSlides/notesSlide7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2.png"/><Relationship Id="rId4" Type="http://schemas.openxmlformats.org/officeDocument/2006/relationships/image" Target="../media/image103.png"/><Relationship Id="rId5" Type="http://schemas.openxmlformats.org/officeDocument/2006/relationships/image" Target="../media/image104.png"/><Relationship Id="rId6" Type="http://schemas.openxmlformats.org/officeDocument/2006/relationships/image" Target="../media/image105.png"/><Relationship Id="rId7" Type="http://schemas.openxmlformats.org/officeDocument/2006/relationships/notesSlide" Target="../notesSlides/notesSlide7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4.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6.png"/><Relationship Id="rId4" Type="http://schemas.openxmlformats.org/officeDocument/2006/relationships/notesSlide" Target="../notesSlides/notesSlide75.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7.png"/><Relationship Id="rId4" Type="http://schemas.openxmlformats.org/officeDocument/2006/relationships/image" Target="../media/image108.png"/><Relationship Id="rId5" Type="http://schemas.openxmlformats.org/officeDocument/2006/relationships/image" Target="../media/image109.png"/><Relationship Id="rId6" Type="http://schemas.openxmlformats.org/officeDocument/2006/relationships/image" Target="../media/image110.png"/><Relationship Id="rId7" Type="http://schemas.openxmlformats.org/officeDocument/2006/relationships/notesSlide" Target="../notesSlides/notesSlide76.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1.png"/><Relationship Id="rId4" Type="http://schemas.openxmlformats.org/officeDocument/2006/relationships/image" Target="../media/image112.png"/><Relationship Id="rId5" Type="http://schemas.openxmlformats.org/officeDocument/2006/relationships/image" Target="../media/image113.png"/><Relationship Id="rId6" Type="http://schemas.openxmlformats.org/officeDocument/2006/relationships/image" Target="../media/image114.png"/><Relationship Id="rId7" Type="http://schemas.openxmlformats.org/officeDocument/2006/relationships/notesSlide" Target="../notesSlides/notesSlide7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5.png"/><Relationship Id="rId4" Type="http://schemas.openxmlformats.org/officeDocument/2006/relationships/image" Target="../media/image116.png"/><Relationship Id="rId5" Type="http://schemas.openxmlformats.org/officeDocument/2006/relationships/image" Target="../media/image117.png"/><Relationship Id="rId6" Type="http://schemas.openxmlformats.org/officeDocument/2006/relationships/image" Target="../media/image118.png"/><Relationship Id="rId7" Type="http://schemas.openxmlformats.org/officeDocument/2006/relationships/notesSlide" Target="../notesSlides/notesSlide78.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9.png"/><Relationship Id="rId4" Type="http://schemas.openxmlformats.org/officeDocument/2006/relationships/image" Target="../media/image120.png"/><Relationship Id="rId5" Type="http://schemas.openxmlformats.org/officeDocument/2006/relationships/image" Target="../media/image121.png"/><Relationship Id="rId6" Type="http://schemas.openxmlformats.org/officeDocument/2006/relationships/image" Target="../media/image122.png"/><Relationship Id="rId7" Type="http://schemas.openxmlformats.org/officeDocument/2006/relationships/notesSlide" Target="../notesSlides/notesSlide79.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0.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4.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5.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6.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8.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9.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0.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3.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4.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5.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6.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3.png"/><Relationship Id="rId4" Type="http://schemas.openxmlformats.org/officeDocument/2006/relationships/notesSlide" Target="../notesSlides/notesSlide9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4.png"/><Relationship Id="rId4" Type="http://schemas.openxmlformats.org/officeDocument/2006/relationships/notesSlide" Target="../notesSlides/notesSlide98.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5.png"/><Relationship Id="rId4" Type="http://schemas.openxmlformats.org/officeDocument/2006/relationships/notesSlide" Target="../notesSlides/notesSlide99.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6.png"/><Relationship Id="rId4" Type="http://schemas.openxmlformats.org/officeDocument/2006/relationships/notesSlide" Target="../notesSlides/notesSlide100.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7.png"/><Relationship Id="rId4" Type="http://schemas.openxmlformats.org/officeDocument/2006/relationships/notesSlide" Target="../notesSlides/notesSlide10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8.png"/><Relationship Id="rId4" Type="http://schemas.openxmlformats.org/officeDocument/2006/relationships/notesSlide" Target="../notesSlides/notesSlide10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9.png"/><Relationship Id="rId4" Type="http://schemas.openxmlformats.org/officeDocument/2006/relationships/notesSlide" Target="../notesSlides/notesSlide103.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4.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5.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0.png"/><Relationship Id="rId4" Type="http://schemas.openxmlformats.org/officeDocument/2006/relationships/notesSlide" Target="../notesSlides/notesSlide106.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1.png"/><Relationship Id="rId4" Type="http://schemas.openxmlformats.org/officeDocument/2006/relationships/notesSlide" Target="../notesSlides/notesSlide10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2.png"/><Relationship Id="rId4" Type="http://schemas.openxmlformats.org/officeDocument/2006/relationships/notesSlide" Target="../notesSlides/notesSlide108.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3.png"/><Relationship Id="rId4" Type="http://schemas.openxmlformats.org/officeDocument/2006/relationships/notesSlide" Target="../notesSlides/notesSlide109.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4.png"/><Relationship Id="rId4" Type="http://schemas.openxmlformats.org/officeDocument/2006/relationships/notesSlide" Target="../notesSlides/notesSlide110.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1.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5.png"/><Relationship Id="rId4" Type="http://schemas.openxmlformats.org/officeDocument/2006/relationships/notesSlide" Target="../notesSlides/notesSlide113.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6.png"/><Relationship Id="rId4" Type="http://schemas.openxmlformats.org/officeDocument/2006/relationships/notesSlide" Target="../notesSlides/notesSlide114.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7.png"/><Relationship Id="rId4" Type="http://schemas.openxmlformats.org/officeDocument/2006/relationships/notesSlide" Target="../notesSlides/notesSlide115.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8.png"/><Relationship Id="rId4" Type="http://schemas.openxmlformats.org/officeDocument/2006/relationships/notesSlide" Target="../notesSlides/notesSlide116.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9.png"/><Relationship Id="rId4" Type="http://schemas.openxmlformats.org/officeDocument/2006/relationships/notesSlide" Target="../notesSlides/notesSlide11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8.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9.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0.png"/><Relationship Id="rId4" Type="http://schemas.openxmlformats.org/officeDocument/2006/relationships/notesSlide" Target="../notesSlides/notesSlide120.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1.png"/><Relationship Id="rId4" Type="http://schemas.openxmlformats.org/officeDocument/2006/relationships/notesSlide" Target="../notesSlides/notesSlide121.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2.png"/><Relationship Id="rId4" Type="http://schemas.openxmlformats.org/officeDocument/2006/relationships/notesSlide" Target="../notesSlides/notesSlide12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3.png"/><Relationship Id="rId4" Type="http://schemas.openxmlformats.org/officeDocument/2006/relationships/notesSlide" Target="../notesSlides/notesSlide123.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4.png"/><Relationship Id="rId4" Type="http://schemas.openxmlformats.org/officeDocument/2006/relationships/notesSlide" Target="../notesSlides/notesSlide124.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5.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6.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5.png"/><Relationship Id="rId4" Type="http://schemas.openxmlformats.org/officeDocument/2006/relationships/notesSlide" Target="../notesSlides/notesSlide12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6.png"/><Relationship Id="rId4" Type="http://schemas.openxmlformats.org/officeDocument/2006/relationships/notesSlide" Target="../notesSlides/notesSlide128.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7.png"/><Relationship Id="rId4" Type="http://schemas.openxmlformats.org/officeDocument/2006/relationships/notesSlide" Target="../notesSlides/notesSlide129.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8.png"/><Relationship Id="rId4" Type="http://schemas.openxmlformats.org/officeDocument/2006/relationships/notesSlide" Target="../notesSlides/notesSlide130.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1.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9.png"/><Relationship Id="rId4" Type="http://schemas.openxmlformats.org/officeDocument/2006/relationships/notesSlide" Target="../notesSlides/notesSlide133.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4.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5.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0.png"/><Relationship Id="rId4" Type="http://schemas.openxmlformats.org/officeDocument/2006/relationships/notesSlide" Target="../notesSlides/notesSlide136.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1.png"/><Relationship Id="rId4" Type="http://schemas.openxmlformats.org/officeDocument/2006/relationships/notesSlide" Target="../notesSlides/notesSlide13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2.png"/><Relationship Id="rId4" Type="http://schemas.openxmlformats.org/officeDocument/2006/relationships/notesSlide" Target="../notesSlides/notesSlide138.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3.png"/><Relationship Id="rId4" Type="http://schemas.openxmlformats.org/officeDocument/2006/relationships/notesSlide" Target="../notesSlides/notesSlide139.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4.png"/><Relationship Id="rId4" Type="http://schemas.openxmlformats.org/officeDocument/2006/relationships/notesSlide" Target="../notesSlides/notesSlide140.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5.png"/><Relationship Id="rId4" Type="http://schemas.openxmlformats.org/officeDocument/2006/relationships/notesSlide" Target="../notesSlides/notesSlide141.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6.png"/><Relationship Id="rId4" Type="http://schemas.openxmlformats.org/officeDocument/2006/relationships/notesSlide" Target="../notesSlides/notesSlide14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7.png"/><Relationship Id="rId4" Type="http://schemas.openxmlformats.org/officeDocument/2006/relationships/notesSlide" Target="../notesSlides/notesSlide143.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8.png"/><Relationship Id="rId4" Type="http://schemas.openxmlformats.org/officeDocument/2006/relationships/notesSlide" Target="../notesSlides/notesSlide144.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9.png"/><Relationship Id="rId4" Type="http://schemas.openxmlformats.org/officeDocument/2006/relationships/notesSlide" Target="../notesSlides/notesSlide145.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0.png"/><Relationship Id="rId4" Type="http://schemas.openxmlformats.org/officeDocument/2006/relationships/notesSlide" Target="../notesSlides/notesSlide146.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1.png"/><Relationship Id="rId4" Type="http://schemas.openxmlformats.org/officeDocument/2006/relationships/notesSlide" Target="../notesSlides/notesSlide14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8.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9.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2.png"/><Relationship Id="rId4" Type="http://schemas.openxmlformats.org/officeDocument/2006/relationships/notesSlide" Target="../notesSlides/notesSlide150.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3.png"/><Relationship Id="rId4" Type="http://schemas.openxmlformats.org/officeDocument/2006/relationships/notesSlide" Target="../notesSlides/notesSlide151.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4.png"/><Relationship Id="rId4" Type="http://schemas.openxmlformats.org/officeDocument/2006/relationships/notesSlide" Target="../notesSlides/notesSlide15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5.png"/><Relationship Id="rId4" Type="http://schemas.openxmlformats.org/officeDocument/2006/relationships/notesSlide" Target="../notesSlides/notesSlide153.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6.png"/><Relationship Id="rId4" Type="http://schemas.openxmlformats.org/officeDocument/2006/relationships/notesSlide" Target="../notesSlides/notesSlide154.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7.png"/><Relationship Id="rId4" Type="http://schemas.openxmlformats.org/officeDocument/2006/relationships/notesSlide" Target="../notesSlides/notesSlide155.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8.png"/><Relationship Id="rId4" Type="http://schemas.openxmlformats.org/officeDocument/2006/relationships/notesSlide" Target="../notesSlides/notesSlide156.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9.png"/><Relationship Id="rId4" Type="http://schemas.openxmlformats.org/officeDocument/2006/relationships/notesSlide" Target="../notesSlides/notesSlide15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0.png"/><Relationship Id="rId4" Type="http://schemas.openxmlformats.org/officeDocument/2006/relationships/notesSlide" Target="../notesSlides/notesSlide158.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1.png"/><Relationship Id="rId4" Type="http://schemas.openxmlformats.org/officeDocument/2006/relationships/notesSlide" Target="../notesSlides/notesSlide159.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2.png"/><Relationship Id="rId4" Type="http://schemas.openxmlformats.org/officeDocument/2006/relationships/notesSlide" Target="../notesSlides/notesSlide160.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3.png"/><Relationship Id="rId4" Type="http://schemas.openxmlformats.org/officeDocument/2006/relationships/notesSlide" Target="../notesSlides/notesSlide161.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4.png"/><Relationship Id="rId4" Type="http://schemas.openxmlformats.org/officeDocument/2006/relationships/notesSlide" Target="../notesSlides/notesSlide16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3.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5.png"/><Relationship Id="rId4" Type="http://schemas.openxmlformats.org/officeDocument/2006/relationships/notesSlide" Target="../notesSlides/notesSlide16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6.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6.png"/><Relationship Id="rId4" Type="http://schemas.openxmlformats.org/officeDocument/2006/relationships/notesSlide" Target="../notesSlides/notesSlide16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7.png"/><Relationship Id="rId4" Type="http://schemas.openxmlformats.org/officeDocument/2006/relationships/notesSlide" Target="../notesSlides/notesSlide168.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8.png"/><Relationship Id="rId4" Type="http://schemas.openxmlformats.org/officeDocument/2006/relationships/notesSlide" Target="../notesSlides/notesSlide169.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0.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1.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9.png"/><Relationship Id="rId4" Type="http://schemas.openxmlformats.org/officeDocument/2006/relationships/notesSlide" Target="../notesSlides/notesSlide17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0.png"/><Relationship Id="rId4" Type="http://schemas.openxmlformats.org/officeDocument/2006/relationships/notesSlide" Target="../notesSlides/notesSlide173.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1.png"/><Relationship Id="rId4" Type="http://schemas.openxmlformats.org/officeDocument/2006/relationships/notesSlide" Target="../notesSlides/notesSlide174.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2.png"/><Relationship Id="rId4" Type="http://schemas.openxmlformats.org/officeDocument/2006/relationships/notesSlide" Target="../notesSlides/notesSlide175.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6.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3.png"/><Relationship Id="rId4" Type="http://schemas.openxmlformats.org/officeDocument/2006/relationships/notesSlide" Target="../notesSlides/notesSlide17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8.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9.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4.png"/><Relationship Id="rId4" Type="http://schemas.openxmlformats.org/officeDocument/2006/relationships/notesSlide" Target="../notesSlides/notesSlide180.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5.png"/><Relationship Id="rId4" Type="http://schemas.openxmlformats.org/officeDocument/2006/relationships/notesSlide" Target="../notesSlides/notesSlide181.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6.png"/><Relationship Id="rId4" Type="http://schemas.openxmlformats.org/officeDocument/2006/relationships/notesSlide" Target="../notesSlides/notesSlide182.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7.png"/><Relationship Id="rId4" Type="http://schemas.openxmlformats.org/officeDocument/2006/relationships/notesSlide" Target="../notesSlides/notesSlide183.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8.png"/><Relationship Id="rId4" Type="http://schemas.openxmlformats.org/officeDocument/2006/relationships/notesSlide" Target="../notesSlides/notesSlide184.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5.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9.png"/><Relationship Id="rId4" Type="http://schemas.openxmlformats.org/officeDocument/2006/relationships/notesSlide" Target="../notesSlides/notesSlide186.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0.png"/><Relationship Id="rId4" Type="http://schemas.openxmlformats.org/officeDocument/2006/relationships/notesSlide" Target="../notesSlides/notesSlide18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8.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9.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1.png"/><Relationship Id="rId4" Type="http://schemas.openxmlformats.org/officeDocument/2006/relationships/notesSlide" Target="../notesSlides/notesSlide190.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2.png"/><Relationship Id="rId4" Type="http://schemas.openxmlformats.org/officeDocument/2006/relationships/notesSlide" Target="../notesSlides/notesSlide191.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3.png"/><Relationship Id="rId4" Type="http://schemas.openxmlformats.org/officeDocument/2006/relationships/notesSlide" Target="../notesSlides/notesSlide192.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4.png"/><Relationship Id="rId4" Type="http://schemas.openxmlformats.org/officeDocument/2006/relationships/notesSlide" Target="../notesSlides/notesSlide193.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5.png"/><Relationship Id="rId4" Type="http://schemas.openxmlformats.org/officeDocument/2006/relationships/notesSlide" Target="../notesSlides/notesSlide194.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6.png"/><Relationship Id="rId4" Type="http://schemas.openxmlformats.org/officeDocument/2006/relationships/notesSlide" Target="../notesSlides/notesSlide195.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6.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7.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7.png"/><Relationship Id="rId4" Type="http://schemas.openxmlformats.org/officeDocument/2006/relationships/notesSlide" Target="../notesSlides/notesSlide198.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8.png"/><Relationship Id="rId4" Type="http://schemas.openxmlformats.org/officeDocument/2006/relationships/notesSlide" Target="../notesSlides/notesSlide199.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9.png"/><Relationship Id="rId4" Type="http://schemas.openxmlformats.org/officeDocument/2006/relationships/notesSlide" Target="../notesSlides/notesSlide200.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0.png"/><Relationship Id="rId4" Type="http://schemas.openxmlformats.org/officeDocument/2006/relationships/notesSlide" Target="../notesSlides/notesSlide201.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2.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3.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1.png"/><Relationship Id="rId4" Type="http://schemas.openxmlformats.org/officeDocument/2006/relationships/notesSlide" Target="../notesSlides/notesSlide204.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2.png"/><Relationship Id="rId4" Type="http://schemas.openxmlformats.org/officeDocument/2006/relationships/notesSlide" Target="../notesSlides/notesSlide205.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3.png"/><Relationship Id="rId4" Type="http://schemas.openxmlformats.org/officeDocument/2006/relationships/notesSlide" Target="../notesSlides/notesSlide206.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4.png"/><Relationship Id="rId4" Type="http://schemas.openxmlformats.org/officeDocument/2006/relationships/notesSlide" Target="../notesSlides/notesSlide207.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8.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9.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5.png"/><Relationship Id="rId4" Type="http://schemas.openxmlformats.org/officeDocument/2006/relationships/notesSlide" Target="../notesSlides/notesSlide210.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6.png"/><Relationship Id="rId4" Type="http://schemas.openxmlformats.org/officeDocument/2006/relationships/notesSlide" Target="../notesSlides/notesSlide211.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7.png"/><Relationship Id="rId4" Type="http://schemas.openxmlformats.org/officeDocument/2006/relationships/notesSlide" Target="../notesSlides/notesSlide212.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8.png"/><Relationship Id="rId4" Type="http://schemas.openxmlformats.org/officeDocument/2006/relationships/notesSlide" Target="../notesSlides/notesSlide213.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9.png"/><Relationship Id="rId4" Type="http://schemas.openxmlformats.org/officeDocument/2006/relationships/notesSlide" Target="../notesSlides/notesSlide214.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5.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6.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0.png"/><Relationship Id="rId4" Type="http://schemas.openxmlformats.org/officeDocument/2006/relationships/notesSlide" Target="../notesSlides/notesSlide217.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1.png"/><Relationship Id="rId4" Type="http://schemas.openxmlformats.org/officeDocument/2006/relationships/notesSlide" Target="../notesSlides/notesSlide218.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2.png"/><Relationship Id="rId4" Type="http://schemas.openxmlformats.org/officeDocument/2006/relationships/notesSlide" Target="../notesSlides/notesSlide219.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3.png"/><Relationship Id="rId4" Type="http://schemas.openxmlformats.org/officeDocument/2006/relationships/notesSlide" Target="../notesSlides/notesSlide220.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4.png"/><Relationship Id="rId4" Type="http://schemas.openxmlformats.org/officeDocument/2006/relationships/notesSlide" Target="../notesSlides/notesSlide221.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5.png"/><Relationship Id="rId4" Type="http://schemas.openxmlformats.org/officeDocument/2006/relationships/notesSlide" Target="../notesSlides/notesSlide222.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6.png"/><Relationship Id="rId4" Type="http://schemas.openxmlformats.org/officeDocument/2006/relationships/notesSlide" Target="../notesSlides/notesSlide223.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7.png"/><Relationship Id="rId4" Type="http://schemas.openxmlformats.org/officeDocument/2006/relationships/notesSlide" Target="../notesSlides/notesSlide224.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5.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6.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8.png"/><Relationship Id="rId4" Type="http://schemas.openxmlformats.org/officeDocument/2006/relationships/notesSlide" Target="../notesSlides/notesSlide227.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9.png"/><Relationship Id="rId4" Type="http://schemas.openxmlformats.org/officeDocument/2006/relationships/notesSlide" Target="../notesSlides/notesSlide228.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0.png"/><Relationship Id="rId4" Type="http://schemas.openxmlformats.org/officeDocument/2006/relationships/notesSlide" Target="../notesSlides/notesSlide229.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1.png"/><Relationship Id="rId4" Type="http://schemas.openxmlformats.org/officeDocument/2006/relationships/notesSlide" Target="../notesSlides/notesSlide230.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1.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2.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2.png"/><Relationship Id="rId4" Type="http://schemas.openxmlformats.org/officeDocument/2006/relationships/notesSlide" Target="../notesSlides/notesSlide233.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4.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3.png"/><Relationship Id="rId4" Type="http://schemas.openxmlformats.org/officeDocument/2006/relationships/notesSlide" Target="../notesSlides/notesSlide235.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4.png"/><Relationship Id="rId4" Type="http://schemas.openxmlformats.org/officeDocument/2006/relationships/notesSlide" Target="../notesSlides/notesSlide236.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5.png"/><Relationship Id="rId4" Type="http://schemas.openxmlformats.org/officeDocument/2006/relationships/notesSlide" Target="../notesSlides/notesSlide237.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6.png"/><Relationship Id="rId4" Type="http://schemas.openxmlformats.org/officeDocument/2006/relationships/notesSlide" Target="../notesSlides/notesSlide238.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7.png"/><Relationship Id="rId4" Type="http://schemas.openxmlformats.org/officeDocument/2006/relationships/notesSlide" Target="../notesSlides/notesSlide239.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8.png"/><Relationship Id="rId4" Type="http://schemas.openxmlformats.org/officeDocument/2006/relationships/notesSlide" Target="../notesSlides/notesSlide240.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1.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9.png"/><Relationship Id="rId4" Type="http://schemas.openxmlformats.org/officeDocument/2006/relationships/notesSlide" Target="../notesSlides/notesSlide242.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0.png"/><Relationship Id="rId4" Type="http://schemas.openxmlformats.org/officeDocument/2006/relationships/notesSlide" Target="../notesSlides/notesSlide243.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1.png"/><Relationship Id="rId4" Type="http://schemas.openxmlformats.org/officeDocument/2006/relationships/notesSlide" Target="../notesSlides/notesSlide244.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5.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6.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2.png"/><Relationship Id="rId4" Type="http://schemas.openxmlformats.org/officeDocument/2006/relationships/notesSlide" Target="../notesSlides/notesSlide247.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3.png"/><Relationship Id="rId4" Type="http://schemas.openxmlformats.org/officeDocument/2006/relationships/notesSlide" Target="../notesSlides/notesSlide248.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4.png"/><Relationship Id="rId4" Type="http://schemas.openxmlformats.org/officeDocument/2006/relationships/notesSlide" Target="../notesSlides/notesSlide249.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5.png"/><Relationship Id="rId4" Type="http://schemas.openxmlformats.org/officeDocument/2006/relationships/notesSlide" Target="../notesSlides/notesSlide250.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6.png"/><Relationship Id="rId4" Type="http://schemas.openxmlformats.org/officeDocument/2006/relationships/notesSlide" Target="../notesSlides/notesSlide251.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7.png"/><Relationship Id="rId4" Type="http://schemas.openxmlformats.org/officeDocument/2006/relationships/notesSlide" Target="../notesSlides/notesSlide252.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8.png"/><Relationship Id="rId4" Type="http://schemas.openxmlformats.org/officeDocument/2006/relationships/notesSlide" Target="../notesSlides/notesSlide253.xml"/></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9.png"/><Relationship Id="rId4" Type="http://schemas.openxmlformats.org/officeDocument/2006/relationships/notesSlide" Target="../notesSlides/notesSlide254.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40.png"/><Relationship Id="rId4" Type="http://schemas.openxmlformats.org/officeDocument/2006/relationships/notesSlide" Target="../notesSlides/notesSlide255.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41.png"/><Relationship Id="rId4" Type="http://schemas.openxmlformats.org/officeDocument/2006/relationships/notesSlide" Target="../notesSlides/notesSlide256.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7.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8.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9.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0.xml"/></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1.xml"/></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2.xml"/></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3.xml"/></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lient-logo.png"/>
          <p:cNvPicPr>
            <a:picLocks noChangeAspect="1"/>
          </p:cNvPicPr>
          <p:nvPr/>
        </p:nvPicPr>
        <p:blipFill>
          <a:blip r:embed="rId2"/>
          <a:stretch>
            <a:fillRect/>
          </a:stretch>
        </p:blipFill>
        <p:spPr>
          <a:xfrm>
            <a:off x="548640" y="548640"/>
            <a:ext cx="2926080" cy="596053"/>
          </a:xfrm>
          <a:prstGeom prst="rect">
            <a:avLst/>
          </a:prstGeom>
        </p:spPr>
      </p:pic>
      <p:sp>
        <p:nvSpPr>
          <p:cNvPr id="3" name="TextBox 2"/>
          <p:cNvSpPr txBox="1"/>
          <p:nvPr/>
        </p:nvSpPr>
        <p:spPr>
          <a:xfrm>
            <a:off x="548640" y="2194560"/>
            <a:ext cx="10058400" cy="1280160"/>
          </a:xfrm>
          <a:prstGeom prst="rect">
            <a:avLst/>
          </a:prstGeom>
          <a:noFill/>
        </p:spPr>
        <p:txBody>
          <a:bodyPr wrap="square" anchor="b" lIns="45720" rIns="45720">
            <a:spAutoFit/>
          </a:bodyPr>
          <a:lstStyle/>
          <a:p>
            <a:r>
              <a:rPr sz="4000" b="1" i="0">
                <a:solidFill>
                  <a:srgbClr val="004EA8"/>
                </a:solidFill>
                <a:latin typeface="Arial"/>
              </a:rPr>
              <a:t>UX Screen Deck: BRD-4 Collections</a:t>
            </a:r>
          </a:p>
        </p:txBody>
      </p:sp>
      <p:sp>
        <p:nvSpPr>
          <p:cNvPr id="4" name="Rectangle 3"/>
          <p:cNvSpPr/>
          <p:nvPr/>
        </p:nvSpPr>
        <p:spPr>
          <a:xfrm>
            <a:off x="548640" y="3611880"/>
            <a:ext cx="201168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794760"/>
            <a:ext cx="10058400" cy="548640"/>
          </a:xfrm>
          <a:prstGeom prst="rect">
            <a:avLst/>
          </a:prstGeom>
          <a:noFill/>
        </p:spPr>
        <p:txBody>
          <a:bodyPr wrap="square" anchor="t" lIns="45720" rIns="45720">
            <a:spAutoFit/>
          </a:bodyPr>
          <a:lstStyle/>
          <a:p>
            <a:r>
              <a:rPr sz="2000" b="0" i="0">
                <a:solidFill>
                  <a:srgbClr val="2E2E2E"/>
                </a:solidFill>
                <a:latin typeface="Arial"/>
              </a:rPr>
              <a:t>BRD-4 Collections: every screen, persona by persona and flow by flow, for the BDOI UX Design team</a:t>
            </a:r>
          </a:p>
        </p:txBody>
      </p:sp>
      <p:sp>
        <p:nvSpPr>
          <p:cNvPr id="6" name="TextBox 5"/>
          <p:cNvSpPr txBox="1"/>
          <p:nvPr/>
        </p:nvSpPr>
        <p:spPr>
          <a:xfrm>
            <a:off x="548640" y="4343400"/>
            <a:ext cx="10058400" cy="457200"/>
          </a:xfrm>
          <a:prstGeom prst="rect">
            <a:avLst/>
          </a:prstGeom>
          <a:noFill/>
        </p:spPr>
        <p:txBody>
          <a:bodyPr wrap="square" anchor="t" lIns="45720" rIns="45720">
            <a:spAutoFit/>
          </a:bodyPr>
          <a:lstStyle/>
          <a:p>
            <a:r>
              <a:rPr sz="1600" b="0" i="0">
                <a:solidFill>
                  <a:srgbClr val="656565"/>
                </a:solidFill>
                <a:latin typeface="Arial"/>
              </a:rPr>
              <a:t>BIBS – BDOI Broker System</a:t>
            </a:r>
          </a:p>
        </p:txBody>
      </p:sp>
      <p:sp>
        <p:nvSpPr>
          <p:cNvPr id="7" name="TextBox 6"/>
          <p:cNvSpPr txBox="1"/>
          <p:nvPr/>
        </p:nvSpPr>
        <p:spPr>
          <a:xfrm>
            <a:off x="548640" y="5943600"/>
            <a:ext cx="8229600" cy="365760"/>
          </a:xfrm>
          <a:prstGeom prst="rect">
            <a:avLst/>
          </a:prstGeom>
          <a:noFill/>
        </p:spPr>
        <p:txBody>
          <a:bodyPr wrap="square" anchor="t" lIns="45720" rIns="45720">
            <a:spAutoFit/>
          </a:bodyPr>
          <a:lstStyle/>
          <a:p>
            <a:r>
              <a:rPr sz="1100" b="0" i="0">
                <a:solidFill>
                  <a:srgbClr val="656565"/>
                </a:solidFill>
                <a:latin typeface="Arial"/>
              </a:rPr>
              <a:t>BDO Insurance and Reinsurance Brokers, Inc. | Version 2.0 | 1 October 2026 | Confidential</a:t>
            </a:r>
          </a:p>
        </p:txBody>
      </p:sp>
      <p:sp>
        <p:nvSpPr>
          <p:cNvPr id="8" name="TextBox 7"/>
          <p:cNvSpPr txBox="1"/>
          <p:nvPr/>
        </p:nvSpPr>
        <p:spPr>
          <a:xfrm>
            <a:off x="8351215" y="5897880"/>
            <a:ext cx="1828800" cy="365760"/>
          </a:xfrm>
          <a:prstGeom prst="rect">
            <a:avLst/>
          </a:prstGeom>
          <a:noFill/>
        </p:spPr>
        <p:txBody>
          <a:bodyPr wrap="square" anchor="ctr" lIns="45720" rIns="45720">
            <a:spAutoFit/>
          </a:bodyPr>
          <a:lstStyle/>
          <a:p>
            <a:pPr algn="r"/>
            <a:r>
              <a:rPr sz="1000" b="0" i="0">
                <a:solidFill>
                  <a:srgbClr val="656565"/>
                </a:solidFill>
                <a:latin typeface="Arial"/>
              </a:rPr>
              <a:t>Prepared by</a:t>
            </a:r>
          </a:p>
        </p:txBody>
      </p:sp>
      <p:pic>
        <p:nvPicPr>
          <p:cNvPr id="9" name="Picture 8" descr="iorta-technxt.png"/>
          <p:cNvPicPr>
            <a:picLocks noChangeAspect="1"/>
          </p:cNvPicPr>
          <p:nvPr/>
        </p:nvPicPr>
        <p:blipFill>
          <a:blip r:embed="rId3"/>
          <a:stretch>
            <a:fillRect/>
          </a:stretch>
        </p:blipFill>
        <p:spPr>
          <a:xfrm>
            <a:off x="10271455" y="5806440"/>
            <a:ext cx="1371600" cy="404213"/>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Purpose of this deck for the UX Design team</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a:t>
            </a:r>
          </a:p>
        </p:txBody>
      </p:sp>
      <p:sp>
        <p:nvSpPr>
          <p:cNvPr id="9" name="TextBox 8"/>
          <p:cNvSpPr txBox="1"/>
          <p:nvPr/>
        </p:nvSpPr>
        <p:spPr>
          <a:xfrm>
            <a:off x="548640" y="1371600"/>
            <a:ext cx="11094415" cy="4754880"/>
          </a:xfrm>
          <a:prstGeom prst="rect">
            <a:avLst/>
          </a:prstGeom>
          <a:noFill/>
        </p:spPr>
        <p:txBody>
          <a:bodyPr wrap="square">
            <a:spAutoFit/>
          </a:bodyPr>
          <a:lstStyle/>
          <a:p>
            <a:pPr>
              <a:spcAft>
                <a:spcPts val="600"/>
              </a:spcAft>
            </a:pPr>
            <a:r>
              <a:rPr sz="1600">
                <a:solidFill>
                  <a:srgbClr val="004EA8"/>
                </a:solidFill>
                <a:latin typeface="Arial"/>
              </a:rPr>
              <a:t>•  </a:t>
            </a:r>
            <a:r>
              <a:rPr sz="1600">
                <a:solidFill>
                  <a:srgbClr val="4B4B4B"/>
                </a:solidFill>
                <a:latin typeface="Arial"/>
              </a:rPr>
              <a:t>Every screen of BRD-4 Collections as the FRS v2.0 specifies it, so that the UX Design team designs in parallel with the business review</a:t>
            </a:r>
          </a:p>
          <a:p>
            <a:pPr lvl="1">
              <a:spcAft>
                <a:spcPts val="600"/>
              </a:spcAft>
            </a:pPr>
            <a:r>
              <a:rPr sz="1400">
                <a:solidFill>
                  <a:srgbClr val="656565"/>
                </a:solidFill>
                <a:latin typeface="Arial"/>
              </a:rPr>
              <a:t>–  </a:t>
            </a:r>
            <a:r>
              <a:rPr sz="1400">
                <a:solidFill>
                  <a:srgbClr val="4B4B4B"/>
                </a:solidFill>
                <a:latin typeface="Arial"/>
              </a:rPr>
              <a:t>19 screens, 103 screen images, 53 screen states, 14 personas, 5 end-to-end flows</a:t>
            </a:r>
          </a:p>
          <a:p>
            <a:pPr>
              <a:spcAft>
                <a:spcPts val="600"/>
              </a:spcAft>
            </a:pPr>
            <a:r>
              <a:rPr sz="1600">
                <a:solidFill>
                  <a:srgbClr val="004EA8"/>
                </a:solidFill>
                <a:latin typeface="Arial"/>
              </a:rPr>
              <a:t>•  </a:t>
            </a:r>
            <a:r>
              <a:rPr sz="1600">
                <a:solidFill>
                  <a:srgbClr val="4B4B4B"/>
                </a:solidFill>
                <a:latin typeface="Arial"/>
              </a:rPr>
              <a:t>Persona by persona: who they are, their landing page and menu, the screens they open, the flows they take part in</a:t>
            </a:r>
          </a:p>
          <a:p>
            <a:pPr>
              <a:spcAft>
                <a:spcPts val="600"/>
              </a:spcAft>
            </a:pPr>
            <a:r>
              <a:rPr sz="1600">
                <a:solidFill>
                  <a:srgbClr val="004EA8"/>
                </a:solidFill>
                <a:latin typeface="Arial"/>
              </a:rPr>
              <a:t>•  </a:t>
            </a:r>
            <a:r>
              <a:rPr sz="1600">
                <a:solidFill>
                  <a:srgbClr val="4B4B4B"/>
                </a:solidFill>
                <a:latin typeface="Arial"/>
              </a:rPr>
              <a:t>Flow by flow: every end-to-end flow as a swimlane of the personas, then one slide per step with the screen, what the user does, what the system does, the next step and the messages shown</a:t>
            </a:r>
          </a:p>
          <a:p>
            <a:pPr>
              <a:spcAft>
                <a:spcPts val="600"/>
              </a:spcAft>
            </a:pPr>
            <a:r>
              <a:rPr sz="1600">
                <a:solidFill>
                  <a:srgbClr val="004EA8"/>
                </a:solidFill>
                <a:latin typeface="Arial"/>
              </a:rPr>
              <a:t>•  </a:t>
            </a:r>
            <a:r>
              <a:rPr sz="1600">
                <a:solidFill>
                  <a:srgbClr val="4B4B4B"/>
                </a:solidFill>
                <a:latin typeface="Arial"/>
              </a:rPr>
              <a:t>Screen by screen: the numbered callouts, fields, actions and every state of each screen</a:t>
            </a:r>
          </a:p>
          <a:p>
            <a:pPr>
              <a:spcAft>
                <a:spcPts val="600"/>
              </a:spcAft>
            </a:pPr>
            <a:r>
              <a:rPr sz="1600">
                <a:solidFill>
                  <a:srgbClr val="004EA8"/>
                </a:solidFill>
                <a:latin typeface="Arial"/>
              </a:rPr>
              <a:t>•  </a:t>
            </a:r>
            <a:r>
              <a:rPr sz="1600">
                <a:solidFill>
                  <a:srgbClr val="4B4B4B"/>
                </a:solidFill>
                <a:latin typeface="Arial"/>
              </a:rPr>
              <a:t>Business and design content only: the screens, the words on them, the rules the user meets and the points to confirm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How to use the deck, the register and the image package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a:t>
            </a:r>
          </a:p>
        </p:txBody>
      </p:sp>
      <p:sp>
        <p:nvSpPr>
          <p:cNvPr id="9" name="Rectangle 8"/>
          <p:cNvSpPr/>
          <p:nvPr/>
        </p:nvSpPr>
        <p:spPr>
          <a:xfrm>
            <a:off x="548640" y="1325880"/>
            <a:ext cx="3515258"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325880"/>
            <a:ext cx="3515258" cy="457200"/>
          </a:xfrm>
          <a:prstGeom prst="rect">
            <a:avLst/>
          </a:prstGeom>
          <a:noFill/>
        </p:spPr>
        <p:txBody>
          <a:bodyPr wrap="square" anchor="ctr" lIns="45720" rIns="45720">
            <a:spAutoFit/>
          </a:bodyPr>
          <a:lstStyle/>
          <a:p>
            <a:r>
              <a:rPr sz="1500" b="1" i="0">
                <a:solidFill>
                  <a:srgbClr val="FFFFFF"/>
                </a:solidFill>
                <a:latin typeface="Arial"/>
              </a:rPr>
              <a:t>07 UX Screen Deck</a:t>
            </a:r>
          </a:p>
        </p:txBody>
      </p:sp>
      <p:sp>
        <p:nvSpPr>
          <p:cNvPr id="11" name="Rectangle 10"/>
          <p:cNvSpPr/>
          <p:nvPr/>
        </p:nvSpPr>
        <p:spPr>
          <a:xfrm>
            <a:off x="548640" y="1783080"/>
            <a:ext cx="3515258" cy="43434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1920240"/>
            <a:ext cx="3332378" cy="4160520"/>
          </a:xfrm>
          <a:prstGeom prst="rect">
            <a:avLst/>
          </a:prstGeom>
          <a:noFill/>
        </p:spPr>
        <p:txBody>
          <a:bodyPr wrap="square">
            <a:spAutoFit/>
          </a:bodyPr>
          <a:lstStyle/>
          <a:p>
            <a:pPr>
              <a:spcAft>
                <a:spcPts val="600"/>
              </a:spcAft>
            </a:pPr>
            <a:r>
              <a:rPr sz="1200">
                <a:solidFill>
                  <a:srgbClr val="004EA8"/>
                </a:solidFill>
                <a:latin typeface="Arial"/>
              </a:rPr>
              <a:t>•  </a:t>
            </a:r>
            <a:r>
              <a:rPr sz="1200">
                <a:solidFill>
                  <a:srgbClr val="4B4B4B"/>
                </a:solidFill>
                <a:latin typeface="Arial"/>
              </a:rPr>
              <a:t>Read the design foundation and the navigation first</a:t>
            </a:r>
          </a:p>
          <a:p>
            <a:pPr>
              <a:spcAft>
                <a:spcPts val="600"/>
              </a:spcAft>
            </a:pPr>
            <a:r>
              <a:rPr sz="1200">
                <a:solidFill>
                  <a:srgbClr val="004EA8"/>
                </a:solidFill>
                <a:latin typeface="Arial"/>
              </a:rPr>
              <a:t>•  </a:t>
            </a:r>
            <a:r>
              <a:rPr sz="1200">
                <a:solidFill>
                  <a:srgbClr val="4B4B4B"/>
                </a:solidFill>
                <a:latin typeface="Arial"/>
              </a:rPr>
              <a:t>Then a persona, a flow or a screen: the screen ID (SCR-...) links the three parts</a:t>
            </a:r>
          </a:p>
          <a:p>
            <a:pPr>
              <a:spcAft>
                <a:spcPts val="600"/>
              </a:spcAft>
            </a:pPr>
            <a:r>
              <a:rPr sz="1200">
                <a:solidFill>
                  <a:srgbClr val="004EA8"/>
                </a:solidFill>
                <a:latin typeface="Arial"/>
              </a:rPr>
              <a:t>•  </a:t>
            </a:r>
            <a:r>
              <a:rPr sz="1200">
                <a:solidFill>
                  <a:srgbClr val="4B4B4B"/>
                </a:solidFill>
                <a:latin typeface="Arial"/>
              </a:rPr>
              <a:t>Each image slide names its state; tall screens continue on the next slide</a:t>
            </a:r>
          </a:p>
          <a:p>
            <a:pPr>
              <a:spcAft>
                <a:spcPts val="600"/>
              </a:spcAft>
            </a:pPr>
            <a:r>
              <a:rPr sz="1200">
                <a:solidFill>
                  <a:srgbClr val="004EA8"/>
                </a:solidFill>
                <a:latin typeface="Arial"/>
              </a:rPr>
              <a:t>•  </a:t>
            </a:r>
            <a:r>
              <a:rPr sz="1200">
                <a:solidFill>
                  <a:srgbClr val="4B4B4B"/>
                </a:solidFill>
                <a:latin typeface="Arial"/>
              </a:rPr>
              <a:t>Speaker notes give the image file and the FRS section</a:t>
            </a:r>
          </a:p>
        </p:txBody>
      </p:sp>
      <p:sp>
        <p:nvSpPr>
          <p:cNvPr id="13" name="Rectangle 12"/>
          <p:cNvSpPr/>
          <p:nvPr/>
        </p:nvSpPr>
        <p:spPr>
          <a:xfrm>
            <a:off x="4338218" y="1325880"/>
            <a:ext cx="3515258"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29658" y="1325880"/>
            <a:ext cx="3515258" cy="457200"/>
          </a:xfrm>
          <a:prstGeom prst="rect">
            <a:avLst/>
          </a:prstGeom>
          <a:noFill/>
        </p:spPr>
        <p:txBody>
          <a:bodyPr wrap="square" anchor="ctr" lIns="45720" rIns="45720">
            <a:spAutoFit/>
          </a:bodyPr>
          <a:lstStyle/>
          <a:p>
            <a:r>
              <a:rPr sz="1500" b="1" i="0">
                <a:solidFill>
                  <a:srgbClr val="FFFFFF"/>
                </a:solidFill>
                <a:latin typeface="Arial"/>
              </a:rPr>
              <a:t>08 UX screen register</a:t>
            </a:r>
          </a:p>
        </p:txBody>
      </p:sp>
      <p:sp>
        <p:nvSpPr>
          <p:cNvPr id="15" name="Rectangle 14"/>
          <p:cNvSpPr/>
          <p:nvPr/>
        </p:nvSpPr>
        <p:spPr>
          <a:xfrm>
            <a:off x="4338218" y="1783080"/>
            <a:ext cx="3515258" cy="43434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9658" y="1920240"/>
            <a:ext cx="3332378" cy="4160520"/>
          </a:xfrm>
          <a:prstGeom prst="rect">
            <a:avLst/>
          </a:prstGeom>
          <a:noFill/>
        </p:spPr>
        <p:txBody>
          <a:bodyPr wrap="square">
            <a:spAutoFit/>
          </a:bodyPr>
          <a:lstStyle/>
          <a:p>
            <a:pPr>
              <a:spcAft>
                <a:spcPts val="600"/>
              </a:spcAft>
            </a:pPr>
            <a:r>
              <a:rPr sz="1200">
                <a:solidFill>
                  <a:srgbClr val="004EA8"/>
                </a:solidFill>
                <a:latin typeface="Arial"/>
              </a:rPr>
              <a:t>•  </a:t>
            </a:r>
            <a:r>
              <a:rPr sz="1200">
                <a:solidFill>
                  <a:srgbClr val="4B4B4B"/>
                </a:solidFill>
                <a:latin typeface="Arial"/>
              </a:rPr>
              <a:t>One row per screen image, with the screen ID, personas, flow and step, state, FRS section and requirements</a:t>
            </a:r>
          </a:p>
          <a:p>
            <a:pPr>
              <a:spcAft>
                <a:spcPts val="600"/>
              </a:spcAft>
            </a:pPr>
            <a:r>
              <a:rPr sz="1200">
                <a:solidFill>
                  <a:srgbClr val="004EA8"/>
                </a:solidFill>
                <a:latin typeface="Arial"/>
              </a:rPr>
              <a:t>•  </a:t>
            </a:r>
            <a:r>
              <a:rPr sz="1200">
                <a:solidFill>
                  <a:srgbClr val="4B4B4B"/>
                </a:solidFill>
                <a:latin typeface="Arial"/>
              </a:rPr>
              <a:t>The UX Design team sets UXD status and UXD comments on each row</a:t>
            </a:r>
          </a:p>
          <a:p>
            <a:pPr>
              <a:spcAft>
                <a:spcPts val="600"/>
              </a:spcAft>
            </a:pPr>
            <a:r>
              <a:rPr sz="1200">
                <a:solidFill>
                  <a:srgbClr val="004EA8"/>
                </a:solidFill>
                <a:latin typeface="Arial"/>
              </a:rPr>
              <a:t>•  </a:t>
            </a:r>
            <a:r>
              <a:rPr sz="1200">
                <a:solidFill>
                  <a:srgbClr val="4B4B4B"/>
                </a:solidFill>
                <a:latin typeface="Arial"/>
              </a:rPr>
              <a:t>Changed in this issue marks the rows to revisit, with the change reference</a:t>
            </a:r>
          </a:p>
          <a:p>
            <a:pPr>
              <a:spcAft>
                <a:spcPts val="600"/>
              </a:spcAft>
            </a:pPr>
            <a:r>
              <a:rPr sz="1200">
                <a:solidFill>
                  <a:srgbClr val="004EA8"/>
                </a:solidFill>
                <a:latin typeface="Arial"/>
              </a:rPr>
              <a:t>•  </a:t>
            </a:r>
            <a:r>
              <a:rPr sz="1200">
                <a:solidFill>
                  <a:srgbClr val="4B4B4B"/>
                </a:solidFill>
                <a:latin typeface="Arial"/>
              </a:rPr>
              <a:t>Questions go to the Questions and comments sheet</a:t>
            </a:r>
          </a:p>
        </p:txBody>
      </p:sp>
      <p:sp>
        <p:nvSpPr>
          <p:cNvPr id="17" name="Rectangle 16"/>
          <p:cNvSpPr/>
          <p:nvPr/>
        </p:nvSpPr>
        <p:spPr>
          <a:xfrm>
            <a:off x="8127796" y="1325880"/>
            <a:ext cx="3515258"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19236" y="1325880"/>
            <a:ext cx="3515258" cy="457200"/>
          </a:xfrm>
          <a:prstGeom prst="rect">
            <a:avLst/>
          </a:prstGeom>
          <a:noFill/>
        </p:spPr>
        <p:txBody>
          <a:bodyPr wrap="square" anchor="ctr" lIns="45720" rIns="45720">
            <a:spAutoFit/>
          </a:bodyPr>
          <a:lstStyle/>
          <a:p>
            <a:r>
              <a:rPr sz="1500" b="1" i="0">
                <a:solidFill>
                  <a:srgbClr val="FFFFFF"/>
                </a:solidFill>
                <a:latin typeface="Arial"/>
              </a:rPr>
              <a:t>09 Image package</a:t>
            </a:r>
          </a:p>
        </p:txBody>
      </p:sp>
      <p:sp>
        <p:nvSpPr>
          <p:cNvPr id="19" name="Rectangle 18"/>
          <p:cNvSpPr/>
          <p:nvPr/>
        </p:nvSpPr>
        <p:spPr>
          <a:xfrm>
            <a:off x="8127796" y="1783080"/>
            <a:ext cx="3515258" cy="43434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19236" y="1920240"/>
            <a:ext cx="3332378" cy="4160520"/>
          </a:xfrm>
          <a:prstGeom prst="rect">
            <a:avLst/>
          </a:prstGeom>
          <a:noFill/>
        </p:spPr>
        <p:txBody>
          <a:bodyPr wrap="square">
            <a:spAutoFit/>
          </a:bodyPr>
          <a:lstStyle/>
          <a:p>
            <a:pPr>
              <a:spcAft>
                <a:spcPts val="600"/>
              </a:spcAft>
            </a:pPr>
            <a:r>
              <a:rPr sz="1200">
                <a:solidFill>
                  <a:srgbClr val="004EA8"/>
                </a:solidFill>
                <a:latin typeface="Arial"/>
              </a:rPr>
              <a:t>•  </a:t>
            </a:r>
            <a:r>
              <a:rPr sz="1200">
                <a:solidFill>
                  <a:srgbClr val="4B4B4B"/>
                </a:solidFill>
                <a:latin typeface="Arial"/>
              </a:rPr>
              <a:t>Every screen image at twice the screen resolution (PNG), named &lt;Screen ID&gt;_&lt;state&gt;.png as in the register</a:t>
            </a:r>
          </a:p>
          <a:p>
            <a:pPr>
              <a:spcAft>
                <a:spcPts val="600"/>
              </a:spcAft>
            </a:pPr>
            <a:r>
              <a:rPr sz="1200">
                <a:solidFill>
                  <a:srgbClr val="004EA8"/>
                </a:solidFill>
                <a:latin typeface="Arial"/>
              </a:rPr>
              <a:t>•  </a:t>
            </a:r>
            <a:r>
              <a:rPr sz="1200">
                <a:solidFill>
                  <a:srgbClr val="4B4B4B"/>
                </a:solidFill>
                <a:latin typeface="Arial"/>
              </a:rPr>
              <a:t>The crops of the shared components in the folder components</a:t>
            </a:r>
          </a:p>
          <a:p>
            <a:pPr>
              <a:spcAft>
                <a:spcPts val="600"/>
              </a:spcAft>
            </a:pPr>
            <a:r>
              <a:rPr sz="1200">
                <a:solidFill>
                  <a:srgbClr val="004EA8"/>
                </a:solidFill>
                <a:latin typeface="Arial"/>
              </a:rPr>
              <a:t>•  </a:t>
            </a:r>
            <a:r>
              <a:rPr sz="1200">
                <a:solidFill>
                  <a:srgbClr val="4B4B4B"/>
                </a:solidFill>
                <a:latin typeface="Arial"/>
              </a:rPr>
              <a:t>The register as CSV, to import into the design tool</a:t>
            </a:r>
          </a:p>
          <a:p>
            <a:pPr>
              <a:spcAft>
                <a:spcPts val="600"/>
              </a:spcAft>
            </a:pPr>
            <a:r>
              <a:rPr sz="1200">
                <a:solidFill>
                  <a:srgbClr val="004EA8"/>
                </a:solidFill>
                <a:latin typeface="Arial"/>
              </a:rPr>
              <a:t>•  </a:t>
            </a:r>
            <a:r>
              <a:rPr sz="1200">
                <a:solidFill>
                  <a:srgbClr val="4B4B4B"/>
                </a:solidFill>
                <a:latin typeface="Arial"/>
              </a:rPr>
              <a:t>Replaced as a whole with each issue of the set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How an FRS change reaches the UX Design team</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a:t>
            </a:r>
          </a:p>
        </p:txBody>
      </p:sp>
      <p:sp>
        <p:nvSpPr>
          <p:cNvPr id="9" name="Rounded Rectangle 8"/>
          <p:cNvSpPr/>
          <p:nvPr/>
        </p:nvSpPr>
        <p:spPr>
          <a:xfrm>
            <a:off x="548640" y="141732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8368" y="152704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1</a:t>
            </a:r>
          </a:p>
        </p:txBody>
      </p:sp>
      <p:sp>
        <p:nvSpPr>
          <p:cNvPr id="11" name="TextBox 10"/>
          <p:cNvSpPr txBox="1"/>
          <p:nvPr/>
        </p:nvSpPr>
        <p:spPr>
          <a:xfrm>
            <a:off x="1115568" y="1490472"/>
            <a:ext cx="1824913" cy="502920"/>
          </a:xfrm>
          <a:prstGeom prst="rect">
            <a:avLst/>
          </a:prstGeom>
          <a:noFill/>
        </p:spPr>
        <p:txBody>
          <a:bodyPr wrap="square" anchor="ctr" lIns="45720" rIns="45720">
            <a:spAutoFit/>
          </a:bodyPr>
          <a:lstStyle/>
          <a:p>
            <a:r>
              <a:rPr sz="1300" b="1" i="0">
                <a:solidFill>
                  <a:srgbClr val="004EA8"/>
                </a:solidFill>
                <a:latin typeface="Arial"/>
              </a:rPr>
              <a:t>Change raised</a:t>
            </a:r>
          </a:p>
        </p:txBody>
      </p:sp>
      <p:sp>
        <p:nvSpPr>
          <p:cNvPr id="12" name="TextBox 11"/>
          <p:cNvSpPr txBox="1"/>
          <p:nvPr/>
        </p:nvSpPr>
        <p:spPr>
          <a:xfrm>
            <a:off x="658368" y="2057400"/>
            <a:ext cx="2245537" cy="822960"/>
          </a:xfrm>
          <a:prstGeom prst="rect">
            <a:avLst/>
          </a:prstGeom>
          <a:noFill/>
        </p:spPr>
        <p:txBody>
          <a:bodyPr wrap="square" anchor="t" lIns="45720" rIns="45720">
            <a:spAutoFit/>
          </a:bodyPr>
          <a:lstStyle/>
          <a:p>
            <a:r>
              <a:rPr sz="1000" b="0" i="0">
                <a:solidFill>
                  <a:srgbClr val="4B4B4B"/>
                </a:solidFill>
                <a:latin typeface="Arial"/>
              </a:rPr>
              <a:t>A comment of the sign-off workbook or a change request of the Change Management Register gets its change reference</a:t>
            </a:r>
          </a:p>
        </p:txBody>
      </p:sp>
      <p:sp>
        <p:nvSpPr>
          <p:cNvPr id="13" name="TextBox 12"/>
          <p:cNvSpPr txBox="1"/>
          <p:nvPr/>
        </p:nvSpPr>
        <p:spPr>
          <a:xfrm>
            <a:off x="658368" y="2971800"/>
            <a:ext cx="2245537" cy="384048"/>
          </a:xfrm>
          <a:prstGeom prst="rect">
            <a:avLst/>
          </a:prstGeom>
          <a:noFill/>
        </p:spPr>
        <p:txBody>
          <a:bodyPr wrap="square" anchor="t" lIns="45720" rIns="45720">
            <a:spAutoFit/>
          </a:bodyPr>
          <a:lstStyle/>
          <a:p>
            <a:r>
              <a:rPr sz="1000" b="1" i="0">
                <a:solidFill>
                  <a:srgbClr val="2E2E2E"/>
                </a:solidFill>
                <a:latin typeface="Arial"/>
              </a:rPr>
              <a:t>Business and project team</a:t>
            </a:r>
          </a:p>
        </p:txBody>
      </p:sp>
      <p:sp>
        <p:nvSpPr>
          <p:cNvPr id="14" name="Right Arrow 13"/>
          <p:cNvSpPr/>
          <p:nvPr/>
        </p:nvSpPr>
        <p:spPr>
          <a:xfrm>
            <a:off x="3077641" y="2295144"/>
            <a:ext cx="283464" cy="256032"/>
          </a:xfrm>
          <a:prstGeom prst="rightArrow">
            <a:avLst/>
          </a:prstGeom>
          <a:solidFill>
            <a:srgbClr val="004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425113" y="141732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534841" y="152704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2</a:t>
            </a:r>
          </a:p>
        </p:txBody>
      </p:sp>
      <p:sp>
        <p:nvSpPr>
          <p:cNvPr id="17" name="TextBox 16"/>
          <p:cNvSpPr txBox="1"/>
          <p:nvPr/>
        </p:nvSpPr>
        <p:spPr>
          <a:xfrm>
            <a:off x="3992041" y="1490472"/>
            <a:ext cx="1824913" cy="502920"/>
          </a:xfrm>
          <a:prstGeom prst="rect">
            <a:avLst/>
          </a:prstGeom>
          <a:noFill/>
        </p:spPr>
        <p:txBody>
          <a:bodyPr wrap="square" anchor="ctr" lIns="45720" rIns="45720">
            <a:spAutoFit/>
          </a:bodyPr>
          <a:lstStyle/>
          <a:p>
            <a:r>
              <a:rPr sz="1300" b="1" i="0">
                <a:solidFill>
                  <a:srgbClr val="004EA8"/>
                </a:solidFill>
                <a:latin typeface="Arial"/>
              </a:rPr>
              <a:t>Screens named</a:t>
            </a:r>
          </a:p>
        </p:txBody>
      </p:sp>
      <p:sp>
        <p:nvSpPr>
          <p:cNvPr id="18" name="TextBox 17"/>
          <p:cNvSpPr txBox="1"/>
          <p:nvPr/>
        </p:nvSpPr>
        <p:spPr>
          <a:xfrm>
            <a:off x="3534841" y="2057400"/>
            <a:ext cx="2245537" cy="822960"/>
          </a:xfrm>
          <a:prstGeom prst="rect">
            <a:avLst/>
          </a:prstGeom>
          <a:noFill/>
        </p:spPr>
        <p:txBody>
          <a:bodyPr wrap="square" anchor="t" lIns="45720" rIns="45720">
            <a:spAutoFit/>
          </a:bodyPr>
          <a:lstStyle/>
          <a:p>
            <a:r>
              <a:rPr sz="1000" b="0" i="0">
                <a:solidFill>
                  <a:srgbClr val="4B4B4B"/>
                </a:solidFill>
                <a:latin typeface="Arial"/>
              </a:rPr>
              <a:t>The change names the FRS section; the map at the end of this deck turns the section into the screen IDs</a:t>
            </a:r>
          </a:p>
        </p:txBody>
      </p:sp>
      <p:sp>
        <p:nvSpPr>
          <p:cNvPr id="19" name="TextBox 18"/>
          <p:cNvSpPr txBox="1"/>
          <p:nvPr/>
        </p:nvSpPr>
        <p:spPr>
          <a:xfrm>
            <a:off x="3534841" y="2971800"/>
            <a:ext cx="2245537" cy="384048"/>
          </a:xfrm>
          <a:prstGeom prst="rect">
            <a:avLst/>
          </a:prstGeom>
          <a:noFill/>
        </p:spPr>
        <p:txBody>
          <a:bodyPr wrap="square" anchor="t" lIns="45720" rIns="45720">
            <a:spAutoFit/>
          </a:bodyPr>
          <a:lstStyle/>
          <a:p>
            <a:r>
              <a:rPr sz="1000" b="1" i="0">
                <a:solidFill>
                  <a:srgbClr val="2E2E2E"/>
                </a:solidFill>
                <a:latin typeface="Arial"/>
              </a:rPr>
              <a:t>Project team</a:t>
            </a:r>
          </a:p>
        </p:txBody>
      </p:sp>
      <p:sp>
        <p:nvSpPr>
          <p:cNvPr id="20" name="Right Arrow 19"/>
          <p:cNvSpPr/>
          <p:nvPr/>
        </p:nvSpPr>
        <p:spPr>
          <a:xfrm>
            <a:off x="5954115" y="2295144"/>
            <a:ext cx="283464" cy="256032"/>
          </a:xfrm>
          <a:prstGeom prst="rightArrow">
            <a:avLst/>
          </a:prstGeom>
          <a:solidFill>
            <a:srgbClr val="004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01587" y="141732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11315" y="152704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3</a:t>
            </a:r>
          </a:p>
        </p:txBody>
      </p:sp>
      <p:sp>
        <p:nvSpPr>
          <p:cNvPr id="23" name="TextBox 22"/>
          <p:cNvSpPr txBox="1"/>
          <p:nvPr/>
        </p:nvSpPr>
        <p:spPr>
          <a:xfrm>
            <a:off x="6868515" y="1490472"/>
            <a:ext cx="1824913" cy="502920"/>
          </a:xfrm>
          <a:prstGeom prst="rect">
            <a:avLst/>
          </a:prstGeom>
          <a:noFill/>
        </p:spPr>
        <p:txBody>
          <a:bodyPr wrap="square" anchor="ctr" lIns="45720" rIns="45720">
            <a:spAutoFit/>
          </a:bodyPr>
          <a:lstStyle/>
          <a:p>
            <a:r>
              <a:rPr sz="1300" b="1" i="0">
                <a:solidFill>
                  <a:srgbClr val="004EA8"/>
                </a:solidFill>
                <a:latin typeface="Arial"/>
              </a:rPr>
              <a:t>Delta re-issue</a:t>
            </a:r>
          </a:p>
        </p:txBody>
      </p:sp>
      <p:sp>
        <p:nvSpPr>
          <p:cNvPr id="24" name="TextBox 23"/>
          <p:cNvSpPr txBox="1"/>
          <p:nvPr/>
        </p:nvSpPr>
        <p:spPr>
          <a:xfrm>
            <a:off x="6411315" y="2057400"/>
            <a:ext cx="2245537" cy="822960"/>
          </a:xfrm>
          <a:prstGeom prst="rect">
            <a:avLst/>
          </a:prstGeom>
          <a:noFill/>
        </p:spPr>
        <p:txBody>
          <a:bodyPr wrap="square" anchor="t" lIns="45720" rIns="45720">
            <a:spAutoFit/>
          </a:bodyPr>
          <a:lstStyle/>
          <a:p>
            <a:r>
              <a:rPr sz="1000" b="0" i="0">
                <a:solidFill>
                  <a:srgbClr val="4B4B4B"/>
                </a:solidFill>
                <a:latin typeface="Arial"/>
              </a:rPr>
              <a:t>The affected screens are captured again; the register rows get Changed in this issue = Y with the change reference; the slides carry the Changed badge</a:t>
            </a:r>
          </a:p>
        </p:txBody>
      </p:sp>
      <p:sp>
        <p:nvSpPr>
          <p:cNvPr id="25" name="TextBox 24"/>
          <p:cNvSpPr txBox="1"/>
          <p:nvPr/>
        </p:nvSpPr>
        <p:spPr>
          <a:xfrm>
            <a:off x="6411315" y="2971800"/>
            <a:ext cx="2245537" cy="384048"/>
          </a:xfrm>
          <a:prstGeom prst="rect">
            <a:avLst/>
          </a:prstGeom>
          <a:noFill/>
        </p:spPr>
        <p:txBody>
          <a:bodyPr wrap="square" anchor="t" lIns="45720" rIns="45720">
            <a:spAutoFit/>
          </a:bodyPr>
          <a:lstStyle/>
          <a:p>
            <a:r>
              <a:rPr sz="1000" b="1" i="0">
                <a:solidFill>
                  <a:srgbClr val="2E2E2E"/>
                </a:solidFill>
                <a:latin typeface="Arial"/>
              </a:rPr>
              <a:t>Next version of the set</a:t>
            </a:r>
          </a:p>
        </p:txBody>
      </p:sp>
      <p:sp>
        <p:nvSpPr>
          <p:cNvPr id="26" name="Right Arrow 25"/>
          <p:cNvSpPr/>
          <p:nvPr/>
        </p:nvSpPr>
        <p:spPr>
          <a:xfrm>
            <a:off x="8830589" y="2295144"/>
            <a:ext cx="283464" cy="256032"/>
          </a:xfrm>
          <a:prstGeom prst="rightArrow">
            <a:avLst/>
          </a:prstGeom>
          <a:solidFill>
            <a:srgbClr val="004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178061" y="141732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287789" y="152704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4</a:t>
            </a:r>
          </a:p>
        </p:txBody>
      </p:sp>
      <p:sp>
        <p:nvSpPr>
          <p:cNvPr id="29" name="TextBox 28"/>
          <p:cNvSpPr txBox="1"/>
          <p:nvPr/>
        </p:nvSpPr>
        <p:spPr>
          <a:xfrm>
            <a:off x="9744989" y="1490472"/>
            <a:ext cx="1824913" cy="502920"/>
          </a:xfrm>
          <a:prstGeom prst="rect">
            <a:avLst/>
          </a:prstGeom>
          <a:noFill/>
        </p:spPr>
        <p:txBody>
          <a:bodyPr wrap="square" anchor="ctr" lIns="45720" rIns="45720">
            <a:spAutoFit/>
          </a:bodyPr>
          <a:lstStyle/>
          <a:p>
            <a:r>
              <a:rPr sz="1300" b="1" i="0">
                <a:solidFill>
                  <a:srgbClr val="004EA8"/>
                </a:solidFill>
                <a:latin typeface="Arial"/>
              </a:rPr>
              <a:t>UXD revises</a:t>
            </a:r>
          </a:p>
        </p:txBody>
      </p:sp>
      <p:sp>
        <p:nvSpPr>
          <p:cNvPr id="30" name="TextBox 29"/>
          <p:cNvSpPr txBox="1"/>
          <p:nvPr/>
        </p:nvSpPr>
        <p:spPr>
          <a:xfrm>
            <a:off x="9287789" y="2057400"/>
            <a:ext cx="2245537" cy="822960"/>
          </a:xfrm>
          <a:prstGeom prst="rect">
            <a:avLst/>
          </a:prstGeom>
          <a:noFill/>
        </p:spPr>
        <p:txBody>
          <a:bodyPr wrap="square" anchor="t" lIns="45720" rIns="45720">
            <a:spAutoFit/>
          </a:bodyPr>
          <a:lstStyle/>
          <a:p>
            <a:r>
              <a:rPr sz="1000" b="0" i="0">
                <a:solidFill>
                  <a:srgbClr val="4B4B4B"/>
                </a:solidFill>
                <a:latin typeface="Arial"/>
              </a:rPr>
              <a:t>The UX Design team revises only the changed screens and sets their UXD status; the other rows keep theirs</a:t>
            </a:r>
          </a:p>
        </p:txBody>
      </p:sp>
      <p:sp>
        <p:nvSpPr>
          <p:cNvPr id="31" name="TextBox 30"/>
          <p:cNvSpPr txBox="1"/>
          <p:nvPr/>
        </p:nvSpPr>
        <p:spPr>
          <a:xfrm>
            <a:off x="9287789" y="2971800"/>
            <a:ext cx="2245537" cy="384048"/>
          </a:xfrm>
          <a:prstGeom prst="rect">
            <a:avLst/>
          </a:prstGeom>
          <a:noFill/>
        </p:spPr>
        <p:txBody>
          <a:bodyPr wrap="square" anchor="t" lIns="45720" rIns="45720">
            <a:spAutoFit/>
          </a:bodyPr>
          <a:lstStyle/>
          <a:p>
            <a:r>
              <a:rPr sz="1000" b="1" i="0">
                <a:solidFill>
                  <a:srgbClr val="2E2E2E"/>
                </a:solidFill>
                <a:latin typeface="Arial"/>
              </a:rPr>
              <a:t>UX Design team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Changes in this issue (v2.0)</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a:t>
            </a:r>
          </a:p>
        </p:txBody>
      </p:sp>
      <p:sp>
        <p:nvSpPr>
          <p:cNvPr id="9" name="TextBox 8"/>
          <p:cNvSpPr txBox="1"/>
          <p:nvPr/>
        </p:nvSpPr>
        <p:spPr>
          <a:xfrm>
            <a:off x="548640" y="1371600"/>
            <a:ext cx="11094415" cy="4754880"/>
          </a:xfrm>
          <a:prstGeom prst="rect">
            <a:avLst/>
          </a:prstGeom>
          <a:noFill/>
        </p:spPr>
        <p:txBody>
          <a:bodyPr wrap="square">
            <a:spAutoFit/>
          </a:bodyPr>
          <a:lstStyle/>
          <a:p>
            <a:pPr>
              <a:spcAft>
                <a:spcPts val="600"/>
              </a:spcAft>
            </a:pPr>
            <a:r>
              <a:rPr sz="1800">
                <a:solidFill>
                  <a:srgbClr val="004EA8"/>
                </a:solidFill>
                <a:latin typeface="Arial"/>
              </a:rPr>
              <a:t>•  </a:t>
            </a:r>
            <a:r>
              <a:rPr sz="1800">
                <a:solidFill>
                  <a:srgbClr val="4B4B4B"/>
                </a:solidFill>
                <a:latin typeface="Arial"/>
              </a:rPr>
              <a:t>First issue of the UX screen documents of the set: every screen is new to the UX Design team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Contacts and roles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a:t>
            </a:r>
          </a:p>
        </p:txBody>
      </p:sp>
      <p:graphicFrame>
        <p:nvGraphicFramePr>
          <p:cNvPr id="9" name="Table 8"/>
          <p:cNvGraphicFramePr>
            <a:graphicFrameLocks noGrp="1"/>
          </p:cNvGraphicFramePr>
          <p:nvPr/>
        </p:nvGraphicFramePr>
        <p:xfrm>
          <a:off x="548640" y="1325880"/>
          <a:ext cx="11094414" cy="4663440"/>
        </p:xfrm>
        <a:graphic>
          <a:graphicData uri="http://schemas.openxmlformats.org/drawingml/2006/table">
            <a:tbl>
              <a:tblPr firstRow="1" bandRow="1">
                <a:tableStyleId>{5C22544A-7EE6-4342-B048-85BDC9FD1C3A}</a:tableStyleId>
              </a:tblPr>
              <a:tblGrid>
                <a:gridCol w="1450808"/>
                <a:gridCol w="3669691"/>
                <a:gridCol w="1365466"/>
                <a:gridCol w="4608449"/>
              </a:tblGrid>
              <a:tr h="228600">
                <a:tc>
                  <a:txBody>
                    <a:bodyPr/>
                    <a:lstStyle/>
                    <a:p>
                      <a:r>
                        <a:rPr sz="900" b="1">
                          <a:solidFill>
                            <a:srgbClr val="FFFFFF"/>
                          </a:solidFill>
                          <a:latin typeface="Arial"/>
                        </a:rPr>
                        <a:t>Capacity</a:t>
                      </a:r>
                    </a:p>
                  </a:txBody>
                  <a:tcPr marL="54864" marR="54864" marT="27432" marB="27432">
                    <a:solidFill>
                      <a:srgbClr val="004EA8"/>
                    </a:solidFill>
                  </a:tcPr>
                </a:tc>
                <a:tc>
                  <a:txBody>
                    <a:bodyPr/>
                    <a:lstStyle/>
                    <a:p>
                      <a:r>
                        <a:rPr sz="900" b="1">
                          <a:solidFill>
                            <a:srgbClr val="FFFFFF"/>
                          </a:solidFill>
                          <a:latin typeface="Arial"/>
                        </a:rPr>
                        <a:t>Role</a:t>
                      </a:r>
                    </a:p>
                  </a:txBody>
                  <a:tcPr marL="54864" marR="54864" marT="27432" marB="27432">
                    <a:solidFill>
                      <a:srgbClr val="004EA8"/>
                    </a:solidFill>
                  </a:tcPr>
                </a:tc>
                <a:tc>
                  <a:txBody>
                    <a:bodyPr/>
                    <a:lstStyle/>
                    <a:p>
                      <a:r>
                        <a:rPr sz="900" b="1">
                          <a:solidFill>
                            <a:srgbClr val="FFFFFF"/>
                          </a:solidFill>
                          <a:latin typeface="Arial"/>
                        </a:rPr>
                        <a:t>Organisation</a:t>
                      </a:r>
                    </a:p>
                  </a:txBody>
                  <a:tcPr marL="54864" marR="54864" marT="27432" marB="27432">
                    <a:solidFill>
                      <a:srgbClr val="004EA8"/>
                    </a:solidFill>
                  </a:tcPr>
                </a:tc>
                <a:tc>
                  <a:txBody>
                    <a:bodyPr/>
                    <a:lstStyle/>
                    <a:p>
                      <a:r>
                        <a:rPr sz="900" b="1">
                          <a:solidFill>
                            <a:srgbClr val="FFFFFF"/>
                          </a:solidFill>
                          <a:latin typeface="Arial"/>
                        </a:rPr>
                        <a:t>Part in the set</a:t>
                      </a:r>
                    </a:p>
                  </a:txBody>
                  <a:tcPr marL="54864" marR="54864" marT="27432" marB="27432">
                    <a:solidFill>
                      <a:srgbClr val="004EA8"/>
                    </a:solidFill>
                  </a:tcPr>
                </a:tc>
              </a:tr>
              <a:tr h="365760">
                <a:tc>
                  <a:txBody>
                    <a:bodyPr/>
                    <a:lstStyle/>
                    <a:p>
                      <a:r>
                        <a:rPr sz="900" b="0">
                          <a:solidFill>
                            <a:srgbClr val="4B4B4B"/>
                          </a:solidFill>
                          <a:latin typeface="Arial"/>
                        </a:rPr>
                        <a:t>Prepared by</a:t>
                      </a:r>
                    </a:p>
                  </a:txBody>
                  <a:tcPr marL="54864" marR="54864" marT="27432" marB="27432">
                    <a:solidFill>
                      <a:srgbClr val="FFFFFF"/>
                    </a:solidFill>
                  </a:tcPr>
                </a:tc>
                <a:tc>
                  <a:txBody>
                    <a:bodyPr/>
                    <a:lstStyle/>
                    <a:p>
                      <a:r>
                        <a:rPr sz="900" b="0">
                          <a:solidFill>
                            <a:srgbClr val="4B4B4B"/>
                          </a:solidFill>
                          <a:latin typeface="Arial"/>
                        </a:rPr>
                        <a:t>iorta TechNXT project team: Project Manager, Business Analysis, test lead</a:t>
                      </a:r>
                    </a:p>
                  </a:txBody>
                  <a:tcPr marL="54864" marR="54864" marT="27432" marB="27432">
                    <a:solidFill>
                      <a:srgbClr val="FFFFFF"/>
                    </a:solidFill>
                  </a:tcPr>
                </a:tc>
                <a:tc>
                  <a:txBody>
                    <a:bodyPr/>
                    <a:lstStyle/>
                    <a:p>
                      <a:r>
                        <a:rPr sz="900" b="0">
                          <a:solidFill>
                            <a:srgbClr val="4B4B4B"/>
                          </a:solidFill>
                          <a:latin typeface="Arial"/>
                        </a:rPr>
                        <a:t>iorta TechNXT</a:t>
                      </a:r>
                    </a:p>
                  </a:txBody>
                  <a:tcPr marL="54864" marR="54864" marT="27432" marB="27432">
                    <a:solidFill>
                      <a:srgbClr val="FFFFFF"/>
                    </a:solidFill>
                  </a:tcPr>
                </a:tc>
                <a:tc>
                  <a:txBody>
                    <a:bodyPr/>
                    <a:lstStyle/>
                    <a:p>
                      <a:r>
                        <a:rPr sz="900" b="0">
                          <a:solidFill>
                            <a:srgbClr val="4B4B4B"/>
                          </a:solidFill>
                          <a:latin typeface="Arial"/>
                        </a:rPr>
                        <a:t>The set is complete and consistent as issued, traced to the BRD and to the screens; every comment is answered in the comments log</a:t>
                      </a:r>
                    </a:p>
                  </a:txBody>
                  <a:tcPr marL="54864" marR="54864" marT="27432" marB="27432">
                    <a:solidFill>
                      <a:srgbClr val="FFFFFF"/>
                    </a:solidFill>
                  </a:tcPr>
                </a:tc>
              </a:tr>
              <a:tr h="365760">
                <a:tc>
                  <a:txBody>
                    <a:bodyPr/>
                    <a:lstStyle/>
                    <a:p>
                      <a:r>
                        <a:rPr sz="900" b="0">
                          <a:solidFill>
                            <a:srgbClr val="4B4B4B"/>
                          </a:solidFill>
                          <a:latin typeface="Arial"/>
                        </a:rPr>
                        <a:t>Prepared by</a:t>
                      </a:r>
                    </a:p>
                  </a:txBody>
                  <a:tcPr marL="54864" marR="54864" marT="27432" marB="27432">
                    <a:solidFill>
                      <a:srgbClr val="E5F5FF"/>
                    </a:solidFill>
                  </a:tcPr>
                </a:tc>
                <a:tc>
                  <a:txBody>
                    <a:bodyPr/>
                    <a:lstStyle/>
                    <a:p>
                      <a:r>
                        <a:rPr sz="900" b="0">
                          <a:solidFill>
                            <a:srgbClr val="4B4B4B"/>
                          </a:solidFill>
                          <a:latin typeface="Arial"/>
                        </a:rPr>
                        <a:t>Business Analyst, Enterprise Services Group - Business Project Services (BPS) (Zean C. Ibay)</a:t>
                      </a:r>
                    </a:p>
                  </a:txBody>
                  <a:tcPr marL="54864" marR="54864" marT="27432" marB="27432">
                    <a:solidFill>
                      <a:srgbClr val="E5F5FF"/>
                    </a:solidFill>
                  </a:tcPr>
                </a:tc>
                <a:tc>
                  <a:txBody>
                    <a:bodyPr/>
                    <a:lstStyle/>
                    <a:p>
                      <a:r>
                        <a:rPr sz="900" b="0">
                          <a:solidFill>
                            <a:srgbClr val="4B4B4B"/>
                          </a:solidFill>
                          <a:latin typeface="Arial"/>
                        </a:rPr>
                        <a:t>BDO Unibank ESG</a:t>
                      </a:r>
                    </a:p>
                  </a:txBody>
                  <a:tcPr marL="54864" marR="54864" marT="27432" marB="27432">
                    <a:solidFill>
                      <a:srgbClr val="E5F5FF"/>
                    </a:solidFill>
                  </a:tcPr>
                </a:tc>
                <a:tc>
                  <a:txBody>
                    <a:bodyPr/>
                    <a:lstStyle/>
                    <a:p>
                      <a:r>
                        <a:rPr sz="900" b="0">
                          <a:solidFill>
                            <a:srgbClr val="4B4B4B"/>
                          </a:solidFill>
                          <a:latin typeface="Arial"/>
                        </a:rPr>
                        <a:t>The set states the BRD requirements as written; every departure is listed in the proposed rules and clarifications</a:t>
                      </a:r>
                    </a:p>
                  </a:txBody>
                  <a:tcPr marL="54864" marR="54864" marT="27432" marB="27432">
                    <a:solidFill>
                      <a:srgbClr val="E5F5FF"/>
                    </a:solidFill>
                  </a:tcPr>
                </a:tc>
              </a:tr>
              <a:tr h="777240">
                <a:tc>
                  <a:txBody>
                    <a:bodyPr/>
                    <a:lstStyle/>
                    <a:p>
                      <a:r>
                        <a:rPr sz="900" b="0">
                          <a:solidFill>
                            <a:srgbClr val="4B4B4B"/>
                          </a:solidFill>
                          <a:latin typeface="Arial"/>
                        </a:rPr>
                        <a:t>Input provided by</a:t>
                      </a:r>
                    </a:p>
                  </a:txBody>
                  <a:tcPr marL="54864" marR="54864" marT="27432" marB="27432">
                    <a:solidFill>
                      <a:srgbClr val="FFFFFF"/>
                    </a:solidFill>
                  </a:tcPr>
                </a:tc>
                <a:tc>
                  <a:txBody>
                    <a:bodyPr/>
                    <a:lstStyle/>
                    <a:p>
                      <a:r>
                        <a:rPr sz="900" b="0">
                          <a:solidFill>
                            <a:srgbClr val="4B4B4B"/>
                          </a:solidFill>
                          <a:latin typeface="Arial"/>
                        </a:rPr>
                        <a:t>Collections and Marketing Support, HO Marketing Support BBG, Operations, Marketing and Business Services, Marketing - Head Office, Marketing Business Services and System Support (Pia Grace M. Pinili, Maria Victoria Evangelista, Grace Tordesillas, Ma. Fides E. Rivera, Arra R. Rivera, Rhommel Mark Galler)</a:t>
                      </a:r>
                    </a:p>
                  </a:txBody>
                  <a:tcPr marL="54864" marR="54864" marT="27432" marB="27432">
                    <a:solidFill>
                      <a:srgbClr val="FFFFFF"/>
                    </a:solidFill>
                  </a:tcPr>
                </a:tc>
                <a:tc>
                  <a:txBody>
                    <a:bodyPr/>
                    <a:lstStyle/>
                    <a:p>
                      <a:r>
                        <a:rPr sz="900" b="0">
                          <a:solidFill>
                            <a:srgbClr val="4B4B4B"/>
                          </a:solidFill>
                          <a:latin typeface="Arial"/>
                        </a:rPr>
                        <a:t>BDOI</a:t>
                      </a:r>
                    </a:p>
                  </a:txBody>
                  <a:tcPr marL="54864" marR="54864" marT="27432" marB="27432">
                    <a:solidFill>
                      <a:srgbClr val="FFFFFF"/>
                    </a:solidFill>
                  </a:tcPr>
                </a:tc>
                <a:tc>
                  <a:txBody>
                    <a:bodyPr/>
                    <a:lstStyle/>
                    <a:p>
                      <a:r>
                        <a:rPr sz="900" b="0">
                          <a:solidFill>
                            <a:srgbClr val="4B4B4B"/>
                          </a:solidFill>
                          <a:latin typeface="Arial"/>
                        </a:rPr>
                        <a:t>The worklist, collection account, disposition, promise, installment, escalation, billing statement and unapplied payment screens, fields, rules and messages match the business input</a:t>
                      </a:r>
                    </a:p>
                  </a:txBody>
                  <a:tcPr marL="54864" marR="54864" marT="27432" marB="27432">
                    <a:solidFill>
                      <a:srgbClr val="FFFFFF"/>
                    </a:solidFill>
                  </a:tcPr>
                </a:tc>
              </a:tr>
              <a:tr h="365760">
                <a:tc>
                  <a:txBody>
                    <a:bodyPr/>
                    <a:lstStyle/>
                    <a:p>
                      <a:r>
                        <a:rPr sz="900" b="0">
                          <a:solidFill>
                            <a:srgbClr val="4B4B4B"/>
                          </a:solidFill>
                          <a:latin typeface="Arial"/>
                        </a:rPr>
                        <a:t>Input provided by</a:t>
                      </a:r>
                    </a:p>
                  </a:txBody>
                  <a:tcPr marL="54864" marR="54864" marT="27432" marB="27432">
                    <a:solidFill>
                      <a:srgbClr val="E5F5FF"/>
                    </a:solidFill>
                  </a:tcPr>
                </a:tc>
                <a:tc>
                  <a:txBody>
                    <a:bodyPr/>
                    <a:lstStyle/>
                    <a:p>
                      <a:r>
                        <a:rPr sz="900" b="0">
                          <a:solidFill>
                            <a:srgbClr val="4B4B4B"/>
                          </a:solidFill>
                          <a:latin typeface="Arial"/>
                        </a:rPr>
                        <a:t>Operations: Financial Transactions and Processing (Perjelyn Joy Gutierrez)</a:t>
                      </a:r>
                    </a:p>
                  </a:txBody>
                  <a:tcPr marL="54864" marR="54864" marT="27432" marB="27432">
                    <a:solidFill>
                      <a:srgbClr val="E5F5FF"/>
                    </a:solidFill>
                  </a:tcPr>
                </a:tc>
                <a:tc>
                  <a:txBody>
                    <a:bodyPr/>
                    <a:lstStyle/>
                    <a:p>
                      <a:r>
                        <a:rPr sz="900" b="0">
                          <a:solidFill>
                            <a:srgbClr val="4B4B4B"/>
                          </a:solidFill>
                          <a:latin typeface="Arial"/>
                        </a:rPr>
                        <a:t>BDOI</a:t>
                      </a:r>
                    </a:p>
                  </a:txBody>
                  <a:tcPr marL="54864" marR="54864" marT="27432" marB="27432">
                    <a:solidFill>
                      <a:srgbClr val="E5F5FF"/>
                    </a:solidFill>
                  </a:tcPr>
                </a:tc>
                <a:tc>
                  <a:txBody>
                    <a:bodyPr/>
                    <a:lstStyle/>
                    <a:p>
                      <a:r>
                        <a:rPr sz="900" b="0">
                          <a:solidFill>
                            <a:srgbClr val="4B4B4B"/>
                          </a:solidFill>
                          <a:latin typeface="Arial"/>
                        </a:rPr>
                        <a:t>The hand-offs to Cashiering and Commission Receivables, the requests on unapplied payments and the reversal files match what Operations carries out</a:t>
                      </a:r>
                    </a:p>
                  </a:txBody>
                  <a:tcPr marL="54864" marR="54864" marT="27432" marB="27432">
                    <a:solidFill>
                      <a:srgbClr val="E5F5FF"/>
                    </a:solidFill>
                  </a:tcPr>
                </a:tc>
              </a:tr>
              <a:tr h="365760">
                <a:tc>
                  <a:txBody>
                    <a:bodyPr/>
                    <a:lstStyle/>
                    <a:p>
                      <a:r>
                        <a:rPr sz="900" b="0">
                          <a:solidFill>
                            <a:srgbClr val="4B4B4B"/>
                          </a:solidFill>
                          <a:latin typeface="Arial"/>
                        </a:rPr>
                        <a:t>Reviewed by</a:t>
                      </a:r>
                    </a:p>
                  </a:txBody>
                  <a:tcPr marL="54864" marR="54864" marT="27432" marB="27432">
                    <a:solidFill>
                      <a:srgbClr val="FFFFFF"/>
                    </a:solidFill>
                  </a:tcPr>
                </a:tc>
                <a:tc>
                  <a:txBody>
                    <a:bodyPr/>
                    <a:lstStyle/>
                    <a:p>
                      <a:r>
                        <a:rPr sz="900" b="0">
                          <a:solidFill>
                            <a:srgbClr val="4B4B4B"/>
                          </a:solidFill>
                          <a:latin typeface="Arial"/>
                        </a:rPr>
                        <a:t>VP and Head, BDOI Operations (John Benedict S. Santos)</a:t>
                      </a:r>
                    </a:p>
                  </a:txBody>
                  <a:tcPr marL="54864" marR="54864" marT="27432" marB="27432">
                    <a:solidFill>
                      <a:srgbClr val="FFFFFF"/>
                    </a:solidFill>
                  </a:tcPr>
                </a:tc>
                <a:tc>
                  <a:txBody>
                    <a:bodyPr/>
                    <a:lstStyle/>
                    <a:p>
                      <a:r>
                        <a:rPr sz="900" b="0">
                          <a:solidFill>
                            <a:srgbClr val="4B4B4B"/>
                          </a:solidFill>
                          <a:latin typeface="Arial"/>
                        </a:rPr>
                        <a:t>BDOI</a:t>
                      </a:r>
                    </a:p>
                  </a:txBody>
                  <a:tcPr marL="54864" marR="54864" marT="27432" marB="27432">
                    <a:solidFill>
                      <a:srgbClr val="FFFFFF"/>
                    </a:solidFill>
                  </a:tcPr>
                </a:tc>
                <a:tc>
                  <a:txBody>
                    <a:bodyPr/>
                    <a:lstStyle/>
                    <a:p>
                      <a:r>
                        <a:rPr sz="900" b="0">
                          <a:solidFill>
                            <a:srgbClr val="4B4B4B"/>
                          </a:solidFill>
                          <a:latin typeface="Arial"/>
                        </a:rPr>
                        <a:t>The Collections process with Operations and the caveat of p.93: exports and downloads run in the background and do not slow the system</a:t>
                      </a:r>
                    </a:p>
                  </a:txBody>
                  <a:tcPr marL="54864" marR="54864" marT="27432" marB="27432">
                    <a:solidFill>
                      <a:srgbClr val="FFFFFF"/>
                    </a:solidFill>
                  </a:tcPr>
                </a:tc>
              </a:tr>
              <a:tr h="502920">
                <a:tc>
                  <a:txBody>
                    <a:bodyPr/>
                    <a:lstStyle/>
                    <a:p>
                      <a:r>
                        <a:rPr sz="900" b="0">
                          <a:solidFill>
                            <a:srgbClr val="4B4B4B"/>
                          </a:solidFill>
                          <a:latin typeface="Arial"/>
                        </a:rPr>
                        <a:t>Reviewed by</a:t>
                      </a:r>
                    </a:p>
                  </a:txBody>
                  <a:tcPr marL="54864" marR="54864" marT="27432" marB="27432">
                    <a:solidFill>
                      <a:srgbClr val="E5F5FF"/>
                    </a:solidFill>
                  </a:tcPr>
                </a:tc>
                <a:tc>
                  <a:txBody>
                    <a:bodyPr/>
                    <a:lstStyle/>
                    <a:p>
                      <a:r>
                        <a:rPr sz="900" b="0">
                          <a:solidFill>
                            <a:srgbClr val="4B4B4B"/>
                          </a:solidFill>
                          <a:latin typeface="Arial"/>
                        </a:rPr>
                        <a:t>BDOI Information Technology Group: IT Core Business Delivery (Reynaldo Valera Jr.) and IT AIO Core Business Delivery - Insurance (Wynonah Allyssa D. Agojo)</a:t>
                      </a:r>
                    </a:p>
                  </a:txBody>
                  <a:tcPr marL="54864" marR="54864" marT="27432" marB="27432">
                    <a:solidFill>
                      <a:srgbClr val="E5F5FF"/>
                    </a:solidFill>
                  </a:tcPr>
                </a:tc>
                <a:tc>
                  <a:txBody>
                    <a:bodyPr/>
                    <a:lstStyle/>
                    <a:p>
                      <a:r>
                        <a:rPr sz="900" b="0">
                          <a:solidFill>
                            <a:srgbClr val="4B4B4B"/>
                          </a:solidFill>
                          <a:latin typeface="Arial"/>
                        </a:rPr>
                        <a:t>BDOI</a:t>
                      </a:r>
                    </a:p>
                  </a:txBody>
                  <a:tcPr marL="54864" marR="54864" marT="27432" marB="27432">
                    <a:solidFill>
                      <a:srgbClr val="E5F5FF"/>
                    </a:solidFill>
                  </a:tcPr>
                </a:tc>
                <a:tc>
                  <a:txBody>
                    <a:bodyPr/>
                    <a:lstStyle/>
                    <a:p>
                      <a:r>
                        <a:rPr sz="900" b="0">
                          <a:solidFill>
                            <a:srgbClr val="4B4B4B"/>
                          </a:solidFill>
                          <a:latin typeface="Arial"/>
                        </a:rPr>
                        <a:t>Scheduled runs and files, user access and menus, the hand-offs inside BIBS and the Technical Specification (a separate document); not the business screens</a:t>
                      </a:r>
                    </a:p>
                  </a:txBody>
                  <a:tcPr marL="54864" marR="54864" marT="27432" marB="27432">
                    <a:solidFill>
                      <a:srgbClr val="E5F5FF"/>
                    </a:solidFill>
                  </a:tcPr>
                </a:tc>
              </a:tr>
              <a:tr h="365760">
                <a:tc>
                  <a:txBody>
                    <a:bodyPr/>
                    <a:lstStyle/>
                    <a:p>
                      <a:r>
                        <a:rPr sz="900" b="0">
                          <a:solidFill>
                            <a:srgbClr val="4B4B4B"/>
                          </a:solidFill>
                          <a:latin typeface="Arial"/>
                        </a:rPr>
                        <a:t>Approved by</a:t>
                      </a:r>
                    </a:p>
                  </a:txBody>
                  <a:tcPr marL="54864" marR="54864" marT="27432" marB="27432">
                    <a:solidFill>
                      <a:srgbClr val="FFFFFF"/>
                    </a:solidFill>
                  </a:tcPr>
                </a:tc>
                <a:tc>
                  <a:txBody>
                    <a:bodyPr/>
                    <a:lstStyle/>
                    <a:p>
                      <a:r>
                        <a:rPr sz="900" b="0">
                          <a:solidFill>
                            <a:srgbClr val="4B4B4B"/>
                          </a:solidFill>
                          <a:latin typeface="Arial"/>
                        </a:rPr>
                        <a:t>Program Manager, Enterprise Services Group - Business Project Services (BPS) (Dan Ace Cauton)</a:t>
                      </a:r>
                    </a:p>
                  </a:txBody>
                  <a:tcPr marL="54864" marR="54864" marT="27432" marB="27432">
                    <a:solidFill>
                      <a:srgbClr val="FFFFFF"/>
                    </a:solidFill>
                  </a:tcPr>
                </a:tc>
                <a:tc>
                  <a:txBody>
                    <a:bodyPr/>
                    <a:lstStyle/>
                    <a:p>
                      <a:r>
                        <a:rPr sz="900" b="0">
                          <a:solidFill>
                            <a:srgbClr val="4B4B4B"/>
                          </a:solidFill>
                          <a:latin typeface="Arial"/>
                        </a:rPr>
                        <a:t>BDO Unibank ESG</a:t>
                      </a:r>
                    </a:p>
                  </a:txBody>
                  <a:tcPr marL="54864" marR="54864" marT="27432" marB="27432">
                    <a:solidFill>
                      <a:srgbClr val="FFFFFF"/>
                    </a:solidFill>
                  </a:tcPr>
                </a:tc>
                <a:tc>
                  <a:txBody>
                    <a:bodyPr/>
                    <a:lstStyle/>
                    <a:p>
                      <a:r>
                        <a:rPr sz="900" b="0">
                          <a:solidFill>
                            <a:srgbClr val="4B4B4B"/>
                          </a:solidFill>
                          <a:latin typeface="Arial"/>
                        </a:rPr>
                        <a:t>Traceability of every BRD requirement to the set and completeness of the set</a:t>
                      </a:r>
                    </a:p>
                  </a:txBody>
                  <a:tcPr marL="54864" marR="54864" marT="27432" marB="27432">
                    <a:solidFill>
                      <a:srgbClr val="FFFFFF"/>
                    </a:solidFill>
                  </a:tcPr>
                </a:tc>
              </a:tr>
              <a:tr h="228600">
                <a:tc>
                  <a:txBody>
                    <a:bodyPr/>
                    <a:lstStyle/>
                    <a:p>
                      <a:r>
                        <a:rPr sz="900" b="0">
                          <a:solidFill>
                            <a:srgbClr val="4B4B4B"/>
                          </a:solidFill>
                          <a:latin typeface="Arial"/>
                        </a:rPr>
                        <a:t>Approved by</a:t>
                      </a:r>
                    </a:p>
                  </a:txBody>
                  <a:tcPr marL="54864" marR="54864" marT="27432" marB="27432">
                    <a:solidFill>
                      <a:srgbClr val="E5F5FF"/>
                    </a:solidFill>
                  </a:tcPr>
                </a:tc>
                <a:tc>
                  <a:txBody>
                    <a:bodyPr/>
                    <a:lstStyle/>
                    <a:p>
                      <a:r>
                        <a:rPr sz="900" b="0">
                          <a:solidFill>
                            <a:srgbClr val="4B4B4B"/>
                          </a:solidFill>
                          <a:latin typeface="Arial"/>
                        </a:rPr>
                        <a:t>Product Owner, AVP (Shellah Marie C. Miranda)</a:t>
                      </a:r>
                    </a:p>
                  </a:txBody>
                  <a:tcPr marL="54864" marR="54864" marT="27432" marB="27432">
                    <a:solidFill>
                      <a:srgbClr val="E5F5FF"/>
                    </a:solidFill>
                  </a:tcPr>
                </a:tc>
                <a:tc>
                  <a:txBody>
                    <a:bodyPr/>
                    <a:lstStyle/>
                    <a:p>
                      <a:r>
                        <a:rPr sz="900" b="0">
                          <a:solidFill>
                            <a:srgbClr val="4B4B4B"/>
                          </a:solidFill>
                          <a:latin typeface="Arial"/>
                        </a:rPr>
                        <a:t>BDOI</a:t>
                      </a:r>
                    </a:p>
                  </a:txBody>
                  <a:tcPr marL="54864" marR="54864" marT="27432" marB="27432">
                    <a:solidFill>
                      <a:srgbClr val="E5F5FF"/>
                    </a:solidFill>
                  </a:tcPr>
                </a:tc>
                <a:tc>
                  <a:txBody>
                    <a:bodyPr/>
                    <a:lstStyle/>
                    <a:p>
                      <a:r>
                        <a:rPr sz="900" b="0">
                          <a:solidFill>
                            <a:srgbClr val="4B4B4B"/>
                          </a:solidFill>
                          <a:latin typeface="Arial"/>
                        </a:rPr>
                        <a:t>Owns the set and approves all of its contents</a:t>
                      </a:r>
                    </a:p>
                  </a:txBody>
                  <a:tcPr marL="54864" marR="54864" marT="27432" marB="27432">
                    <a:solidFill>
                      <a:srgbClr val="E5F5FF"/>
                    </a:solidFill>
                  </a:tcPr>
                </a:tc>
              </a:tr>
              <a:tr h="365760">
                <a:tc>
                  <a:txBody>
                    <a:bodyPr/>
                    <a:lstStyle/>
                    <a:p>
                      <a:r>
                        <a:rPr sz="900" b="0">
                          <a:solidFill>
                            <a:srgbClr val="4B4B4B"/>
                          </a:solidFill>
                          <a:latin typeface="Arial"/>
                        </a:rPr>
                        <a:t>Approved by</a:t>
                      </a:r>
                    </a:p>
                  </a:txBody>
                  <a:tcPr marL="54864" marR="54864" marT="27432" marB="27432">
                    <a:solidFill>
                      <a:srgbClr val="FFFFFF"/>
                    </a:solidFill>
                  </a:tcPr>
                </a:tc>
                <a:tc>
                  <a:txBody>
                    <a:bodyPr/>
                    <a:lstStyle/>
                    <a:p>
                      <a:r>
                        <a:rPr sz="900" b="0">
                          <a:solidFill>
                            <a:srgbClr val="4B4B4B"/>
                          </a:solidFill>
                          <a:latin typeface="Arial"/>
                        </a:rPr>
                        <a:t>Product Owner, AVP (Jose Melvin Jarin)</a:t>
                      </a:r>
                    </a:p>
                  </a:txBody>
                  <a:tcPr marL="54864" marR="54864" marT="27432" marB="27432">
                    <a:solidFill>
                      <a:srgbClr val="FFFFFF"/>
                    </a:solidFill>
                  </a:tcPr>
                </a:tc>
                <a:tc>
                  <a:txBody>
                    <a:bodyPr/>
                    <a:lstStyle/>
                    <a:p>
                      <a:r>
                        <a:rPr sz="900" b="0">
                          <a:solidFill>
                            <a:srgbClr val="4B4B4B"/>
                          </a:solidFill>
                          <a:latin typeface="Arial"/>
                        </a:rPr>
                        <a:t>BDOI</a:t>
                      </a:r>
                    </a:p>
                  </a:txBody>
                  <a:tcPr marL="54864" marR="54864" marT="27432" marB="27432">
                    <a:solidFill>
                      <a:srgbClr val="FFFFFF"/>
                    </a:solidFill>
                  </a:tcPr>
                </a:tc>
                <a:tc>
                  <a:txBody>
                    <a:bodyPr/>
                    <a:lstStyle/>
                    <a:p>
                      <a:r>
                        <a:rPr sz="900" b="0">
                          <a:solidFill>
                            <a:srgbClr val="4B4B4B"/>
                          </a:solidFill>
                          <a:latin typeface="Arial"/>
                        </a:rPr>
                        <a:t>The addendum functions: escalation, bulk update, reassignment, installments, promises, billing statements</a:t>
                      </a:r>
                    </a:p>
                  </a:txBody>
                  <a:tcPr marL="54864" marR="54864" marT="27432" marB="27432">
                    <a:solidFill>
                      <a:srgbClr val="FFFFFF"/>
                    </a:solidFill>
                  </a:tcPr>
                </a:tc>
              </a:tr>
              <a:tr h="365760">
                <a:tc>
                  <a:txBody>
                    <a:bodyPr/>
                    <a:lstStyle/>
                    <a:p>
                      <a:r>
                        <a:rPr sz="900" b="0">
                          <a:solidFill>
                            <a:srgbClr val="4B4B4B"/>
                          </a:solidFill>
                          <a:latin typeface="Arial"/>
                        </a:rPr>
                        <a:t>Approved by</a:t>
                      </a:r>
                    </a:p>
                  </a:txBody>
                  <a:tcPr marL="54864" marR="54864" marT="27432" marB="27432">
                    <a:solidFill>
                      <a:srgbClr val="E5F5FF"/>
                    </a:solidFill>
                  </a:tcPr>
                </a:tc>
                <a:tc>
                  <a:txBody>
                    <a:bodyPr/>
                    <a:lstStyle/>
                    <a:p>
                      <a:r>
                        <a:rPr sz="900" b="0">
                          <a:solidFill>
                            <a:srgbClr val="4B4B4B"/>
                          </a:solidFill>
                          <a:latin typeface="Arial"/>
                        </a:rPr>
                        <a:t>Unit Head - Combank and Corbank (Mark Joseph C. Makalintal) and Heads of Retail Marketing (Edmundante F. Ramirez, Roderick Lim)</a:t>
                      </a:r>
                    </a:p>
                  </a:txBody>
                  <a:tcPr marL="54864" marR="54864" marT="27432" marB="27432">
                    <a:solidFill>
                      <a:srgbClr val="E5F5FF"/>
                    </a:solidFill>
                  </a:tcPr>
                </a:tc>
                <a:tc>
                  <a:txBody>
                    <a:bodyPr/>
                    <a:lstStyle/>
                    <a:p>
                      <a:r>
                        <a:rPr sz="900" b="0">
                          <a:solidFill>
                            <a:srgbClr val="4B4B4B"/>
                          </a:solidFill>
                          <a:latin typeface="Arial"/>
                        </a:rPr>
                        <a:t>BDOI</a:t>
                      </a:r>
                    </a:p>
                  </a:txBody>
                  <a:tcPr marL="54864" marR="54864" marT="27432" marB="27432">
                    <a:solidFill>
                      <a:srgbClr val="E5F5FF"/>
                    </a:solidFill>
                  </a:tcPr>
                </a:tc>
                <a:tc>
                  <a:txBody>
                    <a:bodyPr/>
                    <a:lstStyle/>
                    <a:p>
                      <a:r>
                        <a:rPr sz="900" b="0">
                          <a:solidFill>
                            <a:srgbClr val="4B4B4B"/>
                          </a:solidFill>
                          <a:latin typeface="Arial"/>
                        </a:rPr>
                        <a:t>The collector screens, rules and messages for the Corporate, Commercial and Retail Marketing units</a:t>
                      </a:r>
                    </a:p>
                  </a:txBody>
                  <a:tcPr marL="54864" marR="54864" marT="27432" marB="27432">
                    <a:solidFill>
                      <a:srgbClr val="E5F5FF"/>
                    </a:solidFill>
                  </a:tcPr>
                </a:tc>
              </a:tr>
              <a:tr h="365760">
                <a:tc>
                  <a:txBody>
                    <a:bodyPr/>
                    <a:lstStyle/>
                    <a:p>
                      <a:r>
                        <a:rPr sz="900" b="0">
                          <a:solidFill>
                            <a:srgbClr val="4B4B4B"/>
                          </a:solidFill>
                          <a:latin typeface="Arial"/>
                        </a:rPr>
                        <a:t>Approved by</a:t>
                      </a:r>
                    </a:p>
                  </a:txBody>
                  <a:tcPr marL="54864" marR="54864" marT="27432" marB="27432">
                    <a:solidFill>
                      <a:srgbClr val="FFFFFF"/>
                    </a:solidFill>
                  </a:tcPr>
                </a:tc>
                <a:tc>
                  <a:txBody>
                    <a:bodyPr/>
                    <a:lstStyle/>
                    <a:p>
                      <a:r>
                        <a:rPr sz="900" b="0">
                          <a:solidFill>
                            <a:srgbClr val="4B4B4B"/>
                          </a:solidFill>
                          <a:latin typeface="Arial"/>
                        </a:rPr>
                        <a:t>Head - Comptrollership, VP (Ronald Allan E. De Leon)</a:t>
                      </a:r>
                    </a:p>
                  </a:txBody>
                  <a:tcPr marL="54864" marR="54864" marT="27432" marB="27432">
                    <a:solidFill>
                      <a:srgbClr val="FFFFFF"/>
                    </a:solidFill>
                  </a:tcPr>
                </a:tc>
                <a:tc>
                  <a:txBody>
                    <a:bodyPr/>
                    <a:lstStyle/>
                    <a:p>
                      <a:r>
                        <a:rPr sz="900" b="0">
                          <a:solidFill>
                            <a:srgbClr val="4B4B4B"/>
                          </a:solidFill>
                          <a:latin typeface="Arial"/>
                        </a:rPr>
                        <a:t>BDOI</a:t>
                      </a:r>
                    </a:p>
                  </a:txBody>
                  <a:tcPr marL="54864" marR="54864" marT="27432" marB="27432">
                    <a:solidFill>
                      <a:srgbClr val="FFFFFF"/>
                    </a:solidFill>
                  </a:tcPr>
                </a:tc>
                <a:tc>
                  <a:txBody>
                    <a:bodyPr/>
                    <a:lstStyle/>
                    <a:p>
                      <a:r>
                        <a:rPr sz="900" b="0">
                          <a:solidFill>
                            <a:srgbClr val="4B4B4B"/>
                          </a:solidFill>
                          <a:latin typeface="Arial"/>
                        </a:rPr>
                        <a:t>The commission receivable gate and the draft rows on incentives, commission refunds and mixed payments</a:t>
                      </a:r>
                    </a:p>
                  </a:txBody>
                  <a:tcPr marL="54864" marR="54864" marT="27432" marB="27432">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Contacts and roles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a:t>
            </a:r>
          </a:p>
        </p:txBody>
      </p:sp>
      <p:graphicFrame>
        <p:nvGraphicFramePr>
          <p:cNvPr id="9" name="Table 8"/>
          <p:cNvGraphicFramePr>
            <a:graphicFrameLocks noGrp="1"/>
          </p:cNvGraphicFramePr>
          <p:nvPr/>
        </p:nvGraphicFramePr>
        <p:xfrm>
          <a:off x="548640" y="1325880"/>
          <a:ext cx="11094414" cy="594360"/>
        </p:xfrm>
        <a:graphic>
          <a:graphicData uri="http://schemas.openxmlformats.org/drawingml/2006/table">
            <a:tbl>
              <a:tblPr firstRow="1" bandRow="1">
                <a:tableStyleId>{5C22544A-7EE6-4342-B048-85BDC9FD1C3A}</a:tableStyleId>
              </a:tblPr>
              <a:tblGrid>
                <a:gridCol w="1450808"/>
                <a:gridCol w="3669691"/>
                <a:gridCol w="1365466"/>
                <a:gridCol w="4608449"/>
              </a:tblGrid>
              <a:tr h="228600">
                <a:tc>
                  <a:txBody>
                    <a:bodyPr/>
                    <a:lstStyle/>
                    <a:p>
                      <a:r>
                        <a:rPr sz="900" b="1">
                          <a:solidFill>
                            <a:srgbClr val="FFFFFF"/>
                          </a:solidFill>
                          <a:latin typeface="Arial"/>
                        </a:rPr>
                        <a:t>Capacity</a:t>
                      </a:r>
                    </a:p>
                  </a:txBody>
                  <a:tcPr marL="54864" marR="54864" marT="27432" marB="27432">
                    <a:solidFill>
                      <a:srgbClr val="004EA8"/>
                    </a:solidFill>
                  </a:tcPr>
                </a:tc>
                <a:tc>
                  <a:txBody>
                    <a:bodyPr/>
                    <a:lstStyle/>
                    <a:p>
                      <a:r>
                        <a:rPr sz="900" b="1">
                          <a:solidFill>
                            <a:srgbClr val="FFFFFF"/>
                          </a:solidFill>
                          <a:latin typeface="Arial"/>
                        </a:rPr>
                        <a:t>Role</a:t>
                      </a:r>
                    </a:p>
                  </a:txBody>
                  <a:tcPr marL="54864" marR="54864" marT="27432" marB="27432">
                    <a:solidFill>
                      <a:srgbClr val="004EA8"/>
                    </a:solidFill>
                  </a:tcPr>
                </a:tc>
                <a:tc>
                  <a:txBody>
                    <a:bodyPr/>
                    <a:lstStyle/>
                    <a:p>
                      <a:r>
                        <a:rPr sz="900" b="1">
                          <a:solidFill>
                            <a:srgbClr val="FFFFFF"/>
                          </a:solidFill>
                          <a:latin typeface="Arial"/>
                        </a:rPr>
                        <a:t>Organisation</a:t>
                      </a:r>
                    </a:p>
                  </a:txBody>
                  <a:tcPr marL="54864" marR="54864" marT="27432" marB="27432">
                    <a:solidFill>
                      <a:srgbClr val="004EA8"/>
                    </a:solidFill>
                  </a:tcPr>
                </a:tc>
                <a:tc>
                  <a:txBody>
                    <a:bodyPr/>
                    <a:lstStyle/>
                    <a:p>
                      <a:r>
                        <a:rPr sz="900" b="1">
                          <a:solidFill>
                            <a:srgbClr val="FFFFFF"/>
                          </a:solidFill>
                          <a:latin typeface="Arial"/>
                        </a:rPr>
                        <a:t>Part in the set</a:t>
                      </a:r>
                    </a:p>
                  </a:txBody>
                  <a:tcPr marL="54864" marR="54864" marT="27432" marB="27432">
                    <a:solidFill>
                      <a:srgbClr val="004EA8"/>
                    </a:solidFill>
                  </a:tcPr>
                </a:tc>
              </a:tr>
              <a:tr h="365760">
                <a:tc>
                  <a:txBody>
                    <a:bodyPr/>
                    <a:lstStyle/>
                    <a:p>
                      <a:r>
                        <a:rPr sz="900" b="0">
                          <a:solidFill>
                            <a:srgbClr val="4B4B4B"/>
                          </a:solidFill>
                          <a:latin typeface="Arial"/>
                        </a:rPr>
                        <a:t>Receives 07 to 09</a:t>
                      </a:r>
                    </a:p>
                  </a:txBody>
                  <a:tcPr marL="54864" marR="54864" marT="27432" marB="27432">
                    <a:solidFill>
                      <a:srgbClr val="FFFFFF"/>
                    </a:solidFill>
                  </a:tcPr>
                </a:tc>
                <a:tc>
                  <a:txBody>
                    <a:bodyPr/>
                    <a:lstStyle/>
                    <a:p>
                      <a:r>
                        <a:rPr sz="900" b="0">
                          <a:solidFill>
                            <a:srgbClr val="4B4B4B"/>
                          </a:solidFill>
                          <a:latin typeface="Arial"/>
                        </a:rPr>
                        <a:t>BDOI UX Design team (UXD)</a:t>
                      </a:r>
                    </a:p>
                  </a:txBody>
                  <a:tcPr marL="54864" marR="54864" marT="27432" marB="27432">
                    <a:solidFill>
                      <a:srgbClr val="FFFFFF"/>
                    </a:solidFill>
                  </a:tcPr>
                </a:tc>
                <a:tc>
                  <a:txBody>
                    <a:bodyPr/>
                    <a:lstStyle/>
                    <a:p>
                      <a:r>
                        <a:rPr sz="900" b="0">
                          <a:solidFill>
                            <a:srgbClr val="4B4B4B"/>
                          </a:solidFill>
                          <a:latin typeface="Arial"/>
                        </a:rPr>
                        <a:t>BDOI</a:t>
                      </a:r>
                    </a:p>
                  </a:txBody>
                  <a:tcPr marL="54864" marR="54864" marT="27432" marB="27432">
                    <a:solidFill>
                      <a:srgbClr val="FFFFFF"/>
                    </a:solidFill>
                  </a:tcPr>
                </a:tc>
                <a:tc>
                  <a:txBody>
                    <a:bodyPr/>
                    <a:lstStyle/>
                    <a:p>
                      <a:r>
                        <a:rPr sz="900" b="0">
                          <a:solidFill>
                            <a:srgbClr val="4B4B4B"/>
                          </a:solidFill>
                          <a:latin typeface="Arial"/>
                        </a:rPr>
                        <a:t>Designs the screens from this deck; keeps the UXD status and comments of the register; raises questions on the Questions and comments sheet</a:t>
                      </a:r>
                    </a:p>
                  </a:txBody>
                  <a:tcPr marL="54864" marR="54864" marT="27432" marB="27432">
                    <a:solidFill>
                      <a:srgbClr val="FFFFFF"/>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Design foundation</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Colours, type, spacing, icons, the shared components and the screen standards as the screens use them</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BRD-4 Collections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Colour tokens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a:t>
            </a:r>
          </a:p>
        </p:txBody>
      </p:sp>
      <p:sp>
        <p:nvSpPr>
          <p:cNvPr id="9" name="Rectangle 8"/>
          <p:cNvSpPr/>
          <p:nvPr/>
        </p:nvSpPr>
        <p:spPr>
          <a:xfrm>
            <a:off x="548640" y="1261872"/>
            <a:ext cx="1428162" cy="384048"/>
          </a:xfrm>
          <a:prstGeom prst="rect">
            <a:avLst/>
          </a:prstGeom>
          <a:solidFill>
            <a:srgbClr val="1F3A5F"/>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655064"/>
            <a:ext cx="1428162" cy="201168"/>
          </a:xfrm>
          <a:prstGeom prst="rect">
            <a:avLst/>
          </a:prstGeom>
          <a:noFill/>
        </p:spPr>
        <p:txBody>
          <a:bodyPr wrap="square" anchor="t" lIns="45720" rIns="45720">
            <a:spAutoFit/>
          </a:bodyPr>
          <a:lstStyle/>
          <a:p>
            <a:r>
              <a:rPr sz="800" b="1" i="0">
                <a:solidFill>
                  <a:srgbClr val="2E2E2E"/>
                </a:solidFill>
                <a:latin typeface="Arial"/>
              </a:rPr>
              <a:t>brand-navy</a:t>
            </a:r>
          </a:p>
        </p:txBody>
      </p:sp>
      <p:sp>
        <p:nvSpPr>
          <p:cNvPr id="11" name="TextBox 10"/>
          <p:cNvSpPr txBox="1"/>
          <p:nvPr/>
        </p:nvSpPr>
        <p:spPr>
          <a:xfrm>
            <a:off x="548640" y="1828800"/>
            <a:ext cx="1428162" cy="365760"/>
          </a:xfrm>
          <a:prstGeom prst="rect">
            <a:avLst/>
          </a:prstGeom>
          <a:noFill/>
        </p:spPr>
        <p:txBody>
          <a:bodyPr wrap="square" anchor="t" lIns="45720" rIns="45720">
            <a:spAutoFit/>
          </a:bodyPr>
          <a:lstStyle/>
          <a:p>
            <a:r>
              <a:rPr sz="700" b="0" i="0">
                <a:solidFill>
                  <a:srgbClr val="656565"/>
                </a:solidFill>
                <a:latin typeface="Arial"/>
              </a:rPr>
              <a:t>#1F3A5F headers, table heads, section bars</a:t>
            </a:r>
          </a:p>
        </p:txBody>
      </p:sp>
      <p:sp>
        <p:nvSpPr>
          <p:cNvPr id="12" name="Rectangle 11"/>
          <p:cNvSpPr/>
          <p:nvPr/>
        </p:nvSpPr>
        <p:spPr>
          <a:xfrm>
            <a:off x="2159682" y="1261872"/>
            <a:ext cx="1428162" cy="384048"/>
          </a:xfrm>
          <a:prstGeom prst="rect">
            <a:avLst/>
          </a:prstGeom>
          <a:solidFill>
            <a:srgbClr val="2F6DB5"/>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159682" y="1655064"/>
            <a:ext cx="1428162" cy="201168"/>
          </a:xfrm>
          <a:prstGeom prst="rect">
            <a:avLst/>
          </a:prstGeom>
          <a:noFill/>
        </p:spPr>
        <p:txBody>
          <a:bodyPr wrap="square" anchor="t" lIns="45720" rIns="45720">
            <a:spAutoFit/>
          </a:bodyPr>
          <a:lstStyle/>
          <a:p>
            <a:r>
              <a:rPr sz="800" b="1" i="0">
                <a:solidFill>
                  <a:srgbClr val="2E2E2E"/>
                </a:solidFill>
                <a:latin typeface="Arial"/>
              </a:rPr>
              <a:t>brand-blue</a:t>
            </a:r>
          </a:p>
        </p:txBody>
      </p:sp>
      <p:sp>
        <p:nvSpPr>
          <p:cNvPr id="14" name="TextBox 13"/>
          <p:cNvSpPr txBox="1"/>
          <p:nvPr/>
        </p:nvSpPr>
        <p:spPr>
          <a:xfrm>
            <a:off x="2159682" y="1828800"/>
            <a:ext cx="1428162" cy="365760"/>
          </a:xfrm>
          <a:prstGeom prst="rect">
            <a:avLst/>
          </a:prstGeom>
          <a:noFill/>
        </p:spPr>
        <p:txBody>
          <a:bodyPr wrap="square" anchor="t" lIns="45720" rIns="45720">
            <a:spAutoFit/>
          </a:bodyPr>
          <a:lstStyle/>
          <a:p>
            <a:r>
              <a:rPr sz="700" b="0" i="0">
                <a:solidFill>
                  <a:srgbClr val="656565"/>
                </a:solidFill>
                <a:latin typeface="Arial"/>
              </a:rPr>
              <a:t>#2F6DB5 primary buttons, links, active items</a:t>
            </a:r>
          </a:p>
        </p:txBody>
      </p:sp>
      <p:sp>
        <p:nvSpPr>
          <p:cNvPr id="15" name="Rectangle 14"/>
          <p:cNvSpPr/>
          <p:nvPr/>
        </p:nvSpPr>
        <p:spPr>
          <a:xfrm>
            <a:off x="3770724" y="1261872"/>
            <a:ext cx="1428162" cy="384048"/>
          </a:xfrm>
          <a:prstGeom prst="rect">
            <a:avLst/>
          </a:prstGeom>
          <a:solidFill>
            <a:srgbClr val="255A96"/>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70724" y="1655064"/>
            <a:ext cx="1428162" cy="201168"/>
          </a:xfrm>
          <a:prstGeom prst="rect">
            <a:avLst/>
          </a:prstGeom>
          <a:noFill/>
        </p:spPr>
        <p:txBody>
          <a:bodyPr wrap="square" anchor="t" lIns="45720" rIns="45720">
            <a:spAutoFit/>
          </a:bodyPr>
          <a:lstStyle/>
          <a:p>
            <a:r>
              <a:rPr sz="800" b="1" i="0">
                <a:solidFill>
                  <a:srgbClr val="2E2E2E"/>
                </a:solidFill>
                <a:latin typeface="Arial"/>
              </a:rPr>
              <a:t>brand-blue-600</a:t>
            </a:r>
          </a:p>
        </p:txBody>
      </p:sp>
      <p:sp>
        <p:nvSpPr>
          <p:cNvPr id="17" name="TextBox 16"/>
          <p:cNvSpPr txBox="1"/>
          <p:nvPr/>
        </p:nvSpPr>
        <p:spPr>
          <a:xfrm>
            <a:off x="3770724" y="1828800"/>
            <a:ext cx="1428162" cy="365760"/>
          </a:xfrm>
          <a:prstGeom prst="rect">
            <a:avLst/>
          </a:prstGeom>
          <a:noFill/>
        </p:spPr>
        <p:txBody>
          <a:bodyPr wrap="square" anchor="t" lIns="45720" rIns="45720">
            <a:spAutoFit/>
          </a:bodyPr>
          <a:lstStyle/>
          <a:p>
            <a:r>
              <a:rPr sz="700" b="0" i="0">
                <a:solidFill>
                  <a:srgbClr val="656565"/>
                </a:solidFill>
                <a:latin typeface="Arial"/>
              </a:rPr>
              <a:t>#255A96 hover / pressed</a:t>
            </a:r>
          </a:p>
        </p:txBody>
      </p:sp>
      <p:sp>
        <p:nvSpPr>
          <p:cNvPr id="18" name="Rectangle 17"/>
          <p:cNvSpPr/>
          <p:nvPr/>
        </p:nvSpPr>
        <p:spPr>
          <a:xfrm>
            <a:off x="5381766" y="1261872"/>
            <a:ext cx="1428162" cy="384048"/>
          </a:xfrm>
          <a:prstGeom prst="rect">
            <a:avLst/>
          </a:prstGeom>
          <a:solidFill>
            <a:srgbClr val="EEF3F9"/>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381766" y="1655064"/>
            <a:ext cx="1428162" cy="201168"/>
          </a:xfrm>
          <a:prstGeom prst="rect">
            <a:avLst/>
          </a:prstGeom>
          <a:noFill/>
        </p:spPr>
        <p:txBody>
          <a:bodyPr wrap="square" anchor="t" lIns="45720" rIns="45720">
            <a:spAutoFit/>
          </a:bodyPr>
          <a:lstStyle/>
          <a:p>
            <a:r>
              <a:rPr sz="800" b="1" i="0">
                <a:solidFill>
                  <a:srgbClr val="2E2E2E"/>
                </a:solidFill>
                <a:latin typeface="Arial"/>
              </a:rPr>
              <a:t>brand-blue-050</a:t>
            </a:r>
          </a:p>
        </p:txBody>
      </p:sp>
      <p:sp>
        <p:nvSpPr>
          <p:cNvPr id="20" name="TextBox 19"/>
          <p:cNvSpPr txBox="1"/>
          <p:nvPr/>
        </p:nvSpPr>
        <p:spPr>
          <a:xfrm>
            <a:off x="5381766" y="1828800"/>
            <a:ext cx="1428162" cy="365760"/>
          </a:xfrm>
          <a:prstGeom prst="rect">
            <a:avLst/>
          </a:prstGeom>
          <a:noFill/>
        </p:spPr>
        <p:txBody>
          <a:bodyPr wrap="square" anchor="t" lIns="45720" rIns="45720">
            <a:spAutoFit/>
          </a:bodyPr>
          <a:lstStyle/>
          <a:p>
            <a:r>
              <a:rPr sz="700" b="0" i="0">
                <a:solidFill>
                  <a:srgbClr val="656565"/>
                </a:solidFill>
                <a:latin typeface="Arial"/>
              </a:rPr>
              <a:t>#EEF3F9 highlights, alternate rows</a:t>
            </a:r>
          </a:p>
        </p:txBody>
      </p:sp>
      <p:sp>
        <p:nvSpPr>
          <p:cNvPr id="21" name="Rectangle 20"/>
          <p:cNvSpPr/>
          <p:nvPr/>
        </p:nvSpPr>
        <p:spPr>
          <a:xfrm>
            <a:off x="6992808" y="1261872"/>
            <a:ext cx="1428162" cy="384048"/>
          </a:xfrm>
          <a:prstGeom prst="rect">
            <a:avLst/>
          </a:prstGeom>
          <a:solidFill>
            <a:srgbClr val="A9BDD4"/>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92808" y="1655064"/>
            <a:ext cx="1428162" cy="201168"/>
          </a:xfrm>
          <a:prstGeom prst="rect">
            <a:avLst/>
          </a:prstGeom>
          <a:noFill/>
        </p:spPr>
        <p:txBody>
          <a:bodyPr wrap="square" anchor="t" lIns="45720" rIns="45720">
            <a:spAutoFit/>
          </a:bodyPr>
          <a:lstStyle/>
          <a:p>
            <a:r>
              <a:rPr sz="800" b="1" i="0">
                <a:solidFill>
                  <a:srgbClr val="2E2E2E"/>
                </a:solidFill>
                <a:latin typeface="Arial"/>
              </a:rPr>
              <a:t>brand-field-blue</a:t>
            </a:r>
          </a:p>
        </p:txBody>
      </p:sp>
      <p:sp>
        <p:nvSpPr>
          <p:cNvPr id="23" name="TextBox 22"/>
          <p:cNvSpPr txBox="1"/>
          <p:nvPr/>
        </p:nvSpPr>
        <p:spPr>
          <a:xfrm>
            <a:off x="6992808" y="1828800"/>
            <a:ext cx="1428162" cy="365760"/>
          </a:xfrm>
          <a:prstGeom prst="rect">
            <a:avLst/>
          </a:prstGeom>
          <a:noFill/>
        </p:spPr>
        <p:txBody>
          <a:bodyPr wrap="square" anchor="t" lIns="45720" rIns="45720">
            <a:spAutoFit/>
          </a:bodyPr>
          <a:lstStyle/>
          <a:p>
            <a:r>
              <a:rPr sz="700" b="0" i="0">
                <a:solidFill>
                  <a:srgbClr val="656565"/>
                </a:solidFill>
                <a:latin typeface="Arial"/>
              </a:rPr>
              <a:t>#A9BDD4 input borders</a:t>
            </a:r>
          </a:p>
        </p:txBody>
      </p:sp>
      <p:sp>
        <p:nvSpPr>
          <p:cNvPr id="24" name="Rectangle 23"/>
          <p:cNvSpPr/>
          <p:nvPr/>
        </p:nvSpPr>
        <p:spPr>
          <a:xfrm>
            <a:off x="8603850" y="1261872"/>
            <a:ext cx="1428162" cy="384048"/>
          </a:xfrm>
          <a:prstGeom prst="rect">
            <a:avLst/>
          </a:prstGeom>
          <a:solidFill>
            <a:srgbClr val="D9A441"/>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603850" y="1655064"/>
            <a:ext cx="1428162" cy="201168"/>
          </a:xfrm>
          <a:prstGeom prst="rect">
            <a:avLst/>
          </a:prstGeom>
          <a:noFill/>
        </p:spPr>
        <p:txBody>
          <a:bodyPr wrap="square" anchor="t" lIns="45720" rIns="45720">
            <a:spAutoFit/>
          </a:bodyPr>
          <a:lstStyle/>
          <a:p>
            <a:r>
              <a:rPr sz="800" b="1" i="0">
                <a:solidFill>
                  <a:srgbClr val="2E2E2E"/>
                </a:solidFill>
                <a:latin typeface="Arial"/>
              </a:rPr>
              <a:t>brand-gold</a:t>
            </a:r>
          </a:p>
        </p:txBody>
      </p:sp>
      <p:sp>
        <p:nvSpPr>
          <p:cNvPr id="26" name="TextBox 25"/>
          <p:cNvSpPr txBox="1"/>
          <p:nvPr/>
        </p:nvSpPr>
        <p:spPr>
          <a:xfrm>
            <a:off x="8603850" y="1828800"/>
            <a:ext cx="1428162" cy="365760"/>
          </a:xfrm>
          <a:prstGeom prst="rect">
            <a:avLst/>
          </a:prstGeom>
          <a:noFill/>
        </p:spPr>
        <p:txBody>
          <a:bodyPr wrap="square" anchor="t" lIns="45720" rIns="45720">
            <a:spAutoFit/>
          </a:bodyPr>
          <a:lstStyle/>
          <a:p>
            <a:r>
              <a:rPr sz="700" b="0" i="0">
                <a:solidFill>
                  <a:srgbClr val="656565"/>
                </a:solidFill>
                <a:latin typeface="Arial"/>
              </a:rPr>
              <a:t>#D9A441 accents and breakers, used sparingly</a:t>
            </a:r>
          </a:p>
        </p:txBody>
      </p:sp>
      <p:sp>
        <p:nvSpPr>
          <p:cNvPr id="27" name="Rectangle 26"/>
          <p:cNvSpPr/>
          <p:nvPr/>
        </p:nvSpPr>
        <p:spPr>
          <a:xfrm>
            <a:off x="10214892" y="1261872"/>
            <a:ext cx="1428162" cy="384048"/>
          </a:xfrm>
          <a:prstGeom prst="rect">
            <a:avLst/>
          </a:prstGeom>
          <a:solidFill>
            <a:srgbClr val="B8862C"/>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214892" y="1655064"/>
            <a:ext cx="1428162" cy="201168"/>
          </a:xfrm>
          <a:prstGeom prst="rect">
            <a:avLst/>
          </a:prstGeom>
          <a:noFill/>
        </p:spPr>
        <p:txBody>
          <a:bodyPr wrap="square" anchor="t" lIns="45720" rIns="45720">
            <a:spAutoFit/>
          </a:bodyPr>
          <a:lstStyle/>
          <a:p>
            <a:r>
              <a:rPr sz="800" b="1" i="0">
                <a:solidFill>
                  <a:srgbClr val="2E2E2E"/>
                </a:solidFill>
                <a:latin typeface="Arial"/>
              </a:rPr>
              <a:t>brand-gold-600</a:t>
            </a:r>
          </a:p>
        </p:txBody>
      </p:sp>
      <p:sp>
        <p:nvSpPr>
          <p:cNvPr id="29" name="TextBox 28"/>
          <p:cNvSpPr txBox="1"/>
          <p:nvPr/>
        </p:nvSpPr>
        <p:spPr>
          <a:xfrm>
            <a:off x="10214892" y="1828800"/>
            <a:ext cx="1428162" cy="365760"/>
          </a:xfrm>
          <a:prstGeom prst="rect">
            <a:avLst/>
          </a:prstGeom>
          <a:noFill/>
        </p:spPr>
        <p:txBody>
          <a:bodyPr wrap="square" anchor="t" lIns="45720" rIns="45720">
            <a:spAutoFit/>
          </a:bodyPr>
          <a:lstStyle/>
          <a:p>
            <a:r>
              <a:rPr sz="700" b="0" i="0">
                <a:solidFill>
                  <a:srgbClr val="656565"/>
                </a:solidFill>
                <a:latin typeface="Arial"/>
              </a:rPr>
              <a:t>#B8862C </a:t>
            </a:r>
          </a:p>
        </p:txBody>
      </p:sp>
      <p:sp>
        <p:nvSpPr>
          <p:cNvPr id="30" name="Rectangle 29"/>
          <p:cNvSpPr/>
          <p:nvPr/>
        </p:nvSpPr>
        <p:spPr>
          <a:xfrm>
            <a:off x="548640" y="2249424"/>
            <a:ext cx="1428162" cy="384048"/>
          </a:xfrm>
          <a:prstGeom prst="rect">
            <a:avLst/>
          </a:prstGeom>
          <a:solidFill>
            <a:srgbClr val="FBF3E2"/>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8640" y="2642616"/>
            <a:ext cx="1428162" cy="201168"/>
          </a:xfrm>
          <a:prstGeom prst="rect">
            <a:avLst/>
          </a:prstGeom>
          <a:noFill/>
        </p:spPr>
        <p:txBody>
          <a:bodyPr wrap="square" anchor="t" lIns="45720" rIns="45720">
            <a:spAutoFit/>
          </a:bodyPr>
          <a:lstStyle/>
          <a:p>
            <a:r>
              <a:rPr sz="800" b="1" i="0">
                <a:solidFill>
                  <a:srgbClr val="2E2E2E"/>
                </a:solidFill>
                <a:latin typeface="Arial"/>
              </a:rPr>
              <a:t>brand-gold-050</a:t>
            </a:r>
          </a:p>
        </p:txBody>
      </p:sp>
      <p:sp>
        <p:nvSpPr>
          <p:cNvPr id="32" name="TextBox 31"/>
          <p:cNvSpPr txBox="1"/>
          <p:nvPr/>
        </p:nvSpPr>
        <p:spPr>
          <a:xfrm>
            <a:off x="548640" y="2816352"/>
            <a:ext cx="1428162" cy="365760"/>
          </a:xfrm>
          <a:prstGeom prst="rect">
            <a:avLst/>
          </a:prstGeom>
          <a:noFill/>
        </p:spPr>
        <p:txBody>
          <a:bodyPr wrap="square" anchor="t" lIns="45720" rIns="45720">
            <a:spAutoFit/>
          </a:bodyPr>
          <a:lstStyle/>
          <a:p>
            <a:r>
              <a:rPr sz="700" b="0" i="0">
                <a:solidFill>
                  <a:srgbClr val="656565"/>
                </a:solidFill>
                <a:latin typeface="Arial"/>
              </a:rPr>
              <a:t>#FBF3E2 Neutrals (never pure black)</a:t>
            </a:r>
          </a:p>
        </p:txBody>
      </p:sp>
      <p:sp>
        <p:nvSpPr>
          <p:cNvPr id="33" name="Rectangle 32"/>
          <p:cNvSpPr/>
          <p:nvPr/>
        </p:nvSpPr>
        <p:spPr>
          <a:xfrm>
            <a:off x="2159682" y="2249424"/>
            <a:ext cx="1428162" cy="384048"/>
          </a:xfrm>
          <a:prstGeom prst="rect">
            <a:avLst/>
          </a:prstGeom>
          <a:solidFill>
            <a:srgbClr val="F6F6F6"/>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159682" y="2642616"/>
            <a:ext cx="1428162" cy="201168"/>
          </a:xfrm>
          <a:prstGeom prst="rect">
            <a:avLst/>
          </a:prstGeom>
          <a:noFill/>
        </p:spPr>
        <p:txBody>
          <a:bodyPr wrap="square" anchor="t" lIns="45720" rIns="45720">
            <a:spAutoFit/>
          </a:bodyPr>
          <a:lstStyle/>
          <a:p>
            <a:r>
              <a:rPr sz="800" b="1" i="0">
                <a:solidFill>
                  <a:srgbClr val="2E2E2E"/>
                </a:solidFill>
                <a:latin typeface="Arial"/>
              </a:rPr>
              <a:t>color-bg</a:t>
            </a:r>
          </a:p>
        </p:txBody>
      </p:sp>
      <p:sp>
        <p:nvSpPr>
          <p:cNvPr id="35" name="TextBox 34"/>
          <p:cNvSpPr txBox="1"/>
          <p:nvPr/>
        </p:nvSpPr>
        <p:spPr>
          <a:xfrm>
            <a:off x="2159682" y="2816352"/>
            <a:ext cx="1428162" cy="365760"/>
          </a:xfrm>
          <a:prstGeom prst="rect">
            <a:avLst/>
          </a:prstGeom>
          <a:noFill/>
        </p:spPr>
        <p:txBody>
          <a:bodyPr wrap="square" anchor="t" lIns="45720" rIns="45720">
            <a:spAutoFit/>
          </a:bodyPr>
          <a:lstStyle/>
          <a:p>
            <a:r>
              <a:rPr sz="700" b="0" i="0">
                <a:solidFill>
                  <a:srgbClr val="656565"/>
                </a:solidFill>
                <a:latin typeface="Arial"/>
              </a:rPr>
              <a:t>#F6F6F6 Dirty White</a:t>
            </a:r>
          </a:p>
        </p:txBody>
      </p:sp>
      <p:sp>
        <p:nvSpPr>
          <p:cNvPr id="36" name="Rectangle 35"/>
          <p:cNvSpPr/>
          <p:nvPr/>
        </p:nvSpPr>
        <p:spPr>
          <a:xfrm>
            <a:off x="3770724" y="2249424"/>
            <a:ext cx="1428162" cy="384048"/>
          </a:xfrm>
          <a:prstGeom prst="rect">
            <a:avLst/>
          </a:prstGeom>
          <a:solidFill>
            <a:srgbClr val="FFFFFF"/>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770724" y="2642616"/>
            <a:ext cx="1428162" cy="201168"/>
          </a:xfrm>
          <a:prstGeom prst="rect">
            <a:avLst/>
          </a:prstGeom>
          <a:noFill/>
        </p:spPr>
        <p:txBody>
          <a:bodyPr wrap="square" anchor="t" lIns="45720" rIns="45720">
            <a:spAutoFit/>
          </a:bodyPr>
          <a:lstStyle/>
          <a:p>
            <a:r>
              <a:rPr sz="800" b="1" i="0">
                <a:solidFill>
                  <a:srgbClr val="2E2E2E"/>
                </a:solidFill>
                <a:latin typeface="Arial"/>
              </a:rPr>
              <a:t>color-surface</a:t>
            </a:r>
          </a:p>
        </p:txBody>
      </p:sp>
      <p:sp>
        <p:nvSpPr>
          <p:cNvPr id="38" name="TextBox 37"/>
          <p:cNvSpPr txBox="1"/>
          <p:nvPr/>
        </p:nvSpPr>
        <p:spPr>
          <a:xfrm>
            <a:off x="3770724" y="2816352"/>
            <a:ext cx="1428162" cy="365760"/>
          </a:xfrm>
          <a:prstGeom prst="rect">
            <a:avLst/>
          </a:prstGeom>
          <a:noFill/>
        </p:spPr>
        <p:txBody>
          <a:bodyPr wrap="square" anchor="t" lIns="45720" rIns="45720">
            <a:spAutoFit/>
          </a:bodyPr>
          <a:lstStyle/>
          <a:p>
            <a:r>
              <a:rPr sz="700" b="0" i="0">
                <a:solidFill>
                  <a:srgbClr val="656565"/>
                </a:solidFill>
                <a:latin typeface="Arial"/>
              </a:rPr>
              <a:t>#FFFFFF </a:t>
            </a:r>
          </a:p>
        </p:txBody>
      </p:sp>
      <p:sp>
        <p:nvSpPr>
          <p:cNvPr id="39" name="Rectangle 38"/>
          <p:cNvSpPr/>
          <p:nvPr/>
        </p:nvSpPr>
        <p:spPr>
          <a:xfrm>
            <a:off x="5381766" y="2249424"/>
            <a:ext cx="1428162" cy="384048"/>
          </a:xfrm>
          <a:prstGeom prst="rect">
            <a:avLst/>
          </a:prstGeom>
          <a:solidFill>
            <a:srgbClr val="F6F6F6"/>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381766" y="2642616"/>
            <a:ext cx="1428162" cy="201168"/>
          </a:xfrm>
          <a:prstGeom prst="rect">
            <a:avLst/>
          </a:prstGeom>
          <a:noFill/>
        </p:spPr>
        <p:txBody>
          <a:bodyPr wrap="square" anchor="t" lIns="45720" rIns="45720">
            <a:spAutoFit/>
          </a:bodyPr>
          <a:lstStyle/>
          <a:p>
            <a:r>
              <a:rPr sz="800" b="1" i="0">
                <a:solidFill>
                  <a:srgbClr val="2E2E2E"/>
                </a:solidFill>
                <a:latin typeface="Arial"/>
              </a:rPr>
              <a:t>color-surface-alt</a:t>
            </a:r>
          </a:p>
        </p:txBody>
      </p:sp>
      <p:sp>
        <p:nvSpPr>
          <p:cNvPr id="41" name="TextBox 40"/>
          <p:cNvSpPr txBox="1"/>
          <p:nvPr/>
        </p:nvSpPr>
        <p:spPr>
          <a:xfrm>
            <a:off x="5381766" y="2816352"/>
            <a:ext cx="1428162" cy="365760"/>
          </a:xfrm>
          <a:prstGeom prst="rect">
            <a:avLst/>
          </a:prstGeom>
          <a:noFill/>
        </p:spPr>
        <p:txBody>
          <a:bodyPr wrap="square" anchor="t" lIns="45720" rIns="45720">
            <a:spAutoFit/>
          </a:bodyPr>
          <a:lstStyle/>
          <a:p>
            <a:r>
              <a:rPr sz="700" b="0" i="0">
                <a:solidFill>
                  <a:srgbClr val="656565"/>
                </a:solidFill>
                <a:latin typeface="Arial"/>
              </a:rPr>
              <a:t>#F6F6F6 </a:t>
            </a:r>
          </a:p>
        </p:txBody>
      </p:sp>
      <p:sp>
        <p:nvSpPr>
          <p:cNvPr id="42" name="Rectangle 41"/>
          <p:cNvSpPr/>
          <p:nvPr/>
        </p:nvSpPr>
        <p:spPr>
          <a:xfrm>
            <a:off x="6992808" y="2249424"/>
            <a:ext cx="1428162" cy="384048"/>
          </a:xfrm>
          <a:prstGeom prst="rect">
            <a:avLst/>
          </a:prstGeom>
          <a:solidFill>
            <a:srgbClr val="2E2E2E"/>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992808" y="2642616"/>
            <a:ext cx="1428162" cy="201168"/>
          </a:xfrm>
          <a:prstGeom prst="rect">
            <a:avLst/>
          </a:prstGeom>
          <a:noFill/>
        </p:spPr>
        <p:txBody>
          <a:bodyPr wrap="square" anchor="t" lIns="45720" rIns="45720">
            <a:spAutoFit/>
          </a:bodyPr>
          <a:lstStyle/>
          <a:p>
            <a:r>
              <a:rPr sz="800" b="1" i="0">
                <a:solidFill>
                  <a:srgbClr val="2E2E2E"/>
                </a:solidFill>
                <a:latin typeface="Arial"/>
              </a:rPr>
              <a:t>color-heading</a:t>
            </a:r>
          </a:p>
        </p:txBody>
      </p:sp>
      <p:sp>
        <p:nvSpPr>
          <p:cNvPr id="44" name="TextBox 43"/>
          <p:cNvSpPr txBox="1"/>
          <p:nvPr/>
        </p:nvSpPr>
        <p:spPr>
          <a:xfrm>
            <a:off x="6992808" y="2816352"/>
            <a:ext cx="1428162" cy="365760"/>
          </a:xfrm>
          <a:prstGeom prst="rect">
            <a:avLst/>
          </a:prstGeom>
          <a:noFill/>
        </p:spPr>
        <p:txBody>
          <a:bodyPr wrap="square" anchor="t" lIns="45720" rIns="45720">
            <a:spAutoFit/>
          </a:bodyPr>
          <a:lstStyle/>
          <a:p>
            <a:r>
              <a:rPr sz="700" b="0" i="0">
                <a:solidFill>
                  <a:srgbClr val="656565"/>
                </a:solidFill>
                <a:latin typeface="Arial"/>
              </a:rPr>
              <a:t>#2E2E2E Near Black</a:t>
            </a:r>
          </a:p>
        </p:txBody>
      </p:sp>
      <p:sp>
        <p:nvSpPr>
          <p:cNvPr id="45" name="Rectangle 44"/>
          <p:cNvSpPr/>
          <p:nvPr/>
        </p:nvSpPr>
        <p:spPr>
          <a:xfrm>
            <a:off x="8603850" y="2249424"/>
            <a:ext cx="1428162" cy="384048"/>
          </a:xfrm>
          <a:prstGeom prst="rect">
            <a:avLst/>
          </a:prstGeom>
          <a:solidFill>
            <a:srgbClr val="4B4B4B"/>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603850" y="2642616"/>
            <a:ext cx="1428162" cy="201168"/>
          </a:xfrm>
          <a:prstGeom prst="rect">
            <a:avLst/>
          </a:prstGeom>
          <a:noFill/>
        </p:spPr>
        <p:txBody>
          <a:bodyPr wrap="square" anchor="t" lIns="45720" rIns="45720">
            <a:spAutoFit/>
          </a:bodyPr>
          <a:lstStyle/>
          <a:p>
            <a:r>
              <a:rPr sz="800" b="1" i="0">
                <a:solidFill>
                  <a:srgbClr val="2E2E2E"/>
                </a:solidFill>
                <a:latin typeface="Arial"/>
              </a:rPr>
              <a:t>color-text</a:t>
            </a:r>
          </a:p>
        </p:txBody>
      </p:sp>
      <p:sp>
        <p:nvSpPr>
          <p:cNvPr id="47" name="TextBox 46"/>
          <p:cNvSpPr txBox="1"/>
          <p:nvPr/>
        </p:nvSpPr>
        <p:spPr>
          <a:xfrm>
            <a:off x="8603850" y="2816352"/>
            <a:ext cx="1428162" cy="365760"/>
          </a:xfrm>
          <a:prstGeom prst="rect">
            <a:avLst/>
          </a:prstGeom>
          <a:noFill/>
        </p:spPr>
        <p:txBody>
          <a:bodyPr wrap="square" anchor="t" lIns="45720" rIns="45720">
            <a:spAutoFit/>
          </a:bodyPr>
          <a:lstStyle/>
          <a:p>
            <a:r>
              <a:rPr sz="700" b="0" i="0">
                <a:solidFill>
                  <a:srgbClr val="656565"/>
                </a:solidFill>
                <a:latin typeface="Arial"/>
              </a:rPr>
              <a:t>#4B4B4B Dark Grey</a:t>
            </a:r>
          </a:p>
        </p:txBody>
      </p:sp>
      <p:sp>
        <p:nvSpPr>
          <p:cNvPr id="48" name="Rectangle 47"/>
          <p:cNvSpPr/>
          <p:nvPr/>
        </p:nvSpPr>
        <p:spPr>
          <a:xfrm>
            <a:off x="10214892" y="2249424"/>
            <a:ext cx="1428162" cy="384048"/>
          </a:xfrm>
          <a:prstGeom prst="rect">
            <a:avLst/>
          </a:prstGeom>
          <a:solidFill>
            <a:srgbClr val="656565"/>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214892" y="2642616"/>
            <a:ext cx="1428162" cy="201168"/>
          </a:xfrm>
          <a:prstGeom prst="rect">
            <a:avLst/>
          </a:prstGeom>
          <a:noFill/>
        </p:spPr>
        <p:txBody>
          <a:bodyPr wrap="square" anchor="t" lIns="45720" rIns="45720">
            <a:spAutoFit/>
          </a:bodyPr>
          <a:lstStyle/>
          <a:p>
            <a:r>
              <a:rPr sz="800" b="1" i="0">
                <a:solidFill>
                  <a:srgbClr val="2E2E2E"/>
                </a:solidFill>
                <a:latin typeface="Arial"/>
              </a:rPr>
              <a:t>color-text-muted</a:t>
            </a:r>
          </a:p>
        </p:txBody>
      </p:sp>
      <p:sp>
        <p:nvSpPr>
          <p:cNvPr id="50" name="TextBox 49"/>
          <p:cNvSpPr txBox="1"/>
          <p:nvPr/>
        </p:nvSpPr>
        <p:spPr>
          <a:xfrm>
            <a:off x="10214892" y="2816352"/>
            <a:ext cx="1428162" cy="365760"/>
          </a:xfrm>
          <a:prstGeom prst="rect">
            <a:avLst/>
          </a:prstGeom>
          <a:noFill/>
        </p:spPr>
        <p:txBody>
          <a:bodyPr wrap="square" anchor="t" lIns="45720" rIns="45720">
            <a:spAutoFit/>
          </a:bodyPr>
          <a:lstStyle/>
          <a:p>
            <a:r>
              <a:rPr sz="700" b="0" i="0">
                <a:solidFill>
                  <a:srgbClr val="656565"/>
                </a:solidFill>
                <a:latin typeface="Arial"/>
              </a:rPr>
              <a:t>#656565 Base Grey</a:t>
            </a:r>
          </a:p>
        </p:txBody>
      </p:sp>
      <p:sp>
        <p:nvSpPr>
          <p:cNvPr id="51" name="Rectangle 50"/>
          <p:cNvSpPr/>
          <p:nvPr/>
        </p:nvSpPr>
        <p:spPr>
          <a:xfrm>
            <a:off x="548640" y="3236976"/>
            <a:ext cx="1428162" cy="384048"/>
          </a:xfrm>
          <a:prstGeom prst="rect">
            <a:avLst/>
          </a:prstGeom>
          <a:solidFill>
            <a:srgbClr val="919191"/>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48640" y="3630168"/>
            <a:ext cx="1428162" cy="201168"/>
          </a:xfrm>
          <a:prstGeom prst="rect">
            <a:avLst/>
          </a:prstGeom>
          <a:noFill/>
        </p:spPr>
        <p:txBody>
          <a:bodyPr wrap="square" anchor="t" lIns="45720" rIns="45720">
            <a:spAutoFit/>
          </a:bodyPr>
          <a:lstStyle/>
          <a:p>
            <a:r>
              <a:rPr sz="800" b="1" i="0">
                <a:solidFill>
                  <a:srgbClr val="2E2E2E"/>
                </a:solidFill>
                <a:latin typeface="Arial"/>
              </a:rPr>
              <a:t>color-placeholder</a:t>
            </a:r>
          </a:p>
        </p:txBody>
      </p:sp>
      <p:sp>
        <p:nvSpPr>
          <p:cNvPr id="53" name="TextBox 52"/>
          <p:cNvSpPr txBox="1"/>
          <p:nvPr/>
        </p:nvSpPr>
        <p:spPr>
          <a:xfrm>
            <a:off x="548640" y="3803904"/>
            <a:ext cx="1428162" cy="365760"/>
          </a:xfrm>
          <a:prstGeom prst="rect">
            <a:avLst/>
          </a:prstGeom>
          <a:noFill/>
        </p:spPr>
        <p:txBody>
          <a:bodyPr wrap="square" anchor="t" lIns="45720" rIns="45720">
            <a:spAutoFit/>
          </a:bodyPr>
          <a:lstStyle/>
          <a:p>
            <a:r>
              <a:rPr sz="700" b="0" i="0">
                <a:solidFill>
                  <a:srgbClr val="656565"/>
                </a:solidFill>
                <a:latin typeface="Arial"/>
              </a:rPr>
              <a:t>#919191 Medium Grey</a:t>
            </a:r>
          </a:p>
        </p:txBody>
      </p:sp>
      <p:sp>
        <p:nvSpPr>
          <p:cNvPr id="54" name="Rectangle 53"/>
          <p:cNvSpPr/>
          <p:nvPr/>
        </p:nvSpPr>
        <p:spPr>
          <a:xfrm>
            <a:off x="2159682" y="3236976"/>
            <a:ext cx="1428162" cy="384048"/>
          </a:xfrm>
          <a:prstGeom prst="rect">
            <a:avLst/>
          </a:prstGeom>
          <a:solidFill>
            <a:srgbClr val="E4E4E4"/>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159682" y="3630168"/>
            <a:ext cx="1428162" cy="201168"/>
          </a:xfrm>
          <a:prstGeom prst="rect">
            <a:avLst/>
          </a:prstGeom>
          <a:noFill/>
        </p:spPr>
        <p:txBody>
          <a:bodyPr wrap="square" anchor="t" lIns="45720" rIns="45720">
            <a:spAutoFit/>
          </a:bodyPr>
          <a:lstStyle/>
          <a:p>
            <a:r>
              <a:rPr sz="800" b="1" i="0">
                <a:solidFill>
                  <a:srgbClr val="2E2E2E"/>
                </a:solidFill>
                <a:latin typeface="Arial"/>
              </a:rPr>
              <a:t>color-border</a:t>
            </a:r>
          </a:p>
        </p:txBody>
      </p:sp>
      <p:sp>
        <p:nvSpPr>
          <p:cNvPr id="56" name="TextBox 55"/>
          <p:cNvSpPr txBox="1"/>
          <p:nvPr/>
        </p:nvSpPr>
        <p:spPr>
          <a:xfrm>
            <a:off x="2159682" y="3803904"/>
            <a:ext cx="1428162" cy="365760"/>
          </a:xfrm>
          <a:prstGeom prst="rect">
            <a:avLst/>
          </a:prstGeom>
          <a:noFill/>
        </p:spPr>
        <p:txBody>
          <a:bodyPr wrap="square" anchor="t" lIns="45720" rIns="45720">
            <a:spAutoFit/>
          </a:bodyPr>
          <a:lstStyle/>
          <a:p>
            <a:r>
              <a:rPr sz="700" b="0" i="0">
                <a:solidFill>
                  <a:srgbClr val="656565"/>
                </a:solidFill>
                <a:latin typeface="Arial"/>
              </a:rPr>
              <a:t>#E4E4E4 Dark Grey (elements)</a:t>
            </a:r>
          </a:p>
        </p:txBody>
      </p:sp>
      <p:sp>
        <p:nvSpPr>
          <p:cNvPr id="57" name="Rectangle 56"/>
          <p:cNvSpPr/>
          <p:nvPr/>
        </p:nvSpPr>
        <p:spPr>
          <a:xfrm>
            <a:off x="3770724" y="3236976"/>
            <a:ext cx="1428162" cy="384048"/>
          </a:xfrm>
          <a:prstGeom prst="rect">
            <a:avLst/>
          </a:prstGeom>
          <a:solidFill>
            <a:srgbClr val="C2C2C1"/>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770724" y="3630168"/>
            <a:ext cx="1428162" cy="201168"/>
          </a:xfrm>
          <a:prstGeom prst="rect">
            <a:avLst/>
          </a:prstGeom>
          <a:noFill/>
        </p:spPr>
        <p:txBody>
          <a:bodyPr wrap="square" anchor="t" lIns="45720" rIns="45720">
            <a:spAutoFit/>
          </a:bodyPr>
          <a:lstStyle/>
          <a:p>
            <a:r>
              <a:rPr sz="800" b="1" i="0">
                <a:solidFill>
                  <a:srgbClr val="2E2E2E"/>
                </a:solidFill>
                <a:latin typeface="Arial"/>
              </a:rPr>
              <a:t>color-border-strong</a:t>
            </a:r>
          </a:p>
        </p:txBody>
      </p:sp>
      <p:sp>
        <p:nvSpPr>
          <p:cNvPr id="59" name="TextBox 58"/>
          <p:cNvSpPr txBox="1"/>
          <p:nvPr/>
        </p:nvSpPr>
        <p:spPr>
          <a:xfrm>
            <a:off x="3770724" y="3803904"/>
            <a:ext cx="1428162" cy="365760"/>
          </a:xfrm>
          <a:prstGeom prst="rect">
            <a:avLst/>
          </a:prstGeom>
          <a:noFill/>
        </p:spPr>
        <p:txBody>
          <a:bodyPr wrap="square" anchor="t" lIns="45720" rIns="45720">
            <a:spAutoFit/>
          </a:bodyPr>
          <a:lstStyle/>
          <a:p>
            <a:r>
              <a:rPr sz="700" b="0" i="0">
                <a:solidFill>
                  <a:srgbClr val="656565"/>
                </a:solidFill>
                <a:latin typeface="Arial"/>
              </a:rPr>
              <a:t>#C2C2C1 Light Grey</a:t>
            </a:r>
          </a:p>
        </p:txBody>
      </p:sp>
      <p:sp>
        <p:nvSpPr>
          <p:cNvPr id="60" name="Rectangle 59"/>
          <p:cNvSpPr/>
          <p:nvPr/>
        </p:nvSpPr>
        <p:spPr>
          <a:xfrm>
            <a:off x="5381766" y="3236976"/>
            <a:ext cx="1428162" cy="384048"/>
          </a:xfrm>
          <a:prstGeom prst="rect">
            <a:avLst/>
          </a:prstGeom>
          <a:solidFill>
            <a:srgbClr val="1D7F4E"/>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381766" y="3630168"/>
            <a:ext cx="1428162" cy="201168"/>
          </a:xfrm>
          <a:prstGeom prst="rect">
            <a:avLst/>
          </a:prstGeom>
          <a:noFill/>
        </p:spPr>
        <p:txBody>
          <a:bodyPr wrap="square" anchor="t" lIns="45720" rIns="45720">
            <a:spAutoFit/>
          </a:bodyPr>
          <a:lstStyle/>
          <a:p>
            <a:r>
              <a:rPr sz="800" b="1" i="0">
                <a:solidFill>
                  <a:srgbClr val="2E2E2E"/>
                </a:solidFill>
                <a:latin typeface="Arial"/>
              </a:rPr>
              <a:t>color-success</a:t>
            </a:r>
          </a:p>
        </p:txBody>
      </p:sp>
      <p:sp>
        <p:nvSpPr>
          <p:cNvPr id="62" name="TextBox 61"/>
          <p:cNvSpPr txBox="1"/>
          <p:nvPr/>
        </p:nvSpPr>
        <p:spPr>
          <a:xfrm>
            <a:off x="5381766" y="3803904"/>
            <a:ext cx="1428162" cy="365760"/>
          </a:xfrm>
          <a:prstGeom prst="rect">
            <a:avLst/>
          </a:prstGeom>
          <a:noFill/>
        </p:spPr>
        <p:txBody>
          <a:bodyPr wrap="square" anchor="t" lIns="45720" rIns="45720">
            <a:spAutoFit/>
          </a:bodyPr>
          <a:lstStyle/>
          <a:p>
            <a:r>
              <a:rPr sz="700" b="0" i="0">
                <a:solidFill>
                  <a:srgbClr val="656565"/>
                </a:solidFill>
                <a:latin typeface="Arial"/>
              </a:rPr>
              <a:t>#1D7F4E </a:t>
            </a:r>
          </a:p>
        </p:txBody>
      </p:sp>
      <p:sp>
        <p:nvSpPr>
          <p:cNvPr id="63" name="Rectangle 62"/>
          <p:cNvSpPr/>
          <p:nvPr/>
        </p:nvSpPr>
        <p:spPr>
          <a:xfrm>
            <a:off x="6992808" y="3236976"/>
            <a:ext cx="1428162" cy="384048"/>
          </a:xfrm>
          <a:prstGeom prst="rect">
            <a:avLst/>
          </a:prstGeom>
          <a:solidFill>
            <a:srgbClr val="E6F5EC"/>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992808" y="3630168"/>
            <a:ext cx="1428162" cy="201168"/>
          </a:xfrm>
          <a:prstGeom prst="rect">
            <a:avLst/>
          </a:prstGeom>
          <a:noFill/>
        </p:spPr>
        <p:txBody>
          <a:bodyPr wrap="square" anchor="t" lIns="45720" rIns="45720">
            <a:spAutoFit/>
          </a:bodyPr>
          <a:lstStyle/>
          <a:p>
            <a:r>
              <a:rPr sz="800" b="1" i="0">
                <a:solidFill>
                  <a:srgbClr val="2E2E2E"/>
                </a:solidFill>
                <a:latin typeface="Arial"/>
              </a:rPr>
              <a:t>color-success-bg</a:t>
            </a:r>
          </a:p>
        </p:txBody>
      </p:sp>
      <p:sp>
        <p:nvSpPr>
          <p:cNvPr id="65" name="TextBox 64"/>
          <p:cNvSpPr txBox="1"/>
          <p:nvPr/>
        </p:nvSpPr>
        <p:spPr>
          <a:xfrm>
            <a:off x="6992808" y="3803904"/>
            <a:ext cx="1428162" cy="365760"/>
          </a:xfrm>
          <a:prstGeom prst="rect">
            <a:avLst/>
          </a:prstGeom>
          <a:noFill/>
        </p:spPr>
        <p:txBody>
          <a:bodyPr wrap="square" anchor="t" lIns="45720" rIns="45720">
            <a:spAutoFit/>
          </a:bodyPr>
          <a:lstStyle/>
          <a:p>
            <a:r>
              <a:rPr sz="700" b="0" i="0">
                <a:solidFill>
                  <a:srgbClr val="656565"/>
                </a:solidFill>
                <a:latin typeface="Arial"/>
              </a:rPr>
              <a:t>#E6F5EC </a:t>
            </a:r>
          </a:p>
        </p:txBody>
      </p:sp>
      <p:sp>
        <p:nvSpPr>
          <p:cNvPr id="66" name="Rectangle 65"/>
          <p:cNvSpPr/>
          <p:nvPr/>
        </p:nvSpPr>
        <p:spPr>
          <a:xfrm>
            <a:off x="8603850" y="3236976"/>
            <a:ext cx="1428162" cy="384048"/>
          </a:xfrm>
          <a:prstGeom prst="rect">
            <a:avLst/>
          </a:prstGeom>
          <a:solidFill>
            <a:srgbClr val="D32F2F"/>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603850" y="3630168"/>
            <a:ext cx="1428162" cy="201168"/>
          </a:xfrm>
          <a:prstGeom prst="rect">
            <a:avLst/>
          </a:prstGeom>
          <a:noFill/>
        </p:spPr>
        <p:txBody>
          <a:bodyPr wrap="square" anchor="t" lIns="45720" rIns="45720">
            <a:spAutoFit/>
          </a:bodyPr>
          <a:lstStyle/>
          <a:p>
            <a:r>
              <a:rPr sz="800" b="1" i="0">
                <a:solidFill>
                  <a:srgbClr val="2E2E2E"/>
                </a:solidFill>
                <a:latin typeface="Arial"/>
              </a:rPr>
              <a:t>color-danger</a:t>
            </a:r>
          </a:p>
        </p:txBody>
      </p:sp>
      <p:sp>
        <p:nvSpPr>
          <p:cNvPr id="68" name="TextBox 67"/>
          <p:cNvSpPr txBox="1"/>
          <p:nvPr/>
        </p:nvSpPr>
        <p:spPr>
          <a:xfrm>
            <a:off x="8603850" y="3803904"/>
            <a:ext cx="1428162" cy="365760"/>
          </a:xfrm>
          <a:prstGeom prst="rect">
            <a:avLst/>
          </a:prstGeom>
          <a:noFill/>
        </p:spPr>
        <p:txBody>
          <a:bodyPr wrap="square" anchor="t" lIns="45720" rIns="45720">
            <a:spAutoFit/>
          </a:bodyPr>
          <a:lstStyle/>
          <a:p>
            <a:r>
              <a:rPr sz="700" b="0" i="0">
                <a:solidFill>
                  <a:srgbClr val="656565"/>
                </a:solidFill>
                <a:latin typeface="Arial"/>
              </a:rPr>
              <a:t>#D32F2F </a:t>
            </a:r>
          </a:p>
        </p:txBody>
      </p:sp>
      <p:sp>
        <p:nvSpPr>
          <p:cNvPr id="69" name="Rectangle 68"/>
          <p:cNvSpPr/>
          <p:nvPr/>
        </p:nvSpPr>
        <p:spPr>
          <a:xfrm>
            <a:off x="10214892" y="3236976"/>
            <a:ext cx="1428162" cy="384048"/>
          </a:xfrm>
          <a:prstGeom prst="rect">
            <a:avLst/>
          </a:prstGeom>
          <a:solidFill>
            <a:srgbClr val="FDECEA"/>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0214892" y="3630168"/>
            <a:ext cx="1428162" cy="201168"/>
          </a:xfrm>
          <a:prstGeom prst="rect">
            <a:avLst/>
          </a:prstGeom>
          <a:noFill/>
        </p:spPr>
        <p:txBody>
          <a:bodyPr wrap="square" anchor="t" lIns="45720" rIns="45720">
            <a:spAutoFit/>
          </a:bodyPr>
          <a:lstStyle/>
          <a:p>
            <a:r>
              <a:rPr sz="800" b="1" i="0">
                <a:solidFill>
                  <a:srgbClr val="2E2E2E"/>
                </a:solidFill>
                <a:latin typeface="Arial"/>
              </a:rPr>
              <a:t>color-danger-bg</a:t>
            </a:r>
          </a:p>
        </p:txBody>
      </p:sp>
      <p:sp>
        <p:nvSpPr>
          <p:cNvPr id="71" name="TextBox 70"/>
          <p:cNvSpPr txBox="1"/>
          <p:nvPr/>
        </p:nvSpPr>
        <p:spPr>
          <a:xfrm>
            <a:off x="10214892" y="3803904"/>
            <a:ext cx="1428162" cy="365760"/>
          </a:xfrm>
          <a:prstGeom prst="rect">
            <a:avLst/>
          </a:prstGeom>
          <a:noFill/>
        </p:spPr>
        <p:txBody>
          <a:bodyPr wrap="square" anchor="t" lIns="45720" rIns="45720">
            <a:spAutoFit/>
          </a:bodyPr>
          <a:lstStyle/>
          <a:p>
            <a:r>
              <a:rPr sz="700" b="0" i="0">
                <a:solidFill>
                  <a:srgbClr val="656565"/>
                </a:solidFill>
                <a:latin typeface="Arial"/>
              </a:rPr>
              <a:t>#FDECEA </a:t>
            </a:r>
          </a:p>
        </p:txBody>
      </p:sp>
      <p:sp>
        <p:nvSpPr>
          <p:cNvPr id="72" name="Rectangle 71"/>
          <p:cNvSpPr/>
          <p:nvPr/>
        </p:nvSpPr>
        <p:spPr>
          <a:xfrm>
            <a:off x="548640" y="4224528"/>
            <a:ext cx="1428162" cy="384048"/>
          </a:xfrm>
          <a:prstGeom prst="rect">
            <a:avLst/>
          </a:prstGeom>
          <a:solidFill>
            <a:srgbClr val="8A5A00"/>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48640" y="4617720"/>
            <a:ext cx="1428162" cy="201168"/>
          </a:xfrm>
          <a:prstGeom prst="rect">
            <a:avLst/>
          </a:prstGeom>
          <a:noFill/>
        </p:spPr>
        <p:txBody>
          <a:bodyPr wrap="square" anchor="t" lIns="45720" rIns="45720">
            <a:spAutoFit/>
          </a:bodyPr>
          <a:lstStyle/>
          <a:p>
            <a:r>
              <a:rPr sz="800" b="1" i="0">
                <a:solidFill>
                  <a:srgbClr val="2E2E2E"/>
                </a:solidFill>
                <a:latin typeface="Arial"/>
              </a:rPr>
              <a:t>color-warning</a:t>
            </a:r>
          </a:p>
        </p:txBody>
      </p:sp>
      <p:sp>
        <p:nvSpPr>
          <p:cNvPr id="74" name="TextBox 73"/>
          <p:cNvSpPr txBox="1"/>
          <p:nvPr/>
        </p:nvSpPr>
        <p:spPr>
          <a:xfrm>
            <a:off x="548640" y="4791456"/>
            <a:ext cx="1428162" cy="365760"/>
          </a:xfrm>
          <a:prstGeom prst="rect">
            <a:avLst/>
          </a:prstGeom>
          <a:noFill/>
        </p:spPr>
        <p:txBody>
          <a:bodyPr wrap="square" anchor="t" lIns="45720" rIns="45720">
            <a:spAutoFit/>
          </a:bodyPr>
          <a:lstStyle/>
          <a:p>
            <a:r>
              <a:rPr sz="700" b="0" i="0">
                <a:solidFill>
                  <a:srgbClr val="656565"/>
                </a:solidFill>
                <a:latin typeface="Arial"/>
              </a:rPr>
              <a:t>#8A5A00 </a:t>
            </a:r>
          </a:p>
        </p:txBody>
      </p:sp>
      <p:sp>
        <p:nvSpPr>
          <p:cNvPr id="75" name="Rectangle 74"/>
          <p:cNvSpPr/>
          <p:nvPr/>
        </p:nvSpPr>
        <p:spPr>
          <a:xfrm>
            <a:off x="2159682" y="4224528"/>
            <a:ext cx="1428162" cy="384048"/>
          </a:xfrm>
          <a:prstGeom prst="rect">
            <a:avLst/>
          </a:prstGeom>
          <a:solidFill>
            <a:srgbClr val="FFF4D6"/>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2159682" y="4617720"/>
            <a:ext cx="1428162" cy="201168"/>
          </a:xfrm>
          <a:prstGeom prst="rect">
            <a:avLst/>
          </a:prstGeom>
          <a:noFill/>
        </p:spPr>
        <p:txBody>
          <a:bodyPr wrap="square" anchor="t" lIns="45720" rIns="45720">
            <a:spAutoFit/>
          </a:bodyPr>
          <a:lstStyle/>
          <a:p>
            <a:r>
              <a:rPr sz="800" b="1" i="0">
                <a:solidFill>
                  <a:srgbClr val="2E2E2E"/>
                </a:solidFill>
                <a:latin typeface="Arial"/>
              </a:rPr>
              <a:t>color-warning-bg</a:t>
            </a:r>
          </a:p>
        </p:txBody>
      </p:sp>
      <p:sp>
        <p:nvSpPr>
          <p:cNvPr id="77" name="TextBox 76"/>
          <p:cNvSpPr txBox="1"/>
          <p:nvPr/>
        </p:nvSpPr>
        <p:spPr>
          <a:xfrm>
            <a:off x="2159682" y="4791456"/>
            <a:ext cx="1428162" cy="365760"/>
          </a:xfrm>
          <a:prstGeom prst="rect">
            <a:avLst/>
          </a:prstGeom>
          <a:noFill/>
        </p:spPr>
        <p:txBody>
          <a:bodyPr wrap="square" anchor="t" lIns="45720" rIns="45720">
            <a:spAutoFit/>
          </a:bodyPr>
          <a:lstStyle/>
          <a:p>
            <a:r>
              <a:rPr sz="700" b="0" i="0">
                <a:solidFill>
                  <a:srgbClr val="656565"/>
                </a:solidFill>
                <a:latin typeface="Arial"/>
              </a:rPr>
              <a:t>#FFF4D6 </a:t>
            </a:r>
          </a:p>
        </p:txBody>
      </p:sp>
      <p:sp>
        <p:nvSpPr>
          <p:cNvPr id="78" name="Rectangle 77"/>
          <p:cNvSpPr/>
          <p:nvPr/>
        </p:nvSpPr>
        <p:spPr>
          <a:xfrm>
            <a:off x="3770724" y="4224528"/>
            <a:ext cx="1428162" cy="384048"/>
          </a:xfrm>
          <a:prstGeom prst="rect">
            <a:avLst/>
          </a:prstGeom>
          <a:solidFill>
            <a:srgbClr val="E0A100"/>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3770724" y="4617720"/>
            <a:ext cx="1428162" cy="201168"/>
          </a:xfrm>
          <a:prstGeom prst="rect">
            <a:avLst/>
          </a:prstGeom>
          <a:noFill/>
        </p:spPr>
        <p:txBody>
          <a:bodyPr wrap="square" anchor="t" lIns="45720" rIns="45720">
            <a:spAutoFit/>
          </a:bodyPr>
          <a:lstStyle/>
          <a:p>
            <a:r>
              <a:rPr sz="800" b="1" i="0">
                <a:solidFill>
                  <a:srgbClr val="2E2E2E"/>
                </a:solidFill>
                <a:latin typeface="Arial"/>
              </a:rPr>
              <a:t>color-warning-accent</a:t>
            </a:r>
          </a:p>
        </p:txBody>
      </p:sp>
      <p:sp>
        <p:nvSpPr>
          <p:cNvPr id="80" name="TextBox 79"/>
          <p:cNvSpPr txBox="1"/>
          <p:nvPr/>
        </p:nvSpPr>
        <p:spPr>
          <a:xfrm>
            <a:off x="3770724" y="4791456"/>
            <a:ext cx="1428162" cy="365760"/>
          </a:xfrm>
          <a:prstGeom prst="rect">
            <a:avLst/>
          </a:prstGeom>
          <a:noFill/>
        </p:spPr>
        <p:txBody>
          <a:bodyPr wrap="square" anchor="t" lIns="45720" rIns="45720">
            <a:spAutoFit/>
          </a:bodyPr>
          <a:lstStyle/>
          <a:p>
            <a:r>
              <a:rPr sz="700" b="0" i="0">
                <a:solidFill>
                  <a:srgbClr val="656565"/>
                </a:solidFill>
                <a:latin typeface="Arial"/>
              </a:rPr>
              <a:t>#E0A100 amber accent bar and icon of warnings</a:t>
            </a:r>
          </a:p>
        </p:txBody>
      </p:sp>
      <p:sp>
        <p:nvSpPr>
          <p:cNvPr id="81" name="Rectangle 80"/>
          <p:cNvSpPr/>
          <p:nvPr/>
        </p:nvSpPr>
        <p:spPr>
          <a:xfrm>
            <a:off x="5381766" y="4224528"/>
            <a:ext cx="1428162" cy="384048"/>
          </a:xfrm>
          <a:prstGeom prst="rect">
            <a:avLst/>
          </a:prstGeom>
          <a:solidFill>
            <a:srgbClr val="2F6DB5"/>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5381766" y="4617720"/>
            <a:ext cx="1428162" cy="201168"/>
          </a:xfrm>
          <a:prstGeom prst="rect">
            <a:avLst/>
          </a:prstGeom>
          <a:noFill/>
        </p:spPr>
        <p:txBody>
          <a:bodyPr wrap="square" anchor="t" lIns="45720" rIns="45720">
            <a:spAutoFit/>
          </a:bodyPr>
          <a:lstStyle/>
          <a:p>
            <a:r>
              <a:rPr sz="800" b="1" i="0">
                <a:solidFill>
                  <a:srgbClr val="2E2E2E"/>
                </a:solidFill>
                <a:latin typeface="Arial"/>
              </a:rPr>
              <a:t>color-info</a:t>
            </a:r>
          </a:p>
        </p:txBody>
      </p:sp>
      <p:sp>
        <p:nvSpPr>
          <p:cNvPr id="83" name="TextBox 82"/>
          <p:cNvSpPr txBox="1"/>
          <p:nvPr/>
        </p:nvSpPr>
        <p:spPr>
          <a:xfrm>
            <a:off x="5381766" y="4791456"/>
            <a:ext cx="1428162" cy="365760"/>
          </a:xfrm>
          <a:prstGeom prst="rect">
            <a:avLst/>
          </a:prstGeom>
          <a:noFill/>
        </p:spPr>
        <p:txBody>
          <a:bodyPr wrap="square" anchor="t" lIns="45720" rIns="45720">
            <a:spAutoFit/>
          </a:bodyPr>
          <a:lstStyle/>
          <a:p>
            <a:r>
              <a:rPr sz="700" b="0" i="0">
                <a:solidFill>
                  <a:srgbClr val="656565"/>
                </a:solidFill>
                <a:latin typeface="Arial"/>
              </a:rPr>
              <a:t>#2F6DB5 </a:t>
            </a:r>
          </a:p>
        </p:txBody>
      </p:sp>
      <p:sp>
        <p:nvSpPr>
          <p:cNvPr id="84" name="Rectangle 83"/>
          <p:cNvSpPr/>
          <p:nvPr/>
        </p:nvSpPr>
        <p:spPr>
          <a:xfrm>
            <a:off x="6992808" y="4224528"/>
            <a:ext cx="1428162" cy="384048"/>
          </a:xfrm>
          <a:prstGeom prst="rect">
            <a:avLst/>
          </a:prstGeom>
          <a:solidFill>
            <a:srgbClr val="EEF3F9"/>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6992808" y="4617720"/>
            <a:ext cx="1428162" cy="201168"/>
          </a:xfrm>
          <a:prstGeom prst="rect">
            <a:avLst/>
          </a:prstGeom>
          <a:noFill/>
        </p:spPr>
        <p:txBody>
          <a:bodyPr wrap="square" anchor="t" lIns="45720" rIns="45720">
            <a:spAutoFit/>
          </a:bodyPr>
          <a:lstStyle/>
          <a:p>
            <a:r>
              <a:rPr sz="800" b="1" i="0">
                <a:solidFill>
                  <a:srgbClr val="2E2E2E"/>
                </a:solidFill>
                <a:latin typeface="Arial"/>
              </a:rPr>
              <a:t>color-info-bg</a:t>
            </a:r>
          </a:p>
        </p:txBody>
      </p:sp>
      <p:sp>
        <p:nvSpPr>
          <p:cNvPr id="86" name="TextBox 85"/>
          <p:cNvSpPr txBox="1"/>
          <p:nvPr/>
        </p:nvSpPr>
        <p:spPr>
          <a:xfrm>
            <a:off x="6992808" y="4791456"/>
            <a:ext cx="1428162" cy="365760"/>
          </a:xfrm>
          <a:prstGeom prst="rect">
            <a:avLst/>
          </a:prstGeom>
          <a:noFill/>
        </p:spPr>
        <p:txBody>
          <a:bodyPr wrap="square" anchor="t" lIns="45720" rIns="45720">
            <a:spAutoFit/>
          </a:bodyPr>
          <a:lstStyle/>
          <a:p>
            <a:r>
              <a:rPr sz="700" b="0" i="0">
                <a:solidFill>
                  <a:srgbClr val="656565"/>
                </a:solidFill>
                <a:latin typeface="Arial"/>
              </a:rPr>
              <a:t>#EEF3F9 Typography (platform default; the theme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Type scale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a:t>
            </a:r>
          </a:p>
        </p:txBody>
      </p:sp>
      <p:graphicFrame>
        <p:nvGraphicFramePr>
          <p:cNvPr id="9" name="Table 8"/>
          <p:cNvGraphicFramePr>
            <a:graphicFrameLocks noGrp="1"/>
          </p:cNvGraphicFramePr>
          <p:nvPr/>
        </p:nvGraphicFramePr>
        <p:xfrm>
          <a:off x="548640" y="1325880"/>
          <a:ext cx="11094413" cy="2743190"/>
        </p:xfrm>
        <a:graphic>
          <a:graphicData uri="http://schemas.openxmlformats.org/drawingml/2006/table">
            <a:tbl>
              <a:tblPr firstRow="1" bandRow="1">
                <a:tableStyleId>{5C22544A-7EE6-4342-B048-85BDC9FD1C3A}</a:tableStyleId>
              </a:tblPr>
              <a:tblGrid>
                <a:gridCol w="3584349"/>
                <a:gridCol w="2560249"/>
                <a:gridCol w="4949815"/>
              </a:tblGrid>
              <a:tr h="274319">
                <a:tc>
                  <a:txBody>
                    <a:bodyPr/>
                    <a:lstStyle/>
                    <a:p>
                      <a:r>
                        <a:rPr sz="1200" b="1">
                          <a:solidFill>
                            <a:srgbClr val="FFFFFF"/>
                          </a:solidFill>
                          <a:latin typeface="Arial"/>
                        </a:rPr>
                        <a:t>Use</a:t>
                      </a:r>
                    </a:p>
                  </a:txBody>
                  <a:tcPr marL="54864" marR="54864" marT="27432" marB="27432">
                    <a:solidFill>
                      <a:srgbClr val="004EA8"/>
                    </a:solidFill>
                  </a:tcPr>
                </a:tc>
                <a:tc>
                  <a:txBody>
                    <a:bodyPr/>
                    <a:lstStyle/>
                    <a:p>
                      <a:r>
                        <a:rPr sz="1200" b="1">
                          <a:solidFill>
                            <a:srgbClr val="FFFFFF"/>
                          </a:solidFill>
                          <a:latin typeface="Arial"/>
                        </a:rPr>
                        <a:t>Size / line height</a:t>
                      </a:r>
                    </a:p>
                  </a:txBody>
                  <a:tcPr marL="54864" marR="54864" marT="27432" marB="27432">
                    <a:solidFill>
                      <a:srgbClr val="004EA8"/>
                    </a:solidFill>
                  </a:tcPr>
                </a:tc>
                <a:tc>
                  <a:txBody>
                    <a:bodyPr/>
                    <a:lstStyle/>
                    <a:p>
                      <a:r>
                        <a:rPr sz="1200" b="1">
                          <a:solidFill>
                            <a:srgbClr val="FFFFFF"/>
                          </a:solidFill>
                          <a:latin typeface="Arial"/>
                        </a:rPr>
                        <a:t>Weight and colour</a:t>
                      </a:r>
                    </a:p>
                  </a:txBody>
                  <a:tcPr marL="54864" marR="54864" marT="27432" marB="27432">
                    <a:solidFill>
                      <a:srgbClr val="004EA8"/>
                    </a:solidFill>
                  </a:tcPr>
                </a:tc>
              </a:tr>
              <a:tr h="274319">
                <a:tc>
                  <a:txBody>
                    <a:bodyPr/>
                    <a:lstStyle/>
                    <a:p>
                      <a:r>
                        <a:rPr sz="1200" b="0">
                          <a:solidFill>
                            <a:srgbClr val="4B4B4B"/>
                          </a:solidFill>
                          <a:latin typeface="Arial"/>
                        </a:rPr>
                        <a:t>Page title (h1)</a:t>
                      </a:r>
                    </a:p>
                  </a:txBody>
                  <a:tcPr marL="54864" marR="54864" marT="27432" marB="27432">
                    <a:solidFill>
                      <a:srgbClr val="FFFFFF"/>
                    </a:solidFill>
                  </a:tcPr>
                </a:tc>
                <a:tc>
                  <a:txBody>
                    <a:bodyPr/>
                    <a:lstStyle/>
                    <a:p>
                      <a:r>
                        <a:rPr sz="1200" b="0">
                          <a:solidFill>
                            <a:srgbClr val="4B4B4B"/>
                          </a:solidFill>
                          <a:latin typeface="Arial"/>
                        </a:rPr>
                        <a:t>28 / 36</a:t>
                      </a:r>
                    </a:p>
                  </a:txBody>
                  <a:tcPr marL="54864" marR="54864" marT="27432" marB="27432">
                    <a:solidFill>
                      <a:srgbClr val="FFFFFF"/>
                    </a:solidFill>
                  </a:tcPr>
                </a:tc>
                <a:tc>
                  <a:txBody>
                    <a:bodyPr/>
                    <a:lstStyle/>
                    <a:p>
                      <a:r>
                        <a:rPr sz="1200" b="0">
                          <a:solidFill>
                            <a:srgbClr val="4B4B4B"/>
                          </a:solidFill>
                          <a:latin typeface="Arial"/>
                        </a:rPr>
                        <a:t>Bold, Near Black #2E2E2E</a:t>
                      </a:r>
                    </a:p>
                  </a:txBody>
                  <a:tcPr marL="54864" marR="54864" marT="27432" marB="27432">
                    <a:solidFill>
                      <a:srgbClr val="FFFFFF"/>
                    </a:solidFill>
                  </a:tcPr>
                </a:tc>
              </a:tr>
              <a:tr h="274319">
                <a:tc>
                  <a:txBody>
                    <a:bodyPr/>
                    <a:lstStyle/>
                    <a:p>
                      <a:r>
                        <a:rPr sz="1200" b="0">
                          <a:solidFill>
                            <a:srgbClr val="4B4B4B"/>
                          </a:solidFill>
                          <a:latin typeface="Arial"/>
                        </a:rPr>
                        <a:t>Section title</a:t>
                      </a:r>
                    </a:p>
                  </a:txBody>
                  <a:tcPr marL="54864" marR="54864" marT="27432" marB="27432">
                    <a:solidFill>
                      <a:srgbClr val="E5F5FF"/>
                    </a:solidFill>
                  </a:tcPr>
                </a:tc>
                <a:tc>
                  <a:txBody>
                    <a:bodyPr/>
                    <a:lstStyle/>
                    <a:p>
                      <a:r>
                        <a:rPr sz="1200" b="0">
                          <a:solidFill>
                            <a:srgbClr val="4B4B4B"/>
                          </a:solidFill>
                          <a:latin typeface="Arial"/>
                        </a:rPr>
                        <a:t>18 / 28</a:t>
                      </a:r>
                    </a:p>
                  </a:txBody>
                  <a:tcPr marL="54864" marR="54864" marT="27432" marB="27432">
                    <a:solidFill>
                      <a:srgbClr val="E5F5FF"/>
                    </a:solidFill>
                  </a:tcPr>
                </a:tc>
                <a:tc>
                  <a:txBody>
                    <a:bodyPr/>
                    <a:lstStyle/>
                    <a:p>
                      <a:r>
                        <a:rPr sz="1200" b="0">
                          <a:solidFill>
                            <a:srgbClr val="4B4B4B"/>
                          </a:solidFill>
                          <a:latin typeface="Arial"/>
                        </a:rPr>
                        <a:t>Bold, Near Black</a:t>
                      </a:r>
                    </a:p>
                  </a:txBody>
                  <a:tcPr marL="54864" marR="54864" marT="27432" marB="27432">
                    <a:solidFill>
                      <a:srgbClr val="E5F5FF"/>
                    </a:solidFill>
                  </a:tcPr>
                </a:tc>
              </a:tr>
              <a:tr h="274319">
                <a:tc>
                  <a:txBody>
                    <a:bodyPr/>
                    <a:lstStyle/>
                    <a:p>
                      <a:r>
                        <a:rPr sz="1200" b="0">
                          <a:solidFill>
                            <a:srgbClr val="4B4B4B"/>
                          </a:solidFill>
                          <a:latin typeface="Arial"/>
                        </a:rPr>
                        <a:t>Group title</a:t>
                      </a:r>
                    </a:p>
                  </a:txBody>
                  <a:tcPr marL="54864" marR="54864" marT="27432" marB="27432">
                    <a:solidFill>
                      <a:srgbClr val="FFFFFF"/>
                    </a:solidFill>
                  </a:tcPr>
                </a:tc>
                <a:tc>
                  <a:txBody>
                    <a:bodyPr/>
                    <a:lstStyle/>
                    <a:p>
                      <a:r>
                        <a:rPr sz="1200" b="0">
                          <a:solidFill>
                            <a:srgbClr val="4B4B4B"/>
                          </a:solidFill>
                          <a:latin typeface="Arial"/>
                        </a:rPr>
                        <a:t>16 / 24</a:t>
                      </a:r>
                    </a:p>
                  </a:txBody>
                  <a:tcPr marL="54864" marR="54864" marT="27432" marB="27432">
                    <a:solidFill>
                      <a:srgbClr val="FFFFFF"/>
                    </a:solidFill>
                  </a:tcPr>
                </a:tc>
                <a:tc>
                  <a:txBody>
                    <a:bodyPr/>
                    <a:lstStyle/>
                    <a:p>
                      <a:r>
                        <a:rPr sz="1200" b="0">
                          <a:solidFill>
                            <a:srgbClr val="4B4B4B"/>
                          </a:solidFill>
                          <a:latin typeface="Arial"/>
                        </a:rPr>
                        <a:t>Bold, Near Black</a:t>
                      </a:r>
                    </a:p>
                  </a:txBody>
                  <a:tcPr marL="54864" marR="54864" marT="27432" marB="27432">
                    <a:solidFill>
                      <a:srgbClr val="FFFFFF"/>
                    </a:solidFill>
                  </a:tcPr>
                </a:tc>
              </a:tr>
              <a:tr h="274319">
                <a:tc>
                  <a:txBody>
                    <a:bodyPr/>
                    <a:lstStyle/>
                    <a:p>
                      <a:r>
                        <a:rPr sz="1200" b="0">
                          <a:solidFill>
                            <a:srgbClr val="4B4B4B"/>
                          </a:solidFill>
                          <a:latin typeface="Arial"/>
                        </a:rPr>
                        <a:t>Lead paragraph</a:t>
                      </a:r>
                    </a:p>
                  </a:txBody>
                  <a:tcPr marL="54864" marR="54864" marT="27432" marB="27432">
                    <a:solidFill>
                      <a:srgbClr val="E5F5FF"/>
                    </a:solidFill>
                  </a:tcPr>
                </a:tc>
                <a:tc>
                  <a:txBody>
                    <a:bodyPr/>
                    <a:lstStyle/>
                    <a:p>
                      <a:r>
                        <a:rPr sz="1200" b="0">
                          <a:solidFill>
                            <a:srgbClr val="4B4B4B"/>
                          </a:solidFill>
                          <a:latin typeface="Arial"/>
                        </a:rPr>
                        <a:t>18 / 28</a:t>
                      </a:r>
                    </a:p>
                  </a:txBody>
                  <a:tcPr marL="54864" marR="54864" marT="27432" marB="27432">
                    <a:solidFill>
                      <a:srgbClr val="E5F5FF"/>
                    </a:solidFill>
                  </a:tcPr>
                </a:tc>
                <a:tc>
                  <a:txBody>
                    <a:bodyPr/>
                    <a:lstStyle/>
                    <a:p>
                      <a:r>
                        <a:rPr sz="1200" b="0">
                          <a:solidFill>
                            <a:srgbClr val="4B4B4B"/>
                          </a:solidFill>
                          <a:latin typeface="Arial"/>
                        </a:rPr>
                        <a:t>Regular, Dark Grey #4B4B4B</a:t>
                      </a:r>
                    </a:p>
                  </a:txBody>
                  <a:tcPr marL="54864" marR="54864" marT="27432" marB="27432">
                    <a:solidFill>
                      <a:srgbClr val="E5F5FF"/>
                    </a:solidFill>
                  </a:tcPr>
                </a:tc>
              </a:tr>
              <a:tr h="274319">
                <a:tc>
                  <a:txBody>
                    <a:bodyPr/>
                    <a:lstStyle/>
                    <a:p>
                      <a:r>
                        <a:rPr sz="1200" b="0">
                          <a:solidFill>
                            <a:srgbClr val="4B4B4B"/>
                          </a:solidFill>
                          <a:latin typeface="Arial"/>
                        </a:rPr>
                        <a:t>Content</a:t>
                      </a:r>
                    </a:p>
                  </a:txBody>
                  <a:tcPr marL="54864" marR="54864" marT="27432" marB="27432">
                    <a:solidFill>
                      <a:srgbClr val="FFFFFF"/>
                    </a:solidFill>
                  </a:tcPr>
                </a:tc>
                <a:tc>
                  <a:txBody>
                    <a:bodyPr/>
                    <a:lstStyle/>
                    <a:p>
                      <a:r>
                        <a:rPr sz="1200" b="0">
                          <a:solidFill>
                            <a:srgbClr val="4B4B4B"/>
                          </a:solidFill>
                          <a:latin typeface="Arial"/>
                        </a:rPr>
                        <a:t>16 / 24</a:t>
                      </a:r>
                    </a:p>
                  </a:txBody>
                  <a:tcPr marL="54864" marR="54864" marT="27432" marB="27432">
                    <a:solidFill>
                      <a:srgbClr val="FFFFFF"/>
                    </a:solidFill>
                  </a:tcPr>
                </a:tc>
                <a:tc>
                  <a:txBody>
                    <a:bodyPr/>
                    <a:lstStyle/>
                    <a:p>
                      <a:r>
                        <a:rPr sz="1200" b="0">
                          <a:solidFill>
                            <a:srgbClr val="4B4B4B"/>
                          </a:solidFill>
                          <a:latin typeface="Arial"/>
                        </a:rPr>
                        <a:t>Regular, Dark Grey</a:t>
                      </a:r>
                    </a:p>
                  </a:txBody>
                  <a:tcPr marL="54864" marR="54864" marT="27432" marB="27432">
                    <a:solidFill>
                      <a:srgbClr val="FFFFFF"/>
                    </a:solidFill>
                  </a:tcPr>
                </a:tc>
              </a:tr>
              <a:tr h="274319">
                <a:tc>
                  <a:txBody>
                    <a:bodyPr/>
                    <a:lstStyle/>
                    <a:p>
                      <a:r>
                        <a:rPr sz="1200" b="0">
                          <a:solidFill>
                            <a:srgbClr val="4B4B4B"/>
                          </a:solidFill>
                          <a:latin typeface="Arial"/>
                        </a:rPr>
                        <a:t>Application default (tables, forms)</a:t>
                      </a:r>
                    </a:p>
                  </a:txBody>
                  <a:tcPr marL="54864" marR="54864" marT="27432" marB="27432">
                    <a:solidFill>
                      <a:srgbClr val="E5F5FF"/>
                    </a:solidFill>
                  </a:tcPr>
                </a:tc>
                <a:tc>
                  <a:txBody>
                    <a:bodyPr/>
                    <a:lstStyle/>
                    <a:p>
                      <a:r>
                        <a:rPr sz="1200" b="0">
                          <a:solidFill>
                            <a:srgbClr val="4B4B4B"/>
                          </a:solidFill>
                          <a:latin typeface="Arial"/>
                        </a:rPr>
                        <a:t>14 / 20</a:t>
                      </a:r>
                    </a:p>
                  </a:txBody>
                  <a:tcPr marL="54864" marR="54864" marT="27432" marB="27432">
                    <a:solidFill>
                      <a:srgbClr val="E5F5FF"/>
                    </a:solidFill>
                  </a:tcPr>
                </a:tc>
                <a:tc>
                  <a:txBody>
                    <a:bodyPr/>
                    <a:lstStyle/>
                    <a:p>
                      <a:r>
                        <a:rPr sz="1200" b="0">
                          <a:solidFill>
                            <a:srgbClr val="4B4B4B"/>
                          </a:solidFill>
                          <a:latin typeface="Arial"/>
                        </a:rPr>
                        <a:t>Regular, Dark Grey</a:t>
                      </a:r>
                    </a:p>
                  </a:txBody>
                  <a:tcPr marL="54864" marR="54864" marT="27432" marB="27432">
                    <a:solidFill>
                      <a:srgbClr val="E5F5FF"/>
                    </a:solidFill>
                  </a:tcPr>
                </a:tc>
              </a:tr>
              <a:tr h="274319">
                <a:tc>
                  <a:txBody>
                    <a:bodyPr/>
                    <a:lstStyle/>
                    <a:p>
                      <a:r>
                        <a:rPr sz="1200" b="0">
                          <a:solidFill>
                            <a:srgbClr val="4B4B4B"/>
                          </a:solidFill>
                          <a:latin typeface="Arial"/>
                        </a:rPr>
                        <a:t>Fine print, format hints</a:t>
                      </a:r>
                    </a:p>
                  </a:txBody>
                  <a:tcPr marL="54864" marR="54864" marT="27432" marB="27432">
                    <a:solidFill>
                      <a:srgbClr val="FFFFFF"/>
                    </a:solidFill>
                  </a:tcPr>
                </a:tc>
                <a:tc>
                  <a:txBody>
                    <a:bodyPr/>
                    <a:lstStyle/>
                    <a:p>
                      <a:r>
                        <a:rPr sz="1200" b="0">
                          <a:solidFill>
                            <a:srgbClr val="4B4B4B"/>
                          </a:solidFill>
                          <a:latin typeface="Arial"/>
                        </a:rPr>
                        <a:t>12 / 16</a:t>
                      </a:r>
                    </a:p>
                  </a:txBody>
                  <a:tcPr marL="54864" marR="54864" marT="27432" marB="27432">
                    <a:solidFill>
                      <a:srgbClr val="FFFFFF"/>
                    </a:solidFill>
                  </a:tcPr>
                </a:tc>
                <a:tc>
                  <a:txBody>
                    <a:bodyPr/>
                    <a:lstStyle/>
                    <a:p>
                      <a:r>
                        <a:rPr sz="1200" b="0">
                          <a:solidFill>
                            <a:srgbClr val="4B4B4B"/>
                          </a:solidFill>
                          <a:latin typeface="Arial"/>
                        </a:rPr>
                        <a:t>Regular, Base Grey #656565</a:t>
                      </a:r>
                    </a:p>
                  </a:txBody>
                  <a:tcPr marL="54864" marR="54864" marT="27432" marB="27432">
                    <a:solidFill>
                      <a:srgbClr val="FFFFFF"/>
                    </a:solidFill>
                  </a:tcPr>
                </a:tc>
              </a:tr>
              <a:tr h="274319">
                <a:tc>
                  <a:txBody>
                    <a:bodyPr/>
                    <a:lstStyle/>
                    <a:p>
                      <a:r>
                        <a:rPr sz="1200" b="0">
                          <a:solidFill>
                            <a:srgbClr val="4B4B4B"/>
                          </a:solidFill>
                          <a:latin typeface="Arial"/>
                        </a:rPr>
                        <a:t>Buttons</a:t>
                      </a:r>
                    </a:p>
                  </a:txBody>
                  <a:tcPr marL="54864" marR="54864" marT="27432" marB="27432">
                    <a:solidFill>
                      <a:srgbClr val="E5F5FF"/>
                    </a:solidFill>
                  </a:tcPr>
                </a:tc>
                <a:tc>
                  <a:txBody>
                    <a:bodyPr/>
                    <a:lstStyle/>
                    <a:p>
                      <a:r>
                        <a:rPr sz="1200" b="0">
                          <a:solidFill>
                            <a:srgbClr val="4B4B4B"/>
                          </a:solidFill>
                          <a:latin typeface="Arial"/>
                        </a:rPr>
                        <a:t>14, Title Case</a:t>
                      </a:r>
                    </a:p>
                  </a:txBody>
                  <a:tcPr marL="54864" marR="54864" marT="27432" marB="27432">
                    <a:solidFill>
                      <a:srgbClr val="E5F5FF"/>
                    </a:solidFill>
                  </a:tcPr>
                </a:tc>
                <a:tc>
                  <a:txBody>
                    <a:bodyPr/>
                    <a:lstStyle/>
                    <a:p>
                      <a:r>
                        <a:rPr sz="1200" b="0">
                          <a:solidFill>
                            <a:srgbClr val="4B4B4B"/>
                          </a:solidFill>
                          <a:latin typeface="Arial"/>
                        </a:rPr>
                        <a:t>Bold; white on CTA Blue (primary), CTA Blue on white (secondary)</a:t>
                      </a:r>
                    </a:p>
                  </a:txBody>
                  <a:tcPr marL="54864" marR="54864" marT="27432" marB="27432">
                    <a:solidFill>
                      <a:srgbClr val="E5F5FF"/>
                    </a:solidFill>
                  </a:tcPr>
                </a:tc>
              </a:tr>
              <a:tr h="274319">
                <a:tc>
                  <a:txBody>
                    <a:bodyPr/>
                    <a:lstStyle/>
                    <a:p>
                      <a:r>
                        <a:rPr sz="1200" b="0">
                          <a:solidFill>
                            <a:srgbClr val="4B4B4B"/>
                          </a:solidFill>
                          <a:latin typeface="Arial"/>
                        </a:rPr>
                        <a:t>Status pill</a:t>
                      </a:r>
                    </a:p>
                  </a:txBody>
                  <a:tcPr marL="54864" marR="54864" marT="27432" marB="27432">
                    <a:solidFill>
                      <a:srgbClr val="FFFFFF"/>
                    </a:solidFill>
                  </a:tcPr>
                </a:tc>
                <a:tc>
                  <a:txBody>
                    <a:bodyPr/>
                    <a:lstStyle/>
                    <a:p>
                      <a:r>
                        <a:rPr sz="1200" b="0">
                          <a:solidFill>
                            <a:srgbClr val="4B4B4B"/>
                          </a:solidFill>
                          <a:latin typeface="Arial"/>
                        </a:rPr>
                        <a:t>12, bold, centred</a:t>
                      </a:r>
                    </a:p>
                  </a:txBody>
                  <a:tcPr marL="54864" marR="54864" marT="27432" marB="27432">
                    <a:solidFill>
                      <a:srgbClr val="FFFFFF"/>
                    </a:solidFill>
                  </a:tcPr>
                </a:tc>
                <a:tc>
                  <a:txBody>
                    <a:bodyPr/>
                    <a:lstStyle/>
                    <a:p>
                      <a:r>
                        <a:rPr sz="1200" b="0">
                          <a:solidFill>
                            <a:srgbClr val="4B4B4B"/>
                          </a:solidFill>
                          <a:latin typeface="Arial"/>
                        </a:rPr>
                        <a:t>24 px high, 112 to 184 px wide, one colour per state group</a:t>
                      </a:r>
                    </a:p>
                  </a:txBody>
                  <a:tcPr marL="54864" marR="54864" marT="27432" marB="27432">
                    <a:solidFill>
                      <a:srgbClr val="FFFF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Spacing, sizes and radius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a:t>
            </a:r>
          </a:p>
        </p:txBody>
      </p:sp>
      <p:graphicFrame>
        <p:nvGraphicFramePr>
          <p:cNvPr id="9" name="Table 8"/>
          <p:cNvGraphicFramePr>
            <a:graphicFrameLocks noGrp="1"/>
          </p:cNvGraphicFramePr>
          <p:nvPr/>
        </p:nvGraphicFramePr>
        <p:xfrm>
          <a:off x="548640" y="1325880"/>
          <a:ext cx="11094414" cy="4922520"/>
        </p:xfrm>
        <a:graphic>
          <a:graphicData uri="http://schemas.openxmlformats.org/drawingml/2006/table">
            <a:tbl>
              <a:tblPr firstRow="1" bandRow="1">
                <a:tableStyleId>{5C22544A-7EE6-4342-B048-85BDC9FD1C3A}</a:tableStyleId>
              </a:tblPr>
              <a:tblGrid>
                <a:gridCol w="2901616"/>
                <a:gridCol w="1365466"/>
                <a:gridCol w="6827332"/>
              </a:tblGrid>
              <a:tr h="259080">
                <a:tc>
                  <a:txBody>
                    <a:bodyPr/>
                    <a:lstStyle/>
                    <a:p>
                      <a:r>
                        <a:rPr sz="1100" b="1">
                          <a:solidFill>
                            <a:srgbClr val="FFFFFF"/>
                          </a:solidFill>
                          <a:latin typeface="Arial"/>
                        </a:rPr>
                        <a:t>Token</a:t>
                      </a:r>
                    </a:p>
                  </a:txBody>
                  <a:tcPr marL="54864" marR="54864" marT="27432" marB="27432">
                    <a:solidFill>
                      <a:srgbClr val="004EA8"/>
                    </a:solidFill>
                  </a:tcPr>
                </a:tc>
                <a:tc>
                  <a:txBody>
                    <a:bodyPr/>
                    <a:lstStyle/>
                    <a:p>
                      <a:r>
                        <a:rPr sz="1100" b="1">
                          <a:solidFill>
                            <a:srgbClr val="FFFFFF"/>
                          </a:solidFill>
                          <a:latin typeface="Arial"/>
                        </a:rPr>
                        <a:t>Value</a:t>
                      </a:r>
                    </a:p>
                  </a:txBody>
                  <a:tcPr marL="54864" marR="54864" marT="27432" marB="27432">
                    <a:solidFill>
                      <a:srgbClr val="004EA8"/>
                    </a:solidFill>
                  </a:tcPr>
                </a:tc>
                <a:tc>
                  <a:txBody>
                    <a:bodyPr/>
                    <a:lstStyle/>
                    <a:p>
                      <a:r>
                        <a:rPr sz="1100" b="1">
                          <a:solidFill>
                            <a:srgbClr val="FFFFFF"/>
                          </a:solidFill>
                          <a:latin typeface="Arial"/>
                        </a:rPr>
                        <a:t>Use</a:t>
                      </a:r>
                    </a:p>
                  </a:txBody>
                  <a:tcPr marL="54864" marR="54864" marT="27432" marB="27432">
                    <a:solidFill>
                      <a:srgbClr val="004EA8"/>
                    </a:solidFill>
                  </a:tcPr>
                </a:tc>
              </a:tr>
              <a:tr h="259080">
                <a:tc>
                  <a:txBody>
                    <a:bodyPr/>
                    <a:lstStyle/>
                    <a:p>
                      <a:r>
                        <a:rPr sz="1100" b="0">
                          <a:solidFill>
                            <a:srgbClr val="4B4B4B"/>
                          </a:solidFill>
                          <a:latin typeface="Arial"/>
                        </a:rPr>
                        <a:t>radius-sm</a:t>
                      </a:r>
                    </a:p>
                  </a:txBody>
                  <a:tcPr marL="54864" marR="54864" marT="27432" marB="27432">
                    <a:solidFill>
                      <a:srgbClr val="FFFFFF"/>
                    </a:solidFill>
                  </a:tcPr>
                </a:tc>
                <a:tc>
                  <a:txBody>
                    <a:bodyPr/>
                    <a:lstStyle/>
                    <a:p>
                      <a:r>
                        <a:rPr sz="1100" b="0">
                          <a:solidFill>
                            <a:srgbClr val="4B4B4B"/>
                          </a:solidFill>
                          <a:latin typeface="Arial"/>
                        </a:rPr>
                        <a:t>8px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radius-md</a:t>
                      </a:r>
                    </a:p>
                  </a:txBody>
                  <a:tcPr marL="54864" marR="54864" marT="27432" marB="27432">
                    <a:solidFill>
                      <a:srgbClr val="E5F5FF"/>
                    </a:solidFill>
                  </a:tcPr>
                </a:tc>
                <a:tc>
                  <a:txBody>
                    <a:bodyPr/>
                    <a:lstStyle/>
                    <a:p>
                      <a:r>
                        <a:rPr sz="1100" b="0">
                          <a:solidFill>
                            <a:srgbClr val="4B4B4B"/>
                          </a:solidFill>
                          <a:latin typeface="Arial"/>
                        </a:rPr>
                        <a:t>12px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r h="259080">
                <a:tc>
                  <a:txBody>
                    <a:bodyPr/>
                    <a:lstStyle/>
                    <a:p>
                      <a:r>
                        <a:rPr sz="1100" b="0">
                          <a:solidFill>
                            <a:srgbClr val="4B4B4B"/>
                          </a:solidFill>
                          <a:latin typeface="Arial"/>
                        </a:rPr>
                        <a:t>radius-lg</a:t>
                      </a:r>
                    </a:p>
                  </a:txBody>
                  <a:tcPr marL="54864" marR="54864" marT="27432" marB="27432">
                    <a:solidFill>
                      <a:srgbClr val="FFFFFF"/>
                    </a:solidFill>
                  </a:tcPr>
                </a:tc>
                <a:tc>
                  <a:txBody>
                    <a:bodyPr/>
                    <a:lstStyle/>
                    <a:p>
                      <a:r>
                        <a:rPr sz="1100" b="0">
                          <a:solidFill>
                            <a:srgbClr val="4B4B4B"/>
                          </a:solidFill>
                          <a:latin typeface="Arial"/>
                        </a:rPr>
                        <a:t>16px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space-1</a:t>
                      </a:r>
                    </a:p>
                  </a:txBody>
                  <a:tcPr marL="54864" marR="54864" marT="27432" marB="27432">
                    <a:solidFill>
                      <a:srgbClr val="E5F5FF"/>
                    </a:solidFill>
                  </a:tcPr>
                </a:tc>
                <a:tc>
                  <a:txBody>
                    <a:bodyPr/>
                    <a:lstStyle/>
                    <a:p>
                      <a:r>
                        <a:rPr sz="1100" b="0">
                          <a:solidFill>
                            <a:srgbClr val="4B4B4B"/>
                          </a:solidFill>
                          <a:latin typeface="Arial"/>
                        </a:rPr>
                        <a:t>4px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r h="259080">
                <a:tc>
                  <a:txBody>
                    <a:bodyPr/>
                    <a:lstStyle/>
                    <a:p>
                      <a:r>
                        <a:rPr sz="1100" b="0">
                          <a:solidFill>
                            <a:srgbClr val="4B4B4B"/>
                          </a:solidFill>
                          <a:latin typeface="Arial"/>
                        </a:rPr>
                        <a:t>space-2</a:t>
                      </a:r>
                    </a:p>
                  </a:txBody>
                  <a:tcPr marL="54864" marR="54864" marT="27432" marB="27432">
                    <a:solidFill>
                      <a:srgbClr val="FFFFFF"/>
                    </a:solidFill>
                  </a:tcPr>
                </a:tc>
                <a:tc>
                  <a:txBody>
                    <a:bodyPr/>
                    <a:lstStyle/>
                    <a:p>
                      <a:r>
                        <a:rPr sz="1100" b="0">
                          <a:solidFill>
                            <a:srgbClr val="4B4B4B"/>
                          </a:solidFill>
                          <a:latin typeface="Arial"/>
                        </a:rPr>
                        <a:t>8px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space-3</a:t>
                      </a:r>
                    </a:p>
                  </a:txBody>
                  <a:tcPr marL="54864" marR="54864" marT="27432" marB="27432">
                    <a:solidFill>
                      <a:srgbClr val="E5F5FF"/>
                    </a:solidFill>
                  </a:tcPr>
                </a:tc>
                <a:tc>
                  <a:txBody>
                    <a:bodyPr/>
                    <a:lstStyle/>
                    <a:p>
                      <a:r>
                        <a:rPr sz="1100" b="0">
                          <a:solidFill>
                            <a:srgbClr val="4B4B4B"/>
                          </a:solidFill>
                          <a:latin typeface="Arial"/>
                        </a:rPr>
                        <a:t>12px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r h="259080">
                <a:tc>
                  <a:txBody>
                    <a:bodyPr/>
                    <a:lstStyle/>
                    <a:p>
                      <a:r>
                        <a:rPr sz="1100" b="0">
                          <a:solidFill>
                            <a:srgbClr val="4B4B4B"/>
                          </a:solidFill>
                          <a:latin typeface="Arial"/>
                        </a:rPr>
                        <a:t>space-4</a:t>
                      </a:r>
                    </a:p>
                  </a:txBody>
                  <a:tcPr marL="54864" marR="54864" marT="27432" marB="27432">
                    <a:solidFill>
                      <a:srgbClr val="FFFFFF"/>
                    </a:solidFill>
                  </a:tcPr>
                </a:tc>
                <a:tc>
                  <a:txBody>
                    <a:bodyPr/>
                    <a:lstStyle/>
                    <a:p>
                      <a:r>
                        <a:rPr sz="1100" b="0">
                          <a:solidFill>
                            <a:srgbClr val="4B4B4B"/>
                          </a:solidFill>
                          <a:latin typeface="Arial"/>
                        </a:rPr>
                        <a:t>16px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space-5</a:t>
                      </a:r>
                    </a:p>
                  </a:txBody>
                  <a:tcPr marL="54864" marR="54864" marT="27432" marB="27432">
                    <a:solidFill>
                      <a:srgbClr val="E5F5FF"/>
                    </a:solidFill>
                  </a:tcPr>
                </a:tc>
                <a:tc>
                  <a:txBody>
                    <a:bodyPr/>
                    <a:lstStyle/>
                    <a:p>
                      <a:r>
                        <a:rPr sz="1100" b="0">
                          <a:solidFill>
                            <a:srgbClr val="4B4B4B"/>
                          </a:solidFill>
                          <a:latin typeface="Arial"/>
                        </a:rPr>
                        <a:t>24px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r h="259080">
                <a:tc>
                  <a:txBody>
                    <a:bodyPr/>
                    <a:lstStyle/>
                    <a:p>
                      <a:r>
                        <a:rPr sz="1100" b="0">
                          <a:solidFill>
                            <a:srgbClr val="4B4B4B"/>
                          </a:solidFill>
                          <a:latin typeface="Arial"/>
                        </a:rPr>
                        <a:t>space-6</a:t>
                      </a:r>
                    </a:p>
                  </a:txBody>
                  <a:tcPr marL="54864" marR="54864" marT="27432" marB="27432">
                    <a:solidFill>
                      <a:srgbClr val="FFFFFF"/>
                    </a:solidFill>
                  </a:tcPr>
                </a:tc>
                <a:tc>
                  <a:txBody>
                    <a:bodyPr/>
                    <a:lstStyle/>
                    <a:p>
                      <a:r>
                        <a:rPr sz="1100" b="0">
                          <a:solidFill>
                            <a:srgbClr val="4B4B4B"/>
                          </a:solidFill>
                          <a:latin typeface="Arial"/>
                        </a:rPr>
                        <a:t>32px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control-height</a:t>
                      </a:r>
                    </a:p>
                  </a:txBody>
                  <a:tcPr marL="54864" marR="54864" marT="27432" marB="27432">
                    <a:solidFill>
                      <a:srgbClr val="E5F5FF"/>
                    </a:solidFill>
                  </a:tcPr>
                </a:tc>
                <a:tc>
                  <a:txBody>
                    <a:bodyPr/>
                    <a:lstStyle/>
                    <a:p>
                      <a:r>
                        <a:rPr sz="1100" b="0">
                          <a:solidFill>
                            <a:srgbClr val="4B4B4B"/>
                          </a:solidFill>
                          <a:latin typeface="Arial"/>
                        </a:rPr>
                        <a:t>44px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r h="259080">
                <a:tc>
                  <a:txBody>
                    <a:bodyPr/>
                    <a:lstStyle/>
                    <a:p>
                      <a:r>
                        <a:rPr sz="1100" b="0">
                          <a:solidFill>
                            <a:srgbClr val="4B4B4B"/>
                          </a:solidFill>
                          <a:latin typeface="Arial"/>
                        </a:rPr>
                        <a:t>control-height-sm</a:t>
                      </a:r>
                    </a:p>
                  </a:txBody>
                  <a:tcPr marL="54864" marR="54864" marT="27432" marB="27432">
                    <a:solidFill>
                      <a:srgbClr val="FFFFFF"/>
                    </a:solidFill>
                  </a:tcPr>
                </a:tc>
                <a:tc>
                  <a:txBody>
                    <a:bodyPr/>
                    <a:lstStyle/>
                    <a:p>
                      <a:r>
                        <a:rPr sz="1100" b="0">
                          <a:solidFill>
                            <a:srgbClr val="4B4B4B"/>
                          </a:solidFill>
                          <a:latin typeface="Arial"/>
                        </a:rPr>
                        <a:t>32px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header-height</a:t>
                      </a:r>
                    </a:p>
                  </a:txBody>
                  <a:tcPr marL="54864" marR="54864" marT="27432" marB="27432">
                    <a:solidFill>
                      <a:srgbClr val="E5F5FF"/>
                    </a:solidFill>
                  </a:tcPr>
                </a:tc>
                <a:tc>
                  <a:txBody>
                    <a:bodyPr/>
                    <a:lstStyle/>
                    <a:p>
                      <a:r>
                        <a:rPr sz="1100" b="0">
                          <a:solidFill>
                            <a:srgbClr val="4B4B4B"/>
                          </a:solidFill>
                          <a:latin typeface="Arial"/>
                        </a:rPr>
                        <a:t>72px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r h="259080">
                <a:tc>
                  <a:txBody>
                    <a:bodyPr/>
                    <a:lstStyle/>
                    <a:p>
                      <a:r>
                        <a:rPr sz="1100" b="0">
                          <a:solidFill>
                            <a:srgbClr val="4B4B4B"/>
                          </a:solidFill>
                          <a:latin typeface="Arial"/>
                        </a:rPr>
                        <a:t>sidebar-width</a:t>
                      </a:r>
                    </a:p>
                  </a:txBody>
                  <a:tcPr marL="54864" marR="54864" marT="27432" marB="27432">
                    <a:solidFill>
                      <a:srgbClr val="FFFFFF"/>
                    </a:solidFill>
                  </a:tcPr>
                </a:tc>
                <a:tc>
                  <a:txBody>
                    <a:bodyPr/>
                    <a:lstStyle/>
                    <a:p>
                      <a:r>
                        <a:rPr sz="1100" b="0">
                          <a:solidFill>
                            <a:srgbClr val="4B4B4B"/>
                          </a:solidFill>
                          <a:latin typeface="Arial"/>
                        </a:rPr>
                        <a:t>272px</a:t>
                      </a:r>
                    </a:p>
                  </a:txBody>
                  <a:tcPr marL="54864" marR="54864" marT="27432" marB="27432">
                    <a:solidFill>
                      <a:srgbClr val="FFFFFF"/>
                    </a:solidFill>
                  </a:tcPr>
                </a:tc>
                <a:tc>
                  <a:txBody>
                    <a:bodyPr/>
                    <a:lstStyle/>
                    <a:p>
                      <a:r>
                        <a:rPr sz="1100" b="0">
                          <a:solidFill>
                            <a:srgbClr val="4B4B4B"/>
                          </a:solidFill>
                          <a:latin typeface="Arial"/>
                        </a:rPr>
                        <a:t>Status pills and flag chips: one size everywhere</a:t>
                      </a:r>
                    </a:p>
                  </a:txBody>
                  <a:tcPr marL="54864" marR="54864" marT="27432" marB="27432">
                    <a:solidFill>
                      <a:srgbClr val="FFFFFF"/>
                    </a:solidFill>
                  </a:tcPr>
                </a:tc>
              </a:tr>
              <a:tr h="259080">
                <a:tc>
                  <a:txBody>
                    <a:bodyPr/>
                    <a:lstStyle/>
                    <a:p>
                      <a:r>
                        <a:rPr sz="1100" b="0">
                          <a:solidFill>
                            <a:srgbClr val="4B4B4B"/>
                          </a:solidFill>
                          <a:latin typeface="Arial"/>
                        </a:rPr>
                        <a:t>badge-min-width</a:t>
                      </a:r>
                    </a:p>
                  </a:txBody>
                  <a:tcPr marL="54864" marR="54864" marT="27432" marB="27432">
                    <a:solidFill>
                      <a:srgbClr val="E5F5FF"/>
                    </a:solidFill>
                  </a:tcPr>
                </a:tc>
                <a:tc>
                  <a:txBody>
                    <a:bodyPr/>
                    <a:lstStyle/>
                    <a:p>
                      <a:r>
                        <a:rPr sz="1100" b="0">
                          <a:solidFill>
                            <a:srgbClr val="4B4B4B"/>
                          </a:solidFill>
                          <a:latin typeface="Arial"/>
                        </a:rPr>
                        <a:t>112px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r h="259080">
                <a:tc>
                  <a:txBody>
                    <a:bodyPr/>
                    <a:lstStyle/>
                    <a:p>
                      <a:r>
                        <a:rPr sz="1100" b="0">
                          <a:solidFill>
                            <a:srgbClr val="4B4B4B"/>
                          </a:solidFill>
                          <a:latin typeface="Arial"/>
                        </a:rPr>
                        <a:t>badge-max-width</a:t>
                      </a:r>
                    </a:p>
                  </a:txBody>
                  <a:tcPr marL="54864" marR="54864" marT="27432" marB="27432">
                    <a:solidFill>
                      <a:srgbClr val="FFFFFF"/>
                    </a:solidFill>
                  </a:tcPr>
                </a:tc>
                <a:tc>
                  <a:txBody>
                    <a:bodyPr/>
                    <a:lstStyle/>
                    <a:p>
                      <a:r>
                        <a:rPr sz="1100" b="0">
                          <a:solidFill>
                            <a:srgbClr val="4B4B4B"/>
                          </a:solidFill>
                          <a:latin typeface="Arial"/>
                        </a:rPr>
                        <a:t>184px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tag-min-width</a:t>
                      </a:r>
                    </a:p>
                  </a:txBody>
                  <a:tcPr marL="54864" marR="54864" marT="27432" marB="27432">
                    <a:solidFill>
                      <a:srgbClr val="E5F5FF"/>
                    </a:solidFill>
                  </a:tcPr>
                </a:tc>
                <a:tc>
                  <a:txBody>
                    <a:bodyPr/>
                    <a:lstStyle/>
                    <a:p>
                      <a:r>
                        <a:rPr sz="1100" b="0">
                          <a:solidFill>
                            <a:srgbClr val="4B4B4B"/>
                          </a:solidFill>
                          <a:latin typeface="Arial"/>
                        </a:rPr>
                        <a:t>88px</a:t>
                      </a:r>
                    </a:p>
                  </a:txBody>
                  <a:tcPr marL="54864" marR="54864" marT="27432" marB="27432">
                    <a:solidFill>
                      <a:srgbClr val="E5F5FF"/>
                    </a:solidFill>
                  </a:tcPr>
                </a:tc>
                <a:tc>
                  <a:txBody>
                    <a:bodyPr/>
                    <a:lstStyle/>
                    <a:p>
                      <a:r>
                        <a:rPr sz="1100" b="0">
                          <a:solidFill>
                            <a:srgbClr val="4B4B4B"/>
                          </a:solidFill>
                          <a:latin typeface="Arial"/>
                        </a:rPr>
                        <a:t>Fixed width of code and reference columns (ARN, CL, PAY… numbers)</a:t>
                      </a:r>
                    </a:p>
                  </a:txBody>
                  <a:tcPr marL="54864" marR="54864" marT="27432" marB="27432">
                    <a:solidFill>
                      <a:srgbClr val="E5F5FF"/>
                    </a:solidFill>
                  </a:tcPr>
                </a:tc>
              </a:tr>
              <a:tr h="259080">
                <a:tc>
                  <a:txBody>
                    <a:bodyPr/>
                    <a:lstStyle/>
                    <a:p>
                      <a:r>
                        <a:rPr sz="1100" b="0">
                          <a:solidFill>
                            <a:srgbClr val="4B4B4B"/>
                          </a:solidFill>
                          <a:latin typeface="Arial"/>
                        </a:rPr>
                        <a:t>code-col-width</a:t>
                      </a:r>
                    </a:p>
                  </a:txBody>
                  <a:tcPr marL="54864" marR="54864" marT="27432" marB="27432">
                    <a:solidFill>
                      <a:srgbClr val="FFFFFF"/>
                    </a:solidFill>
                  </a:tcPr>
                </a:tc>
                <a:tc>
                  <a:txBody>
                    <a:bodyPr/>
                    <a:lstStyle/>
                    <a:p>
                      <a:r>
                        <a:rPr sz="1100" b="0">
                          <a:solidFill>
                            <a:srgbClr val="4B4B4B"/>
                          </a:solidFill>
                          <a:latin typeface="Arial"/>
                        </a:rPr>
                        <a:t>168px</a:t>
                      </a:r>
                    </a:p>
                  </a:txBody>
                  <a:tcPr marL="54864" marR="54864" marT="27432" marB="27432">
                    <a:solidFill>
                      <a:srgbClr val="FFFFFF"/>
                    </a:solidFill>
                  </a:tcPr>
                </a:tc>
                <a:tc>
                  <a:txBody>
                    <a:bodyPr/>
                    <a:lstStyle/>
                    <a:p>
                      <a:r>
                        <a:rPr sz="1100" b="0">
                          <a:solidFill>
                            <a:srgbClr val="4B4B4B"/>
                          </a:solidFill>
                          <a:latin typeface="Arial"/>
                        </a:rPr>
                        <a:t>Period column: "to 20-Oct-2027" on one line (PeriodCell)</a:t>
                      </a:r>
                    </a:p>
                  </a:txBody>
                  <a:tcPr marL="54864" marR="54864" marT="27432" marB="27432">
                    <a:solidFill>
                      <a:srgbClr val="FFFFFF"/>
                    </a:solidFill>
                  </a:tcPr>
                </a:tc>
              </a:tr>
              <a:tr h="259080">
                <a:tc>
                  <a:txBody>
                    <a:bodyPr/>
                    <a:lstStyle/>
                    <a:p>
                      <a:r>
                        <a:rPr sz="1100" b="0">
                          <a:solidFill>
                            <a:srgbClr val="4B4B4B"/>
                          </a:solidFill>
                          <a:latin typeface="Arial"/>
                        </a:rPr>
                        <a:t>period-col-width</a:t>
                      </a:r>
                    </a:p>
                  </a:txBody>
                  <a:tcPr marL="54864" marR="54864" marT="27432" marB="27432">
                    <a:solidFill>
                      <a:srgbClr val="E5F5FF"/>
                    </a:solidFill>
                  </a:tcPr>
                </a:tc>
                <a:tc>
                  <a:txBody>
                    <a:bodyPr/>
                    <a:lstStyle/>
                    <a:p>
                      <a:r>
                        <a:rPr sz="1100" b="0">
                          <a:solidFill>
                            <a:srgbClr val="4B4B4B"/>
                          </a:solidFill>
                          <a:latin typeface="Arial"/>
                        </a:rPr>
                        <a:t>132px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Spacing, sizes and radius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a:t>
            </a:r>
          </a:p>
        </p:txBody>
      </p:sp>
      <p:graphicFrame>
        <p:nvGraphicFramePr>
          <p:cNvPr id="9" name="Table 8"/>
          <p:cNvGraphicFramePr>
            <a:graphicFrameLocks noGrp="1"/>
          </p:cNvGraphicFramePr>
          <p:nvPr/>
        </p:nvGraphicFramePr>
        <p:xfrm>
          <a:off x="548640" y="1325880"/>
          <a:ext cx="11094414" cy="1036320"/>
        </p:xfrm>
        <a:graphic>
          <a:graphicData uri="http://schemas.openxmlformats.org/drawingml/2006/table">
            <a:tbl>
              <a:tblPr firstRow="1" bandRow="1">
                <a:tableStyleId>{5C22544A-7EE6-4342-B048-85BDC9FD1C3A}</a:tableStyleId>
              </a:tblPr>
              <a:tblGrid>
                <a:gridCol w="2901616"/>
                <a:gridCol w="1365466"/>
                <a:gridCol w="6827332"/>
              </a:tblGrid>
              <a:tr h="259080">
                <a:tc>
                  <a:txBody>
                    <a:bodyPr/>
                    <a:lstStyle/>
                    <a:p>
                      <a:r>
                        <a:rPr sz="1100" b="1">
                          <a:solidFill>
                            <a:srgbClr val="FFFFFF"/>
                          </a:solidFill>
                          <a:latin typeface="Arial"/>
                        </a:rPr>
                        <a:t>Token</a:t>
                      </a:r>
                    </a:p>
                  </a:txBody>
                  <a:tcPr marL="54864" marR="54864" marT="27432" marB="27432">
                    <a:solidFill>
                      <a:srgbClr val="004EA8"/>
                    </a:solidFill>
                  </a:tcPr>
                </a:tc>
                <a:tc>
                  <a:txBody>
                    <a:bodyPr/>
                    <a:lstStyle/>
                    <a:p>
                      <a:r>
                        <a:rPr sz="1100" b="1">
                          <a:solidFill>
                            <a:srgbClr val="FFFFFF"/>
                          </a:solidFill>
                          <a:latin typeface="Arial"/>
                        </a:rPr>
                        <a:t>Value</a:t>
                      </a:r>
                    </a:p>
                  </a:txBody>
                  <a:tcPr marL="54864" marR="54864" marT="27432" marB="27432">
                    <a:solidFill>
                      <a:srgbClr val="004EA8"/>
                    </a:solidFill>
                  </a:tcPr>
                </a:tc>
                <a:tc>
                  <a:txBody>
                    <a:bodyPr/>
                    <a:lstStyle/>
                    <a:p>
                      <a:r>
                        <a:rPr sz="1100" b="1">
                          <a:solidFill>
                            <a:srgbClr val="FFFFFF"/>
                          </a:solidFill>
                          <a:latin typeface="Arial"/>
                        </a:rPr>
                        <a:t>Use</a:t>
                      </a:r>
                    </a:p>
                  </a:txBody>
                  <a:tcPr marL="54864" marR="54864" marT="27432" marB="27432">
                    <a:solidFill>
                      <a:srgbClr val="004EA8"/>
                    </a:solidFill>
                  </a:tcPr>
                </a:tc>
              </a:tr>
              <a:tr h="259080">
                <a:tc>
                  <a:txBody>
                    <a:bodyPr/>
                    <a:lstStyle/>
                    <a:p>
                      <a:r>
                        <a:rPr sz="1100" b="0">
                          <a:solidFill>
                            <a:srgbClr val="4B4B4B"/>
                          </a:solidFill>
                          <a:latin typeface="Arial"/>
                        </a:rPr>
                        <a:t>table-font-size</a:t>
                      </a:r>
                    </a:p>
                  </a:txBody>
                  <a:tcPr marL="54864" marR="54864" marT="27432" marB="27432">
                    <a:solidFill>
                      <a:srgbClr val="FFFFFF"/>
                    </a:solidFill>
                  </a:tcPr>
                </a:tc>
                <a:tc>
                  <a:txBody>
                    <a:bodyPr/>
                    <a:lstStyle/>
                    <a:p>
                      <a:r>
                        <a:rPr sz="1100" b="0">
                          <a:solidFill>
                            <a:srgbClr val="4B4B4B"/>
                          </a:solidFill>
                          <a:latin typeface="Arial"/>
                        </a:rPr>
                        <a:t>14px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table-min-height</a:t>
                      </a:r>
                    </a:p>
                  </a:txBody>
                  <a:tcPr marL="54864" marR="54864" marT="27432" marB="27432">
                    <a:solidFill>
                      <a:srgbClr val="E5F5FF"/>
                    </a:solidFill>
                  </a:tcPr>
                </a:tc>
                <a:tc>
                  <a:txBody>
                    <a:bodyPr/>
                    <a:lstStyle/>
                    <a:p>
                      <a:r>
                        <a:rPr sz="1100" b="0">
                          <a:solidFill>
                            <a:srgbClr val="4B4B4B"/>
                          </a:solidFill>
                          <a:latin typeface="Arial"/>
                        </a:rPr>
                        <a:t>240px</a:t>
                      </a:r>
                    </a:p>
                  </a:txBody>
                  <a:tcPr marL="54864" marR="54864" marT="27432" marB="27432">
                    <a:solidFill>
                      <a:srgbClr val="E5F5FF"/>
                    </a:solidFill>
                  </a:tcPr>
                </a:tc>
                <a:tc>
                  <a:txBody>
                    <a:bodyPr/>
                    <a:lstStyle/>
                    <a:p>
                      <a:r>
                        <a:rPr sz="1100" b="0">
                          <a:solidFill>
                            <a:srgbClr val="4B4B4B"/>
                          </a:solidFill>
                          <a:latin typeface="Arial"/>
                        </a:rPr>
                        <a:t>Label column of definition grids</a:t>
                      </a:r>
                    </a:p>
                  </a:txBody>
                  <a:tcPr marL="54864" marR="54864" marT="27432" marB="27432">
                    <a:solidFill>
                      <a:srgbClr val="E5F5FF"/>
                    </a:solidFill>
                  </a:tcPr>
                </a:tc>
              </a:tr>
              <a:tr h="259080">
                <a:tc>
                  <a:txBody>
                    <a:bodyPr/>
                    <a:lstStyle/>
                    <a:p>
                      <a:r>
                        <a:rPr sz="1100" b="0">
                          <a:solidFill>
                            <a:srgbClr val="4B4B4B"/>
                          </a:solidFill>
                          <a:latin typeface="Arial"/>
                        </a:rPr>
                        <a:t>def-label-width</a:t>
                      </a:r>
                    </a:p>
                  </a:txBody>
                  <a:tcPr marL="54864" marR="54864" marT="27432" marB="27432">
                    <a:solidFill>
                      <a:srgbClr val="FFFFFF"/>
                    </a:solidFill>
                  </a:tcPr>
                </a:tc>
                <a:tc>
                  <a:txBody>
                    <a:bodyPr/>
                    <a:lstStyle/>
                    <a:p>
                      <a:r>
                        <a:rPr sz="1100" b="0">
                          <a:solidFill>
                            <a:srgbClr val="4B4B4B"/>
                          </a:solidFill>
                          <a:latin typeface="Arial"/>
                        </a:rPr>
                        <a:t>168px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Iconography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a:t>
            </a:r>
          </a:p>
        </p:txBody>
      </p:sp>
      <p:sp>
        <p:nvSpPr>
          <p:cNvPr id="9" name="TextBox 8"/>
          <p:cNvSpPr txBox="1"/>
          <p:nvPr/>
        </p:nvSpPr>
        <p:spPr>
          <a:xfrm>
            <a:off x="548640" y="1371600"/>
            <a:ext cx="11094415" cy="4754880"/>
          </a:xfrm>
          <a:prstGeom prst="rect">
            <a:avLst/>
          </a:prstGeom>
          <a:noFill/>
        </p:spPr>
        <p:txBody>
          <a:bodyPr wrap="square">
            <a:spAutoFit/>
          </a:bodyPr>
          <a:lstStyle/>
          <a:p>
            <a:pPr>
              <a:spcAft>
                <a:spcPts val="600"/>
              </a:spcAft>
            </a:pPr>
            <a:r>
              <a:rPr sz="1600">
                <a:solidFill>
                  <a:srgbClr val="004EA8"/>
                </a:solidFill>
                <a:latin typeface="Arial"/>
              </a:rPr>
              <a:t>•  </a:t>
            </a:r>
            <a:r>
              <a:rPr sz="1600">
                <a:solidFill>
                  <a:srgbClr val="4B4B4B"/>
                </a:solidFill>
                <a:latin typeface="Arial"/>
              </a:rPr>
              <a:t>Outline icons in CTA Blue, one stroke weight, at 16, 24, 32 and 48 px (the Lucide outline set as the equivalent of the BDO icon set)</a:t>
            </a:r>
          </a:p>
          <a:p>
            <a:pPr>
              <a:spcAft>
                <a:spcPts val="600"/>
              </a:spcAft>
            </a:pPr>
            <a:r>
              <a:rPr sz="1600">
                <a:solidFill>
                  <a:srgbClr val="004EA8"/>
                </a:solidFill>
                <a:latin typeface="Arial"/>
              </a:rPr>
              <a:t>•  </a:t>
            </a:r>
            <a:r>
              <a:rPr sz="1600">
                <a:solidFill>
                  <a:srgbClr val="4B4B4B"/>
                </a:solidFill>
                <a:latin typeface="Arial"/>
              </a:rPr>
              <a:t>Menu entries: a 20 px icon before the label</a:t>
            </a:r>
          </a:p>
          <a:p>
            <a:pPr>
              <a:spcAft>
                <a:spcPts val="600"/>
              </a:spcAft>
            </a:pPr>
            <a:r>
              <a:rPr sz="1600">
                <a:solidFill>
                  <a:srgbClr val="004EA8"/>
                </a:solidFill>
                <a:latin typeface="Arial"/>
              </a:rPr>
              <a:t>•  </a:t>
            </a:r>
            <a:r>
              <a:rPr sz="1600">
                <a:solidFill>
                  <a:srgbClr val="4B4B4B"/>
                </a:solidFill>
                <a:latin typeface="Arial"/>
              </a:rPr>
              <a:t>Messages: the icon of the kind in its colour (error, warning, information, success)</a:t>
            </a:r>
          </a:p>
          <a:p>
            <a:pPr>
              <a:spcAft>
                <a:spcPts val="600"/>
              </a:spcAft>
            </a:pPr>
            <a:r>
              <a:rPr sz="1600">
                <a:solidFill>
                  <a:srgbClr val="004EA8"/>
                </a:solidFill>
                <a:latin typeface="Arial"/>
              </a:rPr>
              <a:t>•  </a:t>
            </a:r>
            <a:r>
              <a:rPr sz="1600">
                <a:solidFill>
                  <a:srgbClr val="4B4B4B"/>
                </a:solidFill>
                <a:latin typeface="Arial"/>
              </a:rPr>
              <a:t>Actions: an icon only with its label or its tooltip; destructive actions in red, last</a:t>
            </a:r>
          </a:p>
          <a:p>
            <a:pPr>
              <a:spcAft>
                <a:spcPts val="600"/>
              </a:spcAft>
            </a:pPr>
            <a:r>
              <a:rPr sz="1600">
                <a:solidFill>
                  <a:srgbClr val="004EA8"/>
                </a:solidFill>
                <a:latin typeface="Arial"/>
              </a:rPr>
              <a:t>•  </a:t>
            </a:r>
            <a:r>
              <a:rPr sz="1600">
                <a:solidFill>
                  <a:srgbClr val="4B4B4B"/>
                </a:solidFill>
                <a:latin typeface="Arial"/>
              </a:rPr>
              <a:t>Flags and statuses are text chips and pills, never an icon alone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Workflow step bar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a:t>
            </a:r>
          </a:p>
        </p:txBody>
      </p:sp>
      <p:pic>
        <p:nvPicPr>
          <p:cNvPr id="9" name="Picture 8" descr="ux-scr-pm-04-cmp-stepper.png"/>
          <p:cNvPicPr>
            <a:picLocks noChangeAspect="1"/>
          </p:cNvPicPr>
          <p:nvPr/>
        </p:nvPicPr>
        <p:blipFill>
          <a:blip r:embed="rId3"/>
          <a:stretch>
            <a:fillRect/>
          </a:stretch>
        </p:blipFill>
        <p:spPr>
          <a:xfrm>
            <a:off x="548640" y="1261872"/>
            <a:ext cx="7680960" cy="1695531"/>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workflow header of a package request in negotiation</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Passed stages ticked on CTA Blue; the current stage highlighted; the stages ahead grey with their number</a:t>
            </a:r>
          </a:p>
          <a:p>
            <a:pPr>
              <a:spcAft>
                <a:spcPts val="600"/>
              </a:spcAft>
            </a:pPr>
            <a:r>
              <a:rPr sz="1100">
                <a:solidFill>
                  <a:srgbClr val="004EA8"/>
                </a:solidFill>
                <a:latin typeface="Arial"/>
              </a:rPr>
              <a:t>•  </a:t>
            </a:r>
            <a:r>
              <a:rPr sz="1100">
                <a:solidFill>
                  <a:srgbClr val="4B4B4B"/>
                </a:solidFill>
                <a:latin typeface="Arial"/>
              </a:rPr>
              <a:t>Returned or on hold in amber after the stage it came from; rejected, cancelled, voided or not proceeded in red, and the path ends there</a:t>
            </a:r>
          </a:p>
          <a:p>
            <a:pPr>
              <a:spcAft>
                <a:spcPts val="600"/>
              </a:spcAft>
            </a:pPr>
            <a:r>
              <a:rPr sz="1100">
                <a:solidFill>
                  <a:srgbClr val="004EA8"/>
                </a:solidFill>
                <a:latin typeface="Arial"/>
              </a:rPr>
              <a:t>•  </a:t>
            </a:r>
            <a:r>
              <a:rPr sz="1100">
                <a:solidFill>
                  <a:srgbClr val="4B4B4B"/>
                </a:solidFill>
                <a:latin typeface="Arial"/>
              </a:rPr>
              <a:t>The last stage turns green when it is reached</a:t>
            </a:r>
          </a:p>
          <a:p>
            <a:pPr>
              <a:spcAft>
                <a:spcPts val="600"/>
              </a:spcAft>
            </a:pPr>
            <a:r>
              <a:rPr sz="1100">
                <a:solidFill>
                  <a:srgbClr val="004EA8"/>
                </a:solidFill>
                <a:latin typeface="Arial"/>
              </a:rPr>
              <a:t>•  </a:t>
            </a:r>
            <a:r>
              <a:rPr sz="1100">
                <a:solidFill>
                  <a:srgbClr val="4B4B4B"/>
                </a:solidFill>
                <a:latin typeface="Arial"/>
              </a:rPr>
              <a:t>Under a thin rule: Current Stage, Since, Due with the Overdue pill, Assigned To; actions aligned right</a:t>
            </a:r>
          </a:p>
          <a:p>
            <a:pPr>
              <a:spcAft>
                <a:spcPts val="600"/>
              </a:spcAft>
            </a:pPr>
            <a:r>
              <a:rPr sz="1100">
                <a:solidFill>
                  <a:srgbClr val="004EA8"/>
                </a:solidFill>
                <a:latin typeface="Arial"/>
              </a:rPr>
              <a:t>•  </a:t>
            </a:r>
            <a:r>
              <a:rPr sz="1100">
                <a:solidFill>
                  <a:srgbClr val="4B4B4B"/>
                </a:solidFill>
                <a:latin typeface="Arial"/>
              </a:rPr>
              <a:t>Narrow widths keep the first, last and current stage and its neighbours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Notice standard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a:t>
            </a:r>
          </a:p>
        </p:txBody>
      </p:sp>
      <p:pic>
        <p:nvPicPr>
          <p:cNvPr id="9" name="Picture 8" descr="ux-scr-ua-07-cmp-notice.png"/>
          <p:cNvPicPr>
            <a:picLocks noChangeAspect="1"/>
          </p:cNvPicPr>
          <p:nvPr/>
        </p:nvPicPr>
        <p:blipFill>
          <a:blip r:embed="rId3"/>
          <a:stretch>
            <a:fillRect/>
          </a:stretch>
        </p:blipFill>
        <p:spPr>
          <a:xfrm>
            <a:off x="548640" y="1261872"/>
            <a:ext cx="7680960" cy="125292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error notice at the top of a request form submitted with missing fields</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White surface, thin border, 4 px bar and icon in the colour of the kind: red error, amber warning, blue information, green success</a:t>
            </a:r>
          </a:p>
          <a:p>
            <a:pPr>
              <a:spcAft>
                <a:spcPts val="600"/>
              </a:spcAft>
            </a:pPr>
            <a:r>
              <a:rPr sz="1100">
                <a:solidFill>
                  <a:srgbClr val="004EA8"/>
                </a:solidFill>
                <a:latin typeface="Arial"/>
              </a:rPr>
              <a:t>•  </a:t>
            </a:r>
            <a:r>
              <a:rPr sz="1100">
                <a:solidFill>
                  <a:srgbClr val="4B4B4B"/>
                </a:solidFill>
                <a:latin typeface="Arial"/>
              </a:rPr>
              <a:t>A bold short title, then the business message with one bullet per missing item</a:t>
            </a:r>
          </a:p>
          <a:p>
            <a:pPr>
              <a:spcAft>
                <a:spcPts val="600"/>
              </a:spcAft>
            </a:pPr>
            <a:r>
              <a:rPr sz="1100">
                <a:solidFill>
                  <a:srgbClr val="004EA8"/>
                </a:solidFill>
                <a:latin typeface="Arial"/>
              </a:rPr>
              <a:t>•  </a:t>
            </a:r>
            <a:r>
              <a:rPr sz="1100">
                <a:solidFill>
                  <a:srgbClr val="4B4B4B"/>
                </a:solidFill>
                <a:latin typeface="Arial"/>
              </a:rPr>
              <a:t>No codes, references or technical terms; only an unexpected system error offers Retry and a reference behind Details</a:t>
            </a:r>
          </a:p>
          <a:p>
            <a:pPr>
              <a:spcAft>
                <a:spcPts val="600"/>
              </a:spcAft>
            </a:pPr>
            <a:r>
              <a:rPr sz="1100">
                <a:solidFill>
                  <a:srgbClr val="004EA8"/>
                </a:solidFill>
                <a:latin typeface="Arial"/>
              </a:rPr>
              <a:t>•  </a:t>
            </a:r>
            <a:r>
              <a:rPr sz="1100">
                <a:solidFill>
                  <a:srgbClr val="4B4B4B"/>
                </a:solidFill>
                <a:latin typeface="Arial"/>
              </a:rPr>
              <a:t>Field errors stay under their fields; a long form lists them at the top with a link to each field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Data table in a work list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a:t>
            </a:r>
          </a:p>
        </p:txBody>
      </p:sp>
      <p:pic>
        <p:nvPicPr>
          <p:cNvPr id="9" name="Picture 8" descr="ux-scr-pm-02-cmp-table.png"/>
          <p:cNvPicPr>
            <a:picLocks noChangeAspect="1"/>
          </p:cNvPicPr>
          <p:nvPr/>
        </p:nvPicPr>
        <p:blipFill>
          <a:blip r:embed="rId3"/>
          <a:stretch>
            <a:fillRect/>
          </a:stretch>
        </p:blipFill>
        <p:spPr>
          <a:xfrm>
            <a:off x="548640" y="1261872"/>
            <a:ext cx="7680960" cy="2975691"/>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package requests of a stage, with the status tabs, the search and the pager</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Header row in Header Blue with white bold text that stays in view; rows alternate white and Background Blue</a:t>
            </a:r>
          </a:p>
          <a:p>
            <a:pPr>
              <a:spcAft>
                <a:spcPts val="600"/>
              </a:spcAft>
            </a:pPr>
            <a:r>
              <a:rPr sz="1100">
                <a:solidFill>
                  <a:srgbClr val="004EA8"/>
                </a:solidFill>
                <a:latin typeface="Arial"/>
              </a:rPr>
              <a:t>•  </a:t>
            </a:r>
            <a:r>
              <a:rPr sz="1100">
                <a:solidFill>
                  <a:srgbClr val="4B4B4B"/>
                </a:solidFill>
                <a:latin typeface="Arial"/>
              </a:rPr>
              <a:t>A long list scrolls inside its card with the header row in view; the card is as high as its rows, never higher than the window</a:t>
            </a:r>
          </a:p>
          <a:p>
            <a:pPr>
              <a:spcAft>
                <a:spcPts val="600"/>
              </a:spcAft>
            </a:pPr>
            <a:r>
              <a:rPr sz="1100">
                <a:solidFill>
                  <a:srgbClr val="004EA8"/>
                </a:solidFill>
                <a:latin typeface="Arial"/>
              </a:rPr>
              <a:t>•  </a:t>
            </a:r>
            <a:r>
              <a:rPr sz="1100">
                <a:solidFill>
                  <a:srgbClr val="4B4B4B"/>
                </a:solidFill>
                <a:latin typeface="Arial"/>
              </a:rPr>
              <a:t>Text left, amounts right with two decimals, dates dd-MMM-yyyy; codes in a fixed column that never wraps</a:t>
            </a:r>
          </a:p>
          <a:p>
            <a:pPr>
              <a:spcAft>
                <a:spcPts val="600"/>
              </a:spcAft>
            </a:pPr>
            <a:r>
              <a:rPr sz="1100">
                <a:solidFill>
                  <a:srgbClr val="004EA8"/>
                </a:solidFill>
                <a:latin typeface="Arial"/>
              </a:rPr>
              <a:t>•  </a:t>
            </a:r>
            <a:r>
              <a:rPr sz="1100">
                <a:solidFill>
                  <a:srgbClr val="4B4B4B"/>
                </a:solidFill>
                <a:latin typeface="Arial"/>
              </a:rPr>
              <a:t>One value per cell with at most one muted line under it; a dash for an empty value</a:t>
            </a:r>
          </a:p>
          <a:p>
            <a:pPr>
              <a:spcAft>
                <a:spcPts val="600"/>
              </a:spcAft>
            </a:pPr>
            <a:r>
              <a:rPr sz="1100">
                <a:solidFill>
                  <a:srgbClr val="004EA8"/>
                </a:solidFill>
                <a:latin typeface="Arial"/>
              </a:rPr>
              <a:t>•  </a:t>
            </a:r>
            <a:r>
              <a:rPr sz="1100">
                <a:solidFill>
                  <a:srgbClr val="4B4B4B"/>
                </a:solidFill>
                <a:latin typeface="Arial"/>
              </a:rPr>
              <a:t>Showing x to y of n results with the page numbers; Enter on a row opens it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Tree table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a:t>
            </a:r>
          </a:p>
        </p:txBody>
      </p:sp>
      <p:pic>
        <p:nvPicPr>
          <p:cNvPr id="9" name="Picture 8" descr="ux-scr-pm-20-cmp-tree.png"/>
          <p:cNvPicPr>
            <a:picLocks noChangeAspect="1"/>
          </p:cNvPicPr>
          <p:nvPr/>
        </p:nvPicPr>
        <p:blipFill>
          <a:blip r:embed="rId3"/>
          <a:stretch>
            <a:fillRect/>
          </a:stretch>
        </p:blipFill>
        <p:spPr>
          <a:xfrm>
            <a:off x="548640" y="1261872"/>
            <a:ext cx="7680960" cy="4549911"/>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sales organisation with every branch open</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A chevron and one indentation step per level; arrow keys, Home, End and Enter move through the tree</a:t>
            </a:r>
          </a:p>
          <a:p>
            <a:pPr>
              <a:spcAft>
                <a:spcPts val="600"/>
              </a:spcAft>
            </a:pPr>
            <a:r>
              <a:rPr sz="1100">
                <a:solidFill>
                  <a:srgbClr val="004EA8"/>
                </a:solidFill>
                <a:latin typeface="Arial"/>
              </a:rPr>
              <a:t>•  </a:t>
            </a:r>
            <a:r>
              <a:rPr sz="1100">
                <a:solidFill>
                  <a:srgbClr val="4B4B4B"/>
                </a:solidFill>
                <a:latin typeface="Arial"/>
              </a:rPr>
              <a:t>A search that opens the branches that match; Expand All, Collapse All and Show Inactive</a:t>
            </a:r>
          </a:p>
          <a:p>
            <a:pPr>
              <a:spcAft>
                <a:spcPts val="600"/>
              </a:spcAft>
            </a:pPr>
            <a:r>
              <a:rPr sz="1100">
                <a:solidFill>
                  <a:srgbClr val="004EA8"/>
                </a:solidFill>
                <a:latin typeface="Arial"/>
              </a:rPr>
              <a:t>•  </a:t>
            </a:r>
            <a:r>
              <a:rPr sz="1100">
                <a:solidFill>
                  <a:srgbClr val="4B4B4B"/>
                </a:solidFill>
                <a:latin typeface="Arial"/>
              </a:rPr>
              <a:t>A summary line of the units and members shown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Row action menu</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a:t>
            </a:r>
          </a:p>
        </p:txBody>
      </p:sp>
      <p:pic>
        <p:nvPicPr>
          <p:cNvPr id="9" name="Picture 8" descr="scr-pm-20-02-actions.png"/>
          <p:cNvPicPr>
            <a:picLocks noChangeAspect="1"/>
          </p:cNvPicPr>
          <p:nvPr/>
        </p:nvPicPr>
        <p:blipFill>
          <a:blip r:embed="rId3"/>
          <a:stretch>
            <a:fillRect/>
          </a:stretch>
        </p:blipFill>
        <p:spPr>
          <a:xfrm>
            <a:off x="1460310" y="1261872"/>
            <a:ext cx="5857619" cy="473659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actions of a team, opened from the more button of its row</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One more button per row opens the menu</a:t>
            </a:r>
          </a:p>
          <a:p>
            <a:pPr>
              <a:spcAft>
                <a:spcPts val="600"/>
              </a:spcAft>
            </a:pPr>
            <a:r>
              <a:rPr sz="1100">
                <a:solidFill>
                  <a:srgbClr val="004EA8"/>
                </a:solidFill>
                <a:latin typeface="Arial"/>
              </a:rPr>
              <a:t>•  </a:t>
            </a:r>
            <a:r>
              <a:rPr sz="1100">
                <a:solidFill>
                  <a:srgbClr val="4B4B4B"/>
                </a:solidFill>
                <a:latin typeface="Arial"/>
              </a:rPr>
              <a:t>Destructive actions last, in red, after a separator</a:t>
            </a:r>
          </a:p>
          <a:p>
            <a:pPr>
              <a:spcAft>
                <a:spcPts val="600"/>
              </a:spcAft>
            </a:pPr>
            <a:r>
              <a:rPr sz="1100">
                <a:solidFill>
                  <a:srgbClr val="004EA8"/>
                </a:solidFill>
                <a:latin typeface="Arial"/>
              </a:rPr>
              <a:t>•  </a:t>
            </a:r>
            <a:r>
              <a:rPr sz="1100">
                <a:solidFill>
                  <a:srgbClr val="4B4B4B"/>
                </a:solidFill>
                <a:latin typeface="Arial"/>
              </a:rPr>
              <a:t>Each action that changes the record asks for confirmation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Confirmation dialog with reason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a:t>
            </a:r>
          </a:p>
        </p:txBody>
      </p:sp>
      <p:pic>
        <p:nvPicPr>
          <p:cNvPr id="9" name="Picture 8" descr="scr-pm-04-03-return.png"/>
          <p:cNvPicPr>
            <a:picLocks noChangeAspect="1"/>
          </p:cNvPicPr>
          <p:nvPr/>
        </p:nvPicPr>
        <p:blipFill>
          <a:blip r:embed="rId3"/>
          <a:stretch>
            <a:fillRect/>
          </a:stretch>
        </p:blipFill>
        <p:spPr>
          <a:xfrm>
            <a:off x="548640" y="1261872"/>
            <a:ext cx="7680960" cy="4054964"/>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Return to requester with the mandatory reason</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The dialog names the record and the effect of the action</a:t>
            </a:r>
          </a:p>
          <a:p>
            <a:pPr>
              <a:spcAft>
                <a:spcPts val="600"/>
              </a:spcAft>
            </a:pPr>
            <a:r>
              <a:rPr sz="1100">
                <a:solidFill>
                  <a:srgbClr val="004EA8"/>
                </a:solidFill>
                <a:latin typeface="Arial"/>
              </a:rPr>
              <a:t>•  </a:t>
            </a:r>
            <a:r>
              <a:rPr sz="1100">
                <a:solidFill>
                  <a:srgbClr val="4B4B4B"/>
                </a:solidFill>
                <a:latin typeface="Arial"/>
              </a:rPr>
              <a:t>Every reject, return, cancel and void needs a reason from its list before it can be confirmed; the comment is optional</a:t>
            </a:r>
          </a:p>
          <a:p>
            <a:pPr>
              <a:spcAft>
                <a:spcPts val="600"/>
              </a:spcAft>
            </a:pPr>
            <a:r>
              <a:rPr sz="1100">
                <a:solidFill>
                  <a:srgbClr val="004EA8"/>
                </a:solidFill>
                <a:latin typeface="Arial"/>
              </a:rPr>
              <a:t>•  </a:t>
            </a:r>
            <a:r>
              <a:rPr sz="1100">
                <a:solidFill>
                  <a:srgbClr val="4B4B4B"/>
                </a:solidFill>
                <a:latin typeface="Arial"/>
              </a:rPr>
              <a:t>Cancel on the left, the action on the right; a destructive action uses the red button</a:t>
            </a:r>
          </a:p>
          <a:p>
            <a:pPr>
              <a:spcAft>
                <a:spcPts val="600"/>
              </a:spcAft>
            </a:pPr>
            <a:r>
              <a:rPr sz="1100">
                <a:solidFill>
                  <a:srgbClr val="004EA8"/>
                </a:solidFill>
                <a:latin typeface="Arial"/>
              </a:rPr>
              <a:t>•  </a:t>
            </a:r>
            <a:r>
              <a:rPr sz="1100">
                <a:solidFill>
                  <a:srgbClr val="4B4B4B"/>
                </a:solidFill>
                <a:latin typeface="Arial"/>
              </a:rPr>
              <a:t>The reason is kept in the history and sent with the notification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Status pills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a:t>
            </a:r>
          </a:p>
        </p:txBody>
      </p:sp>
      <p:pic>
        <p:nvPicPr>
          <p:cNvPr id="9" name="Picture 8" descr="scr-ua-06-01-list.png"/>
          <p:cNvPicPr>
            <a:picLocks noChangeAspect="1"/>
          </p:cNvPicPr>
          <p:nvPr/>
        </p:nvPicPr>
        <p:blipFill>
          <a:blip r:embed="rId3"/>
          <a:stretch>
            <a:fillRect/>
          </a:stretch>
        </p:blipFill>
        <p:spPr>
          <a:xfrm>
            <a:off x="548640" y="1261872"/>
            <a:ext cx="7680960" cy="468141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Status column of the access requests</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Outlined: a border and text in the colour of the state group on a light tint of it</a:t>
            </a:r>
          </a:p>
          <a:p>
            <a:pPr>
              <a:spcAft>
                <a:spcPts val="600"/>
              </a:spcAft>
            </a:pPr>
            <a:r>
              <a:rPr sz="1100">
                <a:solidFill>
                  <a:srgbClr val="004EA8"/>
                </a:solidFill>
                <a:latin typeface="Arial"/>
              </a:rPr>
              <a:t>•  </a:t>
            </a:r>
            <a:r>
              <a:rPr sz="1100">
                <a:solidFill>
                  <a:srgbClr val="4B4B4B"/>
                </a:solidFill>
                <a:latin typeface="Arial"/>
              </a:rPr>
              <a:t>One size everywhere: 24 px high, 12 px bold, centred, 112 to 184 px wide; a pill never wraps</a:t>
            </a:r>
          </a:p>
          <a:p>
            <a:pPr>
              <a:spcAft>
                <a:spcPts val="600"/>
              </a:spcAft>
            </a:pPr>
            <a:r>
              <a:rPr sz="1100">
                <a:solidFill>
                  <a:srgbClr val="004EA8"/>
                </a:solidFill>
                <a:latin typeface="Arial"/>
              </a:rPr>
              <a:t>•  </a:t>
            </a:r>
            <a:r>
              <a:rPr sz="1100">
                <a:solidFill>
                  <a:srgbClr val="4B4B4B"/>
                </a:solidFill>
                <a:latin typeface="Arial"/>
              </a:rPr>
              <a:t>Green done or approved; yellow waiting for review or approval; blue in process; red exception or rejected; grey draft or inactive</a:t>
            </a:r>
          </a:p>
          <a:p>
            <a:pPr>
              <a:spcAft>
                <a:spcPts val="600"/>
              </a:spcAft>
            </a:pPr>
            <a:r>
              <a:rPr sz="1100">
                <a:solidFill>
                  <a:srgbClr val="004EA8"/>
                </a:solidFill>
                <a:latin typeface="Arial"/>
              </a:rPr>
              <a:t>•  </a:t>
            </a:r>
            <a:r>
              <a:rPr sz="1100">
                <a:solidFill>
                  <a:srgbClr val="4B4B4B"/>
                </a:solidFill>
                <a:latin typeface="Arial"/>
              </a:rPr>
              <a:t>The full label up to 21 characters; a longer label has its agreed short form with the full label in the tooltip</a:t>
            </a:r>
          </a:p>
          <a:p>
            <a:pPr>
              <a:spcAft>
                <a:spcPts val="600"/>
              </a:spcAft>
            </a:pPr>
            <a:r>
              <a:rPr sz="1100">
                <a:solidFill>
                  <a:srgbClr val="004EA8"/>
                </a:solidFill>
                <a:latin typeface="Arial"/>
              </a:rPr>
              <a:t>•  </a:t>
            </a:r>
            <a:r>
              <a:rPr sz="1100">
                <a:solidFill>
                  <a:srgbClr val="4B4B4B"/>
                </a:solidFill>
                <a:latin typeface="Arial"/>
              </a:rPr>
              <a:t>Flags (Generic, Client-specific, Locked, LEGACY) are tags in their own column, never pills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Period cell</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a:t>
            </a:r>
          </a:p>
        </p:txBody>
      </p:sp>
      <p:pic>
        <p:nvPicPr>
          <p:cNvPr id="9" name="Picture 8" descr="scr-pm-10-01-list.png"/>
          <p:cNvPicPr>
            <a:picLocks noChangeAspect="1"/>
          </p:cNvPicPr>
          <p:nvPr/>
        </p:nvPicPr>
        <p:blipFill>
          <a:blip r:embed="rId3"/>
          <a:stretch>
            <a:fillRect/>
          </a:stretch>
        </p:blipFill>
        <p:spPr>
          <a:xfrm>
            <a:off x="548640" y="1261872"/>
            <a:ext cx="7680960" cy="284725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Package terms in the expiry list</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The start date on the first line and "to" the end date on the second, each date kept whole</a:t>
            </a:r>
          </a:p>
          <a:p>
            <a:pPr>
              <a:spcAft>
                <a:spcPts val="600"/>
              </a:spcAft>
            </a:pPr>
            <a:r>
              <a:rPr sz="1100">
                <a:solidFill>
                  <a:srgbClr val="004EA8"/>
                </a:solidFill>
                <a:latin typeface="Arial"/>
              </a:rPr>
              <a:t>•  </a:t>
            </a:r>
            <a:r>
              <a:rPr sz="1100">
                <a:solidFill>
                  <a:srgbClr val="4B4B4B"/>
                </a:solidFill>
                <a:latin typeface="Arial"/>
              </a:rPr>
              <a:t>An open end reads "to open"; in a sentence or a label and value grid the period is one line</a:t>
            </a:r>
          </a:p>
          <a:p>
            <a:pPr>
              <a:spcAft>
                <a:spcPts val="600"/>
              </a:spcAft>
            </a:pPr>
            <a:r>
              <a:rPr sz="1100">
                <a:solidFill>
                  <a:srgbClr val="004EA8"/>
                </a:solidFill>
                <a:latin typeface="Arial"/>
              </a:rPr>
              <a:t>•  </a:t>
            </a:r>
            <a:r>
              <a:rPr sz="1100">
                <a:solidFill>
                  <a:srgbClr val="4B4B4B"/>
                </a:solidFill>
                <a:latin typeface="Arial"/>
              </a:rPr>
              <a:t>The column is at least 132 px wide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Form with its validation summary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a:t>
            </a:r>
          </a:p>
        </p:txBody>
      </p:sp>
      <p:pic>
        <p:nvPicPr>
          <p:cNvPr id="9" name="Picture 8" descr="scr-ua-07-03-error.png"/>
          <p:cNvPicPr>
            <a:picLocks noChangeAspect="1"/>
          </p:cNvPicPr>
          <p:nvPr/>
        </p:nvPicPr>
        <p:blipFill>
          <a:blip r:embed="rId3"/>
          <a:stretch>
            <a:fillRect/>
          </a:stretch>
        </p:blipFill>
        <p:spPr>
          <a:xfrm>
            <a:off x="2973025" y="1261872"/>
            <a:ext cx="2832189" cy="473659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request form after Submit with a short user ID and no justification</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Labels above the fields on one baseline, fields of one height, required fields marked</a:t>
            </a:r>
          </a:p>
          <a:p>
            <a:pPr>
              <a:spcAft>
                <a:spcPts val="600"/>
              </a:spcAft>
            </a:pPr>
            <a:r>
              <a:rPr sz="1100">
                <a:solidFill>
                  <a:srgbClr val="004EA8"/>
                </a:solidFill>
                <a:latin typeface="Arial"/>
              </a:rPr>
              <a:t>•  </a:t>
            </a:r>
            <a:r>
              <a:rPr sz="1100">
                <a:solidFill>
                  <a:srgbClr val="4B4B4B"/>
                </a:solidFill>
                <a:latin typeface="Arial"/>
              </a:rPr>
              <a:t>The error in red under the field with the field outlined; the summary lists every error with a link</a:t>
            </a:r>
          </a:p>
          <a:p>
            <a:pPr>
              <a:spcAft>
                <a:spcPts val="600"/>
              </a:spcAft>
            </a:pPr>
            <a:r>
              <a:rPr sz="1100">
                <a:solidFill>
                  <a:srgbClr val="004EA8"/>
                </a:solidFill>
                <a:latin typeface="Arial"/>
              </a:rPr>
              <a:t>•  </a:t>
            </a:r>
            <a:r>
              <a:rPr sz="1100">
                <a:solidFill>
                  <a:srgbClr val="4B4B4B"/>
                </a:solidFill>
                <a:latin typeface="Arial"/>
              </a:rPr>
              <a:t>The actions at the bottom right: Cancel, then the main action</a:t>
            </a:r>
          </a:p>
          <a:p>
            <a:pPr>
              <a:spcAft>
                <a:spcPts val="600"/>
              </a:spcAft>
            </a:pPr>
            <a:r>
              <a:rPr sz="1100">
                <a:solidFill>
                  <a:srgbClr val="004EA8"/>
                </a:solidFill>
                <a:latin typeface="Arial"/>
              </a:rPr>
              <a:t>•  </a:t>
            </a:r>
            <a:r>
              <a:rPr sz="1100">
                <a:solidFill>
                  <a:srgbClr val="4B4B4B"/>
                </a:solidFill>
                <a:latin typeface="Arial"/>
              </a:rPr>
              <a:t>Only short format hints under a field; other guidance in the tooltip of the label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Upload with the error file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a:t>
            </a:r>
          </a:p>
        </p:txBody>
      </p:sp>
      <p:pic>
        <p:nvPicPr>
          <p:cNvPr id="9" name="Picture 8" descr="scr-ua-09-02-validated.png"/>
          <p:cNvPicPr>
            <a:picLocks noChangeAspect="1"/>
          </p:cNvPicPr>
          <p:nvPr/>
        </p:nvPicPr>
        <p:blipFill>
          <a:blip r:embed="rId3"/>
          <a:stretch>
            <a:fillRect/>
          </a:stretch>
        </p:blipFill>
        <p:spPr>
          <a:xfrm>
            <a:off x="1852440" y="1261872"/>
            <a:ext cx="5073358" cy="473659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A bulk request after the upload, with the check of each row</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Download Template next to the upload; a drop zone with the accepted types and the maximum size</a:t>
            </a:r>
          </a:p>
          <a:p>
            <a:pPr>
              <a:spcAft>
                <a:spcPts val="600"/>
              </a:spcAft>
            </a:pPr>
            <a:r>
              <a:rPr sz="1100">
                <a:solidFill>
                  <a:srgbClr val="004EA8"/>
                </a:solidFill>
                <a:latin typeface="Arial"/>
              </a:rPr>
              <a:t>•  </a:t>
            </a:r>
            <a:r>
              <a:rPr sz="1100">
                <a:solidFill>
                  <a:srgbClr val="4B4B4B"/>
                </a:solidFill>
                <a:latin typeface="Arial"/>
              </a:rPr>
              <a:t>Rows Read, Valid and Rejected with the rows; the rejected rows come back in the error file (the template with an Error column)</a:t>
            </a:r>
          </a:p>
          <a:p>
            <a:pPr>
              <a:spcAft>
                <a:spcPts val="600"/>
              </a:spcAft>
            </a:pPr>
            <a:r>
              <a:rPr sz="1100">
                <a:solidFill>
                  <a:srgbClr val="004EA8"/>
                </a:solidFill>
                <a:latin typeface="Arial"/>
              </a:rPr>
              <a:t>•  </a:t>
            </a:r>
            <a:r>
              <a:rPr sz="1100">
                <a:solidFill>
                  <a:srgbClr val="4B4B4B"/>
                </a:solidFill>
                <a:latin typeface="Arial"/>
              </a:rPr>
              <a:t>Upload Corrected File keeps the link to the first upload; a file uploaded before is refused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Key facts of a record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a:t>
            </a:r>
          </a:p>
        </p:txBody>
      </p:sp>
      <p:pic>
        <p:nvPicPr>
          <p:cNvPr id="9" name="Picture 8" descr="scr-pm-13-06-released.png"/>
          <p:cNvPicPr>
            <a:picLocks noChangeAspect="1"/>
          </p:cNvPicPr>
          <p:nvPr/>
        </p:nvPicPr>
        <p:blipFill>
          <a:blip r:embed="rId3"/>
          <a:stretch>
            <a:fillRect/>
          </a:stretch>
        </p:blipFill>
        <p:spPr>
          <a:xfrm>
            <a:off x="2656948" y="1261872"/>
            <a:ext cx="3464342" cy="473659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released package version with the result of its validation</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Four columns of key facts under the record name, reference chips and status</a:t>
            </a:r>
          </a:p>
          <a:p>
            <a:pPr>
              <a:spcAft>
                <a:spcPts val="600"/>
              </a:spcAft>
            </a:pPr>
            <a:r>
              <a:rPr sz="1100">
                <a:solidFill>
                  <a:srgbClr val="004EA8"/>
                </a:solidFill>
                <a:latin typeface="Arial"/>
              </a:rPr>
              <a:t>•  </a:t>
            </a:r>
            <a:r>
              <a:rPr sz="1100">
                <a:solidFill>
                  <a:srgbClr val="4B4B4B"/>
                </a:solidFill>
                <a:latin typeface="Arial"/>
              </a:rPr>
              <a:t>Outcome facts (result, by, on, figures compared) as facts, never as a sentence</a:t>
            </a:r>
          </a:p>
          <a:p>
            <a:pPr>
              <a:spcAft>
                <a:spcPts val="600"/>
              </a:spcAft>
            </a:pPr>
            <a:r>
              <a:rPr sz="1100">
                <a:solidFill>
                  <a:srgbClr val="004EA8"/>
                </a:solidFill>
                <a:latin typeface="Arial"/>
              </a:rPr>
              <a:t>•  </a:t>
            </a:r>
            <a:r>
              <a:rPr sz="1100">
                <a:solidFill>
                  <a:srgbClr val="4B4B4B"/>
                </a:solidFill>
                <a:latin typeface="Arial"/>
              </a:rPr>
              <a:t>A dash for an empty value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Screen standards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a:t>
            </a:r>
          </a:p>
        </p:txBody>
      </p:sp>
      <p:graphicFrame>
        <p:nvGraphicFramePr>
          <p:cNvPr id="9" name="Table 8"/>
          <p:cNvGraphicFramePr>
            <a:graphicFrameLocks noGrp="1"/>
          </p:cNvGraphicFramePr>
          <p:nvPr/>
        </p:nvGraphicFramePr>
        <p:xfrm>
          <a:off x="548640" y="1325880"/>
          <a:ext cx="11094414" cy="4876800"/>
        </p:xfrm>
        <a:graphic>
          <a:graphicData uri="http://schemas.openxmlformats.org/drawingml/2006/table">
            <a:tbl>
              <a:tblPr firstRow="1" bandRow="1">
                <a:tableStyleId>{5C22544A-7EE6-4342-B048-85BDC9FD1C3A}</a:tableStyleId>
              </a:tblPr>
              <a:tblGrid>
                <a:gridCol w="2048199"/>
                <a:gridCol w="9046215"/>
              </a:tblGrid>
              <a:tr h="243840">
                <a:tc>
                  <a:txBody>
                    <a:bodyPr/>
                    <a:lstStyle/>
                    <a:p>
                      <a:r>
                        <a:rPr sz="1000" b="1">
                          <a:solidFill>
                            <a:srgbClr val="FFFFFF"/>
                          </a:solidFill>
                          <a:latin typeface="Arial"/>
                        </a:rPr>
                        <a:t>Area</a:t>
                      </a:r>
                    </a:p>
                  </a:txBody>
                  <a:tcPr marL="54864" marR="54864" marT="27432" marB="27432">
                    <a:solidFill>
                      <a:srgbClr val="004EA8"/>
                    </a:solidFill>
                  </a:tcPr>
                </a:tc>
                <a:tc>
                  <a:txBody>
                    <a:bodyPr/>
                    <a:lstStyle/>
                    <a:p>
                      <a:r>
                        <a:rPr sz="1000" b="1">
                          <a:solidFill>
                            <a:srgbClr val="FFFFFF"/>
                          </a:solidFill>
                          <a:latin typeface="Arial"/>
                        </a:rPr>
                        <a:t>Standard</a:t>
                      </a:r>
                    </a:p>
                  </a:txBody>
                  <a:tcPr marL="54864" marR="54864" marT="27432" marB="27432">
                    <a:solidFill>
                      <a:srgbClr val="004EA8"/>
                    </a:solidFill>
                  </a:tcPr>
                </a:tc>
              </a:tr>
              <a:tr h="396240">
                <a:tc>
                  <a:txBody>
                    <a:bodyPr/>
                    <a:lstStyle/>
                    <a:p>
                      <a:r>
                        <a:rPr sz="1000" b="1">
                          <a:solidFill>
                            <a:srgbClr val="4B4B4B"/>
                          </a:solidFill>
                          <a:latin typeface="Arial"/>
                        </a:rPr>
                        <a:t>Record pages</a:t>
                      </a:r>
                    </a:p>
                  </a:txBody>
                  <a:tcPr marL="54864" marR="54864" marT="27432" marB="27432">
                    <a:solidFill>
                      <a:srgbClr val="FFFFFF"/>
                    </a:solidFill>
                  </a:tcPr>
                </a:tc>
                <a:tc>
                  <a:txBody>
                    <a:bodyPr/>
                    <a:lstStyle/>
                    <a:p>
                      <a:r>
                        <a:rPr sz="1000" b="0">
                          <a:solidFill>
                            <a:srgbClr val="4B4B4B"/>
                          </a:solidFill>
                          <a:latin typeface="Arial"/>
                        </a:rPr>
                        <a:t>Back arrow and breadcrumb, title, then the record header: name, reference chips, status pill, flags (for example On Hold or Locked by Adjustment on a collection account) and the key facts. Page actions on the right in one order: secondary, primary, and the destructive action last and apart.</a:t>
                      </a:r>
                    </a:p>
                  </a:txBody>
                  <a:tcPr marL="54864" marR="54864" marT="27432" marB="27432">
                    <a:solidFill>
                      <a:srgbClr val="FFFFFF"/>
                    </a:solidFill>
                  </a:tcPr>
                </a:tc>
              </a:tr>
              <a:tr h="701040">
                <a:tc>
                  <a:txBody>
                    <a:bodyPr/>
                    <a:lstStyle/>
                    <a:p>
                      <a:r>
                        <a:rPr sz="1000" b="1">
                          <a:solidFill>
                            <a:srgbClr val="4B4B4B"/>
                          </a:solidFill>
                          <a:latin typeface="Arial"/>
                        </a:rPr>
                        <a:t>Workflow header (step bar)</a:t>
                      </a:r>
                    </a:p>
                  </a:txBody>
                  <a:tcPr marL="54864" marR="54864" marT="27432" marB="27432">
                    <a:solidFill>
                      <a:srgbClr val="E5F5FF"/>
                    </a:solidFill>
                  </a:tcPr>
                </a:tc>
                <a:tc>
                  <a:txBody>
                    <a:bodyPr/>
                    <a:lstStyle/>
                    <a:p>
                      <a:r>
                        <a:rPr sz="1000" b="0">
                          <a:solidFill>
                            <a:srgbClr val="4B4B4B"/>
                          </a:solidFill>
                          <a:latin typeface="Arial"/>
                        </a:rPr>
                        <a:t>Every record with a workflow shows a stepper under the record header: the stages of the main path in their order, passed stages ticked in blue, the current stage highlighted, the stages ahead in grey with their number. A returned stage shows in amber after the stage it came from; the last stage turns green when it is reached. Under the stepper one row gives Current Stage, Since, Due (with the Overdue pill) and Assigned To, with the actions of the stage on the right. The history is a table (Stage, From Stage, Action, By, Date and Time, Remarks, Duration in Stage), newest first.</a:t>
                      </a:r>
                    </a:p>
                  </a:txBody>
                  <a:tcPr marL="54864" marR="54864" marT="27432" marB="27432">
                    <a:solidFill>
                      <a:srgbClr val="E5F5FF"/>
                    </a:solidFill>
                  </a:tcPr>
                </a:tc>
              </a:tr>
              <a:tr h="701040">
                <a:tc>
                  <a:txBody>
                    <a:bodyPr/>
                    <a:lstStyle/>
                    <a:p>
                      <a:r>
                        <a:rPr sz="1000" b="1">
                          <a:solidFill>
                            <a:srgbClr val="4B4B4B"/>
                          </a:solidFill>
                          <a:latin typeface="Arial"/>
                        </a:rPr>
                        <a:t>Messages (notice standard)</a:t>
                      </a:r>
                    </a:p>
                  </a:txBody>
                  <a:tcPr marL="54864" marR="54864" marT="27432" marB="27432">
                    <a:solidFill>
                      <a:srgbClr val="FFFFFF"/>
                    </a:solidFill>
                  </a:tcPr>
                </a:tc>
                <a:tc>
                  <a:txBody>
                    <a:bodyPr/>
                    <a:lstStyle/>
                    <a:p>
                      <a:r>
                        <a:rPr sz="1000" b="0">
                          <a:solidFill>
                            <a:srgbClr val="4B4B4B"/>
                          </a:solidFill>
                          <a:latin typeface="Arial"/>
                        </a:rPr>
                        <a:t>One standard for errors, warnings, information and success: a white notice with a thin bar and an icon in the colour of its kind (red, amber, blue, green), a bold short title, then the business message with one bullet per missing item. No codes, internal references or technical terms in what the user reads. Field errors appear under the field; a long form lists its errors at the top with a link to the first field. Only an unexpected system error offers Retry and a reference for support behind Details. Special instructions are one short information notice.</a:t>
                      </a:r>
                    </a:p>
                  </a:txBody>
                  <a:tcPr marL="54864" marR="54864" marT="27432" marB="27432">
                    <a:solidFill>
                      <a:srgbClr val="FFFFFF"/>
                    </a:solidFill>
                  </a:tcPr>
                </a:tc>
              </a:tr>
              <a:tr h="396240">
                <a:tc>
                  <a:txBody>
                    <a:bodyPr/>
                    <a:lstStyle/>
                    <a:p>
                      <a:r>
                        <a:rPr sz="1000" b="1">
                          <a:solidFill>
                            <a:srgbClr val="4B4B4B"/>
                          </a:solidFill>
                          <a:latin typeface="Arial"/>
                        </a:rPr>
                        <a:t>Tables, not highlight boxes</a:t>
                      </a:r>
                    </a:p>
                  </a:txBody>
                  <a:tcPr marL="54864" marR="54864" marT="27432" marB="27432">
                    <a:solidFill>
                      <a:srgbClr val="E5F5FF"/>
                    </a:solidFill>
                  </a:tcPr>
                </a:tc>
                <a:tc>
                  <a:txBody>
                    <a:bodyPr/>
                    <a:lstStyle/>
                    <a:p>
                      <a:r>
                        <a:rPr sz="1000" b="0">
                          <a:solidFill>
                            <a:srgbClr val="4B4B4B"/>
                          </a:solidFill>
                          <a:latin typeface="Arial"/>
                        </a:rPr>
                        <a:t>Records and lists of records are rows of a titled table (for example the hand-offs of an account: Feed, Reference, Sent, Taken, Status); key data is a label and value grid. A coloured box carries a short message only, never a record.</a:t>
                      </a:r>
                    </a:p>
                  </a:txBody>
                  <a:tcPr marL="54864" marR="54864" marT="27432" marB="27432">
                    <a:solidFill>
                      <a:srgbClr val="E5F5FF"/>
                    </a:solidFill>
                  </a:tcPr>
                </a:tc>
              </a:tr>
              <a:tr h="853440">
                <a:tc>
                  <a:txBody>
                    <a:bodyPr/>
                    <a:lstStyle/>
                    <a:p>
                      <a:r>
                        <a:rPr sz="1000" b="1">
                          <a:solidFill>
                            <a:srgbClr val="4B4B4B"/>
                          </a:solidFill>
                          <a:latin typeface="Arial"/>
                        </a:rPr>
                        <a:t>Tables</a:t>
                      </a:r>
                    </a:p>
                  </a:txBody>
                  <a:tcPr marL="54864" marR="54864" marT="27432" marB="27432">
                    <a:solidFill>
                      <a:srgbClr val="FFFFFF"/>
                    </a:solidFill>
                  </a:tcPr>
                </a:tc>
                <a:tc>
                  <a:txBody>
                    <a:bodyPr/>
                    <a:lstStyle/>
                    <a:p>
                      <a:r>
                        <a:rPr sz="1000" b="0">
                          <a:solidFill>
                            <a:srgbClr val="4B4B4B"/>
                          </a:solidFill>
                          <a:latin typeface="Arial"/>
                        </a:rPr>
                        <a:t>Header row in BDO blue that stays in view; rows alternate white and Background Blue, with a light hover and a stronger blue for the selected row; a list scrolls inside its card, the card as high as its rows and never higher than the window; text left, amounts right, dates in one format; one value per cell with at most one muted line under it; a dash for an empty value; the kind of a mixed list of records in a Type column; a due date on one line, in red with the warning icon once past due; ages and durations in words (for example 3 days); "Showing x to y of n results" with page numbers. A table fits the page: related values share a column (one under the other) rather than scrolling sideways.</a:t>
                      </a:r>
                    </a:p>
                  </a:txBody>
                  <a:tcPr marL="54864" marR="54864" marT="27432" marB="27432">
                    <a:solidFill>
                      <a:srgbClr val="FFFFFF"/>
                    </a:solidFill>
                  </a:tcPr>
                </a:tc>
              </a:tr>
              <a:tr h="396240">
                <a:tc>
                  <a:txBody>
                    <a:bodyPr/>
                    <a:lstStyle/>
                    <a:p>
                      <a:r>
                        <a:rPr sz="1000" b="1">
                          <a:solidFill>
                            <a:srgbClr val="4B4B4B"/>
                          </a:solidFill>
                          <a:latin typeface="Arial"/>
                        </a:rPr>
                        <a:t>Row actions</a:t>
                      </a:r>
                    </a:p>
                  </a:txBody>
                  <a:tcPr marL="54864" marR="54864" marT="27432" marB="27432">
                    <a:solidFill>
                      <a:srgbClr val="E5F5FF"/>
                    </a:solidFill>
                  </a:tcPr>
                </a:tc>
                <a:tc>
                  <a:txBody>
                    <a:bodyPr/>
                    <a:lstStyle/>
                    <a:p>
                      <a:r>
                        <a:rPr sz="1000" b="0">
                          <a:solidFill>
                            <a:srgbClr val="4B4B4B"/>
                          </a:solidFill>
                          <a:latin typeface="Arial"/>
                        </a:rPr>
                        <a:t>The actions on a record of a list are in one row action menu at the end of the row (the three-dot button), never buttons or links in the row; a destructive action is listed last, in red, and asks for confirmation.</a:t>
                      </a:r>
                    </a:p>
                  </a:txBody>
                  <a:tcPr marL="54864" marR="54864" marT="27432" marB="27432">
                    <a:solidFill>
                      <a:srgbClr val="E5F5FF"/>
                    </a:solidFill>
                  </a:tcPr>
                </a:tc>
              </a:tr>
              <a:tr h="548640">
                <a:tc>
                  <a:txBody>
                    <a:bodyPr/>
                    <a:lstStyle/>
                    <a:p>
                      <a:r>
                        <a:rPr sz="1000" b="1">
                          <a:solidFill>
                            <a:srgbClr val="4B4B4B"/>
                          </a:solidFill>
                          <a:latin typeface="Arial"/>
                        </a:rPr>
                        <a:t>Status labels</a:t>
                      </a:r>
                    </a:p>
                  </a:txBody>
                  <a:tcPr marL="54864" marR="54864" marT="27432" marB="27432">
                    <a:solidFill>
                      <a:srgbClr val="FFFFFF"/>
                    </a:solidFill>
                  </a:tcPr>
                </a:tc>
                <a:tc>
                  <a:txBody>
                    <a:bodyPr/>
                    <a:lstStyle/>
                    <a:p>
                      <a:r>
                        <a:rPr sz="1000" b="0">
                          <a:solidFill>
                            <a:srgbClr val="4B4B4B"/>
                          </a:solidFill>
                          <a:latin typeface="Arial"/>
                        </a:rPr>
                        <a:t>Statuses are outlined pills (a border and text in the colour of the state group on a light tint) of one size and never wrap. The full label is shown (for example Pending Authorization, With Outstanding Balance); an agreed short form, with the full label in the tooltip, only for a label longer than 21 characters.</a:t>
                      </a:r>
                    </a:p>
                  </a:txBody>
                  <a:tcPr marL="54864" marR="54864" marT="27432" marB="27432">
                    <a:solidFill>
                      <a:srgbClr val="FFFFFF"/>
                    </a:solidFill>
                  </a:tcPr>
                </a:tc>
              </a:tr>
              <a:tr h="243840">
                <a:tc>
                  <a:txBody>
                    <a:bodyPr/>
                    <a:lstStyle/>
                    <a:p>
                      <a:r>
                        <a:rPr sz="1000" b="1">
                          <a:solidFill>
                            <a:srgbClr val="4B4B4B"/>
                          </a:solidFill>
                          <a:latin typeface="Arial"/>
                        </a:rPr>
                        <a:t>Labels and names</a:t>
                      </a:r>
                    </a:p>
                  </a:txBody>
                  <a:tcPr marL="54864" marR="54864" marT="27432" marB="27432">
                    <a:solidFill>
                      <a:srgbClr val="E5F5FF"/>
                    </a:solidFill>
                  </a:tcPr>
                </a:tc>
                <a:tc>
                  <a:txBody>
                    <a:bodyPr/>
                    <a:lstStyle/>
                    <a:p>
                      <a:r>
                        <a:rPr sz="1000" b="0">
                          <a:solidFill>
                            <a:srgbClr val="4B4B4B"/>
                          </a:solidFill>
                          <a:latin typeface="Arial"/>
                        </a:rPr>
                        <a:t>List values are shown by their label, never by their code; insurers by name; users by their names, never by their user ID.</a:t>
                      </a:r>
                    </a:p>
                  </a:txBody>
                  <a:tcPr marL="54864" marR="54864" marT="27432" marB="27432">
                    <a:solidFill>
                      <a:srgbClr val="E5F5FF"/>
                    </a:solidFill>
                  </a:tcPr>
                </a:tc>
              </a:tr>
              <a:tr h="396240">
                <a:tc>
                  <a:txBody>
                    <a:bodyPr/>
                    <a:lstStyle/>
                    <a:p>
                      <a:r>
                        <a:rPr sz="1000" b="1">
                          <a:solidFill>
                            <a:srgbClr val="4B4B4B"/>
                          </a:solidFill>
                          <a:latin typeface="Arial"/>
                        </a:rPr>
                        <a:t>Dates, amounts and rates</a:t>
                      </a:r>
                    </a:p>
                  </a:txBody>
                  <a:tcPr marL="54864" marR="54864" marT="27432" marB="27432">
                    <a:solidFill>
                      <a:srgbClr val="FFFFFF"/>
                    </a:solidFill>
                  </a:tcPr>
                </a:tc>
                <a:tc>
                  <a:txBody>
                    <a:bodyPr/>
                    <a:lstStyle/>
                    <a:p>
                      <a:r>
                        <a:rPr sz="1000" b="0">
                          <a:solidFill>
                            <a:srgbClr val="4B4B4B"/>
                          </a:solidFill>
                          <a:latin typeface="Arial"/>
                        </a:rPr>
                        <a:t>One date picker; dates entered and shown as dd-MMM-yyyy, times as dd-MMM-yyyy HH:mm (Philippine time). Amounts with two decimals and thousand separators, negatives in brackets, the currency in the column header or before the amount. Rates as percentages with two to four decimals, as keyed.</a:t>
                      </a:r>
                    </a:p>
                  </a:txBody>
                  <a:tcPr marL="54864" marR="54864" marT="27432" marB="27432">
                    <a:solidFill>
                      <a:srgbClr val="FFFFFF"/>
                    </a:solidFill>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Screen standards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a:t>
            </a:r>
          </a:p>
        </p:txBody>
      </p:sp>
      <p:graphicFrame>
        <p:nvGraphicFramePr>
          <p:cNvPr id="9" name="Table 8"/>
          <p:cNvGraphicFramePr>
            <a:graphicFrameLocks noGrp="1"/>
          </p:cNvGraphicFramePr>
          <p:nvPr/>
        </p:nvGraphicFramePr>
        <p:xfrm>
          <a:off x="548640" y="1325880"/>
          <a:ext cx="11094414" cy="2773680"/>
        </p:xfrm>
        <a:graphic>
          <a:graphicData uri="http://schemas.openxmlformats.org/drawingml/2006/table">
            <a:tbl>
              <a:tblPr firstRow="1" bandRow="1">
                <a:tableStyleId>{5C22544A-7EE6-4342-B048-85BDC9FD1C3A}</a:tableStyleId>
              </a:tblPr>
              <a:tblGrid>
                <a:gridCol w="2048199"/>
                <a:gridCol w="9046215"/>
              </a:tblGrid>
              <a:tr h="243840">
                <a:tc>
                  <a:txBody>
                    <a:bodyPr/>
                    <a:lstStyle/>
                    <a:p>
                      <a:r>
                        <a:rPr sz="1000" b="1">
                          <a:solidFill>
                            <a:srgbClr val="FFFFFF"/>
                          </a:solidFill>
                          <a:latin typeface="Arial"/>
                        </a:rPr>
                        <a:t>Area</a:t>
                      </a:r>
                    </a:p>
                  </a:txBody>
                  <a:tcPr marL="54864" marR="54864" marT="27432" marB="27432">
                    <a:solidFill>
                      <a:srgbClr val="004EA8"/>
                    </a:solidFill>
                  </a:tcPr>
                </a:tc>
                <a:tc>
                  <a:txBody>
                    <a:bodyPr/>
                    <a:lstStyle/>
                    <a:p>
                      <a:r>
                        <a:rPr sz="1000" b="1">
                          <a:solidFill>
                            <a:srgbClr val="FFFFFF"/>
                          </a:solidFill>
                          <a:latin typeface="Arial"/>
                        </a:rPr>
                        <a:t>Standard</a:t>
                      </a:r>
                    </a:p>
                  </a:txBody>
                  <a:tcPr marL="54864" marR="54864" marT="27432" marB="27432">
                    <a:solidFill>
                      <a:srgbClr val="004EA8"/>
                    </a:solidFill>
                  </a:tcPr>
                </a:tc>
              </a:tr>
              <a:tr h="396240">
                <a:tc>
                  <a:txBody>
                    <a:bodyPr/>
                    <a:lstStyle/>
                    <a:p>
                      <a:r>
                        <a:rPr sz="1000" b="1">
                          <a:solidFill>
                            <a:srgbClr val="4B4B4B"/>
                          </a:solidFill>
                          <a:latin typeface="Arial"/>
                        </a:rPr>
                        <a:t>Period cell</a:t>
                      </a:r>
                    </a:p>
                  </a:txBody>
                  <a:tcPr marL="54864" marR="54864" marT="27432" marB="27432">
                    <a:solidFill>
                      <a:srgbClr val="FFFFFF"/>
                    </a:solidFill>
                  </a:tcPr>
                </a:tc>
                <a:tc>
                  <a:txBody>
                    <a:bodyPr/>
                    <a:lstStyle/>
                    <a:p>
                      <a:r>
                        <a:rPr sz="1000" b="0">
                          <a:solidFill>
                            <a:srgbClr val="4B4B4B"/>
                          </a:solidFill>
                          <a:latin typeface="Arial"/>
                        </a:rPr>
                        <a:t>A period (coverage, billing cycle, the period of a file) is shown in lists on two lines, the start date and "to" the end date, each date kept whole; an open end reads "to open". In a sentence or a label and value grid it is one line: "01-Sep-2026 to 30-Nov-2026".</a:t>
                      </a:r>
                    </a:p>
                  </a:txBody>
                  <a:tcPr marL="54864" marR="54864" marT="27432" marB="27432">
                    <a:solidFill>
                      <a:srgbClr val="FFFFFF"/>
                    </a:solidFill>
                  </a:tcPr>
                </a:tc>
              </a:tr>
              <a:tr h="396240">
                <a:tc>
                  <a:txBody>
                    <a:bodyPr/>
                    <a:lstStyle/>
                    <a:p>
                      <a:r>
                        <a:rPr sz="1000" b="1">
                          <a:solidFill>
                            <a:srgbClr val="4B4B4B"/>
                          </a:solidFill>
                          <a:latin typeface="Arial"/>
                        </a:rPr>
                        <a:t>Forms</a:t>
                      </a:r>
                    </a:p>
                  </a:txBody>
                  <a:tcPr marL="54864" marR="54864" marT="27432" marB="27432">
                    <a:solidFill>
                      <a:srgbClr val="E5F5FF"/>
                    </a:solidFill>
                  </a:tcPr>
                </a:tc>
                <a:tc>
                  <a:txBody>
                    <a:bodyPr/>
                    <a:lstStyle/>
                    <a:p>
                      <a:r>
                        <a:rPr sz="1000" b="0">
                          <a:solidFill>
                            <a:srgbClr val="4B4B4B"/>
                          </a:solidFill>
                          <a:latin typeface="Arial"/>
                        </a:rPr>
                        <a:t>Labels above the fields, fields of one height on one line, required fields marked, the error under the field, and the actions in one place (Cancel, then the main action). Format hints only; other guidance is in the tooltip of the label.</a:t>
                      </a:r>
                    </a:p>
                  </a:txBody>
                  <a:tcPr marL="54864" marR="54864" marT="27432" marB="27432">
                    <a:solidFill>
                      <a:srgbClr val="E5F5FF"/>
                    </a:solidFill>
                  </a:tcPr>
                </a:tc>
              </a:tr>
              <a:tr h="548640">
                <a:tc>
                  <a:txBody>
                    <a:bodyPr/>
                    <a:lstStyle/>
                    <a:p>
                      <a:r>
                        <a:rPr sz="1000" b="1">
                          <a:solidFill>
                            <a:srgbClr val="4B4B4B"/>
                          </a:solidFill>
                          <a:latin typeface="Arial"/>
                        </a:rPr>
                        <a:t>Uploads</a:t>
                      </a:r>
                    </a:p>
                  </a:txBody>
                  <a:tcPr marL="54864" marR="54864" marT="27432" marB="27432">
                    <a:solidFill>
                      <a:srgbClr val="FFFFFF"/>
                    </a:solidFill>
                  </a:tcPr>
                </a:tc>
                <a:tc>
                  <a:txBody>
                    <a:bodyPr/>
                    <a:lstStyle/>
                    <a:p>
                      <a:r>
                        <a:rPr sz="1000" b="0">
                          <a:solidFill>
                            <a:srgbClr val="4B4B4B"/>
                          </a:solidFill>
                          <a:latin typeface="Arial"/>
                        </a:rPr>
                        <a:t>Download Template next to the upload; a drop zone with the accepted types and maximum size; every row checked before anything is saved; Rows Read, Valid and Rejected with the rows; valid rows are processed and the rejected rows are returned in the error file (the template layout with an Error column and the wrong cells highlighted); Upload Corrected File keeps the link to the first upload; a file uploaded before is refused.</a:t>
                      </a:r>
                    </a:p>
                  </a:txBody>
                  <a:tcPr marL="54864" marR="54864" marT="27432" marB="27432">
                    <a:solidFill>
                      <a:srgbClr val="FFFFFF"/>
                    </a:solidFill>
                  </a:tcPr>
                </a:tc>
              </a:tr>
              <a:tr h="548640">
                <a:tc>
                  <a:txBody>
                    <a:bodyPr/>
                    <a:lstStyle/>
                    <a:p>
                      <a:r>
                        <a:rPr sz="1000" b="1">
                          <a:solidFill>
                            <a:srgbClr val="4B4B4B"/>
                          </a:solidFill>
                          <a:latin typeface="Arial"/>
                        </a:rPr>
                        <a:t>Confirmations and reasons</a:t>
                      </a:r>
                    </a:p>
                  </a:txBody>
                  <a:tcPr marL="54864" marR="54864" marT="27432" marB="27432">
                    <a:solidFill>
                      <a:srgbClr val="E5F5FF"/>
                    </a:solidFill>
                  </a:tcPr>
                </a:tc>
                <a:tc>
                  <a:txBody>
                    <a:bodyPr/>
                    <a:lstStyle/>
                    <a:p>
                      <a:r>
                        <a:rPr sz="1000" b="0">
                          <a:solidFill>
                            <a:srgbClr val="4B4B4B"/>
                          </a:solidFill>
                          <a:latin typeface="Arial"/>
                        </a:rPr>
                        <a:t>Every approve, authorize, post, release, cancel, void or deactivate asks for confirmation in a dialog that names the record and the effect. Every reject, return, cancel and void needs a reason (from its list where there is one) before it can be confirmed. Destructive actions are confirmed with the red button. The reason is kept in the history and sent with the notification.</a:t>
                      </a:r>
                    </a:p>
                  </a:txBody>
                  <a:tcPr marL="54864" marR="54864" marT="27432" marB="27432">
                    <a:solidFill>
                      <a:srgbClr val="E5F5FF"/>
                    </a:solidFill>
                  </a:tcPr>
                </a:tc>
              </a:tr>
              <a:tr h="396240">
                <a:tc>
                  <a:txBody>
                    <a:bodyPr/>
                    <a:lstStyle/>
                    <a:p>
                      <a:r>
                        <a:rPr sz="1000" b="1">
                          <a:solidFill>
                            <a:srgbClr val="4B4B4B"/>
                          </a:solidFill>
                          <a:latin typeface="Arial"/>
                        </a:rPr>
                        <a:t>Notifications</a:t>
                      </a:r>
                    </a:p>
                  </a:txBody>
                  <a:tcPr marL="54864" marR="54864" marT="27432" marB="27432">
                    <a:solidFill>
                      <a:srgbClr val="FFFFFF"/>
                    </a:solidFill>
                  </a:tcPr>
                </a:tc>
                <a:tc>
                  <a:txBody>
                    <a:bodyPr/>
                    <a:lstStyle/>
                    <a:p>
                      <a:r>
                        <a:rPr sz="1000" b="0">
                          <a:solidFill>
                            <a:srgbClr val="4B4B4B"/>
                          </a:solidFill>
                          <a:latin typeface="Arial"/>
                        </a:rPr>
                        <a:t>The bell shows the unread count and opens the panel grouped by day (Today, Yesterday, then the date), each notice with its title, one-line summary, record reference and time; Mark Read, Mark All Read and View All; the Notifications page lists every notice with filters.</a:t>
                      </a:r>
                    </a:p>
                  </a:txBody>
                  <a:tcPr marL="54864" marR="54864" marT="27432" marB="27432">
                    <a:solidFill>
                      <a:srgbClr val="FFFFFF"/>
                    </a:solidFill>
                  </a:tcPr>
                </a:tc>
              </a:tr>
              <a:tr h="243840">
                <a:tc>
                  <a:txBody>
                    <a:bodyPr/>
                    <a:lstStyle/>
                    <a:p>
                      <a:r>
                        <a:rPr sz="1000" b="1">
                          <a:solidFill>
                            <a:srgbClr val="4B4B4B"/>
                          </a:solidFill>
                          <a:latin typeface="Arial"/>
                        </a:rPr>
                        <a:t>Documents</a:t>
                      </a:r>
                    </a:p>
                  </a:txBody>
                  <a:tcPr marL="54864" marR="54864" marT="27432" marB="27432">
                    <a:solidFill>
                      <a:srgbClr val="E5F5FF"/>
                    </a:solidFill>
                  </a:tcPr>
                </a:tc>
                <a:tc>
                  <a:txBody>
                    <a:bodyPr/>
                    <a:lstStyle/>
                    <a:p>
                      <a:r>
                        <a:rPr sz="1000" b="0">
                          <a:solidFill>
                            <a:srgbClr val="4B4B4B"/>
                          </a:solidFill>
                          <a:latin typeface="Arial"/>
                        </a:rPr>
                        <a:t>Generated documents carry the BDO Insure letterhead, the document name and reference, and a business footer with "Confidential" and page x of y.</a:t>
                      </a:r>
                    </a:p>
                  </a:txBody>
                  <a:tcPr marL="54864" marR="54864" marT="27432" marB="27432">
                    <a:solidFill>
                      <a:srgbClr val="E5F5FF"/>
                    </a:solidFill>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Navigation</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The landing page and the full menu of each persona</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BRD-4 Collections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Marketing Account Officer: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1-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NAV-CL-01 The page Marketing Account Officer sees after sign-in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Marketing Account Officer: menu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01.png"/>
          <p:cNvPicPr>
            <a:picLocks noChangeAspect="1"/>
          </p:cNvPicPr>
          <p:nvPr/>
        </p:nvPicPr>
        <p:blipFill>
          <a:blip r:embed="rId3"/>
          <a:stretch>
            <a:fillRect/>
          </a:stretch>
        </p:blipFill>
        <p:spPr>
          <a:xfrm>
            <a:off x="829665" y="1261872"/>
            <a:ext cx="2461641" cy="4702254"/>
          </a:xfrm>
          <a:prstGeom prst="rect">
            <a:avLst/>
          </a:prstGeom>
          <a:ln w="9525">
            <a:solidFill>
              <a:srgbClr val="C2C2C1"/>
            </a:solidFill>
          </a:ln>
        </p:spPr>
      </p:pic>
      <p:pic>
        <p:nvPicPr>
          <p:cNvPr id="11" name="Picture 10" descr="slice-00002.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03.png"/>
          <p:cNvPicPr>
            <a:picLocks noChangeAspect="1"/>
          </p:cNvPicPr>
          <p:nvPr/>
        </p:nvPicPr>
        <p:blipFill>
          <a:blip r:embed="rId5"/>
          <a:stretch>
            <a:fillRect/>
          </a:stretch>
        </p:blipFill>
        <p:spPr>
          <a:xfrm>
            <a:off x="6210147" y="1261872"/>
            <a:ext cx="2461641" cy="4628578"/>
          </a:xfrm>
          <a:prstGeom prst="rect">
            <a:avLst/>
          </a:prstGeom>
          <a:ln w="9525">
            <a:solidFill>
              <a:srgbClr val="C2C2C1"/>
            </a:solidFill>
          </a:ln>
        </p:spPr>
      </p:pic>
      <p:pic>
        <p:nvPicPr>
          <p:cNvPr id="13" name="Picture 12" descr="slice-00004.png"/>
          <p:cNvPicPr>
            <a:picLocks noChangeAspect="1"/>
          </p:cNvPicPr>
          <p:nvPr/>
        </p:nvPicPr>
        <p:blipFill>
          <a:blip r:embed="rId6"/>
          <a:stretch>
            <a:fillRect/>
          </a:stretch>
        </p:blipFill>
        <p:spPr>
          <a:xfrm>
            <a:off x="8900388" y="1261872"/>
            <a:ext cx="2461641" cy="4619910"/>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NAV-CL-01 Every group of the menu open (part 1 of 2)</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Marketing Account Officer: menu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05.png"/>
          <p:cNvPicPr>
            <a:picLocks noChangeAspect="1"/>
          </p:cNvPicPr>
          <p:nvPr/>
        </p:nvPicPr>
        <p:blipFill>
          <a:blip r:embed="rId3"/>
          <a:stretch>
            <a:fillRect/>
          </a:stretch>
        </p:blipFill>
        <p:spPr>
          <a:xfrm>
            <a:off x="2174786" y="1261872"/>
            <a:ext cx="2461641" cy="4732591"/>
          </a:xfrm>
          <a:prstGeom prst="rect">
            <a:avLst/>
          </a:prstGeom>
          <a:ln w="9525">
            <a:solidFill>
              <a:srgbClr val="C2C2C1"/>
            </a:solidFill>
          </a:ln>
        </p:spPr>
      </p:pic>
      <p:pic>
        <p:nvPicPr>
          <p:cNvPr id="11" name="Picture 10" descr="slice-00006.png"/>
          <p:cNvPicPr>
            <a:picLocks noChangeAspect="1"/>
          </p:cNvPicPr>
          <p:nvPr/>
        </p:nvPicPr>
        <p:blipFill>
          <a:blip r:embed="rId4"/>
          <a:stretch>
            <a:fillRect/>
          </a:stretch>
        </p:blipFill>
        <p:spPr>
          <a:xfrm>
            <a:off x="4865027" y="1261872"/>
            <a:ext cx="2461641" cy="4715256"/>
          </a:xfrm>
          <a:prstGeom prst="rect">
            <a:avLst/>
          </a:prstGeom>
          <a:ln w="9525">
            <a:solidFill>
              <a:srgbClr val="C2C2C1"/>
            </a:solidFill>
          </a:ln>
        </p:spPr>
      </p:pic>
      <p:pic>
        <p:nvPicPr>
          <p:cNvPr id="12" name="Picture 11" descr="slice-00007.png"/>
          <p:cNvPicPr>
            <a:picLocks noChangeAspect="1"/>
          </p:cNvPicPr>
          <p:nvPr/>
        </p:nvPicPr>
        <p:blipFill>
          <a:blip r:embed="rId5"/>
          <a:stretch>
            <a:fillRect/>
          </a:stretch>
        </p:blipFill>
        <p:spPr>
          <a:xfrm>
            <a:off x="7555268" y="1261872"/>
            <a:ext cx="2461641" cy="1928574"/>
          </a:xfrm>
          <a:prstGeom prst="rect">
            <a:avLst/>
          </a:prstGeom>
          <a:ln w="9525">
            <a:solidFill>
              <a:srgbClr val="C2C2C1"/>
            </a:solidFill>
          </a:ln>
        </p:spPr>
      </p:pic>
      <p:sp>
        <p:nvSpPr>
          <p:cNvPr id="13" name="TextBox 12"/>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NAV-CL-01 Every group of the menu open (part 2 of 2)</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Marketing Account Officer: menu entries of Collections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a:t>
            </a:r>
          </a:p>
        </p:txBody>
      </p:sp>
      <p:graphicFrame>
        <p:nvGraphicFramePr>
          <p:cNvPr id="9" name="Table 8"/>
          <p:cNvGraphicFramePr>
            <a:graphicFrameLocks noGrp="1"/>
          </p:cNvGraphicFramePr>
          <p:nvPr/>
        </p:nvGraphicFramePr>
        <p:xfrm>
          <a:off x="548640" y="1325880"/>
          <a:ext cx="11094414" cy="284988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Collections Home</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PR Worklist</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Installment Plans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Installments Due</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Promises to Pay</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Escalations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Billing Statements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Unapplied Payments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Requests to Cashiering</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Collections Files</a:t>
                      </a:r>
                    </a:p>
                  </a:txBody>
                  <a:tcPr marL="54864" marR="54864" marT="27432" marB="27432">
                    <a:solidFill>
                      <a:srgbClr val="E5F5FF"/>
                    </a:solidFill>
                  </a:tcPr>
                </a:tc>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Marketing Team Lead: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2-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NAV-CL-02 The page Marketing Team Lead sees after sign-in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Marketing Team Lead: menu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08.png"/>
          <p:cNvPicPr>
            <a:picLocks noChangeAspect="1"/>
          </p:cNvPicPr>
          <p:nvPr/>
        </p:nvPicPr>
        <p:blipFill>
          <a:blip r:embed="rId3"/>
          <a:stretch>
            <a:fillRect/>
          </a:stretch>
        </p:blipFill>
        <p:spPr>
          <a:xfrm>
            <a:off x="829665" y="1261872"/>
            <a:ext cx="2461641" cy="4702254"/>
          </a:xfrm>
          <a:prstGeom prst="rect">
            <a:avLst/>
          </a:prstGeom>
          <a:ln w="9525">
            <a:solidFill>
              <a:srgbClr val="C2C2C1"/>
            </a:solidFill>
          </a:ln>
        </p:spPr>
      </p:pic>
      <p:pic>
        <p:nvPicPr>
          <p:cNvPr id="11" name="Picture 10" descr="slice-00009.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10.png"/>
          <p:cNvPicPr>
            <a:picLocks noChangeAspect="1"/>
          </p:cNvPicPr>
          <p:nvPr/>
        </p:nvPicPr>
        <p:blipFill>
          <a:blip r:embed="rId5"/>
          <a:stretch>
            <a:fillRect/>
          </a:stretch>
        </p:blipFill>
        <p:spPr>
          <a:xfrm>
            <a:off x="6210147" y="1261872"/>
            <a:ext cx="2461641" cy="4628578"/>
          </a:xfrm>
          <a:prstGeom prst="rect">
            <a:avLst/>
          </a:prstGeom>
          <a:ln w="9525">
            <a:solidFill>
              <a:srgbClr val="C2C2C1"/>
            </a:solidFill>
          </a:ln>
        </p:spPr>
      </p:pic>
      <p:pic>
        <p:nvPicPr>
          <p:cNvPr id="13" name="Picture 12" descr="slice-00011.png"/>
          <p:cNvPicPr>
            <a:picLocks noChangeAspect="1"/>
          </p:cNvPicPr>
          <p:nvPr/>
        </p:nvPicPr>
        <p:blipFill>
          <a:blip r:embed="rId6"/>
          <a:stretch>
            <a:fillRect/>
          </a:stretch>
        </p:blipFill>
        <p:spPr>
          <a:xfrm>
            <a:off x="8900388" y="1261872"/>
            <a:ext cx="2461641" cy="473259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NAV-CL-02 Every group of the menu open (part 1 of 2)</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Marketing Team Lead: menu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12.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13.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14.png"/>
          <p:cNvPicPr>
            <a:picLocks noChangeAspect="1"/>
          </p:cNvPicPr>
          <p:nvPr/>
        </p:nvPicPr>
        <p:blipFill>
          <a:blip r:embed="rId5"/>
          <a:stretch>
            <a:fillRect/>
          </a:stretch>
        </p:blipFill>
        <p:spPr>
          <a:xfrm>
            <a:off x="6210147" y="1261872"/>
            <a:ext cx="2461641" cy="4723923"/>
          </a:xfrm>
          <a:prstGeom prst="rect">
            <a:avLst/>
          </a:prstGeom>
          <a:ln w="9525">
            <a:solidFill>
              <a:srgbClr val="C2C2C1"/>
            </a:solidFill>
          </a:ln>
        </p:spPr>
      </p:pic>
      <p:pic>
        <p:nvPicPr>
          <p:cNvPr id="13" name="Picture 12" descr="slice-00015.png"/>
          <p:cNvPicPr>
            <a:picLocks noChangeAspect="1"/>
          </p:cNvPicPr>
          <p:nvPr/>
        </p:nvPicPr>
        <p:blipFill>
          <a:blip r:embed="rId6"/>
          <a:stretch>
            <a:fillRect/>
          </a:stretch>
        </p:blipFill>
        <p:spPr>
          <a:xfrm>
            <a:off x="8900388" y="1261872"/>
            <a:ext cx="2461641" cy="1928574"/>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NAV-CL-02 Every group of the menu open (part 2 of 2)</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Marketing Team Lead: menu entries of Collections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35</a:t>
            </a:r>
          </a:p>
        </p:txBody>
      </p:sp>
      <p:graphicFrame>
        <p:nvGraphicFramePr>
          <p:cNvPr id="9" name="Table 8"/>
          <p:cNvGraphicFramePr>
            <a:graphicFrameLocks noGrp="1"/>
          </p:cNvGraphicFramePr>
          <p:nvPr/>
        </p:nvGraphicFramePr>
        <p:xfrm>
          <a:off x="548640" y="1325880"/>
          <a:ext cx="11094414" cy="336804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Collections Home</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PR Worklist</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Installment Plans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Installments Due</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Promises to Pay</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Escalations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Escalation Rules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Billing Statements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Unapplied Payments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Requests to Cashiering</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Assignments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Collections Files</a:t>
                      </a:r>
                    </a:p>
                  </a:txBody>
                  <a:tcPr marL="54864" marR="54864" marT="27432" marB="27432">
                    <a:solidFill>
                      <a:srgbClr val="E5F5FF"/>
                    </a:solidFill>
                  </a:tcPr>
                </a:tc>
              </a:tr>
            </a:tbl>
          </a:graphicData>
        </a:graphic>
      </p:graphicFrame>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Marketing Handler: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36</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3-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NAV-CL-03 The page Marketing Handler sees after sign-in</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Marketing Handler: menu</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16.png"/>
          <p:cNvPicPr>
            <a:picLocks noChangeAspect="1"/>
          </p:cNvPicPr>
          <p:nvPr/>
        </p:nvPicPr>
        <p:blipFill>
          <a:blip r:embed="rId3"/>
          <a:stretch>
            <a:fillRect/>
          </a:stretch>
        </p:blipFill>
        <p:spPr>
          <a:xfrm>
            <a:off x="829665" y="1261872"/>
            <a:ext cx="2461641" cy="4710922"/>
          </a:xfrm>
          <a:prstGeom prst="rect">
            <a:avLst/>
          </a:prstGeom>
          <a:ln w="9525">
            <a:solidFill>
              <a:srgbClr val="C2C2C1"/>
            </a:solidFill>
          </a:ln>
        </p:spPr>
      </p:pic>
      <p:pic>
        <p:nvPicPr>
          <p:cNvPr id="11" name="Picture 10" descr="slice-00017.png"/>
          <p:cNvPicPr>
            <a:picLocks noChangeAspect="1"/>
          </p:cNvPicPr>
          <p:nvPr/>
        </p:nvPicPr>
        <p:blipFill>
          <a:blip r:embed="rId4"/>
          <a:stretch>
            <a:fillRect/>
          </a:stretch>
        </p:blipFill>
        <p:spPr>
          <a:xfrm>
            <a:off x="3519906" y="1261872"/>
            <a:ext cx="2461641" cy="4602575"/>
          </a:xfrm>
          <a:prstGeom prst="rect">
            <a:avLst/>
          </a:prstGeom>
          <a:ln w="9525">
            <a:solidFill>
              <a:srgbClr val="C2C2C1"/>
            </a:solidFill>
          </a:ln>
        </p:spPr>
      </p:pic>
      <p:pic>
        <p:nvPicPr>
          <p:cNvPr id="12" name="Picture 11" descr="slice-00018.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19.png"/>
          <p:cNvPicPr>
            <a:picLocks noChangeAspect="1"/>
          </p:cNvPicPr>
          <p:nvPr/>
        </p:nvPicPr>
        <p:blipFill>
          <a:blip r:embed="rId6"/>
          <a:stretch>
            <a:fillRect/>
          </a:stretch>
        </p:blipFill>
        <p:spPr>
          <a:xfrm>
            <a:off x="8900388" y="1261872"/>
            <a:ext cx="2461641" cy="2630662"/>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NAV-CL-03 Every group of the menu open</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Marketing Handler: menu entries of Collections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38</a:t>
            </a:r>
          </a:p>
        </p:txBody>
      </p:sp>
      <p:graphicFrame>
        <p:nvGraphicFramePr>
          <p:cNvPr id="9" name="Table 8"/>
          <p:cNvGraphicFramePr>
            <a:graphicFrameLocks noGrp="1"/>
          </p:cNvGraphicFramePr>
          <p:nvPr/>
        </p:nvGraphicFramePr>
        <p:xfrm>
          <a:off x="548640" y="1325880"/>
          <a:ext cx="11094414" cy="284988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Collections Home</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PR Worklist</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Installment Plans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Installments Due</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Promises to Pay</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Escalations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Billing Statements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Unapplied Payments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Requests to Cashiering</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Collections Files</a:t>
                      </a:r>
                    </a:p>
                  </a:txBody>
                  <a:tcPr marL="54864" marR="54864" marT="27432" marB="27432">
                    <a:solidFill>
                      <a:srgbClr val="E5F5FF"/>
                    </a:solidFill>
                  </a:tcPr>
                </a:tc>
              </a:tr>
            </a:tbl>
          </a:graphicData>
        </a:graphic>
      </p:graphicFrame>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Collection Handler: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39</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4-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NAV-CL-04 The page Collection Handler sees after sign-in</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Collection Handler: menu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20.png"/>
          <p:cNvPicPr>
            <a:picLocks noChangeAspect="1"/>
          </p:cNvPicPr>
          <p:nvPr/>
        </p:nvPicPr>
        <p:blipFill>
          <a:blip r:embed="rId3"/>
          <a:stretch>
            <a:fillRect/>
          </a:stretch>
        </p:blipFill>
        <p:spPr>
          <a:xfrm>
            <a:off x="829665" y="1261872"/>
            <a:ext cx="2461641" cy="4710922"/>
          </a:xfrm>
          <a:prstGeom prst="rect">
            <a:avLst/>
          </a:prstGeom>
          <a:ln w="9525">
            <a:solidFill>
              <a:srgbClr val="C2C2C1"/>
            </a:solidFill>
          </a:ln>
        </p:spPr>
      </p:pic>
      <p:pic>
        <p:nvPicPr>
          <p:cNvPr id="11" name="Picture 10" descr="slice-00021.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22.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23.png"/>
          <p:cNvPicPr>
            <a:picLocks noChangeAspect="1"/>
          </p:cNvPicPr>
          <p:nvPr/>
        </p:nvPicPr>
        <p:blipFill>
          <a:blip r:embed="rId6"/>
          <a:stretch>
            <a:fillRect/>
          </a:stretch>
        </p:blipFill>
        <p:spPr>
          <a:xfrm>
            <a:off x="8900388" y="1261872"/>
            <a:ext cx="2461641" cy="4663249"/>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NAV-CL-04 Every group of the menu open (part 1 of 2)</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Collection Handler: menu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24.png"/>
          <p:cNvPicPr>
            <a:picLocks noChangeAspect="1"/>
          </p:cNvPicPr>
          <p:nvPr/>
        </p:nvPicPr>
        <p:blipFill>
          <a:blip r:embed="rId3"/>
          <a:stretch>
            <a:fillRect/>
          </a:stretch>
        </p:blipFill>
        <p:spPr>
          <a:xfrm>
            <a:off x="4865027" y="1261872"/>
            <a:ext cx="2461641" cy="262199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NAV-CL-04 Every group of the menu open (part 2 of 2)</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Collection Handler: menu entries of Collections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42</a:t>
            </a:r>
          </a:p>
        </p:txBody>
      </p:sp>
      <p:graphicFrame>
        <p:nvGraphicFramePr>
          <p:cNvPr id="9" name="Table 8"/>
          <p:cNvGraphicFramePr>
            <a:graphicFrameLocks noGrp="1"/>
          </p:cNvGraphicFramePr>
          <p:nvPr/>
        </p:nvGraphicFramePr>
        <p:xfrm>
          <a:off x="548640" y="1325880"/>
          <a:ext cx="11094414" cy="284988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Collections Home</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PR Worklist</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Installment Plans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Installments Due</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Promises to Pay</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Escalations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Billing Statements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Unapplied Payments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Requests to Cashiering</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Collections Files</a:t>
                      </a:r>
                    </a:p>
                  </a:txBody>
                  <a:tcPr marL="54864" marR="54864" marT="27432" marB="27432">
                    <a:solidFill>
                      <a:srgbClr val="E5F5FF"/>
                    </a:solidFill>
                  </a:tcPr>
                </a:tc>
              </a:tr>
            </a:tbl>
          </a:graphicData>
        </a:graphic>
      </p:graphicFrame>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Collection Team Lead: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43</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5-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NAV-CL-05 The page Collection Team Lead sees after sign-in</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Collection Team Lead: menu</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25.png"/>
          <p:cNvPicPr>
            <a:picLocks noChangeAspect="1"/>
          </p:cNvPicPr>
          <p:nvPr/>
        </p:nvPicPr>
        <p:blipFill>
          <a:blip r:embed="rId3"/>
          <a:stretch>
            <a:fillRect/>
          </a:stretch>
        </p:blipFill>
        <p:spPr>
          <a:xfrm>
            <a:off x="829665" y="1261872"/>
            <a:ext cx="2461641" cy="4710922"/>
          </a:xfrm>
          <a:prstGeom prst="rect">
            <a:avLst/>
          </a:prstGeom>
          <a:ln w="9525">
            <a:solidFill>
              <a:srgbClr val="C2C2C1"/>
            </a:solidFill>
          </a:ln>
        </p:spPr>
      </p:pic>
      <p:pic>
        <p:nvPicPr>
          <p:cNvPr id="11" name="Picture 10" descr="slice-00026.png"/>
          <p:cNvPicPr>
            <a:picLocks noChangeAspect="1"/>
          </p:cNvPicPr>
          <p:nvPr/>
        </p:nvPicPr>
        <p:blipFill>
          <a:blip r:embed="rId4"/>
          <a:stretch>
            <a:fillRect/>
          </a:stretch>
        </p:blipFill>
        <p:spPr>
          <a:xfrm>
            <a:off x="3519906" y="1261872"/>
            <a:ext cx="2461641" cy="4602575"/>
          </a:xfrm>
          <a:prstGeom prst="rect">
            <a:avLst/>
          </a:prstGeom>
          <a:ln w="9525">
            <a:solidFill>
              <a:srgbClr val="C2C2C1"/>
            </a:solidFill>
          </a:ln>
        </p:spPr>
      </p:pic>
      <p:pic>
        <p:nvPicPr>
          <p:cNvPr id="12" name="Picture 11" descr="slice-00027.png"/>
          <p:cNvPicPr>
            <a:picLocks noChangeAspect="1"/>
          </p:cNvPicPr>
          <p:nvPr/>
        </p:nvPicPr>
        <p:blipFill>
          <a:blip r:embed="rId5"/>
          <a:stretch>
            <a:fillRect/>
          </a:stretch>
        </p:blipFill>
        <p:spPr>
          <a:xfrm>
            <a:off x="6210147" y="1261872"/>
            <a:ext cx="2461641" cy="4611243"/>
          </a:xfrm>
          <a:prstGeom prst="rect">
            <a:avLst/>
          </a:prstGeom>
          <a:ln w="9525">
            <a:solidFill>
              <a:srgbClr val="C2C2C1"/>
            </a:solidFill>
          </a:ln>
        </p:spPr>
      </p:pic>
      <p:pic>
        <p:nvPicPr>
          <p:cNvPr id="13" name="Picture 12" descr="slice-00028.png"/>
          <p:cNvPicPr>
            <a:picLocks noChangeAspect="1"/>
          </p:cNvPicPr>
          <p:nvPr/>
        </p:nvPicPr>
        <p:blipFill>
          <a:blip r:embed="rId6"/>
          <a:stretch>
            <a:fillRect/>
          </a:stretch>
        </p:blipFill>
        <p:spPr>
          <a:xfrm>
            <a:off x="8900388" y="1261872"/>
            <a:ext cx="2461641" cy="3445430"/>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NAV-CL-05 Every group of the menu open</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Collection Team Lead: menu entries of Collections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45</a:t>
            </a:r>
          </a:p>
        </p:txBody>
      </p:sp>
      <p:graphicFrame>
        <p:nvGraphicFramePr>
          <p:cNvPr id="9" name="Table 8"/>
          <p:cNvGraphicFramePr>
            <a:graphicFrameLocks noGrp="1"/>
          </p:cNvGraphicFramePr>
          <p:nvPr/>
        </p:nvGraphicFramePr>
        <p:xfrm>
          <a:off x="548640" y="1325880"/>
          <a:ext cx="11094414" cy="336804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Collections Home</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PR Worklist</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Installment Plans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Installments Due</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Promises to Pay</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Escalations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Escalation Rules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Billing Statements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Unapplied Payments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Requests to Cashiering</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Assignments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Collections Files</a:t>
                      </a:r>
                    </a:p>
                  </a:txBody>
                  <a:tcPr marL="54864" marR="54864" marT="27432" marB="27432">
                    <a:solidFill>
                      <a:srgbClr val="E5F5FF"/>
                    </a:solidFill>
                  </a:tcPr>
                </a:tc>
              </a:tr>
            </a:tbl>
          </a:graphicData>
        </a:graphic>
      </p:graphicFrame>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Section Head (Corporate / Retail):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46</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6-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NAV-CL-06 The page Section Head (Corporate / Retail) sees after sign-in</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Section Head (Corporate / Retail): menu</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29.png"/>
          <p:cNvPicPr>
            <a:picLocks noChangeAspect="1"/>
          </p:cNvPicPr>
          <p:nvPr/>
        </p:nvPicPr>
        <p:blipFill>
          <a:blip r:embed="rId3"/>
          <a:stretch>
            <a:fillRect/>
          </a:stretch>
        </p:blipFill>
        <p:spPr>
          <a:xfrm>
            <a:off x="829665" y="1261872"/>
            <a:ext cx="2461641" cy="4710922"/>
          </a:xfrm>
          <a:prstGeom prst="rect">
            <a:avLst/>
          </a:prstGeom>
          <a:ln w="9525">
            <a:solidFill>
              <a:srgbClr val="C2C2C1"/>
            </a:solidFill>
          </a:ln>
        </p:spPr>
      </p:pic>
      <p:pic>
        <p:nvPicPr>
          <p:cNvPr id="11" name="Picture 10" descr="slice-00030.png"/>
          <p:cNvPicPr>
            <a:picLocks noChangeAspect="1"/>
          </p:cNvPicPr>
          <p:nvPr/>
        </p:nvPicPr>
        <p:blipFill>
          <a:blip r:embed="rId4"/>
          <a:stretch>
            <a:fillRect/>
          </a:stretch>
        </p:blipFill>
        <p:spPr>
          <a:xfrm>
            <a:off x="3519906" y="1261872"/>
            <a:ext cx="2461641" cy="4602575"/>
          </a:xfrm>
          <a:prstGeom prst="rect">
            <a:avLst/>
          </a:prstGeom>
          <a:ln w="9525">
            <a:solidFill>
              <a:srgbClr val="C2C2C1"/>
            </a:solidFill>
          </a:ln>
        </p:spPr>
      </p:pic>
      <p:pic>
        <p:nvPicPr>
          <p:cNvPr id="12" name="Picture 11" descr="slice-00031.png"/>
          <p:cNvPicPr>
            <a:picLocks noChangeAspect="1"/>
          </p:cNvPicPr>
          <p:nvPr/>
        </p:nvPicPr>
        <p:blipFill>
          <a:blip r:embed="rId5"/>
          <a:stretch>
            <a:fillRect/>
          </a:stretch>
        </p:blipFill>
        <p:spPr>
          <a:xfrm>
            <a:off x="6210147" y="1261872"/>
            <a:ext cx="2461641" cy="4611243"/>
          </a:xfrm>
          <a:prstGeom prst="rect">
            <a:avLst/>
          </a:prstGeom>
          <a:ln w="9525">
            <a:solidFill>
              <a:srgbClr val="C2C2C1"/>
            </a:solidFill>
          </a:ln>
        </p:spPr>
      </p:pic>
      <p:pic>
        <p:nvPicPr>
          <p:cNvPr id="13" name="Picture 12" descr="slice-00032.png"/>
          <p:cNvPicPr>
            <a:picLocks noChangeAspect="1"/>
          </p:cNvPicPr>
          <p:nvPr/>
        </p:nvPicPr>
        <p:blipFill>
          <a:blip r:embed="rId6"/>
          <a:stretch>
            <a:fillRect/>
          </a:stretch>
        </p:blipFill>
        <p:spPr>
          <a:xfrm>
            <a:off x="8900388" y="1261872"/>
            <a:ext cx="2461641" cy="3792140"/>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NAV-CL-06 Every group of the menu open</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Section Head (Corporate / Retail): menu entries of Collections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48</a:t>
            </a:r>
          </a:p>
        </p:txBody>
      </p:sp>
      <p:graphicFrame>
        <p:nvGraphicFramePr>
          <p:cNvPr id="9" name="Table 8"/>
          <p:cNvGraphicFramePr>
            <a:graphicFrameLocks noGrp="1"/>
          </p:cNvGraphicFramePr>
          <p:nvPr/>
        </p:nvGraphicFramePr>
        <p:xfrm>
          <a:off x="548640" y="1325880"/>
          <a:ext cx="11094414" cy="362712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Collections Home</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PR Worklist</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Installment Plans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Installments Due</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Promises to Pay</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Escalations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Escalation Rules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Billing Statements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Unapplied Payments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Requests to Cashiering</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Assignments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Collections Files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Collections Setup</a:t>
                      </a:r>
                    </a:p>
                  </a:txBody>
                  <a:tcPr marL="54864" marR="54864" marT="27432" marB="27432">
                    <a:solidFill>
                      <a:srgbClr val="FFFFFF"/>
                    </a:solidFill>
                  </a:tcPr>
                </a:tc>
              </a:tr>
            </a:tbl>
          </a:graphicData>
        </a:graphic>
      </p:graphicFrame>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Unapplied Payment Handler: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49</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7-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NAV-CL-07 The page Unapplied Payment Handler sees after sign-in</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Unapplied Payment Handler: menu</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16.png"/>
          <p:cNvPicPr>
            <a:picLocks noChangeAspect="1"/>
          </p:cNvPicPr>
          <p:nvPr/>
        </p:nvPicPr>
        <p:blipFill>
          <a:blip r:embed="rId3"/>
          <a:stretch>
            <a:fillRect/>
          </a:stretch>
        </p:blipFill>
        <p:spPr>
          <a:xfrm>
            <a:off x="829665" y="1261872"/>
            <a:ext cx="2461641" cy="4710922"/>
          </a:xfrm>
          <a:prstGeom prst="rect">
            <a:avLst/>
          </a:prstGeom>
          <a:ln w="9525">
            <a:solidFill>
              <a:srgbClr val="C2C2C1"/>
            </a:solidFill>
          </a:ln>
        </p:spPr>
      </p:pic>
      <p:pic>
        <p:nvPicPr>
          <p:cNvPr id="11" name="Picture 10" descr="slice-00017.png"/>
          <p:cNvPicPr>
            <a:picLocks noChangeAspect="1"/>
          </p:cNvPicPr>
          <p:nvPr/>
        </p:nvPicPr>
        <p:blipFill>
          <a:blip r:embed="rId4"/>
          <a:stretch>
            <a:fillRect/>
          </a:stretch>
        </p:blipFill>
        <p:spPr>
          <a:xfrm>
            <a:off x="3519906" y="1261872"/>
            <a:ext cx="2461641" cy="4602575"/>
          </a:xfrm>
          <a:prstGeom prst="rect">
            <a:avLst/>
          </a:prstGeom>
          <a:ln w="9525">
            <a:solidFill>
              <a:srgbClr val="C2C2C1"/>
            </a:solidFill>
          </a:ln>
        </p:spPr>
      </p:pic>
      <p:pic>
        <p:nvPicPr>
          <p:cNvPr id="12" name="Picture 11" descr="slice-00018.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19.png"/>
          <p:cNvPicPr>
            <a:picLocks noChangeAspect="1"/>
          </p:cNvPicPr>
          <p:nvPr/>
        </p:nvPicPr>
        <p:blipFill>
          <a:blip r:embed="rId6"/>
          <a:stretch>
            <a:fillRect/>
          </a:stretch>
        </p:blipFill>
        <p:spPr>
          <a:xfrm>
            <a:off x="8900388" y="1261872"/>
            <a:ext cx="2461641" cy="2630662"/>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NAV-CL-07 Every group of the menu open</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Unapplied Payment Handler: menu entries of Collections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51</a:t>
            </a:r>
          </a:p>
        </p:txBody>
      </p:sp>
      <p:graphicFrame>
        <p:nvGraphicFramePr>
          <p:cNvPr id="9" name="Table 8"/>
          <p:cNvGraphicFramePr>
            <a:graphicFrameLocks noGrp="1"/>
          </p:cNvGraphicFramePr>
          <p:nvPr/>
        </p:nvGraphicFramePr>
        <p:xfrm>
          <a:off x="548640" y="1325880"/>
          <a:ext cx="11094414" cy="284988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Collections Home</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PR Worklist</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Installment Plans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Installments Due</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Promises to Pay</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Escalations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Billing Statements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Unapplied Payments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Requests to Cashiering</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Collections Files</a:t>
                      </a:r>
                    </a:p>
                  </a:txBody>
                  <a:tcPr marL="54864" marR="54864" marT="27432" marB="27432">
                    <a:solidFill>
                      <a:srgbClr val="E5F5FF"/>
                    </a:solidFill>
                  </a:tcPr>
                </a:tc>
              </a:tr>
            </a:tbl>
          </a:graphicData>
        </a:graphic>
      </p:graphicFrame>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Processing Unit: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52</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8-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NAV-CL-08 The page Processing Unit sees after sign-in</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Processing Unit: menu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37.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38.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39.png"/>
          <p:cNvPicPr>
            <a:picLocks noChangeAspect="1"/>
          </p:cNvPicPr>
          <p:nvPr/>
        </p:nvPicPr>
        <p:blipFill>
          <a:blip r:embed="rId5"/>
          <a:stretch>
            <a:fillRect/>
          </a:stretch>
        </p:blipFill>
        <p:spPr>
          <a:xfrm>
            <a:off x="6210147" y="1261872"/>
            <a:ext cx="2461641" cy="4693586"/>
          </a:xfrm>
          <a:prstGeom prst="rect">
            <a:avLst/>
          </a:prstGeom>
          <a:ln w="9525">
            <a:solidFill>
              <a:srgbClr val="C2C2C1"/>
            </a:solidFill>
          </a:ln>
        </p:spPr>
      </p:pic>
      <p:pic>
        <p:nvPicPr>
          <p:cNvPr id="13" name="Picture 12" descr="slice-00040.png"/>
          <p:cNvPicPr>
            <a:picLocks noChangeAspect="1"/>
          </p:cNvPicPr>
          <p:nvPr/>
        </p:nvPicPr>
        <p:blipFill>
          <a:blip r:embed="rId6"/>
          <a:stretch>
            <a:fillRect/>
          </a:stretch>
        </p:blipFill>
        <p:spPr>
          <a:xfrm>
            <a:off x="8900388" y="1261872"/>
            <a:ext cx="2461641" cy="473259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NAV-CL-08 Every group of the menu open (part 1 of 2)</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Processing Unit: menu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41.png"/>
          <p:cNvPicPr>
            <a:picLocks noChangeAspect="1"/>
          </p:cNvPicPr>
          <p:nvPr/>
        </p:nvPicPr>
        <p:blipFill>
          <a:blip r:embed="rId3"/>
          <a:stretch>
            <a:fillRect/>
          </a:stretch>
        </p:blipFill>
        <p:spPr>
          <a:xfrm>
            <a:off x="3519906" y="1261872"/>
            <a:ext cx="2461641" cy="4732591"/>
          </a:xfrm>
          <a:prstGeom prst="rect">
            <a:avLst/>
          </a:prstGeom>
          <a:ln w="9525">
            <a:solidFill>
              <a:srgbClr val="C2C2C1"/>
            </a:solidFill>
          </a:ln>
        </p:spPr>
      </p:pic>
      <p:pic>
        <p:nvPicPr>
          <p:cNvPr id="11" name="Picture 10" descr="slice-00042.png"/>
          <p:cNvPicPr>
            <a:picLocks noChangeAspect="1"/>
          </p:cNvPicPr>
          <p:nvPr/>
        </p:nvPicPr>
        <p:blipFill>
          <a:blip r:embed="rId4"/>
          <a:stretch>
            <a:fillRect/>
          </a:stretch>
        </p:blipFill>
        <p:spPr>
          <a:xfrm>
            <a:off x="6210147" y="1261872"/>
            <a:ext cx="2461641" cy="2760678"/>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NAV-CL-08 Every group of the menu open (part 2 of 2)</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Processing Unit: menu entries of Collections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55</a:t>
            </a:r>
          </a:p>
        </p:txBody>
      </p:sp>
      <p:graphicFrame>
        <p:nvGraphicFramePr>
          <p:cNvPr id="9" name="Table 8"/>
          <p:cNvGraphicFramePr>
            <a:graphicFrameLocks noGrp="1"/>
          </p:cNvGraphicFramePr>
          <p:nvPr/>
        </p:nvGraphicFramePr>
        <p:xfrm>
          <a:off x="548640" y="1325880"/>
          <a:ext cx="11094414" cy="259080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Collections Home</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PR Worklist</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Installment Plans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Installments Due</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Promises to Pay</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Escalations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Billing Statements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Unapplied Payments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Requests to Cashiering</a:t>
                      </a:r>
                    </a:p>
                  </a:txBody>
                  <a:tcPr marL="54864" marR="54864" marT="27432" marB="27432">
                    <a:solidFill>
                      <a:srgbClr val="FFFFFF"/>
                    </a:solidFill>
                  </a:tcPr>
                </a:tc>
              </a:tr>
            </a:tbl>
          </a:graphicData>
        </a:graphic>
      </p:graphicFrame>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Cashier (read access and exports):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56</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9-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NAV-CL-09 The page Cashier (read access and exports) sees after sign-in</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Cashier (read access and exports): menu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43.png"/>
          <p:cNvPicPr>
            <a:picLocks noChangeAspect="1"/>
          </p:cNvPicPr>
          <p:nvPr/>
        </p:nvPicPr>
        <p:blipFill>
          <a:blip r:embed="rId3"/>
          <a:stretch>
            <a:fillRect/>
          </a:stretch>
        </p:blipFill>
        <p:spPr>
          <a:xfrm>
            <a:off x="829665" y="1261872"/>
            <a:ext cx="2461641" cy="4710922"/>
          </a:xfrm>
          <a:prstGeom prst="rect">
            <a:avLst/>
          </a:prstGeom>
          <a:ln w="9525">
            <a:solidFill>
              <a:srgbClr val="C2C2C1"/>
            </a:solidFill>
          </a:ln>
        </p:spPr>
      </p:pic>
      <p:pic>
        <p:nvPicPr>
          <p:cNvPr id="11" name="Picture 10" descr="slice-00044.png"/>
          <p:cNvPicPr>
            <a:picLocks noChangeAspect="1"/>
          </p:cNvPicPr>
          <p:nvPr/>
        </p:nvPicPr>
        <p:blipFill>
          <a:blip r:embed="rId4"/>
          <a:stretch>
            <a:fillRect/>
          </a:stretch>
        </p:blipFill>
        <p:spPr>
          <a:xfrm>
            <a:off x="3519906" y="1261872"/>
            <a:ext cx="2461641" cy="4602575"/>
          </a:xfrm>
          <a:prstGeom prst="rect">
            <a:avLst/>
          </a:prstGeom>
          <a:ln w="9525">
            <a:solidFill>
              <a:srgbClr val="C2C2C1"/>
            </a:solidFill>
          </a:ln>
        </p:spPr>
      </p:pic>
      <p:pic>
        <p:nvPicPr>
          <p:cNvPr id="12" name="Picture 11" descr="slice-00045.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46.png"/>
          <p:cNvPicPr>
            <a:picLocks noChangeAspect="1"/>
          </p:cNvPicPr>
          <p:nvPr/>
        </p:nvPicPr>
        <p:blipFill>
          <a:blip r:embed="rId6"/>
          <a:stretch>
            <a:fillRect/>
          </a:stretch>
        </p:blipFill>
        <p:spPr>
          <a:xfrm>
            <a:off x="8900388" y="1261872"/>
            <a:ext cx="2461641" cy="4663249"/>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NAV-CL-09 Every group of the menu open (part 1 of 2)</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Cashier (read access and exports): menu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47.png"/>
          <p:cNvPicPr>
            <a:picLocks noChangeAspect="1"/>
          </p:cNvPicPr>
          <p:nvPr/>
        </p:nvPicPr>
        <p:blipFill>
          <a:blip r:embed="rId3"/>
          <a:stretch>
            <a:fillRect/>
          </a:stretch>
        </p:blipFill>
        <p:spPr>
          <a:xfrm>
            <a:off x="3519906" y="1261872"/>
            <a:ext cx="2461641" cy="4658915"/>
          </a:xfrm>
          <a:prstGeom prst="rect">
            <a:avLst/>
          </a:prstGeom>
          <a:ln w="9525">
            <a:solidFill>
              <a:srgbClr val="C2C2C1"/>
            </a:solidFill>
          </a:ln>
        </p:spPr>
      </p:pic>
      <p:pic>
        <p:nvPicPr>
          <p:cNvPr id="11" name="Picture 10" descr="slice-00048.png"/>
          <p:cNvPicPr>
            <a:picLocks noChangeAspect="1"/>
          </p:cNvPicPr>
          <p:nvPr/>
        </p:nvPicPr>
        <p:blipFill>
          <a:blip r:embed="rId4"/>
          <a:stretch>
            <a:fillRect/>
          </a:stretch>
        </p:blipFill>
        <p:spPr>
          <a:xfrm>
            <a:off x="6210147" y="1261872"/>
            <a:ext cx="2461641" cy="1213485"/>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NAV-CL-09 Every group of the menu open (part 2 of 2)</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Cashier (read access and exports): menu entries of Collections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59</a:t>
            </a:r>
          </a:p>
        </p:txBody>
      </p:sp>
      <p:graphicFrame>
        <p:nvGraphicFramePr>
          <p:cNvPr id="9" name="Table 8"/>
          <p:cNvGraphicFramePr>
            <a:graphicFrameLocks noGrp="1"/>
          </p:cNvGraphicFramePr>
          <p:nvPr/>
        </p:nvGraphicFramePr>
        <p:xfrm>
          <a:off x="548640" y="1325880"/>
          <a:ext cx="11094414" cy="284988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Collections Home</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PR Worklist</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Installment Plans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Installments Due</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Promises to Pay</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Escalations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Billing Statements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Unapplied Payments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Requests to Cashiering</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Collections Files</a:t>
                      </a:r>
                    </a:p>
                  </a:txBody>
                  <a:tcPr marL="54864" marR="54864" marT="27432" marB="27432">
                    <a:solidFill>
                      <a:srgbClr val="E5F5FF"/>
                    </a:solidFill>
                  </a:tcPr>
                </a:tc>
              </a:tr>
            </a:tbl>
          </a:graphicData>
        </a:graphic>
      </p:graphicFrame>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Disbursement (read access and exports):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60</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10-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NAV-CL-10 The page Disbursement (read access and exports) sees after sign-in</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Disbursement (read access and exports): menu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49.png"/>
          <p:cNvPicPr>
            <a:picLocks noChangeAspect="1"/>
          </p:cNvPicPr>
          <p:nvPr/>
        </p:nvPicPr>
        <p:blipFill>
          <a:blip r:embed="rId3"/>
          <a:stretch>
            <a:fillRect/>
          </a:stretch>
        </p:blipFill>
        <p:spPr>
          <a:xfrm>
            <a:off x="829665" y="1261872"/>
            <a:ext cx="2461641" cy="4710922"/>
          </a:xfrm>
          <a:prstGeom prst="rect">
            <a:avLst/>
          </a:prstGeom>
          <a:ln w="9525">
            <a:solidFill>
              <a:srgbClr val="C2C2C1"/>
            </a:solidFill>
          </a:ln>
        </p:spPr>
      </p:pic>
      <p:pic>
        <p:nvPicPr>
          <p:cNvPr id="11" name="Picture 10" descr="slice-00050.png"/>
          <p:cNvPicPr>
            <a:picLocks noChangeAspect="1"/>
          </p:cNvPicPr>
          <p:nvPr/>
        </p:nvPicPr>
        <p:blipFill>
          <a:blip r:embed="rId4"/>
          <a:stretch>
            <a:fillRect/>
          </a:stretch>
        </p:blipFill>
        <p:spPr>
          <a:xfrm>
            <a:off x="3519906" y="1261872"/>
            <a:ext cx="2461641" cy="4611243"/>
          </a:xfrm>
          <a:prstGeom prst="rect">
            <a:avLst/>
          </a:prstGeom>
          <a:ln w="9525">
            <a:solidFill>
              <a:srgbClr val="C2C2C1"/>
            </a:solidFill>
          </a:ln>
        </p:spPr>
      </p:pic>
      <p:pic>
        <p:nvPicPr>
          <p:cNvPr id="12" name="Picture 11" descr="slice-00051.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52.png"/>
          <p:cNvPicPr>
            <a:picLocks noChangeAspect="1"/>
          </p:cNvPicPr>
          <p:nvPr/>
        </p:nvPicPr>
        <p:blipFill>
          <a:blip r:embed="rId6"/>
          <a:stretch>
            <a:fillRect/>
          </a:stretch>
        </p:blipFill>
        <p:spPr>
          <a:xfrm>
            <a:off x="8900388" y="1261872"/>
            <a:ext cx="2461641" cy="465458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NAV-CL-10 Every group of the menu open (part 1 of 2)</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Disbursement (read access and exports): menu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53.png"/>
          <p:cNvPicPr>
            <a:picLocks noChangeAspect="1"/>
          </p:cNvPicPr>
          <p:nvPr/>
        </p:nvPicPr>
        <p:blipFill>
          <a:blip r:embed="rId3"/>
          <a:stretch>
            <a:fillRect/>
          </a:stretch>
        </p:blipFill>
        <p:spPr>
          <a:xfrm>
            <a:off x="3519906" y="1261872"/>
            <a:ext cx="2461641" cy="4732591"/>
          </a:xfrm>
          <a:prstGeom prst="rect">
            <a:avLst/>
          </a:prstGeom>
          <a:ln w="9525">
            <a:solidFill>
              <a:srgbClr val="C2C2C1"/>
            </a:solidFill>
          </a:ln>
        </p:spPr>
      </p:pic>
      <p:pic>
        <p:nvPicPr>
          <p:cNvPr id="11" name="Picture 10" descr="slice-00054.png"/>
          <p:cNvPicPr>
            <a:picLocks noChangeAspect="1"/>
          </p:cNvPicPr>
          <p:nvPr/>
        </p:nvPicPr>
        <p:blipFill>
          <a:blip r:embed="rId4"/>
          <a:stretch>
            <a:fillRect/>
          </a:stretch>
        </p:blipFill>
        <p:spPr>
          <a:xfrm>
            <a:off x="6210147" y="1261872"/>
            <a:ext cx="2461641" cy="1486519"/>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NAV-CL-10 Every group of the menu open (part 2 of 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Disbursement (read access and exports): menu entries of Collections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63</a:t>
            </a:r>
          </a:p>
        </p:txBody>
      </p:sp>
      <p:graphicFrame>
        <p:nvGraphicFramePr>
          <p:cNvPr id="9" name="Table 8"/>
          <p:cNvGraphicFramePr>
            <a:graphicFrameLocks noGrp="1"/>
          </p:cNvGraphicFramePr>
          <p:nvPr/>
        </p:nvGraphicFramePr>
        <p:xfrm>
          <a:off x="548640" y="1325880"/>
          <a:ext cx="11094414" cy="284988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Collections Home</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PR Worklist</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Installment Plans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Installments Due</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Promises to Pay</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Escalations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Billing Statements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Unapplied Payments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Requests to Cashiering</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Collections Files</a:t>
                      </a:r>
                    </a:p>
                  </a:txBody>
                  <a:tcPr marL="54864" marR="54864" marT="27432" marB="27432">
                    <a:solidFill>
                      <a:srgbClr val="E5F5FF"/>
                    </a:solidFill>
                  </a:tcPr>
                </a:tc>
              </a:tr>
            </a:tbl>
          </a:graphicData>
        </a:graphic>
      </p:graphicFrame>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Comptrollership (read access):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64</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11-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NAV-CL-11 The page Comptrollership (read access) sees after sign-in</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Comptrollership (read access): menu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55.png"/>
          <p:cNvPicPr>
            <a:picLocks noChangeAspect="1"/>
          </p:cNvPicPr>
          <p:nvPr/>
        </p:nvPicPr>
        <p:blipFill>
          <a:blip r:embed="rId3"/>
          <a:stretch>
            <a:fillRect/>
          </a:stretch>
        </p:blipFill>
        <p:spPr>
          <a:xfrm>
            <a:off x="829665" y="1261872"/>
            <a:ext cx="2461641" cy="4710922"/>
          </a:xfrm>
          <a:prstGeom prst="rect">
            <a:avLst/>
          </a:prstGeom>
          <a:ln w="9525">
            <a:solidFill>
              <a:srgbClr val="C2C2C1"/>
            </a:solidFill>
          </a:ln>
        </p:spPr>
      </p:pic>
      <p:pic>
        <p:nvPicPr>
          <p:cNvPr id="11" name="Picture 10" descr="slice-00056.png"/>
          <p:cNvPicPr>
            <a:picLocks noChangeAspect="1"/>
          </p:cNvPicPr>
          <p:nvPr/>
        </p:nvPicPr>
        <p:blipFill>
          <a:blip r:embed="rId4"/>
          <a:stretch>
            <a:fillRect/>
          </a:stretch>
        </p:blipFill>
        <p:spPr>
          <a:xfrm>
            <a:off x="3519906" y="1261872"/>
            <a:ext cx="2461641" cy="4602575"/>
          </a:xfrm>
          <a:prstGeom prst="rect">
            <a:avLst/>
          </a:prstGeom>
          <a:ln w="9525">
            <a:solidFill>
              <a:srgbClr val="C2C2C1"/>
            </a:solidFill>
          </a:ln>
        </p:spPr>
      </p:pic>
      <p:pic>
        <p:nvPicPr>
          <p:cNvPr id="12" name="Picture 11" descr="slice-00057.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58.png"/>
          <p:cNvPicPr>
            <a:picLocks noChangeAspect="1"/>
          </p:cNvPicPr>
          <p:nvPr/>
        </p:nvPicPr>
        <p:blipFill>
          <a:blip r:embed="rId6"/>
          <a:stretch>
            <a:fillRect/>
          </a:stretch>
        </p:blipFill>
        <p:spPr>
          <a:xfrm>
            <a:off x="8900388" y="1261872"/>
            <a:ext cx="2461641" cy="4671917"/>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NAV-CL-11 Every group of the menu open (part 1 of 2)</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Comptrollership (read access): menu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59.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60.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61.png"/>
          <p:cNvPicPr>
            <a:picLocks noChangeAspect="1"/>
          </p:cNvPicPr>
          <p:nvPr/>
        </p:nvPicPr>
        <p:blipFill>
          <a:blip r:embed="rId5"/>
          <a:stretch>
            <a:fillRect/>
          </a:stretch>
        </p:blipFill>
        <p:spPr>
          <a:xfrm>
            <a:off x="6210147" y="1261872"/>
            <a:ext cx="2461641" cy="4706588"/>
          </a:xfrm>
          <a:prstGeom prst="rect">
            <a:avLst/>
          </a:prstGeom>
          <a:ln w="9525">
            <a:solidFill>
              <a:srgbClr val="C2C2C1"/>
            </a:solidFill>
          </a:ln>
        </p:spPr>
      </p:pic>
      <p:pic>
        <p:nvPicPr>
          <p:cNvPr id="13" name="Picture 12" descr="slice-00062.png"/>
          <p:cNvPicPr>
            <a:picLocks noChangeAspect="1"/>
          </p:cNvPicPr>
          <p:nvPr/>
        </p:nvPicPr>
        <p:blipFill>
          <a:blip r:embed="rId6"/>
          <a:stretch>
            <a:fillRect/>
          </a:stretch>
        </p:blipFill>
        <p:spPr>
          <a:xfrm>
            <a:off x="8900388" y="1261872"/>
            <a:ext cx="2461641" cy="1677209"/>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NAV-CL-11 Every group of the menu open (part 2 of 2)</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Comptrollership (read access): menu entries of Collections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67</a:t>
            </a:r>
          </a:p>
        </p:txBody>
      </p:sp>
      <p:graphicFrame>
        <p:nvGraphicFramePr>
          <p:cNvPr id="9" name="Table 8"/>
          <p:cNvGraphicFramePr>
            <a:graphicFrameLocks noGrp="1"/>
          </p:cNvGraphicFramePr>
          <p:nvPr/>
        </p:nvGraphicFramePr>
        <p:xfrm>
          <a:off x="548640" y="1325880"/>
          <a:ext cx="11094414" cy="284988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Collections Home</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PR Worklist</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Installment Plans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Installments Due</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Promises to Pay</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Escalations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Billing Statements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Unapplied Payments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Requests to Cashiering</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Collections Files</a:t>
                      </a:r>
                    </a:p>
                  </a:txBody>
                  <a:tcPr marL="54864" marR="54864" marT="27432" marB="27432">
                    <a:solidFill>
                      <a:srgbClr val="E5F5FF"/>
                    </a:solidFill>
                  </a:tcPr>
                </a:tc>
              </a:tr>
            </a:tbl>
          </a:graphicData>
        </a:graphic>
      </p:graphicFrame>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Business Administrator: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68</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12-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NAV-CL-12 The page Business Administrator sees after sign-in</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Business Administrator: menu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63.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64.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65.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66.png"/>
          <p:cNvPicPr>
            <a:picLocks noChangeAspect="1"/>
          </p:cNvPicPr>
          <p:nvPr/>
        </p:nvPicPr>
        <p:blipFill>
          <a:blip r:embed="rId6"/>
          <a:stretch>
            <a:fillRect/>
          </a:stretch>
        </p:blipFill>
        <p:spPr>
          <a:xfrm>
            <a:off x="8900388" y="1261872"/>
            <a:ext cx="2461641" cy="473259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NAV-CL-12 Every group of the menu open (part 1 of 3)</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Business Administrator: menu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67.png"/>
          <p:cNvPicPr>
            <a:picLocks noChangeAspect="1"/>
          </p:cNvPicPr>
          <p:nvPr/>
        </p:nvPicPr>
        <p:blipFill>
          <a:blip r:embed="rId3"/>
          <a:stretch>
            <a:fillRect/>
          </a:stretch>
        </p:blipFill>
        <p:spPr>
          <a:xfrm>
            <a:off x="829665" y="1261872"/>
            <a:ext cx="2461641" cy="4632912"/>
          </a:xfrm>
          <a:prstGeom prst="rect">
            <a:avLst/>
          </a:prstGeom>
          <a:ln w="9525">
            <a:solidFill>
              <a:srgbClr val="C2C2C1"/>
            </a:solidFill>
          </a:ln>
        </p:spPr>
      </p:pic>
      <p:pic>
        <p:nvPicPr>
          <p:cNvPr id="11" name="Picture 10" descr="slice-00068.png"/>
          <p:cNvPicPr>
            <a:picLocks noChangeAspect="1"/>
          </p:cNvPicPr>
          <p:nvPr/>
        </p:nvPicPr>
        <p:blipFill>
          <a:blip r:embed="rId4"/>
          <a:stretch>
            <a:fillRect/>
          </a:stretch>
        </p:blipFill>
        <p:spPr>
          <a:xfrm>
            <a:off x="3519906" y="1261872"/>
            <a:ext cx="2461641" cy="4576572"/>
          </a:xfrm>
          <a:prstGeom prst="rect">
            <a:avLst/>
          </a:prstGeom>
          <a:ln w="9525">
            <a:solidFill>
              <a:srgbClr val="C2C2C1"/>
            </a:solidFill>
          </a:ln>
        </p:spPr>
      </p:pic>
      <p:pic>
        <p:nvPicPr>
          <p:cNvPr id="12" name="Picture 11" descr="slice-00069.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70.png"/>
          <p:cNvPicPr>
            <a:picLocks noChangeAspect="1"/>
          </p:cNvPicPr>
          <p:nvPr/>
        </p:nvPicPr>
        <p:blipFill>
          <a:blip r:embed="rId6"/>
          <a:stretch>
            <a:fillRect/>
          </a:stretch>
        </p:blipFill>
        <p:spPr>
          <a:xfrm>
            <a:off x="8900388" y="1261872"/>
            <a:ext cx="2461641" cy="4723923"/>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NAV-CL-12 Every group of the menu open (part 2 of 3)</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Business Administrator: menu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71.png"/>
          <p:cNvPicPr>
            <a:picLocks noChangeAspect="1"/>
          </p:cNvPicPr>
          <p:nvPr/>
        </p:nvPicPr>
        <p:blipFill>
          <a:blip r:embed="rId3"/>
          <a:stretch>
            <a:fillRect/>
          </a:stretch>
        </p:blipFill>
        <p:spPr>
          <a:xfrm>
            <a:off x="4865027" y="1261872"/>
            <a:ext cx="2461641" cy="113114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NAV-CL-12 Every group of the menu open (part 3 of 3)</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Business Administrator: menu entries of Collections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72</a:t>
            </a:r>
          </a:p>
        </p:txBody>
      </p:sp>
      <p:graphicFrame>
        <p:nvGraphicFramePr>
          <p:cNvPr id="9" name="Table 8"/>
          <p:cNvGraphicFramePr>
            <a:graphicFrameLocks noGrp="1"/>
          </p:cNvGraphicFramePr>
          <p:nvPr/>
        </p:nvGraphicFramePr>
        <p:xfrm>
          <a:off x="548640" y="1325880"/>
          <a:ext cx="11094414" cy="310896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Collections Home</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PR Worklist</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Installment Plans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Installments Due</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Promises to Pay</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Escalations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Escalation Rules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Billing Statements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Unapplied Payments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Requests to Cashiering</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Collections Setup</a:t>
                      </a:r>
                    </a:p>
                  </a:txBody>
                  <a:tcPr marL="54864" marR="54864" marT="27432" marB="27432">
                    <a:solidFill>
                      <a:srgbClr val="FFFFFF"/>
                    </a:solidFill>
                  </a:tcPr>
                </a:tc>
              </a:tr>
            </a:tbl>
          </a:graphicData>
        </a:graphic>
      </p:graphicFrame>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System Administrator: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73</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13-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NAV-CL-13 The page System Administrator sees after sign-in</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System Administrator: menu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72.png"/>
          <p:cNvPicPr>
            <a:picLocks noChangeAspect="1"/>
          </p:cNvPicPr>
          <p:nvPr/>
        </p:nvPicPr>
        <p:blipFill>
          <a:blip r:embed="rId3"/>
          <a:stretch>
            <a:fillRect/>
          </a:stretch>
        </p:blipFill>
        <p:spPr>
          <a:xfrm>
            <a:off x="829665" y="1261872"/>
            <a:ext cx="2461641" cy="4710922"/>
          </a:xfrm>
          <a:prstGeom prst="rect">
            <a:avLst/>
          </a:prstGeom>
          <a:ln w="9525">
            <a:solidFill>
              <a:srgbClr val="C2C2C1"/>
            </a:solidFill>
          </a:ln>
        </p:spPr>
      </p:pic>
      <p:pic>
        <p:nvPicPr>
          <p:cNvPr id="11" name="Picture 10" descr="slice-00073.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74.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75.png"/>
          <p:cNvPicPr>
            <a:picLocks noChangeAspect="1"/>
          </p:cNvPicPr>
          <p:nvPr/>
        </p:nvPicPr>
        <p:blipFill>
          <a:blip r:embed="rId6"/>
          <a:stretch>
            <a:fillRect/>
          </a:stretch>
        </p:blipFill>
        <p:spPr>
          <a:xfrm>
            <a:off x="8900388" y="1261872"/>
            <a:ext cx="2461641" cy="473259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NAV-CL-13 Every group of the menu open (part 1 of 3)</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System Administrator: menu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76.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77.png"/>
          <p:cNvPicPr>
            <a:picLocks noChangeAspect="1"/>
          </p:cNvPicPr>
          <p:nvPr/>
        </p:nvPicPr>
        <p:blipFill>
          <a:blip r:embed="rId4"/>
          <a:stretch>
            <a:fillRect/>
          </a:stretch>
        </p:blipFill>
        <p:spPr>
          <a:xfrm>
            <a:off x="3519906" y="1261872"/>
            <a:ext cx="2461641" cy="4697920"/>
          </a:xfrm>
          <a:prstGeom prst="rect">
            <a:avLst/>
          </a:prstGeom>
          <a:ln w="9525">
            <a:solidFill>
              <a:srgbClr val="C2C2C1"/>
            </a:solidFill>
          </a:ln>
        </p:spPr>
      </p:pic>
      <p:pic>
        <p:nvPicPr>
          <p:cNvPr id="12" name="Picture 11" descr="slice-00078.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79.png"/>
          <p:cNvPicPr>
            <a:picLocks noChangeAspect="1"/>
          </p:cNvPicPr>
          <p:nvPr/>
        </p:nvPicPr>
        <p:blipFill>
          <a:blip r:embed="rId6"/>
          <a:stretch>
            <a:fillRect/>
          </a:stretch>
        </p:blipFill>
        <p:spPr>
          <a:xfrm>
            <a:off x="8900388" y="1261872"/>
            <a:ext cx="2461641" cy="473259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NAV-CL-13 Every group of the menu open (part 2 of 3)</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System Administrator: menu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80.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81.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82.png"/>
          <p:cNvPicPr>
            <a:picLocks noChangeAspect="1"/>
          </p:cNvPicPr>
          <p:nvPr/>
        </p:nvPicPr>
        <p:blipFill>
          <a:blip r:embed="rId5"/>
          <a:stretch>
            <a:fillRect/>
          </a:stretch>
        </p:blipFill>
        <p:spPr>
          <a:xfrm>
            <a:off x="6210147" y="1261872"/>
            <a:ext cx="2461641" cy="4663249"/>
          </a:xfrm>
          <a:prstGeom prst="rect">
            <a:avLst/>
          </a:prstGeom>
          <a:ln w="9525">
            <a:solidFill>
              <a:srgbClr val="C2C2C1"/>
            </a:solidFill>
          </a:ln>
        </p:spPr>
      </p:pic>
      <p:pic>
        <p:nvPicPr>
          <p:cNvPr id="13" name="Picture 12" descr="slice-00083.png"/>
          <p:cNvPicPr>
            <a:picLocks noChangeAspect="1"/>
          </p:cNvPicPr>
          <p:nvPr/>
        </p:nvPicPr>
        <p:blipFill>
          <a:blip r:embed="rId6"/>
          <a:stretch>
            <a:fillRect/>
          </a:stretch>
        </p:blipFill>
        <p:spPr>
          <a:xfrm>
            <a:off x="8900388" y="1261872"/>
            <a:ext cx="2461641" cy="2951368"/>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NAV-CL-13 Every group of the menu open (part 3 of 3)</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System Administrator: menu entries of Collections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77</a:t>
            </a:r>
          </a:p>
        </p:txBody>
      </p:sp>
      <p:graphicFrame>
        <p:nvGraphicFramePr>
          <p:cNvPr id="9" name="Table 8"/>
          <p:cNvGraphicFramePr>
            <a:graphicFrameLocks noGrp="1"/>
          </p:cNvGraphicFramePr>
          <p:nvPr/>
        </p:nvGraphicFramePr>
        <p:xfrm>
          <a:off x="548640" y="1325880"/>
          <a:ext cx="11094414" cy="336804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Collections Home</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PR Worklist</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Installment Plans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Installments Due</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Promises to Pay</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Escalations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Escalation Rules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Billing Statements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Unapplied Payments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Requests to Cashiering</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Collections Files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Collections Setup</a:t>
                      </a:r>
                    </a:p>
                  </a:txBody>
                  <a:tcPr marL="54864" marR="54864" marT="27432" marB="27432">
                    <a:solidFill>
                      <a:srgbClr val="E5F5FF"/>
                    </a:solidFill>
                  </a:tcPr>
                </a:tc>
              </a:tr>
            </a:tbl>
          </a:graphicData>
        </a:graphic>
      </p:graphicFrame>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Auditor: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78</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14-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NAV-CL-14 The page Auditor sees after sign-in</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Auditor: menu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84.png"/>
          <p:cNvPicPr>
            <a:picLocks noChangeAspect="1"/>
          </p:cNvPicPr>
          <p:nvPr/>
        </p:nvPicPr>
        <p:blipFill>
          <a:blip r:embed="rId3"/>
          <a:stretch>
            <a:fillRect/>
          </a:stretch>
        </p:blipFill>
        <p:spPr>
          <a:xfrm>
            <a:off x="829665" y="1261872"/>
            <a:ext cx="2461641" cy="4702254"/>
          </a:xfrm>
          <a:prstGeom prst="rect">
            <a:avLst/>
          </a:prstGeom>
          <a:ln w="9525">
            <a:solidFill>
              <a:srgbClr val="C2C2C1"/>
            </a:solidFill>
          </a:ln>
        </p:spPr>
      </p:pic>
      <p:pic>
        <p:nvPicPr>
          <p:cNvPr id="11" name="Picture 10" descr="slice-00085.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86.png"/>
          <p:cNvPicPr>
            <a:picLocks noChangeAspect="1"/>
          </p:cNvPicPr>
          <p:nvPr/>
        </p:nvPicPr>
        <p:blipFill>
          <a:blip r:embed="rId5"/>
          <a:stretch>
            <a:fillRect/>
          </a:stretch>
        </p:blipFill>
        <p:spPr>
          <a:xfrm>
            <a:off x="6210147" y="1261872"/>
            <a:ext cx="2461641" cy="4637246"/>
          </a:xfrm>
          <a:prstGeom prst="rect">
            <a:avLst/>
          </a:prstGeom>
          <a:ln w="9525">
            <a:solidFill>
              <a:srgbClr val="C2C2C1"/>
            </a:solidFill>
          </a:ln>
        </p:spPr>
      </p:pic>
      <p:pic>
        <p:nvPicPr>
          <p:cNvPr id="13" name="Picture 12" descr="slice-00087.png"/>
          <p:cNvPicPr>
            <a:picLocks noChangeAspect="1"/>
          </p:cNvPicPr>
          <p:nvPr/>
        </p:nvPicPr>
        <p:blipFill>
          <a:blip r:embed="rId6"/>
          <a:stretch>
            <a:fillRect/>
          </a:stretch>
        </p:blipFill>
        <p:spPr>
          <a:xfrm>
            <a:off x="8900388" y="1261872"/>
            <a:ext cx="2461641" cy="473259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NAV-CL-14 Every group of the menu open (part 1 of 4)</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Auditor: menu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88.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89.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90.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91.png"/>
          <p:cNvPicPr>
            <a:picLocks noChangeAspect="1"/>
          </p:cNvPicPr>
          <p:nvPr/>
        </p:nvPicPr>
        <p:blipFill>
          <a:blip r:embed="rId6"/>
          <a:stretch>
            <a:fillRect/>
          </a:stretch>
        </p:blipFill>
        <p:spPr>
          <a:xfrm>
            <a:off x="8900388" y="1261872"/>
            <a:ext cx="2461641" cy="4606909"/>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NAV-CL-14 Every group of the menu open (part 2 of 4)</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Auditor: menu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92.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93.png"/>
          <p:cNvPicPr>
            <a:picLocks noChangeAspect="1"/>
          </p:cNvPicPr>
          <p:nvPr/>
        </p:nvPicPr>
        <p:blipFill>
          <a:blip r:embed="rId4"/>
          <a:stretch>
            <a:fillRect/>
          </a:stretch>
        </p:blipFill>
        <p:spPr>
          <a:xfrm>
            <a:off x="3519906" y="1261872"/>
            <a:ext cx="2461641" cy="4719589"/>
          </a:xfrm>
          <a:prstGeom prst="rect">
            <a:avLst/>
          </a:prstGeom>
          <a:ln w="9525">
            <a:solidFill>
              <a:srgbClr val="C2C2C1"/>
            </a:solidFill>
          </a:ln>
        </p:spPr>
      </p:pic>
      <p:pic>
        <p:nvPicPr>
          <p:cNvPr id="12" name="Picture 11" descr="slice-00094.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95.png"/>
          <p:cNvPicPr>
            <a:picLocks noChangeAspect="1"/>
          </p:cNvPicPr>
          <p:nvPr/>
        </p:nvPicPr>
        <p:blipFill>
          <a:blip r:embed="rId6"/>
          <a:stretch>
            <a:fillRect/>
          </a:stretch>
        </p:blipFill>
        <p:spPr>
          <a:xfrm>
            <a:off x="8900388" y="1261872"/>
            <a:ext cx="2461641" cy="473259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NAV-CL-14 Every group of the menu open (part 3 of 4)</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Auditor: menu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96.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97.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98.png"/>
          <p:cNvPicPr>
            <a:picLocks noChangeAspect="1"/>
          </p:cNvPicPr>
          <p:nvPr/>
        </p:nvPicPr>
        <p:blipFill>
          <a:blip r:embed="rId5"/>
          <a:stretch>
            <a:fillRect/>
          </a:stretch>
        </p:blipFill>
        <p:spPr>
          <a:xfrm>
            <a:off x="6210147" y="1261872"/>
            <a:ext cx="2461641" cy="4593907"/>
          </a:xfrm>
          <a:prstGeom prst="rect">
            <a:avLst/>
          </a:prstGeom>
          <a:ln w="9525">
            <a:solidFill>
              <a:srgbClr val="C2C2C1"/>
            </a:solidFill>
          </a:ln>
        </p:spPr>
      </p:pic>
      <p:pic>
        <p:nvPicPr>
          <p:cNvPr id="13" name="Picture 12" descr="slice-00099.png"/>
          <p:cNvPicPr>
            <a:picLocks noChangeAspect="1"/>
          </p:cNvPicPr>
          <p:nvPr/>
        </p:nvPicPr>
        <p:blipFill>
          <a:blip r:embed="rId6"/>
          <a:stretch>
            <a:fillRect/>
          </a:stretch>
        </p:blipFill>
        <p:spPr>
          <a:xfrm>
            <a:off x="8900388" y="1261872"/>
            <a:ext cx="2461641" cy="4338208"/>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NAV-CL-14 Every group of the menu open (part 4 of 4)</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Auditor: menu entries of Collections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83</a:t>
            </a:r>
          </a:p>
        </p:txBody>
      </p:sp>
      <p:graphicFrame>
        <p:nvGraphicFramePr>
          <p:cNvPr id="9" name="Table 8"/>
          <p:cNvGraphicFramePr>
            <a:graphicFrameLocks noGrp="1"/>
          </p:cNvGraphicFramePr>
          <p:nvPr/>
        </p:nvGraphicFramePr>
        <p:xfrm>
          <a:off x="548640" y="1325880"/>
          <a:ext cx="11094414" cy="284988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Collections Home</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PR Worklist</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Installment Plans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Installments Due</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Promises to Pay</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Escalations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Billing Statements</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Unapplied Payments</a:t>
                      </a:r>
                    </a:p>
                  </a:txBody>
                  <a:tcPr marL="54864" marR="54864" marT="27432" marB="27432">
                    <a:solidFill>
                      <a:srgbClr val="E5F5FF"/>
                    </a:solidFill>
                  </a:tcPr>
                </a:tc>
              </a:tr>
              <a:tr h="259080">
                <a:tc>
                  <a:txBody>
                    <a:bodyPr/>
                    <a:lstStyle/>
                    <a:p>
                      <a:r>
                        <a:rPr sz="1100" b="0">
                          <a:solidFill>
                            <a:srgbClr val="4B4B4B"/>
                          </a:solidFill>
                          <a:latin typeface="Arial"/>
                        </a:rPr>
                        <a:t>Finance</a:t>
                      </a:r>
                    </a:p>
                  </a:txBody>
                  <a:tcPr marL="54864" marR="54864" marT="27432" marB="27432">
                    <a:solidFill>
                      <a:srgbClr val="FFFFFF"/>
                    </a:solidFill>
                  </a:tcPr>
                </a:tc>
                <a:tc>
                  <a:txBody>
                    <a:bodyPr/>
                    <a:lstStyle/>
                    <a:p>
                      <a:r>
                        <a:rPr sz="1100" b="0">
                          <a:solidFill>
                            <a:srgbClr val="4B4B4B"/>
                          </a:solidFill>
                          <a:latin typeface="Arial"/>
                        </a:rPr>
                        <a:t>Collections</a:t>
                      </a:r>
                    </a:p>
                  </a:txBody>
                  <a:tcPr marL="54864" marR="54864" marT="27432" marB="27432">
                    <a:solidFill>
                      <a:srgbClr val="FFFFFF"/>
                    </a:solidFill>
                  </a:tcPr>
                </a:tc>
                <a:tc>
                  <a:txBody>
                    <a:bodyPr/>
                    <a:lstStyle/>
                    <a:p>
                      <a:r>
                        <a:rPr sz="1100" b="0">
                          <a:solidFill>
                            <a:srgbClr val="4B4B4B"/>
                          </a:solidFill>
                          <a:latin typeface="Arial"/>
                        </a:rPr>
                        <a:t>Requests to Cashiering</a:t>
                      </a:r>
                    </a:p>
                  </a:txBody>
                  <a:tcPr marL="54864" marR="54864" marT="27432" marB="27432">
                    <a:solidFill>
                      <a:srgbClr val="FFFFFF"/>
                    </a:solidFill>
                  </a:tcPr>
                </a:tc>
              </a:tr>
              <a:tr h="259080">
                <a:tc>
                  <a:txBody>
                    <a:bodyPr/>
                    <a:lstStyle/>
                    <a:p>
                      <a:r>
                        <a:rPr sz="1100" b="0">
                          <a:solidFill>
                            <a:srgbClr val="4B4B4B"/>
                          </a:solidFill>
                          <a:latin typeface="Arial"/>
                        </a:rPr>
                        <a:t>Finance</a:t>
                      </a:r>
                    </a:p>
                  </a:txBody>
                  <a:tcPr marL="54864" marR="54864" marT="27432" marB="27432">
                    <a:solidFill>
                      <a:srgbClr val="E5F5FF"/>
                    </a:solidFill>
                  </a:tcPr>
                </a:tc>
                <a:tc>
                  <a:txBody>
                    <a:bodyPr/>
                    <a:lstStyle/>
                    <a:p>
                      <a:r>
                        <a:rPr sz="1100" b="0">
                          <a:solidFill>
                            <a:srgbClr val="4B4B4B"/>
                          </a:solidFill>
                          <a:latin typeface="Arial"/>
                        </a:rPr>
                        <a:t>Collections</a:t>
                      </a:r>
                    </a:p>
                  </a:txBody>
                  <a:tcPr marL="54864" marR="54864" marT="27432" marB="27432">
                    <a:solidFill>
                      <a:srgbClr val="E5F5FF"/>
                    </a:solidFill>
                  </a:tcPr>
                </a:tc>
                <a:tc>
                  <a:txBody>
                    <a:bodyPr/>
                    <a:lstStyle/>
                    <a:p>
                      <a:r>
                        <a:rPr sz="1100" b="0">
                          <a:solidFill>
                            <a:srgbClr val="4B4B4B"/>
                          </a:solidFill>
                          <a:latin typeface="Arial"/>
                        </a:rPr>
                        <a:t>Collections Files</a:t>
                      </a:r>
                    </a:p>
                  </a:txBody>
                  <a:tcPr marL="54864" marR="54864" marT="27432" marB="27432">
                    <a:solidFill>
                      <a:srgbClr val="E5F5FF"/>
                    </a:solidFill>
                  </a:tcPr>
                </a:tc>
              </a:tr>
            </a:tbl>
          </a:graphicData>
        </a:graphic>
      </p:graphicFrame>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Personas</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Who they are, what they do in this BRD, their screens and flows</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BRD-4 Collections</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Marketing Account Officer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85</a:t>
            </a:r>
          </a:p>
        </p:txBody>
      </p:sp>
      <p:graphicFrame>
        <p:nvGraphicFramePr>
          <p:cNvPr id="9" name="Table 8"/>
          <p:cNvGraphicFramePr>
            <a:graphicFrameLocks noGrp="1"/>
          </p:cNvGraphicFramePr>
          <p:nvPr/>
        </p:nvGraphicFramePr>
        <p:xfrm>
          <a:off x="548640" y="1307592"/>
          <a:ext cx="5410047" cy="137160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 Marketing account officer who follows up the premium of the own accounts</a:t>
                      </a:r>
                    </a:p>
                  </a:txBody>
                  <a:tcPr marL="54864" marR="54864" marT="27432" marB="27432">
                    <a:solidFill>
                      <a:srgbClr val="FFFFFF"/>
                    </a:solidFill>
                  </a:tcPr>
                </a:tc>
              </a:tr>
              <a:tr h="42672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Follows up own accounts; efforts, dispositions, promises, manual escalation; unapplied dispositions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NAV-CL-01</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WT-E steps 1</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(16)</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900">
                <a:solidFill>
                  <a:srgbClr val="004EA8"/>
                </a:solidFill>
                <a:latin typeface="Arial"/>
              </a:rPr>
              <a:t>•  </a:t>
            </a:r>
            <a:r>
              <a:rPr sz="900">
                <a:solidFill>
                  <a:srgbClr val="4B4B4B"/>
                </a:solidFill>
                <a:latin typeface="Arial"/>
              </a:rPr>
              <a:t>SCR-CL-01 Collections Home</a:t>
            </a:r>
          </a:p>
          <a:p>
            <a:pPr>
              <a:spcAft>
                <a:spcPts val="600"/>
              </a:spcAft>
            </a:pPr>
            <a:r>
              <a:rPr sz="900">
                <a:solidFill>
                  <a:srgbClr val="004EA8"/>
                </a:solidFill>
                <a:latin typeface="Arial"/>
              </a:rPr>
              <a:t>•  </a:t>
            </a:r>
            <a:r>
              <a:rPr sz="900">
                <a:solidFill>
                  <a:srgbClr val="4B4B4B"/>
                </a:solidFill>
                <a:latin typeface="Arial"/>
              </a:rPr>
              <a:t>SCR-CL-02 PR Worklist</a:t>
            </a:r>
          </a:p>
          <a:p>
            <a:pPr>
              <a:spcAft>
                <a:spcPts val="600"/>
              </a:spcAft>
            </a:pPr>
            <a:r>
              <a:rPr sz="900">
                <a:solidFill>
                  <a:srgbClr val="004EA8"/>
                </a:solidFill>
                <a:latin typeface="Arial"/>
              </a:rPr>
              <a:t>•  </a:t>
            </a:r>
            <a:r>
              <a:rPr sz="900">
                <a:solidFill>
                  <a:srgbClr val="4B4B4B"/>
                </a:solidFill>
                <a:latin typeface="Arial"/>
              </a:rPr>
              <a:t>SCR-CL-03 Collection Account</a:t>
            </a:r>
          </a:p>
          <a:p>
            <a:pPr>
              <a:spcAft>
                <a:spcPts val="600"/>
              </a:spcAft>
            </a:pPr>
            <a:r>
              <a:rPr sz="900">
                <a:solidFill>
                  <a:srgbClr val="004EA8"/>
                </a:solidFill>
                <a:latin typeface="Arial"/>
              </a:rPr>
              <a:t>•  </a:t>
            </a:r>
            <a:r>
              <a:rPr sz="900">
                <a:solidFill>
                  <a:srgbClr val="4B4B4B"/>
                </a:solidFill>
                <a:latin typeface="Arial"/>
              </a:rPr>
              <a:t>SCR-CL-04 Client View</a:t>
            </a:r>
          </a:p>
          <a:p>
            <a:pPr>
              <a:spcAft>
                <a:spcPts val="600"/>
              </a:spcAft>
            </a:pPr>
            <a:r>
              <a:rPr sz="900">
                <a:solidFill>
                  <a:srgbClr val="004EA8"/>
                </a:solidFill>
                <a:latin typeface="Arial"/>
              </a:rPr>
              <a:t>•  </a:t>
            </a:r>
            <a:r>
              <a:rPr sz="900">
                <a:solidFill>
                  <a:srgbClr val="4B4B4B"/>
                </a:solidFill>
                <a:latin typeface="Arial"/>
              </a:rPr>
              <a:t>SCR-CL-05 Installment Plans</a:t>
            </a:r>
          </a:p>
          <a:p>
            <a:pPr>
              <a:spcAft>
                <a:spcPts val="600"/>
              </a:spcAft>
            </a:pPr>
            <a:r>
              <a:rPr sz="900">
                <a:solidFill>
                  <a:srgbClr val="004EA8"/>
                </a:solidFill>
                <a:latin typeface="Arial"/>
              </a:rPr>
              <a:t>•  </a:t>
            </a:r>
            <a:r>
              <a:rPr sz="900">
                <a:solidFill>
                  <a:srgbClr val="4B4B4B"/>
                </a:solidFill>
                <a:latin typeface="Arial"/>
              </a:rPr>
              <a:t>SCR-CL-06 Installment Plan</a:t>
            </a:r>
          </a:p>
          <a:p>
            <a:pPr>
              <a:spcAft>
                <a:spcPts val="600"/>
              </a:spcAft>
            </a:pPr>
            <a:r>
              <a:rPr sz="900">
                <a:solidFill>
                  <a:srgbClr val="004EA8"/>
                </a:solidFill>
                <a:latin typeface="Arial"/>
              </a:rPr>
              <a:t>•  </a:t>
            </a:r>
            <a:r>
              <a:rPr sz="900">
                <a:solidFill>
                  <a:srgbClr val="4B4B4B"/>
                </a:solidFill>
                <a:latin typeface="Arial"/>
              </a:rPr>
              <a:t>SCR-CL-07 Installments Due</a:t>
            </a:r>
          </a:p>
          <a:p>
            <a:pPr>
              <a:spcAft>
                <a:spcPts val="600"/>
              </a:spcAft>
            </a:pPr>
            <a:r>
              <a:rPr sz="900">
                <a:solidFill>
                  <a:srgbClr val="004EA8"/>
                </a:solidFill>
                <a:latin typeface="Arial"/>
              </a:rPr>
              <a:t>•  </a:t>
            </a:r>
            <a:r>
              <a:rPr sz="900">
                <a:solidFill>
                  <a:srgbClr val="4B4B4B"/>
                </a:solidFill>
                <a:latin typeface="Arial"/>
              </a:rPr>
              <a:t>SCR-CL-08 Promises to Pay</a:t>
            </a:r>
          </a:p>
          <a:p>
            <a:pPr>
              <a:spcAft>
                <a:spcPts val="600"/>
              </a:spcAft>
            </a:pPr>
            <a:r>
              <a:rPr sz="900">
                <a:solidFill>
                  <a:srgbClr val="004EA8"/>
                </a:solidFill>
                <a:latin typeface="Arial"/>
              </a:rPr>
              <a:t>•  </a:t>
            </a:r>
            <a:r>
              <a:rPr sz="900">
                <a:solidFill>
                  <a:srgbClr val="4B4B4B"/>
                </a:solidFill>
                <a:latin typeface="Arial"/>
              </a:rPr>
              <a:t>SCR-CL-09 Billing Statements</a:t>
            </a:r>
          </a:p>
          <a:p>
            <a:pPr>
              <a:spcAft>
                <a:spcPts val="600"/>
              </a:spcAft>
            </a:pPr>
            <a:r>
              <a:rPr sz="900">
                <a:solidFill>
                  <a:srgbClr val="004EA8"/>
                </a:solidFill>
                <a:latin typeface="Arial"/>
              </a:rPr>
              <a:t>•  </a:t>
            </a:r>
            <a:r>
              <a:rPr sz="900">
                <a:solidFill>
                  <a:srgbClr val="4B4B4B"/>
                </a:solidFill>
                <a:latin typeface="Arial"/>
              </a:rPr>
              <a:t>SCR-CL-10 Statement of Account</a:t>
            </a:r>
          </a:p>
          <a:p>
            <a:pPr>
              <a:spcAft>
                <a:spcPts val="600"/>
              </a:spcAft>
            </a:pPr>
            <a:r>
              <a:rPr sz="900">
                <a:solidFill>
                  <a:srgbClr val="004EA8"/>
                </a:solidFill>
                <a:latin typeface="Arial"/>
              </a:rPr>
              <a:t>•  </a:t>
            </a:r>
            <a:r>
              <a:rPr sz="900">
                <a:solidFill>
                  <a:srgbClr val="4B4B4B"/>
                </a:solidFill>
                <a:latin typeface="Arial"/>
              </a:rPr>
              <a:t>SCR-CL-11 Escalations</a:t>
            </a:r>
          </a:p>
          <a:p>
            <a:pPr>
              <a:spcAft>
                <a:spcPts val="600"/>
              </a:spcAft>
            </a:pPr>
            <a:r>
              <a:rPr sz="900">
                <a:solidFill>
                  <a:srgbClr val="004EA8"/>
                </a:solidFill>
                <a:latin typeface="Arial"/>
              </a:rPr>
              <a:t>•  </a:t>
            </a:r>
            <a:r>
              <a:rPr sz="900">
                <a:solidFill>
                  <a:srgbClr val="4B4B4B"/>
                </a:solidFill>
                <a:latin typeface="Arial"/>
              </a:rPr>
              <a:t>SCR-CL-12 Escalation</a:t>
            </a:r>
          </a:p>
          <a:p>
            <a:pPr>
              <a:spcAft>
                <a:spcPts val="600"/>
              </a:spcAft>
            </a:pPr>
            <a:r>
              <a:rPr sz="900">
                <a:solidFill>
                  <a:srgbClr val="004EA8"/>
                </a:solidFill>
                <a:latin typeface="Arial"/>
              </a:rPr>
              <a:t>•  </a:t>
            </a:r>
            <a:r>
              <a:rPr sz="900">
                <a:solidFill>
                  <a:srgbClr val="4B4B4B"/>
                </a:solidFill>
                <a:latin typeface="Arial"/>
              </a:rPr>
              <a:t>SCR-CL-14 Unapplied Payments</a:t>
            </a:r>
          </a:p>
          <a:p>
            <a:pPr>
              <a:spcAft>
                <a:spcPts val="600"/>
              </a:spcAft>
            </a:pPr>
            <a:r>
              <a:rPr sz="900">
                <a:solidFill>
                  <a:srgbClr val="004EA8"/>
                </a:solidFill>
                <a:latin typeface="Arial"/>
              </a:rPr>
              <a:t>•  </a:t>
            </a:r>
            <a:r>
              <a:rPr sz="900">
                <a:solidFill>
                  <a:srgbClr val="4B4B4B"/>
                </a:solidFill>
                <a:latin typeface="Arial"/>
              </a:rPr>
              <a:t>SCR-CL-15 Unapplied Payment</a:t>
            </a:r>
          </a:p>
          <a:p>
            <a:pPr>
              <a:spcAft>
                <a:spcPts val="600"/>
              </a:spcAft>
            </a:pPr>
            <a:r>
              <a:rPr sz="900">
                <a:solidFill>
                  <a:srgbClr val="004EA8"/>
                </a:solidFill>
                <a:latin typeface="Arial"/>
              </a:rPr>
              <a:t>•  </a:t>
            </a:r>
            <a:r>
              <a:rPr sz="900">
                <a:solidFill>
                  <a:srgbClr val="4B4B4B"/>
                </a:solidFill>
                <a:latin typeface="Arial"/>
              </a:rPr>
              <a:t>SCR-CL-16 Requests to Cashiering</a:t>
            </a:r>
          </a:p>
          <a:p>
            <a:pPr>
              <a:spcAft>
                <a:spcPts val="600"/>
              </a:spcAft>
            </a:pPr>
            <a:r>
              <a:rPr sz="900">
                <a:solidFill>
                  <a:srgbClr val="004EA8"/>
                </a:solidFill>
                <a:latin typeface="Arial"/>
              </a:rPr>
              <a:t>•  </a:t>
            </a:r>
            <a:r>
              <a:rPr sz="900">
                <a:solidFill>
                  <a:srgbClr val="4B4B4B"/>
                </a:solidFill>
                <a:latin typeface="Arial"/>
              </a:rPr>
              <a:t>SCR-CL-18 Collections Files</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Marketing Team Lead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86</a:t>
            </a:r>
          </a:p>
        </p:txBody>
      </p:sp>
      <p:graphicFrame>
        <p:nvGraphicFramePr>
          <p:cNvPr id="9" name="Table 8"/>
          <p:cNvGraphicFramePr>
            <a:graphicFrameLocks noGrp="1"/>
          </p:cNvGraphicFramePr>
          <p:nvPr/>
        </p:nvGraphicFramePr>
        <p:xfrm>
          <a:off x="548640" y="1307592"/>
          <a:ext cx="5410047" cy="137160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 Marketing team lead who acts on escalations, reassigns accounts and updates several accounts at once</a:t>
                      </a:r>
                    </a:p>
                  </a:txBody>
                  <a:tcPr marL="54864" marR="54864" marT="27432" marB="27432">
                    <a:solidFill>
                      <a:srgbClr val="FFFFFF"/>
                    </a:solidFill>
                  </a:tcPr>
                </a:tc>
              </a:tr>
              <a:tr h="42672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As the AO, plus bulk update, assignment, billing statements and acting on escalations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NAV-CL-02</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No step of the flows of this set</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(18)</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900">
                <a:solidFill>
                  <a:srgbClr val="004EA8"/>
                </a:solidFill>
                <a:latin typeface="Arial"/>
              </a:rPr>
              <a:t>•  </a:t>
            </a:r>
            <a:r>
              <a:rPr sz="900">
                <a:solidFill>
                  <a:srgbClr val="4B4B4B"/>
                </a:solidFill>
                <a:latin typeface="Arial"/>
              </a:rPr>
              <a:t>SCR-CL-01 Collections Home</a:t>
            </a:r>
          </a:p>
          <a:p>
            <a:pPr>
              <a:spcAft>
                <a:spcPts val="600"/>
              </a:spcAft>
            </a:pPr>
            <a:r>
              <a:rPr sz="900">
                <a:solidFill>
                  <a:srgbClr val="004EA8"/>
                </a:solidFill>
                <a:latin typeface="Arial"/>
              </a:rPr>
              <a:t>•  </a:t>
            </a:r>
            <a:r>
              <a:rPr sz="900">
                <a:solidFill>
                  <a:srgbClr val="4B4B4B"/>
                </a:solidFill>
                <a:latin typeface="Arial"/>
              </a:rPr>
              <a:t>SCR-CL-02 PR Worklist</a:t>
            </a:r>
          </a:p>
          <a:p>
            <a:pPr>
              <a:spcAft>
                <a:spcPts val="600"/>
              </a:spcAft>
            </a:pPr>
            <a:r>
              <a:rPr sz="900">
                <a:solidFill>
                  <a:srgbClr val="004EA8"/>
                </a:solidFill>
                <a:latin typeface="Arial"/>
              </a:rPr>
              <a:t>•  </a:t>
            </a:r>
            <a:r>
              <a:rPr sz="900">
                <a:solidFill>
                  <a:srgbClr val="4B4B4B"/>
                </a:solidFill>
                <a:latin typeface="Arial"/>
              </a:rPr>
              <a:t>SCR-CL-03 Collection Account</a:t>
            </a:r>
          </a:p>
          <a:p>
            <a:pPr>
              <a:spcAft>
                <a:spcPts val="600"/>
              </a:spcAft>
            </a:pPr>
            <a:r>
              <a:rPr sz="900">
                <a:solidFill>
                  <a:srgbClr val="004EA8"/>
                </a:solidFill>
                <a:latin typeface="Arial"/>
              </a:rPr>
              <a:t>•  </a:t>
            </a:r>
            <a:r>
              <a:rPr sz="900">
                <a:solidFill>
                  <a:srgbClr val="4B4B4B"/>
                </a:solidFill>
                <a:latin typeface="Arial"/>
              </a:rPr>
              <a:t>SCR-CL-04 Client View</a:t>
            </a:r>
          </a:p>
          <a:p>
            <a:pPr>
              <a:spcAft>
                <a:spcPts val="600"/>
              </a:spcAft>
            </a:pPr>
            <a:r>
              <a:rPr sz="900">
                <a:solidFill>
                  <a:srgbClr val="004EA8"/>
                </a:solidFill>
                <a:latin typeface="Arial"/>
              </a:rPr>
              <a:t>•  </a:t>
            </a:r>
            <a:r>
              <a:rPr sz="900">
                <a:solidFill>
                  <a:srgbClr val="4B4B4B"/>
                </a:solidFill>
                <a:latin typeface="Arial"/>
              </a:rPr>
              <a:t>SCR-CL-05 Installment Plans</a:t>
            </a:r>
          </a:p>
          <a:p>
            <a:pPr>
              <a:spcAft>
                <a:spcPts val="600"/>
              </a:spcAft>
            </a:pPr>
            <a:r>
              <a:rPr sz="900">
                <a:solidFill>
                  <a:srgbClr val="004EA8"/>
                </a:solidFill>
                <a:latin typeface="Arial"/>
              </a:rPr>
              <a:t>•  </a:t>
            </a:r>
            <a:r>
              <a:rPr sz="900">
                <a:solidFill>
                  <a:srgbClr val="4B4B4B"/>
                </a:solidFill>
                <a:latin typeface="Arial"/>
              </a:rPr>
              <a:t>SCR-CL-06 Installment Plan</a:t>
            </a:r>
          </a:p>
          <a:p>
            <a:pPr>
              <a:spcAft>
                <a:spcPts val="600"/>
              </a:spcAft>
            </a:pPr>
            <a:r>
              <a:rPr sz="900">
                <a:solidFill>
                  <a:srgbClr val="004EA8"/>
                </a:solidFill>
                <a:latin typeface="Arial"/>
              </a:rPr>
              <a:t>•  </a:t>
            </a:r>
            <a:r>
              <a:rPr sz="900">
                <a:solidFill>
                  <a:srgbClr val="4B4B4B"/>
                </a:solidFill>
                <a:latin typeface="Arial"/>
              </a:rPr>
              <a:t>SCR-CL-07 Installments Due</a:t>
            </a:r>
          </a:p>
          <a:p>
            <a:pPr>
              <a:spcAft>
                <a:spcPts val="600"/>
              </a:spcAft>
            </a:pPr>
            <a:r>
              <a:rPr sz="900">
                <a:solidFill>
                  <a:srgbClr val="004EA8"/>
                </a:solidFill>
                <a:latin typeface="Arial"/>
              </a:rPr>
              <a:t>•  </a:t>
            </a:r>
            <a:r>
              <a:rPr sz="900">
                <a:solidFill>
                  <a:srgbClr val="4B4B4B"/>
                </a:solidFill>
                <a:latin typeface="Arial"/>
              </a:rPr>
              <a:t>SCR-CL-08 Promises to Pay</a:t>
            </a:r>
          </a:p>
          <a:p>
            <a:pPr>
              <a:spcAft>
                <a:spcPts val="600"/>
              </a:spcAft>
            </a:pPr>
            <a:r>
              <a:rPr sz="900">
                <a:solidFill>
                  <a:srgbClr val="004EA8"/>
                </a:solidFill>
                <a:latin typeface="Arial"/>
              </a:rPr>
              <a:t>•  </a:t>
            </a:r>
            <a:r>
              <a:rPr sz="900">
                <a:solidFill>
                  <a:srgbClr val="4B4B4B"/>
                </a:solidFill>
                <a:latin typeface="Arial"/>
              </a:rPr>
              <a:t>SCR-CL-09 Billing Statements</a:t>
            </a:r>
          </a:p>
          <a:p>
            <a:pPr>
              <a:spcAft>
                <a:spcPts val="600"/>
              </a:spcAft>
            </a:pPr>
            <a:r>
              <a:rPr sz="900">
                <a:solidFill>
                  <a:srgbClr val="004EA8"/>
                </a:solidFill>
                <a:latin typeface="Arial"/>
              </a:rPr>
              <a:t>•  </a:t>
            </a:r>
            <a:r>
              <a:rPr sz="900">
                <a:solidFill>
                  <a:srgbClr val="4B4B4B"/>
                </a:solidFill>
                <a:latin typeface="Arial"/>
              </a:rPr>
              <a:t>SCR-CL-10 Statement of Account</a:t>
            </a:r>
          </a:p>
          <a:p>
            <a:pPr>
              <a:spcAft>
                <a:spcPts val="600"/>
              </a:spcAft>
            </a:pPr>
            <a:r>
              <a:rPr sz="900">
                <a:solidFill>
                  <a:srgbClr val="004EA8"/>
                </a:solidFill>
                <a:latin typeface="Arial"/>
              </a:rPr>
              <a:t>•  </a:t>
            </a:r>
            <a:r>
              <a:rPr sz="900">
                <a:solidFill>
                  <a:srgbClr val="4B4B4B"/>
                </a:solidFill>
                <a:latin typeface="Arial"/>
              </a:rPr>
              <a:t>SCR-CL-11 Escalations</a:t>
            </a:r>
          </a:p>
          <a:p>
            <a:pPr>
              <a:spcAft>
                <a:spcPts val="600"/>
              </a:spcAft>
            </a:pPr>
            <a:r>
              <a:rPr sz="900">
                <a:solidFill>
                  <a:srgbClr val="004EA8"/>
                </a:solidFill>
                <a:latin typeface="Arial"/>
              </a:rPr>
              <a:t>•  </a:t>
            </a:r>
            <a:r>
              <a:rPr sz="900">
                <a:solidFill>
                  <a:srgbClr val="4B4B4B"/>
                </a:solidFill>
                <a:latin typeface="Arial"/>
              </a:rPr>
              <a:t>SCR-CL-12 Escalation</a:t>
            </a:r>
          </a:p>
          <a:p>
            <a:pPr>
              <a:spcAft>
                <a:spcPts val="600"/>
              </a:spcAft>
            </a:pPr>
            <a:r>
              <a:rPr sz="900">
                <a:solidFill>
                  <a:srgbClr val="004EA8"/>
                </a:solidFill>
                <a:latin typeface="Arial"/>
              </a:rPr>
              <a:t>•  </a:t>
            </a:r>
            <a:r>
              <a:rPr sz="900">
                <a:solidFill>
                  <a:srgbClr val="4B4B4B"/>
                </a:solidFill>
                <a:latin typeface="Arial"/>
              </a:rPr>
              <a:t>SCR-CL-13 Escalation Rules</a:t>
            </a:r>
          </a:p>
          <a:p>
            <a:pPr>
              <a:spcAft>
                <a:spcPts val="600"/>
              </a:spcAft>
            </a:pPr>
            <a:r>
              <a:rPr sz="900">
                <a:solidFill>
                  <a:srgbClr val="004EA8"/>
                </a:solidFill>
                <a:latin typeface="Arial"/>
              </a:rPr>
              <a:t>•  </a:t>
            </a:r>
            <a:r>
              <a:rPr sz="900">
                <a:solidFill>
                  <a:srgbClr val="4B4B4B"/>
                </a:solidFill>
                <a:latin typeface="Arial"/>
              </a:rPr>
              <a:t>SCR-CL-14 Unapplied Payments</a:t>
            </a:r>
          </a:p>
          <a:p>
            <a:pPr>
              <a:spcAft>
                <a:spcPts val="600"/>
              </a:spcAft>
            </a:pPr>
            <a:r>
              <a:rPr sz="900">
                <a:solidFill>
                  <a:srgbClr val="004EA8"/>
                </a:solidFill>
                <a:latin typeface="Arial"/>
              </a:rPr>
              <a:t>•  </a:t>
            </a:r>
            <a:r>
              <a:rPr sz="900">
                <a:solidFill>
                  <a:srgbClr val="4B4B4B"/>
                </a:solidFill>
                <a:latin typeface="Arial"/>
              </a:rPr>
              <a:t>SCR-CL-15 Unapplied Payment</a:t>
            </a:r>
          </a:p>
          <a:p>
            <a:pPr>
              <a:spcAft>
                <a:spcPts val="600"/>
              </a:spcAft>
            </a:pPr>
            <a:r>
              <a:rPr sz="900">
                <a:solidFill>
                  <a:srgbClr val="004EA8"/>
                </a:solidFill>
                <a:latin typeface="Arial"/>
              </a:rPr>
              <a:t>•  </a:t>
            </a:r>
            <a:r>
              <a:rPr sz="900">
                <a:solidFill>
                  <a:srgbClr val="4B4B4B"/>
                </a:solidFill>
                <a:latin typeface="Arial"/>
              </a:rPr>
              <a:t>SCR-CL-16 Requests to Cashiering</a:t>
            </a:r>
          </a:p>
          <a:p>
            <a:pPr>
              <a:spcAft>
                <a:spcPts val="600"/>
              </a:spcAft>
            </a:pPr>
            <a:r>
              <a:rPr sz="900">
                <a:solidFill>
                  <a:srgbClr val="004EA8"/>
                </a:solidFill>
                <a:latin typeface="Arial"/>
              </a:rPr>
              <a:t>•  </a:t>
            </a:r>
            <a:r>
              <a:rPr sz="900">
                <a:solidFill>
                  <a:srgbClr val="4B4B4B"/>
                </a:solidFill>
                <a:latin typeface="Arial"/>
              </a:rPr>
              <a:t>SCR-CL-17 Assignments</a:t>
            </a:r>
          </a:p>
          <a:p>
            <a:pPr>
              <a:spcAft>
                <a:spcPts val="600"/>
              </a:spcAft>
            </a:pPr>
            <a:r>
              <a:rPr sz="900">
                <a:solidFill>
                  <a:srgbClr val="004EA8"/>
                </a:solidFill>
                <a:latin typeface="Arial"/>
              </a:rPr>
              <a:t>•  </a:t>
            </a:r>
            <a:r>
              <a:rPr sz="900">
                <a:solidFill>
                  <a:srgbClr val="4B4B4B"/>
                </a:solidFill>
                <a:latin typeface="Arial"/>
              </a:rPr>
              <a:t>SCR-CL-18 Collections Files</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Marketing Handler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87</a:t>
            </a:r>
          </a:p>
        </p:txBody>
      </p:sp>
      <p:graphicFrame>
        <p:nvGraphicFramePr>
          <p:cNvPr id="9" name="Table 8"/>
          <p:cNvGraphicFramePr>
            <a:graphicFrameLocks noGrp="1"/>
          </p:cNvGraphicFramePr>
          <p:nvPr/>
        </p:nvGraphicFramePr>
        <p:xfrm>
          <a:off x="548640" y="1307592"/>
          <a:ext cx="5410047" cy="120396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 Marketing handler who follows up the accounts of the unit, also several at once</a:t>
                      </a:r>
                    </a:p>
                  </a:txBody>
                  <a:tcPr marL="54864" marR="54864" marT="27432" marB="27432">
                    <a:solidFill>
                      <a:srgbClr val="FFFFFF"/>
                    </a:solidFill>
                  </a:tcPr>
                </a:tc>
              </a:tr>
              <a:tr h="25908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As the AO, plus bulk update</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NAV-CL-03</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No step of the flows of this set</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(16)</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900">
                <a:solidFill>
                  <a:srgbClr val="004EA8"/>
                </a:solidFill>
                <a:latin typeface="Arial"/>
              </a:rPr>
              <a:t>•  </a:t>
            </a:r>
            <a:r>
              <a:rPr sz="900">
                <a:solidFill>
                  <a:srgbClr val="4B4B4B"/>
                </a:solidFill>
                <a:latin typeface="Arial"/>
              </a:rPr>
              <a:t>SCR-CL-01 Collections Home</a:t>
            </a:r>
          </a:p>
          <a:p>
            <a:pPr>
              <a:spcAft>
                <a:spcPts val="600"/>
              </a:spcAft>
            </a:pPr>
            <a:r>
              <a:rPr sz="900">
                <a:solidFill>
                  <a:srgbClr val="004EA8"/>
                </a:solidFill>
                <a:latin typeface="Arial"/>
              </a:rPr>
              <a:t>•  </a:t>
            </a:r>
            <a:r>
              <a:rPr sz="900">
                <a:solidFill>
                  <a:srgbClr val="4B4B4B"/>
                </a:solidFill>
                <a:latin typeface="Arial"/>
              </a:rPr>
              <a:t>SCR-CL-02 PR Worklist</a:t>
            </a:r>
          </a:p>
          <a:p>
            <a:pPr>
              <a:spcAft>
                <a:spcPts val="600"/>
              </a:spcAft>
            </a:pPr>
            <a:r>
              <a:rPr sz="900">
                <a:solidFill>
                  <a:srgbClr val="004EA8"/>
                </a:solidFill>
                <a:latin typeface="Arial"/>
              </a:rPr>
              <a:t>•  </a:t>
            </a:r>
            <a:r>
              <a:rPr sz="900">
                <a:solidFill>
                  <a:srgbClr val="4B4B4B"/>
                </a:solidFill>
                <a:latin typeface="Arial"/>
              </a:rPr>
              <a:t>SCR-CL-03 Collection Account</a:t>
            </a:r>
          </a:p>
          <a:p>
            <a:pPr>
              <a:spcAft>
                <a:spcPts val="600"/>
              </a:spcAft>
            </a:pPr>
            <a:r>
              <a:rPr sz="900">
                <a:solidFill>
                  <a:srgbClr val="004EA8"/>
                </a:solidFill>
                <a:latin typeface="Arial"/>
              </a:rPr>
              <a:t>•  </a:t>
            </a:r>
            <a:r>
              <a:rPr sz="900">
                <a:solidFill>
                  <a:srgbClr val="4B4B4B"/>
                </a:solidFill>
                <a:latin typeface="Arial"/>
              </a:rPr>
              <a:t>SCR-CL-04 Client View</a:t>
            </a:r>
          </a:p>
          <a:p>
            <a:pPr>
              <a:spcAft>
                <a:spcPts val="600"/>
              </a:spcAft>
            </a:pPr>
            <a:r>
              <a:rPr sz="900">
                <a:solidFill>
                  <a:srgbClr val="004EA8"/>
                </a:solidFill>
                <a:latin typeface="Arial"/>
              </a:rPr>
              <a:t>•  </a:t>
            </a:r>
            <a:r>
              <a:rPr sz="900">
                <a:solidFill>
                  <a:srgbClr val="4B4B4B"/>
                </a:solidFill>
                <a:latin typeface="Arial"/>
              </a:rPr>
              <a:t>SCR-CL-05 Installment Plans</a:t>
            </a:r>
          </a:p>
          <a:p>
            <a:pPr>
              <a:spcAft>
                <a:spcPts val="600"/>
              </a:spcAft>
            </a:pPr>
            <a:r>
              <a:rPr sz="900">
                <a:solidFill>
                  <a:srgbClr val="004EA8"/>
                </a:solidFill>
                <a:latin typeface="Arial"/>
              </a:rPr>
              <a:t>•  </a:t>
            </a:r>
            <a:r>
              <a:rPr sz="900">
                <a:solidFill>
                  <a:srgbClr val="4B4B4B"/>
                </a:solidFill>
                <a:latin typeface="Arial"/>
              </a:rPr>
              <a:t>SCR-CL-06 Installment Plan</a:t>
            </a:r>
          </a:p>
          <a:p>
            <a:pPr>
              <a:spcAft>
                <a:spcPts val="600"/>
              </a:spcAft>
            </a:pPr>
            <a:r>
              <a:rPr sz="900">
                <a:solidFill>
                  <a:srgbClr val="004EA8"/>
                </a:solidFill>
                <a:latin typeface="Arial"/>
              </a:rPr>
              <a:t>•  </a:t>
            </a:r>
            <a:r>
              <a:rPr sz="900">
                <a:solidFill>
                  <a:srgbClr val="4B4B4B"/>
                </a:solidFill>
                <a:latin typeface="Arial"/>
              </a:rPr>
              <a:t>SCR-CL-07 Installments Due</a:t>
            </a:r>
          </a:p>
          <a:p>
            <a:pPr>
              <a:spcAft>
                <a:spcPts val="600"/>
              </a:spcAft>
            </a:pPr>
            <a:r>
              <a:rPr sz="900">
                <a:solidFill>
                  <a:srgbClr val="004EA8"/>
                </a:solidFill>
                <a:latin typeface="Arial"/>
              </a:rPr>
              <a:t>•  </a:t>
            </a:r>
            <a:r>
              <a:rPr sz="900">
                <a:solidFill>
                  <a:srgbClr val="4B4B4B"/>
                </a:solidFill>
                <a:latin typeface="Arial"/>
              </a:rPr>
              <a:t>SCR-CL-08 Promises to Pay</a:t>
            </a:r>
          </a:p>
          <a:p>
            <a:pPr>
              <a:spcAft>
                <a:spcPts val="600"/>
              </a:spcAft>
            </a:pPr>
            <a:r>
              <a:rPr sz="900">
                <a:solidFill>
                  <a:srgbClr val="004EA8"/>
                </a:solidFill>
                <a:latin typeface="Arial"/>
              </a:rPr>
              <a:t>•  </a:t>
            </a:r>
            <a:r>
              <a:rPr sz="900">
                <a:solidFill>
                  <a:srgbClr val="4B4B4B"/>
                </a:solidFill>
                <a:latin typeface="Arial"/>
              </a:rPr>
              <a:t>SCR-CL-09 Billing Statements</a:t>
            </a:r>
          </a:p>
          <a:p>
            <a:pPr>
              <a:spcAft>
                <a:spcPts val="600"/>
              </a:spcAft>
            </a:pPr>
            <a:r>
              <a:rPr sz="900">
                <a:solidFill>
                  <a:srgbClr val="004EA8"/>
                </a:solidFill>
                <a:latin typeface="Arial"/>
              </a:rPr>
              <a:t>•  </a:t>
            </a:r>
            <a:r>
              <a:rPr sz="900">
                <a:solidFill>
                  <a:srgbClr val="4B4B4B"/>
                </a:solidFill>
                <a:latin typeface="Arial"/>
              </a:rPr>
              <a:t>SCR-CL-10 Statement of Account</a:t>
            </a:r>
          </a:p>
          <a:p>
            <a:pPr>
              <a:spcAft>
                <a:spcPts val="600"/>
              </a:spcAft>
            </a:pPr>
            <a:r>
              <a:rPr sz="900">
                <a:solidFill>
                  <a:srgbClr val="004EA8"/>
                </a:solidFill>
                <a:latin typeface="Arial"/>
              </a:rPr>
              <a:t>•  </a:t>
            </a:r>
            <a:r>
              <a:rPr sz="900">
                <a:solidFill>
                  <a:srgbClr val="4B4B4B"/>
                </a:solidFill>
                <a:latin typeface="Arial"/>
              </a:rPr>
              <a:t>SCR-CL-11 Escalations</a:t>
            </a:r>
          </a:p>
          <a:p>
            <a:pPr>
              <a:spcAft>
                <a:spcPts val="600"/>
              </a:spcAft>
            </a:pPr>
            <a:r>
              <a:rPr sz="900">
                <a:solidFill>
                  <a:srgbClr val="004EA8"/>
                </a:solidFill>
                <a:latin typeface="Arial"/>
              </a:rPr>
              <a:t>•  </a:t>
            </a:r>
            <a:r>
              <a:rPr sz="900">
                <a:solidFill>
                  <a:srgbClr val="4B4B4B"/>
                </a:solidFill>
                <a:latin typeface="Arial"/>
              </a:rPr>
              <a:t>SCR-CL-12 Escalation</a:t>
            </a:r>
          </a:p>
          <a:p>
            <a:pPr>
              <a:spcAft>
                <a:spcPts val="600"/>
              </a:spcAft>
            </a:pPr>
            <a:r>
              <a:rPr sz="900">
                <a:solidFill>
                  <a:srgbClr val="004EA8"/>
                </a:solidFill>
                <a:latin typeface="Arial"/>
              </a:rPr>
              <a:t>•  </a:t>
            </a:r>
            <a:r>
              <a:rPr sz="900">
                <a:solidFill>
                  <a:srgbClr val="4B4B4B"/>
                </a:solidFill>
                <a:latin typeface="Arial"/>
              </a:rPr>
              <a:t>SCR-CL-14 Unapplied Payments</a:t>
            </a:r>
          </a:p>
          <a:p>
            <a:pPr>
              <a:spcAft>
                <a:spcPts val="600"/>
              </a:spcAft>
            </a:pPr>
            <a:r>
              <a:rPr sz="900">
                <a:solidFill>
                  <a:srgbClr val="004EA8"/>
                </a:solidFill>
                <a:latin typeface="Arial"/>
              </a:rPr>
              <a:t>•  </a:t>
            </a:r>
            <a:r>
              <a:rPr sz="900">
                <a:solidFill>
                  <a:srgbClr val="4B4B4B"/>
                </a:solidFill>
                <a:latin typeface="Arial"/>
              </a:rPr>
              <a:t>SCR-CL-15 Unapplied Payment</a:t>
            </a:r>
          </a:p>
          <a:p>
            <a:pPr>
              <a:spcAft>
                <a:spcPts val="600"/>
              </a:spcAft>
            </a:pPr>
            <a:r>
              <a:rPr sz="900">
                <a:solidFill>
                  <a:srgbClr val="004EA8"/>
                </a:solidFill>
                <a:latin typeface="Arial"/>
              </a:rPr>
              <a:t>•  </a:t>
            </a:r>
            <a:r>
              <a:rPr sz="900">
                <a:solidFill>
                  <a:srgbClr val="4B4B4B"/>
                </a:solidFill>
                <a:latin typeface="Arial"/>
              </a:rPr>
              <a:t>SCR-CL-16 Requests to Cashiering</a:t>
            </a:r>
          </a:p>
          <a:p>
            <a:pPr>
              <a:spcAft>
                <a:spcPts val="600"/>
              </a:spcAft>
            </a:pPr>
            <a:r>
              <a:rPr sz="900">
                <a:solidFill>
                  <a:srgbClr val="004EA8"/>
                </a:solidFill>
                <a:latin typeface="Arial"/>
              </a:rPr>
              <a:t>•  </a:t>
            </a:r>
            <a:r>
              <a:rPr sz="900">
                <a:solidFill>
                  <a:srgbClr val="4B4B4B"/>
                </a:solidFill>
                <a:latin typeface="Arial"/>
              </a:rPr>
              <a:t>SCR-CL-18 Collections Files</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Collection Handler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88</a:t>
            </a:r>
          </a:p>
        </p:txBody>
      </p:sp>
      <p:graphicFrame>
        <p:nvGraphicFramePr>
          <p:cNvPr id="9" name="Table 8"/>
          <p:cNvGraphicFramePr>
            <a:graphicFrameLocks noGrp="1"/>
          </p:cNvGraphicFramePr>
          <p:nvPr/>
        </p:nvGraphicFramePr>
        <p:xfrm>
          <a:off x="548640" y="1307592"/>
          <a:ext cx="5410047" cy="1706880"/>
        </p:xfrm>
        <a:graphic>
          <a:graphicData uri="http://schemas.openxmlformats.org/drawingml/2006/table">
            <a:tbl>
              <a:tblPr bandRow="1">
                <a:tableStyleId>{5C22544A-7EE6-4342-B048-85BDC9FD1C3A}</a:tableStyleId>
              </a:tblPr>
              <a:tblGrid>
                <a:gridCol w="1737360"/>
                <a:gridCol w="3672687"/>
              </a:tblGrid>
              <a:tr h="59436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 collection handler who works the accounts assigned to her: efforts, dispositions, promises, installment plans and statements</a:t>
                      </a:r>
                    </a:p>
                  </a:txBody>
                  <a:tcPr marL="54864" marR="54864" marT="27432" marB="27432">
                    <a:solidFill>
                      <a:srgbClr val="FFFFFF"/>
                    </a:solidFill>
                  </a:tcPr>
                </a:tc>
              </a:tr>
              <a:tr h="42672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Works the assigned accounts, unapplied payments, installment plans and billing statements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NAV-CL-04</a:t>
                      </a:r>
                    </a:p>
                  </a:txBody>
                  <a:tcPr marL="54864" marR="54864" marT="27432" marB="27432">
                    <a:solidFill>
                      <a:srgbClr val="FFFFFF"/>
                    </a:solidFill>
                  </a:tcPr>
                </a:tc>
              </a:tr>
              <a:tr h="42672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WT-A steps 2, 3, 4, 5; WT-B steps 1, 2; WT-D steps 1, 2, 3, 4; WT-E steps 3</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(16)</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900">
                <a:solidFill>
                  <a:srgbClr val="004EA8"/>
                </a:solidFill>
                <a:latin typeface="Arial"/>
              </a:rPr>
              <a:t>•  </a:t>
            </a:r>
            <a:r>
              <a:rPr sz="900">
                <a:solidFill>
                  <a:srgbClr val="4B4B4B"/>
                </a:solidFill>
                <a:latin typeface="Arial"/>
              </a:rPr>
              <a:t>SCR-CL-01 Collections Home</a:t>
            </a:r>
          </a:p>
          <a:p>
            <a:pPr>
              <a:spcAft>
                <a:spcPts val="600"/>
              </a:spcAft>
            </a:pPr>
            <a:r>
              <a:rPr sz="900">
                <a:solidFill>
                  <a:srgbClr val="004EA8"/>
                </a:solidFill>
                <a:latin typeface="Arial"/>
              </a:rPr>
              <a:t>•  </a:t>
            </a:r>
            <a:r>
              <a:rPr sz="900">
                <a:solidFill>
                  <a:srgbClr val="4B4B4B"/>
                </a:solidFill>
                <a:latin typeface="Arial"/>
              </a:rPr>
              <a:t>SCR-CL-02 PR Worklist</a:t>
            </a:r>
          </a:p>
          <a:p>
            <a:pPr>
              <a:spcAft>
                <a:spcPts val="600"/>
              </a:spcAft>
            </a:pPr>
            <a:r>
              <a:rPr sz="900">
                <a:solidFill>
                  <a:srgbClr val="004EA8"/>
                </a:solidFill>
                <a:latin typeface="Arial"/>
              </a:rPr>
              <a:t>•  </a:t>
            </a:r>
            <a:r>
              <a:rPr sz="900">
                <a:solidFill>
                  <a:srgbClr val="4B4B4B"/>
                </a:solidFill>
                <a:latin typeface="Arial"/>
              </a:rPr>
              <a:t>SCR-CL-03 Collection Account</a:t>
            </a:r>
          </a:p>
          <a:p>
            <a:pPr>
              <a:spcAft>
                <a:spcPts val="600"/>
              </a:spcAft>
            </a:pPr>
            <a:r>
              <a:rPr sz="900">
                <a:solidFill>
                  <a:srgbClr val="004EA8"/>
                </a:solidFill>
                <a:latin typeface="Arial"/>
              </a:rPr>
              <a:t>•  </a:t>
            </a:r>
            <a:r>
              <a:rPr sz="900">
                <a:solidFill>
                  <a:srgbClr val="4B4B4B"/>
                </a:solidFill>
                <a:latin typeface="Arial"/>
              </a:rPr>
              <a:t>SCR-CL-04 Client View</a:t>
            </a:r>
          </a:p>
          <a:p>
            <a:pPr>
              <a:spcAft>
                <a:spcPts val="600"/>
              </a:spcAft>
            </a:pPr>
            <a:r>
              <a:rPr sz="900">
                <a:solidFill>
                  <a:srgbClr val="004EA8"/>
                </a:solidFill>
                <a:latin typeface="Arial"/>
              </a:rPr>
              <a:t>•  </a:t>
            </a:r>
            <a:r>
              <a:rPr sz="900">
                <a:solidFill>
                  <a:srgbClr val="4B4B4B"/>
                </a:solidFill>
                <a:latin typeface="Arial"/>
              </a:rPr>
              <a:t>SCR-CL-05 Installment Plans</a:t>
            </a:r>
          </a:p>
          <a:p>
            <a:pPr>
              <a:spcAft>
                <a:spcPts val="600"/>
              </a:spcAft>
            </a:pPr>
            <a:r>
              <a:rPr sz="900">
                <a:solidFill>
                  <a:srgbClr val="004EA8"/>
                </a:solidFill>
                <a:latin typeface="Arial"/>
              </a:rPr>
              <a:t>•  </a:t>
            </a:r>
            <a:r>
              <a:rPr sz="900">
                <a:solidFill>
                  <a:srgbClr val="4B4B4B"/>
                </a:solidFill>
                <a:latin typeface="Arial"/>
              </a:rPr>
              <a:t>SCR-CL-06 Installment Plan</a:t>
            </a:r>
          </a:p>
          <a:p>
            <a:pPr>
              <a:spcAft>
                <a:spcPts val="600"/>
              </a:spcAft>
            </a:pPr>
            <a:r>
              <a:rPr sz="900">
                <a:solidFill>
                  <a:srgbClr val="004EA8"/>
                </a:solidFill>
                <a:latin typeface="Arial"/>
              </a:rPr>
              <a:t>•  </a:t>
            </a:r>
            <a:r>
              <a:rPr sz="900">
                <a:solidFill>
                  <a:srgbClr val="4B4B4B"/>
                </a:solidFill>
                <a:latin typeface="Arial"/>
              </a:rPr>
              <a:t>SCR-CL-07 Installments Due</a:t>
            </a:r>
          </a:p>
          <a:p>
            <a:pPr>
              <a:spcAft>
                <a:spcPts val="600"/>
              </a:spcAft>
            </a:pPr>
            <a:r>
              <a:rPr sz="900">
                <a:solidFill>
                  <a:srgbClr val="004EA8"/>
                </a:solidFill>
                <a:latin typeface="Arial"/>
              </a:rPr>
              <a:t>•  </a:t>
            </a:r>
            <a:r>
              <a:rPr sz="900">
                <a:solidFill>
                  <a:srgbClr val="4B4B4B"/>
                </a:solidFill>
                <a:latin typeface="Arial"/>
              </a:rPr>
              <a:t>SCR-CL-08 Promises to Pay</a:t>
            </a:r>
          </a:p>
          <a:p>
            <a:pPr>
              <a:spcAft>
                <a:spcPts val="600"/>
              </a:spcAft>
            </a:pPr>
            <a:r>
              <a:rPr sz="900">
                <a:solidFill>
                  <a:srgbClr val="004EA8"/>
                </a:solidFill>
                <a:latin typeface="Arial"/>
              </a:rPr>
              <a:t>•  </a:t>
            </a:r>
            <a:r>
              <a:rPr sz="900">
                <a:solidFill>
                  <a:srgbClr val="4B4B4B"/>
                </a:solidFill>
                <a:latin typeface="Arial"/>
              </a:rPr>
              <a:t>SCR-CL-09 Billing Statements</a:t>
            </a:r>
          </a:p>
          <a:p>
            <a:pPr>
              <a:spcAft>
                <a:spcPts val="600"/>
              </a:spcAft>
            </a:pPr>
            <a:r>
              <a:rPr sz="900">
                <a:solidFill>
                  <a:srgbClr val="004EA8"/>
                </a:solidFill>
                <a:latin typeface="Arial"/>
              </a:rPr>
              <a:t>•  </a:t>
            </a:r>
            <a:r>
              <a:rPr sz="900">
                <a:solidFill>
                  <a:srgbClr val="4B4B4B"/>
                </a:solidFill>
                <a:latin typeface="Arial"/>
              </a:rPr>
              <a:t>SCR-CL-10 Statement of Account</a:t>
            </a:r>
          </a:p>
          <a:p>
            <a:pPr>
              <a:spcAft>
                <a:spcPts val="600"/>
              </a:spcAft>
            </a:pPr>
            <a:r>
              <a:rPr sz="900">
                <a:solidFill>
                  <a:srgbClr val="004EA8"/>
                </a:solidFill>
                <a:latin typeface="Arial"/>
              </a:rPr>
              <a:t>•  </a:t>
            </a:r>
            <a:r>
              <a:rPr sz="900">
                <a:solidFill>
                  <a:srgbClr val="4B4B4B"/>
                </a:solidFill>
                <a:latin typeface="Arial"/>
              </a:rPr>
              <a:t>SCR-CL-11 Escalations</a:t>
            </a:r>
          </a:p>
          <a:p>
            <a:pPr>
              <a:spcAft>
                <a:spcPts val="600"/>
              </a:spcAft>
            </a:pPr>
            <a:r>
              <a:rPr sz="900">
                <a:solidFill>
                  <a:srgbClr val="004EA8"/>
                </a:solidFill>
                <a:latin typeface="Arial"/>
              </a:rPr>
              <a:t>•  </a:t>
            </a:r>
            <a:r>
              <a:rPr sz="900">
                <a:solidFill>
                  <a:srgbClr val="4B4B4B"/>
                </a:solidFill>
                <a:latin typeface="Arial"/>
              </a:rPr>
              <a:t>SCR-CL-12 Escalation</a:t>
            </a:r>
          </a:p>
          <a:p>
            <a:pPr>
              <a:spcAft>
                <a:spcPts val="600"/>
              </a:spcAft>
            </a:pPr>
            <a:r>
              <a:rPr sz="900">
                <a:solidFill>
                  <a:srgbClr val="004EA8"/>
                </a:solidFill>
                <a:latin typeface="Arial"/>
              </a:rPr>
              <a:t>•  </a:t>
            </a:r>
            <a:r>
              <a:rPr sz="900">
                <a:solidFill>
                  <a:srgbClr val="4B4B4B"/>
                </a:solidFill>
                <a:latin typeface="Arial"/>
              </a:rPr>
              <a:t>SCR-CL-14 Unapplied Payments</a:t>
            </a:r>
          </a:p>
          <a:p>
            <a:pPr>
              <a:spcAft>
                <a:spcPts val="600"/>
              </a:spcAft>
            </a:pPr>
            <a:r>
              <a:rPr sz="900">
                <a:solidFill>
                  <a:srgbClr val="004EA8"/>
                </a:solidFill>
                <a:latin typeface="Arial"/>
              </a:rPr>
              <a:t>•  </a:t>
            </a:r>
            <a:r>
              <a:rPr sz="900">
                <a:solidFill>
                  <a:srgbClr val="4B4B4B"/>
                </a:solidFill>
                <a:latin typeface="Arial"/>
              </a:rPr>
              <a:t>SCR-CL-15 Unapplied Payment</a:t>
            </a:r>
          </a:p>
          <a:p>
            <a:pPr>
              <a:spcAft>
                <a:spcPts val="600"/>
              </a:spcAft>
            </a:pPr>
            <a:r>
              <a:rPr sz="900">
                <a:solidFill>
                  <a:srgbClr val="004EA8"/>
                </a:solidFill>
                <a:latin typeface="Arial"/>
              </a:rPr>
              <a:t>•  </a:t>
            </a:r>
            <a:r>
              <a:rPr sz="900">
                <a:solidFill>
                  <a:srgbClr val="4B4B4B"/>
                </a:solidFill>
                <a:latin typeface="Arial"/>
              </a:rPr>
              <a:t>SCR-CL-16 Requests to Cashiering</a:t>
            </a:r>
          </a:p>
          <a:p>
            <a:pPr>
              <a:spcAft>
                <a:spcPts val="600"/>
              </a:spcAft>
            </a:pPr>
            <a:r>
              <a:rPr sz="900">
                <a:solidFill>
                  <a:srgbClr val="004EA8"/>
                </a:solidFill>
                <a:latin typeface="Arial"/>
              </a:rPr>
              <a:t>•  </a:t>
            </a:r>
            <a:r>
              <a:rPr sz="900">
                <a:solidFill>
                  <a:srgbClr val="4B4B4B"/>
                </a:solidFill>
                <a:latin typeface="Arial"/>
              </a:rPr>
              <a:t>SCR-CL-18 Collections Files</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Collection Team Lead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89</a:t>
            </a:r>
          </a:p>
        </p:txBody>
      </p:sp>
      <p:graphicFrame>
        <p:nvGraphicFramePr>
          <p:cNvPr id="9" name="Table 8"/>
          <p:cNvGraphicFramePr>
            <a:graphicFrameLocks noGrp="1"/>
          </p:cNvGraphicFramePr>
          <p:nvPr/>
        </p:nvGraphicFramePr>
        <p:xfrm>
          <a:off x="548640" y="1307592"/>
          <a:ext cx="5410047" cy="137160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The team lead of the collection handlers, who assigns the accounts and acts on the escalations</a:t>
                      </a:r>
                    </a:p>
                  </a:txBody>
                  <a:tcPr marL="54864" marR="54864" marT="27432" marB="27432">
                    <a:solidFill>
                      <a:srgbClr val="FFFFFF"/>
                    </a:solidFill>
                  </a:tcPr>
                </a:tc>
              </a:tr>
              <a:tr h="42672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As the handler, plus assignment and acting on escalations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NAV-CL-05</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WT-B steps 3, 4; WT-E steps 2</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(18)</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900">
                <a:solidFill>
                  <a:srgbClr val="004EA8"/>
                </a:solidFill>
                <a:latin typeface="Arial"/>
              </a:rPr>
              <a:t>•  </a:t>
            </a:r>
            <a:r>
              <a:rPr sz="900">
                <a:solidFill>
                  <a:srgbClr val="4B4B4B"/>
                </a:solidFill>
                <a:latin typeface="Arial"/>
              </a:rPr>
              <a:t>SCR-CL-01 Collections Home</a:t>
            </a:r>
          </a:p>
          <a:p>
            <a:pPr>
              <a:spcAft>
                <a:spcPts val="600"/>
              </a:spcAft>
            </a:pPr>
            <a:r>
              <a:rPr sz="900">
                <a:solidFill>
                  <a:srgbClr val="004EA8"/>
                </a:solidFill>
                <a:latin typeface="Arial"/>
              </a:rPr>
              <a:t>•  </a:t>
            </a:r>
            <a:r>
              <a:rPr sz="900">
                <a:solidFill>
                  <a:srgbClr val="4B4B4B"/>
                </a:solidFill>
                <a:latin typeface="Arial"/>
              </a:rPr>
              <a:t>SCR-CL-02 PR Worklist</a:t>
            </a:r>
          </a:p>
          <a:p>
            <a:pPr>
              <a:spcAft>
                <a:spcPts val="600"/>
              </a:spcAft>
            </a:pPr>
            <a:r>
              <a:rPr sz="900">
                <a:solidFill>
                  <a:srgbClr val="004EA8"/>
                </a:solidFill>
                <a:latin typeface="Arial"/>
              </a:rPr>
              <a:t>•  </a:t>
            </a:r>
            <a:r>
              <a:rPr sz="900">
                <a:solidFill>
                  <a:srgbClr val="4B4B4B"/>
                </a:solidFill>
                <a:latin typeface="Arial"/>
              </a:rPr>
              <a:t>SCR-CL-03 Collection Account</a:t>
            </a:r>
          </a:p>
          <a:p>
            <a:pPr>
              <a:spcAft>
                <a:spcPts val="600"/>
              </a:spcAft>
            </a:pPr>
            <a:r>
              <a:rPr sz="900">
                <a:solidFill>
                  <a:srgbClr val="004EA8"/>
                </a:solidFill>
                <a:latin typeface="Arial"/>
              </a:rPr>
              <a:t>•  </a:t>
            </a:r>
            <a:r>
              <a:rPr sz="900">
                <a:solidFill>
                  <a:srgbClr val="4B4B4B"/>
                </a:solidFill>
                <a:latin typeface="Arial"/>
              </a:rPr>
              <a:t>SCR-CL-04 Client View</a:t>
            </a:r>
          </a:p>
          <a:p>
            <a:pPr>
              <a:spcAft>
                <a:spcPts val="600"/>
              </a:spcAft>
            </a:pPr>
            <a:r>
              <a:rPr sz="900">
                <a:solidFill>
                  <a:srgbClr val="004EA8"/>
                </a:solidFill>
                <a:latin typeface="Arial"/>
              </a:rPr>
              <a:t>•  </a:t>
            </a:r>
            <a:r>
              <a:rPr sz="900">
                <a:solidFill>
                  <a:srgbClr val="4B4B4B"/>
                </a:solidFill>
                <a:latin typeface="Arial"/>
              </a:rPr>
              <a:t>SCR-CL-05 Installment Plans</a:t>
            </a:r>
          </a:p>
          <a:p>
            <a:pPr>
              <a:spcAft>
                <a:spcPts val="600"/>
              </a:spcAft>
            </a:pPr>
            <a:r>
              <a:rPr sz="900">
                <a:solidFill>
                  <a:srgbClr val="004EA8"/>
                </a:solidFill>
                <a:latin typeface="Arial"/>
              </a:rPr>
              <a:t>•  </a:t>
            </a:r>
            <a:r>
              <a:rPr sz="900">
                <a:solidFill>
                  <a:srgbClr val="4B4B4B"/>
                </a:solidFill>
                <a:latin typeface="Arial"/>
              </a:rPr>
              <a:t>SCR-CL-06 Installment Plan</a:t>
            </a:r>
          </a:p>
          <a:p>
            <a:pPr>
              <a:spcAft>
                <a:spcPts val="600"/>
              </a:spcAft>
            </a:pPr>
            <a:r>
              <a:rPr sz="900">
                <a:solidFill>
                  <a:srgbClr val="004EA8"/>
                </a:solidFill>
                <a:latin typeface="Arial"/>
              </a:rPr>
              <a:t>•  </a:t>
            </a:r>
            <a:r>
              <a:rPr sz="900">
                <a:solidFill>
                  <a:srgbClr val="4B4B4B"/>
                </a:solidFill>
                <a:latin typeface="Arial"/>
              </a:rPr>
              <a:t>SCR-CL-07 Installments Due</a:t>
            </a:r>
          </a:p>
          <a:p>
            <a:pPr>
              <a:spcAft>
                <a:spcPts val="600"/>
              </a:spcAft>
            </a:pPr>
            <a:r>
              <a:rPr sz="900">
                <a:solidFill>
                  <a:srgbClr val="004EA8"/>
                </a:solidFill>
                <a:latin typeface="Arial"/>
              </a:rPr>
              <a:t>•  </a:t>
            </a:r>
            <a:r>
              <a:rPr sz="900">
                <a:solidFill>
                  <a:srgbClr val="4B4B4B"/>
                </a:solidFill>
                <a:latin typeface="Arial"/>
              </a:rPr>
              <a:t>SCR-CL-08 Promises to Pay</a:t>
            </a:r>
          </a:p>
          <a:p>
            <a:pPr>
              <a:spcAft>
                <a:spcPts val="600"/>
              </a:spcAft>
            </a:pPr>
            <a:r>
              <a:rPr sz="900">
                <a:solidFill>
                  <a:srgbClr val="004EA8"/>
                </a:solidFill>
                <a:latin typeface="Arial"/>
              </a:rPr>
              <a:t>•  </a:t>
            </a:r>
            <a:r>
              <a:rPr sz="900">
                <a:solidFill>
                  <a:srgbClr val="4B4B4B"/>
                </a:solidFill>
                <a:latin typeface="Arial"/>
              </a:rPr>
              <a:t>SCR-CL-09 Billing Statements</a:t>
            </a:r>
          </a:p>
          <a:p>
            <a:pPr>
              <a:spcAft>
                <a:spcPts val="600"/>
              </a:spcAft>
            </a:pPr>
            <a:r>
              <a:rPr sz="900">
                <a:solidFill>
                  <a:srgbClr val="004EA8"/>
                </a:solidFill>
                <a:latin typeface="Arial"/>
              </a:rPr>
              <a:t>•  </a:t>
            </a:r>
            <a:r>
              <a:rPr sz="900">
                <a:solidFill>
                  <a:srgbClr val="4B4B4B"/>
                </a:solidFill>
                <a:latin typeface="Arial"/>
              </a:rPr>
              <a:t>SCR-CL-10 Statement of Account</a:t>
            </a:r>
          </a:p>
          <a:p>
            <a:pPr>
              <a:spcAft>
                <a:spcPts val="600"/>
              </a:spcAft>
            </a:pPr>
            <a:r>
              <a:rPr sz="900">
                <a:solidFill>
                  <a:srgbClr val="004EA8"/>
                </a:solidFill>
                <a:latin typeface="Arial"/>
              </a:rPr>
              <a:t>•  </a:t>
            </a:r>
            <a:r>
              <a:rPr sz="900">
                <a:solidFill>
                  <a:srgbClr val="4B4B4B"/>
                </a:solidFill>
                <a:latin typeface="Arial"/>
              </a:rPr>
              <a:t>SCR-CL-11 Escalations</a:t>
            </a:r>
          </a:p>
          <a:p>
            <a:pPr>
              <a:spcAft>
                <a:spcPts val="600"/>
              </a:spcAft>
            </a:pPr>
            <a:r>
              <a:rPr sz="900">
                <a:solidFill>
                  <a:srgbClr val="004EA8"/>
                </a:solidFill>
                <a:latin typeface="Arial"/>
              </a:rPr>
              <a:t>•  </a:t>
            </a:r>
            <a:r>
              <a:rPr sz="900">
                <a:solidFill>
                  <a:srgbClr val="4B4B4B"/>
                </a:solidFill>
                <a:latin typeface="Arial"/>
              </a:rPr>
              <a:t>SCR-CL-12 Escalation</a:t>
            </a:r>
          </a:p>
          <a:p>
            <a:pPr>
              <a:spcAft>
                <a:spcPts val="600"/>
              </a:spcAft>
            </a:pPr>
            <a:r>
              <a:rPr sz="900">
                <a:solidFill>
                  <a:srgbClr val="004EA8"/>
                </a:solidFill>
                <a:latin typeface="Arial"/>
              </a:rPr>
              <a:t>•  </a:t>
            </a:r>
            <a:r>
              <a:rPr sz="900">
                <a:solidFill>
                  <a:srgbClr val="4B4B4B"/>
                </a:solidFill>
                <a:latin typeface="Arial"/>
              </a:rPr>
              <a:t>SCR-CL-13 Escalation Rules</a:t>
            </a:r>
          </a:p>
          <a:p>
            <a:pPr>
              <a:spcAft>
                <a:spcPts val="600"/>
              </a:spcAft>
            </a:pPr>
            <a:r>
              <a:rPr sz="900">
                <a:solidFill>
                  <a:srgbClr val="004EA8"/>
                </a:solidFill>
                <a:latin typeface="Arial"/>
              </a:rPr>
              <a:t>•  </a:t>
            </a:r>
            <a:r>
              <a:rPr sz="900">
                <a:solidFill>
                  <a:srgbClr val="4B4B4B"/>
                </a:solidFill>
                <a:latin typeface="Arial"/>
              </a:rPr>
              <a:t>SCR-CL-14 Unapplied Payments</a:t>
            </a:r>
          </a:p>
          <a:p>
            <a:pPr>
              <a:spcAft>
                <a:spcPts val="600"/>
              </a:spcAft>
            </a:pPr>
            <a:r>
              <a:rPr sz="900">
                <a:solidFill>
                  <a:srgbClr val="004EA8"/>
                </a:solidFill>
                <a:latin typeface="Arial"/>
              </a:rPr>
              <a:t>•  </a:t>
            </a:r>
            <a:r>
              <a:rPr sz="900">
                <a:solidFill>
                  <a:srgbClr val="4B4B4B"/>
                </a:solidFill>
                <a:latin typeface="Arial"/>
              </a:rPr>
              <a:t>SCR-CL-15 Unapplied Payment</a:t>
            </a:r>
          </a:p>
          <a:p>
            <a:pPr>
              <a:spcAft>
                <a:spcPts val="600"/>
              </a:spcAft>
            </a:pPr>
            <a:r>
              <a:rPr sz="900">
                <a:solidFill>
                  <a:srgbClr val="004EA8"/>
                </a:solidFill>
                <a:latin typeface="Arial"/>
              </a:rPr>
              <a:t>•  </a:t>
            </a:r>
            <a:r>
              <a:rPr sz="900">
                <a:solidFill>
                  <a:srgbClr val="4B4B4B"/>
                </a:solidFill>
                <a:latin typeface="Arial"/>
              </a:rPr>
              <a:t>SCR-CL-16 Requests to Cashiering</a:t>
            </a:r>
          </a:p>
          <a:p>
            <a:pPr>
              <a:spcAft>
                <a:spcPts val="600"/>
              </a:spcAft>
            </a:pPr>
            <a:r>
              <a:rPr sz="900">
                <a:solidFill>
                  <a:srgbClr val="004EA8"/>
                </a:solidFill>
                <a:latin typeface="Arial"/>
              </a:rPr>
              <a:t>•  </a:t>
            </a:r>
            <a:r>
              <a:rPr sz="900">
                <a:solidFill>
                  <a:srgbClr val="4B4B4B"/>
                </a:solidFill>
                <a:latin typeface="Arial"/>
              </a:rPr>
              <a:t>SCR-CL-17 Assignments</a:t>
            </a:r>
          </a:p>
          <a:p>
            <a:pPr>
              <a:spcAft>
                <a:spcPts val="600"/>
              </a:spcAft>
            </a:pPr>
            <a:r>
              <a:rPr sz="900">
                <a:solidFill>
                  <a:srgbClr val="004EA8"/>
                </a:solidFill>
                <a:latin typeface="Arial"/>
              </a:rPr>
              <a:t>•  </a:t>
            </a:r>
            <a:r>
              <a:rPr sz="900">
                <a:solidFill>
                  <a:srgbClr val="4B4B4B"/>
                </a:solidFill>
                <a:latin typeface="Arial"/>
              </a:rPr>
              <a:t>SCR-CL-18 Collections Files</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Section Head (Corporate / Retail)</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90</a:t>
            </a:r>
          </a:p>
        </p:txBody>
      </p:sp>
      <p:graphicFrame>
        <p:nvGraphicFramePr>
          <p:cNvPr id="9" name="Table 8"/>
          <p:cNvGraphicFramePr>
            <a:graphicFrameLocks noGrp="1"/>
          </p:cNvGraphicFramePr>
          <p:nvPr/>
        </p:nvGraphicFramePr>
        <p:xfrm>
          <a:off x="548640" y="1307592"/>
          <a:ext cx="5410047" cy="137160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The head of the Corporate or Retail section, who keeps the Collections set-up and reads the audit log</a:t>
                      </a:r>
                    </a:p>
                  </a:txBody>
                  <a:tcPr marL="54864" marR="54864" marT="27432" marB="27432">
                    <a:solidFill>
                      <a:srgbClr val="FFFFFF"/>
                    </a:solidFill>
                  </a:tcPr>
                </a:tc>
              </a:tr>
              <a:tr h="42672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As the TL, plus Collections set-up (threshold, disposition options) and the audit log</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NAV-CL-06</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WT-A steps 1</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(19)</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900">
                <a:solidFill>
                  <a:srgbClr val="004EA8"/>
                </a:solidFill>
                <a:latin typeface="Arial"/>
              </a:rPr>
              <a:t>•  </a:t>
            </a:r>
            <a:r>
              <a:rPr sz="900">
                <a:solidFill>
                  <a:srgbClr val="4B4B4B"/>
                </a:solidFill>
                <a:latin typeface="Arial"/>
              </a:rPr>
              <a:t>SCR-CL-01 Collections Home</a:t>
            </a:r>
          </a:p>
          <a:p>
            <a:pPr>
              <a:spcAft>
                <a:spcPts val="600"/>
              </a:spcAft>
            </a:pPr>
            <a:r>
              <a:rPr sz="900">
                <a:solidFill>
                  <a:srgbClr val="004EA8"/>
                </a:solidFill>
                <a:latin typeface="Arial"/>
              </a:rPr>
              <a:t>•  </a:t>
            </a:r>
            <a:r>
              <a:rPr sz="900">
                <a:solidFill>
                  <a:srgbClr val="4B4B4B"/>
                </a:solidFill>
                <a:latin typeface="Arial"/>
              </a:rPr>
              <a:t>SCR-CL-02 PR Worklist</a:t>
            </a:r>
          </a:p>
          <a:p>
            <a:pPr>
              <a:spcAft>
                <a:spcPts val="600"/>
              </a:spcAft>
            </a:pPr>
            <a:r>
              <a:rPr sz="900">
                <a:solidFill>
                  <a:srgbClr val="004EA8"/>
                </a:solidFill>
                <a:latin typeface="Arial"/>
              </a:rPr>
              <a:t>•  </a:t>
            </a:r>
            <a:r>
              <a:rPr sz="900">
                <a:solidFill>
                  <a:srgbClr val="4B4B4B"/>
                </a:solidFill>
                <a:latin typeface="Arial"/>
              </a:rPr>
              <a:t>SCR-CL-03 Collection Account</a:t>
            </a:r>
          </a:p>
          <a:p>
            <a:pPr>
              <a:spcAft>
                <a:spcPts val="600"/>
              </a:spcAft>
            </a:pPr>
            <a:r>
              <a:rPr sz="900">
                <a:solidFill>
                  <a:srgbClr val="004EA8"/>
                </a:solidFill>
                <a:latin typeface="Arial"/>
              </a:rPr>
              <a:t>•  </a:t>
            </a:r>
            <a:r>
              <a:rPr sz="900">
                <a:solidFill>
                  <a:srgbClr val="4B4B4B"/>
                </a:solidFill>
                <a:latin typeface="Arial"/>
              </a:rPr>
              <a:t>SCR-CL-04 Client View</a:t>
            </a:r>
          </a:p>
          <a:p>
            <a:pPr>
              <a:spcAft>
                <a:spcPts val="600"/>
              </a:spcAft>
            </a:pPr>
            <a:r>
              <a:rPr sz="900">
                <a:solidFill>
                  <a:srgbClr val="004EA8"/>
                </a:solidFill>
                <a:latin typeface="Arial"/>
              </a:rPr>
              <a:t>•  </a:t>
            </a:r>
            <a:r>
              <a:rPr sz="900">
                <a:solidFill>
                  <a:srgbClr val="4B4B4B"/>
                </a:solidFill>
                <a:latin typeface="Arial"/>
              </a:rPr>
              <a:t>SCR-CL-05 Installment Plans</a:t>
            </a:r>
          </a:p>
          <a:p>
            <a:pPr>
              <a:spcAft>
                <a:spcPts val="600"/>
              </a:spcAft>
            </a:pPr>
            <a:r>
              <a:rPr sz="900">
                <a:solidFill>
                  <a:srgbClr val="004EA8"/>
                </a:solidFill>
                <a:latin typeface="Arial"/>
              </a:rPr>
              <a:t>•  </a:t>
            </a:r>
            <a:r>
              <a:rPr sz="900">
                <a:solidFill>
                  <a:srgbClr val="4B4B4B"/>
                </a:solidFill>
                <a:latin typeface="Arial"/>
              </a:rPr>
              <a:t>SCR-CL-06 Installment Plan</a:t>
            </a:r>
          </a:p>
          <a:p>
            <a:pPr>
              <a:spcAft>
                <a:spcPts val="600"/>
              </a:spcAft>
            </a:pPr>
            <a:r>
              <a:rPr sz="900">
                <a:solidFill>
                  <a:srgbClr val="004EA8"/>
                </a:solidFill>
                <a:latin typeface="Arial"/>
              </a:rPr>
              <a:t>•  </a:t>
            </a:r>
            <a:r>
              <a:rPr sz="900">
                <a:solidFill>
                  <a:srgbClr val="4B4B4B"/>
                </a:solidFill>
                <a:latin typeface="Arial"/>
              </a:rPr>
              <a:t>SCR-CL-07 Installments Due</a:t>
            </a:r>
          </a:p>
          <a:p>
            <a:pPr>
              <a:spcAft>
                <a:spcPts val="600"/>
              </a:spcAft>
            </a:pPr>
            <a:r>
              <a:rPr sz="900">
                <a:solidFill>
                  <a:srgbClr val="004EA8"/>
                </a:solidFill>
                <a:latin typeface="Arial"/>
              </a:rPr>
              <a:t>•  </a:t>
            </a:r>
            <a:r>
              <a:rPr sz="900">
                <a:solidFill>
                  <a:srgbClr val="4B4B4B"/>
                </a:solidFill>
                <a:latin typeface="Arial"/>
              </a:rPr>
              <a:t>SCR-CL-08 Promises to Pay</a:t>
            </a:r>
          </a:p>
          <a:p>
            <a:pPr>
              <a:spcAft>
                <a:spcPts val="600"/>
              </a:spcAft>
            </a:pPr>
            <a:r>
              <a:rPr sz="900">
                <a:solidFill>
                  <a:srgbClr val="004EA8"/>
                </a:solidFill>
                <a:latin typeface="Arial"/>
              </a:rPr>
              <a:t>•  </a:t>
            </a:r>
            <a:r>
              <a:rPr sz="900">
                <a:solidFill>
                  <a:srgbClr val="4B4B4B"/>
                </a:solidFill>
                <a:latin typeface="Arial"/>
              </a:rPr>
              <a:t>SCR-CL-09 Billing Statements</a:t>
            </a:r>
          </a:p>
          <a:p>
            <a:pPr>
              <a:spcAft>
                <a:spcPts val="600"/>
              </a:spcAft>
            </a:pPr>
            <a:r>
              <a:rPr sz="900">
                <a:solidFill>
                  <a:srgbClr val="004EA8"/>
                </a:solidFill>
                <a:latin typeface="Arial"/>
              </a:rPr>
              <a:t>•  </a:t>
            </a:r>
            <a:r>
              <a:rPr sz="900">
                <a:solidFill>
                  <a:srgbClr val="4B4B4B"/>
                </a:solidFill>
                <a:latin typeface="Arial"/>
              </a:rPr>
              <a:t>SCR-CL-10 Statement of Account</a:t>
            </a:r>
          </a:p>
          <a:p>
            <a:pPr>
              <a:spcAft>
                <a:spcPts val="600"/>
              </a:spcAft>
            </a:pPr>
            <a:r>
              <a:rPr sz="900">
                <a:solidFill>
                  <a:srgbClr val="004EA8"/>
                </a:solidFill>
                <a:latin typeface="Arial"/>
              </a:rPr>
              <a:t>•  </a:t>
            </a:r>
            <a:r>
              <a:rPr sz="900">
                <a:solidFill>
                  <a:srgbClr val="4B4B4B"/>
                </a:solidFill>
                <a:latin typeface="Arial"/>
              </a:rPr>
              <a:t>SCR-CL-11 Escalations</a:t>
            </a:r>
          </a:p>
          <a:p>
            <a:pPr>
              <a:spcAft>
                <a:spcPts val="600"/>
              </a:spcAft>
            </a:pPr>
            <a:r>
              <a:rPr sz="900">
                <a:solidFill>
                  <a:srgbClr val="004EA8"/>
                </a:solidFill>
                <a:latin typeface="Arial"/>
              </a:rPr>
              <a:t>•  </a:t>
            </a:r>
            <a:r>
              <a:rPr sz="900">
                <a:solidFill>
                  <a:srgbClr val="4B4B4B"/>
                </a:solidFill>
                <a:latin typeface="Arial"/>
              </a:rPr>
              <a:t>SCR-CL-12 Escalation</a:t>
            </a:r>
          </a:p>
          <a:p>
            <a:pPr>
              <a:spcAft>
                <a:spcPts val="600"/>
              </a:spcAft>
            </a:pPr>
            <a:r>
              <a:rPr sz="900">
                <a:solidFill>
                  <a:srgbClr val="004EA8"/>
                </a:solidFill>
                <a:latin typeface="Arial"/>
              </a:rPr>
              <a:t>•  </a:t>
            </a:r>
            <a:r>
              <a:rPr sz="900">
                <a:solidFill>
                  <a:srgbClr val="4B4B4B"/>
                </a:solidFill>
                <a:latin typeface="Arial"/>
              </a:rPr>
              <a:t>SCR-CL-13 Escalation Rules</a:t>
            </a:r>
          </a:p>
          <a:p>
            <a:pPr>
              <a:spcAft>
                <a:spcPts val="600"/>
              </a:spcAft>
            </a:pPr>
            <a:r>
              <a:rPr sz="900">
                <a:solidFill>
                  <a:srgbClr val="004EA8"/>
                </a:solidFill>
                <a:latin typeface="Arial"/>
              </a:rPr>
              <a:t>•  </a:t>
            </a:r>
            <a:r>
              <a:rPr sz="900">
                <a:solidFill>
                  <a:srgbClr val="4B4B4B"/>
                </a:solidFill>
                <a:latin typeface="Arial"/>
              </a:rPr>
              <a:t>SCR-CL-14 Unapplied Payments</a:t>
            </a:r>
          </a:p>
          <a:p>
            <a:pPr>
              <a:spcAft>
                <a:spcPts val="600"/>
              </a:spcAft>
            </a:pPr>
            <a:r>
              <a:rPr sz="900">
                <a:solidFill>
                  <a:srgbClr val="004EA8"/>
                </a:solidFill>
                <a:latin typeface="Arial"/>
              </a:rPr>
              <a:t>•  </a:t>
            </a:r>
            <a:r>
              <a:rPr sz="900">
                <a:solidFill>
                  <a:srgbClr val="4B4B4B"/>
                </a:solidFill>
                <a:latin typeface="Arial"/>
              </a:rPr>
              <a:t>SCR-CL-15 Unapplied Payment</a:t>
            </a:r>
          </a:p>
          <a:p>
            <a:pPr>
              <a:spcAft>
                <a:spcPts val="600"/>
              </a:spcAft>
            </a:pPr>
            <a:r>
              <a:rPr sz="900">
                <a:solidFill>
                  <a:srgbClr val="004EA8"/>
                </a:solidFill>
                <a:latin typeface="Arial"/>
              </a:rPr>
              <a:t>•  </a:t>
            </a:r>
            <a:r>
              <a:rPr sz="900">
                <a:solidFill>
                  <a:srgbClr val="4B4B4B"/>
                </a:solidFill>
                <a:latin typeface="Arial"/>
              </a:rPr>
              <a:t>SCR-CL-16 Requests to Cashiering</a:t>
            </a:r>
          </a:p>
          <a:p>
            <a:pPr>
              <a:spcAft>
                <a:spcPts val="600"/>
              </a:spcAft>
            </a:pPr>
            <a:r>
              <a:rPr sz="900">
                <a:solidFill>
                  <a:srgbClr val="004EA8"/>
                </a:solidFill>
                <a:latin typeface="Arial"/>
              </a:rPr>
              <a:t>•  </a:t>
            </a:r>
            <a:r>
              <a:rPr sz="900">
                <a:solidFill>
                  <a:srgbClr val="4B4B4B"/>
                </a:solidFill>
                <a:latin typeface="Arial"/>
              </a:rPr>
              <a:t>SCR-CL-17 Assignments</a:t>
            </a:r>
          </a:p>
          <a:p>
            <a:pPr>
              <a:spcAft>
                <a:spcPts val="600"/>
              </a:spcAft>
            </a:pPr>
            <a:r>
              <a:rPr sz="900">
                <a:solidFill>
                  <a:srgbClr val="004EA8"/>
                </a:solidFill>
                <a:latin typeface="Arial"/>
              </a:rPr>
              <a:t>•  </a:t>
            </a:r>
            <a:r>
              <a:rPr sz="900">
                <a:solidFill>
                  <a:srgbClr val="4B4B4B"/>
                </a:solidFill>
                <a:latin typeface="Arial"/>
              </a:rPr>
              <a:t>SCR-CL-18 Collections Files</a:t>
            </a:r>
          </a:p>
          <a:p>
            <a:pPr>
              <a:spcAft>
                <a:spcPts val="600"/>
              </a:spcAft>
            </a:pPr>
            <a:r>
              <a:rPr sz="900">
                <a:solidFill>
                  <a:srgbClr val="004EA8"/>
                </a:solidFill>
                <a:latin typeface="Arial"/>
              </a:rPr>
              <a:t>•  </a:t>
            </a:r>
            <a:r>
              <a:rPr sz="900">
                <a:solidFill>
                  <a:srgbClr val="4B4B4B"/>
                </a:solidFill>
                <a:latin typeface="Arial"/>
              </a:rPr>
              <a:t>SCR-CL-19 Collections Setup</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Unapplied Payment Handler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91</a:t>
            </a:r>
          </a:p>
        </p:txBody>
      </p:sp>
      <p:graphicFrame>
        <p:nvGraphicFramePr>
          <p:cNvPr id="9" name="Table 8"/>
          <p:cNvGraphicFramePr>
            <a:graphicFrameLocks noGrp="1"/>
          </p:cNvGraphicFramePr>
          <p:nvPr/>
        </p:nvGraphicFramePr>
        <p:xfrm>
          <a:off x="548640" y="1307592"/>
          <a:ext cx="5410047" cy="137160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 handler of the unapplied payments, who records the dispositions and the requests to Cashiering</a:t>
                      </a:r>
                    </a:p>
                  </a:txBody>
                  <a:tcPr marL="54864" marR="54864" marT="27432" marB="27432">
                    <a:solidFill>
                      <a:srgbClr val="FFFFFF"/>
                    </a:solidFill>
                  </a:tcPr>
                </a:tc>
              </a:tr>
              <a:tr h="42672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Dispositions and application requests on unapplied payments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NAV-CL-07</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WT-C steps 1, 2, 4, 5; WT-E steps 4</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(16)</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900">
                <a:solidFill>
                  <a:srgbClr val="004EA8"/>
                </a:solidFill>
                <a:latin typeface="Arial"/>
              </a:rPr>
              <a:t>•  </a:t>
            </a:r>
            <a:r>
              <a:rPr sz="900">
                <a:solidFill>
                  <a:srgbClr val="4B4B4B"/>
                </a:solidFill>
                <a:latin typeface="Arial"/>
              </a:rPr>
              <a:t>SCR-CL-01 Collections Home</a:t>
            </a:r>
          </a:p>
          <a:p>
            <a:pPr>
              <a:spcAft>
                <a:spcPts val="600"/>
              </a:spcAft>
            </a:pPr>
            <a:r>
              <a:rPr sz="900">
                <a:solidFill>
                  <a:srgbClr val="004EA8"/>
                </a:solidFill>
                <a:latin typeface="Arial"/>
              </a:rPr>
              <a:t>•  </a:t>
            </a:r>
            <a:r>
              <a:rPr sz="900">
                <a:solidFill>
                  <a:srgbClr val="4B4B4B"/>
                </a:solidFill>
                <a:latin typeface="Arial"/>
              </a:rPr>
              <a:t>SCR-CL-02 PR Worklist</a:t>
            </a:r>
          </a:p>
          <a:p>
            <a:pPr>
              <a:spcAft>
                <a:spcPts val="600"/>
              </a:spcAft>
            </a:pPr>
            <a:r>
              <a:rPr sz="900">
                <a:solidFill>
                  <a:srgbClr val="004EA8"/>
                </a:solidFill>
                <a:latin typeface="Arial"/>
              </a:rPr>
              <a:t>•  </a:t>
            </a:r>
            <a:r>
              <a:rPr sz="900">
                <a:solidFill>
                  <a:srgbClr val="4B4B4B"/>
                </a:solidFill>
                <a:latin typeface="Arial"/>
              </a:rPr>
              <a:t>SCR-CL-03 Collection Account</a:t>
            </a:r>
          </a:p>
          <a:p>
            <a:pPr>
              <a:spcAft>
                <a:spcPts val="600"/>
              </a:spcAft>
            </a:pPr>
            <a:r>
              <a:rPr sz="900">
                <a:solidFill>
                  <a:srgbClr val="004EA8"/>
                </a:solidFill>
                <a:latin typeface="Arial"/>
              </a:rPr>
              <a:t>•  </a:t>
            </a:r>
            <a:r>
              <a:rPr sz="900">
                <a:solidFill>
                  <a:srgbClr val="4B4B4B"/>
                </a:solidFill>
                <a:latin typeface="Arial"/>
              </a:rPr>
              <a:t>SCR-CL-04 Client View</a:t>
            </a:r>
          </a:p>
          <a:p>
            <a:pPr>
              <a:spcAft>
                <a:spcPts val="600"/>
              </a:spcAft>
            </a:pPr>
            <a:r>
              <a:rPr sz="900">
                <a:solidFill>
                  <a:srgbClr val="004EA8"/>
                </a:solidFill>
                <a:latin typeface="Arial"/>
              </a:rPr>
              <a:t>•  </a:t>
            </a:r>
            <a:r>
              <a:rPr sz="900">
                <a:solidFill>
                  <a:srgbClr val="4B4B4B"/>
                </a:solidFill>
                <a:latin typeface="Arial"/>
              </a:rPr>
              <a:t>SCR-CL-05 Installment Plans</a:t>
            </a:r>
          </a:p>
          <a:p>
            <a:pPr>
              <a:spcAft>
                <a:spcPts val="600"/>
              </a:spcAft>
            </a:pPr>
            <a:r>
              <a:rPr sz="900">
                <a:solidFill>
                  <a:srgbClr val="004EA8"/>
                </a:solidFill>
                <a:latin typeface="Arial"/>
              </a:rPr>
              <a:t>•  </a:t>
            </a:r>
            <a:r>
              <a:rPr sz="900">
                <a:solidFill>
                  <a:srgbClr val="4B4B4B"/>
                </a:solidFill>
                <a:latin typeface="Arial"/>
              </a:rPr>
              <a:t>SCR-CL-06 Installment Plan</a:t>
            </a:r>
          </a:p>
          <a:p>
            <a:pPr>
              <a:spcAft>
                <a:spcPts val="600"/>
              </a:spcAft>
            </a:pPr>
            <a:r>
              <a:rPr sz="900">
                <a:solidFill>
                  <a:srgbClr val="004EA8"/>
                </a:solidFill>
                <a:latin typeface="Arial"/>
              </a:rPr>
              <a:t>•  </a:t>
            </a:r>
            <a:r>
              <a:rPr sz="900">
                <a:solidFill>
                  <a:srgbClr val="4B4B4B"/>
                </a:solidFill>
                <a:latin typeface="Arial"/>
              </a:rPr>
              <a:t>SCR-CL-07 Installments Due</a:t>
            </a:r>
          </a:p>
          <a:p>
            <a:pPr>
              <a:spcAft>
                <a:spcPts val="600"/>
              </a:spcAft>
            </a:pPr>
            <a:r>
              <a:rPr sz="900">
                <a:solidFill>
                  <a:srgbClr val="004EA8"/>
                </a:solidFill>
                <a:latin typeface="Arial"/>
              </a:rPr>
              <a:t>•  </a:t>
            </a:r>
            <a:r>
              <a:rPr sz="900">
                <a:solidFill>
                  <a:srgbClr val="4B4B4B"/>
                </a:solidFill>
                <a:latin typeface="Arial"/>
              </a:rPr>
              <a:t>SCR-CL-08 Promises to Pay</a:t>
            </a:r>
          </a:p>
          <a:p>
            <a:pPr>
              <a:spcAft>
                <a:spcPts val="600"/>
              </a:spcAft>
            </a:pPr>
            <a:r>
              <a:rPr sz="900">
                <a:solidFill>
                  <a:srgbClr val="004EA8"/>
                </a:solidFill>
                <a:latin typeface="Arial"/>
              </a:rPr>
              <a:t>•  </a:t>
            </a:r>
            <a:r>
              <a:rPr sz="900">
                <a:solidFill>
                  <a:srgbClr val="4B4B4B"/>
                </a:solidFill>
                <a:latin typeface="Arial"/>
              </a:rPr>
              <a:t>SCR-CL-09 Billing Statements</a:t>
            </a:r>
          </a:p>
          <a:p>
            <a:pPr>
              <a:spcAft>
                <a:spcPts val="600"/>
              </a:spcAft>
            </a:pPr>
            <a:r>
              <a:rPr sz="900">
                <a:solidFill>
                  <a:srgbClr val="004EA8"/>
                </a:solidFill>
                <a:latin typeface="Arial"/>
              </a:rPr>
              <a:t>•  </a:t>
            </a:r>
            <a:r>
              <a:rPr sz="900">
                <a:solidFill>
                  <a:srgbClr val="4B4B4B"/>
                </a:solidFill>
                <a:latin typeface="Arial"/>
              </a:rPr>
              <a:t>SCR-CL-10 Statement of Account</a:t>
            </a:r>
          </a:p>
          <a:p>
            <a:pPr>
              <a:spcAft>
                <a:spcPts val="600"/>
              </a:spcAft>
            </a:pPr>
            <a:r>
              <a:rPr sz="900">
                <a:solidFill>
                  <a:srgbClr val="004EA8"/>
                </a:solidFill>
                <a:latin typeface="Arial"/>
              </a:rPr>
              <a:t>•  </a:t>
            </a:r>
            <a:r>
              <a:rPr sz="900">
                <a:solidFill>
                  <a:srgbClr val="4B4B4B"/>
                </a:solidFill>
                <a:latin typeface="Arial"/>
              </a:rPr>
              <a:t>SCR-CL-11 Escalations</a:t>
            </a:r>
          </a:p>
          <a:p>
            <a:pPr>
              <a:spcAft>
                <a:spcPts val="600"/>
              </a:spcAft>
            </a:pPr>
            <a:r>
              <a:rPr sz="900">
                <a:solidFill>
                  <a:srgbClr val="004EA8"/>
                </a:solidFill>
                <a:latin typeface="Arial"/>
              </a:rPr>
              <a:t>•  </a:t>
            </a:r>
            <a:r>
              <a:rPr sz="900">
                <a:solidFill>
                  <a:srgbClr val="4B4B4B"/>
                </a:solidFill>
                <a:latin typeface="Arial"/>
              </a:rPr>
              <a:t>SCR-CL-12 Escalation</a:t>
            </a:r>
          </a:p>
          <a:p>
            <a:pPr>
              <a:spcAft>
                <a:spcPts val="600"/>
              </a:spcAft>
            </a:pPr>
            <a:r>
              <a:rPr sz="900">
                <a:solidFill>
                  <a:srgbClr val="004EA8"/>
                </a:solidFill>
                <a:latin typeface="Arial"/>
              </a:rPr>
              <a:t>•  </a:t>
            </a:r>
            <a:r>
              <a:rPr sz="900">
                <a:solidFill>
                  <a:srgbClr val="4B4B4B"/>
                </a:solidFill>
                <a:latin typeface="Arial"/>
              </a:rPr>
              <a:t>SCR-CL-14 Unapplied Payments</a:t>
            </a:r>
          </a:p>
          <a:p>
            <a:pPr>
              <a:spcAft>
                <a:spcPts val="600"/>
              </a:spcAft>
            </a:pPr>
            <a:r>
              <a:rPr sz="900">
                <a:solidFill>
                  <a:srgbClr val="004EA8"/>
                </a:solidFill>
                <a:latin typeface="Arial"/>
              </a:rPr>
              <a:t>•  </a:t>
            </a:r>
            <a:r>
              <a:rPr sz="900">
                <a:solidFill>
                  <a:srgbClr val="4B4B4B"/>
                </a:solidFill>
                <a:latin typeface="Arial"/>
              </a:rPr>
              <a:t>SCR-CL-15 Unapplied Payment</a:t>
            </a:r>
          </a:p>
          <a:p>
            <a:pPr>
              <a:spcAft>
                <a:spcPts val="600"/>
              </a:spcAft>
            </a:pPr>
            <a:r>
              <a:rPr sz="900">
                <a:solidFill>
                  <a:srgbClr val="004EA8"/>
                </a:solidFill>
                <a:latin typeface="Arial"/>
              </a:rPr>
              <a:t>•  </a:t>
            </a:r>
            <a:r>
              <a:rPr sz="900">
                <a:solidFill>
                  <a:srgbClr val="4B4B4B"/>
                </a:solidFill>
                <a:latin typeface="Arial"/>
              </a:rPr>
              <a:t>SCR-CL-16 Requests to Cashiering</a:t>
            </a:r>
          </a:p>
          <a:p>
            <a:pPr>
              <a:spcAft>
                <a:spcPts val="600"/>
              </a:spcAft>
            </a:pPr>
            <a:r>
              <a:rPr sz="900">
                <a:solidFill>
                  <a:srgbClr val="004EA8"/>
                </a:solidFill>
                <a:latin typeface="Arial"/>
              </a:rPr>
              <a:t>•  </a:t>
            </a:r>
            <a:r>
              <a:rPr sz="900">
                <a:solidFill>
                  <a:srgbClr val="4B4B4B"/>
                </a:solidFill>
                <a:latin typeface="Arial"/>
              </a:rPr>
              <a:t>SCR-CL-18 Collections Files</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Processing Unit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92</a:t>
            </a:r>
          </a:p>
        </p:txBody>
      </p:sp>
      <p:graphicFrame>
        <p:nvGraphicFramePr>
          <p:cNvPr id="9" name="Table 8"/>
          <p:cNvGraphicFramePr>
            <a:graphicFrameLocks noGrp="1"/>
          </p:cNvGraphicFramePr>
          <p:nvPr/>
        </p:nvGraphicFramePr>
        <p:xfrm>
          <a:off x="548640" y="1307592"/>
          <a:ext cx="5410047" cy="120396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 Processing officer, who records the disposition No / missing policy number</a:t>
                      </a:r>
                    </a:p>
                  </a:txBody>
                  <a:tcPr marL="54864" marR="54864" marT="27432" marB="27432">
                    <a:solidFill>
                      <a:srgbClr val="FFFFFF"/>
                    </a:solidFill>
                  </a:tcPr>
                </a:tc>
              </a:tr>
              <a:tr h="25908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Disposition "no / missing policy number" only</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NAV-CL-08</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No step of the flows of this set</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(15)</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900">
                <a:solidFill>
                  <a:srgbClr val="004EA8"/>
                </a:solidFill>
                <a:latin typeface="Arial"/>
              </a:rPr>
              <a:t>•  </a:t>
            </a:r>
            <a:r>
              <a:rPr sz="900">
                <a:solidFill>
                  <a:srgbClr val="4B4B4B"/>
                </a:solidFill>
                <a:latin typeface="Arial"/>
              </a:rPr>
              <a:t>SCR-CL-01 Collections Home</a:t>
            </a:r>
          </a:p>
          <a:p>
            <a:pPr>
              <a:spcAft>
                <a:spcPts val="600"/>
              </a:spcAft>
            </a:pPr>
            <a:r>
              <a:rPr sz="900">
                <a:solidFill>
                  <a:srgbClr val="004EA8"/>
                </a:solidFill>
                <a:latin typeface="Arial"/>
              </a:rPr>
              <a:t>•  </a:t>
            </a:r>
            <a:r>
              <a:rPr sz="900">
                <a:solidFill>
                  <a:srgbClr val="4B4B4B"/>
                </a:solidFill>
                <a:latin typeface="Arial"/>
              </a:rPr>
              <a:t>SCR-CL-02 PR Worklist</a:t>
            </a:r>
          </a:p>
          <a:p>
            <a:pPr>
              <a:spcAft>
                <a:spcPts val="600"/>
              </a:spcAft>
            </a:pPr>
            <a:r>
              <a:rPr sz="900">
                <a:solidFill>
                  <a:srgbClr val="004EA8"/>
                </a:solidFill>
                <a:latin typeface="Arial"/>
              </a:rPr>
              <a:t>•  </a:t>
            </a:r>
            <a:r>
              <a:rPr sz="900">
                <a:solidFill>
                  <a:srgbClr val="4B4B4B"/>
                </a:solidFill>
                <a:latin typeface="Arial"/>
              </a:rPr>
              <a:t>SCR-CL-03 Collection Account</a:t>
            </a:r>
          </a:p>
          <a:p>
            <a:pPr>
              <a:spcAft>
                <a:spcPts val="600"/>
              </a:spcAft>
            </a:pPr>
            <a:r>
              <a:rPr sz="900">
                <a:solidFill>
                  <a:srgbClr val="004EA8"/>
                </a:solidFill>
                <a:latin typeface="Arial"/>
              </a:rPr>
              <a:t>•  </a:t>
            </a:r>
            <a:r>
              <a:rPr sz="900">
                <a:solidFill>
                  <a:srgbClr val="4B4B4B"/>
                </a:solidFill>
                <a:latin typeface="Arial"/>
              </a:rPr>
              <a:t>SCR-CL-04 Client View</a:t>
            </a:r>
          </a:p>
          <a:p>
            <a:pPr>
              <a:spcAft>
                <a:spcPts val="600"/>
              </a:spcAft>
            </a:pPr>
            <a:r>
              <a:rPr sz="900">
                <a:solidFill>
                  <a:srgbClr val="004EA8"/>
                </a:solidFill>
                <a:latin typeface="Arial"/>
              </a:rPr>
              <a:t>•  </a:t>
            </a:r>
            <a:r>
              <a:rPr sz="900">
                <a:solidFill>
                  <a:srgbClr val="4B4B4B"/>
                </a:solidFill>
                <a:latin typeface="Arial"/>
              </a:rPr>
              <a:t>SCR-CL-05 Installment Plans</a:t>
            </a:r>
          </a:p>
          <a:p>
            <a:pPr>
              <a:spcAft>
                <a:spcPts val="600"/>
              </a:spcAft>
            </a:pPr>
            <a:r>
              <a:rPr sz="900">
                <a:solidFill>
                  <a:srgbClr val="004EA8"/>
                </a:solidFill>
                <a:latin typeface="Arial"/>
              </a:rPr>
              <a:t>•  </a:t>
            </a:r>
            <a:r>
              <a:rPr sz="900">
                <a:solidFill>
                  <a:srgbClr val="4B4B4B"/>
                </a:solidFill>
                <a:latin typeface="Arial"/>
              </a:rPr>
              <a:t>SCR-CL-06 Installment Plan</a:t>
            </a:r>
          </a:p>
          <a:p>
            <a:pPr>
              <a:spcAft>
                <a:spcPts val="600"/>
              </a:spcAft>
            </a:pPr>
            <a:r>
              <a:rPr sz="900">
                <a:solidFill>
                  <a:srgbClr val="004EA8"/>
                </a:solidFill>
                <a:latin typeface="Arial"/>
              </a:rPr>
              <a:t>•  </a:t>
            </a:r>
            <a:r>
              <a:rPr sz="900">
                <a:solidFill>
                  <a:srgbClr val="4B4B4B"/>
                </a:solidFill>
                <a:latin typeface="Arial"/>
              </a:rPr>
              <a:t>SCR-CL-07 Installments Due</a:t>
            </a:r>
          </a:p>
          <a:p>
            <a:pPr>
              <a:spcAft>
                <a:spcPts val="600"/>
              </a:spcAft>
            </a:pPr>
            <a:r>
              <a:rPr sz="900">
                <a:solidFill>
                  <a:srgbClr val="004EA8"/>
                </a:solidFill>
                <a:latin typeface="Arial"/>
              </a:rPr>
              <a:t>•  </a:t>
            </a:r>
            <a:r>
              <a:rPr sz="900">
                <a:solidFill>
                  <a:srgbClr val="4B4B4B"/>
                </a:solidFill>
                <a:latin typeface="Arial"/>
              </a:rPr>
              <a:t>SCR-CL-08 Promises to Pay</a:t>
            </a:r>
          </a:p>
          <a:p>
            <a:pPr>
              <a:spcAft>
                <a:spcPts val="600"/>
              </a:spcAft>
            </a:pPr>
            <a:r>
              <a:rPr sz="900">
                <a:solidFill>
                  <a:srgbClr val="004EA8"/>
                </a:solidFill>
                <a:latin typeface="Arial"/>
              </a:rPr>
              <a:t>•  </a:t>
            </a:r>
            <a:r>
              <a:rPr sz="900">
                <a:solidFill>
                  <a:srgbClr val="4B4B4B"/>
                </a:solidFill>
                <a:latin typeface="Arial"/>
              </a:rPr>
              <a:t>SCR-CL-09 Billing Statements</a:t>
            </a:r>
          </a:p>
          <a:p>
            <a:pPr>
              <a:spcAft>
                <a:spcPts val="600"/>
              </a:spcAft>
            </a:pPr>
            <a:r>
              <a:rPr sz="900">
                <a:solidFill>
                  <a:srgbClr val="004EA8"/>
                </a:solidFill>
                <a:latin typeface="Arial"/>
              </a:rPr>
              <a:t>•  </a:t>
            </a:r>
            <a:r>
              <a:rPr sz="900">
                <a:solidFill>
                  <a:srgbClr val="4B4B4B"/>
                </a:solidFill>
                <a:latin typeface="Arial"/>
              </a:rPr>
              <a:t>SCR-CL-10 Statement of Account</a:t>
            </a:r>
          </a:p>
          <a:p>
            <a:pPr>
              <a:spcAft>
                <a:spcPts val="600"/>
              </a:spcAft>
            </a:pPr>
            <a:r>
              <a:rPr sz="900">
                <a:solidFill>
                  <a:srgbClr val="004EA8"/>
                </a:solidFill>
                <a:latin typeface="Arial"/>
              </a:rPr>
              <a:t>•  </a:t>
            </a:r>
            <a:r>
              <a:rPr sz="900">
                <a:solidFill>
                  <a:srgbClr val="4B4B4B"/>
                </a:solidFill>
                <a:latin typeface="Arial"/>
              </a:rPr>
              <a:t>SCR-CL-11 Escalations</a:t>
            </a:r>
          </a:p>
          <a:p>
            <a:pPr>
              <a:spcAft>
                <a:spcPts val="600"/>
              </a:spcAft>
            </a:pPr>
            <a:r>
              <a:rPr sz="900">
                <a:solidFill>
                  <a:srgbClr val="004EA8"/>
                </a:solidFill>
                <a:latin typeface="Arial"/>
              </a:rPr>
              <a:t>•  </a:t>
            </a:r>
            <a:r>
              <a:rPr sz="900">
                <a:solidFill>
                  <a:srgbClr val="4B4B4B"/>
                </a:solidFill>
                <a:latin typeface="Arial"/>
              </a:rPr>
              <a:t>SCR-CL-12 Escalation</a:t>
            </a:r>
          </a:p>
          <a:p>
            <a:pPr>
              <a:spcAft>
                <a:spcPts val="600"/>
              </a:spcAft>
            </a:pPr>
            <a:r>
              <a:rPr sz="900">
                <a:solidFill>
                  <a:srgbClr val="004EA8"/>
                </a:solidFill>
                <a:latin typeface="Arial"/>
              </a:rPr>
              <a:t>•  </a:t>
            </a:r>
            <a:r>
              <a:rPr sz="900">
                <a:solidFill>
                  <a:srgbClr val="4B4B4B"/>
                </a:solidFill>
                <a:latin typeface="Arial"/>
              </a:rPr>
              <a:t>SCR-CL-14 Unapplied Payments</a:t>
            </a:r>
          </a:p>
          <a:p>
            <a:pPr>
              <a:spcAft>
                <a:spcPts val="600"/>
              </a:spcAft>
            </a:pPr>
            <a:r>
              <a:rPr sz="900">
                <a:solidFill>
                  <a:srgbClr val="004EA8"/>
                </a:solidFill>
                <a:latin typeface="Arial"/>
              </a:rPr>
              <a:t>•  </a:t>
            </a:r>
            <a:r>
              <a:rPr sz="900">
                <a:solidFill>
                  <a:srgbClr val="4B4B4B"/>
                </a:solidFill>
                <a:latin typeface="Arial"/>
              </a:rPr>
              <a:t>SCR-CL-15 Unapplied Payment</a:t>
            </a:r>
          </a:p>
          <a:p>
            <a:pPr>
              <a:spcAft>
                <a:spcPts val="600"/>
              </a:spcAft>
            </a:pPr>
            <a:r>
              <a:rPr sz="900">
                <a:solidFill>
                  <a:srgbClr val="004EA8"/>
                </a:solidFill>
                <a:latin typeface="Arial"/>
              </a:rPr>
              <a:t>•  </a:t>
            </a:r>
            <a:r>
              <a:rPr sz="900">
                <a:solidFill>
                  <a:srgbClr val="4B4B4B"/>
                </a:solidFill>
                <a:latin typeface="Arial"/>
              </a:rPr>
              <a:t>SCR-CL-16 Requests to Cashiering</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Cashier (read access and exports)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93</a:t>
            </a:r>
          </a:p>
        </p:txBody>
      </p:sp>
      <p:graphicFrame>
        <p:nvGraphicFramePr>
          <p:cNvPr id="9" name="Table 8"/>
          <p:cNvGraphicFramePr>
            <a:graphicFrameLocks noGrp="1"/>
          </p:cNvGraphicFramePr>
          <p:nvPr/>
        </p:nvGraphicFramePr>
        <p:xfrm>
          <a:off x="548640" y="1307592"/>
          <a:ext cx="5410047" cy="137160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 cashier who reads the Collections screens and carries out the check pick-ups and the collector requests</a:t>
                      </a:r>
                    </a:p>
                  </a:txBody>
                  <a:tcPr marL="54864" marR="54864" marT="27432" marB="27432">
                    <a:solidFill>
                      <a:srgbClr val="FFFFFF"/>
                    </a:solidFill>
                  </a:tcPr>
                </a:tc>
              </a:tr>
              <a:tr h="42672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Read access and exports; executes the application requests on its Incoming Requests screen</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NAV-CL-09</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WT-A steps 6; WT-C steps 3</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(16)</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900">
                <a:solidFill>
                  <a:srgbClr val="004EA8"/>
                </a:solidFill>
                <a:latin typeface="Arial"/>
              </a:rPr>
              <a:t>•  </a:t>
            </a:r>
            <a:r>
              <a:rPr sz="900">
                <a:solidFill>
                  <a:srgbClr val="4B4B4B"/>
                </a:solidFill>
                <a:latin typeface="Arial"/>
              </a:rPr>
              <a:t>SCR-CL-01 Collections Home</a:t>
            </a:r>
          </a:p>
          <a:p>
            <a:pPr>
              <a:spcAft>
                <a:spcPts val="600"/>
              </a:spcAft>
            </a:pPr>
            <a:r>
              <a:rPr sz="900">
                <a:solidFill>
                  <a:srgbClr val="004EA8"/>
                </a:solidFill>
                <a:latin typeface="Arial"/>
              </a:rPr>
              <a:t>•  </a:t>
            </a:r>
            <a:r>
              <a:rPr sz="900">
                <a:solidFill>
                  <a:srgbClr val="4B4B4B"/>
                </a:solidFill>
                <a:latin typeface="Arial"/>
              </a:rPr>
              <a:t>SCR-CL-02 PR Worklist</a:t>
            </a:r>
          </a:p>
          <a:p>
            <a:pPr>
              <a:spcAft>
                <a:spcPts val="600"/>
              </a:spcAft>
            </a:pPr>
            <a:r>
              <a:rPr sz="900">
                <a:solidFill>
                  <a:srgbClr val="004EA8"/>
                </a:solidFill>
                <a:latin typeface="Arial"/>
              </a:rPr>
              <a:t>•  </a:t>
            </a:r>
            <a:r>
              <a:rPr sz="900">
                <a:solidFill>
                  <a:srgbClr val="4B4B4B"/>
                </a:solidFill>
                <a:latin typeface="Arial"/>
              </a:rPr>
              <a:t>SCR-CL-03 Collection Account</a:t>
            </a:r>
          </a:p>
          <a:p>
            <a:pPr>
              <a:spcAft>
                <a:spcPts val="600"/>
              </a:spcAft>
            </a:pPr>
            <a:r>
              <a:rPr sz="900">
                <a:solidFill>
                  <a:srgbClr val="004EA8"/>
                </a:solidFill>
                <a:latin typeface="Arial"/>
              </a:rPr>
              <a:t>•  </a:t>
            </a:r>
            <a:r>
              <a:rPr sz="900">
                <a:solidFill>
                  <a:srgbClr val="4B4B4B"/>
                </a:solidFill>
                <a:latin typeface="Arial"/>
              </a:rPr>
              <a:t>SCR-CL-04 Client View</a:t>
            </a:r>
          </a:p>
          <a:p>
            <a:pPr>
              <a:spcAft>
                <a:spcPts val="600"/>
              </a:spcAft>
            </a:pPr>
            <a:r>
              <a:rPr sz="900">
                <a:solidFill>
                  <a:srgbClr val="004EA8"/>
                </a:solidFill>
                <a:latin typeface="Arial"/>
              </a:rPr>
              <a:t>•  </a:t>
            </a:r>
            <a:r>
              <a:rPr sz="900">
                <a:solidFill>
                  <a:srgbClr val="4B4B4B"/>
                </a:solidFill>
                <a:latin typeface="Arial"/>
              </a:rPr>
              <a:t>SCR-CL-05 Installment Plans</a:t>
            </a:r>
          </a:p>
          <a:p>
            <a:pPr>
              <a:spcAft>
                <a:spcPts val="600"/>
              </a:spcAft>
            </a:pPr>
            <a:r>
              <a:rPr sz="900">
                <a:solidFill>
                  <a:srgbClr val="004EA8"/>
                </a:solidFill>
                <a:latin typeface="Arial"/>
              </a:rPr>
              <a:t>•  </a:t>
            </a:r>
            <a:r>
              <a:rPr sz="900">
                <a:solidFill>
                  <a:srgbClr val="4B4B4B"/>
                </a:solidFill>
                <a:latin typeface="Arial"/>
              </a:rPr>
              <a:t>SCR-CL-06 Installment Plan</a:t>
            </a:r>
          </a:p>
          <a:p>
            <a:pPr>
              <a:spcAft>
                <a:spcPts val="600"/>
              </a:spcAft>
            </a:pPr>
            <a:r>
              <a:rPr sz="900">
                <a:solidFill>
                  <a:srgbClr val="004EA8"/>
                </a:solidFill>
                <a:latin typeface="Arial"/>
              </a:rPr>
              <a:t>•  </a:t>
            </a:r>
            <a:r>
              <a:rPr sz="900">
                <a:solidFill>
                  <a:srgbClr val="4B4B4B"/>
                </a:solidFill>
                <a:latin typeface="Arial"/>
              </a:rPr>
              <a:t>SCR-CL-07 Installments Due</a:t>
            </a:r>
          </a:p>
          <a:p>
            <a:pPr>
              <a:spcAft>
                <a:spcPts val="600"/>
              </a:spcAft>
            </a:pPr>
            <a:r>
              <a:rPr sz="900">
                <a:solidFill>
                  <a:srgbClr val="004EA8"/>
                </a:solidFill>
                <a:latin typeface="Arial"/>
              </a:rPr>
              <a:t>•  </a:t>
            </a:r>
            <a:r>
              <a:rPr sz="900">
                <a:solidFill>
                  <a:srgbClr val="4B4B4B"/>
                </a:solidFill>
                <a:latin typeface="Arial"/>
              </a:rPr>
              <a:t>SCR-CL-08 Promises to Pay</a:t>
            </a:r>
          </a:p>
          <a:p>
            <a:pPr>
              <a:spcAft>
                <a:spcPts val="600"/>
              </a:spcAft>
            </a:pPr>
            <a:r>
              <a:rPr sz="900">
                <a:solidFill>
                  <a:srgbClr val="004EA8"/>
                </a:solidFill>
                <a:latin typeface="Arial"/>
              </a:rPr>
              <a:t>•  </a:t>
            </a:r>
            <a:r>
              <a:rPr sz="900">
                <a:solidFill>
                  <a:srgbClr val="4B4B4B"/>
                </a:solidFill>
                <a:latin typeface="Arial"/>
              </a:rPr>
              <a:t>SCR-CL-09 Billing Statements</a:t>
            </a:r>
          </a:p>
          <a:p>
            <a:pPr>
              <a:spcAft>
                <a:spcPts val="600"/>
              </a:spcAft>
            </a:pPr>
            <a:r>
              <a:rPr sz="900">
                <a:solidFill>
                  <a:srgbClr val="004EA8"/>
                </a:solidFill>
                <a:latin typeface="Arial"/>
              </a:rPr>
              <a:t>•  </a:t>
            </a:r>
            <a:r>
              <a:rPr sz="900">
                <a:solidFill>
                  <a:srgbClr val="4B4B4B"/>
                </a:solidFill>
                <a:latin typeface="Arial"/>
              </a:rPr>
              <a:t>SCR-CL-10 Statement of Account</a:t>
            </a:r>
          </a:p>
          <a:p>
            <a:pPr>
              <a:spcAft>
                <a:spcPts val="600"/>
              </a:spcAft>
            </a:pPr>
            <a:r>
              <a:rPr sz="900">
                <a:solidFill>
                  <a:srgbClr val="004EA8"/>
                </a:solidFill>
                <a:latin typeface="Arial"/>
              </a:rPr>
              <a:t>•  </a:t>
            </a:r>
            <a:r>
              <a:rPr sz="900">
                <a:solidFill>
                  <a:srgbClr val="4B4B4B"/>
                </a:solidFill>
                <a:latin typeface="Arial"/>
              </a:rPr>
              <a:t>SCR-CL-11 Escalations</a:t>
            </a:r>
          </a:p>
          <a:p>
            <a:pPr>
              <a:spcAft>
                <a:spcPts val="600"/>
              </a:spcAft>
            </a:pPr>
            <a:r>
              <a:rPr sz="900">
                <a:solidFill>
                  <a:srgbClr val="004EA8"/>
                </a:solidFill>
                <a:latin typeface="Arial"/>
              </a:rPr>
              <a:t>•  </a:t>
            </a:r>
            <a:r>
              <a:rPr sz="900">
                <a:solidFill>
                  <a:srgbClr val="4B4B4B"/>
                </a:solidFill>
                <a:latin typeface="Arial"/>
              </a:rPr>
              <a:t>SCR-CL-12 Escalation</a:t>
            </a:r>
          </a:p>
          <a:p>
            <a:pPr>
              <a:spcAft>
                <a:spcPts val="600"/>
              </a:spcAft>
            </a:pPr>
            <a:r>
              <a:rPr sz="900">
                <a:solidFill>
                  <a:srgbClr val="004EA8"/>
                </a:solidFill>
                <a:latin typeface="Arial"/>
              </a:rPr>
              <a:t>•  </a:t>
            </a:r>
            <a:r>
              <a:rPr sz="900">
                <a:solidFill>
                  <a:srgbClr val="4B4B4B"/>
                </a:solidFill>
                <a:latin typeface="Arial"/>
              </a:rPr>
              <a:t>SCR-CL-14 Unapplied Payments</a:t>
            </a:r>
          </a:p>
          <a:p>
            <a:pPr>
              <a:spcAft>
                <a:spcPts val="600"/>
              </a:spcAft>
            </a:pPr>
            <a:r>
              <a:rPr sz="900">
                <a:solidFill>
                  <a:srgbClr val="004EA8"/>
                </a:solidFill>
                <a:latin typeface="Arial"/>
              </a:rPr>
              <a:t>•  </a:t>
            </a:r>
            <a:r>
              <a:rPr sz="900">
                <a:solidFill>
                  <a:srgbClr val="4B4B4B"/>
                </a:solidFill>
                <a:latin typeface="Arial"/>
              </a:rPr>
              <a:t>SCR-CL-15 Unapplied Payment</a:t>
            </a:r>
          </a:p>
          <a:p>
            <a:pPr>
              <a:spcAft>
                <a:spcPts val="600"/>
              </a:spcAft>
            </a:pPr>
            <a:r>
              <a:rPr sz="900">
                <a:solidFill>
                  <a:srgbClr val="004EA8"/>
                </a:solidFill>
                <a:latin typeface="Arial"/>
              </a:rPr>
              <a:t>•  </a:t>
            </a:r>
            <a:r>
              <a:rPr sz="900">
                <a:solidFill>
                  <a:srgbClr val="4B4B4B"/>
                </a:solidFill>
                <a:latin typeface="Arial"/>
              </a:rPr>
              <a:t>SCR-CL-16 Requests to Cashiering</a:t>
            </a:r>
          </a:p>
          <a:p>
            <a:pPr>
              <a:spcAft>
                <a:spcPts val="600"/>
              </a:spcAft>
            </a:pPr>
            <a:r>
              <a:rPr sz="900">
                <a:solidFill>
                  <a:srgbClr val="004EA8"/>
                </a:solidFill>
                <a:latin typeface="Arial"/>
              </a:rPr>
              <a:t>•  </a:t>
            </a:r>
            <a:r>
              <a:rPr sz="900">
                <a:solidFill>
                  <a:srgbClr val="4B4B4B"/>
                </a:solidFill>
                <a:latin typeface="Arial"/>
              </a:rPr>
              <a:t>SCR-CL-18 Collections Files</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Persona: Disbursement (read access and exports)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94</a:t>
            </a:r>
          </a:p>
        </p:txBody>
      </p:sp>
      <p:graphicFrame>
        <p:nvGraphicFramePr>
          <p:cNvPr id="9" name="Table 8"/>
          <p:cNvGraphicFramePr>
            <a:graphicFrameLocks noGrp="1"/>
          </p:cNvGraphicFramePr>
          <p:nvPr/>
        </p:nvGraphicFramePr>
        <p:xfrm>
          <a:off x="548640" y="1307592"/>
          <a:ext cx="5410047" cy="120396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 Disbursement officer with read access to Collections and its files</a:t>
                      </a:r>
                    </a:p>
                  </a:txBody>
                  <a:tcPr marL="54864" marR="54864" marT="27432" marB="27432">
                    <a:solidFill>
                      <a:srgbClr val="FFFFFF"/>
                    </a:solidFill>
                  </a:tcPr>
                </a:tc>
              </a:tr>
              <a:tr h="25908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Read access and reports (Disbursement also exports)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NAV-CL-10</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No step of the flows of this set</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(16)</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900">
                <a:solidFill>
                  <a:srgbClr val="004EA8"/>
                </a:solidFill>
                <a:latin typeface="Arial"/>
              </a:rPr>
              <a:t>•  </a:t>
            </a:r>
            <a:r>
              <a:rPr sz="900">
                <a:solidFill>
                  <a:srgbClr val="4B4B4B"/>
                </a:solidFill>
                <a:latin typeface="Arial"/>
              </a:rPr>
              <a:t>SCR-CL-01 Collections Home</a:t>
            </a:r>
          </a:p>
          <a:p>
            <a:pPr>
              <a:spcAft>
                <a:spcPts val="600"/>
              </a:spcAft>
            </a:pPr>
            <a:r>
              <a:rPr sz="900">
                <a:solidFill>
                  <a:srgbClr val="004EA8"/>
                </a:solidFill>
                <a:latin typeface="Arial"/>
              </a:rPr>
              <a:t>•  </a:t>
            </a:r>
            <a:r>
              <a:rPr sz="900">
                <a:solidFill>
                  <a:srgbClr val="4B4B4B"/>
                </a:solidFill>
                <a:latin typeface="Arial"/>
              </a:rPr>
              <a:t>SCR-CL-02 PR Worklist</a:t>
            </a:r>
          </a:p>
          <a:p>
            <a:pPr>
              <a:spcAft>
                <a:spcPts val="600"/>
              </a:spcAft>
            </a:pPr>
            <a:r>
              <a:rPr sz="900">
                <a:solidFill>
                  <a:srgbClr val="004EA8"/>
                </a:solidFill>
                <a:latin typeface="Arial"/>
              </a:rPr>
              <a:t>•  </a:t>
            </a:r>
            <a:r>
              <a:rPr sz="900">
                <a:solidFill>
                  <a:srgbClr val="4B4B4B"/>
                </a:solidFill>
                <a:latin typeface="Arial"/>
              </a:rPr>
              <a:t>SCR-CL-03 Collection Account</a:t>
            </a:r>
          </a:p>
          <a:p>
            <a:pPr>
              <a:spcAft>
                <a:spcPts val="600"/>
              </a:spcAft>
            </a:pPr>
            <a:r>
              <a:rPr sz="900">
                <a:solidFill>
                  <a:srgbClr val="004EA8"/>
                </a:solidFill>
                <a:latin typeface="Arial"/>
              </a:rPr>
              <a:t>•  </a:t>
            </a:r>
            <a:r>
              <a:rPr sz="900">
                <a:solidFill>
                  <a:srgbClr val="4B4B4B"/>
                </a:solidFill>
                <a:latin typeface="Arial"/>
              </a:rPr>
              <a:t>SCR-CL-04 Client View</a:t>
            </a:r>
          </a:p>
          <a:p>
            <a:pPr>
              <a:spcAft>
                <a:spcPts val="600"/>
              </a:spcAft>
            </a:pPr>
            <a:r>
              <a:rPr sz="900">
                <a:solidFill>
                  <a:srgbClr val="004EA8"/>
                </a:solidFill>
                <a:latin typeface="Arial"/>
              </a:rPr>
              <a:t>•  </a:t>
            </a:r>
            <a:r>
              <a:rPr sz="900">
                <a:solidFill>
                  <a:srgbClr val="4B4B4B"/>
                </a:solidFill>
                <a:latin typeface="Arial"/>
              </a:rPr>
              <a:t>SCR-CL-05 Installment Plans</a:t>
            </a:r>
          </a:p>
          <a:p>
            <a:pPr>
              <a:spcAft>
                <a:spcPts val="600"/>
              </a:spcAft>
            </a:pPr>
            <a:r>
              <a:rPr sz="900">
                <a:solidFill>
                  <a:srgbClr val="004EA8"/>
                </a:solidFill>
                <a:latin typeface="Arial"/>
              </a:rPr>
              <a:t>•  </a:t>
            </a:r>
            <a:r>
              <a:rPr sz="900">
                <a:solidFill>
                  <a:srgbClr val="4B4B4B"/>
                </a:solidFill>
                <a:latin typeface="Arial"/>
              </a:rPr>
              <a:t>SCR-CL-06 Installment Plan</a:t>
            </a:r>
          </a:p>
          <a:p>
            <a:pPr>
              <a:spcAft>
                <a:spcPts val="600"/>
              </a:spcAft>
            </a:pPr>
            <a:r>
              <a:rPr sz="900">
                <a:solidFill>
                  <a:srgbClr val="004EA8"/>
                </a:solidFill>
                <a:latin typeface="Arial"/>
              </a:rPr>
              <a:t>•  </a:t>
            </a:r>
            <a:r>
              <a:rPr sz="900">
                <a:solidFill>
                  <a:srgbClr val="4B4B4B"/>
                </a:solidFill>
                <a:latin typeface="Arial"/>
              </a:rPr>
              <a:t>SCR-CL-07 Installments Due</a:t>
            </a:r>
          </a:p>
          <a:p>
            <a:pPr>
              <a:spcAft>
                <a:spcPts val="600"/>
              </a:spcAft>
            </a:pPr>
            <a:r>
              <a:rPr sz="900">
                <a:solidFill>
                  <a:srgbClr val="004EA8"/>
                </a:solidFill>
                <a:latin typeface="Arial"/>
              </a:rPr>
              <a:t>•  </a:t>
            </a:r>
            <a:r>
              <a:rPr sz="900">
                <a:solidFill>
                  <a:srgbClr val="4B4B4B"/>
                </a:solidFill>
                <a:latin typeface="Arial"/>
              </a:rPr>
              <a:t>SCR-CL-08 Promises to Pay</a:t>
            </a:r>
          </a:p>
          <a:p>
            <a:pPr>
              <a:spcAft>
                <a:spcPts val="600"/>
              </a:spcAft>
            </a:pPr>
            <a:r>
              <a:rPr sz="900">
                <a:solidFill>
                  <a:srgbClr val="004EA8"/>
                </a:solidFill>
                <a:latin typeface="Arial"/>
              </a:rPr>
              <a:t>•  </a:t>
            </a:r>
            <a:r>
              <a:rPr sz="900">
                <a:solidFill>
                  <a:srgbClr val="4B4B4B"/>
                </a:solidFill>
                <a:latin typeface="Arial"/>
              </a:rPr>
              <a:t>SCR-CL-09 Billing Statements</a:t>
            </a:r>
          </a:p>
          <a:p>
            <a:pPr>
              <a:spcAft>
                <a:spcPts val="600"/>
              </a:spcAft>
            </a:pPr>
            <a:r>
              <a:rPr sz="900">
                <a:solidFill>
                  <a:srgbClr val="004EA8"/>
                </a:solidFill>
                <a:latin typeface="Arial"/>
              </a:rPr>
              <a:t>•  </a:t>
            </a:r>
            <a:r>
              <a:rPr sz="900">
                <a:solidFill>
                  <a:srgbClr val="4B4B4B"/>
                </a:solidFill>
                <a:latin typeface="Arial"/>
              </a:rPr>
              <a:t>SCR-CL-10 Statement of Account</a:t>
            </a:r>
          </a:p>
          <a:p>
            <a:pPr>
              <a:spcAft>
                <a:spcPts val="600"/>
              </a:spcAft>
            </a:pPr>
            <a:r>
              <a:rPr sz="900">
                <a:solidFill>
                  <a:srgbClr val="004EA8"/>
                </a:solidFill>
                <a:latin typeface="Arial"/>
              </a:rPr>
              <a:t>•  </a:t>
            </a:r>
            <a:r>
              <a:rPr sz="900">
                <a:solidFill>
                  <a:srgbClr val="4B4B4B"/>
                </a:solidFill>
                <a:latin typeface="Arial"/>
              </a:rPr>
              <a:t>SCR-CL-11 Escalations</a:t>
            </a:r>
          </a:p>
          <a:p>
            <a:pPr>
              <a:spcAft>
                <a:spcPts val="600"/>
              </a:spcAft>
            </a:pPr>
            <a:r>
              <a:rPr sz="900">
                <a:solidFill>
                  <a:srgbClr val="004EA8"/>
                </a:solidFill>
                <a:latin typeface="Arial"/>
              </a:rPr>
              <a:t>•  </a:t>
            </a:r>
            <a:r>
              <a:rPr sz="900">
                <a:solidFill>
                  <a:srgbClr val="4B4B4B"/>
                </a:solidFill>
                <a:latin typeface="Arial"/>
              </a:rPr>
              <a:t>SCR-CL-12 Escalation</a:t>
            </a:r>
          </a:p>
          <a:p>
            <a:pPr>
              <a:spcAft>
                <a:spcPts val="600"/>
              </a:spcAft>
            </a:pPr>
            <a:r>
              <a:rPr sz="900">
                <a:solidFill>
                  <a:srgbClr val="004EA8"/>
                </a:solidFill>
                <a:latin typeface="Arial"/>
              </a:rPr>
              <a:t>•  </a:t>
            </a:r>
            <a:r>
              <a:rPr sz="900">
                <a:solidFill>
                  <a:srgbClr val="4B4B4B"/>
                </a:solidFill>
                <a:latin typeface="Arial"/>
              </a:rPr>
              <a:t>SCR-CL-14 Unapplied Payments</a:t>
            </a:r>
          </a:p>
          <a:p>
            <a:pPr>
              <a:spcAft>
                <a:spcPts val="600"/>
              </a:spcAft>
            </a:pPr>
            <a:r>
              <a:rPr sz="900">
                <a:solidFill>
                  <a:srgbClr val="004EA8"/>
                </a:solidFill>
                <a:latin typeface="Arial"/>
              </a:rPr>
              <a:t>•  </a:t>
            </a:r>
            <a:r>
              <a:rPr sz="900">
                <a:solidFill>
                  <a:srgbClr val="4B4B4B"/>
                </a:solidFill>
                <a:latin typeface="Arial"/>
              </a:rPr>
              <a:t>SCR-CL-15 Unapplied Payment</a:t>
            </a:r>
          </a:p>
          <a:p>
            <a:pPr>
              <a:spcAft>
                <a:spcPts val="600"/>
              </a:spcAft>
            </a:pPr>
            <a:r>
              <a:rPr sz="900">
                <a:solidFill>
                  <a:srgbClr val="004EA8"/>
                </a:solidFill>
                <a:latin typeface="Arial"/>
              </a:rPr>
              <a:t>•  </a:t>
            </a:r>
            <a:r>
              <a:rPr sz="900">
                <a:solidFill>
                  <a:srgbClr val="4B4B4B"/>
                </a:solidFill>
                <a:latin typeface="Arial"/>
              </a:rPr>
              <a:t>SCR-CL-16 Requests to Cashiering</a:t>
            </a:r>
          </a:p>
          <a:p>
            <a:pPr>
              <a:spcAft>
                <a:spcPts val="600"/>
              </a:spcAft>
            </a:pPr>
            <a:r>
              <a:rPr sz="900">
                <a:solidFill>
                  <a:srgbClr val="004EA8"/>
                </a:solidFill>
                <a:latin typeface="Arial"/>
              </a:rPr>
              <a:t>•  </a:t>
            </a:r>
            <a:r>
              <a:rPr sz="900">
                <a:solidFill>
                  <a:srgbClr val="4B4B4B"/>
                </a:solidFill>
                <a:latin typeface="Arial"/>
              </a:rPr>
              <a:t>SCR-CL-18 Collections Files</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Comptrollership (read access)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95</a:t>
            </a:r>
          </a:p>
        </p:txBody>
      </p:sp>
      <p:graphicFrame>
        <p:nvGraphicFramePr>
          <p:cNvPr id="9" name="Table 8"/>
          <p:cNvGraphicFramePr>
            <a:graphicFrameLocks noGrp="1"/>
          </p:cNvGraphicFramePr>
          <p:nvPr/>
        </p:nvGraphicFramePr>
        <p:xfrm>
          <a:off x="548640" y="1307592"/>
          <a:ext cx="5410047" cy="120396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 Comptrollership officer with read access to Collections</a:t>
                      </a:r>
                    </a:p>
                  </a:txBody>
                  <a:tcPr marL="54864" marR="54864" marT="27432" marB="27432">
                    <a:solidFill>
                      <a:srgbClr val="FFFFFF"/>
                    </a:solidFill>
                  </a:tcPr>
                </a:tc>
              </a:tr>
              <a:tr h="25908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Read access and reports (Disbursement also exports)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NAV-CL-11</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No step of the flows of this set</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(16)</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900">
                <a:solidFill>
                  <a:srgbClr val="004EA8"/>
                </a:solidFill>
                <a:latin typeface="Arial"/>
              </a:rPr>
              <a:t>•  </a:t>
            </a:r>
            <a:r>
              <a:rPr sz="900">
                <a:solidFill>
                  <a:srgbClr val="4B4B4B"/>
                </a:solidFill>
                <a:latin typeface="Arial"/>
              </a:rPr>
              <a:t>SCR-CL-01 Collections Home</a:t>
            </a:r>
          </a:p>
          <a:p>
            <a:pPr>
              <a:spcAft>
                <a:spcPts val="600"/>
              </a:spcAft>
            </a:pPr>
            <a:r>
              <a:rPr sz="900">
                <a:solidFill>
                  <a:srgbClr val="004EA8"/>
                </a:solidFill>
                <a:latin typeface="Arial"/>
              </a:rPr>
              <a:t>•  </a:t>
            </a:r>
            <a:r>
              <a:rPr sz="900">
                <a:solidFill>
                  <a:srgbClr val="4B4B4B"/>
                </a:solidFill>
                <a:latin typeface="Arial"/>
              </a:rPr>
              <a:t>SCR-CL-02 PR Worklist</a:t>
            </a:r>
          </a:p>
          <a:p>
            <a:pPr>
              <a:spcAft>
                <a:spcPts val="600"/>
              </a:spcAft>
            </a:pPr>
            <a:r>
              <a:rPr sz="900">
                <a:solidFill>
                  <a:srgbClr val="004EA8"/>
                </a:solidFill>
                <a:latin typeface="Arial"/>
              </a:rPr>
              <a:t>•  </a:t>
            </a:r>
            <a:r>
              <a:rPr sz="900">
                <a:solidFill>
                  <a:srgbClr val="4B4B4B"/>
                </a:solidFill>
                <a:latin typeface="Arial"/>
              </a:rPr>
              <a:t>SCR-CL-03 Collection Account</a:t>
            </a:r>
          </a:p>
          <a:p>
            <a:pPr>
              <a:spcAft>
                <a:spcPts val="600"/>
              </a:spcAft>
            </a:pPr>
            <a:r>
              <a:rPr sz="900">
                <a:solidFill>
                  <a:srgbClr val="004EA8"/>
                </a:solidFill>
                <a:latin typeface="Arial"/>
              </a:rPr>
              <a:t>•  </a:t>
            </a:r>
            <a:r>
              <a:rPr sz="900">
                <a:solidFill>
                  <a:srgbClr val="4B4B4B"/>
                </a:solidFill>
                <a:latin typeface="Arial"/>
              </a:rPr>
              <a:t>SCR-CL-04 Client View</a:t>
            </a:r>
          </a:p>
          <a:p>
            <a:pPr>
              <a:spcAft>
                <a:spcPts val="600"/>
              </a:spcAft>
            </a:pPr>
            <a:r>
              <a:rPr sz="900">
                <a:solidFill>
                  <a:srgbClr val="004EA8"/>
                </a:solidFill>
                <a:latin typeface="Arial"/>
              </a:rPr>
              <a:t>•  </a:t>
            </a:r>
            <a:r>
              <a:rPr sz="900">
                <a:solidFill>
                  <a:srgbClr val="4B4B4B"/>
                </a:solidFill>
                <a:latin typeface="Arial"/>
              </a:rPr>
              <a:t>SCR-CL-05 Installment Plans</a:t>
            </a:r>
          </a:p>
          <a:p>
            <a:pPr>
              <a:spcAft>
                <a:spcPts val="600"/>
              </a:spcAft>
            </a:pPr>
            <a:r>
              <a:rPr sz="900">
                <a:solidFill>
                  <a:srgbClr val="004EA8"/>
                </a:solidFill>
                <a:latin typeface="Arial"/>
              </a:rPr>
              <a:t>•  </a:t>
            </a:r>
            <a:r>
              <a:rPr sz="900">
                <a:solidFill>
                  <a:srgbClr val="4B4B4B"/>
                </a:solidFill>
                <a:latin typeface="Arial"/>
              </a:rPr>
              <a:t>SCR-CL-06 Installment Plan</a:t>
            </a:r>
          </a:p>
          <a:p>
            <a:pPr>
              <a:spcAft>
                <a:spcPts val="600"/>
              </a:spcAft>
            </a:pPr>
            <a:r>
              <a:rPr sz="900">
                <a:solidFill>
                  <a:srgbClr val="004EA8"/>
                </a:solidFill>
                <a:latin typeface="Arial"/>
              </a:rPr>
              <a:t>•  </a:t>
            </a:r>
            <a:r>
              <a:rPr sz="900">
                <a:solidFill>
                  <a:srgbClr val="4B4B4B"/>
                </a:solidFill>
                <a:latin typeface="Arial"/>
              </a:rPr>
              <a:t>SCR-CL-07 Installments Due</a:t>
            </a:r>
          </a:p>
          <a:p>
            <a:pPr>
              <a:spcAft>
                <a:spcPts val="600"/>
              </a:spcAft>
            </a:pPr>
            <a:r>
              <a:rPr sz="900">
                <a:solidFill>
                  <a:srgbClr val="004EA8"/>
                </a:solidFill>
                <a:latin typeface="Arial"/>
              </a:rPr>
              <a:t>•  </a:t>
            </a:r>
            <a:r>
              <a:rPr sz="900">
                <a:solidFill>
                  <a:srgbClr val="4B4B4B"/>
                </a:solidFill>
                <a:latin typeface="Arial"/>
              </a:rPr>
              <a:t>SCR-CL-08 Promises to Pay</a:t>
            </a:r>
          </a:p>
          <a:p>
            <a:pPr>
              <a:spcAft>
                <a:spcPts val="600"/>
              </a:spcAft>
            </a:pPr>
            <a:r>
              <a:rPr sz="900">
                <a:solidFill>
                  <a:srgbClr val="004EA8"/>
                </a:solidFill>
                <a:latin typeface="Arial"/>
              </a:rPr>
              <a:t>•  </a:t>
            </a:r>
            <a:r>
              <a:rPr sz="900">
                <a:solidFill>
                  <a:srgbClr val="4B4B4B"/>
                </a:solidFill>
                <a:latin typeface="Arial"/>
              </a:rPr>
              <a:t>SCR-CL-09 Billing Statements</a:t>
            </a:r>
          </a:p>
          <a:p>
            <a:pPr>
              <a:spcAft>
                <a:spcPts val="600"/>
              </a:spcAft>
            </a:pPr>
            <a:r>
              <a:rPr sz="900">
                <a:solidFill>
                  <a:srgbClr val="004EA8"/>
                </a:solidFill>
                <a:latin typeface="Arial"/>
              </a:rPr>
              <a:t>•  </a:t>
            </a:r>
            <a:r>
              <a:rPr sz="900">
                <a:solidFill>
                  <a:srgbClr val="4B4B4B"/>
                </a:solidFill>
                <a:latin typeface="Arial"/>
              </a:rPr>
              <a:t>SCR-CL-10 Statement of Account</a:t>
            </a:r>
          </a:p>
          <a:p>
            <a:pPr>
              <a:spcAft>
                <a:spcPts val="600"/>
              </a:spcAft>
            </a:pPr>
            <a:r>
              <a:rPr sz="900">
                <a:solidFill>
                  <a:srgbClr val="004EA8"/>
                </a:solidFill>
                <a:latin typeface="Arial"/>
              </a:rPr>
              <a:t>•  </a:t>
            </a:r>
            <a:r>
              <a:rPr sz="900">
                <a:solidFill>
                  <a:srgbClr val="4B4B4B"/>
                </a:solidFill>
                <a:latin typeface="Arial"/>
              </a:rPr>
              <a:t>SCR-CL-11 Escalations</a:t>
            </a:r>
          </a:p>
          <a:p>
            <a:pPr>
              <a:spcAft>
                <a:spcPts val="600"/>
              </a:spcAft>
            </a:pPr>
            <a:r>
              <a:rPr sz="900">
                <a:solidFill>
                  <a:srgbClr val="004EA8"/>
                </a:solidFill>
                <a:latin typeface="Arial"/>
              </a:rPr>
              <a:t>•  </a:t>
            </a:r>
            <a:r>
              <a:rPr sz="900">
                <a:solidFill>
                  <a:srgbClr val="4B4B4B"/>
                </a:solidFill>
                <a:latin typeface="Arial"/>
              </a:rPr>
              <a:t>SCR-CL-12 Escalation</a:t>
            </a:r>
          </a:p>
          <a:p>
            <a:pPr>
              <a:spcAft>
                <a:spcPts val="600"/>
              </a:spcAft>
            </a:pPr>
            <a:r>
              <a:rPr sz="900">
                <a:solidFill>
                  <a:srgbClr val="004EA8"/>
                </a:solidFill>
                <a:latin typeface="Arial"/>
              </a:rPr>
              <a:t>•  </a:t>
            </a:r>
            <a:r>
              <a:rPr sz="900">
                <a:solidFill>
                  <a:srgbClr val="4B4B4B"/>
                </a:solidFill>
                <a:latin typeface="Arial"/>
              </a:rPr>
              <a:t>SCR-CL-14 Unapplied Payments</a:t>
            </a:r>
          </a:p>
          <a:p>
            <a:pPr>
              <a:spcAft>
                <a:spcPts val="600"/>
              </a:spcAft>
            </a:pPr>
            <a:r>
              <a:rPr sz="900">
                <a:solidFill>
                  <a:srgbClr val="004EA8"/>
                </a:solidFill>
                <a:latin typeface="Arial"/>
              </a:rPr>
              <a:t>•  </a:t>
            </a:r>
            <a:r>
              <a:rPr sz="900">
                <a:solidFill>
                  <a:srgbClr val="4B4B4B"/>
                </a:solidFill>
                <a:latin typeface="Arial"/>
              </a:rPr>
              <a:t>SCR-CL-15 Unapplied Payment</a:t>
            </a:r>
          </a:p>
          <a:p>
            <a:pPr>
              <a:spcAft>
                <a:spcPts val="600"/>
              </a:spcAft>
            </a:pPr>
            <a:r>
              <a:rPr sz="900">
                <a:solidFill>
                  <a:srgbClr val="004EA8"/>
                </a:solidFill>
                <a:latin typeface="Arial"/>
              </a:rPr>
              <a:t>•  </a:t>
            </a:r>
            <a:r>
              <a:rPr sz="900">
                <a:solidFill>
                  <a:srgbClr val="4B4B4B"/>
                </a:solidFill>
                <a:latin typeface="Arial"/>
              </a:rPr>
              <a:t>SCR-CL-16 Requests to Cashiering</a:t>
            </a:r>
          </a:p>
          <a:p>
            <a:pPr>
              <a:spcAft>
                <a:spcPts val="600"/>
              </a:spcAft>
            </a:pPr>
            <a:r>
              <a:rPr sz="900">
                <a:solidFill>
                  <a:srgbClr val="004EA8"/>
                </a:solidFill>
                <a:latin typeface="Arial"/>
              </a:rPr>
              <a:t>•  </a:t>
            </a:r>
            <a:r>
              <a:rPr sz="900">
                <a:solidFill>
                  <a:srgbClr val="4B4B4B"/>
                </a:solidFill>
                <a:latin typeface="Arial"/>
              </a:rPr>
              <a:t>SCR-CL-18 Collections Files</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Business Administrator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96</a:t>
            </a:r>
          </a:p>
        </p:txBody>
      </p:sp>
      <p:graphicFrame>
        <p:nvGraphicFramePr>
          <p:cNvPr id="9" name="Table 8"/>
          <p:cNvGraphicFramePr>
            <a:graphicFrameLocks noGrp="1"/>
          </p:cNvGraphicFramePr>
          <p:nvPr/>
        </p:nvGraphicFramePr>
        <p:xfrm>
          <a:off x="548640" y="1307592"/>
          <a:ext cx="5410047" cy="137160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The business administrator who keeps the Collections set-up and the escalation rules</a:t>
                      </a:r>
                    </a:p>
                  </a:txBody>
                  <a:tcPr marL="54864" marR="54864" marT="27432" marB="27432">
                    <a:solidFill>
                      <a:srgbClr val="FFFFFF"/>
                    </a:solidFill>
                  </a:tcPr>
                </a:tc>
              </a:tr>
              <a:tr h="42672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Collections set-up, audit log, interface (sync) view and job runs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NAV-CL-12</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No step of the flows of this set</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(17)</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900">
                <a:solidFill>
                  <a:srgbClr val="004EA8"/>
                </a:solidFill>
                <a:latin typeface="Arial"/>
              </a:rPr>
              <a:t>•  </a:t>
            </a:r>
            <a:r>
              <a:rPr sz="900">
                <a:solidFill>
                  <a:srgbClr val="4B4B4B"/>
                </a:solidFill>
                <a:latin typeface="Arial"/>
              </a:rPr>
              <a:t>SCR-CL-01 Collections Home</a:t>
            </a:r>
          </a:p>
          <a:p>
            <a:pPr>
              <a:spcAft>
                <a:spcPts val="600"/>
              </a:spcAft>
            </a:pPr>
            <a:r>
              <a:rPr sz="900">
                <a:solidFill>
                  <a:srgbClr val="004EA8"/>
                </a:solidFill>
                <a:latin typeface="Arial"/>
              </a:rPr>
              <a:t>•  </a:t>
            </a:r>
            <a:r>
              <a:rPr sz="900">
                <a:solidFill>
                  <a:srgbClr val="4B4B4B"/>
                </a:solidFill>
                <a:latin typeface="Arial"/>
              </a:rPr>
              <a:t>SCR-CL-02 PR Worklist</a:t>
            </a:r>
          </a:p>
          <a:p>
            <a:pPr>
              <a:spcAft>
                <a:spcPts val="600"/>
              </a:spcAft>
            </a:pPr>
            <a:r>
              <a:rPr sz="900">
                <a:solidFill>
                  <a:srgbClr val="004EA8"/>
                </a:solidFill>
                <a:latin typeface="Arial"/>
              </a:rPr>
              <a:t>•  </a:t>
            </a:r>
            <a:r>
              <a:rPr sz="900">
                <a:solidFill>
                  <a:srgbClr val="4B4B4B"/>
                </a:solidFill>
                <a:latin typeface="Arial"/>
              </a:rPr>
              <a:t>SCR-CL-03 Collection Account</a:t>
            </a:r>
          </a:p>
          <a:p>
            <a:pPr>
              <a:spcAft>
                <a:spcPts val="600"/>
              </a:spcAft>
            </a:pPr>
            <a:r>
              <a:rPr sz="900">
                <a:solidFill>
                  <a:srgbClr val="004EA8"/>
                </a:solidFill>
                <a:latin typeface="Arial"/>
              </a:rPr>
              <a:t>•  </a:t>
            </a:r>
            <a:r>
              <a:rPr sz="900">
                <a:solidFill>
                  <a:srgbClr val="4B4B4B"/>
                </a:solidFill>
                <a:latin typeface="Arial"/>
              </a:rPr>
              <a:t>SCR-CL-04 Client View</a:t>
            </a:r>
          </a:p>
          <a:p>
            <a:pPr>
              <a:spcAft>
                <a:spcPts val="600"/>
              </a:spcAft>
            </a:pPr>
            <a:r>
              <a:rPr sz="900">
                <a:solidFill>
                  <a:srgbClr val="004EA8"/>
                </a:solidFill>
                <a:latin typeface="Arial"/>
              </a:rPr>
              <a:t>•  </a:t>
            </a:r>
            <a:r>
              <a:rPr sz="900">
                <a:solidFill>
                  <a:srgbClr val="4B4B4B"/>
                </a:solidFill>
                <a:latin typeface="Arial"/>
              </a:rPr>
              <a:t>SCR-CL-05 Installment Plans</a:t>
            </a:r>
          </a:p>
          <a:p>
            <a:pPr>
              <a:spcAft>
                <a:spcPts val="600"/>
              </a:spcAft>
            </a:pPr>
            <a:r>
              <a:rPr sz="900">
                <a:solidFill>
                  <a:srgbClr val="004EA8"/>
                </a:solidFill>
                <a:latin typeface="Arial"/>
              </a:rPr>
              <a:t>•  </a:t>
            </a:r>
            <a:r>
              <a:rPr sz="900">
                <a:solidFill>
                  <a:srgbClr val="4B4B4B"/>
                </a:solidFill>
                <a:latin typeface="Arial"/>
              </a:rPr>
              <a:t>SCR-CL-06 Installment Plan</a:t>
            </a:r>
          </a:p>
          <a:p>
            <a:pPr>
              <a:spcAft>
                <a:spcPts val="600"/>
              </a:spcAft>
            </a:pPr>
            <a:r>
              <a:rPr sz="900">
                <a:solidFill>
                  <a:srgbClr val="004EA8"/>
                </a:solidFill>
                <a:latin typeface="Arial"/>
              </a:rPr>
              <a:t>•  </a:t>
            </a:r>
            <a:r>
              <a:rPr sz="900">
                <a:solidFill>
                  <a:srgbClr val="4B4B4B"/>
                </a:solidFill>
                <a:latin typeface="Arial"/>
              </a:rPr>
              <a:t>SCR-CL-07 Installments Due</a:t>
            </a:r>
          </a:p>
          <a:p>
            <a:pPr>
              <a:spcAft>
                <a:spcPts val="600"/>
              </a:spcAft>
            </a:pPr>
            <a:r>
              <a:rPr sz="900">
                <a:solidFill>
                  <a:srgbClr val="004EA8"/>
                </a:solidFill>
                <a:latin typeface="Arial"/>
              </a:rPr>
              <a:t>•  </a:t>
            </a:r>
            <a:r>
              <a:rPr sz="900">
                <a:solidFill>
                  <a:srgbClr val="4B4B4B"/>
                </a:solidFill>
                <a:latin typeface="Arial"/>
              </a:rPr>
              <a:t>SCR-CL-08 Promises to Pay</a:t>
            </a:r>
          </a:p>
          <a:p>
            <a:pPr>
              <a:spcAft>
                <a:spcPts val="600"/>
              </a:spcAft>
            </a:pPr>
            <a:r>
              <a:rPr sz="900">
                <a:solidFill>
                  <a:srgbClr val="004EA8"/>
                </a:solidFill>
                <a:latin typeface="Arial"/>
              </a:rPr>
              <a:t>•  </a:t>
            </a:r>
            <a:r>
              <a:rPr sz="900">
                <a:solidFill>
                  <a:srgbClr val="4B4B4B"/>
                </a:solidFill>
                <a:latin typeface="Arial"/>
              </a:rPr>
              <a:t>SCR-CL-09 Billing Statements</a:t>
            </a:r>
          </a:p>
          <a:p>
            <a:pPr>
              <a:spcAft>
                <a:spcPts val="600"/>
              </a:spcAft>
            </a:pPr>
            <a:r>
              <a:rPr sz="900">
                <a:solidFill>
                  <a:srgbClr val="004EA8"/>
                </a:solidFill>
                <a:latin typeface="Arial"/>
              </a:rPr>
              <a:t>•  </a:t>
            </a:r>
            <a:r>
              <a:rPr sz="900">
                <a:solidFill>
                  <a:srgbClr val="4B4B4B"/>
                </a:solidFill>
                <a:latin typeface="Arial"/>
              </a:rPr>
              <a:t>SCR-CL-10 Statement of Account</a:t>
            </a:r>
          </a:p>
          <a:p>
            <a:pPr>
              <a:spcAft>
                <a:spcPts val="600"/>
              </a:spcAft>
            </a:pPr>
            <a:r>
              <a:rPr sz="900">
                <a:solidFill>
                  <a:srgbClr val="004EA8"/>
                </a:solidFill>
                <a:latin typeface="Arial"/>
              </a:rPr>
              <a:t>•  </a:t>
            </a:r>
            <a:r>
              <a:rPr sz="900">
                <a:solidFill>
                  <a:srgbClr val="4B4B4B"/>
                </a:solidFill>
                <a:latin typeface="Arial"/>
              </a:rPr>
              <a:t>SCR-CL-11 Escalations</a:t>
            </a:r>
          </a:p>
          <a:p>
            <a:pPr>
              <a:spcAft>
                <a:spcPts val="600"/>
              </a:spcAft>
            </a:pPr>
            <a:r>
              <a:rPr sz="900">
                <a:solidFill>
                  <a:srgbClr val="004EA8"/>
                </a:solidFill>
                <a:latin typeface="Arial"/>
              </a:rPr>
              <a:t>•  </a:t>
            </a:r>
            <a:r>
              <a:rPr sz="900">
                <a:solidFill>
                  <a:srgbClr val="4B4B4B"/>
                </a:solidFill>
                <a:latin typeface="Arial"/>
              </a:rPr>
              <a:t>SCR-CL-12 Escalation</a:t>
            </a:r>
          </a:p>
          <a:p>
            <a:pPr>
              <a:spcAft>
                <a:spcPts val="600"/>
              </a:spcAft>
            </a:pPr>
            <a:r>
              <a:rPr sz="900">
                <a:solidFill>
                  <a:srgbClr val="004EA8"/>
                </a:solidFill>
                <a:latin typeface="Arial"/>
              </a:rPr>
              <a:t>•  </a:t>
            </a:r>
            <a:r>
              <a:rPr sz="900">
                <a:solidFill>
                  <a:srgbClr val="4B4B4B"/>
                </a:solidFill>
                <a:latin typeface="Arial"/>
              </a:rPr>
              <a:t>SCR-CL-13 Escalation Rules</a:t>
            </a:r>
          </a:p>
          <a:p>
            <a:pPr>
              <a:spcAft>
                <a:spcPts val="600"/>
              </a:spcAft>
            </a:pPr>
            <a:r>
              <a:rPr sz="900">
                <a:solidFill>
                  <a:srgbClr val="004EA8"/>
                </a:solidFill>
                <a:latin typeface="Arial"/>
              </a:rPr>
              <a:t>•  </a:t>
            </a:r>
            <a:r>
              <a:rPr sz="900">
                <a:solidFill>
                  <a:srgbClr val="4B4B4B"/>
                </a:solidFill>
                <a:latin typeface="Arial"/>
              </a:rPr>
              <a:t>SCR-CL-14 Unapplied Payments</a:t>
            </a:r>
          </a:p>
          <a:p>
            <a:pPr>
              <a:spcAft>
                <a:spcPts val="600"/>
              </a:spcAft>
            </a:pPr>
            <a:r>
              <a:rPr sz="900">
                <a:solidFill>
                  <a:srgbClr val="004EA8"/>
                </a:solidFill>
                <a:latin typeface="Arial"/>
              </a:rPr>
              <a:t>•  </a:t>
            </a:r>
            <a:r>
              <a:rPr sz="900">
                <a:solidFill>
                  <a:srgbClr val="4B4B4B"/>
                </a:solidFill>
                <a:latin typeface="Arial"/>
              </a:rPr>
              <a:t>SCR-CL-15 Unapplied Payment</a:t>
            </a:r>
          </a:p>
          <a:p>
            <a:pPr>
              <a:spcAft>
                <a:spcPts val="600"/>
              </a:spcAft>
            </a:pPr>
            <a:r>
              <a:rPr sz="900">
                <a:solidFill>
                  <a:srgbClr val="004EA8"/>
                </a:solidFill>
                <a:latin typeface="Arial"/>
              </a:rPr>
              <a:t>•  </a:t>
            </a:r>
            <a:r>
              <a:rPr sz="900">
                <a:solidFill>
                  <a:srgbClr val="4B4B4B"/>
                </a:solidFill>
                <a:latin typeface="Arial"/>
              </a:rPr>
              <a:t>SCR-CL-16 Requests to Cashiering</a:t>
            </a:r>
          </a:p>
          <a:p>
            <a:pPr>
              <a:spcAft>
                <a:spcPts val="600"/>
              </a:spcAft>
            </a:pPr>
            <a:r>
              <a:rPr sz="900">
                <a:solidFill>
                  <a:srgbClr val="004EA8"/>
                </a:solidFill>
                <a:latin typeface="Arial"/>
              </a:rPr>
              <a:t>•  </a:t>
            </a:r>
            <a:r>
              <a:rPr sz="900">
                <a:solidFill>
                  <a:srgbClr val="4B4B4B"/>
                </a:solidFill>
                <a:latin typeface="Arial"/>
              </a:rPr>
              <a:t>SCR-CL-19 Collections Setup</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System Administrator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97</a:t>
            </a:r>
          </a:p>
        </p:txBody>
      </p:sp>
      <p:graphicFrame>
        <p:nvGraphicFramePr>
          <p:cNvPr id="9" name="Table 8"/>
          <p:cNvGraphicFramePr>
            <a:graphicFrameLocks noGrp="1"/>
          </p:cNvGraphicFramePr>
          <p:nvPr/>
        </p:nvGraphicFramePr>
        <p:xfrm>
          <a:off x="548640" y="1307592"/>
          <a:ext cx="5410047" cy="1036320"/>
        </p:xfrm>
        <a:graphic>
          <a:graphicData uri="http://schemas.openxmlformats.org/drawingml/2006/table">
            <a:tbl>
              <a:tblPr bandRow="1">
                <a:tableStyleId>{5C22544A-7EE6-4342-B048-85BDC9FD1C3A}</a:tableStyleId>
              </a:tblPr>
              <a:tblGrid>
                <a:gridCol w="1737360"/>
                <a:gridCol w="3672687"/>
              </a:tblGrid>
              <a:tr h="25908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The system administrator of BIBS (BDOI IT operations)</a:t>
                      </a:r>
                    </a:p>
                  </a:txBody>
                  <a:tcPr marL="54864" marR="54864" marT="27432" marB="27432">
                    <a:solidFill>
                      <a:srgbClr val="FFFFFF"/>
                    </a:solidFill>
                  </a:tcPr>
                </a:tc>
              </a:tr>
              <a:tr h="25908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Read access, set-up (SYSADMIN) and audit log</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NAV-CL-13</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No step of the flows of this set</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(18)</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900">
                <a:solidFill>
                  <a:srgbClr val="004EA8"/>
                </a:solidFill>
                <a:latin typeface="Arial"/>
              </a:rPr>
              <a:t>•  </a:t>
            </a:r>
            <a:r>
              <a:rPr sz="900">
                <a:solidFill>
                  <a:srgbClr val="4B4B4B"/>
                </a:solidFill>
                <a:latin typeface="Arial"/>
              </a:rPr>
              <a:t>SCR-CL-01 Collections Home</a:t>
            </a:r>
          </a:p>
          <a:p>
            <a:pPr>
              <a:spcAft>
                <a:spcPts val="600"/>
              </a:spcAft>
            </a:pPr>
            <a:r>
              <a:rPr sz="900">
                <a:solidFill>
                  <a:srgbClr val="004EA8"/>
                </a:solidFill>
                <a:latin typeface="Arial"/>
              </a:rPr>
              <a:t>•  </a:t>
            </a:r>
            <a:r>
              <a:rPr sz="900">
                <a:solidFill>
                  <a:srgbClr val="4B4B4B"/>
                </a:solidFill>
                <a:latin typeface="Arial"/>
              </a:rPr>
              <a:t>SCR-CL-02 PR Worklist</a:t>
            </a:r>
          </a:p>
          <a:p>
            <a:pPr>
              <a:spcAft>
                <a:spcPts val="600"/>
              </a:spcAft>
            </a:pPr>
            <a:r>
              <a:rPr sz="900">
                <a:solidFill>
                  <a:srgbClr val="004EA8"/>
                </a:solidFill>
                <a:latin typeface="Arial"/>
              </a:rPr>
              <a:t>•  </a:t>
            </a:r>
            <a:r>
              <a:rPr sz="900">
                <a:solidFill>
                  <a:srgbClr val="4B4B4B"/>
                </a:solidFill>
                <a:latin typeface="Arial"/>
              </a:rPr>
              <a:t>SCR-CL-03 Collection Account</a:t>
            </a:r>
          </a:p>
          <a:p>
            <a:pPr>
              <a:spcAft>
                <a:spcPts val="600"/>
              </a:spcAft>
            </a:pPr>
            <a:r>
              <a:rPr sz="900">
                <a:solidFill>
                  <a:srgbClr val="004EA8"/>
                </a:solidFill>
                <a:latin typeface="Arial"/>
              </a:rPr>
              <a:t>•  </a:t>
            </a:r>
            <a:r>
              <a:rPr sz="900">
                <a:solidFill>
                  <a:srgbClr val="4B4B4B"/>
                </a:solidFill>
                <a:latin typeface="Arial"/>
              </a:rPr>
              <a:t>SCR-CL-04 Client View</a:t>
            </a:r>
          </a:p>
          <a:p>
            <a:pPr>
              <a:spcAft>
                <a:spcPts val="600"/>
              </a:spcAft>
            </a:pPr>
            <a:r>
              <a:rPr sz="900">
                <a:solidFill>
                  <a:srgbClr val="004EA8"/>
                </a:solidFill>
                <a:latin typeface="Arial"/>
              </a:rPr>
              <a:t>•  </a:t>
            </a:r>
            <a:r>
              <a:rPr sz="900">
                <a:solidFill>
                  <a:srgbClr val="4B4B4B"/>
                </a:solidFill>
                <a:latin typeface="Arial"/>
              </a:rPr>
              <a:t>SCR-CL-05 Installment Plans</a:t>
            </a:r>
          </a:p>
          <a:p>
            <a:pPr>
              <a:spcAft>
                <a:spcPts val="600"/>
              </a:spcAft>
            </a:pPr>
            <a:r>
              <a:rPr sz="900">
                <a:solidFill>
                  <a:srgbClr val="004EA8"/>
                </a:solidFill>
                <a:latin typeface="Arial"/>
              </a:rPr>
              <a:t>•  </a:t>
            </a:r>
            <a:r>
              <a:rPr sz="900">
                <a:solidFill>
                  <a:srgbClr val="4B4B4B"/>
                </a:solidFill>
                <a:latin typeface="Arial"/>
              </a:rPr>
              <a:t>SCR-CL-06 Installment Plan</a:t>
            </a:r>
          </a:p>
          <a:p>
            <a:pPr>
              <a:spcAft>
                <a:spcPts val="600"/>
              </a:spcAft>
            </a:pPr>
            <a:r>
              <a:rPr sz="900">
                <a:solidFill>
                  <a:srgbClr val="004EA8"/>
                </a:solidFill>
                <a:latin typeface="Arial"/>
              </a:rPr>
              <a:t>•  </a:t>
            </a:r>
            <a:r>
              <a:rPr sz="900">
                <a:solidFill>
                  <a:srgbClr val="4B4B4B"/>
                </a:solidFill>
                <a:latin typeface="Arial"/>
              </a:rPr>
              <a:t>SCR-CL-07 Installments Due</a:t>
            </a:r>
          </a:p>
          <a:p>
            <a:pPr>
              <a:spcAft>
                <a:spcPts val="600"/>
              </a:spcAft>
            </a:pPr>
            <a:r>
              <a:rPr sz="900">
                <a:solidFill>
                  <a:srgbClr val="004EA8"/>
                </a:solidFill>
                <a:latin typeface="Arial"/>
              </a:rPr>
              <a:t>•  </a:t>
            </a:r>
            <a:r>
              <a:rPr sz="900">
                <a:solidFill>
                  <a:srgbClr val="4B4B4B"/>
                </a:solidFill>
                <a:latin typeface="Arial"/>
              </a:rPr>
              <a:t>SCR-CL-08 Promises to Pay</a:t>
            </a:r>
          </a:p>
          <a:p>
            <a:pPr>
              <a:spcAft>
                <a:spcPts val="600"/>
              </a:spcAft>
            </a:pPr>
            <a:r>
              <a:rPr sz="900">
                <a:solidFill>
                  <a:srgbClr val="004EA8"/>
                </a:solidFill>
                <a:latin typeface="Arial"/>
              </a:rPr>
              <a:t>•  </a:t>
            </a:r>
            <a:r>
              <a:rPr sz="900">
                <a:solidFill>
                  <a:srgbClr val="4B4B4B"/>
                </a:solidFill>
                <a:latin typeface="Arial"/>
              </a:rPr>
              <a:t>SCR-CL-09 Billing Statements</a:t>
            </a:r>
          </a:p>
          <a:p>
            <a:pPr>
              <a:spcAft>
                <a:spcPts val="600"/>
              </a:spcAft>
            </a:pPr>
            <a:r>
              <a:rPr sz="900">
                <a:solidFill>
                  <a:srgbClr val="004EA8"/>
                </a:solidFill>
                <a:latin typeface="Arial"/>
              </a:rPr>
              <a:t>•  </a:t>
            </a:r>
            <a:r>
              <a:rPr sz="900">
                <a:solidFill>
                  <a:srgbClr val="4B4B4B"/>
                </a:solidFill>
                <a:latin typeface="Arial"/>
              </a:rPr>
              <a:t>SCR-CL-10 Statement of Account</a:t>
            </a:r>
          </a:p>
          <a:p>
            <a:pPr>
              <a:spcAft>
                <a:spcPts val="600"/>
              </a:spcAft>
            </a:pPr>
            <a:r>
              <a:rPr sz="900">
                <a:solidFill>
                  <a:srgbClr val="004EA8"/>
                </a:solidFill>
                <a:latin typeface="Arial"/>
              </a:rPr>
              <a:t>•  </a:t>
            </a:r>
            <a:r>
              <a:rPr sz="900">
                <a:solidFill>
                  <a:srgbClr val="4B4B4B"/>
                </a:solidFill>
                <a:latin typeface="Arial"/>
              </a:rPr>
              <a:t>SCR-CL-11 Escalations</a:t>
            </a:r>
          </a:p>
          <a:p>
            <a:pPr>
              <a:spcAft>
                <a:spcPts val="600"/>
              </a:spcAft>
            </a:pPr>
            <a:r>
              <a:rPr sz="900">
                <a:solidFill>
                  <a:srgbClr val="004EA8"/>
                </a:solidFill>
                <a:latin typeface="Arial"/>
              </a:rPr>
              <a:t>•  </a:t>
            </a:r>
            <a:r>
              <a:rPr sz="900">
                <a:solidFill>
                  <a:srgbClr val="4B4B4B"/>
                </a:solidFill>
                <a:latin typeface="Arial"/>
              </a:rPr>
              <a:t>SCR-CL-12 Escalation</a:t>
            </a:r>
          </a:p>
          <a:p>
            <a:pPr>
              <a:spcAft>
                <a:spcPts val="600"/>
              </a:spcAft>
            </a:pPr>
            <a:r>
              <a:rPr sz="900">
                <a:solidFill>
                  <a:srgbClr val="004EA8"/>
                </a:solidFill>
                <a:latin typeface="Arial"/>
              </a:rPr>
              <a:t>•  </a:t>
            </a:r>
            <a:r>
              <a:rPr sz="900">
                <a:solidFill>
                  <a:srgbClr val="4B4B4B"/>
                </a:solidFill>
                <a:latin typeface="Arial"/>
              </a:rPr>
              <a:t>SCR-CL-13 Escalation Rules</a:t>
            </a:r>
          </a:p>
          <a:p>
            <a:pPr>
              <a:spcAft>
                <a:spcPts val="600"/>
              </a:spcAft>
            </a:pPr>
            <a:r>
              <a:rPr sz="900">
                <a:solidFill>
                  <a:srgbClr val="004EA8"/>
                </a:solidFill>
                <a:latin typeface="Arial"/>
              </a:rPr>
              <a:t>•  </a:t>
            </a:r>
            <a:r>
              <a:rPr sz="900">
                <a:solidFill>
                  <a:srgbClr val="4B4B4B"/>
                </a:solidFill>
                <a:latin typeface="Arial"/>
              </a:rPr>
              <a:t>SCR-CL-14 Unapplied Payments</a:t>
            </a:r>
          </a:p>
          <a:p>
            <a:pPr>
              <a:spcAft>
                <a:spcPts val="600"/>
              </a:spcAft>
            </a:pPr>
            <a:r>
              <a:rPr sz="900">
                <a:solidFill>
                  <a:srgbClr val="004EA8"/>
                </a:solidFill>
                <a:latin typeface="Arial"/>
              </a:rPr>
              <a:t>•  </a:t>
            </a:r>
            <a:r>
              <a:rPr sz="900">
                <a:solidFill>
                  <a:srgbClr val="4B4B4B"/>
                </a:solidFill>
                <a:latin typeface="Arial"/>
              </a:rPr>
              <a:t>SCR-CL-15 Unapplied Payment</a:t>
            </a:r>
          </a:p>
          <a:p>
            <a:pPr>
              <a:spcAft>
                <a:spcPts val="600"/>
              </a:spcAft>
            </a:pPr>
            <a:r>
              <a:rPr sz="900">
                <a:solidFill>
                  <a:srgbClr val="004EA8"/>
                </a:solidFill>
                <a:latin typeface="Arial"/>
              </a:rPr>
              <a:t>•  </a:t>
            </a:r>
            <a:r>
              <a:rPr sz="900">
                <a:solidFill>
                  <a:srgbClr val="4B4B4B"/>
                </a:solidFill>
                <a:latin typeface="Arial"/>
              </a:rPr>
              <a:t>SCR-CL-16 Requests to Cashiering</a:t>
            </a:r>
          </a:p>
          <a:p>
            <a:pPr>
              <a:spcAft>
                <a:spcPts val="600"/>
              </a:spcAft>
            </a:pPr>
            <a:r>
              <a:rPr sz="900">
                <a:solidFill>
                  <a:srgbClr val="004EA8"/>
                </a:solidFill>
                <a:latin typeface="Arial"/>
              </a:rPr>
              <a:t>•  </a:t>
            </a:r>
            <a:r>
              <a:rPr sz="900">
                <a:solidFill>
                  <a:srgbClr val="4B4B4B"/>
                </a:solidFill>
                <a:latin typeface="Arial"/>
              </a:rPr>
              <a:t>SCR-CL-18 Collections Files</a:t>
            </a:r>
          </a:p>
          <a:p>
            <a:pPr>
              <a:spcAft>
                <a:spcPts val="600"/>
              </a:spcAft>
            </a:pPr>
            <a:r>
              <a:rPr sz="900">
                <a:solidFill>
                  <a:srgbClr val="004EA8"/>
                </a:solidFill>
                <a:latin typeface="Arial"/>
              </a:rPr>
              <a:t>•  </a:t>
            </a:r>
            <a:r>
              <a:rPr sz="900">
                <a:solidFill>
                  <a:srgbClr val="4B4B4B"/>
                </a:solidFill>
                <a:latin typeface="Arial"/>
              </a:rPr>
              <a:t>SCR-CL-19 Collections Setup</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Auditor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98</a:t>
            </a:r>
          </a:p>
        </p:txBody>
      </p:sp>
      <p:graphicFrame>
        <p:nvGraphicFramePr>
          <p:cNvPr id="9" name="Table 8"/>
          <p:cNvGraphicFramePr>
            <a:graphicFrameLocks noGrp="1"/>
          </p:cNvGraphicFramePr>
          <p:nvPr/>
        </p:nvGraphicFramePr>
        <p:xfrm>
          <a:off x="548640" y="1307592"/>
          <a:ext cx="5410047" cy="120396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An internal or external auditor with read access to Collections and its audit log</a:t>
                      </a:r>
                    </a:p>
                  </a:txBody>
                  <a:tcPr marL="54864" marR="54864" marT="27432" marB="27432">
                    <a:solidFill>
                      <a:srgbClr val="FFFFFF"/>
                    </a:solidFill>
                  </a:tcPr>
                </a:tc>
              </a:tr>
              <a:tr h="25908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Read access, set-up (SYSADMIN) and audit log</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NAV-CL-14</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No step of the flows of this set</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(16)</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900">
                <a:solidFill>
                  <a:srgbClr val="004EA8"/>
                </a:solidFill>
                <a:latin typeface="Arial"/>
              </a:rPr>
              <a:t>•  </a:t>
            </a:r>
            <a:r>
              <a:rPr sz="900">
                <a:solidFill>
                  <a:srgbClr val="4B4B4B"/>
                </a:solidFill>
                <a:latin typeface="Arial"/>
              </a:rPr>
              <a:t>SCR-CL-01 Collections Home</a:t>
            </a:r>
          </a:p>
          <a:p>
            <a:pPr>
              <a:spcAft>
                <a:spcPts val="600"/>
              </a:spcAft>
            </a:pPr>
            <a:r>
              <a:rPr sz="900">
                <a:solidFill>
                  <a:srgbClr val="004EA8"/>
                </a:solidFill>
                <a:latin typeface="Arial"/>
              </a:rPr>
              <a:t>•  </a:t>
            </a:r>
            <a:r>
              <a:rPr sz="900">
                <a:solidFill>
                  <a:srgbClr val="4B4B4B"/>
                </a:solidFill>
                <a:latin typeface="Arial"/>
              </a:rPr>
              <a:t>SCR-CL-02 PR Worklist</a:t>
            </a:r>
          </a:p>
          <a:p>
            <a:pPr>
              <a:spcAft>
                <a:spcPts val="600"/>
              </a:spcAft>
            </a:pPr>
            <a:r>
              <a:rPr sz="900">
                <a:solidFill>
                  <a:srgbClr val="004EA8"/>
                </a:solidFill>
                <a:latin typeface="Arial"/>
              </a:rPr>
              <a:t>•  </a:t>
            </a:r>
            <a:r>
              <a:rPr sz="900">
                <a:solidFill>
                  <a:srgbClr val="4B4B4B"/>
                </a:solidFill>
                <a:latin typeface="Arial"/>
              </a:rPr>
              <a:t>SCR-CL-03 Collection Account</a:t>
            </a:r>
          </a:p>
          <a:p>
            <a:pPr>
              <a:spcAft>
                <a:spcPts val="600"/>
              </a:spcAft>
            </a:pPr>
            <a:r>
              <a:rPr sz="900">
                <a:solidFill>
                  <a:srgbClr val="004EA8"/>
                </a:solidFill>
                <a:latin typeface="Arial"/>
              </a:rPr>
              <a:t>•  </a:t>
            </a:r>
            <a:r>
              <a:rPr sz="900">
                <a:solidFill>
                  <a:srgbClr val="4B4B4B"/>
                </a:solidFill>
                <a:latin typeface="Arial"/>
              </a:rPr>
              <a:t>SCR-CL-04 Client View</a:t>
            </a:r>
          </a:p>
          <a:p>
            <a:pPr>
              <a:spcAft>
                <a:spcPts val="600"/>
              </a:spcAft>
            </a:pPr>
            <a:r>
              <a:rPr sz="900">
                <a:solidFill>
                  <a:srgbClr val="004EA8"/>
                </a:solidFill>
                <a:latin typeface="Arial"/>
              </a:rPr>
              <a:t>•  </a:t>
            </a:r>
            <a:r>
              <a:rPr sz="900">
                <a:solidFill>
                  <a:srgbClr val="4B4B4B"/>
                </a:solidFill>
                <a:latin typeface="Arial"/>
              </a:rPr>
              <a:t>SCR-CL-05 Installment Plans</a:t>
            </a:r>
          </a:p>
          <a:p>
            <a:pPr>
              <a:spcAft>
                <a:spcPts val="600"/>
              </a:spcAft>
            </a:pPr>
            <a:r>
              <a:rPr sz="900">
                <a:solidFill>
                  <a:srgbClr val="004EA8"/>
                </a:solidFill>
                <a:latin typeface="Arial"/>
              </a:rPr>
              <a:t>•  </a:t>
            </a:r>
            <a:r>
              <a:rPr sz="900">
                <a:solidFill>
                  <a:srgbClr val="4B4B4B"/>
                </a:solidFill>
                <a:latin typeface="Arial"/>
              </a:rPr>
              <a:t>SCR-CL-06 Installment Plan</a:t>
            </a:r>
          </a:p>
          <a:p>
            <a:pPr>
              <a:spcAft>
                <a:spcPts val="600"/>
              </a:spcAft>
            </a:pPr>
            <a:r>
              <a:rPr sz="900">
                <a:solidFill>
                  <a:srgbClr val="004EA8"/>
                </a:solidFill>
                <a:latin typeface="Arial"/>
              </a:rPr>
              <a:t>•  </a:t>
            </a:r>
            <a:r>
              <a:rPr sz="900">
                <a:solidFill>
                  <a:srgbClr val="4B4B4B"/>
                </a:solidFill>
                <a:latin typeface="Arial"/>
              </a:rPr>
              <a:t>SCR-CL-07 Installments Due</a:t>
            </a:r>
          </a:p>
          <a:p>
            <a:pPr>
              <a:spcAft>
                <a:spcPts val="600"/>
              </a:spcAft>
            </a:pPr>
            <a:r>
              <a:rPr sz="900">
                <a:solidFill>
                  <a:srgbClr val="004EA8"/>
                </a:solidFill>
                <a:latin typeface="Arial"/>
              </a:rPr>
              <a:t>•  </a:t>
            </a:r>
            <a:r>
              <a:rPr sz="900">
                <a:solidFill>
                  <a:srgbClr val="4B4B4B"/>
                </a:solidFill>
                <a:latin typeface="Arial"/>
              </a:rPr>
              <a:t>SCR-CL-08 Promises to Pay</a:t>
            </a:r>
          </a:p>
          <a:p>
            <a:pPr>
              <a:spcAft>
                <a:spcPts val="600"/>
              </a:spcAft>
            </a:pPr>
            <a:r>
              <a:rPr sz="900">
                <a:solidFill>
                  <a:srgbClr val="004EA8"/>
                </a:solidFill>
                <a:latin typeface="Arial"/>
              </a:rPr>
              <a:t>•  </a:t>
            </a:r>
            <a:r>
              <a:rPr sz="900">
                <a:solidFill>
                  <a:srgbClr val="4B4B4B"/>
                </a:solidFill>
                <a:latin typeface="Arial"/>
              </a:rPr>
              <a:t>SCR-CL-09 Billing Statements</a:t>
            </a:r>
          </a:p>
          <a:p>
            <a:pPr>
              <a:spcAft>
                <a:spcPts val="600"/>
              </a:spcAft>
            </a:pPr>
            <a:r>
              <a:rPr sz="900">
                <a:solidFill>
                  <a:srgbClr val="004EA8"/>
                </a:solidFill>
                <a:latin typeface="Arial"/>
              </a:rPr>
              <a:t>•  </a:t>
            </a:r>
            <a:r>
              <a:rPr sz="900">
                <a:solidFill>
                  <a:srgbClr val="4B4B4B"/>
                </a:solidFill>
                <a:latin typeface="Arial"/>
              </a:rPr>
              <a:t>SCR-CL-10 Statement of Account</a:t>
            </a:r>
          </a:p>
          <a:p>
            <a:pPr>
              <a:spcAft>
                <a:spcPts val="600"/>
              </a:spcAft>
            </a:pPr>
            <a:r>
              <a:rPr sz="900">
                <a:solidFill>
                  <a:srgbClr val="004EA8"/>
                </a:solidFill>
                <a:latin typeface="Arial"/>
              </a:rPr>
              <a:t>•  </a:t>
            </a:r>
            <a:r>
              <a:rPr sz="900">
                <a:solidFill>
                  <a:srgbClr val="4B4B4B"/>
                </a:solidFill>
                <a:latin typeface="Arial"/>
              </a:rPr>
              <a:t>SCR-CL-11 Escalations</a:t>
            </a:r>
          </a:p>
          <a:p>
            <a:pPr>
              <a:spcAft>
                <a:spcPts val="600"/>
              </a:spcAft>
            </a:pPr>
            <a:r>
              <a:rPr sz="900">
                <a:solidFill>
                  <a:srgbClr val="004EA8"/>
                </a:solidFill>
                <a:latin typeface="Arial"/>
              </a:rPr>
              <a:t>•  </a:t>
            </a:r>
            <a:r>
              <a:rPr sz="900">
                <a:solidFill>
                  <a:srgbClr val="4B4B4B"/>
                </a:solidFill>
                <a:latin typeface="Arial"/>
              </a:rPr>
              <a:t>SCR-CL-12 Escalation</a:t>
            </a:r>
          </a:p>
          <a:p>
            <a:pPr>
              <a:spcAft>
                <a:spcPts val="600"/>
              </a:spcAft>
            </a:pPr>
            <a:r>
              <a:rPr sz="900">
                <a:solidFill>
                  <a:srgbClr val="004EA8"/>
                </a:solidFill>
                <a:latin typeface="Arial"/>
              </a:rPr>
              <a:t>•  </a:t>
            </a:r>
            <a:r>
              <a:rPr sz="900">
                <a:solidFill>
                  <a:srgbClr val="4B4B4B"/>
                </a:solidFill>
                <a:latin typeface="Arial"/>
              </a:rPr>
              <a:t>SCR-CL-14 Unapplied Payments</a:t>
            </a:r>
          </a:p>
          <a:p>
            <a:pPr>
              <a:spcAft>
                <a:spcPts val="600"/>
              </a:spcAft>
            </a:pPr>
            <a:r>
              <a:rPr sz="900">
                <a:solidFill>
                  <a:srgbClr val="004EA8"/>
                </a:solidFill>
                <a:latin typeface="Arial"/>
              </a:rPr>
              <a:t>•  </a:t>
            </a:r>
            <a:r>
              <a:rPr sz="900">
                <a:solidFill>
                  <a:srgbClr val="4B4B4B"/>
                </a:solidFill>
                <a:latin typeface="Arial"/>
              </a:rPr>
              <a:t>SCR-CL-15 Unapplied Payment</a:t>
            </a:r>
          </a:p>
          <a:p>
            <a:pPr>
              <a:spcAft>
                <a:spcPts val="600"/>
              </a:spcAft>
            </a:pPr>
            <a:r>
              <a:rPr sz="900">
                <a:solidFill>
                  <a:srgbClr val="004EA8"/>
                </a:solidFill>
                <a:latin typeface="Arial"/>
              </a:rPr>
              <a:t>•  </a:t>
            </a:r>
            <a:r>
              <a:rPr sz="900">
                <a:solidFill>
                  <a:srgbClr val="4B4B4B"/>
                </a:solidFill>
                <a:latin typeface="Arial"/>
              </a:rPr>
              <a:t>SCR-CL-16 Requests to Cashiering</a:t>
            </a:r>
          </a:p>
          <a:p>
            <a:pPr>
              <a:spcAft>
                <a:spcPts val="600"/>
              </a:spcAft>
            </a:pPr>
            <a:r>
              <a:rPr sz="900">
                <a:solidFill>
                  <a:srgbClr val="004EA8"/>
                </a:solidFill>
                <a:latin typeface="Arial"/>
              </a:rPr>
              <a:t>•  </a:t>
            </a:r>
            <a:r>
              <a:rPr sz="900">
                <a:solidFill>
                  <a:srgbClr val="4B4B4B"/>
                </a:solidFill>
                <a:latin typeface="Arial"/>
              </a:rPr>
              <a:t>SCR-CL-18 Collections Files</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End-to-end flows</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Every flow as a swimlane of the personas, then one slide per step</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BRD-4 Collections</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WT-A A new outstanding account from the refresh of the worklist to the check pick-up in Cashiering</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100</a:t>
            </a:r>
          </a:p>
        </p:txBody>
      </p:sp>
      <p:graphicFrame>
        <p:nvGraphicFramePr>
          <p:cNvPr id="9" name="Table 8"/>
          <p:cNvGraphicFramePr>
            <a:graphicFrameLocks noGrp="1"/>
          </p:cNvGraphicFramePr>
          <p:nvPr/>
        </p:nvGraphicFramePr>
        <p:xfrm>
          <a:off x="548640" y="1307592"/>
          <a:ext cx="11094415" cy="2377430"/>
        </p:xfrm>
        <a:graphic>
          <a:graphicData uri="http://schemas.openxmlformats.org/drawingml/2006/table">
            <a:tbl>
              <a:tblPr bandRow="1">
                <a:tableStyleId>{5C22544A-7EE6-4342-B048-85BDC9FD1C3A}</a:tableStyleId>
              </a:tblPr>
              <a:tblGrid>
                <a:gridCol w="2011680"/>
                <a:gridCol w="9082735"/>
              </a:tblGrid>
              <a:tr h="274319">
                <a:tc>
                  <a:txBody>
                    <a:bodyPr/>
                    <a:lstStyle/>
                    <a:p>
                      <a:r>
                        <a:rPr sz="1200" b="1">
                          <a:solidFill>
                            <a:srgbClr val="004EA8"/>
                          </a:solidFill>
                          <a:latin typeface="Arial"/>
                        </a:rPr>
                        <a:t>Flow</a:t>
                      </a:r>
                    </a:p>
                  </a:txBody>
                  <a:tcPr marL="54864" marR="54864" marT="27432" marB="27432">
                    <a:solidFill>
                      <a:srgbClr val="E5F5FF"/>
                    </a:solidFill>
                  </a:tcPr>
                </a:tc>
                <a:tc>
                  <a:txBody>
                    <a:bodyPr/>
                    <a:lstStyle/>
                    <a:p>
                      <a:r>
                        <a:rPr sz="1200" b="0">
                          <a:solidFill>
                            <a:srgbClr val="4B4B4B"/>
                          </a:solidFill>
                          <a:latin typeface="Arial"/>
                        </a:rPr>
                        <a:t>WT-A A new outstanding account from the refresh of the worklist to the check pick-up in Cashiering</a:t>
                      </a:r>
                    </a:p>
                  </a:txBody>
                  <a:tcPr marL="54864" marR="54864" marT="27432" marB="27432">
                    <a:solidFill>
                      <a:srgbClr val="FFFFFF"/>
                    </a:solidFill>
                  </a:tcPr>
                </a:tc>
              </a:tr>
              <a:tr h="822956">
                <a:tc>
                  <a:txBody>
                    <a:bodyPr/>
                    <a:lstStyle/>
                    <a:p>
                      <a:r>
                        <a:rPr sz="1200" b="1">
                          <a:solidFill>
                            <a:srgbClr val="004EA8"/>
                          </a:solidFill>
                          <a:latin typeface="Arial"/>
                        </a:rPr>
                        <a:t>Summary</a:t>
                      </a:r>
                    </a:p>
                  </a:txBody>
                  <a:tcPr marL="54864" marR="54864" marT="27432" marB="27432">
                    <a:solidFill>
                      <a:srgbClr val="E5F5FF"/>
                    </a:solidFill>
                  </a:tcPr>
                </a:tc>
                <a:tc>
                  <a:txBody>
                    <a:bodyPr/>
                    <a:lstStyle/>
                    <a:p>
                      <a:r>
                        <a:rPr sz="1200" b="0">
                          <a:solidFill>
                            <a:srgbClr val="4B4B4B"/>
                          </a:solidFill>
                          <a:latin typeface="Arial"/>
                        </a:rPr>
                        <a:t>Two accounts booked by Processing are in the Operations invoice ledger, unpaid. The refresh of the worklist (every night; here run on demand from Collections Setup) lists their invoices and assigns them by the assignment rules. The Collection Handler finds the new account in her worklist, logs a phone call and records the disposition For check pick-up with the pick-up details; the pick-up request reaches Cashiering at once.</a:t>
                      </a:r>
                    </a:p>
                  </a:txBody>
                  <a:tcPr marL="54864" marR="54864" marT="27432" marB="27432">
                    <a:solidFill>
                      <a:srgbClr val="FFFFFF"/>
                    </a:solidFill>
                  </a:tcPr>
                </a:tc>
              </a:tr>
              <a:tr h="457198">
                <a:tc>
                  <a:txBody>
                    <a:bodyPr/>
                    <a:lstStyle/>
                    <a:p>
                      <a:r>
                        <a:rPr sz="1200" b="1">
                          <a:solidFill>
                            <a:srgbClr val="004EA8"/>
                          </a:solidFill>
                          <a:latin typeface="Arial"/>
                        </a:rPr>
                        <a:t>Seed data</a:t>
                      </a:r>
                    </a:p>
                  </a:txBody>
                  <a:tcPr marL="54864" marR="54864" marT="27432" marB="27432">
                    <a:solidFill>
                      <a:srgbClr val="E5F5FF"/>
                    </a:solidFill>
                  </a:tcPr>
                </a:tc>
                <a:tc>
                  <a:txBody>
                    <a:bodyPr/>
                    <a:lstStyle/>
                    <a:p>
                      <a:r>
                        <a:rPr sz="1200" b="0">
                          <a:solidFill>
                            <a:srgbClr val="4B4B4B"/>
                          </a:solidFill>
                          <a:latin typeface="Arial"/>
                        </a:rPr>
                        <a:t>Seed data: accounts ARN-2026-940007 and ARN-2026-940008 booked by Processing (Mabuhay General Insurance Corp.); assignment rule Consumer banking accounts (segment CBG) to Clara Collection Handler</a:t>
                      </a:r>
                    </a:p>
                  </a:txBody>
                  <a:tcPr marL="54864" marR="54864" marT="27432" marB="27432">
                    <a:solidFill>
                      <a:srgbClr val="FFFFFF"/>
                    </a:solidFill>
                  </a:tcPr>
                </a:tc>
              </a:tr>
              <a:tr h="274319">
                <a:tc>
                  <a:txBody>
                    <a:bodyPr/>
                    <a:lstStyle/>
                    <a:p>
                      <a:r>
                        <a:rPr sz="1200" b="1">
                          <a:solidFill>
                            <a:srgbClr val="004EA8"/>
                          </a:solidFill>
                          <a:latin typeface="Arial"/>
                        </a:rPr>
                        <a:t>Personas</a:t>
                      </a:r>
                    </a:p>
                  </a:txBody>
                  <a:tcPr marL="54864" marR="54864" marT="27432" marB="27432">
                    <a:solidFill>
                      <a:srgbClr val="E5F5FF"/>
                    </a:solidFill>
                  </a:tcPr>
                </a:tc>
                <a:tc>
                  <a:txBody>
                    <a:bodyPr/>
                    <a:lstStyle/>
                    <a:p>
                      <a:r>
                        <a:rPr sz="1200" b="0">
                          <a:solidFill>
                            <a:srgbClr val="4B4B4B"/>
                          </a:solidFill>
                          <a:latin typeface="Arial"/>
                        </a:rPr>
                        <a:t>Section Head (Corporate / Retail), Collection Handler, Cashier (read access and exports)</a:t>
                      </a:r>
                    </a:p>
                  </a:txBody>
                  <a:tcPr marL="54864" marR="54864" marT="27432" marB="27432">
                    <a:solidFill>
                      <a:srgbClr val="FFFFFF"/>
                    </a:solidFill>
                  </a:tcPr>
                </a:tc>
              </a:tr>
              <a:tr h="274319">
                <a:tc>
                  <a:txBody>
                    <a:bodyPr/>
                    <a:lstStyle/>
                    <a:p>
                      <a:r>
                        <a:rPr sz="1200" b="1">
                          <a:solidFill>
                            <a:srgbClr val="004EA8"/>
                          </a:solidFill>
                          <a:latin typeface="Arial"/>
                        </a:rPr>
                        <a:t>Steps</a:t>
                      </a:r>
                    </a:p>
                  </a:txBody>
                  <a:tcPr marL="54864" marR="54864" marT="27432" marB="27432">
                    <a:solidFill>
                      <a:srgbClr val="E5F5FF"/>
                    </a:solidFill>
                  </a:tcPr>
                </a:tc>
                <a:tc>
                  <a:txBody>
                    <a:bodyPr/>
                    <a:lstStyle/>
                    <a:p>
                      <a:r>
                        <a:rPr sz="1200" b="0">
                          <a:solidFill>
                            <a:srgbClr val="4B4B4B"/>
                          </a:solidFill>
                          <a:latin typeface="Arial"/>
                        </a:rPr>
                        <a:t>6 steps, 2 hand-offs, 0 approval steps</a:t>
                      </a:r>
                    </a:p>
                  </a:txBody>
                  <a:tcPr marL="54864" marR="54864" marT="27432" marB="27432">
                    <a:solidFill>
                      <a:srgbClr val="FFFFFF"/>
                    </a:solidFill>
                  </a:tcPr>
                </a:tc>
              </a:tr>
              <a:tr h="274319">
                <a:tc>
                  <a:txBody>
                    <a:bodyPr/>
                    <a:lstStyle/>
                    <a:p>
                      <a:r>
                        <a:rPr sz="1200" b="1">
                          <a:solidFill>
                            <a:srgbClr val="004EA8"/>
                          </a:solidFill>
                          <a:latin typeface="Arial"/>
                        </a:rPr>
                        <a:t>FRS section</a:t>
                      </a:r>
                    </a:p>
                  </a:txBody>
                  <a:tcPr marL="54864" marR="54864" marT="27432" marB="27432">
                    <a:solidFill>
                      <a:srgbClr val="E5F5FF"/>
                    </a:solidFill>
                  </a:tcPr>
                </a:tc>
                <a:tc>
                  <a:txBody>
                    <a:bodyPr/>
                    <a:lstStyle/>
                    <a:p>
                      <a:r>
                        <a:rPr sz="1200" b="0">
                          <a:solidFill>
                            <a:srgbClr val="4B4B4B"/>
                          </a:solidFill>
                          <a:latin typeface="Arial"/>
                        </a:rPr>
                        <a:t>14.1</a:t>
                      </a:r>
                    </a:p>
                  </a:txBody>
                  <a:tcPr marL="54864" marR="54864" marT="27432" marB="27432">
                    <a:solidFill>
                      <a:srgbClr val="FFFFFF"/>
                    </a:solidFill>
                  </a:tcPr>
                </a:tc>
              </a:tr>
            </a:tbl>
          </a:graphicData>
        </a:graphic>
      </p:graphicFrame>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swimlane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101</a:t>
            </a:r>
          </a:p>
        </p:txBody>
      </p:sp>
      <p:sp>
        <p:nvSpPr>
          <p:cNvPr id="9" name="Rectangle 8"/>
          <p:cNvSpPr/>
          <p:nvPr/>
        </p:nvSpPr>
        <p:spPr>
          <a:xfrm>
            <a:off x="548640" y="130759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307592"/>
            <a:ext cx="1691640" cy="832104"/>
          </a:xfrm>
          <a:prstGeom prst="rect">
            <a:avLst/>
          </a:prstGeom>
          <a:noFill/>
        </p:spPr>
        <p:txBody>
          <a:bodyPr wrap="square" anchor="ctr" lIns="45720" rIns="45720">
            <a:spAutoFit/>
          </a:bodyPr>
          <a:lstStyle/>
          <a:p>
            <a:r>
              <a:rPr sz="1000" b="1" i="0">
                <a:solidFill>
                  <a:srgbClr val="FFFFFF"/>
                </a:solidFill>
                <a:latin typeface="Arial"/>
              </a:rPr>
              <a:t>Section Head (Corporate / Retail)</a:t>
            </a:r>
          </a:p>
        </p:txBody>
      </p:sp>
      <p:sp>
        <p:nvSpPr>
          <p:cNvPr id="11" name="Rectangle 10"/>
          <p:cNvSpPr/>
          <p:nvPr/>
        </p:nvSpPr>
        <p:spPr>
          <a:xfrm>
            <a:off x="2331720" y="130759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17627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176272"/>
            <a:ext cx="1691640" cy="832104"/>
          </a:xfrm>
          <a:prstGeom prst="rect">
            <a:avLst/>
          </a:prstGeom>
          <a:noFill/>
        </p:spPr>
        <p:txBody>
          <a:bodyPr wrap="square" anchor="ctr" lIns="45720" rIns="45720">
            <a:spAutoFit/>
          </a:bodyPr>
          <a:lstStyle/>
          <a:p>
            <a:r>
              <a:rPr sz="1000" b="1" i="0">
                <a:solidFill>
                  <a:srgbClr val="FFFFFF"/>
                </a:solidFill>
                <a:latin typeface="Arial"/>
              </a:rPr>
              <a:t>Collection Handler</a:t>
            </a:r>
          </a:p>
        </p:txBody>
      </p:sp>
      <p:sp>
        <p:nvSpPr>
          <p:cNvPr id="14" name="Rectangle 13"/>
          <p:cNvSpPr/>
          <p:nvPr/>
        </p:nvSpPr>
        <p:spPr>
          <a:xfrm>
            <a:off x="2331720" y="2176272"/>
            <a:ext cx="9311335" cy="83210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04495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3044952"/>
            <a:ext cx="1691640" cy="832104"/>
          </a:xfrm>
          <a:prstGeom prst="rect">
            <a:avLst/>
          </a:prstGeom>
          <a:noFill/>
        </p:spPr>
        <p:txBody>
          <a:bodyPr wrap="square" anchor="ctr" lIns="45720" rIns="45720">
            <a:spAutoFit/>
          </a:bodyPr>
          <a:lstStyle/>
          <a:p>
            <a:r>
              <a:rPr sz="1000" b="1" i="0">
                <a:solidFill>
                  <a:srgbClr val="FFFFFF"/>
                </a:solidFill>
                <a:latin typeface="Arial"/>
              </a:rPr>
              <a:t>Cashier (read access and exports)</a:t>
            </a:r>
          </a:p>
        </p:txBody>
      </p:sp>
      <p:sp>
        <p:nvSpPr>
          <p:cNvPr id="17" name="Rectangle 16"/>
          <p:cNvSpPr/>
          <p:nvPr/>
        </p:nvSpPr>
        <p:spPr>
          <a:xfrm>
            <a:off x="2331720" y="304495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2432304" y="1399032"/>
            <a:ext cx="1350721"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 </a:t>
            </a:r>
            <a:r>
              <a:rPr sz="800">
                <a:solidFill>
                  <a:srgbClr val="2E2E2E"/>
                </a:solidFill>
                <a:latin typeface="Arial"/>
              </a:rPr>
              <a:t>Collections Setup</a:t>
            </a:r>
          </a:p>
        </p:txBody>
      </p:sp>
      <p:sp>
        <p:nvSpPr>
          <p:cNvPr id="19" name="Rounded Rectangle 18"/>
          <p:cNvSpPr/>
          <p:nvPr/>
        </p:nvSpPr>
        <p:spPr>
          <a:xfrm>
            <a:off x="3984193" y="2267712"/>
            <a:ext cx="1350721"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2. </a:t>
            </a:r>
            <a:r>
              <a:rPr sz="800">
                <a:solidFill>
                  <a:srgbClr val="2E2E2E"/>
                </a:solidFill>
                <a:latin typeface="Arial"/>
              </a:rPr>
              <a:t>Collections Home</a:t>
            </a:r>
          </a:p>
        </p:txBody>
      </p:sp>
      <p:sp>
        <p:nvSpPr>
          <p:cNvPr id="20" name="Rounded Rectangle 19"/>
          <p:cNvSpPr/>
          <p:nvPr/>
        </p:nvSpPr>
        <p:spPr>
          <a:xfrm>
            <a:off x="5536082" y="2267712"/>
            <a:ext cx="1350721"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3. </a:t>
            </a:r>
            <a:r>
              <a:rPr sz="800">
                <a:solidFill>
                  <a:srgbClr val="2E2E2E"/>
                </a:solidFill>
                <a:latin typeface="Arial"/>
              </a:rPr>
              <a:t>PR Worklist</a:t>
            </a:r>
          </a:p>
        </p:txBody>
      </p:sp>
      <p:sp>
        <p:nvSpPr>
          <p:cNvPr id="21" name="Rounded Rectangle 20"/>
          <p:cNvSpPr/>
          <p:nvPr/>
        </p:nvSpPr>
        <p:spPr>
          <a:xfrm>
            <a:off x="7087971" y="2267712"/>
            <a:ext cx="1350721"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4. </a:t>
            </a:r>
            <a:r>
              <a:rPr sz="800">
                <a:solidFill>
                  <a:srgbClr val="2E2E2E"/>
                </a:solidFill>
                <a:latin typeface="Arial"/>
              </a:rPr>
              <a:t>Collection Account</a:t>
            </a:r>
          </a:p>
        </p:txBody>
      </p:sp>
      <p:sp>
        <p:nvSpPr>
          <p:cNvPr id="22" name="Rounded Rectangle 21"/>
          <p:cNvSpPr/>
          <p:nvPr/>
        </p:nvSpPr>
        <p:spPr>
          <a:xfrm>
            <a:off x="8639860" y="2267712"/>
            <a:ext cx="1350721"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5. </a:t>
            </a:r>
            <a:r>
              <a:rPr sz="800">
                <a:solidFill>
                  <a:srgbClr val="2E2E2E"/>
                </a:solidFill>
                <a:latin typeface="Arial"/>
              </a:rPr>
              <a:t>Collection Account</a:t>
            </a:r>
          </a:p>
        </p:txBody>
      </p:sp>
      <p:sp>
        <p:nvSpPr>
          <p:cNvPr id="23" name="Rounded Rectangle 22"/>
          <p:cNvSpPr/>
          <p:nvPr/>
        </p:nvSpPr>
        <p:spPr>
          <a:xfrm>
            <a:off x="10191749" y="3136392"/>
            <a:ext cx="1350721"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6. </a:t>
            </a:r>
            <a:r>
              <a:rPr sz="800">
                <a:solidFill>
                  <a:srgbClr val="2E2E2E"/>
                </a:solidFill>
                <a:latin typeface="Arial"/>
              </a:rPr>
              <a:t>Check Pick-up</a:t>
            </a:r>
          </a:p>
        </p:txBody>
      </p:sp>
      <p:cxnSp>
        <p:nvCxnSpPr>
          <p:cNvPr id="24" name="Connector 23"/>
          <p:cNvCxnSpPr/>
          <p:nvPr/>
        </p:nvCxnSpPr>
        <p:spPr>
          <a:xfrm>
            <a:off x="3783025" y="174193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5334914" y="261061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6886803" y="261061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438692" y="261061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990581" y="261061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6016752"/>
            <a:ext cx="11094415" cy="274320"/>
          </a:xfrm>
          <a:prstGeom prst="rect">
            <a:avLst/>
          </a:prstGeom>
          <a:noFill/>
        </p:spPr>
        <p:txBody>
          <a:bodyPr wrap="square" anchor="t" lIns="45720" rIns="45720">
            <a:spAutoFit/>
          </a:bodyPr>
          <a:lstStyle/>
          <a:p>
            <a:r>
              <a:rPr sz="900" b="0" i="1">
                <a:solidFill>
                  <a:srgbClr val="656565"/>
                </a:solidFill>
                <a:latin typeface="Arial"/>
              </a:rPr>
              <a:t>Boxes: step number and screen. Blue arrow: hand-off to another persona. Yellow outline: an approval, authorisation, sign-off or validation step.</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1 of 6: Collections Setup</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102</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a-01.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SCR-CL-19</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Section Head (Corporate / Retail): Clicks Refresh Worklist Now on Collections Setup</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Worklist refreshed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Message with the outcome of the refresh: the accounts listed and updated</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2: Collection Handler on Collections Home</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2 of 6: Collections Home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wt-a-02.png"/>
          <p:cNvPicPr>
            <a:picLocks noChangeAspect="1"/>
          </p:cNvPicPr>
          <p:nvPr/>
        </p:nvPicPr>
        <p:blipFill>
          <a:blip r:embed="rId3"/>
          <a:stretch>
            <a:fillRect/>
          </a:stretch>
        </p:blipFill>
        <p:spPr>
          <a:xfrm>
            <a:off x="548640" y="1261872"/>
            <a:ext cx="7665415" cy="3601423"/>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SCR-CL-01</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Collection Handler: Opens Collections Home</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Assigned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My Open Accounts counts the new account assigned to her by the rule; the open amounts by aging bracket</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3: Collection Handler on PR Worklist</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3 of 6: PR Worklist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wt-a-03.png"/>
          <p:cNvPicPr>
            <a:picLocks noChangeAspect="1"/>
          </p:cNvPicPr>
          <p:nvPr/>
        </p:nvPicPr>
        <p:blipFill>
          <a:blip r:embed="rId3"/>
          <a:stretch>
            <a:fillRect/>
          </a:stretch>
        </p:blipFill>
        <p:spPr>
          <a:xfrm>
            <a:off x="814806" y="1261872"/>
            <a:ext cx="7133082"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SCR-CL-02</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Collection Handler: Opens the PR Worklist with Only mine ticked</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In the worklist</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new invoice with the client, segment, booking date and aging, outstanding premium, her name as handler and no disposition yet</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4: Collection Handler on Collection Account</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4 of 6: Collection Account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105</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a-04.png"/>
          <p:cNvPicPr>
            <a:picLocks noChangeAspect="1"/>
          </p:cNvPicPr>
          <p:nvPr/>
        </p:nvPicPr>
        <p:blipFill>
          <a:blip r:embed="rId3"/>
          <a:stretch>
            <a:fillRect/>
          </a:stretch>
        </p:blipFill>
        <p:spPr>
          <a:xfrm>
            <a:off x="1544250" y="1261872"/>
            <a:ext cx="5674194"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SCR-CL-03</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Collection Handler: Opens the account and clicks Log Effort: Phone call to the client's finance officer</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Effort logged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Message: Effort logged; the Summary tab shows the last effort</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5: Collection Handler on Collection Account</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5 of 6: Collection Account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106</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slice-00100.png"/>
          <p:cNvPicPr>
            <a:picLocks noChangeAspect="1"/>
          </p:cNvPicPr>
          <p:nvPr/>
        </p:nvPicPr>
        <p:blipFill>
          <a:blip r:embed="rId3"/>
          <a:stretch>
            <a:fillRect/>
          </a:stretch>
        </p:blipFill>
        <p:spPr>
          <a:xfrm>
            <a:off x="949375" y="1261872"/>
            <a:ext cx="6863944" cy="4733653"/>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SCR-CL-03 (part 1 of 2)</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Collection Handler: Clicks Record Disposition, chooses For check pick-up and enters the pick-up date, address, contact person and check amount</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Handed to Cashiering</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Message: Disposition recorded; Dispositions &amp; Efforts shows the disposition and the hand-off Check Pickup sent to Cashiering</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6: Cashier (read access and exports) on Check Pick-up</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5 of 6: Collection Account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107</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slice-00101.png"/>
          <p:cNvPicPr>
            <a:picLocks noChangeAspect="1"/>
          </p:cNvPicPr>
          <p:nvPr/>
        </p:nvPicPr>
        <p:blipFill>
          <a:blip r:embed="rId3"/>
          <a:stretch>
            <a:fillRect/>
          </a:stretch>
        </p:blipFill>
        <p:spPr>
          <a:xfrm>
            <a:off x="949375" y="1261872"/>
            <a:ext cx="6863944" cy="2938"/>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SCR-CL-03 (part 2 of 2)</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6 of 6: Check Pick-up</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wt-a-06.png"/>
          <p:cNvPicPr>
            <a:picLocks noChangeAspect="1"/>
          </p:cNvPicPr>
          <p:nvPr/>
        </p:nvPicPr>
        <p:blipFill>
          <a:blip r:embed="rId3"/>
          <a:stretch>
            <a:fillRect/>
          </a:stretch>
        </p:blipFill>
        <p:spPr>
          <a:xfrm>
            <a:off x="548640" y="1261872"/>
            <a:ext cx="7665415" cy="3760018"/>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SCR-OP-17</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Cashier (read access and exports): Opens Check Pick-up in Cashiering</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With Cashiering</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pick-up request of the account with its date, address, contact and amount, to be scheduled</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End of the flow</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WT-B A promise to pay, the escalation of the account and its resolution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109</a:t>
            </a:r>
          </a:p>
        </p:txBody>
      </p:sp>
      <p:graphicFrame>
        <p:nvGraphicFramePr>
          <p:cNvPr id="9" name="Table 8"/>
          <p:cNvGraphicFramePr>
            <a:graphicFrameLocks noGrp="1"/>
          </p:cNvGraphicFramePr>
          <p:nvPr/>
        </p:nvGraphicFramePr>
        <p:xfrm>
          <a:off x="548640" y="1307592"/>
          <a:ext cx="11094415" cy="2377430"/>
        </p:xfrm>
        <a:graphic>
          <a:graphicData uri="http://schemas.openxmlformats.org/drawingml/2006/table">
            <a:tbl>
              <a:tblPr bandRow="1">
                <a:tableStyleId>{5C22544A-7EE6-4342-B048-85BDC9FD1C3A}</a:tableStyleId>
              </a:tblPr>
              <a:tblGrid>
                <a:gridCol w="2011680"/>
                <a:gridCol w="9082735"/>
              </a:tblGrid>
              <a:tr h="274319">
                <a:tc>
                  <a:txBody>
                    <a:bodyPr/>
                    <a:lstStyle/>
                    <a:p>
                      <a:r>
                        <a:rPr sz="1200" b="1">
                          <a:solidFill>
                            <a:srgbClr val="004EA8"/>
                          </a:solidFill>
                          <a:latin typeface="Arial"/>
                        </a:rPr>
                        <a:t>Flow</a:t>
                      </a:r>
                    </a:p>
                  </a:txBody>
                  <a:tcPr marL="54864" marR="54864" marT="27432" marB="27432">
                    <a:solidFill>
                      <a:srgbClr val="E5F5FF"/>
                    </a:solidFill>
                  </a:tcPr>
                </a:tc>
                <a:tc>
                  <a:txBody>
                    <a:bodyPr/>
                    <a:lstStyle/>
                    <a:p>
                      <a:r>
                        <a:rPr sz="1200" b="0">
                          <a:solidFill>
                            <a:srgbClr val="4B4B4B"/>
                          </a:solidFill>
                          <a:latin typeface="Arial"/>
                        </a:rPr>
                        <a:t>WT-B A promise to pay, the escalation of the account and its resolution</a:t>
                      </a:r>
                    </a:p>
                  </a:txBody>
                  <a:tcPr marL="54864" marR="54864" marT="27432" marB="27432">
                    <a:solidFill>
                      <a:srgbClr val="FFFFFF"/>
                    </a:solidFill>
                  </a:tcPr>
                </a:tc>
              </a:tr>
              <a:tr h="822956">
                <a:tc>
                  <a:txBody>
                    <a:bodyPr/>
                    <a:lstStyle/>
                    <a:p>
                      <a:r>
                        <a:rPr sz="1200" b="1">
                          <a:solidFill>
                            <a:srgbClr val="004EA8"/>
                          </a:solidFill>
                          <a:latin typeface="Arial"/>
                        </a:rPr>
                        <a:t>Summary</a:t>
                      </a:r>
                    </a:p>
                  </a:txBody>
                  <a:tcPr marL="54864" marR="54864" marT="27432" marB="27432">
                    <a:solidFill>
                      <a:srgbClr val="E5F5FF"/>
                    </a:solidFill>
                  </a:tcPr>
                </a:tc>
                <a:tc>
                  <a:txBody>
                    <a:bodyPr/>
                    <a:lstStyle/>
                    <a:p>
                      <a:r>
                        <a:rPr sz="1200" b="0">
                          <a:solidFill>
                            <a:srgbClr val="4B4B4B"/>
                          </a:solidFill>
                          <a:latin typeface="Arial"/>
                        </a:rPr>
                        <a:t>The client of walkthrough A promises to pay half of the premium in ten days. The insurer refuses a credit term extension, so the Collection Handler escalates the account to the Collection Team Lead, who acknowledges it and resolves it with the agreed arrangement. The authorizer of master data then authorizes the escalation rule for accounts of one million or more that the Business Administrator set up.</a:t>
                      </a:r>
                    </a:p>
                  </a:txBody>
                  <a:tcPr marL="54864" marR="54864" marT="27432" marB="27432">
                    <a:solidFill>
                      <a:srgbClr val="FFFFFF"/>
                    </a:solidFill>
                  </a:tcPr>
                </a:tc>
              </a:tr>
              <a:tr h="457198">
                <a:tc>
                  <a:txBody>
                    <a:bodyPr/>
                    <a:lstStyle/>
                    <a:p>
                      <a:r>
                        <a:rPr sz="1200" b="1">
                          <a:solidFill>
                            <a:srgbClr val="004EA8"/>
                          </a:solidFill>
                          <a:latin typeface="Arial"/>
                        </a:rPr>
                        <a:t>Seed data</a:t>
                      </a:r>
                    </a:p>
                  </a:txBody>
                  <a:tcPr marL="54864" marR="54864" marT="27432" marB="27432">
                    <a:solidFill>
                      <a:srgbClr val="E5F5FF"/>
                    </a:solidFill>
                  </a:tcPr>
                </a:tc>
                <a:tc>
                  <a:txBody>
                    <a:bodyPr/>
                    <a:lstStyle/>
                    <a:p>
                      <a:r>
                        <a:rPr sz="1200" b="0">
                          <a:solidFill>
                            <a:srgbClr val="4B4B4B"/>
                          </a:solidFill>
                          <a:latin typeface="Arial"/>
                        </a:rPr>
                        <a:t>Seed data: the account of walkthrough A; escalation rule CLX-AMOUNT-1M waiting for authorization (made by the Business Administrator)</a:t>
                      </a:r>
                    </a:p>
                  </a:txBody>
                  <a:tcPr marL="54864" marR="54864" marT="27432" marB="27432">
                    <a:solidFill>
                      <a:srgbClr val="FFFFFF"/>
                    </a:solidFill>
                  </a:tcPr>
                </a:tc>
              </a:tr>
              <a:tr h="274319">
                <a:tc>
                  <a:txBody>
                    <a:bodyPr/>
                    <a:lstStyle/>
                    <a:p>
                      <a:r>
                        <a:rPr sz="1200" b="1">
                          <a:solidFill>
                            <a:srgbClr val="004EA8"/>
                          </a:solidFill>
                          <a:latin typeface="Arial"/>
                        </a:rPr>
                        <a:t>Personas</a:t>
                      </a:r>
                    </a:p>
                  </a:txBody>
                  <a:tcPr marL="54864" marR="54864" marT="27432" marB="27432">
                    <a:solidFill>
                      <a:srgbClr val="E5F5FF"/>
                    </a:solidFill>
                  </a:tcPr>
                </a:tc>
                <a:tc>
                  <a:txBody>
                    <a:bodyPr/>
                    <a:lstStyle/>
                    <a:p>
                      <a:r>
                        <a:rPr sz="1200" b="0">
                          <a:solidFill>
                            <a:srgbClr val="4B4B4B"/>
                          </a:solidFill>
                          <a:latin typeface="Arial"/>
                        </a:rPr>
                        <a:t>Collection Handler, Collection Team Lead, Authorizer of master data</a:t>
                      </a:r>
                    </a:p>
                  </a:txBody>
                  <a:tcPr marL="54864" marR="54864" marT="27432" marB="27432">
                    <a:solidFill>
                      <a:srgbClr val="FFFFFF"/>
                    </a:solidFill>
                  </a:tcPr>
                </a:tc>
              </a:tr>
              <a:tr h="274319">
                <a:tc>
                  <a:txBody>
                    <a:bodyPr/>
                    <a:lstStyle/>
                    <a:p>
                      <a:r>
                        <a:rPr sz="1200" b="1">
                          <a:solidFill>
                            <a:srgbClr val="004EA8"/>
                          </a:solidFill>
                          <a:latin typeface="Arial"/>
                        </a:rPr>
                        <a:t>Steps</a:t>
                      </a:r>
                    </a:p>
                  </a:txBody>
                  <a:tcPr marL="54864" marR="54864" marT="27432" marB="27432">
                    <a:solidFill>
                      <a:srgbClr val="E5F5FF"/>
                    </a:solidFill>
                  </a:tcPr>
                </a:tc>
                <a:tc>
                  <a:txBody>
                    <a:bodyPr/>
                    <a:lstStyle/>
                    <a:p>
                      <a:r>
                        <a:rPr sz="1200" b="0">
                          <a:solidFill>
                            <a:srgbClr val="4B4B4B"/>
                          </a:solidFill>
                          <a:latin typeface="Arial"/>
                        </a:rPr>
                        <a:t>5 steps, 2 hand-offs, 1 approval steps</a:t>
                      </a:r>
                    </a:p>
                  </a:txBody>
                  <a:tcPr marL="54864" marR="54864" marT="27432" marB="27432">
                    <a:solidFill>
                      <a:srgbClr val="FFFFFF"/>
                    </a:solidFill>
                  </a:tcPr>
                </a:tc>
              </a:tr>
              <a:tr h="274319">
                <a:tc>
                  <a:txBody>
                    <a:bodyPr/>
                    <a:lstStyle/>
                    <a:p>
                      <a:r>
                        <a:rPr sz="1200" b="1">
                          <a:solidFill>
                            <a:srgbClr val="004EA8"/>
                          </a:solidFill>
                          <a:latin typeface="Arial"/>
                        </a:rPr>
                        <a:t>FRS section</a:t>
                      </a:r>
                    </a:p>
                  </a:txBody>
                  <a:tcPr marL="54864" marR="54864" marT="27432" marB="27432">
                    <a:solidFill>
                      <a:srgbClr val="E5F5FF"/>
                    </a:solidFill>
                  </a:tcPr>
                </a:tc>
                <a:tc>
                  <a:txBody>
                    <a:bodyPr/>
                    <a:lstStyle/>
                    <a:p>
                      <a:r>
                        <a:rPr sz="1200" b="0">
                          <a:solidFill>
                            <a:srgbClr val="4B4B4B"/>
                          </a:solidFill>
                          <a:latin typeface="Arial"/>
                        </a:rPr>
                        <a:t>14.2</a:t>
                      </a:r>
                    </a:p>
                  </a:txBody>
                  <a:tcPr marL="54864" marR="54864" marT="27432" marB="27432">
                    <a:solidFill>
                      <a:srgbClr val="FFFFFF"/>
                    </a:solidFill>
                  </a:tcPr>
                </a:tc>
              </a:tr>
            </a:tbl>
          </a:graphicData>
        </a:graphic>
      </p:graphicFrame>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swimlane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110</a:t>
            </a:r>
          </a:p>
        </p:txBody>
      </p:sp>
      <p:sp>
        <p:nvSpPr>
          <p:cNvPr id="9" name="Rectangle 8"/>
          <p:cNvSpPr/>
          <p:nvPr/>
        </p:nvSpPr>
        <p:spPr>
          <a:xfrm>
            <a:off x="548640" y="130759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307592"/>
            <a:ext cx="1691640" cy="832104"/>
          </a:xfrm>
          <a:prstGeom prst="rect">
            <a:avLst/>
          </a:prstGeom>
          <a:noFill/>
        </p:spPr>
        <p:txBody>
          <a:bodyPr wrap="square" anchor="ctr" lIns="45720" rIns="45720">
            <a:spAutoFit/>
          </a:bodyPr>
          <a:lstStyle/>
          <a:p>
            <a:r>
              <a:rPr sz="1000" b="1" i="0">
                <a:solidFill>
                  <a:srgbClr val="FFFFFF"/>
                </a:solidFill>
                <a:latin typeface="Arial"/>
              </a:rPr>
              <a:t>Collection Handler</a:t>
            </a:r>
          </a:p>
        </p:txBody>
      </p:sp>
      <p:sp>
        <p:nvSpPr>
          <p:cNvPr id="11" name="Rectangle 10"/>
          <p:cNvSpPr/>
          <p:nvPr/>
        </p:nvSpPr>
        <p:spPr>
          <a:xfrm>
            <a:off x="2331720" y="130759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17627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176272"/>
            <a:ext cx="1691640" cy="832104"/>
          </a:xfrm>
          <a:prstGeom prst="rect">
            <a:avLst/>
          </a:prstGeom>
          <a:noFill/>
        </p:spPr>
        <p:txBody>
          <a:bodyPr wrap="square" anchor="ctr" lIns="45720" rIns="45720">
            <a:spAutoFit/>
          </a:bodyPr>
          <a:lstStyle/>
          <a:p>
            <a:r>
              <a:rPr sz="1000" b="1" i="0">
                <a:solidFill>
                  <a:srgbClr val="FFFFFF"/>
                </a:solidFill>
                <a:latin typeface="Arial"/>
              </a:rPr>
              <a:t>Collection Team Lead</a:t>
            </a:r>
          </a:p>
        </p:txBody>
      </p:sp>
      <p:sp>
        <p:nvSpPr>
          <p:cNvPr id="14" name="Rectangle 13"/>
          <p:cNvSpPr/>
          <p:nvPr/>
        </p:nvSpPr>
        <p:spPr>
          <a:xfrm>
            <a:off x="2331720" y="2176272"/>
            <a:ext cx="9311335" cy="83210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04495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3044952"/>
            <a:ext cx="1691640" cy="832104"/>
          </a:xfrm>
          <a:prstGeom prst="rect">
            <a:avLst/>
          </a:prstGeom>
          <a:noFill/>
        </p:spPr>
        <p:txBody>
          <a:bodyPr wrap="square" anchor="ctr" lIns="45720" rIns="45720">
            <a:spAutoFit/>
          </a:bodyPr>
          <a:lstStyle/>
          <a:p>
            <a:r>
              <a:rPr sz="1000" b="1" i="0">
                <a:solidFill>
                  <a:srgbClr val="FFFFFF"/>
                </a:solidFill>
                <a:latin typeface="Arial"/>
              </a:rPr>
              <a:t>Authorizer of master data</a:t>
            </a:r>
          </a:p>
        </p:txBody>
      </p:sp>
      <p:sp>
        <p:nvSpPr>
          <p:cNvPr id="17" name="Rectangle 16"/>
          <p:cNvSpPr/>
          <p:nvPr/>
        </p:nvSpPr>
        <p:spPr>
          <a:xfrm>
            <a:off x="2331720" y="304495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2432304" y="1399032"/>
            <a:ext cx="1661099"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 </a:t>
            </a:r>
            <a:r>
              <a:rPr sz="800">
                <a:solidFill>
                  <a:srgbClr val="2E2E2E"/>
                </a:solidFill>
                <a:latin typeface="Arial"/>
              </a:rPr>
              <a:t>Promises to Pay</a:t>
            </a:r>
          </a:p>
        </p:txBody>
      </p:sp>
      <p:sp>
        <p:nvSpPr>
          <p:cNvPr id="19" name="Rounded Rectangle 18"/>
          <p:cNvSpPr/>
          <p:nvPr/>
        </p:nvSpPr>
        <p:spPr>
          <a:xfrm>
            <a:off x="4294571" y="1399032"/>
            <a:ext cx="1661099"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2. </a:t>
            </a:r>
            <a:r>
              <a:rPr sz="800">
                <a:solidFill>
                  <a:srgbClr val="2E2E2E"/>
                </a:solidFill>
                <a:latin typeface="Arial"/>
              </a:rPr>
              <a:t>Escalations</a:t>
            </a:r>
          </a:p>
        </p:txBody>
      </p:sp>
      <p:sp>
        <p:nvSpPr>
          <p:cNvPr id="20" name="Rounded Rectangle 19"/>
          <p:cNvSpPr/>
          <p:nvPr/>
        </p:nvSpPr>
        <p:spPr>
          <a:xfrm>
            <a:off x="6156838" y="2267712"/>
            <a:ext cx="1661099"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3. </a:t>
            </a:r>
            <a:r>
              <a:rPr sz="800">
                <a:solidFill>
                  <a:srgbClr val="2E2E2E"/>
                </a:solidFill>
                <a:latin typeface="Arial"/>
              </a:rPr>
              <a:t>Escalation</a:t>
            </a:r>
          </a:p>
        </p:txBody>
      </p:sp>
      <p:sp>
        <p:nvSpPr>
          <p:cNvPr id="21" name="Rounded Rectangle 20"/>
          <p:cNvSpPr/>
          <p:nvPr/>
        </p:nvSpPr>
        <p:spPr>
          <a:xfrm>
            <a:off x="8019105" y="2267712"/>
            <a:ext cx="1661099"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4. </a:t>
            </a:r>
            <a:r>
              <a:rPr sz="800">
                <a:solidFill>
                  <a:srgbClr val="2E2E2E"/>
                </a:solidFill>
                <a:latin typeface="Arial"/>
              </a:rPr>
              <a:t>Escalation</a:t>
            </a:r>
          </a:p>
        </p:txBody>
      </p:sp>
      <p:sp>
        <p:nvSpPr>
          <p:cNvPr id="22" name="Rounded Rectangle 21"/>
          <p:cNvSpPr/>
          <p:nvPr/>
        </p:nvSpPr>
        <p:spPr>
          <a:xfrm>
            <a:off x="9881372" y="3136392"/>
            <a:ext cx="1661099" cy="685800"/>
          </a:xfrm>
          <a:prstGeom prst="roundRect">
            <a:avLst/>
          </a:prstGeom>
          <a:solidFill>
            <a:srgbClr val="FFFFFF"/>
          </a:solidFill>
          <a:ln w="28575">
            <a:solidFill>
              <a:srgbClr val="FDB91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5. </a:t>
            </a:r>
            <a:r>
              <a:rPr sz="800">
                <a:solidFill>
                  <a:srgbClr val="2E2E2E"/>
                </a:solidFill>
                <a:latin typeface="Arial"/>
              </a:rPr>
              <a:t>Escalation Rules</a:t>
            </a:r>
          </a:p>
        </p:txBody>
      </p:sp>
      <p:sp>
        <p:nvSpPr>
          <p:cNvPr id="23" name="Rounded Rectangle 22"/>
          <p:cNvSpPr/>
          <p:nvPr/>
        </p:nvSpPr>
        <p:spPr>
          <a:xfrm>
            <a:off x="10884103" y="3044952"/>
            <a:ext cx="640080" cy="146304"/>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600" b="1">
                <a:solidFill>
                  <a:srgbClr val="8A5A00"/>
                </a:solidFill>
                <a:latin typeface="Arial"/>
              </a:rPr>
              <a:t>Approval</a:t>
            </a:r>
          </a:p>
        </p:txBody>
      </p:sp>
      <p:cxnSp>
        <p:nvCxnSpPr>
          <p:cNvPr id="24" name="Connector 23"/>
          <p:cNvCxnSpPr/>
          <p:nvPr/>
        </p:nvCxnSpPr>
        <p:spPr>
          <a:xfrm>
            <a:off x="4093403" y="174193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5955670" y="174193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7817937" y="261061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9680204" y="261061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48640" y="6016752"/>
            <a:ext cx="11094415" cy="274320"/>
          </a:xfrm>
          <a:prstGeom prst="rect">
            <a:avLst/>
          </a:prstGeom>
          <a:noFill/>
        </p:spPr>
        <p:txBody>
          <a:bodyPr wrap="square" anchor="t" lIns="45720" rIns="45720">
            <a:spAutoFit/>
          </a:bodyPr>
          <a:lstStyle/>
          <a:p>
            <a:r>
              <a:rPr sz="900" b="0" i="1">
                <a:solidFill>
                  <a:srgbClr val="656565"/>
                </a:solidFill>
                <a:latin typeface="Arial"/>
              </a:rPr>
              <a:t>Boxes: step number and screen. Blue arrow: hand-off to another persona. Yellow outline: an approval, authorisation, sign-off or validation step.</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step 1 of 5: Promises to Pay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111</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b-01.png"/>
          <p:cNvPicPr>
            <a:picLocks noChangeAspect="1"/>
          </p:cNvPicPr>
          <p:nvPr/>
        </p:nvPicPr>
        <p:blipFill>
          <a:blip r:embed="rId3"/>
          <a:stretch>
            <a:fillRect/>
          </a:stretch>
        </p:blipFill>
        <p:spPr>
          <a:xfrm>
            <a:off x="548640" y="1261872"/>
            <a:ext cx="7665415" cy="3842329"/>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SCR-CL-08</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Collection Handler: Clicks Record Promise and enters the invoice, the promised payment date in ten days and half of the outstanding</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Promise open</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Promises Recorded: the promise of the invoice recorded; it is on Open Promises</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2: Collection Handler on Escalations</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step 2 of 5: Escalations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112</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b-02.png"/>
          <p:cNvPicPr>
            <a:picLocks noChangeAspect="1"/>
          </p:cNvPicPr>
          <p:nvPr/>
        </p:nvPicPr>
        <p:blipFill>
          <a:blip r:embed="rId3"/>
          <a:stretch>
            <a:fillRect/>
          </a:stretch>
        </p:blipFill>
        <p:spPr>
          <a:xfrm>
            <a:off x="548640" y="1261872"/>
            <a:ext cx="7665415" cy="2939491"/>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SCR-CL-11</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Collection Handler: Clicks Escalate Accounts and enters the invoice, Team Lead and the reason Credit term extension refused by the insurer</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Escalated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Escalation Results: one escalation raised for the account</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3: Collection Team Lead on Escalation</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step 3 of 5: Escalation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113</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b-03.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SCR-CL-12</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Collection Team Lead: Opens the escalation from With Team Lead and clicks Acknowledge</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In action</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escalation is In action with the step in its history</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4: Collection Team Lead on Escalation</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step 4 of 5: Escalation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114</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b-04.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SCR-CL-12</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Collection Team Lead: Clicks Resolve and gives the resolution</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Resolved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escalation is Resolved with the resolution</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5: Authorizer of master data on Escalation Rules</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step 5 of 5: Escalation Rules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115</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b-05.png"/>
          <p:cNvPicPr>
            <a:picLocks noChangeAspect="1"/>
          </p:cNvPicPr>
          <p:nvPr/>
        </p:nvPicPr>
        <p:blipFill>
          <a:blip r:embed="rId3"/>
          <a:stretch>
            <a:fillRect/>
          </a:stretch>
        </p:blipFill>
        <p:spPr>
          <a:xfrm>
            <a:off x="548640" y="1261872"/>
            <a:ext cx="7665415" cy="4285544"/>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SCR-CL-13</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Authorizer of master data: Opens Escalation Rules and, from the row menu of CLX-AMOUNT-1M, authorizes the rule made by the Business Administrator</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Rule in force</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rule is Active</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End of the flow</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WT-C An unapplied payment applied to an invoice at the collector's request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116</a:t>
            </a:r>
          </a:p>
        </p:txBody>
      </p:sp>
      <p:graphicFrame>
        <p:nvGraphicFramePr>
          <p:cNvPr id="9" name="Table 8"/>
          <p:cNvGraphicFramePr>
            <a:graphicFrameLocks noGrp="1"/>
          </p:cNvGraphicFramePr>
          <p:nvPr/>
        </p:nvGraphicFramePr>
        <p:xfrm>
          <a:off x="548640" y="1307592"/>
          <a:ext cx="11094415" cy="2011672"/>
        </p:xfrm>
        <a:graphic>
          <a:graphicData uri="http://schemas.openxmlformats.org/drawingml/2006/table">
            <a:tbl>
              <a:tblPr bandRow="1">
                <a:tableStyleId>{5C22544A-7EE6-4342-B048-85BDC9FD1C3A}</a:tableStyleId>
              </a:tblPr>
              <a:tblGrid>
                <a:gridCol w="2011680"/>
                <a:gridCol w="9082735"/>
              </a:tblGrid>
              <a:tr h="274319">
                <a:tc>
                  <a:txBody>
                    <a:bodyPr/>
                    <a:lstStyle/>
                    <a:p>
                      <a:r>
                        <a:rPr sz="1200" b="1">
                          <a:solidFill>
                            <a:srgbClr val="004EA8"/>
                          </a:solidFill>
                          <a:latin typeface="Arial"/>
                        </a:rPr>
                        <a:t>Flow</a:t>
                      </a:r>
                    </a:p>
                  </a:txBody>
                  <a:tcPr marL="54864" marR="54864" marT="27432" marB="27432">
                    <a:solidFill>
                      <a:srgbClr val="E5F5FF"/>
                    </a:solidFill>
                  </a:tcPr>
                </a:tc>
                <a:tc>
                  <a:txBody>
                    <a:bodyPr/>
                    <a:lstStyle/>
                    <a:p>
                      <a:r>
                        <a:rPr sz="1200" b="0">
                          <a:solidFill>
                            <a:srgbClr val="4B4B4B"/>
                          </a:solidFill>
                          <a:latin typeface="Arial"/>
                        </a:rPr>
                        <a:t>WT-C An unapplied payment applied to an invoice at the collector's request</a:t>
                      </a:r>
                    </a:p>
                  </a:txBody>
                  <a:tcPr marL="54864" marR="54864" marT="27432" marB="27432">
                    <a:solidFill>
                      <a:srgbClr val="FFFFFF"/>
                    </a:solidFill>
                  </a:tcPr>
                </a:tc>
              </a:tr>
              <a:tr h="640077">
                <a:tc>
                  <a:txBody>
                    <a:bodyPr/>
                    <a:lstStyle/>
                    <a:p>
                      <a:r>
                        <a:rPr sz="1200" b="1">
                          <a:solidFill>
                            <a:srgbClr val="004EA8"/>
                          </a:solidFill>
                          <a:latin typeface="Arial"/>
                        </a:rPr>
                        <a:t>Summary</a:t>
                      </a:r>
                    </a:p>
                  </a:txBody>
                  <a:tcPr marL="54864" marR="54864" marT="27432" marB="27432">
                    <a:solidFill>
                      <a:srgbClr val="E5F5FF"/>
                    </a:solidFill>
                  </a:tcPr>
                </a:tc>
                <a:tc>
                  <a:txBody>
                    <a:bodyPr/>
                    <a:lstStyle/>
                    <a:p>
                      <a:r>
                        <a:rPr sz="1200" b="0">
                          <a:solidFill>
                            <a:srgbClr val="4B4B4B"/>
                          </a:solidFill>
                          <a:latin typeface="Arial"/>
                        </a:rPr>
                        <a:t>A payment that Cashiering could not match waits in the unapplied payments. The Unapplied Payment Handler finds the invoice the client paid and requests its application; Cashiering accepts the request on its Incoming Requests and the payment is applied to the invoice; the collector sees the request executed and the whole history of the payment.</a:t>
                      </a:r>
                    </a:p>
                  </a:txBody>
                  <a:tcPr marL="54864" marR="54864" marT="27432" marB="27432">
                    <a:solidFill>
                      <a:srgbClr val="FFFFFF"/>
                    </a:solidFill>
                  </a:tcPr>
                </a:tc>
              </a:tr>
              <a:tr h="274319">
                <a:tc>
                  <a:txBody>
                    <a:bodyPr/>
                    <a:lstStyle/>
                    <a:p>
                      <a:r>
                        <a:rPr sz="1200" b="1">
                          <a:solidFill>
                            <a:srgbClr val="004EA8"/>
                          </a:solidFill>
                          <a:latin typeface="Arial"/>
                        </a:rPr>
                        <a:t>Seed data</a:t>
                      </a:r>
                    </a:p>
                  </a:txBody>
                  <a:tcPr marL="54864" marR="54864" marT="27432" marB="27432">
                    <a:solidFill>
                      <a:srgbClr val="E5F5FF"/>
                    </a:solidFill>
                  </a:tcPr>
                </a:tc>
                <a:tc>
                  <a:txBody>
                    <a:bodyPr/>
                    <a:lstStyle/>
                    <a:p>
                      <a:r>
                        <a:rPr sz="1200" b="0">
                          <a:solidFill>
                            <a:srgbClr val="4B4B4B"/>
                          </a:solidFill>
                          <a:latin typeface="Arial"/>
                        </a:rPr>
                        <a:t>Seed data: unapplied payment UNP-2026-000008 (Liza Manalo, 1,200.00, not matched); the invoice of account ARN-2026-940008</a:t>
                      </a:r>
                    </a:p>
                  </a:txBody>
                  <a:tcPr marL="54864" marR="54864" marT="27432" marB="27432">
                    <a:solidFill>
                      <a:srgbClr val="FFFFFF"/>
                    </a:solidFill>
                  </a:tcPr>
                </a:tc>
              </a:tr>
              <a:tr h="274319">
                <a:tc>
                  <a:txBody>
                    <a:bodyPr/>
                    <a:lstStyle/>
                    <a:p>
                      <a:r>
                        <a:rPr sz="1200" b="1">
                          <a:solidFill>
                            <a:srgbClr val="004EA8"/>
                          </a:solidFill>
                          <a:latin typeface="Arial"/>
                        </a:rPr>
                        <a:t>Personas</a:t>
                      </a:r>
                    </a:p>
                  </a:txBody>
                  <a:tcPr marL="54864" marR="54864" marT="27432" marB="27432">
                    <a:solidFill>
                      <a:srgbClr val="E5F5FF"/>
                    </a:solidFill>
                  </a:tcPr>
                </a:tc>
                <a:tc>
                  <a:txBody>
                    <a:bodyPr/>
                    <a:lstStyle/>
                    <a:p>
                      <a:r>
                        <a:rPr sz="1200" b="0">
                          <a:solidFill>
                            <a:srgbClr val="4B4B4B"/>
                          </a:solidFill>
                          <a:latin typeface="Arial"/>
                        </a:rPr>
                        <a:t>Unapplied Payment Handler, Cashier (read access and exports)</a:t>
                      </a:r>
                    </a:p>
                  </a:txBody>
                  <a:tcPr marL="54864" marR="54864" marT="27432" marB="27432">
                    <a:solidFill>
                      <a:srgbClr val="FFFFFF"/>
                    </a:solidFill>
                  </a:tcPr>
                </a:tc>
              </a:tr>
              <a:tr h="274319">
                <a:tc>
                  <a:txBody>
                    <a:bodyPr/>
                    <a:lstStyle/>
                    <a:p>
                      <a:r>
                        <a:rPr sz="1200" b="1">
                          <a:solidFill>
                            <a:srgbClr val="004EA8"/>
                          </a:solidFill>
                          <a:latin typeface="Arial"/>
                        </a:rPr>
                        <a:t>Steps</a:t>
                      </a:r>
                    </a:p>
                  </a:txBody>
                  <a:tcPr marL="54864" marR="54864" marT="27432" marB="27432">
                    <a:solidFill>
                      <a:srgbClr val="E5F5FF"/>
                    </a:solidFill>
                  </a:tcPr>
                </a:tc>
                <a:tc>
                  <a:txBody>
                    <a:bodyPr/>
                    <a:lstStyle/>
                    <a:p>
                      <a:r>
                        <a:rPr sz="1200" b="0">
                          <a:solidFill>
                            <a:srgbClr val="4B4B4B"/>
                          </a:solidFill>
                          <a:latin typeface="Arial"/>
                        </a:rPr>
                        <a:t>5 steps, 2 hand-offs, 0 approval steps</a:t>
                      </a:r>
                    </a:p>
                  </a:txBody>
                  <a:tcPr marL="54864" marR="54864" marT="27432" marB="27432">
                    <a:solidFill>
                      <a:srgbClr val="FFFFFF"/>
                    </a:solidFill>
                  </a:tcPr>
                </a:tc>
              </a:tr>
              <a:tr h="274319">
                <a:tc>
                  <a:txBody>
                    <a:bodyPr/>
                    <a:lstStyle/>
                    <a:p>
                      <a:r>
                        <a:rPr sz="1200" b="1">
                          <a:solidFill>
                            <a:srgbClr val="004EA8"/>
                          </a:solidFill>
                          <a:latin typeface="Arial"/>
                        </a:rPr>
                        <a:t>FRS section</a:t>
                      </a:r>
                    </a:p>
                  </a:txBody>
                  <a:tcPr marL="54864" marR="54864" marT="27432" marB="27432">
                    <a:solidFill>
                      <a:srgbClr val="E5F5FF"/>
                    </a:solidFill>
                  </a:tcPr>
                </a:tc>
                <a:tc>
                  <a:txBody>
                    <a:bodyPr/>
                    <a:lstStyle/>
                    <a:p>
                      <a:r>
                        <a:rPr sz="1200" b="0">
                          <a:solidFill>
                            <a:srgbClr val="4B4B4B"/>
                          </a:solidFill>
                          <a:latin typeface="Arial"/>
                        </a:rPr>
                        <a:t>14.3</a:t>
                      </a:r>
                    </a:p>
                  </a:txBody>
                  <a:tcPr marL="54864" marR="54864" marT="27432" marB="27432">
                    <a:solidFill>
                      <a:srgbClr val="FFFFFF"/>
                    </a:solidFill>
                  </a:tcPr>
                </a:tc>
              </a:tr>
            </a:tbl>
          </a:graphicData>
        </a:graphic>
      </p:graphicFrame>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swimlane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117</a:t>
            </a:r>
          </a:p>
        </p:txBody>
      </p:sp>
      <p:sp>
        <p:nvSpPr>
          <p:cNvPr id="9" name="Rectangle 8"/>
          <p:cNvSpPr/>
          <p:nvPr/>
        </p:nvSpPr>
        <p:spPr>
          <a:xfrm>
            <a:off x="548640" y="130759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307592"/>
            <a:ext cx="1691640" cy="832104"/>
          </a:xfrm>
          <a:prstGeom prst="rect">
            <a:avLst/>
          </a:prstGeom>
          <a:noFill/>
        </p:spPr>
        <p:txBody>
          <a:bodyPr wrap="square" anchor="ctr" lIns="45720" rIns="45720">
            <a:spAutoFit/>
          </a:bodyPr>
          <a:lstStyle/>
          <a:p>
            <a:r>
              <a:rPr sz="1000" b="1" i="0">
                <a:solidFill>
                  <a:srgbClr val="FFFFFF"/>
                </a:solidFill>
                <a:latin typeface="Arial"/>
              </a:rPr>
              <a:t>Unapplied Payment Handler</a:t>
            </a:r>
          </a:p>
        </p:txBody>
      </p:sp>
      <p:sp>
        <p:nvSpPr>
          <p:cNvPr id="11" name="Rectangle 10"/>
          <p:cNvSpPr/>
          <p:nvPr/>
        </p:nvSpPr>
        <p:spPr>
          <a:xfrm>
            <a:off x="2331720" y="130759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17627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176272"/>
            <a:ext cx="1691640" cy="832104"/>
          </a:xfrm>
          <a:prstGeom prst="rect">
            <a:avLst/>
          </a:prstGeom>
          <a:noFill/>
        </p:spPr>
        <p:txBody>
          <a:bodyPr wrap="square" anchor="ctr" lIns="45720" rIns="45720">
            <a:spAutoFit/>
          </a:bodyPr>
          <a:lstStyle/>
          <a:p>
            <a:r>
              <a:rPr sz="1000" b="1" i="0">
                <a:solidFill>
                  <a:srgbClr val="FFFFFF"/>
                </a:solidFill>
                <a:latin typeface="Arial"/>
              </a:rPr>
              <a:t>Cashier (read access and exports)</a:t>
            </a:r>
          </a:p>
        </p:txBody>
      </p:sp>
      <p:sp>
        <p:nvSpPr>
          <p:cNvPr id="14" name="Rectangle 13"/>
          <p:cNvSpPr/>
          <p:nvPr/>
        </p:nvSpPr>
        <p:spPr>
          <a:xfrm>
            <a:off x="2331720" y="2176272"/>
            <a:ext cx="9311335" cy="83210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2432304" y="1399032"/>
            <a:ext cx="1661099"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 </a:t>
            </a:r>
            <a:r>
              <a:rPr sz="800">
                <a:solidFill>
                  <a:srgbClr val="2E2E2E"/>
                </a:solidFill>
                <a:latin typeface="Arial"/>
              </a:rPr>
              <a:t>Unapplied Payments</a:t>
            </a:r>
          </a:p>
        </p:txBody>
      </p:sp>
      <p:sp>
        <p:nvSpPr>
          <p:cNvPr id="16" name="Rounded Rectangle 15"/>
          <p:cNvSpPr/>
          <p:nvPr/>
        </p:nvSpPr>
        <p:spPr>
          <a:xfrm>
            <a:off x="4294571" y="1399032"/>
            <a:ext cx="1661099"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2. </a:t>
            </a:r>
            <a:r>
              <a:rPr sz="800">
                <a:solidFill>
                  <a:srgbClr val="2E2E2E"/>
                </a:solidFill>
                <a:latin typeface="Arial"/>
              </a:rPr>
              <a:t>Requests to Cashiering</a:t>
            </a:r>
          </a:p>
        </p:txBody>
      </p:sp>
      <p:sp>
        <p:nvSpPr>
          <p:cNvPr id="17" name="Rounded Rectangle 16"/>
          <p:cNvSpPr/>
          <p:nvPr/>
        </p:nvSpPr>
        <p:spPr>
          <a:xfrm>
            <a:off x="6156838" y="2267712"/>
            <a:ext cx="1661099"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3. </a:t>
            </a:r>
            <a:r>
              <a:rPr sz="800">
                <a:solidFill>
                  <a:srgbClr val="2E2E2E"/>
                </a:solidFill>
                <a:latin typeface="Arial"/>
              </a:rPr>
              <a:t>Incoming Requests</a:t>
            </a:r>
          </a:p>
        </p:txBody>
      </p:sp>
      <p:sp>
        <p:nvSpPr>
          <p:cNvPr id="18" name="Rounded Rectangle 17"/>
          <p:cNvSpPr/>
          <p:nvPr/>
        </p:nvSpPr>
        <p:spPr>
          <a:xfrm>
            <a:off x="8019105" y="1399032"/>
            <a:ext cx="1661099"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4. </a:t>
            </a:r>
            <a:r>
              <a:rPr sz="800">
                <a:solidFill>
                  <a:srgbClr val="2E2E2E"/>
                </a:solidFill>
                <a:latin typeface="Arial"/>
              </a:rPr>
              <a:t>Requests to Cashiering</a:t>
            </a:r>
          </a:p>
        </p:txBody>
      </p:sp>
      <p:sp>
        <p:nvSpPr>
          <p:cNvPr id="19" name="Rounded Rectangle 18"/>
          <p:cNvSpPr/>
          <p:nvPr/>
        </p:nvSpPr>
        <p:spPr>
          <a:xfrm>
            <a:off x="9881372" y="1399032"/>
            <a:ext cx="1661099"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5. </a:t>
            </a:r>
            <a:r>
              <a:rPr sz="800">
                <a:solidFill>
                  <a:srgbClr val="2E2E2E"/>
                </a:solidFill>
                <a:latin typeface="Arial"/>
              </a:rPr>
              <a:t>Unapplied Payment</a:t>
            </a:r>
          </a:p>
        </p:txBody>
      </p:sp>
      <p:cxnSp>
        <p:nvCxnSpPr>
          <p:cNvPr id="20" name="Connector 19"/>
          <p:cNvCxnSpPr/>
          <p:nvPr/>
        </p:nvCxnSpPr>
        <p:spPr>
          <a:xfrm>
            <a:off x="4093403" y="174193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5955670" y="174193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7817937" y="174193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9680204" y="174193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548640" y="6016752"/>
            <a:ext cx="11094415" cy="274320"/>
          </a:xfrm>
          <a:prstGeom prst="rect">
            <a:avLst/>
          </a:prstGeom>
          <a:noFill/>
        </p:spPr>
        <p:txBody>
          <a:bodyPr wrap="square" anchor="t" lIns="45720" rIns="45720">
            <a:spAutoFit/>
          </a:bodyPr>
          <a:lstStyle/>
          <a:p>
            <a:r>
              <a:rPr sz="900" b="0" i="1">
                <a:solidFill>
                  <a:srgbClr val="656565"/>
                </a:solidFill>
                <a:latin typeface="Arial"/>
              </a:rPr>
              <a:t>Boxes: step number and screen. Blue arrow: hand-off to another persona. Yellow outline: an approval, authorisation, sign-off or validation step.</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step 1 of 5: Unapplied Payments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118</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c-01.png"/>
          <p:cNvPicPr>
            <a:picLocks noChangeAspect="1"/>
          </p:cNvPicPr>
          <p:nvPr/>
        </p:nvPicPr>
        <p:blipFill>
          <a:blip r:embed="rId3"/>
          <a:stretch>
            <a:fillRect/>
          </a:stretch>
        </p:blipFill>
        <p:spPr>
          <a:xfrm>
            <a:off x="548640" y="1261872"/>
            <a:ext cx="7665415" cy="3928685"/>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SCR-CL-14</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Unapplied Payment Handler: Selects the payment, clicks Request Application and enters the invoice number</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Request sent</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Message: Disposition recorded; request sent to Cashiering</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2: Unapplied Payment Handler on Requests to Cashiering</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step 2 of 5: Requests to Cashiering</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119</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wt-c-02.png"/>
          <p:cNvPicPr>
            <a:picLocks noChangeAspect="1"/>
          </p:cNvPicPr>
          <p:nvPr/>
        </p:nvPicPr>
        <p:blipFill>
          <a:blip r:embed="rId3"/>
          <a:stretch>
            <a:fillRect/>
          </a:stretch>
        </p:blipFill>
        <p:spPr>
          <a:xfrm>
            <a:off x="548640" y="1261872"/>
            <a:ext cx="7665415" cy="3655325"/>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SCR-CL-16</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Unapplied Payment Handler: Opens Requests to Cashiering</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With Cashiering</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request Sent with the Cashiering reference of the request</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3: Cashier (read access and exports) on Incoming Requests</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step 3 of 5: Incoming Requests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120</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c-03.png"/>
          <p:cNvPicPr>
            <a:picLocks noChangeAspect="1"/>
          </p:cNvPicPr>
          <p:nvPr/>
        </p:nvPicPr>
        <p:blipFill>
          <a:blip r:embed="rId3"/>
          <a:stretch>
            <a:fillRect/>
          </a:stretch>
        </p:blipFill>
        <p:spPr>
          <a:xfrm>
            <a:off x="548640" y="1261872"/>
            <a:ext cx="7665415" cy="4219915"/>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SCR-OP-13</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Cashier (read access and exports): Opens Incoming Requests, selects the collector request and clicks Accept Request with Submit the disposition now</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Applied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request accepted; the application of the payment is processed at once</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4: Unapplied Payment Handler on Requests to Cashiering</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step 4 of 5: Requests to Cashiering</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121</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c-04.png"/>
          <p:cNvPicPr>
            <a:picLocks noChangeAspect="1"/>
          </p:cNvPicPr>
          <p:nvPr/>
        </p:nvPicPr>
        <p:blipFill>
          <a:blip r:embed="rId3"/>
          <a:stretch>
            <a:fillRect/>
          </a:stretch>
        </p:blipFill>
        <p:spPr>
          <a:xfrm>
            <a:off x="548640" y="1261872"/>
            <a:ext cx="7665415" cy="3769356"/>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SCR-CL-16</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Unapplied Payment Handler: Opens the Executed tab of Requests to Cashiering</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Executed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request Applied with the Cashiering reference</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5: Unapplied Payment Handler on Unapplied Payment</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WT-C step 5 of 5: Unapplied Payment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122</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wt-c-05.png"/>
          <p:cNvPicPr>
            <a:picLocks noChangeAspect="1"/>
          </p:cNvPicPr>
          <p:nvPr/>
        </p:nvPicPr>
        <p:blipFill>
          <a:blip r:embed="rId3"/>
          <a:stretch>
            <a:fillRect/>
          </a:stretch>
        </p:blipFill>
        <p:spPr>
          <a:xfrm>
            <a:off x="1230862" y="1261872"/>
            <a:ext cx="6300971"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SCR-CL-15</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Unapplied Payment Handler: Opens the unapplied payment, History tab</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History kept</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payment, the collector disposition, the request and its application, kept after the payment is applied</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End of the flow</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WT-D An installment plan and the statement of account of its first cycle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123</a:t>
            </a:r>
          </a:p>
        </p:txBody>
      </p:sp>
      <p:graphicFrame>
        <p:nvGraphicFramePr>
          <p:cNvPr id="9" name="Table 8"/>
          <p:cNvGraphicFramePr>
            <a:graphicFrameLocks noGrp="1"/>
          </p:cNvGraphicFramePr>
          <p:nvPr/>
        </p:nvGraphicFramePr>
        <p:xfrm>
          <a:off x="548640" y="1307592"/>
          <a:ext cx="11094415" cy="2011672"/>
        </p:xfrm>
        <a:graphic>
          <a:graphicData uri="http://schemas.openxmlformats.org/drawingml/2006/table">
            <a:tbl>
              <a:tblPr bandRow="1">
                <a:tableStyleId>{5C22544A-7EE6-4342-B048-85BDC9FD1C3A}</a:tableStyleId>
              </a:tblPr>
              <a:tblGrid>
                <a:gridCol w="2011680"/>
                <a:gridCol w="9082735"/>
              </a:tblGrid>
              <a:tr h="274319">
                <a:tc>
                  <a:txBody>
                    <a:bodyPr/>
                    <a:lstStyle/>
                    <a:p>
                      <a:r>
                        <a:rPr sz="1200" b="1">
                          <a:solidFill>
                            <a:srgbClr val="004EA8"/>
                          </a:solidFill>
                          <a:latin typeface="Arial"/>
                        </a:rPr>
                        <a:t>Flow</a:t>
                      </a:r>
                    </a:p>
                  </a:txBody>
                  <a:tcPr marL="54864" marR="54864" marT="27432" marB="27432">
                    <a:solidFill>
                      <a:srgbClr val="E5F5FF"/>
                    </a:solidFill>
                  </a:tcPr>
                </a:tc>
                <a:tc>
                  <a:txBody>
                    <a:bodyPr/>
                    <a:lstStyle/>
                    <a:p>
                      <a:r>
                        <a:rPr sz="1200" b="0">
                          <a:solidFill>
                            <a:srgbClr val="4B4B4B"/>
                          </a:solidFill>
                          <a:latin typeface="Arial"/>
                        </a:rPr>
                        <a:t>WT-D An installment plan and the statement of account of its first cycle</a:t>
                      </a:r>
                    </a:p>
                  </a:txBody>
                  <a:tcPr marL="54864" marR="54864" marT="27432" marB="27432">
                    <a:solidFill>
                      <a:srgbClr val="FFFFFF"/>
                    </a:solidFill>
                  </a:tcPr>
                </a:tc>
              </a:tr>
              <a:tr h="640077">
                <a:tc>
                  <a:txBody>
                    <a:bodyPr/>
                    <a:lstStyle/>
                    <a:p>
                      <a:r>
                        <a:rPr sz="1200" b="1">
                          <a:solidFill>
                            <a:srgbClr val="004EA8"/>
                          </a:solidFill>
                          <a:latin typeface="Arial"/>
                        </a:rPr>
                        <a:t>Summary</a:t>
                      </a:r>
                    </a:p>
                  </a:txBody>
                  <a:tcPr marL="54864" marR="54864" marT="27432" marB="27432">
                    <a:solidFill>
                      <a:srgbClr val="E5F5FF"/>
                    </a:solidFill>
                  </a:tcPr>
                </a:tc>
                <a:tc>
                  <a:txBody>
                    <a:bodyPr/>
                    <a:lstStyle/>
                    <a:p>
                      <a:r>
                        <a:rPr sz="1200" b="0">
                          <a:solidFill>
                            <a:srgbClr val="4B4B4B"/>
                          </a:solidFill>
                          <a:latin typeface="Arial"/>
                        </a:rPr>
                        <a:t>The client of walkthrough A agrees to pay the premium in four quarterly installments. The Collection Handler creates the plan on the invoice, generates the statement of account of the first cycle and sends it to the client by e-mail, the PDF protected by a password sent separately.</a:t>
                      </a:r>
                    </a:p>
                  </a:txBody>
                  <a:tcPr marL="54864" marR="54864" marT="27432" marB="27432">
                    <a:solidFill>
                      <a:srgbClr val="FFFFFF"/>
                    </a:solidFill>
                  </a:tcPr>
                </a:tc>
              </a:tr>
              <a:tr h="274319">
                <a:tc>
                  <a:txBody>
                    <a:bodyPr/>
                    <a:lstStyle/>
                    <a:p>
                      <a:r>
                        <a:rPr sz="1200" b="1">
                          <a:solidFill>
                            <a:srgbClr val="004EA8"/>
                          </a:solidFill>
                          <a:latin typeface="Arial"/>
                        </a:rPr>
                        <a:t>Seed data</a:t>
                      </a:r>
                    </a:p>
                  </a:txBody>
                  <a:tcPr marL="54864" marR="54864" marT="27432" marB="27432">
                    <a:solidFill>
                      <a:srgbClr val="E5F5FF"/>
                    </a:solidFill>
                  </a:tcPr>
                </a:tc>
                <a:tc>
                  <a:txBody>
                    <a:bodyPr/>
                    <a:lstStyle/>
                    <a:p>
                      <a:r>
                        <a:rPr sz="1200" b="0">
                          <a:solidFill>
                            <a:srgbClr val="4B4B4B"/>
                          </a:solidFill>
                          <a:latin typeface="Arial"/>
                        </a:rPr>
                        <a:t>Seed data: the invoice of walkthrough A; the client's e-mail address from the client profile</a:t>
                      </a:r>
                    </a:p>
                  </a:txBody>
                  <a:tcPr marL="54864" marR="54864" marT="27432" marB="27432">
                    <a:solidFill>
                      <a:srgbClr val="FFFFFF"/>
                    </a:solidFill>
                  </a:tcPr>
                </a:tc>
              </a:tr>
              <a:tr h="274319">
                <a:tc>
                  <a:txBody>
                    <a:bodyPr/>
                    <a:lstStyle/>
                    <a:p>
                      <a:r>
                        <a:rPr sz="1200" b="1">
                          <a:solidFill>
                            <a:srgbClr val="004EA8"/>
                          </a:solidFill>
                          <a:latin typeface="Arial"/>
                        </a:rPr>
                        <a:t>Personas</a:t>
                      </a:r>
                    </a:p>
                  </a:txBody>
                  <a:tcPr marL="54864" marR="54864" marT="27432" marB="27432">
                    <a:solidFill>
                      <a:srgbClr val="E5F5FF"/>
                    </a:solidFill>
                  </a:tcPr>
                </a:tc>
                <a:tc>
                  <a:txBody>
                    <a:bodyPr/>
                    <a:lstStyle/>
                    <a:p>
                      <a:r>
                        <a:rPr sz="1200" b="0">
                          <a:solidFill>
                            <a:srgbClr val="4B4B4B"/>
                          </a:solidFill>
                          <a:latin typeface="Arial"/>
                        </a:rPr>
                        <a:t>Collection Handler</a:t>
                      </a:r>
                    </a:p>
                  </a:txBody>
                  <a:tcPr marL="54864" marR="54864" marT="27432" marB="27432">
                    <a:solidFill>
                      <a:srgbClr val="FFFFFF"/>
                    </a:solidFill>
                  </a:tcPr>
                </a:tc>
              </a:tr>
              <a:tr h="274319">
                <a:tc>
                  <a:txBody>
                    <a:bodyPr/>
                    <a:lstStyle/>
                    <a:p>
                      <a:r>
                        <a:rPr sz="1200" b="1">
                          <a:solidFill>
                            <a:srgbClr val="004EA8"/>
                          </a:solidFill>
                          <a:latin typeface="Arial"/>
                        </a:rPr>
                        <a:t>Steps</a:t>
                      </a:r>
                    </a:p>
                  </a:txBody>
                  <a:tcPr marL="54864" marR="54864" marT="27432" marB="27432">
                    <a:solidFill>
                      <a:srgbClr val="E5F5FF"/>
                    </a:solidFill>
                  </a:tcPr>
                </a:tc>
                <a:tc>
                  <a:txBody>
                    <a:bodyPr/>
                    <a:lstStyle/>
                    <a:p>
                      <a:r>
                        <a:rPr sz="1200" b="0">
                          <a:solidFill>
                            <a:srgbClr val="4B4B4B"/>
                          </a:solidFill>
                          <a:latin typeface="Arial"/>
                        </a:rPr>
                        <a:t>4 steps, 0 hand-offs, 0 approval steps</a:t>
                      </a:r>
                    </a:p>
                  </a:txBody>
                  <a:tcPr marL="54864" marR="54864" marT="27432" marB="27432">
                    <a:solidFill>
                      <a:srgbClr val="FFFFFF"/>
                    </a:solidFill>
                  </a:tcPr>
                </a:tc>
              </a:tr>
              <a:tr h="274319">
                <a:tc>
                  <a:txBody>
                    <a:bodyPr/>
                    <a:lstStyle/>
                    <a:p>
                      <a:r>
                        <a:rPr sz="1200" b="1">
                          <a:solidFill>
                            <a:srgbClr val="004EA8"/>
                          </a:solidFill>
                          <a:latin typeface="Arial"/>
                        </a:rPr>
                        <a:t>FRS section</a:t>
                      </a:r>
                    </a:p>
                  </a:txBody>
                  <a:tcPr marL="54864" marR="54864" marT="27432" marB="27432">
                    <a:solidFill>
                      <a:srgbClr val="E5F5FF"/>
                    </a:solidFill>
                  </a:tcPr>
                </a:tc>
                <a:tc>
                  <a:txBody>
                    <a:bodyPr/>
                    <a:lstStyle/>
                    <a:p>
                      <a:r>
                        <a:rPr sz="1200" b="0">
                          <a:solidFill>
                            <a:srgbClr val="4B4B4B"/>
                          </a:solidFill>
                          <a:latin typeface="Arial"/>
                        </a:rPr>
                        <a:t>14.4</a:t>
                      </a:r>
                    </a:p>
                  </a:txBody>
                  <a:tcPr marL="54864" marR="54864" marT="27432" marB="27432">
                    <a:solidFill>
                      <a:srgbClr val="FFFFFF"/>
                    </a:solidFill>
                  </a:tcPr>
                </a:tc>
              </a:tr>
            </a:tbl>
          </a:graphicData>
        </a:graphic>
      </p:graphicFrame>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WT-D swimlane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124</a:t>
            </a:r>
          </a:p>
        </p:txBody>
      </p:sp>
      <p:sp>
        <p:nvSpPr>
          <p:cNvPr id="9" name="Rectangle 8"/>
          <p:cNvSpPr/>
          <p:nvPr/>
        </p:nvSpPr>
        <p:spPr>
          <a:xfrm>
            <a:off x="548640" y="130759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307592"/>
            <a:ext cx="1691640" cy="832104"/>
          </a:xfrm>
          <a:prstGeom prst="rect">
            <a:avLst/>
          </a:prstGeom>
          <a:noFill/>
        </p:spPr>
        <p:txBody>
          <a:bodyPr wrap="square" anchor="ctr" lIns="45720" rIns="45720">
            <a:spAutoFit/>
          </a:bodyPr>
          <a:lstStyle/>
          <a:p>
            <a:r>
              <a:rPr sz="1000" b="1" i="0">
                <a:solidFill>
                  <a:srgbClr val="FFFFFF"/>
                </a:solidFill>
                <a:latin typeface="Arial"/>
              </a:rPr>
              <a:t>Collection Handler</a:t>
            </a:r>
          </a:p>
        </p:txBody>
      </p:sp>
      <p:sp>
        <p:nvSpPr>
          <p:cNvPr id="11" name="Rectangle 10"/>
          <p:cNvSpPr/>
          <p:nvPr/>
        </p:nvSpPr>
        <p:spPr>
          <a:xfrm>
            <a:off x="2331720" y="130759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432304" y="1399032"/>
            <a:ext cx="2126665"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 </a:t>
            </a:r>
            <a:r>
              <a:rPr sz="800">
                <a:solidFill>
                  <a:srgbClr val="2E2E2E"/>
                </a:solidFill>
                <a:latin typeface="Arial"/>
              </a:rPr>
              <a:t>Installment Plans</a:t>
            </a:r>
          </a:p>
        </p:txBody>
      </p:sp>
      <p:sp>
        <p:nvSpPr>
          <p:cNvPr id="13" name="Rounded Rectangle 12"/>
          <p:cNvSpPr/>
          <p:nvPr/>
        </p:nvSpPr>
        <p:spPr>
          <a:xfrm>
            <a:off x="4760137" y="1399032"/>
            <a:ext cx="2126665"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2. </a:t>
            </a:r>
            <a:r>
              <a:rPr sz="800">
                <a:solidFill>
                  <a:srgbClr val="2E2E2E"/>
                </a:solidFill>
                <a:latin typeface="Arial"/>
              </a:rPr>
              <a:t>Installment Plan</a:t>
            </a:r>
          </a:p>
        </p:txBody>
      </p:sp>
      <p:sp>
        <p:nvSpPr>
          <p:cNvPr id="14" name="Rounded Rectangle 13"/>
          <p:cNvSpPr/>
          <p:nvPr/>
        </p:nvSpPr>
        <p:spPr>
          <a:xfrm>
            <a:off x="7087970" y="1399032"/>
            <a:ext cx="2126665"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3. </a:t>
            </a:r>
            <a:r>
              <a:rPr sz="800">
                <a:solidFill>
                  <a:srgbClr val="2E2E2E"/>
                </a:solidFill>
                <a:latin typeface="Arial"/>
              </a:rPr>
              <a:t>Statement of Account</a:t>
            </a:r>
          </a:p>
        </p:txBody>
      </p:sp>
      <p:sp>
        <p:nvSpPr>
          <p:cNvPr id="15" name="Rounded Rectangle 14"/>
          <p:cNvSpPr/>
          <p:nvPr/>
        </p:nvSpPr>
        <p:spPr>
          <a:xfrm>
            <a:off x="9415803" y="1399032"/>
            <a:ext cx="2126665"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4. </a:t>
            </a:r>
            <a:r>
              <a:rPr sz="800">
                <a:solidFill>
                  <a:srgbClr val="2E2E2E"/>
                </a:solidFill>
                <a:latin typeface="Arial"/>
              </a:rPr>
              <a:t>Statement of Account</a:t>
            </a:r>
          </a:p>
        </p:txBody>
      </p:sp>
      <p:cxnSp>
        <p:nvCxnSpPr>
          <p:cNvPr id="16" name="Connector 15"/>
          <p:cNvCxnSpPr/>
          <p:nvPr/>
        </p:nvCxnSpPr>
        <p:spPr>
          <a:xfrm>
            <a:off x="4558969" y="174193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886802" y="174193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9214635" y="174193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48640" y="6016752"/>
            <a:ext cx="11094415" cy="274320"/>
          </a:xfrm>
          <a:prstGeom prst="rect">
            <a:avLst/>
          </a:prstGeom>
          <a:noFill/>
        </p:spPr>
        <p:txBody>
          <a:bodyPr wrap="square" anchor="t" lIns="45720" rIns="45720">
            <a:spAutoFit/>
          </a:bodyPr>
          <a:lstStyle/>
          <a:p>
            <a:r>
              <a:rPr sz="900" b="0" i="1">
                <a:solidFill>
                  <a:srgbClr val="656565"/>
                </a:solidFill>
                <a:latin typeface="Arial"/>
              </a:rPr>
              <a:t>Boxes: step number and screen. Blue arrow: hand-off to another persona. Yellow outline: an approval, authorisation, sign-off or validation step.</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WT-D step 1 of 4: Installment Plans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125</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d-01.png"/>
          <p:cNvPicPr>
            <a:picLocks noChangeAspect="1"/>
          </p:cNvPicPr>
          <p:nvPr/>
        </p:nvPicPr>
        <p:blipFill>
          <a:blip r:embed="rId3"/>
          <a:stretch>
            <a:fillRect/>
          </a:stretch>
        </p:blipFill>
        <p:spPr>
          <a:xfrm>
            <a:off x="1040563" y="1261872"/>
            <a:ext cx="6681569"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SCR-CL-05</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Collection Handler: Clicks New Installment Plan: installments of one invoice, the invoice, the first due date, 4 installments, Quarterly</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Plan active</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Message: &lt;plan&gt; created with 4 installments; the plan opens with its installments</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2: Collection Handler on Installment Plan</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WT-D step 2 of 4: Installment Plan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126</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d-02.png"/>
          <p:cNvPicPr>
            <a:picLocks noChangeAspect="1"/>
          </p:cNvPicPr>
          <p:nvPr/>
        </p:nvPicPr>
        <p:blipFill>
          <a:blip r:embed="rId3"/>
          <a:stretch>
            <a:fillRect/>
          </a:stretch>
        </p:blipFill>
        <p:spPr>
          <a:xfrm>
            <a:off x="548640" y="1261872"/>
            <a:ext cx="7665415" cy="1771970"/>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SCR-CL-06</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Collection Handler: Opens the row menu of cycle 1 and clicks Generate SOA, then the Statements of Account tab</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Billed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Message: &lt;SOA&gt; generated; the statement of cycle 1 To Send</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3: Collection Handler on Statement of Account</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WT-D step 3 of 4: Statement of Account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102.png"/>
          <p:cNvPicPr>
            <a:picLocks noChangeAspect="1"/>
          </p:cNvPicPr>
          <p:nvPr/>
        </p:nvPicPr>
        <p:blipFill>
          <a:blip r:embed="rId3"/>
          <a:stretch>
            <a:fillRect/>
          </a:stretch>
        </p:blipFill>
        <p:spPr>
          <a:xfrm>
            <a:off x="548640" y="1261872"/>
            <a:ext cx="7665415" cy="4620361"/>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SCR-CL-10 (part 1 of 2)</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Collection Handler: Opens the statement and clicks Send via Email</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Ready to send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e-mail with the client's address, the proposed subject and message and the protected attachment</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4: Collection Handler on Statement of Account</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WT-D step 3 of 4: Statement of Account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103.png"/>
          <p:cNvPicPr>
            <a:picLocks noChangeAspect="1"/>
          </p:cNvPicPr>
          <p:nvPr/>
        </p:nvPicPr>
        <p:blipFill>
          <a:blip r:embed="rId3"/>
          <a:stretch>
            <a:fillRect/>
          </a:stretch>
        </p:blipFill>
        <p:spPr>
          <a:xfrm>
            <a:off x="548640" y="1261872"/>
            <a:ext cx="7665415" cy="2135597"/>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SCR-CL-10 (part 2 of 2)</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WT-D step 4 of 4: Statement of Account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129</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d-04.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SCR-CL-10</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Collection Handler: Clicks Send</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Sent</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Message: &lt;SOA&gt; sent to &lt;address&gt;; the statement is Sent and E-mails Sent lists the e-mail</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End of the flow</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WT-E Controls and the messages the user sees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130</a:t>
            </a:r>
          </a:p>
        </p:txBody>
      </p:sp>
      <p:graphicFrame>
        <p:nvGraphicFramePr>
          <p:cNvPr id="9" name="Table 8"/>
          <p:cNvGraphicFramePr>
            <a:graphicFrameLocks noGrp="1"/>
          </p:cNvGraphicFramePr>
          <p:nvPr/>
        </p:nvGraphicFramePr>
        <p:xfrm>
          <a:off x="548640" y="1307592"/>
          <a:ext cx="11094415" cy="1828793"/>
        </p:xfrm>
        <a:graphic>
          <a:graphicData uri="http://schemas.openxmlformats.org/drawingml/2006/table">
            <a:tbl>
              <a:tblPr bandRow="1">
                <a:tableStyleId>{5C22544A-7EE6-4342-B048-85BDC9FD1C3A}</a:tableStyleId>
              </a:tblPr>
              <a:tblGrid>
                <a:gridCol w="2011680"/>
                <a:gridCol w="9082735"/>
              </a:tblGrid>
              <a:tr h="274319">
                <a:tc>
                  <a:txBody>
                    <a:bodyPr/>
                    <a:lstStyle/>
                    <a:p>
                      <a:r>
                        <a:rPr sz="1200" b="1">
                          <a:solidFill>
                            <a:srgbClr val="004EA8"/>
                          </a:solidFill>
                          <a:latin typeface="Arial"/>
                        </a:rPr>
                        <a:t>Flow</a:t>
                      </a:r>
                    </a:p>
                  </a:txBody>
                  <a:tcPr marL="54864" marR="54864" marT="27432" marB="27432">
                    <a:solidFill>
                      <a:srgbClr val="E5F5FF"/>
                    </a:solidFill>
                  </a:tcPr>
                </a:tc>
                <a:tc>
                  <a:txBody>
                    <a:bodyPr/>
                    <a:lstStyle/>
                    <a:p>
                      <a:r>
                        <a:rPr sz="1200" b="0">
                          <a:solidFill>
                            <a:srgbClr val="4B4B4B"/>
                          </a:solidFill>
                          <a:latin typeface="Arial"/>
                        </a:rPr>
                        <a:t>WT-E Controls and the messages the user sees</a:t>
                      </a:r>
                    </a:p>
                  </a:txBody>
                  <a:tcPr marL="54864" marR="54864" marT="27432" marB="27432">
                    <a:solidFill>
                      <a:srgbClr val="FFFFFF"/>
                    </a:solidFill>
                  </a:tcPr>
                </a:tc>
              </a:tr>
              <a:tr h="457198">
                <a:tc>
                  <a:txBody>
                    <a:bodyPr/>
                    <a:lstStyle/>
                    <a:p>
                      <a:r>
                        <a:rPr sz="1200" b="1">
                          <a:solidFill>
                            <a:srgbClr val="004EA8"/>
                          </a:solidFill>
                          <a:latin typeface="Arial"/>
                        </a:rPr>
                        <a:t>Summary</a:t>
                      </a:r>
                    </a:p>
                  </a:txBody>
                  <a:tcPr marL="54864" marR="54864" marT="27432" marB="27432">
                    <a:solidFill>
                      <a:srgbClr val="E5F5FF"/>
                    </a:solidFill>
                  </a:tcPr>
                </a:tc>
                <a:tc>
                  <a:txBody>
                    <a:bodyPr/>
                    <a:lstStyle/>
                    <a:p>
                      <a:r>
                        <a:rPr sz="1200" b="0">
                          <a:solidFill>
                            <a:srgbClr val="4B4B4B"/>
                          </a:solidFill>
                          <a:latin typeface="Arial"/>
                        </a:rPr>
                        <a:t>Four controls of Collections, each with the message the user sees: a disposition reserved to other roles, an account another user is working on, a promise above the outstanding, and an invoice number in the wrong format.</a:t>
                      </a:r>
                    </a:p>
                  </a:txBody>
                  <a:tcPr marL="54864" marR="54864" marT="27432" marB="27432">
                    <a:solidFill>
                      <a:srgbClr val="FFFFFF"/>
                    </a:solidFill>
                  </a:tcPr>
                </a:tc>
              </a:tr>
              <a:tr h="274319">
                <a:tc>
                  <a:txBody>
                    <a:bodyPr/>
                    <a:lstStyle/>
                    <a:p>
                      <a:r>
                        <a:rPr sz="1200" b="1">
                          <a:solidFill>
                            <a:srgbClr val="004EA8"/>
                          </a:solidFill>
                          <a:latin typeface="Arial"/>
                        </a:rPr>
                        <a:t>Seed data</a:t>
                      </a:r>
                    </a:p>
                  </a:txBody>
                  <a:tcPr marL="54864" marR="54864" marT="27432" marB="27432">
                    <a:solidFill>
                      <a:srgbClr val="E5F5FF"/>
                    </a:solidFill>
                  </a:tcPr>
                </a:tc>
                <a:tc>
                  <a:txBody>
                    <a:bodyPr/>
                    <a:lstStyle/>
                    <a:p>
                      <a:r>
                        <a:rPr sz="1200" b="0">
                          <a:solidFill>
                            <a:srgbClr val="4B4B4B"/>
                          </a:solidFill>
                          <a:latin typeface="Arial"/>
                        </a:rPr>
                        <a:t>Seed data: the open accounts of the seed data; the account of walkthrough A held by the Collection Handler</a:t>
                      </a:r>
                    </a:p>
                  </a:txBody>
                  <a:tcPr marL="54864" marR="54864" marT="27432" marB="27432">
                    <a:solidFill>
                      <a:srgbClr val="FFFFFF"/>
                    </a:solidFill>
                  </a:tcPr>
                </a:tc>
              </a:tr>
              <a:tr h="274319">
                <a:tc>
                  <a:txBody>
                    <a:bodyPr/>
                    <a:lstStyle/>
                    <a:p>
                      <a:r>
                        <a:rPr sz="1200" b="1">
                          <a:solidFill>
                            <a:srgbClr val="004EA8"/>
                          </a:solidFill>
                          <a:latin typeface="Arial"/>
                        </a:rPr>
                        <a:t>Personas</a:t>
                      </a:r>
                    </a:p>
                  </a:txBody>
                  <a:tcPr marL="54864" marR="54864" marT="27432" marB="27432">
                    <a:solidFill>
                      <a:srgbClr val="E5F5FF"/>
                    </a:solidFill>
                  </a:tcPr>
                </a:tc>
                <a:tc>
                  <a:txBody>
                    <a:bodyPr/>
                    <a:lstStyle/>
                    <a:p>
                      <a:r>
                        <a:rPr sz="1200" b="0">
                          <a:solidFill>
                            <a:srgbClr val="4B4B4B"/>
                          </a:solidFill>
                          <a:latin typeface="Arial"/>
                        </a:rPr>
                        <a:t>Marketing Account Officer, Collection Team Lead, Collection Handler, Unapplied Payment Handler</a:t>
                      </a:r>
                    </a:p>
                  </a:txBody>
                  <a:tcPr marL="54864" marR="54864" marT="27432" marB="27432">
                    <a:solidFill>
                      <a:srgbClr val="FFFFFF"/>
                    </a:solidFill>
                  </a:tcPr>
                </a:tc>
              </a:tr>
              <a:tr h="274319">
                <a:tc>
                  <a:txBody>
                    <a:bodyPr/>
                    <a:lstStyle/>
                    <a:p>
                      <a:r>
                        <a:rPr sz="1200" b="1">
                          <a:solidFill>
                            <a:srgbClr val="004EA8"/>
                          </a:solidFill>
                          <a:latin typeface="Arial"/>
                        </a:rPr>
                        <a:t>Steps</a:t>
                      </a:r>
                    </a:p>
                  </a:txBody>
                  <a:tcPr marL="54864" marR="54864" marT="27432" marB="27432">
                    <a:solidFill>
                      <a:srgbClr val="E5F5FF"/>
                    </a:solidFill>
                  </a:tcPr>
                </a:tc>
                <a:tc>
                  <a:txBody>
                    <a:bodyPr/>
                    <a:lstStyle/>
                    <a:p>
                      <a:r>
                        <a:rPr sz="1200" b="0">
                          <a:solidFill>
                            <a:srgbClr val="4B4B4B"/>
                          </a:solidFill>
                          <a:latin typeface="Arial"/>
                        </a:rPr>
                        <a:t>4 steps, 3 hand-offs, 0 approval steps</a:t>
                      </a:r>
                    </a:p>
                  </a:txBody>
                  <a:tcPr marL="54864" marR="54864" marT="27432" marB="27432">
                    <a:solidFill>
                      <a:srgbClr val="FFFFFF"/>
                    </a:solidFill>
                  </a:tcPr>
                </a:tc>
              </a:tr>
              <a:tr h="274319">
                <a:tc>
                  <a:txBody>
                    <a:bodyPr/>
                    <a:lstStyle/>
                    <a:p>
                      <a:r>
                        <a:rPr sz="1200" b="1">
                          <a:solidFill>
                            <a:srgbClr val="004EA8"/>
                          </a:solidFill>
                          <a:latin typeface="Arial"/>
                        </a:rPr>
                        <a:t>FRS section</a:t>
                      </a:r>
                    </a:p>
                  </a:txBody>
                  <a:tcPr marL="54864" marR="54864" marT="27432" marB="27432">
                    <a:solidFill>
                      <a:srgbClr val="E5F5FF"/>
                    </a:solidFill>
                  </a:tcPr>
                </a:tc>
                <a:tc>
                  <a:txBody>
                    <a:bodyPr/>
                    <a:lstStyle/>
                    <a:p>
                      <a:r>
                        <a:rPr sz="1200" b="0">
                          <a:solidFill>
                            <a:srgbClr val="4B4B4B"/>
                          </a:solidFill>
                          <a:latin typeface="Arial"/>
                        </a:rPr>
                        <a:t>14.5</a:t>
                      </a:r>
                    </a:p>
                  </a:txBody>
                  <a:tcPr marL="54864" marR="54864" marT="27432" marB="27432">
                    <a:solidFill>
                      <a:srgbClr val="FFFFFF"/>
                    </a:solidFill>
                  </a:tcPr>
                </a:tc>
              </a:tr>
            </a:tbl>
          </a:graphicData>
        </a:graphic>
      </p:graphicFrame>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WT-E swimlane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131</a:t>
            </a:r>
          </a:p>
        </p:txBody>
      </p:sp>
      <p:sp>
        <p:nvSpPr>
          <p:cNvPr id="9" name="Rectangle 8"/>
          <p:cNvSpPr/>
          <p:nvPr/>
        </p:nvSpPr>
        <p:spPr>
          <a:xfrm>
            <a:off x="548640" y="130759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307592"/>
            <a:ext cx="1691640" cy="832104"/>
          </a:xfrm>
          <a:prstGeom prst="rect">
            <a:avLst/>
          </a:prstGeom>
          <a:noFill/>
        </p:spPr>
        <p:txBody>
          <a:bodyPr wrap="square" anchor="ctr" lIns="45720" rIns="45720">
            <a:spAutoFit/>
          </a:bodyPr>
          <a:lstStyle/>
          <a:p>
            <a:r>
              <a:rPr sz="1000" b="1" i="0">
                <a:solidFill>
                  <a:srgbClr val="FFFFFF"/>
                </a:solidFill>
                <a:latin typeface="Arial"/>
              </a:rPr>
              <a:t>Marketing Account Officer</a:t>
            </a:r>
          </a:p>
        </p:txBody>
      </p:sp>
      <p:sp>
        <p:nvSpPr>
          <p:cNvPr id="11" name="Rectangle 10"/>
          <p:cNvSpPr/>
          <p:nvPr/>
        </p:nvSpPr>
        <p:spPr>
          <a:xfrm>
            <a:off x="2331720" y="130759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17627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176272"/>
            <a:ext cx="1691640" cy="832104"/>
          </a:xfrm>
          <a:prstGeom prst="rect">
            <a:avLst/>
          </a:prstGeom>
          <a:noFill/>
        </p:spPr>
        <p:txBody>
          <a:bodyPr wrap="square" anchor="ctr" lIns="45720" rIns="45720">
            <a:spAutoFit/>
          </a:bodyPr>
          <a:lstStyle/>
          <a:p>
            <a:r>
              <a:rPr sz="1000" b="1" i="0">
                <a:solidFill>
                  <a:srgbClr val="FFFFFF"/>
                </a:solidFill>
                <a:latin typeface="Arial"/>
              </a:rPr>
              <a:t>Collection Team Lead</a:t>
            </a:r>
          </a:p>
        </p:txBody>
      </p:sp>
      <p:sp>
        <p:nvSpPr>
          <p:cNvPr id="14" name="Rectangle 13"/>
          <p:cNvSpPr/>
          <p:nvPr/>
        </p:nvSpPr>
        <p:spPr>
          <a:xfrm>
            <a:off x="2331720" y="2176272"/>
            <a:ext cx="9311335" cy="83210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04495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3044952"/>
            <a:ext cx="1691640" cy="832104"/>
          </a:xfrm>
          <a:prstGeom prst="rect">
            <a:avLst/>
          </a:prstGeom>
          <a:noFill/>
        </p:spPr>
        <p:txBody>
          <a:bodyPr wrap="square" anchor="ctr" lIns="45720" rIns="45720">
            <a:spAutoFit/>
          </a:bodyPr>
          <a:lstStyle/>
          <a:p>
            <a:r>
              <a:rPr sz="1000" b="1" i="0">
                <a:solidFill>
                  <a:srgbClr val="FFFFFF"/>
                </a:solidFill>
                <a:latin typeface="Arial"/>
              </a:rPr>
              <a:t>Collection Handler</a:t>
            </a:r>
          </a:p>
        </p:txBody>
      </p:sp>
      <p:sp>
        <p:nvSpPr>
          <p:cNvPr id="17" name="Rectangle 16"/>
          <p:cNvSpPr/>
          <p:nvPr/>
        </p:nvSpPr>
        <p:spPr>
          <a:xfrm>
            <a:off x="2331720" y="304495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91363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3913632"/>
            <a:ext cx="1691640" cy="832104"/>
          </a:xfrm>
          <a:prstGeom prst="rect">
            <a:avLst/>
          </a:prstGeom>
          <a:noFill/>
        </p:spPr>
        <p:txBody>
          <a:bodyPr wrap="square" anchor="ctr" lIns="45720" rIns="45720">
            <a:spAutoFit/>
          </a:bodyPr>
          <a:lstStyle/>
          <a:p>
            <a:r>
              <a:rPr sz="1000" b="1" i="0">
                <a:solidFill>
                  <a:srgbClr val="FFFFFF"/>
                </a:solidFill>
                <a:latin typeface="Arial"/>
              </a:rPr>
              <a:t>Unapplied Payment Handler</a:t>
            </a:r>
          </a:p>
        </p:txBody>
      </p:sp>
      <p:sp>
        <p:nvSpPr>
          <p:cNvPr id="20" name="Rectangle 19"/>
          <p:cNvSpPr/>
          <p:nvPr/>
        </p:nvSpPr>
        <p:spPr>
          <a:xfrm>
            <a:off x="2331720" y="3913632"/>
            <a:ext cx="9311335" cy="83210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2432304" y="1399032"/>
            <a:ext cx="2126665"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 </a:t>
            </a:r>
            <a:r>
              <a:rPr sz="800">
                <a:solidFill>
                  <a:srgbClr val="2E2E2E"/>
                </a:solidFill>
                <a:latin typeface="Arial"/>
              </a:rPr>
              <a:t>Collection Account</a:t>
            </a:r>
          </a:p>
        </p:txBody>
      </p:sp>
      <p:sp>
        <p:nvSpPr>
          <p:cNvPr id="22" name="Rounded Rectangle 21"/>
          <p:cNvSpPr/>
          <p:nvPr/>
        </p:nvSpPr>
        <p:spPr>
          <a:xfrm>
            <a:off x="4760137" y="2267712"/>
            <a:ext cx="2126665"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2. </a:t>
            </a:r>
            <a:r>
              <a:rPr sz="800">
                <a:solidFill>
                  <a:srgbClr val="2E2E2E"/>
                </a:solidFill>
                <a:latin typeface="Arial"/>
              </a:rPr>
              <a:t>Collection Account</a:t>
            </a:r>
          </a:p>
        </p:txBody>
      </p:sp>
      <p:sp>
        <p:nvSpPr>
          <p:cNvPr id="23" name="Rounded Rectangle 22"/>
          <p:cNvSpPr/>
          <p:nvPr/>
        </p:nvSpPr>
        <p:spPr>
          <a:xfrm>
            <a:off x="7087970" y="3136392"/>
            <a:ext cx="2126665"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3. </a:t>
            </a:r>
            <a:r>
              <a:rPr sz="800">
                <a:solidFill>
                  <a:srgbClr val="2E2E2E"/>
                </a:solidFill>
                <a:latin typeface="Arial"/>
              </a:rPr>
              <a:t>Promises to Pay</a:t>
            </a:r>
          </a:p>
        </p:txBody>
      </p:sp>
      <p:sp>
        <p:nvSpPr>
          <p:cNvPr id="24" name="Rounded Rectangle 23"/>
          <p:cNvSpPr/>
          <p:nvPr/>
        </p:nvSpPr>
        <p:spPr>
          <a:xfrm>
            <a:off x="9415803" y="4005072"/>
            <a:ext cx="2126665"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4. </a:t>
            </a:r>
            <a:r>
              <a:rPr sz="800">
                <a:solidFill>
                  <a:srgbClr val="2E2E2E"/>
                </a:solidFill>
                <a:latin typeface="Arial"/>
              </a:rPr>
              <a:t>Unapplied Payments</a:t>
            </a:r>
          </a:p>
        </p:txBody>
      </p:sp>
      <p:cxnSp>
        <p:nvCxnSpPr>
          <p:cNvPr id="25" name="Connector 24"/>
          <p:cNvCxnSpPr/>
          <p:nvPr/>
        </p:nvCxnSpPr>
        <p:spPr>
          <a:xfrm>
            <a:off x="4558969" y="174193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6886802" y="261061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9214635" y="347929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48640" y="6016752"/>
            <a:ext cx="11094415" cy="274320"/>
          </a:xfrm>
          <a:prstGeom prst="rect">
            <a:avLst/>
          </a:prstGeom>
          <a:noFill/>
        </p:spPr>
        <p:txBody>
          <a:bodyPr wrap="square" anchor="t" lIns="45720" rIns="45720">
            <a:spAutoFit/>
          </a:bodyPr>
          <a:lstStyle/>
          <a:p>
            <a:r>
              <a:rPr sz="900" b="0" i="1">
                <a:solidFill>
                  <a:srgbClr val="656565"/>
                </a:solidFill>
                <a:latin typeface="Arial"/>
              </a:rPr>
              <a:t>Boxes: step number and screen. Blue arrow: hand-off to another persona. Yellow outline: an approval, authorisation, sign-off or validation step.</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WT-E step 1 of 4: Collection Account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132</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wt-e-01.png"/>
          <p:cNvPicPr>
            <a:picLocks noChangeAspect="1"/>
          </p:cNvPicPr>
          <p:nvPr/>
        </p:nvPicPr>
        <p:blipFill>
          <a:blip r:embed="rId3"/>
          <a:stretch>
            <a:fillRect/>
          </a:stretch>
        </p:blipFill>
        <p:spPr>
          <a:xfrm>
            <a:off x="649008" y="1261872"/>
            <a:ext cx="7464679"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SCR-CL-03</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Marketing Account Officer: The account officer records the disposition No / missing policy number on an account</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Refused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refusal: the disposition is reserved to other roles</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2: Collection Team Lead on Collection Account</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WT-E step 2 of 4: Collection Account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133</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wt-e-02.png"/>
          <p:cNvPicPr>
            <a:picLocks noChangeAspect="1"/>
          </p:cNvPicPr>
          <p:nvPr/>
        </p:nvPicPr>
        <p:blipFill>
          <a:blip r:embed="rId3"/>
          <a:stretch>
            <a:fillRect/>
          </a:stretch>
        </p:blipFill>
        <p:spPr>
          <a:xfrm>
            <a:off x="1563683" y="1261872"/>
            <a:ext cx="5635329"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SCR-CL-03</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Collection Team Lead: Opens the account the Collection Handler is working on</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Read only</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&lt;name&gt; is editing since &lt;time&gt;; Update Remarks, Log Effort and Record Disposition are not offered</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3: Collection Handler on Promises to Pay</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WT-E step 3 of 4: Promises to Pay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134</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wt-e-03.png"/>
          <p:cNvPicPr>
            <a:picLocks noChangeAspect="1"/>
          </p:cNvPicPr>
          <p:nvPr/>
        </p:nvPicPr>
        <p:blipFill>
          <a:blip r:embed="rId3"/>
          <a:stretch>
            <a:fillRect/>
          </a:stretch>
        </p:blipFill>
        <p:spPr>
          <a:xfrm>
            <a:off x="1389316" y="1261872"/>
            <a:ext cx="5984063"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SCR-CL-08</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Collection Handler: Records a promise of an amount above the outstanding of the account</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Refused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Promises Recorded with the outcome of the invoice: the promised amount is above the outstanding</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4: Unapplied Payment Handler on Unapplied Payments</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WT-E step 4 of 4: Unapplied Payments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135</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wt-e-04.png"/>
          <p:cNvPicPr>
            <a:picLocks noChangeAspect="1"/>
          </p:cNvPicPr>
          <p:nvPr/>
        </p:nvPicPr>
        <p:blipFill>
          <a:blip r:embed="rId3"/>
          <a:stretch>
            <a:fillRect/>
          </a:stretch>
        </p:blipFill>
        <p:spPr>
          <a:xfrm>
            <a:off x="973312" y="1261872"/>
            <a:ext cx="6816071"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SCR-CL-14</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Unapplied Payment Handler: Requests the application of a payment to an invoice number in the wrong format</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Refused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Under the field: The invoice number does not have the expected format</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End of the flow</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Screen catalogue</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Every screen with its numbered callouts, fields, actions and every state</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BRD-4 Collections</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SCR-CL-01 Collections Home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137</a:t>
            </a:r>
          </a:p>
        </p:txBody>
      </p:sp>
      <p:graphicFrame>
        <p:nvGraphicFramePr>
          <p:cNvPr id="9" name="Table 8"/>
          <p:cNvGraphicFramePr>
            <a:graphicFrameLocks noGrp="1"/>
          </p:cNvGraphicFramePr>
          <p:nvPr/>
        </p:nvGraphicFramePr>
        <p:xfrm>
          <a:off x="548640" y="1307592"/>
          <a:ext cx="6434760" cy="29565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Home, PR worklist and collection account</a:t>
                      </a:r>
                    </a:p>
                  </a:txBody>
                  <a:tcPr marL="54864" marR="54864" marT="27432" marB="27432">
                    <a:solidFill>
                      <a:srgbClr val="FFFFFF"/>
                    </a:solidFill>
                  </a:tcPr>
                </a:tc>
              </a:tr>
              <a:tr h="81534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landing page of Collections: the collector's work queues counted live (own open accounts, all open accounts, unassigned accounts, direct payments returned by insurers, credit balances, files ready this week, unapplied payments awaiting a disposition, own requests in Cashiering), each opening its list, and the open amounts per aging bracket for all market segments or one.</a:t>
                      </a:r>
                    </a:p>
                  </a:txBody>
                  <a:tcPr marL="54864" marR="54864" marT="27432" marB="27432">
                    <a:solidFill>
                      <a:srgbClr val="FFFFFF"/>
                    </a:solidFill>
                  </a:tcPr>
                </a:tc>
              </a:tr>
              <a:tr h="81534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Team Lead, Marketing Handler, Collection Handler, Collection Team Lead, Section Head (Corporate / Retail), Unapplied Payment Handler, Processing Unit, Cashier (read access and exports), Disbursement (read access and exports), Comptrollership (read access), Business Administrator, System Administrator, Auditor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Collections › Collections Home</a:t>
                      </a:r>
                    </a:p>
                    <a:p>
                      <a:r>
                        <a:rPr sz="950" b="0">
                          <a:solidFill>
                            <a:srgbClr val="4B4B4B"/>
                          </a:solidFill>
                          <a:latin typeface="Arial"/>
                        </a:rPr>
                        <a:t>Finance › Collections › Collections Home</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13.1.1</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FR-CL-085</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collector sees the work waiting and opens it.</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SCR-CL-01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138</a:t>
            </a:r>
          </a:p>
        </p:txBody>
      </p:sp>
      <p:graphicFrame>
        <p:nvGraphicFramePr>
          <p:cNvPr id="9" name="Table 8"/>
          <p:cNvGraphicFramePr>
            <a:graphicFrameLocks noGrp="1"/>
          </p:cNvGraphicFramePr>
          <p:nvPr/>
        </p:nvGraphicFramePr>
        <p:xfrm>
          <a:off x="548640" y="1325880"/>
          <a:ext cx="11094411" cy="1920228"/>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868674">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Work tiles</a:t>
                      </a:r>
                    </a:p>
                  </a:txBody>
                  <a:tcPr marL="54864" marR="54864" marT="27432" marB="27432">
                    <a:solidFill>
                      <a:srgbClr val="FFFFFF"/>
                    </a:solidFill>
                  </a:tcPr>
                </a:tc>
                <a:tc>
                  <a:txBody>
                    <a:bodyPr/>
                    <a:lstStyle/>
                    <a:p>
                      <a:r>
                        <a:rPr sz="850" b="0">
                          <a:solidFill>
                            <a:srgbClr val="4B4B4B"/>
                          </a:solidFill>
                          <a:latin typeface="Arial"/>
                        </a:rPr>
                        <a:t>My Open Accounts, All Open Accounts, Unassigned Accounts, DP Returned by Insurer, Credit Balances, Files Ready This Week, Unapplied Awaiting Disposition, My Requests in Cashiering</a:t>
                      </a:r>
                    </a:p>
                  </a:txBody>
                  <a:tcPr marL="54864" marR="54864" marT="27432" marB="27432">
                    <a:solidFill>
                      <a:srgbClr val="FFFFFF"/>
                    </a:solidFill>
                  </a:tcPr>
                </a:tc>
                <a:tc>
                  <a:txBody>
                    <a:bodyPr/>
                    <a:lstStyle/>
                    <a:p>
                      <a:r>
                        <a:rPr sz="850" b="0">
                          <a:solidFill>
                            <a:srgbClr val="4B4B4B"/>
                          </a:solidFill>
                          <a:latin typeface="Arial"/>
                        </a:rPr>
                        <a:t>Tile</a:t>
                      </a:r>
                    </a:p>
                  </a:txBody>
                  <a:tcPr marL="54864" marR="54864" marT="27432" marB="27432">
                    <a:solidFill>
                      <a:srgbClr val="FFFFFF"/>
                    </a:solidFill>
                  </a:tcPr>
                </a:tc>
                <a:tc>
                  <a:txBody>
                    <a:bodyPr/>
                    <a:lstStyle/>
                    <a:p>
                      <a:r>
                        <a:rPr sz="850" b="0">
                          <a:solidFill>
                            <a:srgbClr val="4B4B4B"/>
                          </a:solidFill>
                          <a:latin typeface="Arial"/>
                        </a:rPr>
                        <a:t>Live count; Needs attention on the queues waiting for action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 tile opens its list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Open Accounts by Aging Bracket</a:t>
                      </a:r>
                    </a:p>
                  </a:txBody>
                  <a:tcPr marL="54864" marR="54864" marT="27432" marB="27432">
                    <a:solidFill>
                      <a:srgbClr val="E5F5FF"/>
                    </a:solidFill>
                  </a:tcPr>
                </a:tc>
                <a:tc>
                  <a:txBody>
                    <a:bodyPr/>
                    <a:lstStyle/>
                    <a:p>
                      <a:r>
                        <a:rPr sz="850" b="0">
                          <a:solidFill>
                            <a:srgbClr val="4B4B4B"/>
                          </a:solidFill>
                          <a:latin typeface="Arial"/>
                        </a:rPr>
                        <a:t>Market segment</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All segments or one segment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Open Accounts by Aging Bracket</a:t>
                      </a:r>
                    </a:p>
                  </a:txBody>
                  <a:tcPr marL="54864" marR="54864" marT="27432" marB="27432">
                    <a:solidFill>
                      <a:srgbClr val="FFFFFF"/>
                    </a:solidFill>
                  </a:tcPr>
                </a:tc>
                <a:tc>
                  <a:txBody>
                    <a:bodyPr/>
                    <a:lstStyle/>
                    <a:p>
                      <a:r>
                        <a:rPr sz="850" b="0">
                          <a:solidFill>
                            <a:srgbClr val="4B4B4B"/>
                          </a:solidFill>
                          <a:latin typeface="Arial"/>
                        </a:rPr>
                        <a:t>Aging bracket bar</a:t>
                      </a:r>
                    </a:p>
                  </a:txBody>
                  <a:tcPr marL="54864" marR="54864" marT="27432" marB="27432">
                    <a:solidFill>
                      <a:srgbClr val="FFFFFF"/>
                    </a:solidFill>
                  </a:tcPr>
                </a:tc>
                <a:tc>
                  <a:txBody>
                    <a:bodyPr/>
                    <a:lstStyle/>
                    <a:p>
                      <a:r>
                        <a:rPr sz="850" b="0">
                          <a:solidFill>
                            <a:srgbClr val="4B4B4B"/>
                          </a:solidFill>
                          <a:latin typeface="Arial"/>
                        </a:rPr>
                        <a:t>Bar</a:t>
                      </a:r>
                    </a:p>
                  </a:txBody>
                  <a:tcPr marL="54864" marR="54864" marT="27432" marB="27432">
                    <a:solidFill>
                      <a:srgbClr val="FFFFFF"/>
                    </a:solidFill>
                  </a:tcPr>
                </a:tc>
                <a:tc>
                  <a:txBody>
                    <a:bodyPr/>
                    <a:lstStyle/>
                    <a:p>
                      <a:r>
                        <a:rPr sz="850" b="0">
                          <a:solidFill>
                            <a:srgbClr val="4B4B4B"/>
                          </a:solidFill>
                          <a:latin typeface="Arial"/>
                        </a:rPr>
                        <a:t>Bracket (0-30, 31-45, 46-60, 61-90, 91-120, 121+), open amount and number of accounts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Brackets of the aging brackets parameter</a:t>
                      </a:r>
                    </a:p>
                  </a:txBody>
                  <a:tcPr marL="54864" marR="54864" marT="27432" marB="27432">
                    <a:solidFill>
                      <a:srgbClr val="FFFFFF"/>
                    </a:solidFill>
                  </a:tcPr>
                </a:tc>
                <a:tc>
                  <a:txBody>
                    <a:bodyPr/>
                    <a:lstStyle/>
                    <a:p>
                      <a:r>
                        <a:rPr sz="850" b="0">
                          <a:solidFill>
                            <a:srgbClr val="4B4B4B"/>
                          </a:solidFill>
                          <a:latin typeface="Arial"/>
                        </a:rPr>
                        <a:t>No open accounts</a:t>
                      </a:r>
                    </a:p>
                  </a:txBody>
                  <a:tcPr marL="54864" marR="54864" marT="27432" marB="27432">
                    <a:solidFill>
                      <a:srgbClr val="FFFFFF"/>
                    </a:solidFill>
                  </a:tcPr>
                </a:tc>
              </a:tr>
            </a:tbl>
          </a:graphicData>
        </a:graphic>
      </p:graphicFrame>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SCR-CL-01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139</a:t>
            </a:r>
          </a:p>
        </p:txBody>
      </p:sp>
      <p:graphicFrame>
        <p:nvGraphicFramePr>
          <p:cNvPr id="9" name="Table 8"/>
          <p:cNvGraphicFramePr>
            <a:graphicFrameLocks noGrp="1"/>
          </p:cNvGraphicFramePr>
          <p:nvPr/>
        </p:nvGraphicFramePr>
        <p:xfrm>
          <a:off x="548640" y="1325880"/>
          <a:ext cx="11094412" cy="792476"/>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Open PR Worklist</a:t>
                      </a:r>
                    </a:p>
                  </a:txBody>
                  <a:tcPr marL="54864" marR="54864" marT="27432" marB="27432">
                    <a:solidFill>
                      <a:srgbClr val="FFFFFF"/>
                    </a:solidFill>
                  </a:tcPr>
                </a:tc>
                <a:tc>
                  <a:txBody>
                    <a:bodyPr/>
                    <a:lstStyle/>
                    <a:p>
                      <a:r>
                        <a:rPr sz="850" b="0">
                          <a:solidFill>
                            <a:srgbClr val="4B4B4B"/>
                          </a:solidFill>
                          <a:latin typeface="Arial"/>
                        </a:rPr>
                        <a:t>Every Collections user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PR Worklist on the Open Accounts 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A work tile</a:t>
                      </a:r>
                    </a:p>
                  </a:txBody>
                  <a:tcPr marL="54864" marR="54864" marT="27432" marB="27432">
                    <a:solidFill>
                      <a:srgbClr val="E5F5FF"/>
                    </a:solidFill>
                  </a:tcPr>
                </a:tc>
                <a:tc>
                  <a:txBody>
                    <a:bodyPr/>
                    <a:lstStyle/>
                    <a:p>
                      <a:r>
                        <a:rPr sz="850" b="0">
                          <a:solidFill>
                            <a:srgbClr val="4B4B4B"/>
                          </a:solidFill>
                          <a:latin typeface="Arial"/>
                        </a:rPr>
                        <a:t>Every Collections user</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the list of the queue (for example the worklist filtered on the user's accounts)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SCR-CL-01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140</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tiles are counted live from the collection accounts, the unapplied payments, the requests and the files of the company in the header (FR-CL-085).</a:t>
                      </a:r>
                    </a:p>
                  </a:txBody>
                  <a:tcPr marL="54864" marR="54864" marT="27432" marB="27432">
                    <a:solidFill>
                      <a:srgbClr val="FFFFFF"/>
                    </a:solidFill>
                  </a:tcPr>
                </a:tc>
              </a:tr>
              <a:tr h="243840">
                <a:tc>
                  <a:txBody>
                    <a:bodyPr/>
                    <a:lstStyle/>
                    <a:p>
                      <a:r>
                        <a:rPr sz="1000" b="0">
                          <a:solidFill>
                            <a:srgbClr val="4B4B4B"/>
                          </a:solidFill>
                          <a:latin typeface="Arial"/>
                        </a:rPr>
                        <a:t>The aging chart counts the open accounts and their net outstanding per bracket of the aging brackets parameter (FR-CL-085, FR-CL-011).</a:t>
                      </a:r>
                    </a:p>
                  </a:txBody>
                  <a:tcPr marL="54864" marR="54864" marT="27432" marB="27432">
                    <a:solidFill>
                      <a:srgbClr val="E5F5FF"/>
                    </a:solidFill>
                  </a:tcPr>
                </a:tc>
              </a:tr>
            </a:tbl>
          </a:graphicData>
        </a:graphic>
      </p:graphicFrame>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SCR-CL-01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141</a:t>
            </a:r>
          </a:p>
        </p:txBody>
      </p:sp>
      <p:graphicFrame>
        <p:nvGraphicFramePr>
          <p:cNvPr id="9" name="Table 8"/>
          <p:cNvGraphicFramePr>
            <a:graphicFrameLocks noGrp="1"/>
          </p:cNvGraphicFramePr>
          <p:nvPr/>
        </p:nvGraphicFramePr>
        <p:xfrm>
          <a:off x="548640" y="1325880"/>
          <a:ext cx="11094413" cy="45720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Default</a:t>
                      </a:r>
                    </a:p>
                  </a:txBody>
                  <a:tcPr marL="54864" marR="54864" marT="27432" marB="27432">
                    <a:solidFill>
                      <a:srgbClr val="FFFFFF"/>
                    </a:solidFill>
                  </a:tcPr>
                </a:tc>
                <a:tc>
                  <a:txBody>
                    <a:bodyPr/>
                    <a:lstStyle/>
                    <a:p>
                      <a:r>
                        <a:rPr sz="900" b="0">
                          <a:solidFill>
                            <a:srgbClr val="4B4B4B"/>
                          </a:solidFill>
                          <a:latin typeface="Arial"/>
                        </a:rPr>
                        <a:t>WT-A step 2</a:t>
                      </a:r>
                    </a:p>
                  </a:txBody>
                  <a:tcPr marL="54864" marR="54864" marT="27432" marB="27432">
                    <a:solidFill>
                      <a:srgbClr val="FFFFFF"/>
                    </a:solidFill>
                  </a:tcPr>
                </a:tc>
                <a:tc>
                  <a:txBody>
                    <a:bodyPr/>
                    <a:lstStyle/>
                    <a:p>
                      <a:r>
                        <a:rPr sz="900" b="0">
                          <a:solidFill>
                            <a:srgbClr val="4B4B4B"/>
                          </a:solidFill>
                          <a:latin typeface="Arial"/>
                        </a:rPr>
                        <a:t>Opens Collections Home</a:t>
                      </a:r>
                    </a:p>
                  </a:txBody>
                  <a:tcPr marL="54864" marR="54864" marT="27432" marB="27432">
                    <a:solidFill>
                      <a:srgbClr val="FFFFFF"/>
                    </a:solidFill>
                  </a:tcPr>
                </a:tc>
                <a:tc>
                  <a:txBody>
                    <a:bodyPr/>
                    <a:lstStyle/>
                    <a:p>
                      <a:r>
                        <a:rPr sz="900" b="0">
                          <a:solidFill>
                            <a:srgbClr val="4B4B4B"/>
                          </a:solidFill>
                          <a:latin typeface="Arial"/>
                        </a:rPr>
                        <a:t>SCR-CL-01_wt-a-step-02.png</a:t>
                      </a:r>
                    </a:p>
                  </a:txBody>
                  <a:tcPr marL="54864" marR="54864" marT="27432" marB="27432">
                    <a:solidFill>
                      <a:srgbClr val="FFFFFF"/>
                    </a:solidFill>
                  </a:tcPr>
                </a:tc>
              </a:tr>
            </a:tbl>
          </a:graphicData>
        </a:graphic>
      </p:graphicFrame>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SCR-CL-01 Collections Home: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cl-01-01-home.png"/>
          <p:cNvPicPr>
            <a:picLocks noChangeAspect="1"/>
          </p:cNvPicPr>
          <p:nvPr/>
        </p:nvPicPr>
        <p:blipFill>
          <a:blip r:embed="rId3"/>
          <a:stretch>
            <a:fillRect/>
          </a:stretch>
        </p:blipFill>
        <p:spPr>
          <a:xfrm>
            <a:off x="1055071" y="1261872"/>
            <a:ext cx="10081553"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Collections Home of the Collection Handler with the work tiles and the aging chart</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SCR-CL-02 PR Worklist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143</a:t>
            </a:r>
          </a:p>
        </p:txBody>
      </p:sp>
      <p:graphicFrame>
        <p:nvGraphicFramePr>
          <p:cNvPr id="9" name="Table 8"/>
          <p:cNvGraphicFramePr>
            <a:graphicFrameLocks noGrp="1"/>
          </p:cNvGraphicFramePr>
          <p:nvPr/>
        </p:nvGraphicFramePr>
        <p:xfrm>
          <a:off x="548640" y="1307592"/>
          <a:ext cx="6434760" cy="324612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Home, PR worklist and collection account</a:t>
                      </a:r>
                    </a:p>
                  </a:txBody>
                  <a:tcPr marL="54864" marR="54864" marT="27432" marB="27432">
                    <a:solidFill>
                      <a:srgbClr val="FFFFFF"/>
                    </a:solidFill>
                  </a:tcPr>
                </a:tc>
              </a:tr>
              <a:tr h="81534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One row per booked invoice with outstanding premium receivable above the threshold, refreshed nightly from the Operations invoice ledger: status tabs, search, the Filters panel, Only mine, and the actions on the selected accounts (log an effort, record a disposition, reassign). The totals under the list add up the filtered accounts by client or by account; Export to Files publishes the list on Collections Files.</a:t>
                      </a:r>
                    </a:p>
                  </a:txBody>
                  <a:tcPr marL="54864" marR="54864" marT="27432" marB="27432">
                    <a:solidFill>
                      <a:srgbClr val="FFFFFF"/>
                    </a:solidFill>
                  </a:tcPr>
                </a:tc>
              </a:tr>
              <a:tr h="81534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Team Lead, Marketing Handler, Collection Handler, Collection Team Lead, Section Head (Corporate / Retail), Unapplied Payment Handler, Processing Unit, Cashier (read access and exports), Disbursement (read access and exports), Comptrollership (read access), Business Administrator, System Administrator, Auditor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Collections › PR Worklist</a:t>
                      </a:r>
                    </a:p>
                    <a:p>
                      <a:r>
                        <a:rPr sz="950" b="0">
                          <a:solidFill>
                            <a:srgbClr val="4B4B4B"/>
                          </a:solidFill>
                          <a:latin typeface="Arial"/>
                        </a:rPr>
                        <a:t>Collections Home › Open PR Worklist or a work tile</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13.1.2</a:t>
                      </a:r>
                    </a:p>
                  </a:txBody>
                  <a:tcPr marL="54864" marR="54864" marT="27432" marB="27432">
                    <a:solidFill>
                      <a:srgbClr val="FFFFFF"/>
                    </a:solidFill>
                  </a:tcPr>
                </a:tc>
              </a:tr>
              <a:tr h="38100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FR-CL-010, FR-CL-011, FR-CL-013, FR-CL-014, FR-CL-015, FR-CL-017, FR-CL-021, FR-CL-031, FR-CL-033, FR-CL-034, FR-CL-084</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collector finds the accounts to follow up and records the work on one or many at once.</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(6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3 images</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SCR-CL-02 fields and columns (No. = callout on the first image)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144</a:t>
            </a:r>
          </a:p>
        </p:txBody>
      </p:sp>
      <p:graphicFrame>
        <p:nvGraphicFramePr>
          <p:cNvPr id="9" name="Table 8"/>
          <p:cNvGraphicFramePr>
            <a:graphicFrameLocks noGrp="1"/>
          </p:cNvGraphicFramePr>
          <p:nvPr/>
        </p:nvGraphicFramePr>
        <p:xfrm>
          <a:off x="548640" y="1325880"/>
          <a:ext cx="11094411" cy="4907252"/>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Open Accounts / Credit Balances / Completed Collections / Excluded / All</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Toolbar</a:t>
                      </a:r>
                    </a:p>
                  </a:txBody>
                  <a:tcPr marL="54864" marR="54864" marT="27432" marB="27432">
                    <a:solidFill>
                      <a:srgbClr val="E5F5FF"/>
                    </a:solidFill>
                  </a:tcPr>
                </a:tc>
                <a:tc>
                  <a:txBody>
                    <a:bodyPr/>
                    <a:lstStyle/>
                    <a:p>
                      <a:r>
                        <a:rPr sz="850" b="0">
                          <a:solidFill>
                            <a:srgbClr val="4B4B4B"/>
                          </a:solidFill>
                          <a:latin typeface="Arial"/>
                        </a:rPr>
                        <a:t>Search Invoice, ARN, Policy or Client</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Invoice, ARN, policy number or client code</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Contains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Toolbar</a:t>
                      </a:r>
                    </a:p>
                  </a:txBody>
                  <a:tcPr marL="54864" marR="54864" marT="27432" marB="27432">
                    <a:solidFill>
                      <a:srgbClr val="FFFFFF"/>
                    </a:solidFill>
                  </a:tcPr>
                </a:tc>
                <a:tc>
                  <a:txBody>
                    <a:bodyPr/>
                    <a:lstStyle/>
                    <a:p>
                      <a:r>
                        <a:rPr sz="850" b="0">
                          <a:solidFill>
                            <a:srgbClr val="4B4B4B"/>
                          </a:solidFill>
                          <a:latin typeface="Arial"/>
                        </a:rPr>
                        <a:t>Only mine</a:t>
                      </a:r>
                    </a:p>
                  </a:txBody>
                  <a:tcPr marL="54864" marR="54864" marT="27432" marB="27432">
                    <a:solidFill>
                      <a:srgbClr val="FFFFFF"/>
                    </a:solidFill>
                  </a:tcPr>
                </a:tc>
                <a:tc>
                  <a:txBody>
                    <a:bodyPr/>
                    <a:lstStyle/>
                    <a:p>
                      <a:r>
                        <a:rPr sz="850" b="0">
                          <a:solidFill>
                            <a:srgbClr val="4B4B4B"/>
                          </a:solidFill>
                          <a:latin typeface="Arial"/>
                        </a:rPr>
                        <a:t>Check box</a:t>
                      </a:r>
                    </a:p>
                  </a:txBody>
                  <a:tcPr marL="54864" marR="54864" marT="27432" marB="27432">
                    <a:solidFill>
                      <a:srgbClr val="FFFFFF"/>
                    </a:solidFill>
                  </a:tcPr>
                </a:tc>
                <a:tc>
                  <a:txBody>
                    <a:bodyPr/>
                    <a:lstStyle/>
                    <a:p>
                      <a:r>
                        <a:rPr sz="850" b="0">
                          <a:solidFill>
                            <a:srgbClr val="4B4B4B"/>
                          </a:solidFill>
                          <a:latin typeface="Arial"/>
                        </a:rPr>
                        <a:t>Accounts handled by the user</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Filters</a:t>
                      </a:r>
                    </a:p>
                  </a:txBody>
                  <a:tcPr marL="54864" marR="54864" marT="27432" marB="27432">
                    <a:solidFill>
                      <a:srgbClr val="E5F5FF"/>
                    </a:solidFill>
                  </a:tcPr>
                </a:tc>
                <a:tc>
                  <a:txBody>
                    <a:bodyPr/>
                    <a:lstStyle/>
                    <a:p>
                      <a:r>
                        <a:rPr sz="850" b="0">
                          <a:solidFill>
                            <a:srgbClr val="4B4B4B"/>
                          </a:solidFill>
                          <a:latin typeface="Arial"/>
                        </a:rPr>
                        <a:t>Market Segment / Sales Unit / Unit Head / Handler / Account Officer</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Code or user</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Equal</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Filters</a:t>
                      </a:r>
                    </a:p>
                  </a:txBody>
                  <a:tcPr marL="54864" marR="54864" marT="27432" marB="27432">
                    <a:solidFill>
                      <a:srgbClr val="FFFFFF"/>
                    </a:solidFill>
                  </a:tcPr>
                </a:tc>
                <a:tc>
                  <a:txBody>
                    <a:bodyPr/>
                    <a:lstStyle/>
                    <a:p>
                      <a:r>
                        <a:rPr sz="850" b="0">
                          <a:solidFill>
                            <a:srgbClr val="4B4B4B"/>
                          </a:solidFill>
                          <a:latin typeface="Arial"/>
                        </a:rPr>
                        <a:t>Aging Bracket / Category (A/B/C) / Disposition / Promise Status / Client Code</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Bracket label, A, B or C, disposition, promise status, client code</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Equal</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Filters</a:t>
                      </a:r>
                    </a:p>
                  </a:txBody>
                  <a:tcPr marL="54864" marR="54864" marT="27432" marB="27432">
                    <a:solidFill>
                      <a:srgbClr val="E5F5FF"/>
                    </a:solidFill>
                  </a:tcPr>
                </a:tc>
                <a:tc>
                  <a:txBody>
                    <a:bodyPr/>
                    <a:lstStyle/>
                    <a:p>
                      <a:r>
                        <a:rPr sz="850" b="0">
                          <a:solidFill>
                            <a:srgbClr val="4B4B4B"/>
                          </a:solidFill>
                          <a:latin typeface="Arial"/>
                        </a:rPr>
                        <a:t>Outstanding From / Outstanding To</a:t>
                      </a:r>
                    </a:p>
                  </a:txBody>
                  <a:tcPr marL="54864" marR="54864" marT="27432" marB="27432">
                    <a:solidFill>
                      <a:srgbClr val="E5F5FF"/>
                    </a:solidFill>
                  </a:tcPr>
                </a:tc>
                <a:tc>
                  <a:txBody>
                    <a:bodyPr/>
                    <a:lstStyle/>
                    <a:p>
                      <a:r>
                        <a:rPr sz="850" b="0">
                          <a:solidFill>
                            <a:srgbClr val="4B4B4B"/>
                          </a:solidFill>
                          <a:latin typeface="Arial"/>
                        </a:rPr>
                        <a:t>Number</a:t>
                      </a:r>
                    </a:p>
                  </a:txBody>
                  <a:tcPr marL="54864" marR="54864" marT="27432" marB="27432">
                    <a:solidFill>
                      <a:srgbClr val="E5F5FF"/>
                    </a:solidFill>
                  </a:tcPr>
                </a:tc>
                <a:tc>
                  <a:txBody>
                    <a:bodyPr/>
                    <a:lstStyle/>
                    <a:p>
                      <a:r>
                        <a:rPr sz="850" b="0">
                          <a:solidFill>
                            <a:srgbClr val="4B4B4B"/>
                          </a:solidFill>
                          <a:latin typeface="Arial"/>
                        </a:rPr>
                        <a:t>Amount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Range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Filters</a:t>
                      </a:r>
                    </a:p>
                  </a:txBody>
                  <a:tcPr marL="54864" marR="54864" marT="27432" marB="27432">
                    <a:solidFill>
                      <a:srgbClr val="FFFFFF"/>
                    </a:solidFill>
                  </a:tcPr>
                </a:tc>
                <a:tc>
                  <a:txBody>
                    <a:bodyPr/>
                    <a:lstStyle/>
                    <a:p>
                      <a:r>
                        <a:rPr sz="850" b="0">
                          <a:solidFill>
                            <a:srgbClr val="4B4B4B"/>
                          </a:solidFill>
                          <a:latin typeface="Arial"/>
                        </a:rPr>
                        <a:t>Unassigned only / Escalated only</a:t>
                      </a:r>
                    </a:p>
                  </a:txBody>
                  <a:tcPr marL="54864" marR="54864" marT="27432" marB="27432">
                    <a:solidFill>
                      <a:srgbClr val="FFFFFF"/>
                    </a:solidFill>
                  </a:tcPr>
                </a:tc>
                <a:tc>
                  <a:txBody>
                    <a:bodyPr/>
                    <a:lstStyle/>
                    <a:p>
                      <a:r>
                        <a:rPr sz="850" b="0">
                          <a:solidFill>
                            <a:srgbClr val="4B4B4B"/>
                          </a:solidFill>
                          <a:latin typeface="Arial"/>
                        </a:rPr>
                        <a:t>Check box</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Invoice No.</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Invoice number with a Legacy tag for a migrated invoice; policy number or ARN under it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 accounts match the filters</a:t>
                      </a:r>
                    </a:p>
                  </a:txBody>
                  <a:tcPr marL="54864" marR="54864" marT="27432" marB="27432">
                    <a:solidFill>
                      <a:srgbClr val="E5F5FF"/>
                    </a:solidFill>
                  </a:tcPr>
                </a:tc>
              </a:tr>
              <a:tr h="350518">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Client / Assured</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Client code (opens the client view) with the name of the assured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Segment / Unit</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Market segment and sales unit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Booked / Aging</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Booking date; aging in days with its bracket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12</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Outstanding</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Currency and net outstanding premium receivable, two decimals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13</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Handler</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Name of the current handler, or Unassigned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SCR-CL-02 fields and columns (No. = callout on the first image)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145</a:t>
            </a:r>
          </a:p>
        </p:txBody>
      </p:sp>
      <p:graphicFrame>
        <p:nvGraphicFramePr>
          <p:cNvPr id="9" name="Table 8"/>
          <p:cNvGraphicFramePr>
            <a:graphicFrameLocks noGrp="1"/>
          </p:cNvGraphicFramePr>
          <p:nvPr/>
        </p:nvGraphicFramePr>
        <p:xfrm>
          <a:off x="548640" y="1325880"/>
          <a:ext cx="11094411" cy="4411953"/>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14</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Disposition</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Label of the current disposition as a tag, with its category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15</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Open, Credit, Completed or Excluded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16</a:t>
                      </a:r>
                    </a:p>
                  </a:txBody>
                  <a:tcPr marL="54864" marR="54864" marT="27432" marB="27432">
                    <a:solidFill>
                      <a:srgbClr val="FFFFFF"/>
                    </a:solidFill>
                  </a:tcPr>
                </a:tc>
                <a:tc>
                  <a:txBody>
                    <a:bodyPr/>
                    <a:lstStyle/>
                    <a:p>
                      <a:r>
                        <a:rPr sz="850" b="0">
                          <a:solidFill>
                            <a:srgbClr val="4B4B4B"/>
                          </a:solidFill>
                          <a:latin typeface="Arial"/>
                        </a:rPr>
                        <a:t>Totals</a:t>
                      </a:r>
                    </a:p>
                  </a:txBody>
                  <a:tcPr marL="54864" marR="54864" marT="27432" marB="27432">
                    <a:solidFill>
                      <a:srgbClr val="FFFFFF"/>
                    </a:solidFill>
                  </a:tcPr>
                </a:tc>
                <a:tc>
                  <a:txBody>
                    <a:bodyPr/>
                    <a:lstStyle/>
                    <a:p>
                      <a:r>
                        <a:rPr sz="850" b="0">
                          <a:solidFill>
                            <a:srgbClr val="4B4B4B"/>
                          </a:solidFill>
                          <a:latin typeface="Arial"/>
                        </a:rPr>
                        <a:t>By Client / By Account</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Totals by client or by ARN of the filtered accounts: Accounts and Outstanding</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609596">
                <a:tc>
                  <a:txBody>
                    <a:bodyPr/>
                    <a:lstStyle/>
                    <a:p>
                      <a:r>
                        <a:rPr sz="850" b="0">
                          <a:solidFill>
                            <a:srgbClr val="4B4B4B"/>
                          </a:solidFill>
                          <a:latin typeface="Arial"/>
                        </a:rPr>
                        <a:t>17</a:t>
                      </a:r>
                    </a:p>
                  </a:txBody>
                  <a:tcPr marL="54864" marR="54864" marT="27432" marB="27432">
                    <a:solidFill>
                      <a:srgbClr val="E5F5FF"/>
                    </a:solidFill>
                  </a:tcPr>
                </a:tc>
                <a:tc>
                  <a:txBody>
                    <a:bodyPr/>
                    <a:lstStyle/>
                    <a:p>
                      <a:r>
                        <a:rPr sz="850" b="0">
                          <a:solidFill>
                            <a:srgbClr val="4B4B4B"/>
                          </a:solidFill>
                          <a:latin typeface="Arial"/>
                        </a:rPr>
                        <a:t>Record Disposition dialog</a:t>
                      </a:r>
                    </a:p>
                  </a:txBody>
                  <a:tcPr marL="54864" marR="54864" marT="27432" marB="27432">
                    <a:solidFill>
                      <a:srgbClr val="E5F5FF"/>
                    </a:solidFill>
                  </a:tcPr>
                </a:tc>
                <a:tc>
                  <a:txBody>
                    <a:bodyPr/>
                    <a:lstStyle/>
                    <a:p>
                      <a:r>
                        <a:rPr sz="850" b="0">
                          <a:solidFill>
                            <a:srgbClr val="4B4B4B"/>
                          </a:solidFill>
                          <a:latin typeface="Arial"/>
                        </a:rPr>
                        <a:t>Disposition</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Active values of the PR collector disposition list; the category, who acts next and the reserved roles show under it</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Value allowed for the user's role</a:t>
                      </a:r>
                    </a:p>
                  </a:txBody>
                  <a:tcPr marL="54864" marR="54864" marT="27432" marB="27432">
                    <a:solidFill>
                      <a:srgbClr val="E5F5FF"/>
                    </a:solidFill>
                  </a:tcPr>
                </a:tc>
                <a:tc>
                  <a:txBody>
                    <a:bodyPr/>
                    <a:lstStyle/>
                    <a:p>
                      <a:r>
                        <a:rPr sz="850" b="0">
                          <a:solidFill>
                            <a:srgbClr val="4B4B4B"/>
                          </a:solidFill>
                          <a:latin typeface="Arial"/>
                        </a:rPr>
                        <a:t>Choose a disposition</a:t>
                      </a:r>
                    </a:p>
                  </a:txBody>
                  <a:tcPr marL="54864" marR="54864" marT="27432" marB="27432">
                    <a:solidFill>
                      <a:srgbClr val="E5F5FF"/>
                    </a:solidFill>
                  </a:tcPr>
                </a:tc>
              </a:tr>
              <a:tr h="480057">
                <a:tc>
                  <a:txBody>
                    <a:bodyPr/>
                    <a:lstStyle/>
                    <a:p>
                      <a:r>
                        <a:rPr sz="850" b="0">
                          <a:solidFill>
                            <a:srgbClr val="4B4B4B"/>
                          </a:solidFill>
                          <a:latin typeface="Arial"/>
                        </a:rPr>
                        <a:t>18</a:t>
                      </a:r>
                    </a:p>
                  </a:txBody>
                  <a:tcPr marL="54864" marR="54864" marT="27432" marB="27432">
                    <a:solidFill>
                      <a:srgbClr val="FFFFFF"/>
                    </a:solidFill>
                  </a:tcPr>
                </a:tc>
                <a:tc>
                  <a:txBody>
                    <a:bodyPr/>
                    <a:lstStyle/>
                    <a:p>
                      <a:r>
                        <a:rPr sz="850" b="0">
                          <a:solidFill>
                            <a:srgbClr val="4B4B4B"/>
                          </a:solidFill>
                          <a:latin typeface="Arial"/>
                        </a:rPr>
                        <a:t>Record Disposition dialog</a:t>
                      </a:r>
                    </a:p>
                  </a:txBody>
                  <a:tcPr marL="54864" marR="54864" marT="27432" marB="27432">
                    <a:solidFill>
                      <a:srgbClr val="FFFFFF"/>
                    </a:solidFill>
                  </a:tcPr>
                </a:tc>
                <a:tc>
                  <a:txBody>
                    <a:bodyPr/>
                    <a:lstStyle/>
                    <a:p>
                      <a:r>
                        <a:rPr sz="850" b="0">
                          <a:solidFill>
                            <a:srgbClr val="4B4B4B"/>
                          </a:solidFill>
                          <a:latin typeface="Arial"/>
                        </a:rPr>
                        <a:t>Pick-up Date / Pick-up Address / Contact Person / Check Amount / Check No. / Check Bank</a:t>
                      </a:r>
                    </a:p>
                  </a:txBody>
                  <a:tcPr marL="54864" marR="54864" marT="27432" marB="27432">
                    <a:solidFill>
                      <a:srgbClr val="FFFFFF"/>
                    </a:solidFill>
                  </a:tcPr>
                </a:tc>
                <a:tc>
                  <a:txBody>
                    <a:bodyPr/>
                    <a:lstStyle/>
                    <a:p>
                      <a:r>
                        <a:rPr sz="850" b="0">
                          <a:solidFill>
                            <a:srgbClr val="4B4B4B"/>
                          </a:solidFill>
                          <a:latin typeface="Arial"/>
                        </a:rPr>
                        <a:t>Date, text, number</a:t>
                      </a:r>
                    </a:p>
                  </a:txBody>
                  <a:tcPr marL="54864" marR="54864" marT="27432" marB="27432">
                    <a:solidFill>
                      <a:srgbClr val="FFFFFF"/>
                    </a:solidFill>
                  </a:tcPr>
                </a:tc>
                <a:tc>
                  <a:txBody>
                    <a:bodyPr/>
                    <a:lstStyle/>
                    <a:p>
                      <a:r>
                        <a:rPr sz="850" b="0">
                          <a:solidFill>
                            <a:srgbClr val="4B4B4B"/>
                          </a:solidFill>
                          <a:latin typeface="Arial"/>
                        </a:rPr>
                        <a:t>Shown for a disposition handed to the check pick-up</a:t>
                      </a:r>
                    </a:p>
                  </a:txBody>
                  <a:tcPr marL="54864" marR="54864" marT="27432" marB="27432">
                    <a:solidFill>
                      <a:srgbClr val="FFFFFF"/>
                    </a:solidFill>
                  </a:tcPr>
                </a:tc>
                <a:tc>
                  <a:txBody>
                    <a:bodyPr/>
                    <a:lstStyle/>
                    <a:p>
                      <a:r>
                        <a:rPr sz="850" b="0">
                          <a:solidFill>
                            <a:srgbClr val="4B4B4B"/>
                          </a:solidFill>
                          <a:latin typeface="Arial"/>
                        </a:rPr>
                        <a:t>Y / Y / N / Y / N / N</a:t>
                      </a:r>
                    </a:p>
                  </a:txBody>
                  <a:tcPr marL="54864" marR="54864" marT="27432" marB="27432">
                    <a:solidFill>
                      <a:srgbClr val="FFFFFF"/>
                    </a:solidFill>
                  </a:tcPr>
                </a:tc>
                <a:tc>
                  <a:txBody>
                    <a:bodyPr/>
                    <a:lstStyle/>
                    <a:p>
                      <a:r>
                        <a:rPr sz="850" b="0">
                          <a:solidFill>
                            <a:srgbClr val="4B4B4B"/>
                          </a:solidFill>
                          <a:latin typeface="Arial"/>
                        </a:rPr>
                        <a:t>Date from today on; amount above zero</a:t>
                      </a:r>
                    </a:p>
                  </a:txBody>
                  <a:tcPr marL="54864" marR="54864" marT="27432" marB="27432">
                    <a:solidFill>
                      <a:srgbClr val="FFFFFF"/>
                    </a:solidFill>
                  </a:tcPr>
                </a:tc>
                <a:tc>
                  <a:txBody>
                    <a:bodyPr/>
                    <a:lstStyle/>
                    <a:p>
                      <a:r>
                        <a:rPr sz="850" b="0">
                          <a:solidFill>
                            <a:srgbClr val="4B4B4B"/>
                          </a:solidFill>
                          <a:latin typeface="Arial"/>
                        </a:rPr>
                        <a:t>The pick-up date cannot be in the past</a:t>
                      </a:r>
                    </a:p>
                  </a:txBody>
                  <a:tcPr marL="54864" marR="54864" marT="27432" marB="27432">
                    <a:solidFill>
                      <a:srgbClr val="FFFFFF"/>
                    </a:solidFill>
                  </a:tcPr>
                </a:tc>
              </a:tr>
              <a:tr h="739135">
                <a:tc>
                  <a:txBody>
                    <a:bodyPr/>
                    <a:lstStyle/>
                    <a:p>
                      <a:r>
                        <a:rPr sz="850" b="0">
                          <a:solidFill>
                            <a:srgbClr val="4B4B4B"/>
                          </a:solidFill>
                          <a:latin typeface="Arial"/>
                        </a:rPr>
                        <a:t>19</a:t>
                      </a:r>
                    </a:p>
                  </a:txBody>
                  <a:tcPr marL="54864" marR="54864" marT="27432" marB="27432">
                    <a:solidFill>
                      <a:srgbClr val="E5F5FF"/>
                    </a:solidFill>
                  </a:tcPr>
                </a:tc>
                <a:tc>
                  <a:txBody>
                    <a:bodyPr/>
                    <a:lstStyle/>
                    <a:p>
                      <a:r>
                        <a:rPr sz="850" b="0">
                          <a:solidFill>
                            <a:srgbClr val="4B4B4B"/>
                          </a:solidFill>
                          <a:latin typeface="Arial"/>
                        </a:rPr>
                        <a:t>Record Disposition dialog</a:t>
                      </a:r>
                    </a:p>
                  </a:txBody>
                  <a:tcPr marL="54864" marR="54864" marT="27432" marB="27432">
                    <a:solidFill>
                      <a:srgbClr val="E5F5FF"/>
                    </a:solidFill>
                  </a:tcPr>
                </a:tc>
                <a:tc>
                  <a:txBody>
                    <a:bodyPr/>
                    <a:lstStyle/>
                    <a:p>
                      <a:r>
                        <a:rPr sz="850" b="0">
                          <a:solidFill>
                            <a:srgbClr val="4B4B4B"/>
                          </a:solidFill>
                          <a:latin typeface="Arial"/>
                        </a:rPr>
                        <a:t>2307 Path / Certificate No. / Certificate Period From / Certificate Period To / 2% Amount</a:t>
                      </a:r>
                    </a:p>
                  </a:txBody>
                  <a:tcPr marL="54864" marR="54864" marT="27432" marB="27432">
                    <a:solidFill>
                      <a:srgbClr val="E5F5FF"/>
                    </a:solidFill>
                  </a:tcPr>
                </a:tc>
                <a:tc>
                  <a:txBody>
                    <a:bodyPr/>
                    <a:lstStyle/>
                    <a:p>
                      <a:r>
                        <a:rPr sz="850" b="0">
                          <a:solidFill>
                            <a:srgbClr val="4B4B4B"/>
                          </a:solidFill>
                          <a:latin typeface="Arial"/>
                        </a:rPr>
                        <a:t>Drop-down, text, date, number</a:t>
                      </a:r>
                    </a:p>
                  </a:txBody>
                  <a:tcPr marL="54864" marR="54864" marT="27432" marB="27432">
                    <a:solidFill>
                      <a:srgbClr val="E5F5FF"/>
                    </a:solidFill>
                  </a:tcPr>
                </a:tc>
                <a:tc>
                  <a:txBody>
                    <a:bodyPr/>
                    <a:lstStyle/>
                    <a:p>
                      <a:r>
                        <a:rPr sz="850" b="0">
                          <a:solidFill>
                            <a:srgbClr val="4B4B4B"/>
                          </a:solidFill>
                          <a:latin typeface="Arial"/>
                        </a:rPr>
                        <a:t>Shown for a disposition handed to BIR 2307: certificate received or paid in cash</a:t>
                      </a:r>
                    </a:p>
                  </a:txBody>
                  <a:tcPr marL="54864" marR="54864" marT="27432" marB="27432">
                    <a:solidFill>
                      <a:srgbClr val="E5F5FF"/>
                    </a:solidFill>
                  </a:tcPr>
                </a:tc>
                <a:tc>
                  <a:txBody>
                    <a:bodyPr/>
                    <a:lstStyle/>
                    <a:p>
                      <a:r>
                        <a:rPr sz="850" b="0">
                          <a:solidFill>
                            <a:srgbClr val="4B4B4B"/>
                          </a:solidFill>
                          <a:latin typeface="Arial"/>
                        </a:rPr>
                        <a:t>Y / Cond.: certificate / N / N / N</a:t>
                      </a:r>
                    </a:p>
                  </a:txBody>
                  <a:tcPr marL="54864" marR="54864" marT="27432" marB="27432">
                    <a:solidFill>
                      <a:srgbClr val="E5F5FF"/>
                    </a:solidFill>
                  </a:tcPr>
                </a:tc>
                <a:tc>
                  <a:txBody>
                    <a:bodyPr/>
                    <a:lstStyle/>
                    <a:p>
                      <a:r>
                        <a:rPr sz="850" b="0">
                          <a:solidFill>
                            <a:srgbClr val="4B4B4B"/>
                          </a:solidFill>
                          <a:latin typeface="Arial"/>
                        </a:rPr>
                        <a:t>Certificate number for a certificate</a:t>
                      </a:r>
                    </a:p>
                  </a:txBody>
                  <a:tcPr marL="54864" marR="54864" marT="27432" marB="27432">
                    <a:solidFill>
                      <a:srgbClr val="E5F5FF"/>
                    </a:solidFill>
                  </a:tcPr>
                </a:tc>
                <a:tc>
                  <a:txBody>
                    <a:bodyPr/>
                    <a:lstStyle/>
                    <a:p>
                      <a:r>
                        <a:rPr sz="850" b="0">
                          <a:solidFill>
                            <a:srgbClr val="4B4B4B"/>
                          </a:solidFill>
                          <a:latin typeface="Arial"/>
                        </a:rPr>
                        <a:t>A certificate tag needs the certificate number</a:t>
                      </a:r>
                    </a:p>
                  </a:txBody>
                  <a:tcPr marL="54864" marR="54864" marT="27432" marB="27432">
                    <a:solidFill>
                      <a:srgbClr val="E5F5FF"/>
                    </a:solidFill>
                  </a:tcPr>
                </a:tc>
              </a:tr>
              <a:tr h="350518">
                <a:tc>
                  <a:txBody>
                    <a:bodyPr/>
                    <a:lstStyle/>
                    <a:p>
                      <a:r>
                        <a:rPr sz="850" b="0">
                          <a:solidFill>
                            <a:srgbClr val="4B4B4B"/>
                          </a:solidFill>
                          <a:latin typeface="Arial"/>
                        </a:rPr>
                        <a:t>20</a:t>
                      </a:r>
                    </a:p>
                  </a:txBody>
                  <a:tcPr marL="54864" marR="54864" marT="27432" marB="27432">
                    <a:solidFill>
                      <a:srgbClr val="FFFFFF"/>
                    </a:solidFill>
                  </a:tcPr>
                </a:tc>
                <a:tc>
                  <a:txBody>
                    <a:bodyPr/>
                    <a:lstStyle/>
                    <a:p>
                      <a:r>
                        <a:rPr sz="850" b="0">
                          <a:solidFill>
                            <a:srgbClr val="4B4B4B"/>
                          </a:solidFill>
                          <a:latin typeface="Arial"/>
                        </a:rPr>
                        <a:t>Record Disposition dialog</a:t>
                      </a:r>
                    </a:p>
                  </a:txBody>
                  <a:tcPr marL="54864" marR="54864" marT="27432" marB="27432">
                    <a:solidFill>
                      <a:srgbClr val="FFFFFF"/>
                    </a:solidFill>
                  </a:tcPr>
                </a:tc>
                <a:tc>
                  <a:txBody>
                    <a:bodyPr/>
                    <a:lstStyle/>
                    <a:p>
                      <a:r>
                        <a:rPr sz="850" b="0">
                          <a:solidFill>
                            <a:srgbClr val="4B4B4B"/>
                          </a:solidFill>
                          <a:latin typeface="Arial"/>
                        </a:rPr>
                        <a:t>Remarks</a:t>
                      </a:r>
                    </a:p>
                  </a:txBody>
                  <a:tcPr marL="54864" marR="54864" marT="27432" marB="27432">
                    <a:solidFill>
                      <a:srgbClr val="FFFFFF"/>
                    </a:solidFill>
                  </a:tcPr>
                </a:tc>
                <a:tc>
                  <a:txBody>
                    <a:bodyPr/>
                    <a:lstStyle/>
                    <a:p>
                      <a:r>
                        <a:rPr sz="850" b="0">
                          <a:solidFill>
                            <a:srgbClr val="4B4B4B"/>
                          </a:solidFill>
                          <a:latin typeface="Arial"/>
                        </a:rPr>
                        <a:t>Text area</a:t>
                      </a:r>
                    </a:p>
                  </a:txBody>
                  <a:tcPr marL="54864" marR="54864" marT="27432" marB="27432">
                    <a:solidFill>
                      <a:srgbClr val="FFFFFF"/>
                    </a:solidFill>
                  </a:tcPr>
                </a:tc>
                <a:tc>
                  <a:txBody>
                    <a:bodyPr/>
                    <a:lstStyle/>
                    <a:p>
                      <a:r>
                        <a:rPr sz="850" b="0">
                          <a:solidFill>
                            <a:srgbClr val="4B4B4B"/>
                          </a:solidFill>
                          <a:latin typeface="Arial"/>
                        </a:rPr>
                        <a:t>Up to 1,000 characters</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21</a:t>
                      </a:r>
                    </a:p>
                  </a:txBody>
                  <a:tcPr marL="54864" marR="54864" marT="27432" marB="27432">
                    <a:solidFill>
                      <a:srgbClr val="E5F5FF"/>
                    </a:solidFill>
                  </a:tcPr>
                </a:tc>
                <a:tc>
                  <a:txBody>
                    <a:bodyPr/>
                    <a:lstStyle/>
                    <a:p>
                      <a:r>
                        <a:rPr sz="850" b="0">
                          <a:solidFill>
                            <a:srgbClr val="4B4B4B"/>
                          </a:solidFill>
                          <a:latin typeface="Arial"/>
                        </a:rPr>
                        <a:t>Log Collection Effort dialog</a:t>
                      </a:r>
                    </a:p>
                  </a:txBody>
                  <a:tcPr marL="54864" marR="54864" marT="27432" marB="27432">
                    <a:solidFill>
                      <a:srgbClr val="E5F5FF"/>
                    </a:solidFill>
                  </a:tcPr>
                </a:tc>
                <a:tc>
                  <a:txBody>
                    <a:bodyPr/>
                    <a:lstStyle/>
                    <a:p>
                      <a:r>
                        <a:rPr sz="850" b="0">
                          <a:solidFill>
                            <a:srgbClr val="4B4B4B"/>
                          </a:solidFill>
                          <a:latin typeface="Arial"/>
                        </a:rPr>
                        <a:t>Effort / Channel / Contact Person / Remarks</a:t>
                      </a:r>
                    </a:p>
                  </a:txBody>
                  <a:tcPr marL="54864" marR="54864" marT="27432" marB="27432">
                    <a:solidFill>
                      <a:srgbClr val="E5F5FF"/>
                    </a:solidFill>
                  </a:tcPr>
                </a:tc>
                <a:tc>
                  <a:txBody>
                    <a:bodyPr/>
                    <a:lstStyle/>
                    <a:p>
                      <a:r>
                        <a:rPr sz="850" b="0">
                          <a:solidFill>
                            <a:srgbClr val="4B4B4B"/>
                          </a:solidFill>
                          <a:latin typeface="Arial"/>
                        </a:rPr>
                        <a:t>Drop-down, text</a:t>
                      </a:r>
                    </a:p>
                  </a:txBody>
                  <a:tcPr marL="54864" marR="54864" marT="27432" marB="27432">
                    <a:solidFill>
                      <a:srgbClr val="E5F5FF"/>
                    </a:solidFill>
                  </a:tcPr>
                </a:tc>
                <a:tc>
                  <a:txBody>
                    <a:bodyPr/>
                    <a:lstStyle/>
                    <a:p>
                      <a:r>
                        <a:rPr sz="850" b="0">
                          <a:solidFill>
                            <a:srgbClr val="4B4B4B"/>
                          </a:solidFill>
                          <a:latin typeface="Arial"/>
                        </a:rPr>
                        <a:t>Effort list; channel up to 30 and contact up to 120 characters</a:t>
                      </a:r>
                    </a:p>
                  </a:txBody>
                  <a:tcPr marL="54864" marR="54864" marT="27432" marB="27432">
                    <a:solidFill>
                      <a:srgbClr val="E5F5FF"/>
                    </a:solidFill>
                  </a:tcPr>
                </a:tc>
                <a:tc>
                  <a:txBody>
                    <a:bodyPr/>
                    <a:lstStyle/>
                    <a:p>
                      <a:r>
                        <a:rPr sz="850" b="0">
                          <a:solidFill>
                            <a:srgbClr val="4B4B4B"/>
                          </a:solidFill>
                          <a:latin typeface="Arial"/>
                        </a:rPr>
                        <a:t>Y / N / N / 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Choose the effort</a:t>
                      </a:r>
                    </a:p>
                  </a:txBody>
                  <a:tcPr marL="54864" marR="54864" marT="27432" marB="27432">
                    <a:solidFill>
                      <a:srgbClr val="E5F5FF"/>
                    </a:solidFill>
                  </a:tcPr>
                </a:tc>
              </a:tr>
              <a:tr h="609596">
                <a:tc>
                  <a:txBody>
                    <a:bodyPr/>
                    <a:lstStyle/>
                    <a:p>
                      <a:r>
                        <a:rPr sz="850" b="0">
                          <a:solidFill>
                            <a:srgbClr val="4B4B4B"/>
                          </a:solidFill>
                          <a:latin typeface="Arial"/>
                        </a:rPr>
                        <a:t>22</a:t>
                      </a:r>
                    </a:p>
                  </a:txBody>
                  <a:tcPr marL="54864" marR="54864" marT="27432" marB="27432">
                    <a:solidFill>
                      <a:srgbClr val="FFFFFF"/>
                    </a:solidFill>
                  </a:tcPr>
                </a:tc>
                <a:tc>
                  <a:txBody>
                    <a:bodyPr/>
                    <a:lstStyle/>
                    <a:p>
                      <a:r>
                        <a:rPr sz="850" b="0">
                          <a:solidFill>
                            <a:srgbClr val="4B4B4B"/>
                          </a:solidFill>
                          <a:latin typeface="Arial"/>
                        </a:rPr>
                        <a:t>Reassign Accounts dialog</a:t>
                      </a:r>
                    </a:p>
                  </a:txBody>
                  <a:tcPr marL="54864" marR="54864" marT="27432" marB="27432">
                    <a:solidFill>
                      <a:srgbClr val="FFFFFF"/>
                    </a:solidFill>
                  </a:tcPr>
                </a:tc>
                <a:tc>
                  <a:txBody>
                    <a:bodyPr/>
                    <a:lstStyle/>
                    <a:p>
                      <a:r>
                        <a:rPr sz="850" b="0">
                          <a:solidFill>
                            <a:srgbClr val="4B4B4B"/>
                          </a:solidFill>
                          <a:latin typeface="Arial"/>
                        </a:rPr>
                        <a:t>New Handler / Kind / Until / Reason</a:t>
                      </a:r>
                    </a:p>
                  </a:txBody>
                  <a:tcPr marL="54864" marR="54864" marT="27432" marB="27432">
                    <a:solidFill>
                      <a:srgbClr val="FFFFFF"/>
                    </a:solidFill>
                  </a:tcPr>
                </a:tc>
                <a:tc>
                  <a:txBody>
                    <a:bodyPr/>
                    <a:lstStyle/>
                    <a:p>
                      <a:r>
                        <a:rPr sz="850" b="0">
                          <a:solidFill>
                            <a:srgbClr val="4B4B4B"/>
                          </a:solidFill>
                          <a:latin typeface="Arial"/>
                        </a:rPr>
                        <a:t>Drop-down, text</a:t>
                      </a:r>
                    </a:p>
                  </a:txBody>
                  <a:tcPr marL="54864" marR="54864" marT="27432" marB="27432">
                    <a:solidFill>
                      <a:srgbClr val="FFFFFF"/>
                    </a:solidFill>
                  </a:tcPr>
                </a:tc>
                <a:tc>
                  <a:txBody>
                    <a:bodyPr/>
                    <a:lstStyle/>
                    <a:p>
                      <a:r>
                        <a:rPr sz="850" b="0">
                          <a:solidFill>
                            <a:srgbClr val="4B4B4B"/>
                          </a:solidFill>
                          <a:latin typeface="Arial"/>
                        </a:rPr>
                        <a:t>Handlers by name; Permanent or Temporary; end date of a temporary reassignment</a:t>
                      </a:r>
                    </a:p>
                  </a:txBody>
                  <a:tcPr marL="54864" marR="54864" marT="27432" marB="27432">
                    <a:solidFill>
                      <a:srgbClr val="FFFFFF"/>
                    </a:solidFill>
                  </a:tcPr>
                </a:tc>
                <a:tc>
                  <a:txBody>
                    <a:bodyPr/>
                    <a:lstStyle/>
                    <a:p>
                      <a:r>
                        <a:rPr sz="850" b="0">
                          <a:solidFill>
                            <a:srgbClr val="4B4B4B"/>
                          </a:solidFill>
                          <a:latin typeface="Arial"/>
                        </a:rPr>
                        <a:t>Y / Y / Cond.: temporary / Y</a:t>
                      </a:r>
                    </a:p>
                  </a:txBody>
                  <a:tcPr marL="54864" marR="54864" marT="27432" marB="27432">
                    <a:solidFill>
                      <a:srgbClr val="FFFFFF"/>
                    </a:solidFill>
                  </a:tcPr>
                </a:tc>
                <a:tc>
                  <a:txBody>
                    <a:bodyPr/>
                    <a:lstStyle/>
                    <a:p>
                      <a:r>
                        <a:rPr sz="850" b="0">
                          <a:solidFill>
                            <a:srgbClr val="4B4B4B"/>
                          </a:solidFill>
                          <a:latin typeface="Arial"/>
                        </a:rPr>
                        <a:t>Temporary ends after today</a:t>
                      </a:r>
                    </a:p>
                  </a:txBody>
                  <a:tcPr marL="54864" marR="54864" marT="27432" marB="27432">
                    <a:solidFill>
                      <a:srgbClr val="FFFFFF"/>
                    </a:solidFill>
                  </a:tcPr>
                </a:tc>
                <a:tc>
                  <a:txBody>
                    <a:bodyPr/>
                    <a:lstStyle/>
                    <a:p>
                      <a:r>
                        <a:rPr sz="850" b="0">
                          <a:solidFill>
                            <a:srgbClr val="4B4B4B"/>
                          </a:solidFill>
                          <a:latin typeface="Arial"/>
                        </a:rPr>
                        <a:t>A temporary reassignment ends after today</a:t>
                      </a:r>
                    </a:p>
                  </a:txBody>
                  <a:tcPr marL="54864" marR="54864" marT="27432" marB="27432">
                    <a:solidFill>
                      <a:srgbClr val="FFFFFF"/>
                    </a:solidFill>
                  </a:tcPr>
                </a:tc>
              </a:tr>
            </a:tbl>
          </a:graphicData>
        </a:graphic>
      </p:graphicFrame>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SCR-CL-02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146</a:t>
            </a:r>
          </a:p>
        </p:txBody>
      </p:sp>
      <p:graphicFrame>
        <p:nvGraphicFramePr>
          <p:cNvPr id="9" name="Table 8"/>
          <p:cNvGraphicFramePr>
            <a:graphicFrameLocks noGrp="1"/>
          </p:cNvGraphicFramePr>
          <p:nvPr/>
        </p:nvGraphicFramePr>
        <p:xfrm>
          <a:off x="548640" y="1325880"/>
          <a:ext cx="11094412" cy="2453626"/>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Search / Filters / Apply Filters / Clear</a:t>
                      </a:r>
                    </a:p>
                  </a:txBody>
                  <a:tcPr marL="54864" marR="54864" marT="27432" marB="27432">
                    <a:solidFill>
                      <a:srgbClr val="FFFFFF"/>
                    </a:solidFill>
                  </a:tcPr>
                </a:tc>
                <a:tc>
                  <a:txBody>
                    <a:bodyPr/>
                    <a:lstStyle/>
                    <a:p>
                      <a:r>
                        <a:rPr sz="850" b="0">
                          <a:solidFill>
                            <a:srgbClr val="4B4B4B"/>
                          </a:solidFill>
                          <a:latin typeface="Arial"/>
                        </a:rPr>
                        <a:t>Every Collections user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Filters the accounts on the server</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Log Effort</a:t>
                      </a:r>
                    </a:p>
                  </a:txBody>
                  <a:tcPr marL="54864" marR="54864" marT="27432" marB="27432">
                    <a:solidFill>
                      <a:srgbClr val="E5F5FF"/>
                    </a:solidFill>
                  </a:tcPr>
                </a:tc>
                <a:tc>
                  <a:txBody>
                    <a:bodyPr/>
                    <a:lstStyle/>
                    <a:p>
                      <a:r>
                        <a:rPr sz="850" b="0">
                          <a:solidFill>
                            <a:srgbClr val="4B4B4B"/>
                          </a:solidFill>
                          <a:latin typeface="Arial"/>
                        </a:rPr>
                        <a:t>Collectors with the work permission</a:t>
                      </a:r>
                    </a:p>
                  </a:txBody>
                  <a:tcPr marL="54864" marR="54864" marT="27432" marB="27432">
                    <a:solidFill>
                      <a:srgbClr val="E5F5FF"/>
                    </a:solidFill>
                  </a:tcPr>
                </a:tc>
                <a:tc>
                  <a:txBody>
                    <a:bodyPr/>
                    <a:lstStyle/>
                    <a:p>
                      <a:r>
                        <a:rPr sz="850" b="0">
                          <a:solidFill>
                            <a:srgbClr val="4B4B4B"/>
                          </a:solidFill>
                          <a:latin typeface="Arial"/>
                        </a:rPr>
                        <a:t>One account selected; several with the bulk update permission</a:t>
                      </a:r>
                    </a:p>
                  </a:txBody>
                  <a:tcPr marL="54864" marR="54864" marT="27432" marB="27432">
                    <a:solidFill>
                      <a:srgbClr val="E5F5FF"/>
                    </a:solidFill>
                  </a:tcPr>
                </a:tc>
                <a:tc>
                  <a:txBody>
                    <a:bodyPr/>
                    <a:lstStyle/>
                    <a:p>
                      <a:r>
                        <a:rPr sz="850" b="0">
                          <a:solidFill>
                            <a:srgbClr val="4B4B4B"/>
                          </a:solidFill>
                          <a:latin typeface="Arial"/>
                        </a:rPr>
                        <a:t>Logs the effort on each selected account under one bulk reference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Record Disposition</a:t>
                      </a:r>
                    </a:p>
                  </a:txBody>
                  <a:tcPr marL="54864" marR="54864" marT="27432" marB="27432">
                    <a:solidFill>
                      <a:srgbClr val="FFFFFF"/>
                    </a:solidFill>
                  </a:tcPr>
                </a:tc>
                <a:tc>
                  <a:txBody>
                    <a:bodyPr/>
                    <a:lstStyle/>
                    <a:p>
                      <a:r>
                        <a:rPr sz="850" b="0">
                          <a:solidFill>
                            <a:srgbClr val="4B4B4B"/>
                          </a:solidFill>
                          <a:latin typeface="Arial"/>
                        </a:rPr>
                        <a:t>Collectors with the work permission</a:t>
                      </a:r>
                    </a:p>
                  </a:txBody>
                  <a:tcPr marL="54864" marR="54864" marT="27432" marB="27432">
                    <a:solidFill>
                      <a:srgbClr val="FFFFFF"/>
                    </a:solidFill>
                  </a:tcPr>
                </a:tc>
                <a:tc>
                  <a:txBody>
                    <a:bodyPr/>
                    <a:lstStyle/>
                    <a:p>
                      <a:r>
                        <a:rPr sz="850" b="0">
                          <a:solidFill>
                            <a:srgbClr val="4B4B4B"/>
                          </a:solidFill>
                          <a:latin typeface="Arial"/>
                        </a:rPr>
                        <a:t>One account selected; several with the bulk update permission</a:t>
                      </a:r>
                    </a:p>
                  </a:txBody>
                  <a:tcPr marL="54864" marR="54864" marT="27432" marB="27432">
                    <a:solidFill>
                      <a:srgbClr val="FFFFFF"/>
                    </a:solidFill>
                  </a:tcPr>
                </a:tc>
                <a:tc>
                  <a:txBody>
                    <a:bodyPr/>
                    <a:lstStyle/>
                    <a:p>
                      <a:r>
                        <a:rPr sz="850" b="0">
                          <a:solidFill>
                            <a:srgbClr val="4B4B4B"/>
                          </a:solidFill>
                          <a:latin typeface="Arial"/>
                        </a:rPr>
                        <a:t>Records the disposition on each selected account; an Operations action is handed to Cashiering or Commission</a:t>
                      </a:r>
                    </a:p>
                  </a:txBody>
                  <a:tcPr marL="54864" marR="54864" marT="27432" marB="27432">
                    <a:solidFill>
                      <a:srgbClr val="FFFFFF"/>
                    </a:solidFill>
                  </a:tcPr>
                </a:tc>
                <a:tc>
                  <a:txBody>
                    <a:bodyPr/>
                    <a:lstStyle/>
                    <a:p>
                      <a:r>
                        <a:rPr sz="850" b="0">
                          <a:solidFill>
                            <a:srgbClr val="4B4B4B"/>
                          </a:solidFill>
                          <a:latin typeface="Arial"/>
                        </a:rPr>
                        <a:t>Disposition recorded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Reassign</a:t>
                      </a:r>
                    </a:p>
                  </a:txBody>
                  <a:tcPr marL="54864" marR="54864" marT="27432" marB="27432">
                    <a:solidFill>
                      <a:srgbClr val="E5F5FF"/>
                    </a:solidFill>
                  </a:tcPr>
                </a:tc>
                <a:tc>
                  <a:txBody>
                    <a:bodyPr/>
                    <a:lstStyle/>
                    <a:p>
                      <a:r>
                        <a:rPr sz="850" b="0">
                          <a:solidFill>
                            <a:srgbClr val="4B4B4B"/>
                          </a:solidFill>
                          <a:latin typeface="Arial"/>
                        </a:rPr>
                        <a:t>Team leads and section heads (assignment permission)</a:t>
                      </a:r>
                    </a:p>
                  </a:txBody>
                  <a:tcPr marL="54864" marR="54864" marT="27432" marB="27432">
                    <a:solidFill>
                      <a:srgbClr val="E5F5FF"/>
                    </a:solidFill>
                  </a:tcPr>
                </a:tc>
                <a:tc>
                  <a:txBody>
                    <a:bodyPr/>
                    <a:lstStyle/>
                    <a:p>
                      <a:r>
                        <a:rPr sz="850" b="0">
                          <a:solidFill>
                            <a:srgbClr val="4B4B4B"/>
                          </a:solidFill>
                          <a:latin typeface="Arial"/>
                        </a:rPr>
                        <a:t>Accounts selected</a:t>
                      </a:r>
                    </a:p>
                  </a:txBody>
                  <a:tcPr marL="54864" marR="54864" marT="27432" marB="27432">
                    <a:solidFill>
                      <a:srgbClr val="E5F5FF"/>
                    </a:solidFill>
                  </a:tcPr>
                </a:tc>
                <a:tc>
                  <a:txBody>
                    <a:bodyPr/>
                    <a:lstStyle/>
                    <a:p>
                      <a:r>
                        <a:rPr sz="850" b="0">
                          <a:solidFill>
                            <a:srgbClr val="4B4B4B"/>
                          </a:solidFill>
                          <a:latin typeface="Arial"/>
                        </a:rPr>
                        <a:t>Moves the accounts to the new handler, permanently or until the end date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Account reassigned (NT-03)</a:t>
                      </a:r>
                    </a:p>
                  </a:txBody>
                  <a:tcPr marL="54864" marR="54864" marT="27432" marB="27432">
                    <a:solidFill>
                      <a:srgbClr val="E5F5FF"/>
                    </a:solidFill>
                  </a:tcPr>
                </a:tc>
              </a:tr>
              <a:tr h="350518">
                <a:tc>
                  <a:txBody>
                    <a:bodyPr/>
                    <a:lstStyle/>
                    <a:p>
                      <a:r>
                        <a:rPr sz="850" b="0">
                          <a:solidFill>
                            <a:srgbClr val="4B4B4B"/>
                          </a:solidFill>
                          <a:latin typeface="Arial"/>
                        </a:rPr>
                        <a:t>Export to Files</a:t>
                      </a:r>
                    </a:p>
                  </a:txBody>
                  <a:tcPr marL="54864" marR="54864" marT="27432" marB="27432">
                    <a:solidFill>
                      <a:srgbClr val="FFFFFF"/>
                    </a:solidFill>
                  </a:tcPr>
                </a:tc>
                <a:tc>
                  <a:txBody>
                    <a:bodyPr/>
                    <a:lstStyle/>
                    <a:p>
                      <a:r>
                        <a:rPr sz="850" b="0">
                          <a:solidFill>
                            <a:srgbClr val="4B4B4B"/>
                          </a:solidFill>
                          <a:latin typeface="Arial"/>
                        </a:rPr>
                        <a:t>Users with the export permission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Publishes the Outstanding PR List of the filters on Collections Files in the background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Collections file ready (NT-06)</a:t>
                      </a:r>
                    </a:p>
                  </a:txBody>
                  <a:tcPr marL="54864" marR="54864" marT="27432" marB="27432">
                    <a:solidFill>
                      <a:srgbClr val="FFFFFF"/>
                    </a:solidFill>
                  </a:tcPr>
                </a:tc>
              </a:tr>
              <a:tr h="220979">
                <a:tc>
                  <a:txBody>
                    <a:bodyPr/>
                    <a:lstStyle/>
                    <a:p>
                      <a:r>
                        <a:rPr sz="850" b="0">
                          <a:solidFill>
                            <a:srgbClr val="4B4B4B"/>
                          </a:solidFill>
                          <a:latin typeface="Arial"/>
                        </a:rPr>
                        <a:t>Row</a:t>
                      </a:r>
                    </a:p>
                  </a:txBody>
                  <a:tcPr marL="54864" marR="54864" marT="27432" marB="27432">
                    <a:solidFill>
                      <a:srgbClr val="E5F5FF"/>
                    </a:solidFill>
                  </a:tcPr>
                </a:tc>
                <a:tc>
                  <a:txBody>
                    <a:bodyPr/>
                    <a:lstStyle/>
                    <a:p>
                      <a:r>
                        <a:rPr sz="850" b="0">
                          <a:solidFill>
                            <a:srgbClr val="4B4B4B"/>
                          </a:solidFill>
                          <a:latin typeface="Arial"/>
                        </a:rPr>
                        <a:t>Every Collections user</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the collection account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SCR-CL-02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147</a:t>
            </a:r>
          </a:p>
        </p:txBody>
      </p:sp>
      <p:graphicFrame>
        <p:nvGraphicFramePr>
          <p:cNvPr id="9" name="Table 8"/>
          <p:cNvGraphicFramePr>
            <a:graphicFrameLocks noGrp="1"/>
          </p:cNvGraphicFramePr>
          <p:nvPr/>
        </p:nvGraphicFramePr>
        <p:xfrm>
          <a:off x="548640" y="1325880"/>
          <a:ext cx="11094415" cy="176784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396240">
                <a:tc>
                  <a:txBody>
                    <a:bodyPr/>
                    <a:lstStyle/>
                    <a:p>
                      <a:r>
                        <a:rPr sz="1000" b="0">
                          <a:solidFill>
                            <a:srgbClr val="4B4B4B"/>
                          </a:solidFill>
                          <a:latin typeface="Arial"/>
                        </a:rPr>
                        <a:t>An invoice is listed when the total of its premium receivable components and PR2307 is above the minimal balance threshold (10.00 by default); a negative balance of a cancellation is excluded and other credits show on Credit Balances (FR-CL-010, FR-CL-011, FR-CL-013).</a:t>
                      </a:r>
                    </a:p>
                  </a:txBody>
                  <a:tcPr marL="54864" marR="54864" marT="27432" marB="27432">
                    <a:solidFill>
                      <a:srgbClr val="FFFFFF"/>
                    </a:solidFill>
                  </a:tcPr>
                </a:tc>
              </a:tr>
              <a:tr h="396240">
                <a:tc>
                  <a:txBody>
                    <a:bodyPr/>
                    <a:lstStyle/>
                    <a:p>
                      <a:r>
                        <a:rPr sz="1000" b="0">
                          <a:solidFill>
                            <a:srgbClr val="4B4B4B"/>
                          </a:solidFill>
                          <a:latin typeface="Arial"/>
                        </a:rPr>
                        <a:t>The worklist is refreshed every night from the invoice ledger and after each payment; paid accounts move to Completed Collections and reopen when the balance comes back (FR-CL-017, FR-CL-018).</a:t>
                      </a:r>
                    </a:p>
                  </a:txBody>
                  <a:tcPr marL="54864" marR="54864" marT="27432" marB="27432">
                    <a:solidFill>
                      <a:srgbClr val="E5F5FF"/>
                    </a:solidFill>
                  </a:tcPr>
                </a:tc>
              </a:tr>
              <a:tr h="243840">
                <a:tc>
                  <a:txBody>
                    <a:bodyPr/>
                    <a:lstStyle/>
                    <a:p>
                      <a:r>
                        <a:rPr sz="1000" b="0">
                          <a:solidFill>
                            <a:srgbClr val="4B4B4B"/>
                          </a:solidFill>
                          <a:latin typeface="Arial"/>
                        </a:rPr>
                        <a:t>Updating several accounts at once needs the bulk update permission; at most 500 accounts per action, one bulk reference for all (FR-CL-034).</a:t>
                      </a:r>
                    </a:p>
                  </a:txBody>
                  <a:tcPr marL="54864" marR="54864" marT="27432" marB="27432">
                    <a:solidFill>
                      <a:srgbClr val="FFFFFF"/>
                    </a:solidFill>
                  </a:tcPr>
                </a:tc>
              </a:tr>
              <a:tr h="243840">
                <a:tc>
                  <a:txBody>
                    <a:bodyPr/>
                    <a:lstStyle/>
                    <a:p>
                      <a:r>
                        <a:rPr sz="1000" b="0">
                          <a:solidFill>
                            <a:srgbClr val="4B4B4B"/>
                          </a:solidFill>
                          <a:latin typeface="Arial"/>
                        </a:rPr>
                        <a:t>A disposition reserved to some roles is refused for the other roles (FR-CL-031).</a:t>
                      </a:r>
                    </a:p>
                  </a:txBody>
                  <a:tcPr marL="54864" marR="54864" marT="27432" marB="27432">
                    <a:solidFill>
                      <a:srgbClr val="E5F5FF"/>
                    </a:solidFill>
                  </a:tcPr>
                </a:tc>
              </a:tr>
              <a:tr h="243840">
                <a:tc>
                  <a:txBody>
                    <a:bodyPr/>
                    <a:lstStyle/>
                    <a:p>
                      <a:r>
                        <a:rPr sz="1000" b="0">
                          <a:solidFill>
                            <a:srgbClr val="4B4B4B"/>
                          </a:solidFill>
                          <a:latin typeface="Arial"/>
                        </a:rPr>
                        <a:t>Exports run in the background and are capped at the maximum number of rows of the export parameter (FR-CL-084).</a:t>
                      </a:r>
                    </a:p>
                  </a:txBody>
                  <a:tcPr marL="54864" marR="54864" marT="27432" marB="27432">
                    <a:solidFill>
                      <a:srgbClr val="FFFFFF"/>
                    </a:solidFill>
                  </a:tcPr>
                </a:tc>
              </a:tr>
            </a:tbl>
          </a:graphicData>
        </a:graphic>
      </p:graphicFrame>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SCR-CL-02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148</a:t>
            </a:r>
          </a:p>
        </p:txBody>
      </p:sp>
      <p:graphicFrame>
        <p:nvGraphicFramePr>
          <p:cNvPr id="9" name="Table 8"/>
          <p:cNvGraphicFramePr>
            <a:graphicFrameLocks noGrp="1"/>
          </p:cNvGraphicFramePr>
          <p:nvPr/>
        </p:nvGraphicFramePr>
        <p:xfrm>
          <a:off x="548640" y="1325880"/>
          <a:ext cx="11094413" cy="45720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Default</a:t>
                      </a:r>
                    </a:p>
                  </a:txBody>
                  <a:tcPr marL="54864" marR="54864" marT="27432" marB="27432">
                    <a:solidFill>
                      <a:srgbClr val="FFFFFF"/>
                    </a:solidFill>
                  </a:tcPr>
                </a:tc>
                <a:tc>
                  <a:txBody>
                    <a:bodyPr/>
                    <a:lstStyle/>
                    <a:p>
                      <a:r>
                        <a:rPr sz="900" b="0">
                          <a:solidFill>
                            <a:srgbClr val="4B4B4B"/>
                          </a:solidFill>
                          <a:latin typeface="Arial"/>
                        </a:rPr>
                        <a:t>WT-A step 3</a:t>
                      </a:r>
                    </a:p>
                  </a:txBody>
                  <a:tcPr marL="54864" marR="54864" marT="27432" marB="27432">
                    <a:solidFill>
                      <a:srgbClr val="FFFFFF"/>
                    </a:solidFill>
                  </a:tcPr>
                </a:tc>
                <a:tc>
                  <a:txBody>
                    <a:bodyPr/>
                    <a:lstStyle/>
                    <a:p>
                      <a:r>
                        <a:rPr sz="900" b="0">
                          <a:solidFill>
                            <a:srgbClr val="4B4B4B"/>
                          </a:solidFill>
                          <a:latin typeface="Arial"/>
                        </a:rPr>
                        <a:t>Opens the PR Worklist with Only mine ticked</a:t>
                      </a:r>
                    </a:p>
                  </a:txBody>
                  <a:tcPr marL="54864" marR="54864" marT="27432" marB="27432">
                    <a:solidFill>
                      <a:srgbClr val="FFFFFF"/>
                    </a:solidFill>
                  </a:tcPr>
                </a:tc>
                <a:tc>
                  <a:txBody>
                    <a:bodyPr/>
                    <a:lstStyle/>
                    <a:p>
                      <a:r>
                        <a:rPr sz="900" b="0">
                          <a:solidFill>
                            <a:srgbClr val="4B4B4B"/>
                          </a:solidFill>
                          <a:latin typeface="Arial"/>
                        </a:rPr>
                        <a:t>SCR-CL-02_wt-a-step-03.png</a:t>
                      </a:r>
                    </a:p>
                  </a:txBody>
                  <a:tcPr marL="54864" marR="54864" marT="27432" marB="27432">
                    <a:solidFill>
                      <a:srgbClr val="FFFFFF"/>
                    </a:solidFill>
                  </a:tcPr>
                </a:tc>
              </a:tr>
            </a:tbl>
          </a:graphicData>
        </a:graphic>
      </p:graphicFrame>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SCR-CL-02 PR Worklist: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04.png"/>
          <p:cNvPicPr>
            <a:picLocks noChangeAspect="1"/>
          </p:cNvPicPr>
          <p:nvPr/>
        </p:nvPicPr>
        <p:blipFill>
          <a:blip r:embed="rId3"/>
          <a:stretch>
            <a:fillRect/>
          </a:stretch>
        </p:blipFill>
        <p:spPr>
          <a:xfrm>
            <a:off x="548640" y="1261872"/>
            <a:ext cx="11094415" cy="449121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PR Worklist of the Collection Team Lead: open accounts with handler, disposition and status (part 1 of 3)</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SCR-CL-02 PR Worklist: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05.png"/>
          <p:cNvPicPr>
            <a:picLocks noChangeAspect="1"/>
          </p:cNvPicPr>
          <p:nvPr/>
        </p:nvPicPr>
        <p:blipFill>
          <a:blip r:embed="rId3"/>
          <a:stretch>
            <a:fillRect/>
          </a:stretch>
        </p:blipFill>
        <p:spPr>
          <a:xfrm>
            <a:off x="548640" y="1261872"/>
            <a:ext cx="11094415" cy="451707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PR Worklist of the Collection Team Lead: open accounts with handler, disposition and status (part 2 of 3)</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SCR-CL-02 PR Worklist: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06.png"/>
          <p:cNvPicPr>
            <a:picLocks noChangeAspect="1"/>
          </p:cNvPicPr>
          <p:nvPr/>
        </p:nvPicPr>
        <p:blipFill>
          <a:blip r:embed="rId3"/>
          <a:stretch>
            <a:fillRect/>
          </a:stretch>
        </p:blipFill>
        <p:spPr>
          <a:xfrm>
            <a:off x="548640" y="1261872"/>
            <a:ext cx="11094415" cy="207750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PR Worklist of the Collection Team Lead: open accounts with handler, disposition and status (part 3 of 3)</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SCR-CL-02 PR Worklist: Filled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107.png"/>
          <p:cNvPicPr>
            <a:picLocks noChangeAspect="1"/>
          </p:cNvPicPr>
          <p:nvPr/>
        </p:nvPicPr>
        <p:blipFill>
          <a:blip r:embed="rId3"/>
          <a:stretch>
            <a:fillRect/>
          </a:stretch>
        </p:blipFill>
        <p:spPr>
          <a:xfrm>
            <a:off x="548640" y="1261872"/>
            <a:ext cx="11094415" cy="473258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PR Worklist with the Filters panel open (part 1 of 3)</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SCR-CL-02 PR Worklist: Filled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108.png"/>
          <p:cNvPicPr>
            <a:picLocks noChangeAspect="1"/>
          </p:cNvPicPr>
          <p:nvPr/>
        </p:nvPicPr>
        <p:blipFill>
          <a:blip r:embed="rId3"/>
          <a:stretch>
            <a:fillRect/>
          </a:stretch>
        </p:blipFill>
        <p:spPr>
          <a:xfrm>
            <a:off x="548640" y="1261872"/>
            <a:ext cx="11094415" cy="473258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PR Worklist with the Filters panel open (part 2 of 3)</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SCR-CL-02 PR Worklist: Filled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109.png"/>
          <p:cNvPicPr>
            <a:picLocks noChangeAspect="1"/>
          </p:cNvPicPr>
          <p:nvPr/>
        </p:nvPicPr>
        <p:blipFill>
          <a:blip r:embed="rId3"/>
          <a:stretch>
            <a:fillRect/>
          </a:stretch>
        </p:blipFill>
        <p:spPr>
          <a:xfrm>
            <a:off x="548640" y="1261872"/>
            <a:ext cx="11094415" cy="387054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PR Worklist with the Filters panel open (part 3 of 3)</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SCR-CL-02 PR Worklist: Filled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110.png"/>
          <p:cNvPicPr>
            <a:picLocks noChangeAspect="1"/>
          </p:cNvPicPr>
          <p:nvPr/>
        </p:nvPicPr>
        <p:blipFill>
          <a:blip r:embed="rId3"/>
          <a:stretch>
            <a:fillRect/>
          </a:stretch>
        </p:blipFill>
        <p:spPr>
          <a:xfrm>
            <a:off x="548640" y="1261872"/>
            <a:ext cx="11094415" cy="428594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Record Disposition of a selected account with the check pick-up details (part 1 of 2)</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SCR-CL-02 PR Worklist: Filled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111.png"/>
          <p:cNvPicPr>
            <a:picLocks noChangeAspect="1"/>
          </p:cNvPicPr>
          <p:nvPr/>
        </p:nvPicPr>
        <p:blipFill>
          <a:blip r:embed="rId3"/>
          <a:stretch>
            <a:fillRect/>
          </a:stretch>
        </p:blipFill>
        <p:spPr>
          <a:xfrm>
            <a:off x="548640" y="1261872"/>
            <a:ext cx="11094415" cy="473556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Record Disposition of a selected account with the check pick-up details (part 2 of 2)</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SCR-CL-02 PR Worklist: Filled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cr-cl-02-04-reassign.png"/>
          <p:cNvPicPr>
            <a:picLocks noChangeAspect="1"/>
          </p:cNvPicPr>
          <p:nvPr/>
        </p:nvPicPr>
        <p:blipFill>
          <a:blip r:embed="rId3"/>
          <a:stretch>
            <a:fillRect/>
          </a:stretch>
        </p:blipFill>
        <p:spPr>
          <a:xfrm>
            <a:off x="814436" y="1261872"/>
            <a:ext cx="10562822"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Reassign Accounts dialog for two selected accounts, temporary until an end date</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SCR-CL-02 PR Worklist: Empty list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158</a:t>
            </a:r>
          </a:p>
        </p:txBody>
      </p:sp>
      <p:sp>
        <p:nvSpPr>
          <p:cNvPr id="9" name="Rounded Rectangle 8"/>
          <p:cNvSpPr/>
          <p:nvPr/>
        </p:nvSpPr>
        <p:spPr>
          <a:xfrm>
            <a:off x="10408615" y="896112"/>
            <a:ext cx="123444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Empty list</a:t>
            </a:r>
          </a:p>
        </p:txBody>
      </p:sp>
      <p:pic>
        <p:nvPicPr>
          <p:cNvPr id="10" name="Picture 9" descr="slice-00112.png"/>
          <p:cNvPicPr>
            <a:picLocks noChangeAspect="1"/>
          </p:cNvPicPr>
          <p:nvPr/>
        </p:nvPicPr>
        <p:blipFill>
          <a:blip r:embed="rId3"/>
          <a:stretch>
            <a:fillRect/>
          </a:stretch>
        </p:blipFill>
        <p:spPr>
          <a:xfrm>
            <a:off x="548640" y="1261872"/>
            <a:ext cx="11094415" cy="416996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search that finds no account (part 1 of 3)</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SCR-CL-02 PR Worklist: Empty list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159</a:t>
            </a:r>
          </a:p>
        </p:txBody>
      </p:sp>
      <p:sp>
        <p:nvSpPr>
          <p:cNvPr id="9" name="Rounded Rectangle 8"/>
          <p:cNvSpPr/>
          <p:nvPr/>
        </p:nvSpPr>
        <p:spPr>
          <a:xfrm>
            <a:off x="10408615" y="896112"/>
            <a:ext cx="123444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Empty list</a:t>
            </a:r>
          </a:p>
        </p:txBody>
      </p:sp>
      <p:pic>
        <p:nvPicPr>
          <p:cNvPr id="10" name="Picture 9" descr="slice-00113.png"/>
          <p:cNvPicPr>
            <a:picLocks noChangeAspect="1"/>
          </p:cNvPicPr>
          <p:nvPr/>
        </p:nvPicPr>
        <p:blipFill>
          <a:blip r:embed="rId3"/>
          <a:stretch>
            <a:fillRect/>
          </a:stretch>
        </p:blipFill>
        <p:spPr>
          <a:xfrm>
            <a:off x="548640" y="1261872"/>
            <a:ext cx="11094415" cy="465295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search that finds no account (part 2 of 3)</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SCR-CL-02 PR Worklist: Empty list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160</a:t>
            </a:r>
          </a:p>
        </p:txBody>
      </p:sp>
      <p:sp>
        <p:nvSpPr>
          <p:cNvPr id="9" name="Rounded Rectangle 8"/>
          <p:cNvSpPr/>
          <p:nvPr/>
        </p:nvSpPr>
        <p:spPr>
          <a:xfrm>
            <a:off x="10408615" y="896112"/>
            <a:ext cx="123444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Empty list</a:t>
            </a:r>
          </a:p>
        </p:txBody>
      </p:sp>
      <p:pic>
        <p:nvPicPr>
          <p:cNvPr id="10" name="Picture 9" descr="slice-00114.png"/>
          <p:cNvPicPr>
            <a:picLocks noChangeAspect="1"/>
          </p:cNvPicPr>
          <p:nvPr/>
        </p:nvPicPr>
        <p:blipFill>
          <a:blip r:embed="rId3"/>
          <a:stretch>
            <a:fillRect/>
          </a:stretch>
        </p:blipFill>
        <p:spPr>
          <a:xfrm>
            <a:off x="548640" y="1261872"/>
            <a:ext cx="11094415" cy="92294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search that finds no account (part 3 of 3)</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SCR-CL-03 Collection Account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161</a:t>
            </a:r>
          </a:p>
        </p:txBody>
      </p:sp>
      <p:graphicFrame>
        <p:nvGraphicFramePr>
          <p:cNvPr id="9" name="Table 8"/>
          <p:cNvGraphicFramePr>
            <a:graphicFrameLocks noGrp="1"/>
          </p:cNvGraphicFramePr>
          <p:nvPr/>
        </p:nvGraphicFramePr>
        <p:xfrm>
          <a:off x="548640" y="1307592"/>
          <a:ext cx="6434760" cy="339090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Home, PR worklist and collection account</a:t>
                      </a:r>
                    </a:p>
                  </a:txBody>
                  <a:tcPr marL="54864" marR="54864" marT="27432" marB="27432">
                    <a:solidFill>
                      <a:srgbClr val="FFFFFF"/>
                    </a:solidFill>
                  </a:tcPr>
                </a:tc>
              </a:tr>
              <a:tr h="96012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One collection account: the assured, invoice and ARN chips, the collection, payment and remittance statuses, the flags and the key facts; the collector's actions (update remarks and category, log an effort, record a disposition) and the tabs Summary (net PR breakdown by component), Payments, Timeline, Policy &amp; Co-insurance, Dispositions &amp; Efforts (with the hand-offs to Operations) and History (assignments and field changes). Opening the account takes the edit lock.</a:t>
                      </a:r>
                    </a:p>
                  </a:txBody>
                  <a:tcPr marL="54864" marR="54864" marT="27432" marB="27432">
                    <a:solidFill>
                      <a:srgbClr val="FFFFFF"/>
                    </a:solidFill>
                  </a:tcPr>
                </a:tc>
              </a:tr>
              <a:tr h="81534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Team Lead, Marketing Handler, Collection Handler, Collection Team Lead, Section Head (Corporate / Retail), Unapplied Payment Handler, Processing Unit, Cashier (read access and exports), Disbursement (read access and exports), Comptrollership (read access), Business Administrator, System Administrator, Auditor</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Collections › PR Worklist › Collection Account</a:t>
                      </a:r>
                    </a:p>
                    <a:p>
                      <a:r>
                        <a:rPr sz="950" b="0">
                          <a:solidFill>
                            <a:srgbClr val="4B4B4B"/>
                          </a:solidFill>
                          <a:latin typeface="Arial"/>
                        </a:rPr>
                        <a:t>PR Worklist › open a row</a:t>
                      </a:r>
                    </a:p>
                    <a:p>
                      <a:r>
                        <a:rPr sz="950" b="0">
                          <a:solidFill>
                            <a:srgbClr val="4B4B4B"/>
                          </a:solidFill>
                          <a:latin typeface="Arial"/>
                        </a:rPr>
                        <a:t>Client View › open a row</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13.1.3</a:t>
                      </a:r>
                    </a:p>
                  </a:txBody>
                  <a:tcPr marL="54864" marR="54864" marT="27432" marB="27432">
                    <a:solidFill>
                      <a:srgbClr val="FFFFFF"/>
                    </a:solidFill>
                  </a:tcPr>
                </a:tc>
              </a:tr>
              <a:tr h="38100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FR-CL-002, FR-CL-003, FR-CL-005, FR-CL-016, FR-CL-018, FR-CL-031, FR-CL-032, FR-CL-033, FR-CL-041, FR-CL-043, FR-CL-044</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collector records the work on the account and sees everything that happened to it.</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(9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5 images</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SCR-CL-03 fields and columns (No. = callout on the first image)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162</a:t>
            </a:r>
          </a:p>
        </p:txBody>
      </p:sp>
      <p:graphicFrame>
        <p:nvGraphicFramePr>
          <p:cNvPr id="9" name="Table 8"/>
          <p:cNvGraphicFramePr>
            <a:graphicFrameLocks noGrp="1"/>
          </p:cNvGraphicFramePr>
          <p:nvPr/>
        </p:nvGraphicFramePr>
        <p:xfrm>
          <a:off x="548640" y="1325880"/>
          <a:ext cx="11094411" cy="4762471"/>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Header</a:t>
                      </a:r>
                    </a:p>
                  </a:txBody>
                  <a:tcPr marL="54864" marR="54864" marT="27432" marB="27432">
                    <a:solidFill>
                      <a:srgbClr val="FFFFFF"/>
                    </a:solidFill>
                  </a:tcPr>
                </a:tc>
                <a:tc>
                  <a:txBody>
                    <a:bodyPr/>
                    <a:lstStyle/>
                    <a:p>
                      <a:r>
                        <a:rPr sz="850" b="0">
                          <a:solidFill>
                            <a:srgbClr val="4B4B4B"/>
                          </a:solidFill>
                          <a:latin typeface="Arial"/>
                        </a:rPr>
                        <a:t>Invoice and ARN chips, status pills</a:t>
                      </a:r>
                    </a:p>
                  </a:txBody>
                  <a:tcPr marL="54864" marR="54864" marT="27432" marB="27432">
                    <a:solidFill>
                      <a:srgbClr val="FFFFFF"/>
                    </a:solidFill>
                  </a:tcPr>
                </a:tc>
                <a:tc>
                  <a:txBody>
                    <a:bodyPr/>
                    <a:lstStyle/>
                    <a:p>
                      <a:r>
                        <a:rPr sz="850" b="0">
                          <a:solidFill>
                            <a:srgbClr val="4B4B4B"/>
                          </a:solidFill>
                          <a:latin typeface="Arial"/>
                        </a:rPr>
                        <a:t>Reference chip, status pill</a:t>
                      </a:r>
                    </a:p>
                  </a:txBody>
                  <a:tcPr marL="54864" marR="54864" marT="27432" marB="27432">
                    <a:solidFill>
                      <a:srgbClr val="FFFFFF"/>
                    </a:solidFill>
                  </a:tcPr>
                </a:tc>
                <a:tc>
                  <a:txBody>
                    <a:bodyPr/>
                    <a:lstStyle/>
                    <a:p>
                      <a:r>
                        <a:rPr sz="850" b="0">
                          <a:solidFill>
                            <a:srgbClr val="4B4B4B"/>
                          </a:solidFill>
                          <a:latin typeface="Arial"/>
                        </a:rPr>
                        <a:t>Collection status; payment status; remittance status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609596">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Header</a:t>
                      </a:r>
                    </a:p>
                  </a:txBody>
                  <a:tcPr marL="54864" marR="54864" marT="27432" marB="27432">
                    <a:solidFill>
                      <a:srgbClr val="E5F5FF"/>
                    </a:solidFill>
                  </a:tcPr>
                </a:tc>
                <a:tc>
                  <a:txBody>
                    <a:bodyPr/>
                    <a:lstStyle/>
                    <a:p>
                      <a:r>
                        <a:rPr sz="850" b="0">
                          <a:solidFill>
                            <a:srgbClr val="4B4B4B"/>
                          </a:solidFill>
                          <a:latin typeface="Arial"/>
                        </a:rPr>
                        <a:t>Flags</a:t>
                      </a:r>
                    </a:p>
                  </a:txBody>
                  <a:tcPr marL="54864" marR="54864" marT="27432" marB="27432">
                    <a:solidFill>
                      <a:srgbClr val="E5F5FF"/>
                    </a:solidFill>
                  </a:tcPr>
                </a:tc>
                <a:tc>
                  <a:txBody>
                    <a:bodyPr/>
                    <a:lstStyle/>
                    <a:p>
                      <a:r>
                        <a:rPr sz="850" b="0">
                          <a:solidFill>
                            <a:srgbClr val="4B4B4B"/>
                          </a:solidFill>
                          <a:latin typeface="Arial"/>
                        </a:rPr>
                        <a:t>Tag</a:t>
                      </a:r>
                    </a:p>
                  </a:txBody>
                  <a:tcPr marL="54864" marR="54864" marT="27432" marB="27432">
                    <a:solidFill>
                      <a:srgbClr val="E5F5FF"/>
                    </a:solidFill>
                  </a:tcPr>
                </a:tc>
                <a:tc>
                  <a:txBody>
                    <a:bodyPr/>
                    <a:lstStyle/>
                    <a:p>
                      <a:r>
                        <a:rPr sz="850" b="0">
                          <a:solidFill>
                            <a:srgbClr val="4B4B4B"/>
                          </a:solidFill>
                          <a:latin typeface="Arial"/>
                        </a:rPr>
                        <a:t>Direct Payment, 2% CWT, On Hold, Pending Negative Adjustment, Locked by &lt;team&gt;, Marketing Action or Operations Action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Facts</a:t>
                      </a:r>
                    </a:p>
                  </a:txBody>
                  <a:tcPr marL="54864" marR="54864" marT="27432" marB="27432">
                    <a:solidFill>
                      <a:srgbClr val="FFFFFF"/>
                    </a:solidFill>
                  </a:tcPr>
                </a:tc>
                <a:tc>
                  <a:txBody>
                    <a:bodyPr/>
                    <a:lstStyle/>
                    <a:p>
                      <a:r>
                        <a:rPr sz="850" b="0">
                          <a:solidFill>
                            <a:srgbClr val="4B4B4B"/>
                          </a:solidFill>
                          <a:latin typeface="Arial"/>
                        </a:rPr>
                        <a:t>Client / Outstanding / PR2307 / Aging / Insurer / Handler / AO / UH</a:t>
                      </a:r>
                    </a:p>
                  </a:txBody>
                  <a:tcPr marL="54864" marR="54864" marT="27432" marB="27432">
                    <a:solidFill>
                      <a:srgbClr val="FFFFFF"/>
                    </a:solidFill>
                  </a:tcPr>
                </a:tc>
                <a:tc>
                  <a:txBody>
                    <a:bodyPr/>
                    <a:lstStyle/>
                    <a:p>
                      <a:r>
                        <a:rPr sz="850" b="0">
                          <a:solidFill>
                            <a:srgbClr val="4B4B4B"/>
                          </a:solidFill>
                          <a:latin typeface="Arial"/>
                        </a:rPr>
                        <a:t>Display</a:t>
                      </a:r>
                    </a:p>
                  </a:txBody>
                  <a:tcPr marL="54864" marR="54864" marT="27432" marB="27432">
                    <a:solidFill>
                      <a:srgbClr val="FFFFFF"/>
                    </a:solidFill>
                  </a:tcPr>
                </a:tc>
                <a:tc>
                  <a:txBody>
                    <a:bodyPr/>
                    <a:lstStyle/>
                    <a:p>
                      <a:r>
                        <a:rPr sz="850" b="0">
                          <a:solidFill>
                            <a:srgbClr val="4B4B4B"/>
                          </a:solidFill>
                          <a:latin typeface="Arial"/>
                        </a:rPr>
                        <a:t>Client code; amounts with the currency; days with the bracket and the booking date; insurer name; names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Summary</a:t>
                      </a:r>
                    </a:p>
                  </a:txBody>
                  <a:tcPr marL="54864" marR="54864" marT="27432" marB="27432">
                    <a:solidFill>
                      <a:srgbClr val="E5F5FF"/>
                    </a:solidFill>
                  </a:tcPr>
                </a:tc>
                <a:tc>
                  <a:txBody>
                    <a:bodyPr/>
                    <a:lstStyle/>
                    <a:p>
                      <a:r>
                        <a:rPr sz="850" b="0">
                          <a:solidFill>
                            <a:srgbClr val="4B4B4B"/>
                          </a:solidFill>
                          <a:latin typeface="Arial"/>
                        </a:rPr>
                        <a:t>Booked / Endorsements / Adjustments / Payments Applied / Written Off / Reversed / Net Outstanding</a:t>
                      </a:r>
                    </a:p>
                  </a:txBody>
                  <a:tcPr marL="54864" marR="54864" marT="27432" marB="27432">
                    <a:solidFill>
                      <a:srgbClr val="E5F5FF"/>
                    </a:solidFill>
                  </a:tcPr>
                </a:tc>
                <a:tc>
                  <a:txBody>
                    <a:bodyPr/>
                    <a:lstStyle/>
                    <a:p>
                      <a:r>
                        <a:rPr sz="850" b="0">
                          <a:solidFill>
                            <a:srgbClr val="4B4B4B"/>
                          </a:solidFill>
                          <a:latin typeface="Arial"/>
                        </a:rPr>
                        <a:t>Total</a:t>
                      </a:r>
                    </a:p>
                  </a:txBody>
                  <a:tcPr marL="54864" marR="54864" marT="27432" marB="27432">
                    <a:solidFill>
                      <a:srgbClr val="E5F5FF"/>
                    </a:solidFill>
                  </a:tcPr>
                </a:tc>
                <a:tc>
                  <a:txBody>
                    <a:bodyPr/>
                    <a:lstStyle/>
                    <a:p>
                      <a:r>
                        <a:rPr sz="850" b="0">
                          <a:solidFill>
                            <a:srgbClr val="4B4B4B"/>
                          </a:solidFill>
                          <a:latin typeface="Arial"/>
                        </a:rPr>
                        <a:t>Two decimals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609596">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Summary</a:t>
                      </a:r>
                    </a:p>
                  </a:txBody>
                  <a:tcPr marL="54864" marR="54864" marT="27432" marB="27432">
                    <a:solidFill>
                      <a:srgbClr val="FFFFFF"/>
                    </a:solidFill>
                  </a:tcPr>
                </a:tc>
                <a:tc>
                  <a:txBody>
                    <a:bodyPr/>
                    <a:lstStyle/>
                    <a:p>
                      <a:r>
                        <a:rPr sz="850" b="0">
                          <a:solidFill>
                            <a:srgbClr val="4B4B4B"/>
                          </a:solidFill>
                          <a:latin typeface="Arial"/>
                        </a:rPr>
                        <a:t>Component / Booked / Adjusted / Applied / Written Off / Outstanding</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One row per premium component by name (Basic Premium, DST, Premium Tax / VAT, LGT, FST, PR 2307, Other Charges)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The invoice is no longer in the ledger</a:t>
                      </a:r>
                    </a:p>
                  </a:txBody>
                  <a:tcPr marL="54864" marR="54864" marT="27432" marB="27432">
                    <a:solidFill>
                      <a:srgbClr val="FFFFFF"/>
                    </a:solidFill>
                  </a:tcPr>
                </a:tc>
              </a:tr>
              <a:tr h="480057">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Summary</a:t>
                      </a:r>
                    </a:p>
                  </a:txBody>
                  <a:tcPr marL="54864" marR="54864" marT="27432" marB="27432">
                    <a:solidFill>
                      <a:srgbClr val="E5F5FF"/>
                    </a:solidFill>
                  </a:tcPr>
                </a:tc>
                <a:tc>
                  <a:txBody>
                    <a:bodyPr/>
                    <a:lstStyle/>
                    <a:p>
                      <a:r>
                        <a:rPr sz="850" b="0">
                          <a:solidFill>
                            <a:srgbClr val="4B4B4B"/>
                          </a:solidFill>
                          <a:latin typeface="Arial"/>
                        </a:rPr>
                        <a:t>Remarks / Last Effort / Promise / Escalation</a:t>
                      </a:r>
                    </a:p>
                  </a:txBody>
                  <a:tcPr marL="54864" marR="54864" marT="27432" marB="27432">
                    <a:solidFill>
                      <a:srgbClr val="E5F5FF"/>
                    </a:solidFill>
                  </a:tcPr>
                </a:tc>
                <a:tc>
                  <a:txBody>
                    <a:bodyPr/>
                    <a:lstStyle/>
                    <a:p>
                      <a:r>
                        <a:rPr sz="850" b="0">
                          <a:solidFill>
                            <a:srgbClr val="4B4B4B"/>
                          </a:solidFill>
                          <a:latin typeface="Arial"/>
                        </a:rPr>
                        <a:t>Display</a:t>
                      </a:r>
                    </a:p>
                  </a:txBody>
                  <a:tcPr marL="54864" marR="54864" marT="27432" marB="27432">
                    <a:solidFill>
                      <a:srgbClr val="E5F5FF"/>
                    </a:solidFill>
                  </a:tcPr>
                </a:tc>
                <a:tc>
                  <a:txBody>
                    <a:bodyPr/>
                    <a:lstStyle/>
                    <a:p>
                      <a:r>
                        <a:rPr sz="850" b="0">
                          <a:solidFill>
                            <a:srgbClr val="4B4B4B"/>
                          </a:solidFill>
                          <a:latin typeface="Arial"/>
                        </a:rPr>
                        <a:t>Collector's remarks; label and time of the last effort; promise and escalation status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Payments</a:t>
                      </a:r>
                    </a:p>
                  </a:txBody>
                  <a:tcPr marL="54864" marR="54864" marT="27432" marB="27432">
                    <a:solidFill>
                      <a:srgbClr val="FFFFFF"/>
                    </a:solidFill>
                  </a:tcPr>
                </a:tc>
                <a:tc>
                  <a:txBody>
                    <a:bodyPr/>
                    <a:lstStyle/>
                    <a:p>
                      <a:r>
                        <a:rPr sz="850" b="0">
                          <a:solidFill>
                            <a:srgbClr val="4B4B4B"/>
                          </a:solidFill>
                          <a:latin typeface="Arial"/>
                        </a:rPr>
                        <a:t>Premium Due / Paid / Outstanding</a:t>
                      </a:r>
                    </a:p>
                  </a:txBody>
                  <a:tcPr marL="54864" marR="54864" marT="27432" marB="27432">
                    <a:solidFill>
                      <a:srgbClr val="FFFFFF"/>
                    </a:solidFill>
                  </a:tcPr>
                </a:tc>
                <a:tc>
                  <a:txBody>
                    <a:bodyPr/>
                    <a:lstStyle/>
                    <a:p>
                      <a:r>
                        <a:rPr sz="850" b="0">
                          <a:solidFill>
                            <a:srgbClr val="4B4B4B"/>
                          </a:solidFill>
                          <a:latin typeface="Arial"/>
                        </a:rPr>
                        <a:t>Total</a:t>
                      </a:r>
                    </a:p>
                  </a:txBody>
                  <a:tcPr marL="54864" marR="54864" marT="27432" marB="27432">
                    <a:solidFill>
                      <a:srgbClr val="FFFFFF"/>
                    </a:solidFill>
                  </a:tcPr>
                </a:tc>
                <a:tc>
                  <a:txBody>
                    <a:bodyPr/>
                    <a:lstStyle/>
                    <a:p>
                      <a:r>
                        <a:rPr sz="850" b="0">
                          <a:solidFill>
                            <a:srgbClr val="4B4B4B"/>
                          </a:solidFill>
                          <a:latin typeface="Arial"/>
                        </a:rPr>
                        <a:t>Two decimals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Payments</a:t>
                      </a:r>
                    </a:p>
                  </a:txBody>
                  <a:tcPr marL="54864" marR="54864" marT="27432" marB="27432">
                    <a:solidFill>
                      <a:srgbClr val="E5F5FF"/>
                    </a:solidFill>
                  </a:tcPr>
                </a:tc>
                <a:tc>
                  <a:txBody>
                    <a:bodyPr/>
                    <a:lstStyle/>
                    <a:p>
                      <a:r>
                        <a:rPr sz="850" b="0">
                          <a:solidFill>
                            <a:srgbClr val="4B4B4B"/>
                          </a:solidFill>
                          <a:latin typeface="Arial"/>
                        </a:rPr>
                        <a:t>Date / Type / AR / OR / Reference / Amount</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One row per payment applied or reversed, with the module that applied it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 payment applied yet</a:t>
                      </a:r>
                    </a:p>
                  </a:txBody>
                  <a:tcPr marL="54864" marR="54864" marT="27432" marB="27432">
                    <a:solidFill>
                      <a:srgbClr val="E5F5FF"/>
                    </a:solidFill>
                  </a:tcPr>
                </a:tc>
              </a:tr>
              <a:tr h="350518">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Timeline</a:t>
                      </a:r>
                    </a:p>
                  </a:txBody>
                  <a:tcPr marL="54864" marR="54864" marT="27432" marB="27432">
                    <a:solidFill>
                      <a:srgbClr val="FFFFFF"/>
                    </a:solidFill>
                  </a:tcPr>
                </a:tc>
                <a:tc>
                  <a:txBody>
                    <a:bodyPr/>
                    <a:lstStyle/>
                    <a:p>
                      <a:r>
                        <a:rPr sz="850" b="0">
                          <a:solidFill>
                            <a:srgbClr val="4B4B4B"/>
                          </a:solidFill>
                          <a:latin typeface="Arial"/>
                        </a:rPr>
                        <a:t>Date and Time / Type / Event / By / Amount</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Ledger movements and Collections actions, newest first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history yet</a:t>
                      </a:r>
                    </a:p>
                  </a:txBody>
                  <a:tcPr marL="54864" marR="54864" marT="27432" marB="27432">
                    <a:solidFill>
                      <a:srgbClr val="FFFFFF"/>
                    </a:solidFill>
                  </a:tcPr>
                </a:tc>
              </a:tr>
              <a:tr h="480057">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Policy &amp; Co-insurance</a:t>
                      </a:r>
                    </a:p>
                  </a:txBody>
                  <a:tcPr marL="54864" marR="54864" marT="27432" marB="27432">
                    <a:solidFill>
                      <a:srgbClr val="E5F5FF"/>
                    </a:solidFill>
                  </a:tcPr>
                </a:tc>
                <a:tc>
                  <a:txBody>
                    <a:bodyPr/>
                    <a:lstStyle/>
                    <a:p>
                      <a:r>
                        <a:rPr sz="850" b="0">
                          <a:solidFill>
                            <a:srgbClr val="4B4B4B"/>
                          </a:solidFill>
                          <a:latin typeface="Arial"/>
                        </a:rPr>
                        <a:t>Invoice No. / Kind / Booked / Gross / Balance / 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The invoice family of the policy year with the balance and payment status of each</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SCR-CL-03 fields and columns (No. = callout on the first image)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163</a:t>
            </a:r>
          </a:p>
        </p:txBody>
      </p:sp>
      <p:graphicFrame>
        <p:nvGraphicFramePr>
          <p:cNvPr id="9" name="Table 8"/>
          <p:cNvGraphicFramePr>
            <a:graphicFrameLocks noGrp="1"/>
          </p:cNvGraphicFramePr>
          <p:nvPr/>
        </p:nvGraphicFramePr>
        <p:xfrm>
          <a:off x="548640" y="1325880"/>
          <a:ext cx="11094411" cy="3284201"/>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Policy &amp; Co-insurance</a:t>
                      </a:r>
                    </a:p>
                  </a:txBody>
                  <a:tcPr marL="54864" marR="54864" marT="27432" marB="27432">
                    <a:solidFill>
                      <a:srgbClr val="FFFFFF"/>
                    </a:solidFill>
                  </a:tcPr>
                </a:tc>
                <a:tc>
                  <a:txBody>
                    <a:bodyPr/>
                    <a:lstStyle/>
                    <a:p>
                      <a:r>
                        <a:rPr sz="850" b="0">
                          <a:solidFill>
                            <a:srgbClr val="4B4B4B"/>
                          </a:solidFill>
                          <a:latin typeface="Arial"/>
                        </a:rPr>
                        <a:t>Policy / Product / Risk / Period / Booked / Receipt Date (first AR)</a:t>
                      </a:r>
                    </a:p>
                  </a:txBody>
                  <a:tcPr marL="54864" marR="54864" marT="27432" marB="27432">
                    <a:solidFill>
                      <a:srgbClr val="FFFFFF"/>
                    </a:solidFill>
                  </a:tcPr>
                </a:tc>
                <a:tc>
                  <a:txBody>
                    <a:bodyPr/>
                    <a:lstStyle/>
                    <a:p>
                      <a:r>
                        <a:rPr sz="850" b="0">
                          <a:solidFill>
                            <a:srgbClr val="4B4B4B"/>
                          </a:solidFill>
                          <a:latin typeface="Arial"/>
                        </a:rPr>
                        <a:t>Display</a:t>
                      </a:r>
                    </a:p>
                  </a:txBody>
                  <a:tcPr marL="54864" marR="54864" marT="27432" marB="27432">
                    <a:solidFill>
                      <a:srgbClr val="FFFFFF"/>
                    </a:solidFill>
                  </a:tcPr>
                </a:tc>
                <a:tc>
                  <a:txBody>
                    <a:bodyPr/>
                    <a:lstStyle/>
                    <a:p>
                      <a:r>
                        <a:rPr sz="850" b="0">
                          <a:solidFill>
                            <a:srgbClr val="4B4B4B"/>
                          </a:solidFill>
                          <a:latin typeface="Arial"/>
                        </a:rPr>
                        <a:t>Policy with its year; period dd-MMM-yyyy to dd-MMM-yyyy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12</a:t>
                      </a:r>
                    </a:p>
                  </a:txBody>
                  <a:tcPr marL="54864" marR="54864" marT="27432" marB="27432">
                    <a:solidFill>
                      <a:srgbClr val="E5F5FF"/>
                    </a:solidFill>
                  </a:tcPr>
                </a:tc>
                <a:tc>
                  <a:txBody>
                    <a:bodyPr/>
                    <a:lstStyle/>
                    <a:p>
                      <a:r>
                        <a:rPr sz="850" b="0">
                          <a:solidFill>
                            <a:srgbClr val="4B4B4B"/>
                          </a:solidFill>
                          <a:latin typeface="Arial"/>
                        </a:rPr>
                        <a:t>Policy &amp; Co-insurance</a:t>
                      </a:r>
                    </a:p>
                  </a:txBody>
                  <a:tcPr marL="54864" marR="54864" marT="27432" marB="27432">
                    <a:solidFill>
                      <a:srgbClr val="E5F5FF"/>
                    </a:solidFill>
                  </a:tcPr>
                </a:tc>
                <a:tc>
                  <a:txBody>
                    <a:bodyPr/>
                    <a:lstStyle/>
                    <a:p>
                      <a:r>
                        <a:rPr sz="850" b="0">
                          <a:solidFill>
                            <a:srgbClr val="4B4B4B"/>
                          </a:solidFill>
                          <a:latin typeface="Arial"/>
                        </a:rPr>
                        <a:t>Insurer / Share % / Lead</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Insurer name, share and the lead insurer</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13</a:t>
                      </a:r>
                    </a:p>
                  </a:txBody>
                  <a:tcPr marL="54864" marR="54864" marT="27432" marB="27432">
                    <a:solidFill>
                      <a:srgbClr val="FFFFFF"/>
                    </a:solidFill>
                  </a:tcPr>
                </a:tc>
                <a:tc>
                  <a:txBody>
                    <a:bodyPr/>
                    <a:lstStyle/>
                    <a:p>
                      <a:r>
                        <a:rPr sz="850" b="0">
                          <a:solidFill>
                            <a:srgbClr val="4B4B4B"/>
                          </a:solidFill>
                          <a:latin typeface="Arial"/>
                        </a:rPr>
                        <a:t>Dispositions &amp; Efforts</a:t>
                      </a:r>
                    </a:p>
                  </a:txBody>
                  <a:tcPr marL="54864" marR="54864" marT="27432" marB="27432">
                    <a:solidFill>
                      <a:srgbClr val="FFFFFF"/>
                    </a:solidFill>
                  </a:tcPr>
                </a:tc>
                <a:tc>
                  <a:txBody>
                    <a:bodyPr/>
                    <a:lstStyle/>
                    <a:p>
                      <a:r>
                        <a:rPr sz="850" b="0">
                          <a:solidFill>
                            <a:srgbClr val="4B4B4B"/>
                          </a:solidFill>
                          <a:latin typeface="Arial"/>
                        </a:rPr>
                        <a:t>Disposition / Remarks / Hand-off / Encoded By / 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Label of the disposition, current or superseded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disposition yet</a:t>
                      </a:r>
                    </a:p>
                  </a:txBody>
                  <a:tcPr marL="54864" marR="54864" marT="27432" marB="27432">
                    <a:solidFill>
                      <a:srgbClr val="FFFFFF"/>
                    </a:solidFill>
                  </a:tcPr>
                </a:tc>
              </a:tr>
              <a:tr h="350518">
                <a:tc>
                  <a:txBody>
                    <a:bodyPr/>
                    <a:lstStyle/>
                    <a:p>
                      <a:r>
                        <a:rPr sz="850" b="0">
                          <a:solidFill>
                            <a:srgbClr val="4B4B4B"/>
                          </a:solidFill>
                          <a:latin typeface="Arial"/>
                        </a:rPr>
                        <a:t>14</a:t>
                      </a:r>
                    </a:p>
                  </a:txBody>
                  <a:tcPr marL="54864" marR="54864" marT="27432" marB="27432">
                    <a:solidFill>
                      <a:srgbClr val="E5F5FF"/>
                    </a:solidFill>
                  </a:tcPr>
                </a:tc>
                <a:tc>
                  <a:txBody>
                    <a:bodyPr/>
                    <a:lstStyle/>
                    <a:p>
                      <a:r>
                        <a:rPr sz="850" b="0">
                          <a:solidFill>
                            <a:srgbClr val="4B4B4B"/>
                          </a:solidFill>
                          <a:latin typeface="Arial"/>
                        </a:rPr>
                        <a:t>Dispositions &amp; Efforts</a:t>
                      </a:r>
                    </a:p>
                  </a:txBody>
                  <a:tcPr marL="54864" marR="54864" marT="27432" marB="27432">
                    <a:solidFill>
                      <a:srgbClr val="E5F5FF"/>
                    </a:solidFill>
                  </a:tcPr>
                </a:tc>
                <a:tc>
                  <a:txBody>
                    <a:bodyPr/>
                    <a:lstStyle/>
                    <a:p>
                      <a:r>
                        <a:rPr sz="850" b="0">
                          <a:solidFill>
                            <a:srgbClr val="4B4B4B"/>
                          </a:solidFill>
                          <a:latin typeface="Arial"/>
                        </a:rPr>
                        <a:t>When / Effort / Channel / Contact / Remarks / Encoded By</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Label of the effort; names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 effort logged yet</a:t>
                      </a:r>
                    </a:p>
                  </a:txBody>
                  <a:tcPr marL="54864" marR="54864" marT="27432" marB="27432">
                    <a:solidFill>
                      <a:srgbClr val="E5F5FF"/>
                    </a:solidFill>
                  </a:tcPr>
                </a:tc>
              </a:tr>
              <a:tr h="350518">
                <a:tc>
                  <a:txBody>
                    <a:bodyPr/>
                    <a:lstStyle/>
                    <a:p>
                      <a:r>
                        <a:rPr sz="850" b="0">
                          <a:solidFill>
                            <a:srgbClr val="4B4B4B"/>
                          </a:solidFill>
                          <a:latin typeface="Arial"/>
                        </a:rPr>
                        <a:t>15</a:t>
                      </a:r>
                    </a:p>
                  </a:txBody>
                  <a:tcPr marL="54864" marR="54864" marT="27432" marB="27432">
                    <a:solidFill>
                      <a:srgbClr val="FFFFFF"/>
                    </a:solidFill>
                  </a:tcPr>
                </a:tc>
                <a:tc>
                  <a:txBody>
                    <a:bodyPr/>
                    <a:lstStyle/>
                    <a:p>
                      <a:r>
                        <a:rPr sz="850" b="0">
                          <a:solidFill>
                            <a:srgbClr val="4B4B4B"/>
                          </a:solidFill>
                          <a:latin typeface="Arial"/>
                        </a:rPr>
                        <a:t>Dispositions &amp; Efforts</a:t>
                      </a:r>
                    </a:p>
                  </a:txBody>
                  <a:tcPr marL="54864" marR="54864" marT="27432" marB="27432">
                    <a:solidFill>
                      <a:srgbClr val="FFFFFF"/>
                    </a:solidFill>
                  </a:tcPr>
                </a:tc>
                <a:tc>
                  <a:txBody>
                    <a:bodyPr/>
                    <a:lstStyle/>
                    <a:p>
                      <a:r>
                        <a:rPr sz="850" b="0">
                          <a:solidFill>
                            <a:srgbClr val="4B4B4B"/>
                          </a:solidFill>
                          <a:latin typeface="Arial"/>
                        </a:rPr>
                        <a:t>Feed / Reference / Sent / Taken / 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Hand-offs to Cashiering and Commission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Nothing handed to Operations</a:t>
                      </a:r>
                    </a:p>
                  </a:txBody>
                  <a:tcPr marL="54864" marR="54864" marT="27432" marB="27432">
                    <a:solidFill>
                      <a:srgbClr val="FFFFFF"/>
                    </a:solidFill>
                  </a:tcPr>
                </a:tc>
              </a:tr>
              <a:tr h="350518">
                <a:tc>
                  <a:txBody>
                    <a:bodyPr/>
                    <a:lstStyle/>
                    <a:p>
                      <a:r>
                        <a:rPr sz="850" b="0">
                          <a:solidFill>
                            <a:srgbClr val="4B4B4B"/>
                          </a:solidFill>
                          <a:latin typeface="Arial"/>
                        </a:rPr>
                        <a:t>16</a:t>
                      </a:r>
                    </a:p>
                  </a:txBody>
                  <a:tcPr marL="54864" marR="54864" marT="27432" marB="27432">
                    <a:solidFill>
                      <a:srgbClr val="E5F5FF"/>
                    </a:solidFill>
                  </a:tcPr>
                </a:tc>
                <a:tc>
                  <a:txBody>
                    <a:bodyPr/>
                    <a:lstStyle/>
                    <a:p>
                      <a:r>
                        <a:rPr sz="850" b="0">
                          <a:solidFill>
                            <a:srgbClr val="4B4B4B"/>
                          </a:solidFill>
                          <a:latin typeface="Arial"/>
                        </a:rPr>
                        <a:t>History</a:t>
                      </a:r>
                    </a:p>
                  </a:txBody>
                  <a:tcPr marL="54864" marR="54864" marT="27432" marB="27432">
                    <a:solidFill>
                      <a:srgbClr val="E5F5FF"/>
                    </a:solidFill>
                  </a:tcPr>
                </a:tc>
                <a:tc>
                  <a:txBody>
                    <a:bodyPr/>
                    <a:lstStyle/>
                    <a:p>
                      <a:r>
                        <a:rPr sz="850" b="0">
                          <a:solidFill>
                            <a:srgbClr val="4B4B4B"/>
                          </a:solidFill>
                          <a:latin typeface="Arial"/>
                        </a:rPr>
                        <a:t>Date / Handler / Kind / Valid / Reason / By</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Assignments with the previous and new handler by name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17</a:t>
                      </a:r>
                    </a:p>
                  </a:txBody>
                  <a:tcPr marL="54864" marR="54864" marT="27432" marB="27432">
                    <a:solidFill>
                      <a:srgbClr val="FFFFFF"/>
                    </a:solidFill>
                  </a:tcPr>
                </a:tc>
                <a:tc>
                  <a:txBody>
                    <a:bodyPr/>
                    <a:lstStyle/>
                    <a:p>
                      <a:r>
                        <a:rPr sz="850" b="0">
                          <a:solidFill>
                            <a:srgbClr val="4B4B4B"/>
                          </a:solidFill>
                          <a:latin typeface="Arial"/>
                        </a:rPr>
                        <a:t>History</a:t>
                      </a:r>
                    </a:p>
                  </a:txBody>
                  <a:tcPr marL="54864" marR="54864" marT="27432" marB="27432">
                    <a:solidFill>
                      <a:srgbClr val="FFFFFF"/>
                    </a:solidFill>
                  </a:tcPr>
                </a:tc>
                <a:tc>
                  <a:txBody>
                    <a:bodyPr/>
                    <a:lstStyle/>
                    <a:p>
                      <a:r>
                        <a:rPr sz="850" b="0">
                          <a:solidFill>
                            <a:srgbClr val="4B4B4B"/>
                          </a:solidFill>
                          <a:latin typeface="Arial"/>
                        </a:rPr>
                        <a:t>Changed / Field / From / To / User / Source IP / Bulk Ref.</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One row per changed field: the field by name, the values by label and the handler by name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18</a:t>
                      </a:r>
                    </a:p>
                  </a:txBody>
                  <a:tcPr marL="54864" marR="54864" marT="27432" marB="27432">
                    <a:solidFill>
                      <a:srgbClr val="E5F5FF"/>
                    </a:solidFill>
                  </a:tcPr>
                </a:tc>
                <a:tc>
                  <a:txBody>
                    <a:bodyPr/>
                    <a:lstStyle/>
                    <a:p>
                      <a:r>
                        <a:rPr sz="850" b="0">
                          <a:solidFill>
                            <a:srgbClr val="4B4B4B"/>
                          </a:solidFill>
                          <a:latin typeface="Arial"/>
                        </a:rPr>
                        <a:t>Update Remarks and Category dialog</a:t>
                      </a:r>
                    </a:p>
                  </a:txBody>
                  <a:tcPr marL="54864" marR="54864" marT="27432" marB="27432">
                    <a:solidFill>
                      <a:srgbClr val="E5F5FF"/>
                    </a:solidFill>
                  </a:tcPr>
                </a:tc>
                <a:tc>
                  <a:txBody>
                    <a:bodyPr/>
                    <a:lstStyle/>
                    <a:p>
                      <a:r>
                        <a:rPr sz="850" b="0">
                          <a:solidFill>
                            <a:srgbClr val="4B4B4B"/>
                          </a:solidFill>
                          <a:latin typeface="Arial"/>
                        </a:rPr>
                        <a:t>Tagging Category / Remarks</a:t>
                      </a:r>
                    </a:p>
                  </a:txBody>
                  <a:tcPr marL="54864" marR="54864" marT="27432" marB="27432">
                    <a:solidFill>
                      <a:srgbClr val="E5F5FF"/>
                    </a:solidFill>
                  </a:tcPr>
                </a:tc>
                <a:tc>
                  <a:txBody>
                    <a:bodyPr/>
                    <a:lstStyle/>
                    <a:p>
                      <a:r>
                        <a:rPr sz="850" b="0">
                          <a:solidFill>
                            <a:srgbClr val="4B4B4B"/>
                          </a:solidFill>
                          <a:latin typeface="Arial"/>
                        </a:rPr>
                        <a:t>Drop-down, text area</a:t>
                      </a:r>
                    </a:p>
                  </a:txBody>
                  <a:tcPr marL="54864" marR="54864" marT="27432" marB="27432">
                    <a:solidFill>
                      <a:srgbClr val="E5F5FF"/>
                    </a:solidFill>
                  </a:tcPr>
                </a:tc>
                <a:tc>
                  <a:txBody>
                    <a:bodyPr/>
                    <a:lstStyle/>
                    <a:p>
                      <a:r>
                        <a:rPr sz="850" b="0">
                          <a:solidFill>
                            <a:srgbClr val="4B4B4B"/>
                          </a:solidFill>
                          <a:latin typeface="Arial"/>
                        </a:rPr>
                        <a:t>None, A, B or C; up to 1,000 characters</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Category A, B or C</a:t>
                      </a:r>
                    </a:p>
                  </a:txBody>
                  <a:tcPr marL="54864" marR="54864" marT="27432" marB="27432">
                    <a:solidFill>
                      <a:srgbClr val="E5F5FF"/>
                    </a:solidFill>
                  </a:tcPr>
                </a:tc>
                <a:tc>
                  <a:txBody>
                    <a:bodyPr/>
                    <a:lstStyle/>
                    <a:p>
                      <a:r>
                        <a:rPr sz="850" b="0">
                          <a:solidFill>
                            <a:srgbClr val="4B4B4B"/>
                          </a:solidFill>
                          <a:latin typeface="Arial"/>
                        </a:rPr>
                        <a:t>The tagging category is A, B or C</a:t>
                      </a:r>
                    </a:p>
                  </a:txBody>
                  <a:tcPr marL="54864" marR="54864" marT="27432" marB="27432">
                    <a:solidFill>
                      <a:srgbClr val="E5F5FF"/>
                    </a:solidFill>
                  </a:tcPr>
                </a:tc>
              </a:tr>
            </a:tbl>
          </a:graphicData>
        </a:graphic>
      </p:graphicFrame>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SCR-CL-03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164</a:t>
            </a:r>
          </a:p>
        </p:txBody>
      </p:sp>
      <p:graphicFrame>
        <p:nvGraphicFramePr>
          <p:cNvPr id="9" name="Table 8"/>
          <p:cNvGraphicFramePr>
            <a:graphicFrameLocks noGrp="1"/>
          </p:cNvGraphicFramePr>
          <p:nvPr/>
        </p:nvGraphicFramePr>
        <p:xfrm>
          <a:off x="548640" y="1325880"/>
          <a:ext cx="11094412" cy="1844030"/>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Open Invoice 360</a:t>
                      </a:r>
                    </a:p>
                  </a:txBody>
                  <a:tcPr marL="54864" marR="54864" marT="27432" marB="27432">
                    <a:solidFill>
                      <a:srgbClr val="FFFFFF"/>
                    </a:solidFill>
                  </a:tcPr>
                </a:tc>
                <a:tc>
                  <a:txBody>
                    <a:bodyPr/>
                    <a:lstStyle/>
                    <a:p>
                      <a:r>
                        <a:rPr sz="850" b="0">
                          <a:solidFill>
                            <a:srgbClr val="4B4B4B"/>
                          </a:solidFill>
                          <a:latin typeface="Arial"/>
                        </a:rPr>
                        <a:t>Users with Operations view</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invoice in Operations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Refresh from Ledger</a:t>
                      </a:r>
                    </a:p>
                  </a:txBody>
                  <a:tcPr marL="54864" marR="54864" marT="27432" marB="27432">
                    <a:solidFill>
                      <a:srgbClr val="E5F5FF"/>
                    </a:solidFill>
                  </a:tcPr>
                </a:tc>
                <a:tc>
                  <a:txBody>
                    <a:bodyPr/>
                    <a:lstStyle/>
                    <a:p>
                      <a:r>
                        <a:rPr sz="850" b="0">
                          <a:solidFill>
                            <a:srgbClr val="4B4B4B"/>
                          </a:solidFill>
                          <a:latin typeface="Arial"/>
                        </a:rPr>
                        <a:t>Collectors with the work permission</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Reads the balances of the invoice again from the invoice ledger</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Update Remarks</a:t>
                      </a:r>
                    </a:p>
                  </a:txBody>
                  <a:tcPr marL="54864" marR="54864" marT="27432" marB="27432">
                    <a:solidFill>
                      <a:srgbClr val="FFFFFF"/>
                    </a:solidFill>
                  </a:tcPr>
                </a:tc>
                <a:tc>
                  <a:txBody>
                    <a:bodyPr/>
                    <a:lstStyle/>
                    <a:p>
                      <a:r>
                        <a:rPr sz="850" b="0">
                          <a:solidFill>
                            <a:srgbClr val="4B4B4B"/>
                          </a:solidFill>
                          <a:latin typeface="Arial"/>
                        </a:rPr>
                        <a:t>Collectors with the work permission</a:t>
                      </a:r>
                    </a:p>
                  </a:txBody>
                  <a:tcPr marL="54864" marR="54864" marT="27432" marB="27432">
                    <a:solidFill>
                      <a:srgbClr val="FFFFFF"/>
                    </a:solidFill>
                  </a:tcPr>
                </a:tc>
                <a:tc>
                  <a:txBody>
                    <a:bodyPr/>
                    <a:lstStyle/>
                    <a:p>
                      <a:r>
                        <a:rPr sz="850" b="0">
                          <a:solidFill>
                            <a:srgbClr val="4B4B4B"/>
                          </a:solidFill>
                          <a:latin typeface="Arial"/>
                        </a:rPr>
                        <a:t>Open or Credit, not locked by another user</a:t>
                      </a:r>
                    </a:p>
                  </a:txBody>
                  <a:tcPr marL="54864" marR="54864" marT="27432" marB="27432">
                    <a:solidFill>
                      <a:srgbClr val="FFFFFF"/>
                    </a:solidFill>
                  </a:tcPr>
                </a:tc>
                <a:tc>
                  <a:txBody>
                    <a:bodyPr/>
                    <a:lstStyle/>
                    <a:p>
                      <a:r>
                        <a:rPr sz="850" b="0">
                          <a:solidFill>
                            <a:srgbClr val="4B4B4B"/>
                          </a:solidFill>
                          <a:latin typeface="Arial"/>
                        </a:rPr>
                        <a:t>Saves the remarks and the tagging category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Log Effort</a:t>
                      </a:r>
                    </a:p>
                  </a:txBody>
                  <a:tcPr marL="54864" marR="54864" marT="27432" marB="27432">
                    <a:solidFill>
                      <a:srgbClr val="E5F5FF"/>
                    </a:solidFill>
                  </a:tcPr>
                </a:tc>
                <a:tc>
                  <a:txBody>
                    <a:bodyPr/>
                    <a:lstStyle/>
                    <a:p>
                      <a:r>
                        <a:rPr sz="850" b="0">
                          <a:solidFill>
                            <a:srgbClr val="4B4B4B"/>
                          </a:solidFill>
                          <a:latin typeface="Arial"/>
                        </a:rPr>
                        <a:t>Collectors with the work permission</a:t>
                      </a:r>
                    </a:p>
                  </a:txBody>
                  <a:tcPr marL="54864" marR="54864" marT="27432" marB="27432">
                    <a:solidFill>
                      <a:srgbClr val="E5F5FF"/>
                    </a:solidFill>
                  </a:tcPr>
                </a:tc>
                <a:tc>
                  <a:txBody>
                    <a:bodyPr/>
                    <a:lstStyle/>
                    <a:p>
                      <a:r>
                        <a:rPr sz="850" b="0">
                          <a:solidFill>
                            <a:srgbClr val="4B4B4B"/>
                          </a:solidFill>
                          <a:latin typeface="Arial"/>
                        </a:rPr>
                        <a:t>Open or Credit, not locked by another user</a:t>
                      </a:r>
                    </a:p>
                  </a:txBody>
                  <a:tcPr marL="54864" marR="54864" marT="27432" marB="27432">
                    <a:solidFill>
                      <a:srgbClr val="E5F5FF"/>
                    </a:solidFill>
                  </a:tcPr>
                </a:tc>
                <a:tc>
                  <a:txBody>
                    <a:bodyPr/>
                    <a:lstStyle/>
                    <a:p>
                      <a:r>
                        <a:rPr sz="850" b="0">
                          <a:solidFill>
                            <a:srgbClr val="4B4B4B"/>
                          </a:solidFill>
                          <a:latin typeface="Arial"/>
                        </a:rPr>
                        <a:t>Logs the effort with its channel and contact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Record Disposition</a:t>
                      </a:r>
                    </a:p>
                  </a:txBody>
                  <a:tcPr marL="54864" marR="54864" marT="27432" marB="27432">
                    <a:solidFill>
                      <a:srgbClr val="FFFFFF"/>
                    </a:solidFill>
                  </a:tcPr>
                </a:tc>
                <a:tc>
                  <a:txBody>
                    <a:bodyPr/>
                    <a:lstStyle/>
                    <a:p>
                      <a:r>
                        <a:rPr sz="850" b="0">
                          <a:solidFill>
                            <a:srgbClr val="4B4B4B"/>
                          </a:solidFill>
                          <a:latin typeface="Arial"/>
                        </a:rPr>
                        <a:t>Collectors with the work permission</a:t>
                      </a:r>
                    </a:p>
                  </a:txBody>
                  <a:tcPr marL="54864" marR="54864" marT="27432" marB="27432">
                    <a:solidFill>
                      <a:srgbClr val="FFFFFF"/>
                    </a:solidFill>
                  </a:tcPr>
                </a:tc>
                <a:tc>
                  <a:txBody>
                    <a:bodyPr/>
                    <a:lstStyle/>
                    <a:p>
                      <a:r>
                        <a:rPr sz="850" b="0">
                          <a:solidFill>
                            <a:srgbClr val="4B4B4B"/>
                          </a:solidFill>
                          <a:latin typeface="Arial"/>
                        </a:rPr>
                        <a:t>Open or Credit, not locked by another user</a:t>
                      </a:r>
                    </a:p>
                  </a:txBody>
                  <a:tcPr marL="54864" marR="54864" marT="27432" marB="27432">
                    <a:solidFill>
                      <a:srgbClr val="FFFFFF"/>
                    </a:solidFill>
                  </a:tcPr>
                </a:tc>
                <a:tc>
                  <a:txBody>
                    <a:bodyPr/>
                    <a:lstStyle/>
                    <a:p>
                      <a:r>
                        <a:rPr sz="850" b="0">
                          <a:solidFill>
                            <a:srgbClr val="4B4B4B"/>
                          </a:solidFill>
                          <a:latin typeface="Arial"/>
                        </a:rPr>
                        <a:t>Records the disposition; the previous one is kept as superseded; an Operations action is handed over</a:t>
                      </a:r>
                    </a:p>
                  </a:txBody>
                  <a:tcPr marL="54864" marR="54864" marT="27432" marB="27432">
                    <a:solidFill>
                      <a:srgbClr val="FFFFFF"/>
                    </a:solidFill>
                  </a:tcPr>
                </a:tc>
                <a:tc>
                  <a:txBody>
                    <a:bodyPr/>
                    <a:lstStyle/>
                    <a:p>
                      <a:r>
                        <a:rPr sz="850" b="0">
                          <a:solidFill>
                            <a:srgbClr val="4B4B4B"/>
                          </a:solidFill>
                          <a:latin typeface="Arial"/>
                        </a:rPr>
                        <a:t>Disposition recorded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SCR-CL-03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165</a:t>
            </a:r>
          </a:p>
        </p:txBody>
      </p:sp>
      <p:graphicFrame>
        <p:nvGraphicFramePr>
          <p:cNvPr id="9" name="Table 8"/>
          <p:cNvGraphicFramePr>
            <a:graphicFrameLocks noGrp="1"/>
          </p:cNvGraphicFramePr>
          <p:nvPr/>
        </p:nvGraphicFramePr>
        <p:xfrm>
          <a:off x="548640" y="1325880"/>
          <a:ext cx="11094415" cy="146304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account is locked to the user who opened it to work on it for the edit-lock time (15 minutes by default); another user cannot change it meanwhile (FR-CL-005).</a:t>
                      </a:r>
                    </a:p>
                  </a:txBody>
                  <a:tcPr marL="54864" marR="54864" marT="27432" marB="27432">
                    <a:solidFill>
                      <a:srgbClr val="FFFFFF"/>
                    </a:solidFill>
                  </a:tcPr>
                </a:tc>
              </a:tr>
              <a:tr h="243840">
                <a:tc>
                  <a:txBody>
                    <a:bodyPr/>
                    <a:lstStyle/>
                    <a:p>
                      <a:r>
                        <a:rPr sz="1000" b="0">
                          <a:solidFill>
                            <a:srgbClr val="4B4B4B"/>
                          </a:solidFill>
                          <a:latin typeface="Arial"/>
                        </a:rPr>
                        <a:t>Every change is recorded field by field with the old and new value, the user, the time and the source address (FR-CL-003).</a:t>
                      </a:r>
                    </a:p>
                  </a:txBody>
                  <a:tcPr marL="54864" marR="54864" marT="27432" marB="27432">
                    <a:solidFill>
                      <a:srgbClr val="E5F5FF"/>
                    </a:solidFill>
                  </a:tcPr>
                </a:tc>
              </a:tr>
              <a:tr h="243840">
                <a:tc>
                  <a:txBody>
                    <a:bodyPr/>
                    <a:lstStyle/>
                    <a:p>
                      <a:r>
                        <a:rPr sz="1000" b="0">
                          <a:solidFill>
                            <a:srgbClr val="4B4B4B"/>
                          </a:solidFill>
                          <a:latin typeface="Arial"/>
                        </a:rPr>
                        <a:t>Dispositions are never deleted: a new one supersedes the previous one (FR-CL-018, FR-CL-031).</a:t>
                      </a:r>
                    </a:p>
                  </a:txBody>
                  <a:tcPr marL="54864" marR="54864" marT="27432" marB="27432">
                    <a:solidFill>
                      <a:srgbClr val="FFFFFF"/>
                    </a:solidFill>
                  </a:tcPr>
                </a:tc>
              </a:tr>
              <a:tr h="243840">
                <a:tc>
                  <a:txBody>
                    <a:bodyPr/>
                    <a:lstStyle/>
                    <a:p>
                      <a:r>
                        <a:rPr sz="1000" b="0">
                          <a:solidFill>
                            <a:srgbClr val="4B4B4B"/>
                          </a:solidFill>
                          <a:latin typeface="Arial"/>
                        </a:rPr>
                        <a:t>The net PR breakdown is read live from the invoice ledger; Collections keeps no second copy of the money (FR-CL-016).</a:t>
                      </a:r>
                    </a:p>
                  </a:txBody>
                  <a:tcPr marL="54864" marR="54864" marT="27432" marB="27432">
                    <a:solidFill>
                      <a:srgbClr val="E5F5FF"/>
                    </a:solidFill>
                  </a:tcPr>
                </a:tc>
              </a:tr>
              <a:tr h="243840">
                <a:tc>
                  <a:txBody>
                    <a:bodyPr/>
                    <a:lstStyle/>
                    <a:p>
                      <a:r>
                        <a:rPr sz="1000" b="0">
                          <a:solidFill>
                            <a:srgbClr val="4B4B4B"/>
                          </a:solidFill>
                          <a:latin typeface="Arial"/>
                        </a:rPr>
                        <a:t>A check pick-up and a BIR 2307 tag are handed to Cashiering, a direct payment account to Commission Receivables (FR-CL-032).</a:t>
                      </a:r>
                    </a:p>
                  </a:txBody>
                  <a:tcPr marL="54864" marR="54864" marT="27432" marB="27432">
                    <a:solidFill>
                      <a:srgbClr val="FFFFFF"/>
                    </a:solidFill>
                  </a:tcPr>
                </a:tc>
              </a:tr>
            </a:tbl>
          </a:graphicData>
        </a:graphic>
      </p:graphicFrame>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SCR-CL-03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166</a:t>
            </a:r>
          </a:p>
        </p:txBody>
      </p:sp>
      <p:graphicFrame>
        <p:nvGraphicFramePr>
          <p:cNvPr id="9" name="Table 8"/>
          <p:cNvGraphicFramePr>
            <a:graphicFrameLocks noGrp="1"/>
          </p:cNvGraphicFramePr>
          <p:nvPr/>
        </p:nvGraphicFramePr>
        <p:xfrm>
          <a:off x="548640" y="1325880"/>
          <a:ext cx="11094413" cy="128016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Validation error</a:t>
                      </a:r>
                    </a:p>
                  </a:txBody>
                  <a:tcPr marL="54864" marR="54864" marT="27432" marB="27432">
                    <a:solidFill>
                      <a:srgbClr val="FFFFFF"/>
                    </a:solidFill>
                  </a:tcPr>
                </a:tc>
                <a:tc>
                  <a:txBody>
                    <a:bodyPr/>
                    <a:lstStyle/>
                    <a:p>
                      <a:r>
                        <a:rPr sz="900" b="0">
                          <a:solidFill>
                            <a:srgbClr val="4B4B4B"/>
                          </a:solidFill>
                          <a:latin typeface="Arial"/>
                        </a:rPr>
                        <a:t>WT-E step 1</a:t>
                      </a:r>
                    </a:p>
                  </a:txBody>
                  <a:tcPr marL="54864" marR="54864" marT="27432" marB="27432">
                    <a:solidFill>
                      <a:srgbClr val="FFFFFF"/>
                    </a:solidFill>
                  </a:tcPr>
                </a:tc>
                <a:tc>
                  <a:txBody>
                    <a:bodyPr/>
                    <a:lstStyle/>
                    <a:p>
                      <a:r>
                        <a:rPr sz="900" b="0">
                          <a:solidFill>
                            <a:srgbClr val="4B4B4B"/>
                          </a:solidFill>
                          <a:latin typeface="Arial"/>
                        </a:rPr>
                        <a:t>The account officer records the disposition No / missing policy number on an account</a:t>
                      </a:r>
                    </a:p>
                  </a:txBody>
                  <a:tcPr marL="54864" marR="54864" marT="27432" marB="27432">
                    <a:solidFill>
                      <a:srgbClr val="FFFFFF"/>
                    </a:solidFill>
                  </a:tcPr>
                </a:tc>
                <a:tc>
                  <a:txBody>
                    <a:bodyPr/>
                    <a:lstStyle/>
                    <a:p>
                      <a:r>
                        <a:rPr sz="900" b="0">
                          <a:solidFill>
                            <a:srgbClr val="4B4B4B"/>
                          </a:solidFill>
                          <a:latin typeface="Arial"/>
                        </a:rPr>
                        <a:t>SCR-CL-03_wt-e-step-01.png</a:t>
                      </a:r>
                    </a:p>
                  </a:txBody>
                  <a:tcPr marL="54864" marR="54864" marT="27432" marB="27432">
                    <a:solidFill>
                      <a:srgbClr val="FFFFFF"/>
                    </a:solidFill>
                  </a:tcPr>
                </a:tc>
              </a:tr>
              <a:tr h="228600">
                <a:tc>
                  <a:txBody>
                    <a:bodyPr/>
                    <a:lstStyle/>
                    <a:p>
                      <a:r>
                        <a:rPr sz="900" b="0">
                          <a:solidFill>
                            <a:srgbClr val="4B4B4B"/>
                          </a:solidFill>
                          <a:latin typeface="Arial"/>
                        </a:rPr>
                        <a:t>Success message</a:t>
                      </a:r>
                    </a:p>
                  </a:txBody>
                  <a:tcPr marL="54864" marR="54864" marT="27432" marB="27432">
                    <a:solidFill>
                      <a:srgbClr val="E5F5FF"/>
                    </a:solidFill>
                  </a:tcPr>
                </a:tc>
                <a:tc>
                  <a:txBody>
                    <a:bodyPr/>
                    <a:lstStyle/>
                    <a:p>
                      <a:r>
                        <a:rPr sz="900" b="0">
                          <a:solidFill>
                            <a:srgbClr val="4B4B4B"/>
                          </a:solidFill>
                          <a:latin typeface="Arial"/>
                        </a:rPr>
                        <a:t>WT-A step 4</a:t>
                      </a:r>
                    </a:p>
                  </a:txBody>
                  <a:tcPr marL="54864" marR="54864" marT="27432" marB="27432">
                    <a:solidFill>
                      <a:srgbClr val="E5F5FF"/>
                    </a:solidFill>
                  </a:tcPr>
                </a:tc>
                <a:tc>
                  <a:txBody>
                    <a:bodyPr/>
                    <a:lstStyle/>
                    <a:p>
                      <a:r>
                        <a:rPr sz="900" b="0">
                          <a:solidFill>
                            <a:srgbClr val="4B4B4B"/>
                          </a:solidFill>
                          <a:latin typeface="Arial"/>
                        </a:rPr>
                        <a:t>Opens the account and clicks Log Effort: Phone call to the client's finance officer</a:t>
                      </a:r>
                    </a:p>
                  </a:txBody>
                  <a:tcPr marL="54864" marR="54864" marT="27432" marB="27432">
                    <a:solidFill>
                      <a:srgbClr val="E5F5FF"/>
                    </a:solidFill>
                  </a:tcPr>
                </a:tc>
                <a:tc>
                  <a:txBody>
                    <a:bodyPr/>
                    <a:lstStyle/>
                    <a:p>
                      <a:r>
                        <a:rPr sz="900" b="0">
                          <a:solidFill>
                            <a:srgbClr val="4B4B4B"/>
                          </a:solidFill>
                          <a:latin typeface="Arial"/>
                        </a:rPr>
                        <a:t>SCR-CL-03_wt-a-step-04.png</a:t>
                      </a:r>
                    </a:p>
                  </a:txBody>
                  <a:tcPr marL="54864" marR="54864" marT="27432" marB="27432">
                    <a:solidFill>
                      <a:srgbClr val="E5F5FF"/>
                    </a:solidFill>
                  </a:tcPr>
                </a:tc>
              </a:tr>
              <a:tr h="36576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WT-A step 5</a:t>
                      </a:r>
                    </a:p>
                  </a:txBody>
                  <a:tcPr marL="54864" marR="54864" marT="27432" marB="27432">
                    <a:solidFill>
                      <a:srgbClr val="FFFFFF"/>
                    </a:solidFill>
                  </a:tcPr>
                </a:tc>
                <a:tc>
                  <a:txBody>
                    <a:bodyPr/>
                    <a:lstStyle/>
                    <a:p>
                      <a:r>
                        <a:rPr sz="900" b="0">
                          <a:solidFill>
                            <a:srgbClr val="4B4B4B"/>
                          </a:solidFill>
                          <a:latin typeface="Arial"/>
                        </a:rPr>
                        <a:t>Clicks Record Disposition, chooses For check pick-up and enters the pick-up date, address, contact person and check amount</a:t>
                      </a:r>
                    </a:p>
                  </a:txBody>
                  <a:tcPr marL="54864" marR="54864" marT="27432" marB="27432">
                    <a:solidFill>
                      <a:srgbClr val="FFFFFF"/>
                    </a:solidFill>
                  </a:tcPr>
                </a:tc>
                <a:tc>
                  <a:txBody>
                    <a:bodyPr/>
                    <a:lstStyle/>
                    <a:p>
                      <a:r>
                        <a:rPr sz="900" b="0">
                          <a:solidFill>
                            <a:srgbClr val="4B4B4B"/>
                          </a:solidFill>
                          <a:latin typeface="Arial"/>
                        </a:rPr>
                        <a:t>SCR-CL-03_wt-a-step-05.png</a:t>
                      </a:r>
                    </a:p>
                  </a:txBody>
                  <a:tcPr marL="54864" marR="54864" marT="27432" marB="27432">
                    <a:solidFill>
                      <a:srgbClr val="FFFFFF"/>
                    </a:solidFill>
                  </a:tcPr>
                </a:tc>
              </a:tr>
              <a:tr h="228600">
                <a:tc>
                  <a:txBody>
                    <a:bodyPr/>
                    <a:lstStyle/>
                    <a:p>
                      <a:r>
                        <a:rPr sz="900" b="0">
                          <a:solidFill>
                            <a:srgbClr val="4B4B4B"/>
                          </a:solidFill>
                          <a:latin typeface="Arial"/>
                        </a:rPr>
                        <a:t>Read-only or locked</a:t>
                      </a:r>
                    </a:p>
                  </a:txBody>
                  <a:tcPr marL="54864" marR="54864" marT="27432" marB="27432">
                    <a:solidFill>
                      <a:srgbClr val="E5F5FF"/>
                    </a:solidFill>
                  </a:tcPr>
                </a:tc>
                <a:tc>
                  <a:txBody>
                    <a:bodyPr/>
                    <a:lstStyle/>
                    <a:p>
                      <a:r>
                        <a:rPr sz="900" b="0">
                          <a:solidFill>
                            <a:srgbClr val="4B4B4B"/>
                          </a:solidFill>
                          <a:latin typeface="Arial"/>
                        </a:rPr>
                        <a:t>WT-E step 2</a:t>
                      </a:r>
                    </a:p>
                  </a:txBody>
                  <a:tcPr marL="54864" marR="54864" marT="27432" marB="27432">
                    <a:solidFill>
                      <a:srgbClr val="E5F5FF"/>
                    </a:solidFill>
                  </a:tcPr>
                </a:tc>
                <a:tc>
                  <a:txBody>
                    <a:bodyPr/>
                    <a:lstStyle/>
                    <a:p>
                      <a:r>
                        <a:rPr sz="900" b="0">
                          <a:solidFill>
                            <a:srgbClr val="4B4B4B"/>
                          </a:solidFill>
                          <a:latin typeface="Arial"/>
                        </a:rPr>
                        <a:t>Opens the account the Collection Handler is working on</a:t>
                      </a:r>
                    </a:p>
                  </a:txBody>
                  <a:tcPr marL="54864" marR="54864" marT="27432" marB="27432">
                    <a:solidFill>
                      <a:srgbClr val="E5F5FF"/>
                    </a:solidFill>
                  </a:tcPr>
                </a:tc>
                <a:tc>
                  <a:txBody>
                    <a:bodyPr/>
                    <a:lstStyle/>
                    <a:p>
                      <a:r>
                        <a:rPr sz="900" b="0">
                          <a:solidFill>
                            <a:srgbClr val="4B4B4B"/>
                          </a:solidFill>
                          <a:latin typeface="Arial"/>
                        </a:rPr>
                        <a:t>SCR-CL-03_wt-e-step-02.png</a:t>
                      </a:r>
                    </a:p>
                  </a:txBody>
                  <a:tcPr marL="54864" marR="54864" marT="27432" marB="27432">
                    <a:solidFill>
                      <a:srgbClr val="E5F5FF"/>
                    </a:solidFill>
                  </a:tcPr>
                </a:tc>
              </a:tr>
            </a:tbl>
          </a:graphicData>
        </a:graphic>
      </p:graphicFrame>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SCR-CL-03 Collection Account: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15.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Collection account: header, facts, actions and the net PR breakdown by component (part 1 of 3)</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SCR-CL-03 Collection Account: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16.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Collection account: header, facts, actions and the net PR breakdown by component (part 2 of 3)</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SCR-CL-03 Collection Account: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17.png"/>
          <p:cNvPicPr>
            <a:picLocks noChangeAspect="1"/>
          </p:cNvPicPr>
          <p:nvPr/>
        </p:nvPicPr>
        <p:blipFill>
          <a:blip r:embed="rId3"/>
          <a:stretch>
            <a:fillRect/>
          </a:stretch>
        </p:blipFill>
        <p:spPr>
          <a:xfrm>
            <a:off x="548640" y="1261872"/>
            <a:ext cx="11094415" cy="344309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Collection account: header, facts, actions and the net PR breakdown by component (part 3 of 3)</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SCR-CL-03 Collection Account: Read-only or locked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170</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18.png"/>
          <p:cNvPicPr>
            <a:picLocks noChangeAspect="1"/>
          </p:cNvPicPr>
          <p:nvPr/>
        </p:nvPicPr>
        <p:blipFill>
          <a:blip r:embed="rId3"/>
          <a:stretch>
            <a:fillRect/>
          </a:stretch>
        </p:blipFill>
        <p:spPr>
          <a:xfrm>
            <a:off x="548640" y="1261872"/>
            <a:ext cx="11094415" cy="367846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Dispositions &amp; Efforts tab with the hand-off to Cashiering (part 1 of 2)</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SCR-CL-03 Collection Account: Read-only or locked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171</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19.png"/>
          <p:cNvPicPr>
            <a:picLocks noChangeAspect="1"/>
          </p:cNvPicPr>
          <p:nvPr/>
        </p:nvPicPr>
        <p:blipFill>
          <a:blip r:embed="rId3"/>
          <a:stretch>
            <a:fillRect/>
          </a:stretch>
        </p:blipFill>
        <p:spPr>
          <a:xfrm>
            <a:off x="548640" y="1261872"/>
            <a:ext cx="11094415" cy="348175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Dispositions &amp; Efforts tab with the hand-off to Cashiering (part 2 of 2)</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SCR-CL-03 Collection Account: Read-only or locked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172</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20.png"/>
          <p:cNvPicPr>
            <a:picLocks noChangeAspect="1"/>
          </p:cNvPicPr>
          <p:nvPr/>
        </p:nvPicPr>
        <p:blipFill>
          <a:blip r:embed="rId3"/>
          <a:stretch>
            <a:fillRect/>
          </a:stretch>
        </p:blipFill>
        <p:spPr>
          <a:xfrm>
            <a:off x="548640" y="1261872"/>
            <a:ext cx="11094415" cy="363912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History tab: assignments and the field changes with From, To, user and source (part 1 of 2)</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SCR-CL-03 Collection Account: Read-only or locked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173</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21.png"/>
          <p:cNvPicPr>
            <a:picLocks noChangeAspect="1"/>
          </p:cNvPicPr>
          <p:nvPr/>
        </p:nvPicPr>
        <p:blipFill>
          <a:blip r:embed="rId3"/>
          <a:stretch>
            <a:fillRect/>
          </a:stretch>
        </p:blipFill>
        <p:spPr>
          <a:xfrm>
            <a:off x="548640" y="1261872"/>
            <a:ext cx="11094415" cy="324570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History tab: assignments and the field changes with From, To, user and source (part 2 of 2)</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SCR-CL-03 Collection Account: Read-only or locked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174</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22.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The account while another user works on it: the editing notice and no actions (part 1 of 3)</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SCR-CL-03 Collection Account: Read-only or locked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175</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23.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The account while another user works on it: the editing notice and no actions (part 2 of 3)</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SCR-CL-03 Collection Account: Read-only or locked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176</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24.png"/>
          <p:cNvPicPr>
            <a:picLocks noChangeAspect="1"/>
          </p:cNvPicPr>
          <p:nvPr/>
        </p:nvPicPr>
        <p:blipFill>
          <a:blip r:embed="rId3"/>
          <a:stretch>
            <a:fillRect/>
          </a:stretch>
        </p:blipFill>
        <p:spPr>
          <a:xfrm>
            <a:off x="548640" y="1261872"/>
            <a:ext cx="11094415" cy="346222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The account while another user works on it: the editing notice and no actions (part 3 of 3)</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SCR-CL-03 Collection Account: Read-only or locked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177</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25.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The collection account as the Auditor sees it, without the actions (part 1 of 3)</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SCR-CL-03 Collection Account: Read-only or locked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178</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26.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The collection account as the Auditor sees it, without the actions (part 2 of 3)</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SCR-CL-03 Collection Account: Read-only or locked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179</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27.png"/>
          <p:cNvPicPr>
            <a:picLocks noChangeAspect="1"/>
          </p:cNvPicPr>
          <p:nvPr/>
        </p:nvPicPr>
        <p:blipFill>
          <a:blip r:embed="rId3"/>
          <a:stretch>
            <a:fillRect/>
          </a:stretch>
        </p:blipFill>
        <p:spPr>
          <a:xfrm>
            <a:off x="548640" y="1261872"/>
            <a:ext cx="11094415" cy="346222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The collection account as the Auditor sees it, without the actions (part 3 of 3)</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SCR-CL-04 Client View</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180</a:t>
            </a:r>
          </a:p>
        </p:txBody>
      </p:sp>
      <p:graphicFrame>
        <p:nvGraphicFramePr>
          <p:cNvPr id="9" name="Table 8"/>
          <p:cNvGraphicFramePr>
            <a:graphicFrameLocks noGrp="1"/>
          </p:cNvGraphicFramePr>
          <p:nvPr/>
        </p:nvGraphicFramePr>
        <p:xfrm>
          <a:off x="548640" y="1307592"/>
          <a:ext cx="6434760" cy="266700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Home, PR worklist and collection account</a:t>
                      </a:r>
                    </a:p>
                  </a:txBody>
                  <a:tcPr marL="54864" marR="54864" marT="27432" marB="27432">
                    <a:solidFill>
                      <a:srgbClr val="FFFFFF"/>
                    </a:solidFill>
                  </a:tcPr>
                </a:tc>
              </a:tr>
              <a:tr h="38100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Every collection account of one client, open, completed or credit, with the number of open accounts, their net outstanding and the open PR2307.</a:t>
                      </a:r>
                    </a:p>
                  </a:txBody>
                  <a:tcPr marL="54864" marR="54864" marT="27432" marB="27432">
                    <a:solidFill>
                      <a:srgbClr val="FFFFFF"/>
                    </a:solidFill>
                  </a:tcPr>
                </a:tc>
              </a:tr>
              <a:tr h="81534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Team Lead, Marketing Handler, Collection Handler, Collection Team Lead, Section Head (Corporate / Retail), Unapplied Payment Handler, Processing Unit, Cashier (read access and exports), Disbursement (read access and exports), Comptrollership (read access), Business Administrator, System Administrator, Auditor</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Collections › PR Worklist › Client View</a:t>
                      </a:r>
                    </a:p>
                    <a:p>
                      <a:r>
                        <a:rPr sz="950" b="0">
                          <a:solidFill>
                            <a:srgbClr val="4B4B4B"/>
                          </a:solidFill>
                          <a:latin typeface="Arial"/>
                        </a:rPr>
                        <a:t>PR Worklist › client code of a row, or a client of Totals by Client</a:t>
                      </a:r>
                    </a:p>
                    <a:p>
                      <a:r>
                        <a:rPr sz="950" b="0">
                          <a:solidFill>
                            <a:srgbClr val="4B4B4B"/>
                          </a:solidFill>
                          <a:latin typeface="Arial"/>
                        </a:rPr>
                        <a:t>Collection Account › Client</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13.1.4</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FR-CL-014</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collector sees the whole exposure of a client before calling.</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SCR-CL-04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181</a:t>
            </a:r>
          </a:p>
        </p:txBody>
      </p:sp>
      <p:graphicFrame>
        <p:nvGraphicFramePr>
          <p:cNvPr id="9" name="Table 8"/>
          <p:cNvGraphicFramePr>
            <a:graphicFrameLocks noGrp="1"/>
          </p:cNvGraphicFramePr>
          <p:nvPr/>
        </p:nvGraphicFramePr>
        <p:xfrm>
          <a:off x="548640" y="1325880"/>
          <a:ext cx="11094411" cy="1402072"/>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Totals</a:t>
                      </a:r>
                    </a:p>
                  </a:txBody>
                  <a:tcPr marL="54864" marR="54864" marT="27432" marB="27432">
                    <a:solidFill>
                      <a:srgbClr val="FFFFFF"/>
                    </a:solidFill>
                  </a:tcPr>
                </a:tc>
                <a:tc>
                  <a:txBody>
                    <a:bodyPr/>
                    <a:lstStyle/>
                    <a:p>
                      <a:r>
                        <a:rPr sz="850" b="0">
                          <a:solidFill>
                            <a:srgbClr val="4B4B4B"/>
                          </a:solidFill>
                          <a:latin typeface="Arial"/>
                        </a:rPr>
                        <a:t>Open Accounts / Net Outstanding / PR2307 Open</a:t>
                      </a:r>
                    </a:p>
                  </a:txBody>
                  <a:tcPr marL="54864" marR="54864" marT="27432" marB="27432">
                    <a:solidFill>
                      <a:srgbClr val="FFFFFF"/>
                    </a:solidFill>
                  </a:tcPr>
                </a:tc>
                <a:tc>
                  <a:txBody>
                    <a:bodyPr/>
                    <a:lstStyle/>
                    <a:p>
                      <a:r>
                        <a:rPr sz="850" b="0">
                          <a:solidFill>
                            <a:srgbClr val="4B4B4B"/>
                          </a:solidFill>
                          <a:latin typeface="Arial"/>
                        </a:rPr>
                        <a:t>Total</a:t>
                      </a:r>
                    </a:p>
                  </a:txBody>
                  <a:tcPr marL="54864" marR="54864" marT="27432" marB="27432">
                    <a:solidFill>
                      <a:srgbClr val="FFFFFF"/>
                    </a:solidFill>
                  </a:tcPr>
                </a:tc>
                <a:tc>
                  <a:txBody>
                    <a:bodyPr/>
                    <a:lstStyle/>
                    <a:p>
                      <a:r>
                        <a:rPr sz="850" b="0">
                          <a:solidFill>
                            <a:srgbClr val="4B4B4B"/>
                          </a:solidFill>
                          <a:latin typeface="Arial"/>
                        </a:rPr>
                        <a:t>Count; amounts with two decimals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Invoice No. / ARN / Policy / Booked / Aging / Outstanding</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Invoice, ARN and policy; booking date; days; currency and amount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The client has no collection account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Handler / Disposition / 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Handler's name or Unassigned; label of the disposition; collection status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SCR-CL-04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182</a:t>
            </a:r>
          </a:p>
        </p:txBody>
      </p:sp>
      <p:graphicFrame>
        <p:nvGraphicFramePr>
          <p:cNvPr id="9" name="Table 8"/>
          <p:cNvGraphicFramePr>
            <a:graphicFrameLocks noGrp="1"/>
          </p:cNvGraphicFramePr>
          <p:nvPr/>
        </p:nvGraphicFramePr>
        <p:xfrm>
          <a:off x="548640" y="1325880"/>
          <a:ext cx="11094412" cy="441958"/>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Row</a:t>
                      </a:r>
                    </a:p>
                  </a:txBody>
                  <a:tcPr marL="54864" marR="54864" marT="27432" marB="27432">
                    <a:solidFill>
                      <a:srgbClr val="FFFFFF"/>
                    </a:solidFill>
                  </a:tcPr>
                </a:tc>
                <a:tc>
                  <a:txBody>
                    <a:bodyPr/>
                    <a:lstStyle/>
                    <a:p>
                      <a:r>
                        <a:rPr sz="850" b="0">
                          <a:solidFill>
                            <a:srgbClr val="4B4B4B"/>
                          </a:solidFill>
                          <a:latin typeface="Arial"/>
                        </a:rPr>
                        <a:t>Every Collections user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collection account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SCR-CL-04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183</a:t>
            </a:r>
          </a:p>
        </p:txBody>
      </p:sp>
      <p:graphicFrame>
        <p:nvGraphicFramePr>
          <p:cNvPr id="9" name="Table 8"/>
          <p:cNvGraphicFramePr>
            <a:graphicFrameLocks noGrp="1"/>
          </p:cNvGraphicFramePr>
          <p:nvPr/>
        </p:nvGraphicFramePr>
        <p:xfrm>
          <a:off x="548640" y="1325880"/>
          <a:ext cx="11094415" cy="487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totals add up the open accounts of the client only (FR-CL-014).</a:t>
                      </a:r>
                    </a:p>
                  </a:txBody>
                  <a:tcPr marL="54864" marR="54864" marT="27432" marB="27432">
                    <a:solidFill>
                      <a:srgbClr val="FFFFFF"/>
                    </a:solidFill>
                  </a:tcPr>
                </a:tc>
              </a:tr>
            </a:tbl>
          </a:graphicData>
        </a:graphic>
      </p:graphicFrame>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SCR-CL-04 Client View: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cl-04-01-client.png"/>
          <p:cNvPicPr>
            <a:picLocks noChangeAspect="1"/>
          </p:cNvPicPr>
          <p:nvPr/>
        </p:nvPicPr>
        <p:blipFill>
          <a:blip r:embed="rId3"/>
          <a:stretch>
            <a:fillRect/>
          </a:stretch>
        </p:blipFill>
        <p:spPr>
          <a:xfrm>
            <a:off x="548640" y="1261872"/>
            <a:ext cx="11094415" cy="464817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Client View: the accounts of a client with the totals of the open ones</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SCR-CL-05 Installment Plans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185</a:t>
            </a:r>
          </a:p>
        </p:txBody>
      </p:sp>
      <p:graphicFrame>
        <p:nvGraphicFramePr>
          <p:cNvPr id="9" name="Table 8"/>
          <p:cNvGraphicFramePr>
            <a:graphicFrameLocks noGrp="1"/>
          </p:cNvGraphicFramePr>
          <p:nvPr/>
        </p:nvGraphicFramePr>
        <p:xfrm>
          <a:off x="548640" y="1307592"/>
          <a:ext cx="6434760" cy="266700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Installments, promises and billing statements</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installment plans of multi-year and installment accounts by status, and a new plan: over the policy years of a multi-year account, or the outstanding premium of one invoice split in equal installments.</a:t>
                      </a:r>
                    </a:p>
                  </a:txBody>
                  <a:tcPr marL="54864" marR="54864" marT="27432" marB="27432">
                    <a:solidFill>
                      <a:srgbClr val="FFFFFF"/>
                    </a:solidFill>
                  </a:tcPr>
                </a:tc>
              </a:tr>
              <a:tr h="81534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Team Lead, Marketing Handler, Collection Handler, Collection Team Lead, Section Head (Corporate / Retail), Unapplied Payment Handler, Processing Unit, Cashier (read access and exports), Disbursement (read access and exports), Comptrollership (read access), Business Administrator, System Administrator, Auditor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Collections › Installment Plans</a:t>
                      </a:r>
                    </a:p>
                    <a:p>
                      <a:r>
                        <a:rPr sz="950" b="0">
                          <a:solidFill>
                            <a:srgbClr val="4B4B4B"/>
                          </a:solidFill>
                          <a:latin typeface="Arial"/>
                        </a:rPr>
                        <a:t>Finance › Collections › Installment Plans</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13.2.1</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FR-CL-040, FR-CL-041</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account is billed per cycle on a plan the collector can follow.</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(3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SCR-CL-05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186</a:t>
            </a:r>
          </a:p>
        </p:txBody>
      </p:sp>
      <p:graphicFrame>
        <p:nvGraphicFramePr>
          <p:cNvPr id="9" name="Table 8"/>
          <p:cNvGraphicFramePr>
            <a:graphicFrameLocks noGrp="1"/>
          </p:cNvGraphicFramePr>
          <p:nvPr/>
        </p:nvGraphicFramePr>
        <p:xfrm>
          <a:off x="548640" y="1325880"/>
          <a:ext cx="11094411" cy="3764258"/>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Active Plans / Completed / Cancelled</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Toolbar</a:t>
                      </a:r>
                    </a:p>
                  </a:txBody>
                  <a:tcPr marL="54864" marR="54864" marT="27432" marB="27432">
                    <a:solidFill>
                      <a:srgbClr val="E5F5FF"/>
                    </a:solidFill>
                  </a:tcPr>
                </a:tc>
                <a:tc>
                  <a:txBody>
                    <a:bodyPr/>
                    <a:lstStyle/>
                    <a:p>
                      <a:r>
                        <a:rPr sz="850" b="0">
                          <a:solidFill>
                            <a:srgbClr val="4B4B4B"/>
                          </a:solidFill>
                          <a:latin typeface="Arial"/>
                        </a:rPr>
                        <a:t>Search Plan No., ARN or Invoice No.</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Contains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Plan No. / Invoice</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IPL-yyyy-nnnnnn with the invoice, or All policy years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installment plans to display</a:t>
                      </a:r>
                    </a:p>
                  </a:txBody>
                  <a:tcPr marL="54864" marR="54864" marT="27432" marB="27432">
                    <a:solidFill>
                      <a:srgbClr val="FFFFFF"/>
                    </a:solidFill>
                  </a:tcPr>
                </a:tc>
              </a:tr>
              <a:tr h="480057">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ARN / Name of Assured / Frequency / Basis / First Due / Installments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Frequency label; Policy Years, Generated or Entered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Total / Paid / 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Two decimals; Active, Completed or Cancelled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New Installment Plan dialog</a:t>
                      </a:r>
                    </a:p>
                  </a:txBody>
                  <a:tcPr marL="54864" marR="54864" marT="27432" marB="27432">
                    <a:solidFill>
                      <a:srgbClr val="E5F5FF"/>
                    </a:solidFill>
                  </a:tcPr>
                </a:tc>
                <a:tc>
                  <a:txBody>
                    <a:bodyPr/>
                    <a:lstStyle/>
                    <a:p>
                      <a:r>
                        <a:rPr sz="850" b="0">
                          <a:solidFill>
                            <a:srgbClr val="4B4B4B"/>
                          </a:solidFill>
                          <a:latin typeface="Arial"/>
                        </a:rPr>
                        <a:t>Plan Basis</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Policy years of a multi-year account; Installments of one invoice</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New Installment Plan dialog</a:t>
                      </a:r>
                    </a:p>
                  </a:txBody>
                  <a:tcPr marL="54864" marR="54864" marT="27432" marB="27432">
                    <a:solidFill>
                      <a:srgbClr val="FFFFFF"/>
                    </a:solidFill>
                  </a:tcPr>
                </a:tc>
                <a:tc>
                  <a:txBody>
                    <a:bodyPr/>
                    <a:lstStyle/>
                    <a:p>
                      <a:r>
                        <a:rPr sz="850" b="0">
                          <a:solidFill>
                            <a:srgbClr val="4B4B4B"/>
                          </a:solidFill>
                          <a:latin typeface="Arial"/>
                        </a:rPr>
                        <a:t>Account Reference No. (ARN)</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Shown for policy years</a:t>
                      </a:r>
                    </a:p>
                  </a:txBody>
                  <a:tcPr marL="54864" marR="54864" marT="27432" marB="27432">
                    <a:solidFill>
                      <a:srgbClr val="FFFFFF"/>
                    </a:solidFill>
                  </a:tcPr>
                </a:tc>
                <a:tc>
                  <a:txBody>
                    <a:bodyPr/>
                    <a:lstStyle/>
                    <a:p>
                      <a:r>
                        <a:rPr sz="850" b="0">
                          <a:solidFill>
                            <a:srgbClr val="4B4B4B"/>
                          </a:solidFill>
                          <a:latin typeface="Arial"/>
                        </a:rPr>
                        <a:t>Cond.: policy years</a:t>
                      </a:r>
                    </a:p>
                  </a:txBody>
                  <a:tcPr marL="54864" marR="54864" marT="27432" marB="27432">
                    <a:solidFill>
                      <a:srgbClr val="FFFFFF"/>
                    </a:solidFill>
                  </a:tcPr>
                </a:tc>
                <a:tc>
                  <a:txBody>
                    <a:bodyPr/>
                    <a:lstStyle/>
                    <a:p>
                      <a:r>
                        <a:rPr sz="850" b="0">
                          <a:solidFill>
                            <a:srgbClr val="4B4B4B"/>
                          </a:solidFill>
                          <a:latin typeface="Arial"/>
                        </a:rPr>
                        <a:t>The account has a booked policy year</a:t>
                      </a:r>
                    </a:p>
                  </a:txBody>
                  <a:tcPr marL="54864" marR="54864" marT="27432" marB="27432">
                    <a:solidFill>
                      <a:srgbClr val="FFFFFF"/>
                    </a:solidFill>
                  </a:tcPr>
                </a:tc>
                <a:tc>
                  <a:txBody>
                    <a:bodyPr/>
                    <a:lstStyle/>
                    <a:p>
                      <a:r>
                        <a:rPr sz="850" b="0">
                          <a:solidFill>
                            <a:srgbClr val="4B4B4B"/>
                          </a:solidFill>
                          <a:latin typeface="Arial"/>
                        </a:rPr>
                        <a:t>Enter the account reference number</a:t>
                      </a:r>
                    </a:p>
                  </a:txBody>
                  <a:tcPr marL="54864" marR="54864" marT="27432" marB="27432">
                    <a:solidFill>
                      <a:srgbClr val="FFFFFF"/>
                    </a:solidFill>
                  </a:tcPr>
                </a:tc>
              </a:tr>
              <a:tr h="480057">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New Installment Plan dialog</a:t>
                      </a:r>
                    </a:p>
                  </a:txBody>
                  <a:tcPr marL="54864" marR="54864" marT="27432" marB="27432">
                    <a:solidFill>
                      <a:srgbClr val="E5F5FF"/>
                    </a:solidFill>
                  </a:tcPr>
                </a:tc>
                <a:tc>
                  <a:txBody>
                    <a:bodyPr/>
                    <a:lstStyle/>
                    <a:p>
                      <a:r>
                        <a:rPr sz="850" b="0">
                          <a:solidFill>
                            <a:srgbClr val="4B4B4B"/>
                          </a:solidFill>
                          <a:latin typeface="Arial"/>
                        </a:rPr>
                        <a:t>Invoice No. / First Due Date / Number of Installments</a:t>
                      </a:r>
                    </a:p>
                  </a:txBody>
                  <a:tcPr marL="54864" marR="54864" marT="27432" marB="27432">
                    <a:solidFill>
                      <a:srgbClr val="E5F5FF"/>
                    </a:solidFill>
                  </a:tcPr>
                </a:tc>
                <a:tc>
                  <a:txBody>
                    <a:bodyPr/>
                    <a:lstStyle/>
                    <a:p>
                      <a:r>
                        <a:rPr sz="850" b="0">
                          <a:solidFill>
                            <a:srgbClr val="4B4B4B"/>
                          </a:solidFill>
                          <a:latin typeface="Arial"/>
                        </a:rPr>
                        <a:t>Text, date, number</a:t>
                      </a:r>
                    </a:p>
                  </a:txBody>
                  <a:tcPr marL="54864" marR="54864" marT="27432" marB="27432">
                    <a:solidFill>
                      <a:srgbClr val="E5F5FF"/>
                    </a:solidFill>
                  </a:tcPr>
                </a:tc>
                <a:tc>
                  <a:txBody>
                    <a:bodyPr/>
                    <a:lstStyle/>
                    <a:p>
                      <a:r>
                        <a:rPr sz="850" b="0">
                          <a:solidFill>
                            <a:srgbClr val="4B4B4B"/>
                          </a:solidFill>
                          <a:latin typeface="Arial"/>
                        </a:rPr>
                        <a:t>Shown for one invoice; 1 to 120 installments</a:t>
                      </a:r>
                    </a:p>
                  </a:txBody>
                  <a:tcPr marL="54864" marR="54864" marT="27432" marB="27432">
                    <a:solidFill>
                      <a:srgbClr val="E5F5FF"/>
                    </a:solidFill>
                  </a:tcPr>
                </a:tc>
                <a:tc>
                  <a:txBody>
                    <a:bodyPr/>
                    <a:lstStyle/>
                    <a:p>
                      <a:r>
                        <a:rPr sz="850" b="0">
                          <a:solidFill>
                            <a:srgbClr val="4B4B4B"/>
                          </a:solidFill>
                          <a:latin typeface="Arial"/>
                        </a:rPr>
                        <a:t>Cond.: one invoice</a:t>
                      </a:r>
                    </a:p>
                  </a:txBody>
                  <a:tcPr marL="54864" marR="54864" marT="27432" marB="27432">
                    <a:solidFill>
                      <a:srgbClr val="E5F5FF"/>
                    </a:solidFill>
                  </a:tcPr>
                </a:tc>
                <a:tc>
                  <a:txBody>
                    <a:bodyPr/>
                    <a:lstStyle/>
                    <a:p>
                      <a:r>
                        <a:rPr sz="850" b="0">
                          <a:solidFill>
                            <a:srgbClr val="4B4B4B"/>
                          </a:solidFill>
                          <a:latin typeface="Arial"/>
                        </a:rPr>
                        <a:t>Invoice with outstanding premium; 1 to 120</a:t>
                      </a:r>
                    </a:p>
                  </a:txBody>
                  <a:tcPr marL="54864" marR="54864" marT="27432" marB="27432">
                    <a:solidFill>
                      <a:srgbClr val="E5F5FF"/>
                    </a:solidFill>
                  </a:tcPr>
                </a:tc>
                <a:tc>
                  <a:txBody>
                    <a:bodyPr/>
                    <a:lstStyle/>
                    <a:p>
                      <a:r>
                        <a:rPr sz="850" b="0">
                          <a:solidFill>
                            <a:srgbClr val="4B4B4B"/>
                          </a:solidFill>
                          <a:latin typeface="Arial"/>
                        </a:rPr>
                        <a:t>Enter between 1 and 120 installments</a:t>
                      </a:r>
                    </a:p>
                  </a:txBody>
                  <a:tcPr marL="54864" marR="54864" marT="27432" marB="27432">
                    <a:solidFill>
                      <a:srgbClr val="E5F5FF"/>
                    </a:solidFill>
                  </a:tcPr>
                </a:tc>
              </a:tr>
              <a:tr h="350518">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New Installment Plan dialog</a:t>
                      </a:r>
                    </a:p>
                  </a:txBody>
                  <a:tcPr marL="54864" marR="54864" marT="27432" marB="27432">
                    <a:solidFill>
                      <a:srgbClr val="FFFFFF"/>
                    </a:solidFill>
                  </a:tcPr>
                </a:tc>
                <a:tc>
                  <a:txBody>
                    <a:bodyPr/>
                    <a:lstStyle/>
                    <a:p>
                      <a:r>
                        <a:rPr sz="850" b="0">
                          <a:solidFill>
                            <a:srgbClr val="4B4B4B"/>
                          </a:solidFill>
                          <a:latin typeface="Arial"/>
                        </a:rPr>
                        <a:t>Billing Frequency / Remarks</a:t>
                      </a:r>
                    </a:p>
                  </a:txBody>
                  <a:tcPr marL="54864" marR="54864" marT="27432" marB="27432">
                    <a:solidFill>
                      <a:srgbClr val="FFFFFF"/>
                    </a:solidFill>
                  </a:tcPr>
                </a:tc>
                <a:tc>
                  <a:txBody>
                    <a:bodyPr/>
                    <a:lstStyle/>
                    <a:p>
                      <a:r>
                        <a:rPr sz="850" b="0">
                          <a:solidFill>
                            <a:srgbClr val="4B4B4B"/>
                          </a:solidFill>
                          <a:latin typeface="Arial"/>
                        </a:rPr>
                        <a:t>Drop-down, text area</a:t>
                      </a:r>
                    </a:p>
                  </a:txBody>
                  <a:tcPr marL="54864" marR="54864" marT="27432" marB="27432">
                    <a:solidFill>
                      <a:srgbClr val="FFFFFF"/>
                    </a:solidFill>
                  </a:tcPr>
                </a:tc>
                <a:tc>
                  <a:txBody>
                    <a:bodyPr/>
                    <a:lstStyle/>
                    <a:p>
                      <a:r>
                        <a:rPr sz="850" b="0">
                          <a:solidFill>
                            <a:srgbClr val="4B4B4B"/>
                          </a:solidFill>
                          <a:latin typeface="Arial"/>
                        </a:rPr>
                        <a:t>Annual, Semi-annual, Quarterly, Monthly</a:t>
                      </a:r>
                    </a:p>
                  </a:txBody>
                  <a:tcPr marL="54864" marR="54864" marT="27432" marB="27432">
                    <a:solidFill>
                      <a:srgbClr val="FFFFFF"/>
                    </a:solidFill>
                  </a:tcPr>
                </a:tc>
                <a:tc>
                  <a:txBody>
                    <a:bodyPr/>
                    <a:lstStyle/>
                    <a:p>
                      <a:r>
                        <a:rPr sz="850" b="0">
                          <a:solidFill>
                            <a:srgbClr val="4B4B4B"/>
                          </a:solidFill>
                          <a:latin typeface="Arial"/>
                        </a:rPr>
                        <a:t>Y / 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Choose the billing frequency</a:t>
                      </a:r>
                    </a:p>
                  </a:txBody>
                  <a:tcPr marL="54864" marR="54864" marT="27432" marB="27432">
                    <a:solidFill>
                      <a:srgbClr val="FFFFFF"/>
                    </a:solidFill>
                  </a:tcPr>
                </a:tc>
              </a:tr>
            </a:tbl>
          </a:graphicData>
        </a:graphic>
      </p:graphicFrame>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SCR-CL-05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187</a:t>
            </a:r>
          </a:p>
        </p:txBody>
      </p:sp>
      <p:graphicFrame>
        <p:nvGraphicFramePr>
          <p:cNvPr id="9" name="Table 8"/>
          <p:cNvGraphicFramePr>
            <a:graphicFrameLocks noGrp="1"/>
          </p:cNvGraphicFramePr>
          <p:nvPr/>
        </p:nvGraphicFramePr>
        <p:xfrm>
          <a:off x="548640" y="1325880"/>
          <a:ext cx="11094412" cy="1142994"/>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New Installment Plan</a:t>
                      </a:r>
                    </a:p>
                  </a:txBody>
                  <a:tcPr marL="54864" marR="54864" marT="27432" marB="27432">
                    <a:solidFill>
                      <a:srgbClr val="FFFFFF"/>
                    </a:solidFill>
                  </a:tcPr>
                </a:tc>
                <a:tc>
                  <a:txBody>
                    <a:bodyPr/>
                    <a:lstStyle/>
                    <a:p>
                      <a:r>
                        <a:rPr sz="850" b="0">
                          <a:solidFill>
                            <a:srgbClr val="4B4B4B"/>
                          </a:solidFill>
                          <a:latin typeface="Arial"/>
                        </a:rPr>
                        <a:t>Users with the billing permission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dialog</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Create Plan</a:t>
                      </a:r>
                    </a:p>
                  </a:txBody>
                  <a:tcPr marL="54864" marR="54864" marT="27432" marB="27432">
                    <a:solidFill>
                      <a:srgbClr val="E5F5FF"/>
                    </a:solidFill>
                  </a:tcPr>
                </a:tc>
                <a:tc>
                  <a:txBody>
                    <a:bodyPr/>
                    <a:lstStyle/>
                    <a:p>
                      <a:r>
                        <a:rPr sz="850" b="0">
                          <a:solidFill>
                            <a:srgbClr val="4B4B4B"/>
                          </a:solidFill>
                          <a:latin typeface="Arial"/>
                        </a:rPr>
                        <a:t>Users with the billing permission</a:t>
                      </a:r>
                    </a:p>
                  </a:txBody>
                  <a:tcPr marL="54864" marR="54864" marT="27432" marB="27432">
                    <a:solidFill>
                      <a:srgbClr val="E5F5FF"/>
                    </a:solidFill>
                  </a:tcPr>
                </a:tc>
                <a:tc>
                  <a:txBody>
                    <a:bodyPr/>
                    <a:lstStyle/>
                    <a:p>
                      <a:r>
                        <a:rPr sz="850" b="0">
                          <a:solidFill>
                            <a:srgbClr val="4B4B4B"/>
                          </a:solidFill>
                          <a:latin typeface="Arial"/>
                        </a:rPr>
                        <a:t>The form is complete</a:t>
                      </a:r>
                    </a:p>
                  </a:txBody>
                  <a:tcPr marL="54864" marR="54864" marT="27432" marB="27432">
                    <a:solidFill>
                      <a:srgbClr val="E5F5FF"/>
                    </a:solidFill>
                  </a:tcPr>
                </a:tc>
                <a:tc>
                  <a:txBody>
                    <a:bodyPr/>
                    <a:lstStyle/>
                    <a:p>
                      <a:r>
                        <a:rPr sz="850" b="0">
                          <a:solidFill>
                            <a:srgbClr val="4B4B4B"/>
                          </a:solidFill>
                          <a:latin typeface="Arial"/>
                        </a:rPr>
                        <a:t>Creates the plan with its installments and opens it</a:t>
                      </a:r>
                    </a:p>
                  </a:txBody>
                  <a:tcPr marL="54864" marR="54864" marT="27432" marB="27432">
                    <a:solidFill>
                      <a:srgbClr val="E5F5FF"/>
                    </a:solidFill>
                  </a:tcPr>
                </a:tc>
                <a:tc>
                  <a:txBody>
                    <a:bodyPr/>
                    <a:lstStyle/>
                    <a:p>
                      <a:r>
                        <a:rPr sz="850" b="0">
                          <a:solidFill>
                            <a:srgbClr val="4B4B4B"/>
                          </a:solidFill>
                          <a:latin typeface="Arial"/>
                        </a:rPr>
                        <a:t>Active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Row</a:t>
                      </a:r>
                    </a:p>
                  </a:txBody>
                  <a:tcPr marL="54864" marR="54864" marT="27432" marB="27432">
                    <a:solidFill>
                      <a:srgbClr val="FFFFFF"/>
                    </a:solidFill>
                  </a:tcPr>
                </a:tc>
                <a:tc>
                  <a:txBody>
                    <a:bodyPr/>
                    <a:lstStyle/>
                    <a:p>
                      <a:r>
                        <a:rPr sz="850" b="0">
                          <a:solidFill>
                            <a:srgbClr val="4B4B4B"/>
                          </a:solidFill>
                          <a:latin typeface="Arial"/>
                        </a:rPr>
                        <a:t>Every Collections user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plan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SCR-CL-05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188</a:t>
            </a:r>
          </a:p>
        </p:txBody>
      </p:sp>
      <p:graphicFrame>
        <p:nvGraphicFramePr>
          <p:cNvPr id="9" name="Table 8"/>
          <p:cNvGraphicFramePr>
            <a:graphicFrameLocks noGrp="1"/>
          </p:cNvGraphicFramePr>
          <p:nvPr/>
        </p:nvGraphicFramePr>
        <p:xfrm>
          <a:off x="548640" y="1325880"/>
          <a:ext cx="11094415" cy="9753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policy-year plan bills every policy year of a multi-year account per cycle; a generated plan splits the outstanding premium of one invoice in equal installments (FR-CL-040).</a:t>
                      </a:r>
                    </a:p>
                  </a:txBody>
                  <a:tcPr marL="54864" marR="54864" marT="27432" marB="27432">
                    <a:solidFill>
                      <a:srgbClr val="FFFFFF"/>
                    </a:solidFill>
                  </a:tcPr>
                </a:tc>
              </a:tr>
              <a:tr h="243840">
                <a:tc>
                  <a:txBody>
                    <a:bodyPr/>
                    <a:lstStyle/>
                    <a:p>
                      <a:r>
                        <a:rPr sz="1000" b="0">
                          <a:solidFill>
                            <a:srgbClr val="4B4B4B"/>
                          </a:solidFill>
                          <a:latin typeface="Arial"/>
                        </a:rPr>
                        <a:t>One live plan per invoice or account: a second plan is refused until the first is cancelled (FR-CL-040).</a:t>
                      </a:r>
                    </a:p>
                  </a:txBody>
                  <a:tcPr marL="54864" marR="54864" marT="27432" marB="27432">
                    <a:solidFill>
                      <a:srgbClr val="E5F5FF"/>
                    </a:solidFill>
                  </a:tcPr>
                </a:tc>
              </a:tr>
              <a:tr h="243840">
                <a:tc>
                  <a:txBody>
                    <a:bodyPr/>
                    <a:lstStyle/>
                    <a:p>
                      <a:r>
                        <a:rPr sz="1000" b="0">
                          <a:solidFill>
                            <a:srgbClr val="4B4B4B"/>
                          </a:solidFill>
                          <a:latin typeface="Arial"/>
                        </a:rPr>
                        <a:t>A plan changes neither the booking nor the accounting; payments are allocated from the invoice ledger (FR-CL-041).</a:t>
                      </a:r>
                    </a:p>
                  </a:txBody>
                  <a:tcPr marL="54864" marR="54864" marT="27432" marB="27432">
                    <a:solidFill>
                      <a:srgbClr val="FFFFFF"/>
                    </a:solidFill>
                  </a:tcPr>
                </a:tc>
              </a:tr>
            </a:tbl>
          </a:graphicData>
        </a:graphic>
      </p:graphicFrame>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SCR-CL-05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189</a:t>
            </a:r>
          </a:p>
        </p:txBody>
      </p:sp>
      <p:graphicFrame>
        <p:nvGraphicFramePr>
          <p:cNvPr id="9" name="Table 8"/>
          <p:cNvGraphicFramePr>
            <a:graphicFrameLocks noGrp="1"/>
          </p:cNvGraphicFramePr>
          <p:nvPr/>
        </p:nvGraphicFramePr>
        <p:xfrm>
          <a:off x="548640" y="1325880"/>
          <a:ext cx="11094413" cy="59436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36576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WT-D step 1</a:t>
                      </a:r>
                    </a:p>
                  </a:txBody>
                  <a:tcPr marL="54864" marR="54864" marT="27432" marB="27432">
                    <a:solidFill>
                      <a:srgbClr val="FFFFFF"/>
                    </a:solidFill>
                  </a:tcPr>
                </a:tc>
                <a:tc>
                  <a:txBody>
                    <a:bodyPr/>
                    <a:lstStyle/>
                    <a:p>
                      <a:r>
                        <a:rPr sz="900" b="0">
                          <a:solidFill>
                            <a:srgbClr val="4B4B4B"/>
                          </a:solidFill>
                          <a:latin typeface="Arial"/>
                        </a:rPr>
                        <a:t>Clicks New Installment Plan: installments of one invoice, the invoice, the first due date, 4 installments, Quarterly</a:t>
                      </a:r>
                    </a:p>
                  </a:txBody>
                  <a:tcPr marL="54864" marR="54864" marT="27432" marB="27432">
                    <a:solidFill>
                      <a:srgbClr val="FFFFFF"/>
                    </a:solidFill>
                  </a:tcPr>
                </a:tc>
                <a:tc>
                  <a:txBody>
                    <a:bodyPr/>
                    <a:lstStyle/>
                    <a:p>
                      <a:r>
                        <a:rPr sz="900" b="0">
                          <a:solidFill>
                            <a:srgbClr val="4B4B4B"/>
                          </a:solidFill>
                          <a:latin typeface="Arial"/>
                        </a:rPr>
                        <a:t>SCR-CL-05_wt-d-step-01.png</a:t>
                      </a:r>
                    </a:p>
                  </a:txBody>
                  <a:tcPr marL="54864" marR="54864" marT="27432" marB="27432">
                    <a:solidFill>
                      <a:srgbClr val="FFFFFF"/>
                    </a:solidFill>
                  </a:tcPr>
                </a:tc>
              </a:tr>
            </a:tbl>
          </a:graphicData>
        </a:graphic>
      </p:graphicFrame>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SCR-CL-05 Installment Plans: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cl-05-01-list.png"/>
          <p:cNvPicPr>
            <a:picLocks noChangeAspect="1"/>
          </p:cNvPicPr>
          <p:nvPr/>
        </p:nvPicPr>
        <p:blipFill>
          <a:blip r:embed="rId3"/>
          <a:stretch>
            <a:fillRect/>
          </a:stretch>
        </p:blipFill>
        <p:spPr>
          <a:xfrm>
            <a:off x="1829973" y="1261872"/>
            <a:ext cx="8531749"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Installment Plans: the active plans with their basis, total and paid</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SCR-CL-05 Installment Plans: Filled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128.png"/>
          <p:cNvPicPr>
            <a:picLocks noChangeAspect="1"/>
          </p:cNvPicPr>
          <p:nvPr/>
        </p:nvPicPr>
        <p:blipFill>
          <a:blip r:embed="rId3"/>
          <a:stretch>
            <a:fillRect/>
          </a:stretch>
        </p:blipFill>
        <p:spPr>
          <a:xfrm>
            <a:off x="548640" y="1261872"/>
            <a:ext cx="11094415" cy="460611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Installment Plan dialog: installments of one invoice (part 1 of 2)</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SCR-CL-05 Installment Plans: Filled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129.png"/>
          <p:cNvPicPr>
            <a:picLocks noChangeAspect="1"/>
          </p:cNvPicPr>
          <p:nvPr/>
        </p:nvPicPr>
        <p:blipFill>
          <a:blip r:embed="rId3"/>
          <a:stretch>
            <a:fillRect/>
          </a:stretch>
        </p:blipFill>
        <p:spPr>
          <a:xfrm>
            <a:off x="548640" y="1261872"/>
            <a:ext cx="11094415" cy="399819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Installment Plan dialog: installments of one invoice (part 2 of 2)</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SCR-CL-06 Installment Plan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193</a:t>
            </a:r>
          </a:p>
        </p:txBody>
      </p:sp>
      <p:graphicFrame>
        <p:nvGraphicFramePr>
          <p:cNvPr id="9" name="Table 8"/>
          <p:cNvGraphicFramePr>
            <a:graphicFrameLocks noGrp="1"/>
          </p:cNvGraphicFramePr>
          <p:nvPr/>
        </p:nvGraphicFramePr>
        <p:xfrm>
          <a:off x="548640" y="1307592"/>
          <a:ext cx="6434760" cy="310134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Installments, promises and billing statements</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One plan: the account and its facts, the installments (billing cycles) with the payments allocated from the ledger and their status, the statements of account of the plan and the promises to pay on its invoices; the row menu of an installment generates its statement of account or records a promise.</a:t>
                      </a:r>
                    </a:p>
                  </a:txBody>
                  <a:tcPr marL="54864" marR="54864" marT="27432" marB="27432">
                    <a:solidFill>
                      <a:srgbClr val="FFFFFF"/>
                    </a:solidFill>
                  </a:tcPr>
                </a:tc>
              </a:tr>
              <a:tr h="81534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Team Lead, Marketing Handler, Collection Handler, Collection Team Lead, Section Head (Corporate / Retail), Unapplied Payment Handler, Processing Unit, Cashier (read access and exports), Disbursement (read access and exports), Comptrollership (read access), Business Administrator, System Administrator, Auditor</a:t>
                      </a:r>
                    </a:p>
                  </a:txBody>
                  <a:tcPr marL="54864" marR="54864" marT="27432" marB="27432">
                    <a:solidFill>
                      <a:srgbClr val="FFFFFF"/>
                    </a:solidFill>
                  </a:tcPr>
                </a:tc>
              </a:tr>
              <a:tr h="67056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Collections › Installment Plans › Installment Plan</a:t>
                      </a:r>
                    </a:p>
                    <a:p>
                      <a:r>
                        <a:rPr sz="950" b="0">
                          <a:solidFill>
                            <a:srgbClr val="4B4B4B"/>
                          </a:solidFill>
                          <a:latin typeface="Arial"/>
                        </a:rPr>
                        <a:t>Installment Plans › open a row</a:t>
                      </a:r>
                    </a:p>
                    <a:p>
                      <a:r>
                        <a:rPr sz="950" b="0">
                          <a:solidFill>
                            <a:srgbClr val="4B4B4B"/>
                          </a:solidFill>
                          <a:latin typeface="Arial"/>
                        </a:rPr>
                        <a:t>Installments Due › open a row</a:t>
                      </a:r>
                    </a:p>
                    <a:p>
                      <a:r>
                        <a:rPr sz="950" b="0">
                          <a:solidFill>
                            <a:srgbClr val="4B4B4B"/>
                          </a:solidFill>
                          <a:latin typeface="Arial"/>
                        </a:rPr>
                        <a:t>Statement of Account › Open Installment Plan</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13.2.2</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FR-CL-040, FR-CL-041, FR-CL-042, FR-CL-060</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collector follows each cycle of the plan, bills it and records the promises.</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(3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SCR-CL-06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194</a:t>
            </a:r>
          </a:p>
        </p:txBody>
      </p:sp>
      <p:graphicFrame>
        <p:nvGraphicFramePr>
          <p:cNvPr id="9" name="Table 8"/>
          <p:cNvGraphicFramePr>
            <a:graphicFrameLocks noGrp="1"/>
          </p:cNvGraphicFramePr>
          <p:nvPr/>
        </p:nvGraphicFramePr>
        <p:xfrm>
          <a:off x="548640" y="1325880"/>
          <a:ext cx="11094411" cy="3284201"/>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Header</a:t>
                      </a:r>
                    </a:p>
                  </a:txBody>
                  <a:tcPr marL="54864" marR="54864" marT="27432" marB="27432">
                    <a:solidFill>
                      <a:srgbClr val="FFFFFF"/>
                    </a:solidFill>
                  </a:tcPr>
                </a:tc>
                <a:tc>
                  <a:txBody>
                    <a:bodyPr/>
                    <a:lstStyle/>
                    <a:p>
                      <a:r>
                        <a:rPr sz="850" b="0">
                          <a:solidFill>
                            <a:srgbClr val="4B4B4B"/>
                          </a:solidFill>
                          <a:latin typeface="Arial"/>
                        </a:rPr>
                        <a:t>Plan and ARN chips, status pill, basis tag</a:t>
                      </a:r>
                    </a:p>
                  </a:txBody>
                  <a:tcPr marL="54864" marR="54864" marT="27432" marB="27432">
                    <a:solidFill>
                      <a:srgbClr val="FFFFFF"/>
                    </a:solidFill>
                  </a:tcPr>
                </a:tc>
                <a:tc>
                  <a:txBody>
                    <a:bodyPr/>
                    <a:lstStyle/>
                    <a:p>
                      <a:r>
                        <a:rPr sz="850" b="0">
                          <a:solidFill>
                            <a:srgbClr val="4B4B4B"/>
                          </a:solidFill>
                          <a:latin typeface="Arial"/>
                        </a:rPr>
                        <a:t>Reference chip, status pill, tag</a:t>
                      </a:r>
                    </a:p>
                  </a:txBody>
                  <a:tcPr marL="54864" marR="54864" marT="27432" marB="27432">
                    <a:solidFill>
                      <a:srgbClr val="FFFFFF"/>
                    </a:solidFill>
                  </a:tcPr>
                </a:tc>
                <a:tc>
                  <a:txBody>
                    <a:bodyPr/>
                    <a:lstStyle/>
                    <a:p>
                      <a:r>
                        <a:rPr sz="850" b="0">
                          <a:solidFill>
                            <a:srgbClr val="4B4B4B"/>
                          </a:solidFill>
                          <a:latin typeface="Arial"/>
                        </a:rPr>
                        <a:t>Active, Completed or Cancelled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Facts</a:t>
                      </a:r>
                    </a:p>
                  </a:txBody>
                  <a:tcPr marL="54864" marR="54864" marT="27432" marB="27432">
                    <a:solidFill>
                      <a:srgbClr val="E5F5FF"/>
                    </a:solidFill>
                  </a:tcPr>
                </a:tc>
                <a:tc>
                  <a:txBody>
                    <a:bodyPr/>
                    <a:lstStyle/>
                    <a:p>
                      <a:r>
                        <a:rPr sz="850" b="0">
                          <a:solidFill>
                            <a:srgbClr val="4B4B4B"/>
                          </a:solidFill>
                          <a:latin typeface="Arial"/>
                        </a:rPr>
                        <a:t>Invoice / Billing Frequency / Total / Paid / First Due / Created By</a:t>
                      </a:r>
                    </a:p>
                  </a:txBody>
                  <a:tcPr marL="54864" marR="54864" marT="27432" marB="27432">
                    <a:solidFill>
                      <a:srgbClr val="E5F5FF"/>
                    </a:solidFill>
                  </a:tcPr>
                </a:tc>
                <a:tc>
                  <a:txBody>
                    <a:bodyPr/>
                    <a:lstStyle/>
                    <a:p>
                      <a:r>
                        <a:rPr sz="850" b="0">
                          <a:solidFill>
                            <a:srgbClr val="4B4B4B"/>
                          </a:solidFill>
                          <a:latin typeface="Arial"/>
                        </a:rPr>
                        <a:t>Display</a:t>
                      </a:r>
                    </a:p>
                  </a:txBody>
                  <a:tcPr marL="54864" marR="54864" marT="27432" marB="27432">
                    <a:solidFill>
                      <a:srgbClr val="E5F5FF"/>
                    </a:solidFill>
                  </a:tcPr>
                </a:tc>
                <a:tc>
                  <a:txBody>
                    <a:bodyPr/>
                    <a:lstStyle/>
                    <a:p>
                      <a:r>
                        <a:rPr sz="850" b="0">
                          <a:solidFill>
                            <a:srgbClr val="4B4B4B"/>
                          </a:solidFill>
                          <a:latin typeface="Arial"/>
                        </a:rPr>
                        <a:t>Amounts with the currency; names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Installments / Statements of Account / Promises to Pay</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Installments</a:t>
                      </a:r>
                    </a:p>
                  </a:txBody>
                  <a:tcPr marL="54864" marR="54864" marT="27432" marB="27432">
                    <a:solidFill>
                      <a:srgbClr val="E5F5FF"/>
                    </a:solidFill>
                  </a:tcPr>
                </a:tc>
                <a:tc>
                  <a:txBody>
                    <a:bodyPr/>
                    <a:lstStyle/>
                    <a:p>
                      <a:r>
                        <a:rPr sz="850" b="0">
                          <a:solidFill>
                            <a:srgbClr val="4B4B4B"/>
                          </a:solidFill>
                          <a:latin typeface="Arial"/>
                        </a:rPr>
                        <a:t>Cycle / Policy Year / Invoice No. / Coverage / Due Date</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Coverage on two lines; Scheduled for a policy year not booked yet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 installments</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Installments</a:t>
                      </a:r>
                    </a:p>
                  </a:txBody>
                  <a:tcPr marL="54864" marR="54864" marT="27432" marB="27432">
                    <a:solidFill>
                      <a:srgbClr val="FFFFFF"/>
                    </a:solidFill>
                  </a:tcPr>
                </a:tc>
                <a:tc>
                  <a:txBody>
                    <a:bodyPr/>
                    <a:lstStyle/>
                    <a:p>
                      <a:r>
                        <a:rPr sz="850" b="0">
                          <a:solidFill>
                            <a:srgbClr val="4B4B4B"/>
                          </a:solidFill>
                          <a:latin typeface="Arial"/>
                        </a:rPr>
                        <a:t>Amount / Paid / Balance / 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Two decimals; Not Due, Due, Overdue, Partial or Paid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Statements of Account</a:t>
                      </a:r>
                    </a:p>
                  </a:txBody>
                  <a:tcPr marL="54864" marR="54864" marT="27432" marB="27432">
                    <a:solidFill>
                      <a:srgbClr val="E5F5FF"/>
                    </a:solidFill>
                  </a:tcPr>
                </a:tc>
                <a:tc>
                  <a:txBody>
                    <a:bodyPr/>
                    <a:lstStyle/>
                    <a:p>
                      <a:r>
                        <a:rPr sz="850" b="0">
                          <a:solidFill>
                            <a:srgbClr val="4B4B4B"/>
                          </a:solidFill>
                          <a:latin typeface="Arial"/>
                        </a:rPr>
                        <a:t>SOA No. / Cycle / Billing Cycle / Due Date / Amount Due / 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 statements generated yet</a:t>
                      </a:r>
                    </a:p>
                  </a:txBody>
                  <a:tcPr marL="54864" marR="54864" marT="27432" marB="27432">
                    <a:solidFill>
                      <a:srgbClr val="E5F5FF"/>
                    </a:solidFill>
                  </a:tcPr>
                </a:tc>
              </a:tr>
              <a:tr h="480057">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Promises to Pay</a:t>
                      </a:r>
                    </a:p>
                  </a:txBody>
                  <a:tcPr marL="54864" marR="54864" marT="27432" marB="27432">
                    <a:solidFill>
                      <a:srgbClr val="FFFFFF"/>
                    </a:solidFill>
                  </a:tcPr>
                </a:tc>
                <a:tc>
                  <a:txBody>
                    <a:bodyPr/>
                    <a:lstStyle/>
                    <a:p>
                      <a:r>
                        <a:rPr sz="850" b="0">
                          <a:solidFill>
                            <a:srgbClr val="4B4B4B"/>
                          </a:solidFill>
                          <a:latin typeface="Arial"/>
                        </a:rPr>
                        <a:t>Invoice No. / Promised On / Promised Date / Promised / Paid in Time / Recorded By / 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promises to pay recorded</a:t>
                      </a:r>
                    </a:p>
                  </a:txBody>
                  <a:tcPr marL="54864" marR="54864" marT="27432" marB="27432">
                    <a:solidFill>
                      <a:srgbClr val="FFFFFF"/>
                    </a:solidFill>
                  </a:tcPr>
                </a:tc>
              </a:tr>
              <a:tr h="350518">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Cancel Installment Plan dialog</a:t>
                      </a:r>
                    </a:p>
                  </a:txBody>
                  <a:tcPr marL="54864" marR="54864" marT="27432" marB="27432">
                    <a:solidFill>
                      <a:srgbClr val="E5F5FF"/>
                    </a:solidFill>
                  </a:tcPr>
                </a:tc>
                <a:tc>
                  <a:txBody>
                    <a:bodyPr/>
                    <a:lstStyle/>
                    <a:p>
                      <a:r>
                        <a:rPr sz="850" b="0">
                          <a:solidFill>
                            <a:srgbClr val="4B4B4B"/>
                          </a:solidFill>
                          <a:latin typeface="Arial"/>
                        </a:rPr>
                        <a:t>Reason</a:t>
                      </a:r>
                    </a:p>
                  </a:txBody>
                  <a:tcPr marL="54864" marR="54864" marT="27432" marB="27432">
                    <a:solidFill>
                      <a:srgbClr val="E5F5FF"/>
                    </a:solidFill>
                  </a:tcPr>
                </a:tc>
                <a:tc>
                  <a:txBody>
                    <a:bodyPr/>
                    <a:lstStyle/>
                    <a:p>
                      <a:r>
                        <a:rPr sz="850" b="0">
                          <a:solidFill>
                            <a:srgbClr val="4B4B4B"/>
                          </a:solidFill>
                          <a:latin typeface="Arial"/>
                        </a:rPr>
                        <a:t>Text area</a:t>
                      </a:r>
                    </a:p>
                  </a:txBody>
                  <a:tcPr marL="54864" marR="54864" marT="27432" marB="27432">
                    <a:solidFill>
                      <a:srgbClr val="E5F5FF"/>
                    </a:solidFill>
                  </a:tcPr>
                </a:tc>
                <a:tc>
                  <a:txBody>
                    <a:bodyPr/>
                    <a:lstStyle/>
                    <a:p>
                      <a:r>
                        <a:rPr sz="850" b="0">
                          <a:solidFill>
                            <a:srgbClr val="4B4B4B"/>
                          </a:solidFill>
                          <a:latin typeface="Arial"/>
                        </a:rPr>
                        <a:t>Up to 1,000 characters</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Not blank</a:t>
                      </a:r>
                    </a:p>
                  </a:txBody>
                  <a:tcPr marL="54864" marR="54864" marT="27432" marB="27432">
                    <a:solidFill>
                      <a:srgbClr val="E5F5FF"/>
                    </a:solidFill>
                  </a:tcPr>
                </a:tc>
                <a:tc>
                  <a:txBody>
                    <a:bodyPr/>
                    <a:lstStyle/>
                    <a:p>
                      <a:r>
                        <a:rPr sz="850" b="0">
                          <a:solidFill>
                            <a:srgbClr val="4B4B4B"/>
                          </a:solidFill>
                          <a:latin typeface="Arial"/>
                        </a:rPr>
                        <a:t>Enter the reason</a:t>
                      </a:r>
                    </a:p>
                  </a:txBody>
                  <a:tcPr marL="54864" marR="54864" marT="27432" marB="27432">
                    <a:solidFill>
                      <a:srgbClr val="E5F5FF"/>
                    </a:solidFill>
                  </a:tcPr>
                </a:tc>
              </a:tr>
            </a:tbl>
          </a:graphicData>
        </a:graphic>
      </p:graphicFrame>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SCR-CL-06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195</a:t>
            </a:r>
          </a:p>
        </p:txBody>
      </p:sp>
      <p:graphicFrame>
        <p:nvGraphicFramePr>
          <p:cNvPr id="9" name="Table 8"/>
          <p:cNvGraphicFramePr>
            <a:graphicFrameLocks noGrp="1"/>
          </p:cNvGraphicFramePr>
          <p:nvPr/>
        </p:nvGraphicFramePr>
        <p:xfrm>
          <a:off x="548640" y="1325880"/>
          <a:ext cx="11094412" cy="1623051"/>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Refresh Allocation</a:t>
                      </a:r>
                    </a:p>
                  </a:txBody>
                  <a:tcPr marL="54864" marR="54864" marT="27432" marB="27432">
                    <a:solidFill>
                      <a:srgbClr val="FFFFFF"/>
                    </a:solidFill>
                  </a:tcPr>
                </a:tc>
                <a:tc>
                  <a:txBody>
                    <a:bodyPr/>
                    <a:lstStyle/>
                    <a:p>
                      <a:r>
                        <a:rPr sz="850" b="0">
                          <a:solidFill>
                            <a:srgbClr val="4B4B4B"/>
                          </a:solidFill>
                          <a:latin typeface="Arial"/>
                        </a:rPr>
                        <a:t>Collectors with the billing or work permission</a:t>
                      </a:r>
                    </a:p>
                  </a:txBody>
                  <a:tcPr marL="54864" marR="54864" marT="27432" marB="27432">
                    <a:solidFill>
                      <a:srgbClr val="FFFFFF"/>
                    </a:solidFill>
                  </a:tcPr>
                </a:tc>
                <a:tc>
                  <a:txBody>
                    <a:bodyPr/>
                    <a:lstStyle/>
                    <a:p>
                      <a:r>
                        <a:rPr sz="850" b="0">
                          <a:solidFill>
                            <a:srgbClr val="4B4B4B"/>
                          </a:solidFill>
                          <a:latin typeface="Arial"/>
                        </a:rPr>
                        <a:t>Active</a:t>
                      </a:r>
                    </a:p>
                  </a:txBody>
                  <a:tcPr marL="54864" marR="54864" marT="27432" marB="27432">
                    <a:solidFill>
                      <a:srgbClr val="FFFFFF"/>
                    </a:solidFill>
                  </a:tcPr>
                </a:tc>
                <a:tc>
                  <a:txBody>
                    <a:bodyPr/>
                    <a:lstStyle/>
                    <a:p>
                      <a:r>
                        <a:rPr sz="850" b="0">
                          <a:solidFill>
                            <a:srgbClr val="4B4B4B"/>
                          </a:solidFill>
                          <a:latin typeface="Arial"/>
                        </a:rPr>
                        <a:t>Allocates the latest ledger payments to the installments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Cancel Plan</a:t>
                      </a:r>
                    </a:p>
                  </a:txBody>
                  <a:tcPr marL="54864" marR="54864" marT="27432" marB="27432">
                    <a:solidFill>
                      <a:srgbClr val="E5F5FF"/>
                    </a:solidFill>
                  </a:tcPr>
                </a:tc>
                <a:tc>
                  <a:txBody>
                    <a:bodyPr/>
                    <a:lstStyle/>
                    <a:p>
                      <a:r>
                        <a:rPr sz="850" b="0">
                          <a:solidFill>
                            <a:srgbClr val="4B4B4B"/>
                          </a:solidFill>
                          <a:latin typeface="Arial"/>
                        </a:rPr>
                        <a:t>Users with the billing permission</a:t>
                      </a:r>
                    </a:p>
                  </a:txBody>
                  <a:tcPr marL="54864" marR="54864" marT="27432" marB="27432">
                    <a:solidFill>
                      <a:srgbClr val="E5F5FF"/>
                    </a:solidFill>
                  </a:tcPr>
                </a:tc>
                <a:tc>
                  <a:txBody>
                    <a:bodyPr/>
                    <a:lstStyle/>
                    <a:p>
                      <a:r>
                        <a:rPr sz="850" b="0">
                          <a:solidFill>
                            <a:srgbClr val="4B4B4B"/>
                          </a:solidFill>
                          <a:latin typeface="Arial"/>
                        </a:rPr>
                        <a:t>Active</a:t>
                      </a:r>
                    </a:p>
                  </a:txBody>
                  <a:tcPr marL="54864" marR="54864" marT="27432" marB="27432">
                    <a:solidFill>
                      <a:srgbClr val="E5F5FF"/>
                    </a:solidFill>
                  </a:tcPr>
                </a:tc>
                <a:tc>
                  <a:txBody>
                    <a:bodyPr/>
                    <a:lstStyle/>
                    <a:p>
                      <a:r>
                        <a:rPr sz="850" b="0">
                          <a:solidFill>
                            <a:srgbClr val="4B4B4B"/>
                          </a:solidFill>
                          <a:latin typeface="Arial"/>
                        </a:rPr>
                        <a:t>Asks for the reason and cancels the plan</a:t>
                      </a:r>
                    </a:p>
                  </a:txBody>
                  <a:tcPr marL="54864" marR="54864" marT="27432" marB="27432">
                    <a:solidFill>
                      <a:srgbClr val="E5F5FF"/>
                    </a:solidFill>
                  </a:tcPr>
                </a:tc>
                <a:tc>
                  <a:txBody>
                    <a:bodyPr/>
                    <a:lstStyle/>
                    <a:p>
                      <a:r>
                        <a:rPr sz="850" b="0">
                          <a:solidFill>
                            <a:srgbClr val="4B4B4B"/>
                          </a:solidFill>
                          <a:latin typeface="Arial"/>
                        </a:rPr>
                        <a:t>Cancelled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Generate SOA (row menu)</a:t>
                      </a:r>
                    </a:p>
                  </a:txBody>
                  <a:tcPr marL="54864" marR="54864" marT="27432" marB="27432">
                    <a:solidFill>
                      <a:srgbClr val="FFFFFF"/>
                    </a:solidFill>
                  </a:tcPr>
                </a:tc>
                <a:tc>
                  <a:txBody>
                    <a:bodyPr/>
                    <a:lstStyle/>
                    <a:p>
                      <a:r>
                        <a:rPr sz="850" b="0">
                          <a:solidFill>
                            <a:srgbClr val="4B4B4B"/>
                          </a:solidFill>
                          <a:latin typeface="Arial"/>
                        </a:rPr>
                        <a:t>Users with the billing permission</a:t>
                      </a:r>
                    </a:p>
                  </a:txBody>
                  <a:tcPr marL="54864" marR="54864" marT="27432" marB="27432">
                    <a:solidFill>
                      <a:srgbClr val="FFFFFF"/>
                    </a:solidFill>
                  </a:tcPr>
                </a:tc>
                <a:tc>
                  <a:txBody>
                    <a:bodyPr/>
                    <a:lstStyle/>
                    <a:p>
                      <a:r>
                        <a:rPr sz="850" b="0">
                          <a:solidFill>
                            <a:srgbClr val="4B4B4B"/>
                          </a:solidFill>
                          <a:latin typeface="Arial"/>
                        </a:rPr>
                        <a:t>Cycle not billed yet</a:t>
                      </a:r>
                    </a:p>
                  </a:txBody>
                  <a:tcPr marL="54864" marR="54864" marT="27432" marB="27432">
                    <a:solidFill>
                      <a:srgbClr val="FFFFFF"/>
                    </a:solidFill>
                  </a:tcPr>
                </a:tc>
                <a:tc>
                  <a:txBody>
                    <a:bodyPr/>
                    <a:lstStyle/>
                    <a:p>
                      <a:r>
                        <a:rPr sz="850" b="0">
                          <a:solidFill>
                            <a:srgbClr val="4B4B4B"/>
                          </a:solidFill>
                          <a:latin typeface="Arial"/>
                        </a:rPr>
                        <a:t>Generates the statement of account of the cycle</a:t>
                      </a:r>
                    </a:p>
                  </a:txBody>
                  <a:tcPr marL="54864" marR="54864" marT="27432" marB="27432">
                    <a:solidFill>
                      <a:srgbClr val="FFFFFF"/>
                    </a:solidFill>
                  </a:tcPr>
                </a:tc>
                <a:tc>
                  <a:txBody>
                    <a:bodyPr/>
                    <a:lstStyle/>
                    <a:p>
                      <a:r>
                        <a:rPr sz="850" b="0">
                          <a:solidFill>
                            <a:srgbClr val="4B4B4B"/>
                          </a:solidFill>
                          <a:latin typeface="Arial"/>
                        </a:rPr>
                        <a:t>Statement To Send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Record Promise (row menu)</a:t>
                      </a:r>
                    </a:p>
                  </a:txBody>
                  <a:tcPr marL="54864" marR="54864" marT="27432" marB="27432">
                    <a:solidFill>
                      <a:srgbClr val="E5F5FF"/>
                    </a:solidFill>
                  </a:tcPr>
                </a:tc>
                <a:tc>
                  <a:txBody>
                    <a:bodyPr/>
                    <a:lstStyle/>
                    <a:p>
                      <a:r>
                        <a:rPr sz="850" b="0">
                          <a:solidFill>
                            <a:srgbClr val="4B4B4B"/>
                          </a:solidFill>
                          <a:latin typeface="Arial"/>
                        </a:rPr>
                        <a:t>Collectors with the work permission</a:t>
                      </a:r>
                    </a:p>
                  </a:txBody>
                  <a:tcPr marL="54864" marR="54864" marT="27432" marB="27432">
                    <a:solidFill>
                      <a:srgbClr val="E5F5FF"/>
                    </a:solidFill>
                  </a:tcPr>
                </a:tc>
                <a:tc>
                  <a:txBody>
                    <a:bodyPr/>
                    <a:lstStyle/>
                    <a:p>
                      <a:r>
                        <a:rPr sz="850" b="0">
                          <a:solidFill>
                            <a:srgbClr val="4B4B4B"/>
                          </a:solidFill>
                          <a:latin typeface="Arial"/>
                        </a:rPr>
                        <a:t>Booked installment not paid</a:t>
                      </a:r>
                    </a:p>
                  </a:txBody>
                  <a:tcPr marL="54864" marR="54864" marT="27432" marB="27432">
                    <a:solidFill>
                      <a:srgbClr val="E5F5FF"/>
                    </a:solidFill>
                  </a:tcPr>
                </a:tc>
                <a:tc>
                  <a:txBody>
                    <a:bodyPr/>
                    <a:lstStyle/>
                    <a:p>
                      <a:r>
                        <a:rPr sz="850" b="0">
                          <a:solidFill>
                            <a:srgbClr val="4B4B4B"/>
                          </a:solidFill>
                          <a:latin typeface="Arial"/>
                        </a:rPr>
                        <a:t>Opens Record Promise to Pay for the invoice of the installment</a:t>
                      </a:r>
                    </a:p>
                  </a:txBody>
                  <a:tcPr marL="54864" marR="54864" marT="27432" marB="27432">
                    <a:solidFill>
                      <a:srgbClr val="E5F5FF"/>
                    </a:solidFill>
                  </a:tcPr>
                </a:tc>
                <a:tc>
                  <a:txBody>
                    <a:bodyPr/>
                    <a:lstStyle/>
                    <a:p>
                      <a:r>
                        <a:rPr sz="850" b="0">
                          <a:solidFill>
                            <a:srgbClr val="4B4B4B"/>
                          </a:solidFill>
                          <a:latin typeface="Arial"/>
                        </a:rPr>
                        <a:t>Promise Open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SCR-CL-06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196</a:t>
            </a:r>
          </a:p>
        </p:txBody>
      </p:sp>
      <p:graphicFrame>
        <p:nvGraphicFramePr>
          <p:cNvPr id="9" name="Table 8"/>
          <p:cNvGraphicFramePr>
            <a:graphicFrameLocks noGrp="1"/>
          </p:cNvGraphicFramePr>
          <p:nvPr/>
        </p:nvGraphicFramePr>
        <p:xfrm>
          <a:off x="548640" y="1325880"/>
          <a:ext cx="11094415" cy="9753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Payments are allocated from the invoice ledger, oldest due installment first (FR-CL-041).</a:t>
                      </a:r>
                    </a:p>
                  </a:txBody>
                  <a:tcPr marL="54864" marR="54864" marT="27432" marB="27432">
                    <a:solidFill>
                      <a:srgbClr val="FFFFFF"/>
                    </a:solidFill>
                  </a:tcPr>
                </a:tc>
              </a:tr>
              <a:tr h="243840">
                <a:tc>
                  <a:txBody>
                    <a:bodyPr/>
                    <a:lstStyle/>
                    <a:p>
                      <a:r>
                        <a:rPr sz="1000" b="0">
                          <a:solidFill>
                            <a:srgbClr val="4B4B4B"/>
                          </a:solidFill>
                          <a:latin typeface="Arial"/>
                        </a:rPr>
                        <a:t>An installment past its due date and not fully paid is Overdue and can escalate the account through the escalation rules (FR-CL-041, FR-CL-051).</a:t>
                      </a:r>
                    </a:p>
                  </a:txBody>
                  <a:tcPr marL="54864" marR="54864" marT="27432" marB="27432">
                    <a:solidFill>
                      <a:srgbClr val="E5F5FF"/>
                    </a:solidFill>
                  </a:tcPr>
                </a:tc>
              </a:tr>
              <a:tr h="243840">
                <a:tc>
                  <a:txBody>
                    <a:bodyPr/>
                    <a:lstStyle/>
                    <a:p>
                      <a:r>
                        <a:rPr sz="1000" b="0">
                          <a:solidFill>
                            <a:srgbClr val="4B4B4B"/>
                          </a:solidFill>
                          <a:latin typeface="Arial"/>
                        </a:rPr>
                        <a:t>One live statement per plan and billing cycle (FR-CL-060).</a:t>
                      </a:r>
                    </a:p>
                  </a:txBody>
                  <a:tcPr marL="54864" marR="54864" marT="27432" marB="27432">
                    <a:solidFill>
                      <a:srgbClr val="FFFFFF"/>
                    </a:solidFill>
                  </a:tcPr>
                </a:tc>
              </a:tr>
            </a:tbl>
          </a:graphicData>
        </a:graphic>
      </p:graphicFrame>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SCR-CL-06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197</a:t>
            </a:r>
          </a:p>
        </p:txBody>
      </p:sp>
      <p:graphicFrame>
        <p:nvGraphicFramePr>
          <p:cNvPr id="9" name="Table 8"/>
          <p:cNvGraphicFramePr>
            <a:graphicFrameLocks noGrp="1"/>
          </p:cNvGraphicFramePr>
          <p:nvPr/>
        </p:nvGraphicFramePr>
        <p:xfrm>
          <a:off x="548640" y="1325880"/>
          <a:ext cx="11094413" cy="45720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WT-D step 2</a:t>
                      </a:r>
                    </a:p>
                  </a:txBody>
                  <a:tcPr marL="54864" marR="54864" marT="27432" marB="27432">
                    <a:solidFill>
                      <a:srgbClr val="FFFFFF"/>
                    </a:solidFill>
                  </a:tcPr>
                </a:tc>
                <a:tc>
                  <a:txBody>
                    <a:bodyPr/>
                    <a:lstStyle/>
                    <a:p>
                      <a:r>
                        <a:rPr sz="900" b="0">
                          <a:solidFill>
                            <a:srgbClr val="4B4B4B"/>
                          </a:solidFill>
                          <a:latin typeface="Arial"/>
                        </a:rPr>
                        <a:t>Opens the row menu of cycle 1 and clicks Generate SOA, then the Statements of Account tab</a:t>
                      </a:r>
                    </a:p>
                  </a:txBody>
                  <a:tcPr marL="54864" marR="54864" marT="27432" marB="27432">
                    <a:solidFill>
                      <a:srgbClr val="FFFFFF"/>
                    </a:solidFill>
                  </a:tcPr>
                </a:tc>
                <a:tc>
                  <a:txBody>
                    <a:bodyPr/>
                    <a:lstStyle/>
                    <a:p>
                      <a:r>
                        <a:rPr sz="900" b="0">
                          <a:solidFill>
                            <a:srgbClr val="4B4B4B"/>
                          </a:solidFill>
                          <a:latin typeface="Arial"/>
                        </a:rPr>
                        <a:t>SCR-CL-06_wt-d-step-02.png</a:t>
                      </a:r>
                    </a:p>
                  </a:txBody>
                  <a:tcPr marL="54864" marR="54864" marT="27432" marB="27432">
                    <a:solidFill>
                      <a:srgbClr val="FFFFFF"/>
                    </a:solidFill>
                  </a:tcPr>
                </a:tc>
              </a:tr>
            </a:tbl>
          </a:graphicData>
        </a:graphic>
      </p:graphicFrame>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SCR-CL-06 Installment Plan: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30.png"/>
          <p:cNvPicPr>
            <a:picLocks noChangeAspect="1"/>
          </p:cNvPicPr>
          <p:nvPr/>
        </p:nvPicPr>
        <p:blipFill>
          <a:blip r:embed="rId3"/>
          <a:stretch>
            <a:fillRect/>
          </a:stretch>
        </p:blipFill>
        <p:spPr>
          <a:xfrm>
            <a:off x="548640" y="1261872"/>
            <a:ext cx="11094415" cy="388304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Installment Plan: the installments with their coverage, due date, amounts and status (part 1 of 2)</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SCR-CL-06 Installment Plan: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31.png"/>
          <p:cNvPicPr>
            <a:picLocks noChangeAspect="1"/>
          </p:cNvPicPr>
          <p:nvPr/>
        </p:nvPicPr>
        <p:blipFill>
          <a:blip r:embed="rId3"/>
          <a:stretch>
            <a:fillRect/>
          </a:stretch>
        </p:blipFill>
        <p:spPr>
          <a:xfrm>
            <a:off x="548640" y="1261872"/>
            <a:ext cx="11094415" cy="282142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Installment Plan: the installments with their coverage, due date, amounts and status (part 2 of 2)</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SCR-CL-06 Installment Plan: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32.png"/>
          <p:cNvPicPr>
            <a:picLocks noChangeAspect="1"/>
          </p:cNvPicPr>
          <p:nvPr/>
        </p:nvPicPr>
        <p:blipFill>
          <a:blip r:embed="rId3"/>
          <a:stretch>
            <a:fillRect/>
          </a:stretch>
        </p:blipFill>
        <p:spPr>
          <a:xfrm>
            <a:off x="548640" y="1261872"/>
            <a:ext cx="11094415" cy="388304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The row menu of an installment: Generate SOA and Record Promise (part 1 of 2)</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SCR-CL-06 Installment Plan: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33.png"/>
          <p:cNvPicPr>
            <a:picLocks noChangeAspect="1"/>
          </p:cNvPicPr>
          <p:nvPr/>
        </p:nvPicPr>
        <p:blipFill>
          <a:blip r:embed="rId3"/>
          <a:stretch>
            <a:fillRect/>
          </a:stretch>
        </p:blipFill>
        <p:spPr>
          <a:xfrm>
            <a:off x="548640" y="1261872"/>
            <a:ext cx="11094415" cy="340483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The row menu of an installment: Generate SOA and Record Promise (part 2 of 2)</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SCR-CL-07 Installments Due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202</a:t>
            </a:r>
          </a:p>
        </p:txBody>
      </p:sp>
      <p:graphicFrame>
        <p:nvGraphicFramePr>
          <p:cNvPr id="9" name="Table 8"/>
          <p:cNvGraphicFramePr>
            <a:graphicFrameLocks noGrp="1"/>
          </p:cNvGraphicFramePr>
          <p:nvPr/>
        </p:nvGraphicFramePr>
        <p:xfrm>
          <a:off x="548640" y="1307592"/>
          <a:ext cx="6434760" cy="252222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Installments, promises and billing statements</a:t>
                      </a:r>
                    </a:p>
                  </a:txBody>
                  <a:tcPr marL="54864" marR="54864" marT="27432" marB="27432">
                    <a:solidFill>
                      <a:srgbClr val="FFFFFF"/>
                    </a:solidFill>
                  </a:tcPr>
                </a:tc>
              </a:tr>
              <a:tr h="38100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unpaid installments of the live plans falling due up to today, oldest first, with the overdue ones on their own tab, for follow-up and escalation.</a:t>
                      </a:r>
                    </a:p>
                  </a:txBody>
                  <a:tcPr marL="54864" marR="54864" marT="27432" marB="27432">
                    <a:solidFill>
                      <a:srgbClr val="FFFFFF"/>
                    </a:solidFill>
                  </a:tcPr>
                </a:tc>
              </a:tr>
              <a:tr h="81534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Team Lead, Marketing Handler, Collection Handler, Collection Team Lead, Section Head (Corporate / Retail), Unapplied Payment Handler, Processing Unit, Cashier (read access and exports), Disbursement (read access and exports), Comptrollership (read access), Business Administrator, System Administrator, Auditor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Collections › Installments Due</a:t>
                      </a:r>
                    </a:p>
                    <a:p>
                      <a:r>
                        <a:rPr sz="950" b="0">
                          <a:solidFill>
                            <a:srgbClr val="4B4B4B"/>
                          </a:solidFill>
                          <a:latin typeface="Arial"/>
                        </a:rPr>
                        <a:t>Finance › Collections › Installments Due</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13.2.3</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FR-CL-041</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collector sees the installments to chase today.</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SCR-CL-07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203</a:t>
            </a:r>
          </a:p>
        </p:txBody>
      </p:sp>
      <p:graphicFrame>
        <p:nvGraphicFramePr>
          <p:cNvPr id="9" name="Table 8"/>
          <p:cNvGraphicFramePr>
            <a:graphicFrameLocks noGrp="1"/>
          </p:cNvGraphicFramePr>
          <p:nvPr/>
        </p:nvGraphicFramePr>
        <p:xfrm>
          <a:off x="548640" y="1325880"/>
          <a:ext cx="11094411" cy="1142994"/>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Overdue / Due to Date</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Plan No. / ARN / Name of Assured / Cycle / Invoice No.</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 installments due</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Due Date / Overdue Since / Amount / Balance / 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Dates dd-MMM-yyyy; two decimals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SCR-CL-07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204</a:t>
            </a:r>
          </a:p>
        </p:txBody>
      </p:sp>
      <p:graphicFrame>
        <p:nvGraphicFramePr>
          <p:cNvPr id="9" name="Table 8"/>
          <p:cNvGraphicFramePr>
            <a:graphicFrameLocks noGrp="1"/>
          </p:cNvGraphicFramePr>
          <p:nvPr/>
        </p:nvGraphicFramePr>
        <p:xfrm>
          <a:off x="548640" y="1325880"/>
          <a:ext cx="11094412" cy="441958"/>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Row</a:t>
                      </a:r>
                    </a:p>
                  </a:txBody>
                  <a:tcPr marL="54864" marR="54864" marT="27432" marB="27432">
                    <a:solidFill>
                      <a:srgbClr val="FFFFFF"/>
                    </a:solidFill>
                  </a:tcPr>
                </a:tc>
                <a:tc>
                  <a:txBody>
                    <a:bodyPr/>
                    <a:lstStyle/>
                    <a:p>
                      <a:r>
                        <a:rPr sz="850" b="0">
                          <a:solidFill>
                            <a:srgbClr val="4B4B4B"/>
                          </a:solidFill>
                          <a:latin typeface="Arial"/>
                        </a:rPr>
                        <a:t>Every Collections user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installment plan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SCR-CL-07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205</a:t>
            </a:r>
          </a:p>
        </p:txBody>
      </p:sp>
      <p:graphicFrame>
        <p:nvGraphicFramePr>
          <p:cNvPr id="9" name="Table 8"/>
          <p:cNvGraphicFramePr>
            <a:graphicFrameLocks noGrp="1"/>
          </p:cNvGraphicFramePr>
          <p:nvPr/>
        </p:nvGraphicFramePr>
        <p:xfrm>
          <a:off x="548640" y="1325880"/>
          <a:ext cx="11094415" cy="487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An installment is due on its due date and overdue the day after when it is not fully paid (FR-CL-041).</a:t>
                      </a:r>
                    </a:p>
                  </a:txBody>
                  <a:tcPr marL="54864" marR="54864" marT="27432" marB="27432">
                    <a:solidFill>
                      <a:srgbClr val="FFFFFF"/>
                    </a:solidFill>
                  </a:tcPr>
                </a:tc>
              </a:tr>
            </a:tbl>
          </a:graphicData>
        </a:graphic>
      </p:graphicFrame>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SCR-CL-07 Installments Due: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cl-07-01-list.png"/>
          <p:cNvPicPr>
            <a:picLocks noChangeAspect="1"/>
          </p:cNvPicPr>
          <p:nvPr/>
        </p:nvPicPr>
        <p:blipFill>
          <a:blip r:embed="rId3"/>
          <a:stretch>
            <a:fillRect/>
          </a:stretch>
        </p:blipFill>
        <p:spPr>
          <a:xfrm>
            <a:off x="548640" y="1261872"/>
            <a:ext cx="11094415" cy="445689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Installments Due: the overdue installments of the live plans</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SCR-CL-08 Promises to Pay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207</a:t>
            </a:r>
          </a:p>
        </p:txBody>
      </p:sp>
      <p:graphicFrame>
        <p:nvGraphicFramePr>
          <p:cNvPr id="9" name="Table 8"/>
          <p:cNvGraphicFramePr>
            <a:graphicFrameLocks noGrp="1"/>
          </p:cNvGraphicFramePr>
          <p:nvPr/>
        </p:nvGraphicFramePr>
        <p:xfrm>
          <a:off x="548640" y="1307592"/>
          <a:ext cx="6434760" cy="29565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Installments, promises and billing statements</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promises made by clients to pay an amount by a date, checked every night against the payments applied in the invoice ledger: open, broken, kept and withdrawn promises; Record Promise on one invoice, or the same promise on several invoices with the bulk update permission; Withdraw Promise on the selected open promises.</a:t>
                      </a:r>
                    </a:p>
                  </a:txBody>
                  <a:tcPr marL="54864" marR="54864" marT="27432" marB="27432">
                    <a:solidFill>
                      <a:srgbClr val="FFFFFF"/>
                    </a:solidFill>
                  </a:tcPr>
                </a:tc>
              </a:tr>
              <a:tr h="81534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Team Lead, Marketing Handler, Collection Handler, Collection Team Lead, Section Head (Corporate / Retail), Unapplied Payment Handler, Processing Unit, Cashier (read access and exports), Disbursement (read access and exports), Comptrollership (read access), Business Administrator, System Administrator, Auditor</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Collections › Promises to Pay</a:t>
                      </a:r>
                    </a:p>
                    <a:p>
                      <a:r>
                        <a:rPr sz="950" b="0">
                          <a:solidFill>
                            <a:srgbClr val="4B4B4B"/>
                          </a:solidFill>
                          <a:latin typeface="Arial"/>
                        </a:rPr>
                        <a:t>Finance › Collections › Promises to Pay</a:t>
                      </a:r>
                    </a:p>
                    <a:p>
                      <a:r>
                        <a:rPr sz="950" b="0">
                          <a:solidFill>
                            <a:srgbClr val="4B4B4B"/>
                          </a:solidFill>
                          <a:latin typeface="Arial"/>
                        </a:rPr>
                        <a:t>Installment Plan › installment row menu › Record Promise</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13.2.4</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FR-CL-042, FR-CL-034</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collector records what the client promised and the system checks it.</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(5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SCR-CL-08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208</a:t>
            </a:r>
          </a:p>
        </p:txBody>
      </p:sp>
      <p:graphicFrame>
        <p:nvGraphicFramePr>
          <p:cNvPr id="9" name="Table 8"/>
          <p:cNvGraphicFramePr>
            <a:graphicFrameLocks noGrp="1"/>
          </p:cNvGraphicFramePr>
          <p:nvPr/>
        </p:nvGraphicFramePr>
        <p:xfrm>
          <a:off x="548640" y="1325880"/>
          <a:ext cx="11094411" cy="3246102"/>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Open Promises / Broken / Kept / Withdrawn</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Kept includes partially kept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Toolbar</a:t>
                      </a:r>
                    </a:p>
                  </a:txBody>
                  <a:tcPr marL="54864" marR="54864" marT="27432" marB="27432">
                    <a:solidFill>
                      <a:srgbClr val="E5F5FF"/>
                    </a:solidFill>
                  </a:tcPr>
                </a:tc>
                <a:tc>
                  <a:txBody>
                    <a:bodyPr/>
                    <a:lstStyle/>
                    <a:p>
                      <a:r>
                        <a:rPr sz="850" b="0">
                          <a:solidFill>
                            <a:srgbClr val="4B4B4B"/>
                          </a:solidFill>
                          <a:latin typeface="Arial"/>
                        </a:rPr>
                        <a:t>Search Invoice No. or ARN</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Contains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Invoice No. / ARN / Name of Assured / Promised On / Promised Date</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promises to pay to display</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Promised / Paid in Time / Recorded By / 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Two decimals; recorder's name with the bulk reference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Record Promise to Pay dialog</a:t>
                      </a:r>
                    </a:p>
                  </a:txBody>
                  <a:tcPr marL="54864" marR="54864" marT="27432" marB="27432">
                    <a:solidFill>
                      <a:srgbClr val="FFFFFF"/>
                    </a:solidFill>
                  </a:tcPr>
                </a:tc>
                <a:tc>
                  <a:txBody>
                    <a:bodyPr/>
                    <a:lstStyle/>
                    <a:p>
                      <a:r>
                        <a:rPr sz="850" b="0">
                          <a:solidFill>
                            <a:srgbClr val="4B4B4B"/>
                          </a:solidFill>
                          <a:latin typeface="Arial"/>
                        </a:rPr>
                        <a:t>Invoice No. / Invoice Nos.</a:t>
                      </a:r>
                    </a:p>
                  </a:txBody>
                  <a:tcPr marL="54864" marR="54864" marT="27432" marB="27432">
                    <a:solidFill>
                      <a:srgbClr val="FFFFFF"/>
                    </a:solidFill>
                  </a:tcPr>
                </a:tc>
                <a:tc>
                  <a:txBody>
                    <a:bodyPr/>
                    <a:lstStyle/>
                    <a:p>
                      <a:r>
                        <a:rPr sz="850" b="0">
                          <a:solidFill>
                            <a:srgbClr val="4B4B4B"/>
                          </a:solidFill>
                          <a:latin typeface="Arial"/>
                        </a:rPr>
                        <a:t>Text, text area</a:t>
                      </a:r>
                    </a:p>
                  </a:txBody>
                  <a:tcPr marL="54864" marR="54864" marT="27432" marB="27432">
                    <a:solidFill>
                      <a:srgbClr val="FFFFFF"/>
                    </a:solidFill>
                  </a:tcPr>
                </a:tc>
                <a:tc>
                  <a:txBody>
                    <a:bodyPr/>
                    <a:lstStyle/>
                    <a:p>
                      <a:r>
                        <a:rPr sz="850" b="0">
                          <a:solidFill>
                            <a:srgbClr val="4B4B4B"/>
                          </a:solidFill>
                          <a:latin typeface="Arial"/>
                        </a:rPr>
                        <a:t>One invoice; several, one per line, with the bulk update permission</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Account with something to collect</a:t>
                      </a:r>
                    </a:p>
                  </a:txBody>
                  <a:tcPr marL="54864" marR="54864" marT="27432" marB="27432">
                    <a:solidFill>
                      <a:srgbClr val="FFFFFF"/>
                    </a:solidFill>
                  </a:tcPr>
                </a:tc>
                <a:tc>
                  <a:txBody>
                    <a:bodyPr/>
                    <a:lstStyle/>
                    <a:p>
                      <a:r>
                        <a:rPr sz="850" b="0">
                          <a:solidFill>
                            <a:srgbClr val="4B4B4B"/>
                          </a:solidFill>
                          <a:latin typeface="Arial"/>
                        </a:rPr>
                        <a:t>Enter at least one invoice number</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Record Promise to Pay dialog</a:t>
                      </a:r>
                    </a:p>
                  </a:txBody>
                  <a:tcPr marL="54864" marR="54864" marT="27432" marB="27432">
                    <a:solidFill>
                      <a:srgbClr val="E5F5FF"/>
                    </a:solidFill>
                  </a:tcPr>
                </a:tc>
                <a:tc>
                  <a:txBody>
                    <a:bodyPr/>
                    <a:lstStyle/>
                    <a:p>
                      <a:r>
                        <a:rPr sz="850" b="0">
                          <a:solidFill>
                            <a:srgbClr val="4B4B4B"/>
                          </a:solidFill>
                          <a:latin typeface="Arial"/>
                        </a:rPr>
                        <a:t>Promised On</a:t>
                      </a:r>
                    </a:p>
                  </a:txBody>
                  <a:tcPr marL="54864" marR="54864" marT="27432" marB="27432">
                    <a:solidFill>
                      <a:srgbClr val="E5F5FF"/>
                    </a:solidFill>
                  </a:tcPr>
                </a:tc>
                <a:tc>
                  <a:txBody>
                    <a:bodyPr/>
                    <a:lstStyle/>
                    <a:p>
                      <a:r>
                        <a:rPr sz="850" b="0">
                          <a:solidFill>
                            <a:srgbClr val="4B4B4B"/>
                          </a:solidFill>
                          <a:latin typeface="Arial"/>
                        </a:rPr>
                        <a:t>Date</a:t>
                      </a:r>
                    </a:p>
                  </a:txBody>
                  <a:tcPr marL="54864" marR="54864" marT="27432" marB="27432">
                    <a:solidFill>
                      <a:srgbClr val="E5F5FF"/>
                    </a:solidFill>
                  </a:tcPr>
                </a:tc>
                <a:tc>
                  <a:txBody>
                    <a:bodyPr/>
                    <a:lstStyle/>
                    <a:p>
                      <a:r>
                        <a:rPr sz="850" b="0">
                          <a:solidFill>
                            <a:srgbClr val="4B4B4B"/>
                          </a:solidFill>
                          <a:latin typeface="Arial"/>
                        </a:rPr>
                        <a:t>The day the client made the promise</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Not in the future</a:t>
                      </a:r>
                    </a:p>
                  </a:txBody>
                  <a:tcPr marL="54864" marR="54864" marT="27432" marB="27432">
                    <a:solidFill>
                      <a:srgbClr val="E5F5FF"/>
                    </a:solidFill>
                  </a:tcPr>
                </a:tc>
                <a:tc>
                  <a:txBody>
                    <a:bodyPr/>
                    <a:lstStyle/>
                    <a:p>
                      <a:r>
                        <a:rPr sz="850" b="0">
                          <a:solidFill>
                            <a:srgbClr val="4B4B4B"/>
                          </a:solidFill>
                          <a:latin typeface="Arial"/>
                        </a:rPr>
                        <a:t>The day of the promise cannot be in the future</a:t>
                      </a:r>
                    </a:p>
                  </a:txBody>
                  <a:tcPr marL="54864" marR="54864" marT="27432" marB="27432">
                    <a:solidFill>
                      <a:srgbClr val="E5F5FF"/>
                    </a:solidFill>
                  </a:tcPr>
                </a:tc>
              </a:tr>
              <a:tr h="350518">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Record Promise to Pay dialog</a:t>
                      </a:r>
                    </a:p>
                  </a:txBody>
                  <a:tcPr marL="54864" marR="54864" marT="27432" marB="27432">
                    <a:solidFill>
                      <a:srgbClr val="FFFFFF"/>
                    </a:solidFill>
                  </a:tcPr>
                </a:tc>
                <a:tc>
                  <a:txBody>
                    <a:bodyPr/>
                    <a:lstStyle/>
                    <a:p>
                      <a:r>
                        <a:rPr sz="850" b="0">
                          <a:solidFill>
                            <a:srgbClr val="4B4B4B"/>
                          </a:solidFill>
                          <a:latin typeface="Arial"/>
                        </a:rPr>
                        <a:t>Promised Payment Date</a:t>
                      </a:r>
                    </a:p>
                  </a:txBody>
                  <a:tcPr marL="54864" marR="54864" marT="27432" marB="27432">
                    <a:solidFill>
                      <a:srgbClr val="FFFFFF"/>
                    </a:solidFill>
                  </a:tcPr>
                </a:tc>
                <a:tc>
                  <a:txBody>
                    <a:bodyPr/>
                    <a:lstStyle/>
                    <a:p>
                      <a:r>
                        <a:rPr sz="850" b="0">
                          <a:solidFill>
                            <a:srgbClr val="4B4B4B"/>
                          </a:solidFill>
                          <a:latin typeface="Arial"/>
                        </a:rPr>
                        <a:t>Date</a:t>
                      </a:r>
                    </a:p>
                  </a:txBody>
                  <a:tcPr marL="54864" marR="54864" marT="27432" marB="27432">
                    <a:solidFill>
                      <a:srgbClr val="FFFFFF"/>
                    </a:solidFill>
                  </a:tcPr>
                </a:tc>
                <a:tc>
                  <a:txBody>
                    <a:bodyPr/>
                    <a:lstStyle/>
                    <a:p>
                      <a:r>
                        <a:rPr sz="850" b="0">
                          <a:solidFill>
                            <a:srgbClr val="4B4B4B"/>
                          </a:solidFill>
                          <a:latin typeface="Arial"/>
                        </a:rPr>
                        <a:t>dd-MMM-yyyy</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Not before the day of the promise</a:t>
                      </a:r>
                    </a:p>
                  </a:txBody>
                  <a:tcPr marL="54864" marR="54864" marT="27432" marB="27432">
                    <a:solidFill>
                      <a:srgbClr val="FFFFFF"/>
                    </a:solidFill>
                  </a:tcPr>
                </a:tc>
                <a:tc>
                  <a:txBody>
                    <a:bodyPr/>
                    <a:lstStyle/>
                    <a:p>
                      <a:r>
                        <a:rPr sz="850" b="0">
                          <a:solidFill>
                            <a:srgbClr val="4B4B4B"/>
                          </a:solidFill>
                          <a:latin typeface="Arial"/>
                        </a:rPr>
                        <a:t>The promised date cannot be before the day of the promise</a:t>
                      </a:r>
                    </a:p>
                  </a:txBody>
                  <a:tcPr marL="54864" marR="54864" marT="27432" marB="27432">
                    <a:solidFill>
                      <a:srgbClr val="FFFFFF"/>
                    </a:solidFill>
                  </a:tcPr>
                </a:tc>
              </a:tr>
              <a:tr h="350518">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Record Promise to Pay dialog</a:t>
                      </a:r>
                    </a:p>
                  </a:txBody>
                  <a:tcPr marL="54864" marR="54864" marT="27432" marB="27432">
                    <a:solidFill>
                      <a:srgbClr val="E5F5FF"/>
                    </a:solidFill>
                  </a:tcPr>
                </a:tc>
                <a:tc>
                  <a:txBody>
                    <a:bodyPr/>
                    <a:lstStyle/>
                    <a:p>
                      <a:r>
                        <a:rPr sz="850" b="0">
                          <a:solidFill>
                            <a:srgbClr val="4B4B4B"/>
                          </a:solidFill>
                          <a:latin typeface="Arial"/>
                        </a:rPr>
                        <a:t>Promised Amount / Remarks</a:t>
                      </a:r>
                    </a:p>
                  </a:txBody>
                  <a:tcPr marL="54864" marR="54864" marT="27432" marB="27432">
                    <a:solidFill>
                      <a:srgbClr val="E5F5FF"/>
                    </a:solidFill>
                  </a:tcPr>
                </a:tc>
                <a:tc>
                  <a:txBody>
                    <a:bodyPr/>
                    <a:lstStyle/>
                    <a:p>
                      <a:r>
                        <a:rPr sz="850" b="0">
                          <a:solidFill>
                            <a:srgbClr val="4B4B4B"/>
                          </a:solidFill>
                          <a:latin typeface="Arial"/>
                        </a:rPr>
                        <a:t>Number, text area</a:t>
                      </a:r>
                    </a:p>
                  </a:txBody>
                  <a:tcPr marL="54864" marR="54864" marT="27432" marB="27432">
                    <a:solidFill>
                      <a:srgbClr val="E5F5FF"/>
                    </a:solidFill>
                  </a:tcPr>
                </a:tc>
                <a:tc>
                  <a:txBody>
                    <a:bodyPr/>
                    <a:lstStyle/>
                    <a:p>
                      <a:r>
                        <a:rPr sz="850" b="0">
                          <a:solidFill>
                            <a:srgbClr val="4B4B4B"/>
                          </a:solidFill>
                          <a:latin typeface="Arial"/>
                        </a:rPr>
                        <a:t>Empty for the whole outstanding</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Above zero and at most the outstanding</a:t>
                      </a:r>
                    </a:p>
                  </a:txBody>
                  <a:tcPr marL="54864" marR="54864" marT="27432" marB="27432">
                    <a:solidFill>
                      <a:srgbClr val="E5F5FF"/>
                    </a:solidFill>
                  </a:tcPr>
                </a:tc>
                <a:tc>
                  <a:txBody>
                    <a:bodyPr/>
                    <a:lstStyle/>
                    <a:p>
                      <a:r>
                        <a:rPr sz="850" b="0">
                          <a:solidFill>
                            <a:srgbClr val="4B4B4B"/>
                          </a:solidFill>
                          <a:latin typeface="Arial"/>
                        </a:rPr>
                        <a:t>Enter a positive amount, or leave it empty for the whole outstanding</a:t>
                      </a:r>
                    </a:p>
                  </a:txBody>
                  <a:tcPr marL="54864" marR="54864" marT="27432" marB="27432">
                    <a:solidFill>
                      <a:srgbClr val="E5F5FF"/>
                    </a:solidFill>
                  </a:tcPr>
                </a:tc>
              </a:tr>
              <a:tr h="350518">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Withdraw Promise to Pay dialog</a:t>
                      </a:r>
                    </a:p>
                  </a:txBody>
                  <a:tcPr marL="54864" marR="54864" marT="27432" marB="27432">
                    <a:solidFill>
                      <a:srgbClr val="FFFFFF"/>
                    </a:solidFill>
                  </a:tcPr>
                </a:tc>
                <a:tc>
                  <a:txBody>
                    <a:bodyPr/>
                    <a:lstStyle/>
                    <a:p>
                      <a:r>
                        <a:rPr sz="850" b="0">
                          <a:solidFill>
                            <a:srgbClr val="4B4B4B"/>
                          </a:solidFill>
                          <a:latin typeface="Arial"/>
                        </a:rPr>
                        <a:t>Reason</a:t>
                      </a:r>
                    </a:p>
                  </a:txBody>
                  <a:tcPr marL="54864" marR="54864" marT="27432" marB="27432">
                    <a:solidFill>
                      <a:srgbClr val="FFFFFF"/>
                    </a:solidFill>
                  </a:tcPr>
                </a:tc>
                <a:tc>
                  <a:txBody>
                    <a:bodyPr/>
                    <a:lstStyle/>
                    <a:p>
                      <a:r>
                        <a:rPr sz="850" b="0">
                          <a:solidFill>
                            <a:srgbClr val="4B4B4B"/>
                          </a:solidFill>
                          <a:latin typeface="Arial"/>
                        </a:rPr>
                        <a:t>Text area</a:t>
                      </a:r>
                    </a:p>
                  </a:txBody>
                  <a:tcPr marL="54864" marR="54864" marT="27432" marB="27432">
                    <a:solidFill>
                      <a:srgbClr val="FFFFFF"/>
                    </a:solidFill>
                  </a:tcPr>
                </a:tc>
                <a:tc>
                  <a:txBody>
                    <a:bodyPr/>
                    <a:lstStyle/>
                    <a:p>
                      <a:r>
                        <a:rPr sz="850" b="0">
                          <a:solidFill>
                            <a:srgbClr val="4B4B4B"/>
                          </a:solidFill>
                          <a:latin typeface="Arial"/>
                        </a:rPr>
                        <a:t>Up to 1,000 characters</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Not blank</a:t>
                      </a:r>
                    </a:p>
                  </a:txBody>
                  <a:tcPr marL="54864" marR="54864" marT="27432" marB="27432">
                    <a:solidFill>
                      <a:srgbClr val="FFFFFF"/>
                    </a:solidFill>
                  </a:tcPr>
                </a:tc>
                <a:tc>
                  <a:txBody>
                    <a:bodyPr/>
                    <a:lstStyle/>
                    <a:p>
                      <a:r>
                        <a:rPr sz="850" b="0">
                          <a:solidFill>
                            <a:srgbClr val="4B4B4B"/>
                          </a:solidFill>
                          <a:latin typeface="Arial"/>
                        </a:rPr>
                        <a:t>Enter the reason</a:t>
                      </a:r>
                    </a:p>
                  </a:txBody>
                  <a:tcPr marL="54864" marR="54864" marT="27432" marB="27432">
                    <a:solidFill>
                      <a:srgbClr val="FFFFFF"/>
                    </a:solidFill>
                  </a:tcPr>
                </a:tc>
              </a:tr>
            </a:tbl>
          </a:graphicData>
        </a:graphic>
      </p:graphicFrame>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SCR-CL-08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209</a:t>
            </a:r>
          </a:p>
        </p:txBody>
      </p:sp>
      <p:graphicFrame>
        <p:nvGraphicFramePr>
          <p:cNvPr id="9" name="Table 8"/>
          <p:cNvGraphicFramePr>
            <a:graphicFrameLocks noGrp="1"/>
          </p:cNvGraphicFramePr>
          <p:nvPr/>
        </p:nvGraphicFramePr>
        <p:xfrm>
          <a:off x="548640" y="1325880"/>
          <a:ext cx="11094412" cy="922015"/>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Record Promise</a:t>
                      </a:r>
                    </a:p>
                  </a:txBody>
                  <a:tcPr marL="54864" marR="54864" marT="27432" marB="27432">
                    <a:solidFill>
                      <a:srgbClr val="FFFFFF"/>
                    </a:solidFill>
                  </a:tcPr>
                </a:tc>
                <a:tc>
                  <a:txBody>
                    <a:bodyPr/>
                    <a:lstStyle/>
                    <a:p>
                      <a:r>
                        <a:rPr sz="850" b="0">
                          <a:solidFill>
                            <a:srgbClr val="4B4B4B"/>
                          </a:solidFill>
                          <a:latin typeface="Arial"/>
                        </a:rPr>
                        <a:t>Collectors with the work permission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Records the promise on each invoice and lists the outcome per invoice</a:t>
                      </a:r>
                    </a:p>
                  </a:txBody>
                  <a:tcPr marL="54864" marR="54864" marT="27432" marB="27432">
                    <a:solidFill>
                      <a:srgbClr val="FFFFFF"/>
                    </a:solidFill>
                  </a:tcPr>
                </a:tc>
                <a:tc>
                  <a:txBody>
                    <a:bodyPr/>
                    <a:lstStyle/>
                    <a:p>
                      <a:r>
                        <a:rPr sz="850" b="0">
                          <a:solidFill>
                            <a:srgbClr val="4B4B4B"/>
                          </a:solidFill>
                          <a:latin typeface="Arial"/>
                        </a:rPr>
                        <a:t>Open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Withdraw Promise</a:t>
                      </a:r>
                    </a:p>
                  </a:txBody>
                  <a:tcPr marL="54864" marR="54864" marT="27432" marB="27432">
                    <a:solidFill>
                      <a:srgbClr val="E5F5FF"/>
                    </a:solidFill>
                  </a:tcPr>
                </a:tc>
                <a:tc>
                  <a:txBody>
                    <a:bodyPr/>
                    <a:lstStyle/>
                    <a:p>
                      <a:r>
                        <a:rPr sz="850" b="0">
                          <a:solidFill>
                            <a:srgbClr val="4B4B4B"/>
                          </a:solidFill>
                          <a:latin typeface="Arial"/>
                        </a:rPr>
                        <a:t>Collectors with the work permission</a:t>
                      </a:r>
                    </a:p>
                  </a:txBody>
                  <a:tcPr marL="54864" marR="54864" marT="27432" marB="27432">
                    <a:solidFill>
                      <a:srgbClr val="E5F5FF"/>
                    </a:solidFill>
                  </a:tcPr>
                </a:tc>
                <a:tc>
                  <a:txBody>
                    <a:bodyPr/>
                    <a:lstStyle/>
                    <a:p>
                      <a:r>
                        <a:rPr sz="850" b="0">
                          <a:solidFill>
                            <a:srgbClr val="4B4B4B"/>
                          </a:solidFill>
                          <a:latin typeface="Arial"/>
                        </a:rPr>
                        <a:t>Open promises selected</a:t>
                      </a:r>
                    </a:p>
                  </a:txBody>
                  <a:tcPr marL="54864" marR="54864" marT="27432" marB="27432">
                    <a:solidFill>
                      <a:srgbClr val="E5F5FF"/>
                    </a:solidFill>
                  </a:tcPr>
                </a:tc>
                <a:tc>
                  <a:txBody>
                    <a:bodyPr/>
                    <a:lstStyle/>
                    <a:p>
                      <a:r>
                        <a:rPr sz="850" b="0">
                          <a:solidFill>
                            <a:srgbClr val="4B4B4B"/>
                          </a:solidFill>
                          <a:latin typeface="Arial"/>
                        </a:rPr>
                        <a:t>Asks for the reason and withdraws them</a:t>
                      </a:r>
                    </a:p>
                  </a:txBody>
                  <a:tcPr marL="54864" marR="54864" marT="27432" marB="27432">
                    <a:solidFill>
                      <a:srgbClr val="E5F5FF"/>
                    </a:solidFill>
                  </a:tcPr>
                </a:tc>
                <a:tc>
                  <a:txBody>
                    <a:bodyPr/>
                    <a:lstStyle/>
                    <a:p>
                      <a:r>
                        <a:rPr sz="850" b="0">
                          <a:solidFill>
                            <a:srgbClr val="4B4B4B"/>
                          </a:solidFill>
                          <a:latin typeface="Arial"/>
                        </a:rPr>
                        <a:t>Withdrawn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SCR-CL-08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210</a:t>
            </a:r>
          </a:p>
        </p:txBody>
      </p:sp>
      <p:graphicFrame>
        <p:nvGraphicFramePr>
          <p:cNvPr id="9" name="Table 8"/>
          <p:cNvGraphicFramePr>
            <a:graphicFrameLocks noGrp="1"/>
          </p:cNvGraphicFramePr>
          <p:nvPr/>
        </p:nvGraphicFramePr>
        <p:xfrm>
          <a:off x="548640" y="1325880"/>
          <a:ext cx="11094415" cy="11277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396240">
                <a:tc>
                  <a:txBody>
                    <a:bodyPr/>
                    <a:lstStyle/>
                    <a:p>
                      <a:r>
                        <a:rPr sz="1000" b="0">
                          <a:solidFill>
                            <a:srgbClr val="4B4B4B"/>
                          </a:solidFill>
                          <a:latin typeface="Arial"/>
                        </a:rPr>
                        <a:t>A promise is kept when the promised amount was paid by the promised date (plus the grace days, 0 by default) or nothing is left to collect, partially kept when part of it was paid, otherwise broken (FR-CL-042).</a:t>
                      </a:r>
                    </a:p>
                  </a:txBody>
                  <a:tcPr marL="54864" marR="54864" marT="27432" marB="27432">
                    <a:solidFill>
                      <a:srgbClr val="FFFFFF"/>
                    </a:solidFill>
                  </a:tcPr>
                </a:tc>
              </a:tr>
              <a:tr h="243840">
                <a:tc>
                  <a:txBody>
                    <a:bodyPr/>
                    <a:lstStyle/>
                    <a:p>
                      <a:r>
                        <a:rPr sz="1000" b="0">
                          <a:solidFill>
                            <a:srgbClr val="4B4B4B"/>
                          </a:solidFill>
                          <a:latin typeface="Arial"/>
                        </a:rPr>
                        <a:t>A new promise on the same invoice replaces the running one (FR-CL-042).</a:t>
                      </a:r>
                    </a:p>
                  </a:txBody>
                  <a:tcPr marL="54864" marR="54864" marT="27432" marB="27432">
                    <a:solidFill>
                      <a:srgbClr val="E5F5FF"/>
                    </a:solidFill>
                  </a:tcPr>
                </a:tc>
              </a:tr>
              <a:tr h="243840">
                <a:tc>
                  <a:txBody>
                    <a:bodyPr/>
                    <a:lstStyle/>
                    <a:p>
                      <a:r>
                        <a:rPr sz="1000" b="0">
                          <a:solidFill>
                            <a:srgbClr val="4B4B4B"/>
                          </a:solidFill>
                          <a:latin typeface="Arial"/>
                        </a:rPr>
                        <a:t>A broken promise notifies the collector and the account officer and escalates the account through the broken-promise rules (FR-CL-042, FR-CL-051).</a:t>
                      </a:r>
                    </a:p>
                  </a:txBody>
                  <a:tcPr marL="54864" marR="54864" marT="27432" marB="27432">
                    <a:solidFill>
                      <a:srgbClr val="FFFFFF"/>
                    </a:solidFill>
                  </a:tcPr>
                </a:tc>
              </a:tr>
            </a:tbl>
          </a:graphicData>
        </a:graphic>
      </p:graphicFrame>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SCR-CL-08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211</a:t>
            </a:r>
          </a:p>
        </p:txBody>
      </p:sp>
      <p:graphicFrame>
        <p:nvGraphicFramePr>
          <p:cNvPr id="9" name="Table 8"/>
          <p:cNvGraphicFramePr>
            <a:graphicFrameLocks noGrp="1"/>
          </p:cNvGraphicFramePr>
          <p:nvPr/>
        </p:nvGraphicFramePr>
        <p:xfrm>
          <a:off x="548640" y="1325880"/>
          <a:ext cx="11094413" cy="82296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Validation error</a:t>
                      </a:r>
                    </a:p>
                  </a:txBody>
                  <a:tcPr marL="54864" marR="54864" marT="27432" marB="27432">
                    <a:solidFill>
                      <a:srgbClr val="FFFFFF"/>
                    </a:solidFill>
                  </a:tcPr>
                </a:tc>
                <a:tc>
                  <a:txBody>
                    <a:bodyPr/>
                    <a:lstStyle/>
                    <a:p>
                      <a:r>
                        <a:rPr sz="900" b="0">
                          <a:solidFill>
                            <a:srgbClr val="4B4B4B"/>
                          </a:solidFill>
                          <a:latin typeface="Arial"/>
                        </a:rPr>
                        <a:t>WT-E step 3</a:t>
                      </a:r>
                    </a:p>
                  </a:txBody>
                  <a:tcPr marL="54864" marR="54864" marT="27432" marB="27432">
                    <a:solidFill>
                      <a:srgbClr val="FFFFFF"/>
                    </a:solidFill>
                  </a:tcPr>
                </a:tc>
                <a:tc>
                  <a:txBody>
                    <a:bodyPr/>
                    <a:lstStyle/>
                    <a:p>
                      <a:r>
                        <a:rPr sz="900" b="0">
                          <a:solidFill>
                            <a:srgbClr val="4B4B4B"/>
                          </a:solidFill>
                          <a:latin typeface="Arial"/>
                        </a:rPr>
                        <a:t>Records a promise of an amount above the outstanding of the account</a:t>
                      </a:r>
                    </a:p>
                  </a:txBody>
                  <a:tcPr marL="54864" marR="54864" marT="27432" marB="27432">
                    <a:solidFill>
                      <a:srgbClr val="FFFFFF"/>
                    </a:solidFill>
                  </a:tcPr>
                </a:tc>
                <a:tc>
                  <a:txBody>
                    <a:bodyPr/>
                    <a:lstStyle/>
                    <a:p>
                      <a:r>
                        <a:rPr sz="900" b="0">
                          <a:solidFill>
                            <a:srgbClr val="4B4B4B"/>
                          </a:solidFill>
                          <a:latin typeface="Arial"/>
                        </a:rPr>
                        <a:t>SCR-CL-08_wt-e-step-03.png</a:t>
                      </a:r>
                    </a:p>
                  </a:txBody>
                  <a:tcPr marL="54864" marR="54864" marT="27432" marB="27432">
                    <a:solidFill>
                      <a:srgbClr val="FFFFFF"/>
                    </a:solidFill>
                  </a:tcPr>
                </a:tc>
              </a:tr>
              <a:tr h="365760">
                <a:tc>
                  <a:txBody>
                    <a:bodyPr/>
                    <a:lstStyle/>
                    <a:p>
                      <a:r>
                        <a:rPr sz="900" b="0">
                          <a:solidFill>
                            <a:srgbClr val="4B4B4B"/>
                          </a:solidFill>
                          <a:latin typeface="Arial"/>
                        </a:rPr>
                        <a:t>Success message</a:t>
                      </a:r>
                    </a:p>
                  </a:txBody>
                  <a:tcPr marL="54864" marR="54864" marT="27432" marB="27432">
                    <a:solidFill>
                      <a:srgbClr val="E5F5FF"/>
                    </a:solidFill>
                  </a:tcPr>
                </a:tc>
                <a:tc>
                  <a:txBody>
                    <a:bodyPr/>
                    <a:lstStyle/>
                    <a:p>
                      <a:r>
                        <a:rPr sz="900" b="0">
                          <a:solidFill>
                            <a:srgbClr val="4B4B4B"/>
                          </a:solidFill>
                          <a:latin typeface="Arial"/>
                        </a:rPr>
                        <a:t>WT-B step 1</a:t>
                      </a:r>
                    </a:p>
                  </a:txBody>
                  <a:tcPr marL="54864" marR="54864" marT="27432" marB="27432">
                    <a:solidFill>
                      <a:srgbClr val="E5F5FF"/>
                    </a:solidFill>
                  </a:tcPr>
                </a:tc>
                <a:tc>
                  <a:txBody>
                    <a:bodyPr/>
                    <a:lstStyle/>
                    <a:p>
                      <a:r>
                        <a:rPr sz="900" b="0">
                          <a:solidFill>
                            <a:srgbClr val="4B4B4B"/>
                          </a:solidFill>
                          <a:latin typeface="Arial"/>
                        </a:rPr>
                        <a:t>Clicks Record Promise and enters the invoice, the promised payment date in ten days and half of the outstanding</a:t>
                      </a:r>
                    </a:p>
                  </a:txBody>
                  <a:tcPr marL="54864" marR="54864" marT="27432" marB="27432">
                    <a:solidFill>
                      <a:srgbClr val="E5F5FF"/>
                    </a:solidFill>
                  </a:tcPr>
                </a:tc>
                <a:tc>
                  <a:txBody>
                    <a:bodyPr/>
                    <a:lstStyle/>
                    <a:p>
                      <a:r>
                        <a:rPr sz="900" b="0">
                          <a:solidFill>
                            <a:srgbClr val="4B4B4B"/>
                          </a:solidFill>
                          <a:latin typeface="Arial"/>
                        </a:rPr>
                        <a:t>SCR-CL-08_wt-b-step-01.png</a:t>
                      </a:r>
                    </a:p>
                  </a:txBody>
                  <a:tcPr marL="54864" marR="54864" marT="27432" marB="27432">
                    <a:solidFill>
                      <a:srgbClr val="E5F5FF"/>
                    </a:solidFill>
                  </a:tcPr>
                </a:tc>
              </a:tr>
            </a:tbl>
          </a:graphicData>
        </a:graphic>
      </p:graphicFrame>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SCR-CL-08 Promises to Pay: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cl-08-01-list.png"/>
          <p:cNvPicPr>
            <a:picLocks noChangeAspect="1"/>
          </p:cNvPicPr>
          <p:nvPr/>
        </p:nvPicPr>
        <p:blipFill>
          <a:blip r:embed="rId3"/>
          <a:stretch>
            <a:fillRect/>
          </a:stretch>
        </p:blipFill>
        <p:spPr>
          <a:xfrm>
            <a:off x="937742" y="1261872"/>
            <a:ext cx="10316210"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Promises to Pay: the open promises with the promised date and amount</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SCR-CL-08 Promises to Pay: Filled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134.png"/>
          <p:cNvPicPr>
            <a:picLocks noChangeAspect="1"/>
          </p:cNvPicPr>
          <p:nvPr/>
        </p:nvPicPr>
        <p:blipFill>
          <a:blip r:embed="rId3"/>
          <a:stretch>
            <a:fillRect/>
          </a:stretch>
        </p:blipFill>
        <p:spPr>
          <a:xfrm>
            <a:off x="548640" y="1261872"/>
            <a:ext cx="11094415" cy="450783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Record Promise to Pay dialog (part 1 of 2)</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SCR-CL-08 Promises to Pay: Filled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135.png"/>
          <p:cNvPicPr>
            <a:picLocks noChangeAspect="1"/>
          </p:cNvPicPr>
          <p:nvPr/>
        </p:nvPicPr>
        <p:blipFill>
          <a:blip r:embed="rId3"/>
          <a:stretch>
            <a:fillRect/>
          </a:stretch>
        </p:blipFill>
        <p:spPr>
          <a:xfrm>
            <a:off x="548640" y="1261872"/>
            <a:ext cx="11094415" cy="350349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Record Promise to Pay dialog (part 2 of 2)</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SCR-CL-08 Promises to Pay: Validation error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215</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slice-00136.png"/>
          <p:cNvPicPr>
            <a:picLocks noChangeAspect="1"/>
          </p:cNvPicPr>
          <p:nvPr/>
        </p:nvPicPr>
        <p:blipFill>
          <a:blip r:embed="rId3"/>
          <a:stretch>
            <a:fillRect/>
          </a:stretch>
        </p:blipFill>
        <p:spPr>
          <a:xfrm>
            <a:off x="548640" y="1261872"/>
            <a:ext cx="11094415" cy="471804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promised amount above the outstanding is refused, with the outcome per invoice (part 1 of 2)</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SCR-CL-08 Promises to Pay: Validation error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216</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slice-00137.png"/>
          <p:cNvPicPr>
            <a:picLocks noChangeAspect="1"/>
          </p:cNvPicPr>
          <p:nvPr/>
        </p:nvPicPr>
        <p:blipFill>
          <a:blip r:embed="rId3"/>
          <a:stretch>
            <a:fillRect/>
          </a:stretch>
        </p:blipFill>
        <p:spPr>
          <a:xfrm>
            <a:off x="548640" y="1261872"/>
            <a:ext cx="11094415" cy="401734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promised amount above the outstanding is refused, with the outcome per invoice (part 2 of 2)</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SCR-CL-09 Billing Statements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217</a:t>
            </a:r>
          </a:p>
        </p:txBody>
      </p:sp>
      <p:graphicFrame>
        <p:nvGraphicFramePr>
          <p:cNvPr id="9" name="Table 8"/>
          <p:cNvGraphicFramePr>
            <a:graphicFrameLocks noGrp="1"/>
          </p:cNvGraphicFramePr>
          <p:nvPr/>
        </p:nvGraphicFramePr>
        <p:xfrm>
          <a:off x="548640" y="1307592"/>
          <a:ext cx="6434760" cy="266700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Installments, promises and billing statements</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statements of account (SOA) per billing cycle of the installment plans: to send, sent and cancelled; the Billing Run generates the statements of every billing cycle falling due in a period and not billed yet.</a:t>
                      </a:r>
                    </a:p>
                  </a:txBody>
                  <a:tcPr marL="54864" marR="54864" marT="27432" marB="27432">
                    <a:solidFill>
                      <a:srgbClr val="FFFFFF"/>
                    </a:solidFill>
                  </a:tcPr>
                </a:tc>
              </a:tr>
              <a:tr h="81534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Team Lead, Marketing Handler, Collection Handler, Collection Team Lead, Section Head (Corporate / Retail), Unapplied Payment Handler, Processing Unit, Cashier (read access and exports), Disbursement (read access and exports), Comptrollership (read access), Business Administrator, System Administrator, Auditor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Collections › Billing Statements</a:t>
                      </a:r>
                    </a:p>
                    <a:p>
                      <a:r>
                        <a:rPr sz="950" b="0">
                          <a:solidFill>
                            <a:srgbClr val="4B4B4B"/>
                          </a:solidFill>
                          <a:latin typeface="Arial"/>
                        </a:rPr>
                        <a:t>Finance › Collections › Billing Statements</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13.2.5</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FR-CL-060, FR-CL-061, FR-CL-062</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billing cycles due are billed to the clients.</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SCR-CL-09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218</a:t>
            </a:r>
          </a:p>
        </p:txBody>
      </p:sp>
      <p:graphicFrame>
        <p:nvGraphicFramePr>
          <p:cNvPr id="9" name="Table 8"/>
          <p:cNvGraphicFramePr>
            <a:graphicFrameLocks noGrp="1"/>
          </p:cNvGraphicFramePr>
          <p:nvPr/>
        </p:nvGraphicFramePr>
        <p:xfrm>
          <a:off x="548640" y="1325880"/>
          <a:ext cx="11094411" cy="1714491"/>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To Send / Sent / Cancelled</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Toolbar</a:t>
                      </a:r>
                    </a:p>
                  </a:txBody>
                  <a:tcPr marL="54864" marR="54864" marT="27432" marB="27432">
                    <a:solidFill>
                      <a:srgbClr val="E5F5FF"/>
                    </a:solidFill>
                  </a:tcPr>
                </a:tc>
                <a:tc>
                  <a:txBody>
                    <a:bodyPr/>
                    <a:lstStyle/>
                    <a:p>
                      <a:r>
                        <a:rPr sz="850" b="0">
                          <a:solidFill>
                            <a:srgbClr val="4B4B4B"/>
                          </a:solidFill>
                          <a:latin typeface="Arial"/>
                        </a:rPr>
                        <a:t>Search SOA No., ARN or Client</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Contains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SOA No. / Cycle / ARN / Name of Assured / Frequency</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SOA-yyyy-nnnnnn with the cycle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statements of account to display</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Billing Cycle / Due Date / Amount Due / 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Billing cycle on two lines; two decimals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Billing Run dialog</a:t>
                      </a:r>
                    </a:p>
                  </a:txBody>
                  <a:tcPr marL="54864" marR="54864" marT="27432" marB="27432">
                    <a:solidFill>
                      <a:srgbClr val="FFFFFF"/>
                    </a:solidFill>
                  </a:tcPr>
                </a:tc>
                <a:tc>
                  <a:txBody>
                    <a:bodyPr/>
                    <a:lstStyle/>
                    <a:p>
                      <a:r>
                        <a:rPr sz="850" b="0">
                          <a:solidFill>
                            <a:srgbClr val="4B4B4B"/>
                          </a:solidFill>
                          <a:latin typeface="Arial"/>
                        </a:rPr>
                        <a:t>Due From / Due To</a:t>
                      </a:r>
                    </a:p>
                  </a:txBody>
                  <a:tcPr marL="54864" marR="54864" marT="27432" marB="27432">
                    <a:solidFill>
                      <a:srgbClr val="FFFFFF"/>
                    </a:solidFill>
                  </a:tcPr>
                </a:tc>
                <a:tc>
                  <a:txBody>
                    <a:bodyPr/>
                    <a:lstStyle/>
                    <a:p>
                      <a:r>
                        <a:rPr sz="850" b="0">
                          <a:solidFill>
                            <a:srgbClr val="4B4B4B"/>
                          </a:solidFill>
                          <a:latin typeface="Arial"/>
                        </a:rPr>
                        <a:t>Date</a:t>
                      </a:r>
                    </a:p>
                  </a:txBody>
                  <a:tcPr marL="54864" marR="54864" marT="27432" marB="27432">
                    <a:solidFill>
                      <a:srgbClr val="FFFFFF"/>
                    </a:solidFill>
                  </a:tcPr>
                </a:tc>
                <a:tc>
                  <a:txBody>
                    <a:bodyPr/>
                    <a:lstStyle/>
                    <a:p>
                      <a:r>
                        <a:rPr sz="850" b="0">
                          <a:solidFill>
                            <a:srgbClr val="4B4B4B"/>
                          </a:solidFill>
                          <a:latin typeface="Arial"/>
                        </a:rPr>
                        <a:t>dd-MMM-yyyy</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The period does not end before it starts</a:t>
                      </a:r>
                    </a:p>
                  </a:txBody>
                  <a:tcPr marL="54864" marR="54864" marT="27432" marB="27432">
                    <a:solidFill>
                      <a:srgbClr val="FFFFFF"/>
                    </a:solidFill>
                  </a:tcPr>
                </a:tc>
                <a:tc>
                  <a:txBody>
                    <a:bodyPr/>
                    <a:lstStyle/>
                    <a:p>
                      <a:r>
                        <a:rPr sz="850" b="0">
                          <a:solidFill>
                            <a:srgbClr val="4B4B4B"/>
                          </a:solidFill>
                          <a:latin typeface="Arial"/>
                        </a:rPr>
                        <a:t>The period ends before it starts</a:t>
                      </a:r>
                    </a:p>
                  </a:txBody>
                  <a:tcPr marL="54864" marR="54864" marT="27432" marB="27432">
                    <a:solidFill>
                      <a:srgbClr val="FFFFFF"/>
                    </a:solidFill>
                  </a:tcPr>
                </a:tc>
              </a:tr>
            </a:tbl>
          </a:graphicData>
        </a:graphic>
      </p:graphicFrame>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SCR-CL-09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219</a:t>
            </a:r>
          </a:p>
        </p:txBody>
      </p:sp>
      <p:graphicFrame>
        <p:nvGraphicFramePr>
          <p:cNvPr id="9" name="Table 8"/>
          <p:cNvGraphicFramePr>
            <a:graphicFrameLocks noGrp="1"/>
          </p:cNvGraphicFramePr>
          <p:nvPr/>
        </p:nvGraphicFramePr>
        <p:xfrm>
          <a:off x="548640" y="1325880"/>
          <a:ext cx="11094412" cy="1142994"/>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Billing Run</a:t>
                      </a:r>
                    </a:p>
                  </a:txBody>
                  <a:tcPr marL="54864" marR="54864" marT="27432" marB="27432">
                    <a:solidFill>
                      <a:srgbClr val="FFFFFF"/>
                    </a:solidFill>
                  </a:tcPr>
                </a:tc>
                <a:tc>
                  <a:txBody>
                    <a:bodyPr/>
                    <a:lstStyle/>
                    <a:p>
                      <a:r>
                        <a:rPr sz="850" b="0">
                          <a:solidFill>
                            <a:srgbClr val="4B4B4B"/>
                          </a:solidFill>
                          <a:latin typeface="Arial"/>
                        </a:rPr>
                        <a:t>Users with the billing permission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dialog</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Generate Statements</a:t>
                      </a:r>
                    </a:p>
                  </a:txBody>
                  <a:tcPr marL="54864" marR="54864" marT="27432" marB="27432">
                    <a:solidFill>
                      <a:srgbClr val="E5F5FF"/>
                    </a:solidFill>
                  </a:tcPr>
                </a:tc>
                <a:tc>
                  <a:txBody>
                    <a:bodyPr/>
                    <a:lstStyle/>
                    <a:p>
                      <a:r>
                        <a:rPr sz="850" b="0">
                          <a:solidFill>
                            <a:srgbClr val="4B4B4B"/>
                          </a:solidFill>
                          <a:latin typeface="Arial"/>
                        </a:rPr>
                        <a:t>Users with the billing permission</a:t>
                      </a:r>
                    </a:p>
                  </a:txBody>
                  <a:tcPr marL="54864" marR="54864" marT="27432" marB="27432">
                    <a:solidFill>
                      <a:srgbClr val="E5F5FF"/>
                    </a:solidFill>
                  </a:tcPr>
                </a:tc>
                <a:tc>
                  <a:txBody>
                    <a:bodyPr/>
                    <a:lstStyle/>
                    <a:p>
                      <a:r>
                        <a:rPr sz="850" b="0">
                          <a:solidFill>
                            <a:srgbClr val="4B4B4B"/>
                          </a:solidFill>
                          <a:latin typeface="Arial"/>
                        </a:rPr>
                        <a:t>Both dates entered</a:t>
                      </a:r>
                    </a:p>
                  </a:txBody>
                  <a:tcPr marL="54864" marR="54864" marT="27432" marB="27432">
                    <a:solidFill>
                      <a:srgbClr val="E5F5FF"/>
                    </a:solidFill>
                  </a:tcPr>
                </a:tc>
                <a:tc>
                  <a:txBody>
                    <a:bodyPr/>
                    <a:lstStyle/>
                    <a:p>
                      <a:r>
                        <a:rPr sz="850" b="0">
                          <a:solidFill>
                            <a:srgbClr val="4B4B4B"/>
                          </a:solidFill>
                          <a:latin typeface="Arial"/>
                        </a:rPr>
                        <a:t>Generates one statement per billing cycle due in the period and not billed yet</a:t>
                      </a:r>
                    </a:p>
                  </a:txBody>
                  <a:tcPr marL="54864" marR="54864" marT="27432" marB="27432">
                    <a:solidFill>
                      <a:srgbClr val="E5F5FF"/>
                    </a:solidFill>
                  </a:tcPr>
                </a:tc>
                <a:tc>
                  <a:txBody>
                    <a:bodyPr/>
                    <a:lstStyle/>
                    <a:p>
                      <a:r>
                        <a:rPr sz="850" b="0">
                          <a:solidFill>
                            <a:srgbClr val="4B4B4B"/>
                          </a:solidFill>
                          <a:latin typeface="Arial"/>
                        </a:rPr>
                        <a:t>To Send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Row</a:t>
                      </a:r>
                    </a:p>
                  </a:txBody>
                  <a:tcPr marL="54864" marR="54864" marT="27432" marB="27432">
                    <a:solidFill>
                      <a:srgbClr val="FFFFFF"/>
                    </a:solidFill>
                  </a:tcPr>
                </a:tc>
                <a:tc>
                  <a:txBody>
                    <a:bodyPr/>
                    <a:lstStyle/>
                    <a:p>
                      <a:r>
                        <a:rPr sz="850" b="0">
                          <a:solidFill>
                            <a:srgbClr val="4B4B4B"/>
                          </a:solidFill>
                          <a:latin typeface="Arial"/>
                        </a:rPr>
                        <a:t>Every Collections user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statement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SCR-CL-09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220</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One live statement per plan and billing cycle; a cancelled statement frees the cycle to be billed again (FR-CL-060, FR-CL-061).</a:t>
                      </a:r>
                    </a:p>
                  </a:txBody>
                  <a:tcPr marL="54864" marR="54864" marT="27432" marB="27432">
                    <a:solidFill>
                      <a:srgbClr val="FFFFFF"/>
                    </a:solidFill>
                  </a:tcPr>
                </a:tc>
              </a:tr>
              <a:tr h="243840">
                <a:tc>
                  <a:txBody>
                    <a:bodyPr/>
                    <a:lstStyle/>
                    <a:p>
                      <a:r>
                        <a:rPr sz="1000" b="0">
                          <a:solidFill>
                            <a:srgbClr val="4B4B4B"/>
                          </a:solidFill>
                          <a:latin typeface="Arial"/>
                        </a:rPr>
                        <a:t>Billing is monitoring only: a statement creates no receivable and no commission billing (FR-CL-062).</a:t>
                      </a:r>
                    </a:p>
                  </a:txBody>
                  <a:tcPr marL="54864" marR="54864" marT="27432" marB="27432">
                    <a:solidFill>
                      <a:srgbClr val="E5F5FF"/>
                    </a:solidFill>
                  </a:tcPr>
                </a:tc>
              </a:tr>
            </a:tbl>
          </a:graphicData>
        </a:graphic>
      </p:graphicFrame>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SCR-CL-09 Billing Statements: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cl-09-01-list.png"/>
          <p:cNvPicPr>
            <a:picLocks noChangeAspect="1"/>
          </p:cNvPicPr>
          <p:nvPr/>
        </p:nvPicPr>
        <p:blipFill>
          <a:blip r:embed="rId3"/>
          <a:stretch>
            <a:fillRect/>
          </a:stretch>
        </p:blipFill>
        <p:spPr>
          <a:xfrm>
            <a:off x="1036504" y="1261872"/>
            <a:ext cx="10118686"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Billing Statements: the statements sent to the clients</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SCR-CL-09 Billing Statements: Filled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cr-cl-09-02-run.png"/>
          <p:cNvPicPr>
            <a:picLocks noChangeAspect="1"/>
          </p:cNvPicPr>
          <p:nvPr/>
        </p:nvPicPr>
        <p:blipFill>
          <a:blip r:embed="rId3"/>
          <a:stretch>
            <a:fillRect/>
          </a:stretch>
        </p:blipFill>
        <p:spPr>
          <a:xfrm>
            <a:off x="548640" y="1261872"/>
            <a:ext cx="11094415" cy="404496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Billing Run dialog: the due period of the cycles to bill</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SCR-CL-10 Statement of Account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223</a:t>
            </a:r>
          </a:p>
        </p:txBody>
      </p:sp>
      <p:graphicFrame>
        <p:nvGraphicFramePr>
          <p:cNvPr id="9" name="Table 8"/>
          <p:cNvGraphicFramePr>
            <a:graphicFrameLocks noGrp="1"/>
          </p:cNvGraphicFramePr>
          <p:nvPr/>
        </p:nvGraphicFramePr>
        <p:xfrm>
          <a:off x="548640" y="1307592"/>
          <a:ext cx="6434760" cy="29565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Installments, promises and billing statements</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One statement of account: the billing cycle, the installments billed (the cycle and any arrears) with the payments allocated, the PDF from the statement template, the e-mails sent; Send via Email sends the protected PDF to the client, Cancel Statement frees the cycle.</a:t>
                      </a:r>
                    </a:p>
                  </a:txBody>
                  <a:tcPr marL="54864" marR="54864" marT="27432" marB="27432">
                    <a:solidFill>
                      <a:srgbClr val="FFFFFF"/>
                    </a:solidFill>
                  </a:tcPr>
                </a:tc>
              </a:tr>
              <a:tr h="81534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Team Lead, Marketing Handler, Collection Handler, Collection Team Lead, Section Head (Corporate / Retail), Unapplied Payment Handler, Processing Unit, Cashier (read access and exports), Disbursement (read access and exports), Comptrollership (read access), Business Administrator, System Administrator, Auditor</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Collections › Billing Statements › Statement of Account</a:t>
                      </a:r>
                    </a:p>
                    <a:p>
                      <a:r>
                        <a:rPr sz="950" b="0">
                          <a:solidFill>
                            <a:srgbClr val="4B4B4B"/>
                          </a:solidFill>
                          <a:latin typeface="Arial"/>
                        </a:rPr>
                        <a:t>Billing Statements › open a row</a:t>
                      </a:r>
                    </a:p>
                    <a:p>
                      <a:r>
                        <a:rPr sz="950" b="0">
                          <a:solidFill>
                            <a:srgbClr val="4B4B4B"/>
                          </a:solidFill>
                          <a:latin typeface="Arial"/>
                        </a:rPr>
                        <a:t>Installment Plan › Statements of Account tab</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13.2.6</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FR-CL-060, FR-CL-061, FR-CL-062</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client receives the statement of the cycle.</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(4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2 images</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SCR-CL-10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224</a:t>
            </a:r>
          </a:p>
        </p:txBody>
      </p:sp>
      <p:graphicFrame>
        <p:nvGraphicFramePr>
          <p:cNvPr id="9" name="Table 8"/>
          <p:cNvGraphicFramePr>
            <a:graphicFrameLocks noGrp="1"/>
          </p:cNvGraphicFramePr>
          <p:nvPr/>
        </p:nvGraphicFramePr>
        <p:xfrm>
          <a:off x="548640" y="1325880"/>
          <a:ext cx="11094411" cy="2804144"/>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Header</a:t>
                      </a:r>
                    </a:p>
                  </a:txBody>
                  <a:tcPr marL="54864" marR="54864" marT="27432" marB="27432">
                    <a:solidFill>
                      <a:srgbClr val="FFFFFF"/>
                    </a:solidFill>
                  </a:tcPr>
                </a:tc>
                <a:tc>
                  <a:txBody>
                    <a:bodyPr/>
                    <a:lstStyle/>
                    <a:p>
                      <a:r>
                        <a:rPr sz="850" b="0">
                          <a:solidFill>
                            <a:srgbClr val="4B4B4B"/>
                          </a:solidFill>
                          <a:latin typeface="Arial"/>
                        </a:rPr>
                        <a:t>SOA and ARN chips, status pill, billing tag</a:t>
                      </a:r>
                    </a:p>
                  </a:txBody>
                  <a:tcPr marL="54864" marR="54864" marT="27432" marB="27432">
                    <a:solidFill>
                      <a:srgbClr val="FFFFFF"/>
                    </a:solidFill>
                  </a:tcPr>
                </a:tc>
                <a:tc>
                  <a:txBody>
                    <a:bodyPr/>
                    <a:lstStyle/>
                    <a:p>
                      <a:r>
                        <a:rPr sz="850" b="0">
                          <a:solidFill>
                            <a:srgbClr val="4B4B4B"/>
                          </a:solidFill>
                          <a:latin typeface="Arial"/>
                        </a:rPr>
                        <a:t>Reference chip, status pill</a:t>
                      </a:r>
                    </a:p>
                  </a:txBody>
                  <a:tcPr marL="54864" marR="54864" marT="27432" marB="27432">
                    <a:solidFill>
                      <a:srgbClr val="FFFFFF"/>
                    </a:solidFill>
                  </a:tcPr>
                </a:tc>
                <a:tc>
                  <a:txBody>
                    <a:bodyPr/>
                    <a:lstStyle/>
                    <a:p>
                      <a:r>
                        <a:rPr sz="850" b="0">
                          <a:solidFill>
                            <a:srgbClr val="4B4B4B"/>
                          </a:solidFill>
                          <a:latin typeface="Arial"/>
                        </a:rPr>
                        <a:t>To Send, Sent or Cancelled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Facts</a:t>
                      </a:r>
                    </a:p>
                  </a:txBody>
                  <a:tcPr marL="54864" marR="54864" marT="27432" marB="27432">
                    <a:solidFill>
                      <a:srgbClr val="E5F5FF"/>
                    </a:solidFill>
                  </a:tcPr>
                </a:tc>
                <a:tc>
                  <a:txBody>
                    <a:bodyPr/>
                    <a:lstStyle/>
                    <a:p>
                      <a:r>
                        <a:rPr sz="850" b="0">
                          <a:solidFill>
                            <a:srgbClr val="4B4B4B"/>
                          </a:solidFill>
                          <a:latin typeface="Arial"/>
                        </a:rPr>
                        <a:t>Billing Cycle / Due Date / Amount Due / Plan / Generated By</a:t>
                      </a:r>
                    </a:p>
                  </a:txBody>
                  <a:tcPr marL="54864" marR="54864" marT="27432" marB="27432">
                    <a:solidFill>
                      <a:srgbClr val="E5F5FF"/>
                    </a:solidFill>
                  </a:tcPr>
                </a:tc>
                <a:tc>
                  <a:txBody>
                    <a:bodyPr/>
                    <a:lstStyle/>
                    <a:p>
                      <a:r>
                        <a:rPr sz="850" b="0">
                          <a:solidFill>
                            <a:srgbClr val="4B4B4B"/>
                          </a:solidFill>
                          <a:latin typeface="Arial"/>
                        </a:rPr>
                        <a:t>Display</a:t>
                      </a:r>
                    </a:p>
                  </a:txBody>
                  <a:tcPr marL="54864" marR="54864" marT="27432" marB="27432">
                    <a:solidFill>
                      <a:srgbClr val="E5F5FF"/>
                    </a:solidFill>
                  </a:tcPr>
                </a:tc>
                <a:tc>
                  <a:txBody>
                    <a:bodyPr/>
                    <a:lstStyle/>
                    <a:p>
                      <a:r>
                        <a:rPr sz="850" b="0">
                          <a:solidFill>
                            <a:srgbClr val="4B4B4B"/>
                          </a:solidFill>
                          <a:latin typeface="Arial"/>
                        </a:rPr>
                        <a:t>Cycle number and period; the amount due of the total</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Installments Billed</a:t>
                      </a:r>
                    </a:p>
                  </a:txBody>
                  <a:tcPr marL="54864" marR="54864" marT="27432" marB="27432">
                    <a:solidFill>
                      <a:srgbClr val="FFFFFF"/>
                    </a:solidFill>
                  </a:tcPr>
                </a:tc>
                <a:tc>
                  <a:txBody>
                    <a:bodyPr/>
                    <a:lstStyle/>
                    <a:p>
                      <a:r>
                        <a:rPr sz="850" b="0">
                          <a:solidFill>
                            <a:srgbClr val="4B4B4B"/>
                          </a:solidFill>
                          <a:latin typeface="Arial"/>
                        </a:rPr>
                        <a:t>Line / Invoice No. / Policy Year / Coverage / Due Date / Amount / Paid / Balance</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Current Cycle or Arrears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E-mails Sent</a:t>
                      </a:r>
                    </a:p>
                  </a:txBody>
                  <a:tcPr marL="54864" marR="54864" marT="27432" marB="27432">
                    <a:solidFill>
                      <a:srgbClr val="E5F5FF"/>
                    </a:solidFill>
                  </a:tcPr>
                </a:tc>
                <a:tc>
                  <a:txBody>
                    <a:bodyPr/>
                    <a:lstStyle/>
                    <a:p>
                      <a:r>
                        <a:rPr sz="850" b="0">
                          <a:solidFill>
                            <a:srgbClr val="4B4B4B"/>
                          </a:solidFill>
                          <a:latin typeface="Arial"/>
                        </a:rPr>
                        <a:t>Queued / Purpose / To / Subject / Outcome / Sent / Reason</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One row per e-mail with the protected attachment marked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Send Statement of Account dialog</a:t>
                      </a:r>
                    </a:p>
                  </a:txBody>
                  <a:tcPr marL="54864" marR="54864" marT="27432" marB="27432">
                    <a:solidFill>
                      <a:srgbClr val="FFFFFF"/>
                    </a:solidFill>
                  </a:tcPr>
                </a:tc>
                <a:tc>
                  <a:txBody>
                    <a:bodyPr/>
                    <a:lstStyle/>
                    <a:p>
                      <a:r>
                        <a:rPr sz="850" b="0">
                          <a:solidFill>
                            <a:srgbClr val="4B4B4B"/>
                          </a:solidFill>
                          <a:latin typeface="Arial"/>
                        </a:rPr>
                        <a:t>To / Cc / Subject / Message</a:t>
                      </a:r>
                    </a:p>
                  </a:txBody>
                  <a:tcPr marL="54864" marR="54864" marT="27432" marB="27432">
                    <a:solidFill>
                      <a:srgbClr val="FFFFFF"/>
                    </a:solidFill>
                  </a:tcPr>
                </a:tc>
                <a:tc>
                  <a:txBody>
                    <a:bodyPr/>
                    <a:lstStyle/>
                    <a:p>
                      <a:r>
                        <a:rPr sz="850" b="0">
                          <a:solidFill>
                            <a:srgbClr val="4B4B4B"/>
                          </a:solidFill>
                          <a:latin typeface="Arial"/>
                        </a:rPr>
                        <a:t>Text, text area</a:t>
                      </a:r>
                    </a:p>
                  </a:txBody>
                  <a:tcPr marL="54864" marR="54864" marT="27432" marB="27432">
                    <a:solidFill>
                      <a:srgbClr val="FFFFFF"/>
                    </a:solidFill>
                  </a:tcPr>
                </a:tc>
                <a:tc>
                  <a:txBody>
                    <a:bodyPr/>
                    <a:lstStyle/>
                    <a:p>
                      <a:r>
                        <a:rPr sz="850" b="0">
                          <a:solidFill>
                            <a:srgbClr val="4B4B4B"/>
                          </a:solidFill>
                          <a:latin typeface="Arial"/>
                        </a:rPr>
                        <a:t>The client's e-mail address proposed; subject and message proposed</a:t>
                      </a:r>
                    </a:p>
                  </a:txBody>
                  <a:tcPr marL="54864" marR="54864" marT="27432" marB="27432">
                    <a:solidFill>
                      <a:srgbClr val="FFFFFF"/>
                    </a:solidFill>
                  </a:tcPr>
                </a:tc>
                <a:tc>
                  <a:txBody>
                    <a:bodyPr/>
                    <a:lstStyle/>
                    <a:p>
                      <a:r>
                        <a:rPr sz="850" b="0">
                          <a:solidFill>
                            <a:srgbClr val="4B4B4B"/>
                          </a:solidFill>
                          <a:latin typeface="Arial"/>
                        </a:rPr>
                        <a:t>Y / N / Y / Y</a:t>
                      </a:r>
                    </a:p>
                  </a:txBody>
                  <a:tcPr marL="54864" marR="54864" marT="27432" marB="27432">
                    <a:solidFill>
                      <a:srgbClr val="FFFFFF"/>
                    </a:solidFill>
                  </a:tcPr>
                </a:tc>
                <a:tc>
                  <a:txBody>
                    <a:bodyPr/>
                    <a:lstStyle/>
                    <a:p>
                      <a:r>
                        <a:rPr sz="850" b="0">
                          <a:solidFill>
                            <a:srgbClr val="4B4B4B"/>
                          </a:solidFill>
                          <a:latin typeface="Arial"/>
                        </a:rPr>
                        <a:t>At least one recipient</a:t>
                      </a:r>
                    </a:p>
                  </a:txBody>
                  <a:tcPr marL="54864" marR="54864" marT="27432" marB="27432">
                    <a:solidFill>
                      <a:srgbClr val="FFFFFF"/>
                    </a:solidFill>
                  </a:tcPr>
                </a:tc>
                <a:tc>
                  <a:txBody>
                    <a:bodyPr/>
                    <a:lstStyle/>
                    <a:p>
                      <a:r>
                        <a:rPr sz="850" b="0">
                          <a:solidFill>
                            <a:srgbClr val="4B4B4B"/>
                          </a:solidFill>
                          <a:latin typeface="Arial"/>
                        </a:rPr>
                        <a:t>Enter at least one recipient</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Send Statement of Account dialog</a:t>
                      </a:r>
                    </a:p>
                  </a:txBody>
                  <a:tcPr marL="54864" marR="54864" marT="27432" marB="27432">
                    <a:solidFill>
                      <a:srgbClr val="E5F5FF"/>
                    </a:solidFill>
                  </a:tcPr>
                </a:tc>
                <a:tc>
                  <a:txBody>
                    <a:bodyPr/>
                    <a:lstStyle/>
                    <a:p>
                      <a:r>
                        <a:rPr sz="850" b="0">
                          <a:solidFill>
                            <a:srgbClr val="4B4B4B"/>
                          </a:solidFill>
                          <a:latin typeface="Arial"/>
                        </a:rPr>
                        <a:t>Password hint for the recipient</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The hint sent with the password</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Cancel Statement of Account dialog</a:t>
                      </a:r>
                    </a:p>
                  </a:txBody>
                  <a:tcPr marL="54864" marR="54864" marT="27432" marB="27432">
                    <a:solidFill>
                      <a:srgbClr val="FFFFFF"/>
                    </a:solidFill>
                  </a:tcPr>
                </a:tc>
                <a:tc>
                  <a:txBody>
                    <a:bodyPr/>
                    <a:lstStyle/>
                    <a:p>
                      <a:r>
                        <a:rPr sz="850" b="0">
                          <a:solidFill>
                            <a:srgbClr val="4B4B4B"/>
                          </a:solidFill>
                          <a:latin typeface="Arial"/>
                        </a:rPr>
                        <a:t>Reason</a:t>
                      </a:r>
                    </a:p>
                  </a:txBody>
                  <a:tcPr marL="54864" marR="54864" marT="27432" marB="27432">
                    <a:solidFill>
                      <a:srgbClr val="FFFFFF"/>
                    </a:solidFill>
                  </a:tcPr>
                </a:tc>
                <a:tc>
                  <a:txBody>
                    <a:bodyPr/>
                    <a:lstStyle/>
                    <a:p>
                      <a:r>
                        <a:rPr sz="850" b="0">
                          <a:solidFill>
                            <a:srgbClr val="4B4B4B"/>
                          </a:solidFill>
                          <a:latin typeface="Arial"/>
                        </a:rPr>
                        <a:t>Text area</a:t>
                      </a:r>
                    </a:p>
                  </a:txBody>
                  <a:tcPr marL="54864" marR="54864" marT="27432" marB="27432">
                    <a:solidFill>
                      <a:srgbClr val="FFFFFF"/>
                    </a:solidFill>
                  </a:tcPr>
                </a:tc>
                <a:tc>
                  <a:txBody>
                    <a:bodyPr/>
                    <a:lstStyle/>
                    <a:p>
                      <a:r>
                        <a:rPr sz="850" b="0">
                          <a:solidFill>
                            <a:srgbClr val="4B4B4B"/>
                          </a:solidFill>
                          <a:latin typeface="Arial"/>
                        </a:rPr>
                        <a:t>Up to 1,000 characters</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Not blank</a:t>
                      </a:r>
                    </a:p>
                  </a:txBody>
                  <a:tcPr marL="54864" marR="54864" marT="27432" marB="27432">
                    <a:solidFill>
                      <a:srgbClr val="FFFFFF"/>
                    </a:solidFill>
                  </a:tcPr>
                </a:tc>
                <a:tc>
                  <a:txBody>
                    <a:bodyPr/>
                    <a:lstStyle/>
                    <a:p>
                      <a:r>
                        <a:rPr sz="850" b="0">
                          <a:solidFill>
                            <a:srgbClr val="4B4B4B"/>
                          </a:solidFill>
                          <a:latin typeface="Arial"/>
                        </a:rPr>
                        <a:t>Enter the reason</a:t>
                      </a:r>
                    </a:p>
                  </a:txBody>
                  <a:tcPr marL="54864" marR="54864" marT="27432" marB="27432">
                    <a:solidFill>
                      <a:srgbClr val="FFFFFF"/>
                    </a:solidFill>
                  </a:tcPr>
                </a:tc>
              </a:tr>
            </a:tbl>
          </a:graphicData>
        </a:graphic>
      </p:graphicFrame>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SCR-CL-10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225</a:t>
            </a:r>
          </a:p>
        </p:txBody>
      </p:sp>
      <p:graphicFrame>
        <p:nvGraphicFramePr>
          <p:cNvPr id="9" name="Table 8"/>
          <p:cNvGraphicFramePr>
            <a:graphicFrameLocks noGrp="1"/>
          </p:cNvGraphicFramePr>
          <p:nvPr/>
        </p:nvGraphicFramePr>
        <p:xfrm>
          <a:off x="548640" y="1325880"/>
          <a:ext cx="11094412" cy="1142994"/>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Download PDF</a:t>
                      </a:r>
                    </a:p>
                  </a:txBody>
                  <a:tcPr marL="54864" marR="54864" marT="27432" marB="27432">
                    <a:solidFill>
                      <a:srgbClr val="FFFFFF"/>
                    </a:solidFill>
                  </a:tcPr>
                </a:tc>
                <a:tc>
                  <a:txBody>
                    <a:bodyPr/>
                    <a:lstStyle/>
                    <a:p>
                      <a:r>
                        <a:rPr sz="850" b="0">
                          <a:solidFill>
                            <a:srgbClr val="4B4B4B"/>
                          </a:solidFill>
                          <a:latin typeface="Arial"/>
                        </a:rPr>
                        <a:t>Every Collections user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Downloads the statement of account (PDF)</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Send via Email</a:t>
                      </a:r>
                    </a:p>
                  </a:txBody>
                  <a:tcPr marL="54864" marR="54864" marT="27432" marB="27432">
                    <a:solidFill>
                      <a:srgbClr val="E5F5FF"/>
                    </a:solidFill>
                  </a:tcPr>
                </a:tc>
                <a:tc>
                  <a:txBody>
                    <a:bodyPr/>
                    <a:lstStyle/>
                    <a:p>
                      <a:r>
                        <a:rPr sz="850" b="0">
                          <a:solidFill>
                            <a:srgbClr val="4B4B4B"/>
                          </a:solidFill>
                          <a:latin typeface="Arial"/>
                        </a:rPr>
                        <a:t>Users with the billing permission</a:t>
                      </a:r>
                    </a:p>
                  </a:txBody>
                  <a:tcPr marL="54864" marR="54864" marT="27432" marB="27432">
                    <a:solidFill>
                      <a:srgbClr val="E5F5FF"/>
                    </a:solidFill>
                  </a:tcPr>
                </a:tc>
                <a:tc>
                  <a:txBody>
                    <a:bodyPr/>
                    <a:lstStyle/>
                    <a:p>
                      <a:r>
                        <a:rPr sz="850" b="0">
                          <a:solidFill>
                            <a:srgbClr val="4B4B4B"/>
                          </a:solidFill>
                          <a:latin typeface="Arial"/>
                        </a:rPr>
                        <a:t>Not cancelled</a:t>
                      </a:r>
                    </a:p>
                  </a:txBody>
                  <a:tcPr marL="54864" marR="54864" marT="27432" marB="27432">
                    <a:solidFill>
                      <a:srgbClr val="E5F5FF"/>
                    </a:solidFill>
                  </a:tcPr>
                </a:tc>
                <a:tc>
                  <a:txBody>
                    <a:bodyPr/>
                    <a:lstStyle/>
                    <a:p>
                      <a:r>
                        <a:rPr sz="850" b="0">
                          <a:solidFill>
                            <a:srgbClr val="4B4B4B"/>
                          </a:solidFill>
                          <a:latin typeface="Arial"/>
                        </a:rPr>
                        <a:t>Sends the PDF, protected by a password sent in a separate e-mail, and records the e-mail</a:t>
                      </a:r>
                    </a:p>
                  </a:txBody>
                  <a:tcPr marL="54864" marR="54864" marT="27432" marB="27432">
                    <a:solidFill>
                      <a:srgbClr val="E5F5FF"/>
                    </a:solidFill>
                  </a:tcPr>
                </a:tc>
                <a:tc>
                  <a:txBody>
                    <a:bodyPr/>
                    <a:lstStyle/>
                    <a:p>
                      <a:r>
                        <a:rPr sz="850" b="0">
                          <a:solidFill>
                            <a:srgbClr val="4B4B4B"/>
                          </a:solidFill>
                          <a:latin typeface="Arial"/>
                        </a:rPr>
                        <a:t>Sent</a:t>
                      </a:r>
                    </a:p>
                  </a:txBody>
                  <a:tcPr marL="54864" marR="54864" marT="27432" marB="27432">
                    <a:solidFill>
                      <a:srgbClr val="E5F5FF"/>
                    </a:solidFill>
                  </a:tcPr>
                </a:tc>
                <a:tc>
                  <a:txBody>
                    <a:bodyPr/>
                    <a:lstStyle/>
                    <a:p>
                      <a:r>
                        <a:rPr sz="850" b="0">
                          <a:solidFill>
                            <a:srgbClr val="4B4B4B"/>
                          </a:solidFill>
                          <a:latin typeface="Arial"/>
                        </a:rPr>
                        <a:t>Statement of account e-mail (NT-11, NT-12)</a:t>
                      </a:r>
                    </a:p>
                  </a:txBody>
                  <a:tcPr marL="54864" marR="54864" marT="27432" marB="27432">
                    <a:solidFill>
                      <a:srgbClr val="E5F5FF"/>
                    </a:solidFill>
                  </a:tcPr>
                </a:tc>
              </a:tr>
              <a:tr h="350518">
                <a:tc>
                  <a:txBody>
                    <a:bodyPr/>
                    <a:lstStyle/>
                    <a:p>
                      <a:r>
                        <a:rPr sz="850" b="0">
                          <a:solidFill>
                            <a:srgbClr val="4B4B4B"/>
                          </a:solidFill>
                          <a:latin typeface="Arial"/>
                        </a:rPr>
                        <a:t>Cancel Statement</a:t>
                      </a:r>
                    </a:p>
                  </a:txBody>
                  <a:tcPr marL="54864" marR="54864" marT="27432" marB="27432">
                    <a:solidFill>
                      <a:srgbClr val="FFFFFF"/>
                    </a:solidFill>
                  </a:tcPr>
                </a:tc>
                <a:tc>
                  <a:txBody>
                    <a:bodyPr/>
                    <a:lstStyle/>
                    <a:p>
                      <a:r>
                        <a:rPr sz="850" b="0">
                          <a:solidFill>
                            <a:srgbClr val="4B4B4B"/>
                          </a:solidFill>
                          <a:latin typeface="Arial"/>
                        </a:rPr>
                        <a:t>Users with the billing permission</a:t>
                      </a:r>
                    </a:p>
                  </a:txBody>
                  <a:tcPr marL="54864" marR="54864" marT="27432" marB="27432">
                    <a:solidFill>
                      <a:srgbClr val="FFFFFF"/>
                    </a:solidFill>
                  </a:tcPr>
                </a:tc>
                <a:tc>
                  <a:txBody>
                    <a:bodyPr/>
                    <a:lstStyle/>
                    <a:p>
                      <a:r>
                        <a:rPr sz="850" b="0">
                          <a:solidFill>
                            <a:srgbClr val="4B4B4B"/>
                          </a:solidFill>
                          <a:latin typeface="Arial"/>
                        </a:rPr>
                        <a:t>Not cancelled</a:t>
                      </a:r>
                    </a:p>
                  </a:txBody>
                  <a:tcPr marL="54864" marR="54864" marT="27432" marB="27432">
                    <a:solidFill>
                      <a:srgbClr val="FFFFFF"/>
                    </a:solidFill>
                  </a:tcPr>
                </a:tc>
                <a:tc>
                  <a:txBody>
                    <a:bodyPr/>
                    <a:lstStyle/>
                    <a:p>
                      <a:r>
                        <a:rPr sz="850" b="0">
                          <a:solidFill>
                            <a:srgbClr val="4B4B4B"/>
                          </a:solidFill>
                          <a:latin typeface="Arial"/>
                        </a:rPr>
                        <a:t>Asks for the reason and cancels the statement; the cycle can be billed again</a:t>
                      </a:r>
                    </a:p>
                  </a:txBody>
                  <a:tcPr marL="54864" marR="54864" marT="27432" marB="27432">
                    <a:solidFill>
                      <a:srgbClr val="FFFFFF"/>
                    </a:solidFill>
                  </a:tcPr>
                </a:tc>
                <a:tc>
                  <a:txBody>
                    <a:bodyPr/>
                    <a:lstStyle/>
                    <a:p>
                      <a:r>
                        <a:rPr sz="850" b="0">
                          <a:solidFill>
                            <a:srgbClr val="4B4B4B"/>
                          </a:solidFill>
                          <a:latin typeface="Arial"/>
                        </a:rPr>
                        <a:t>Cancelled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SCR-CL-10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226</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PDF comes from the statement of account template and records the template version used (FR-CL-060).</a:t>
                      </a:r>
                    </a:p>
                  </a:txBody>
                  <a:tcPr marL="54864" marR="54864" marT="27432" marB="27432">
                    <a:solidFill>
                      <a:srgbClr val="FFFFFF"/>
                    </a:solidFill>
                  </a:tcPr>
                </a:tc>
              </a:tr>
              <a:tr h="243840">
                <a:tc>
                  <a:txBody>
                    <a:bodyPr/>
                    <a:lstStyle/>
                    <a:p>
                      <a:r>
                        <a:rPr sz="1000" b="0">
                          <a:solidFill>
                            <a:srgbClr val="4B4B4B"/>
                          </a:solidFill>
                          <a:latin typeface="Arial"/>
                        </a:rPr>
                        <a:t>The PDF e-mailed to the client is password protected; the password follows in a separate e-mail (FR-CL-061).</a:t>
                      </a:r>
                    </a:p>
                  </a:txBody>
                  <a:tcPr marL="54864" marR="54864" marT="27432" marB="27432">
                    <a:solidFill>
                      <a:srgbClr val="E5F5FF"/>
                    </a:solidFill>
                  </a:tcPr>
                </a:tc>
              </a:tr>
            </a:tbl>
          </a:graphicData>
        </a:graphic>
      </p:graphicFrame>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SCR-CL-10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227</a:t>
            </a:r>
          </a:p>
        </p:txBody>
      </p:sp>
      <p:graphicFrame>
        <p:nvGraphicFramePr>
          <p:cNvPr id="9" name="Table 8"/>
          <p:cNvGraphicFramePr>
            <a:graphicFrameLocks noGrp="1"/>
          </p:cNvGraphicFramePr>
          <p:nvPr/>
        </p:nvGraphicFramePr>
        <p:xfrm>
          <a:off x="548640" y="1325880"/>
          <a:ext cx="11094413" cy="68580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Filled</a:t>
                      </a:r>
                    </a:p>
                  </a:txBody>
                  <a:tcPr marL="54864" marR="54864" marT="27432" marB="27432">
                    <a:solidFill>
                      <a:srgbClr val="FFFFFF"/>
                    </a:solidFill>
                  </a:tcPr>
                </a:tc>
                <a:tc>
                  <a:txBody>
                    <a:bodyPr/>
                    <a:lstStyle/>
                    <a:p>
                      <a:r>
                        <a:rPr sz="900" b="0">
                          <a:solidFill>
                            <a:srgbClr val="4B4B4B"/>
                          </a:solidFill>
                          <a:latin typeface="Arial"/>
                        </a:rPr>
                        <a:t>WT-D step 3</a:t>
                      </a:r>
                    </a:p>
                  </a:txBody>
                  <a:tcPr marL="54864" marR="54864" marT="27432" marB="27432">
                    <a:solidFill>
                      <a:srgbClr val="FFFFFF"/>
                    </a:solidFill>
                  </a:tcPr>
                </a:tc>
                <a:tc>
                  <a:txBody>
                    <a:bodyPr/>
                    <a:lstStyle/>
                    <a:p>
                      <a:r>
                        <a:rPr sz="900" b="0">
                          <a:solidFill>
                            <a:srgbClr val="4B4B4B"/>
                          </a:solidFill>
                          <a:latin typeface="Arial"/>
                        </a:rPr>
                        <a:t>Opens the statement and clicks Send via Email</a:t>
                      </a:r>
                    </a:p>
                  </a:txBody>
                  <a:tcPr marL="54864" marR="54864" marT="27432" marB="27432">
                    <a:solidFill>
                      <a:srgbClr val="FFFFFF"/>
                    </a:solidFill>
                  </a:tcPr>
                </a:tc>
                <a:tc>
                  <a:txBody>
                    <a:bodyPr/>
                    <a:lstStyle/>
                    <a:p>
                      <a:r>
                        <a:rPr sz="900" b="0">
                          <a:solidFill>
                            <a:srgbClr val="4B4B4B"/>
                          </a:solidFill>
                          <a:latin typeface="Arial"/>
                        </a:rPr>
                        <a:t>SCR-CL-10_wt-d-step-03.png</a:t>
                      </a:r>
                    </a:p>
                  </a:txBody>
                  <a:tcPr marL="54864" marR="54864" marT="27432" marB="27432">
                    <a:solidFill>
                      <a:srgbClr val="FFFFFF"/>
                    </a:solidFill>
                  </a:tcPr>
                </a:tc>
              </a:tr>
              <a:tr h="228600">
                <a:tc>
                  <a:txBody>
                    <a:bodyPr/>
                    <a:lstStyle/>
                    <a:p>
                      <a:r>
                        <a:rPr sz="900" b="0">
                          <a:solidFill>
                            <a:srgbClr val="4B4B4B"/>
                          </a:solidFill>
                          <a:latin typeface="Arial"/>
                        </a:rPr>
                        <a:t>Success message</a:t>
                      </a:r>
                    </a:p>
                  </a:txBody>
                  <a:tcPr marL="54864" marR="54864" marT="27432" marB="27432">
                    <a:solidFill>
                      <a:srgbClr val="E5F5FF"/>
                    </a:solidFill>
                  </a:tcPr>
                </a:tc>
                <a:tc>
                  <a:txBody>
                    <a:bodyPr/>
                    <a:lstStyle/>
                    <a:p>
                      <a:r>
                        <a:rPr sz="900" b="0">
                          <a:solidFill>
                            <a:srgbClr val="4B4B4B"/>
                          </a:solidFill>
                          <a:latin typeface="Arial"/>
                        </a:rPr>
                        <a:t>WT-D step 4</a:t>
                      </a:r>
                    </a:p>
                  </a:txBody>
                  <a:tcPr marL="54864" marR="54864" marT="27432" marB="27432">
                    <a:solidFill>
                      <a:srgbClr val="E5F5FF"/>
                    </a:solidFill>
                  </a:tcPr>
                </a:tc>
                <a:tc>
                  <a:txBody>
                    <a:bodyPr/>
                    <a:lstStyle/>
                    <a:p>
                      <a:r>
                        <a:rPr sz="900" b="0">
                          <a:solidFill>
                            <a:srgbClr val="4B4B4B"/>
                          </a:solidFill>
                          <a:latin typeface="Arial"/>
                        </a:rPr>
                        <a:t>Clicks Send</a:t>
                      </a:r>
                    </a:p>
                  </a:txBody>
                  <a:tcPr marL="54864" marR="54864" marT="27432" marB="27432">
                    <a:solidFill>
                      <a:srgbClr val="E5F5FF"/>
                    </a:solidFill>
                  </a:tcPr>
                </a:tc>
                <a:tc>
                  <a:txBody>
                    <a:bodyPr/>
                    <a:lstStyle/>
                    <a:p>
                      <a:r>
                        <a:rPr sz="900" b="0">
                          <a:solidFill>
                            <a:srgbClr val="4B4B4B"/>
                          </a:solidFill>
                          <a:latin typeface="Arial"/>
                        </a:rPr>
                        <a:t>SCR-CL-10_wt-d-step-04.png</a:t>
                      </a:r>
                    </a:p>
                  </a:txBody>
                  <a:tcPr marL="54864" marR="54864" marT="27432" marB="27432">
                    <a:solidFill>
                      <a:srgbClr val="E5F5FF"/>
                    </a:solidFill>
                  </a:tcPr>
                </a:tc>
              </a:tr>
            </a:tbl>
          </a:graphicData>
        </a:graphic>
      </p:graphicFrame>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SCR-CL-10 Statement of Account: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38.png"/>
          <p:cNvPicPr>
            <a:picLocks noChangeAspect="1"/>
          </p:cNvPicPr>
          <p:nvPr/>
        </p:nvPicPr>
        <p:blipFill>
          <a:blip r:embed="rId3"/>
          <a:stretch>
            <a:fillRect/>
          </a:stretch>
        </p:blipFill>
        <p:spPr>
          <a:xfrm>
            <a:off x="548640" y="1261872"/>
            <a:ext cx="11094415" cy="462426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Statement of Account with the installments billed and the e-mails sent (part 1 of 3)</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SCR-CL-10 Statement of Account: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39.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Statement of Account with the installments billed and the e-mails sent (part 2 of 3)</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SCR-CL-10 Statement of Account: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40.png"/>
          <p:cNvPicPr>
            <a:picLocks noChangeAspect="1"/>
          </p:cNvPicPr>
          <p:nvPr/>
        </p:nvPicPr>
        <p:blipFill>
          <a:blip r:embed="rId3"/>
          <a:stretch>
            <a:fillRect/>
          </a:stretch>
        </p:blipFill>
        <p:spPr>
          <a:xfrm>
            <a:off x="548640" y="1261872"/>
            <a:ext cx="11094415" cy="39691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Statement of Account with the installments billed and the e-mails sent (part 3 of 3)</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SCR-CL-10 Statement of Account: Filled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141.png"/>
          <p:cNvPicPr>
            <a:picLocks noChangeAspect="1"/>
          </p:cNvPicPr>
          <p:nvPr/>
        </p:nvPicPr>
        <p:blipFill>
          <a:blip r:embed="rId3"/>
          <a:stretch>
            <a:fillRect/>
          </a:stretch>
        </p:blipFill>
        <p:spPr>
          <a:xfrm>
            <a:off x="548640" y="1261872"/>
            <a:ext cx="11094415" cy="471132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Send Statement of Account: the e-mail to the client with the protected PDF (part 1 of 3)</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SCR-CL-10 Statement of Account: Filled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142.png"/>
          <p:cNvPicPr>
            <a:picLocks noChangeAspect="1"/>
          </p:cNvPicPr>
          <p:nvPr/>
        </p:nvPicPr>
        <p:blipFill>
          <a:blip r:embed="rId3"/>
          <a:stretch>
            <a:fillRect/>
          </a:stretch>
        </p:blipFill>
        <p:spPr>
          <a:xfrm>
            <a:off x="548640" y="1261872"/>
            <a:ext cx="11094415" cy="473470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Send Statement of Account: the e-mail to the client with the protected PDF (part 2 of 3)</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SCR-CL-10 Statement of Account: Filled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143.png"/>
          <p:cNvPicPr>
            <a:picLocks noChangeAspect="1"/>
          </p:cNvPicPr>
          <p:nvPr/>
        </p:nvPicPr>
        <p:blipFill>
          <a:blip r:embed="rId3"/>
          <a:stretch>
            <a:fillRect/>
          </a:stretch>
        </p:blipFill>
        <p:spPr>
          <a:xfrm>
            <a:off x="548640" y="1261872"/>
            <a:ext cx="11094415" cy="28057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Send Statement of Account: the e-mail to the client with the protected PDF (part 3 of 3)</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SCR-CL-11 Escalations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234</a:t>
            </a:r>
          </a:p>
        </p:txBody>
      </p:sp>
      <p:graphicFrame>
        <p:nvGraphicFramePr>
          <p:cNvPr id="9" name="Table 8"/>
          <p:cNvGraphicFramePr>
            <a:graphicFrameLocks noGrp="1"/>
          </p:cNvGraphicFramePr>
          <p:nvPr/>
        </p:nvGraphicFramePr>
        <p:xfrm>
          <a:off x="548640" y="1307592"/>
          <a:ext cx="6434760" cy="28117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Escalation</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accounts escalated to the team lead or to the unit / section head, automatically by the escalation rules (aging, no commitment, broken promises, overdue installments, amount) or by a user, by stage; Escalate Accounts escalates one or several invoices by hand.</a:t>
                      </a:r>
                    </a:p>
                  </a:txBody>
                  <a:tcPr marL="54864" marR="54864" marT="27432" marB="27432">
                    <a:solidFill>
                      <a:srgbClr val="FFFFFF"/>
                    </a:solidFill>
                  </a:tcPr>
                </a:tc>
              </a:tr>
              <a:tr h="81534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Team Lead, Marketing Handler, Collection Handler, Collection Team Lead, Section Head (Corporate / Retail), Unapplied Payment Handler, Processing Unit, Cashier (read access and exports), Disbursement (read access and exports), Comptrollership (read access), Business Administrator, System Administrator, Auditor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Collections › Escalations</a:t>
                      </a:r>
                    </a:p>
                    <a:p>
                      <a:r>
                        <a:rPr sz="950" b="0">
                          <a:solidFill>
                            <a:srgbClr val="4B4B4B"/>
                          </a:solidFill>
                          <a:latin typeface="Arial"/>
                        </a:rPr>
                        <a:t>Finance › Collections › Escalations</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13.3.1</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FR-CL-051, FR-CL-052, FR-CL-053</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Accounts that need a decision reach the team lead or the head.</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(4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SCR-CL-11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235</a:t>
            </a:r>
          </a:p>
        </p:txBody>
      </p:sp>
      <p:graphicFrame>
        <p:nvGraphicFramePr>
          <p:cNvPr id="9" name="Table 8"/>
          <p:cNvGraphicFramePr>
            <a:graphicFrameLocks noGrp="1"/>
          </p:cNvGraphicFramePr>
          <p:nvPr/>
        </p:nvGraphicFramePr>
        <p:xfrm>
          <a:off x="548640" y="1325880"/>
          <a:ext cx="11094411" cy="3543279"/>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With Team Lead / With Unit / Section Head / In Action / Returned / Resolved</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Toolbar</a:t>
                      </a:r>
                    </a:p>
                  </a:txBody>
                  <a:tcPr marL="54864" marR="54864" marT="27432" marB="27432">
                    <a:solidFill>
                      <a:srgbClr val="E5F5FF"/>
                    </a:solidFill>
                  </a:tcPr>
                </a:tc>
                <a:tc>
                  <a:txBody>
                    <a:bodyPr/>
                    <a:lstStyle/>
                    <a:p>
                      <a:r>
                        <a:rPr sz="850" b="0">
                          <a:solidFill>
                            <a:srgbClr val="4B4B4B"/>
                          </a:solidFill>
                          <a:latin typeface="Arial"/>
                        </a:rPr>
                        <a:t>Search Escalation, ARN or Invoice No.</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Contains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Escalation No.</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ESC-yyyy-nnnnnn; the rule or the name of the user who raised it under it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escalations to display</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ARN / Name of Assured / Reason / Escalated To</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Label of the reason; the level or the user's name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Outstanding / In Stage Since / 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Two decimals; date and time with Past SLA when overdue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Escalate Accounts dialog</a:t>
                      </a:r>
                    </a:p>
                  </a:txBody>
                  <a:tcPr marL="54864" marR="54864" marT="27432" marB="27432">
                    <a:solidFill>
                      <a:srgbClr val="E5F5FF"/>
                    </a:solidFill>
                  </a:tcPr>
                </a:tc>
                <a:tc>
                  <a:txBody>
                    <a:bodyPr/>
                    <a:lstStyle/>
                    <a:p>
                      <a:r>
                        <a:rPr sz="850" b="0">
                          <a:solidFill>
                            <a:srgbClr val="4B4B4B"/>
                          </a:solidFill>
                          <a:latin typeface="Arial"/>
                        </a:rPr>
                        <a:t>Invoice Nos.</a:t>
                      </a:r>
                    </a:p>
                  </a:txBody>
                  <a:tcPr marL="54864" marR="54864" marT="27432" marB="27432">
                    <a:solidFill>
                      <a:srgbClr val="E5F5FF"/>
                    </a:solidFill>
                  </a:tcPr>
                </a:tc>
                <a:tc>
                  <a:txBody>
                    <a:bodyPr/>
                    <a:lstStyle/>
                    <a:p>
                      <a:r>
                        <a:rPr sz="850" b="0">
                          <a:solidFill>
                            <a:srgbClr val="4B4B4B"/>
                          </a:solidFill>
                          <a:latin typeface="Arial"/>
                        </a:rPr>
                        <a:t>Text area</a:t>
                      </a:r>
                    </a:p>
                  </a:txBody>
                  <a:tcPr marL="54864" marR="54864" marT="27432" marB="27432">
                    <a:solidFill>
                      <a:srgbClr val="E5F5FF"/>
                    </a:solidFill>
                  </a:tcPr>
                </a:tc>
                <a:tc>
                  <a:txBody>
                    <a:bodyPr/>
                    <a:lstStyle/>
                    <a:p>
                      <a:r>
                        <a:rPr sz="850" b="0">
                          <a:solidFill>
                            <a:srgbClr val="4B4B4B"/>
                          </a:solidFill>
                          <a:latin typeface="Arial"/>
                        </a:rPr>
                        <a:t>One per line; the invoices of one account are escalated together</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Account with something to collect</a:t>
                      </a:r>
                    </a:p>
                  </a:txBody>
                  <a:tcPr marL="54864" marR="54864" marT="27432" marB="27432">
                    <a:solidFill>
                      <a:srgbClr val="E5F5FF"/>
                    </a:solidFill>
                  </a:tcPr>
                </a:tc>
                <a:tc>
                  <a:txBody>
                    <a:bodyPr/>
                    <a:lstStyle/>
                    <a:p>
                      <a:r>
                        <a:rPr sz="850" b="0">
                          <a:solidFill>
                            <a:srgbClr val="4B4B4B"/>
                          </a:solidFill>
                          <a:latin typeface="Arial"/>
                        </a:rPr>
                        <a:t>Enter at least one invoice number</a:t>
                      </a:r>
                    </a:p>
                  </a:txBody>
                  <a:tcPr marL="54864" marR="54864" marT="27432" marB="27432">
                    <a:solidFill>
                      <a:srgbClr val="E5F5FF"/>
                    </a:solidFill>
                  </a:tcPr>
                </a:tc>
              </a:tr>
              <a:tr h="609596">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Escalate Accounts dialog</a:t>
                      </a:r>
                    </a:p>
                  </a:txBody>
                  <a:tcPr marL="54864" marR="54864" marT="27432" marB="27432">
                    <a:solidFill>
                      <a:srgbClr val="FFFFFF"/>
                    </a:solidFill>
                  </a:tcPr>
                </a:tc>
                <a:tc>
                  <a:txBody>
                    <a:bodyPr/>
                    <a:lstStyle/>
                    <a:p>
                      <a:r>
                        <a:rPr sz="850" b="0">
                          <a:solidFill>
                            <a:srgbClr val="4B4B4B"/>
                          </a:solidFill>
                          <a:latin typeface="Arial"/>
                        </a:rPr>
                        <a:t>Escalate To / User</a:t>
                      </a:r>
                    </a:p>
                  </a:txBody>
                  <a:tcPr marL="54864" marR="54864" marT="27432" marB="27432">
                    <a:solidFill>
                      <a:srgbClr val="FFFFFF"/>
                    </a:solidFill>
                  </a:tcPr>
                </a:tc>
                <a:tc>
                  <a:txBody>
                    <a:bodyPr/>
                    <a:lstStyle/>
                    <a:p>
                      <a:r>
                        <a:rPr sz="850" b="0">
                          <a:solidFill>
                            <a:srgbClr val="4B4B4B"/>
                          </a:solidFill>
                          <a:latin typeface="Arial"/>
                        </a:rPr>
                        <a:t>Drop-down, text</a:t>
                      </a:r>
                    </a:p>
                  </a:txBody>
                  <a:tcPr marL="54864" marR="54864" marT="27432" marB="27432">
                    <a:solidFill>
                      <a:srgbClr val="FFFFFF"/>
                    </a:solidFill>
                  </a:tcPr>
                </a:tc>
                <a:tc>
                  <a:txBody>
                    <a:bodyPr/>
                    <a:lstStyle/>
                    <a:p>
                      <a:r>
                        <a:rPr sz="850" b="0">
                          <a:solidFill>
                            <a:srgbClr val="4B4B4B"/>
                          </a:solidFill>
                          <a:latin typeface="Arial"/>
                        </a:rPr>
                        <a:t>Team Lead, Unit Head, Section Head or Designated User; the user for a designated user</a:t>
                      </a:r>
                    </a:p>
                  </a:txBody>
                  <a:tcPr marL="54864" marR="54864" marT="27432" marB="27432">
                    <a:solidFill>
                      <a:srgbClr val="FFFFFF"/>
                    </a:solidFill>
                  </a:tcPr>
                </a:tc>
                <a:tc>
                  <a:txBody>
                    <a:bodyPr/>
                    <a:lstStyle/>
                    <a:p>
                      <a:r>
                        <a:rPr sz="850" b="0">
                          <a:solidFill>
                            <a:srgbClr val="4B4B4B"/>
                          </a:solidFill>
                          <a:latin typeface="Arial"/>
                        </a:rPr>
                        <a:t>Y / Cond.: designated user</a:t>
                      </a:r>
                    </a:p>
                  </a:txBody>
                  <a:tcPr marL="54864" marR="54864" marT="27432" marB="27432">
                    <a:solidFill>
                      <a:srgbClr val="FFFFFF"/>
                    </a:solidFill>
                  </a:tcPr>
                </a:tc>
                <a:tc>
                  <a:txBody>
                    <a:bodyPr/>
                    <a:lstStyle/>
                    <a:p>
                      <a:r>
                        <a:rPr sz="850" b="0">
                          <a:solidFill>
                            <a:srgbClr val="4B4B4B"/>
                          </a:solidFill>
                          <a:latin typeface="Arial"/>
                        </a:rPr>
                        <a:t>The user handles escalations</a:t>
                      </a:r>
                    </a:p>
                  </a:txBody>
                  <a:tcPr marL="54864" marR="54864" marT="27432" marB="27432">
                    <a:solidFill>
                      <a:srgbClr val="FFFFFF"/>
                    </a:solidFill>
                  </a:tcPr>
                </a:tc>
                <a:tc>
                  <a:txBody>
                    <a:bodyPr/>
                    <a:lstStyle/>
                    <a:p>
                      <a:r>
                        <a:rPr sz="850" b="0">
                          <a:solidFill>
                            <a:srgbClr val="4B4B4B"/>
                          </a:solidFill>
                          <a:latin typeface="Arial"/>
                        </a:rPr>
                        <a:t>Name the user who receives the escalation</a:t>
                      </a:r>
                    </a:p>
                  </a:txBody>
                  <a:tcPr marL="54864" marR="54864" marT="27432" marB="27432">
                    <a:solidFill>
                      <a:srgbClr val="FFFFFF"/>
                    </a:solidFill>
                  </a:tcPr>
                </a:tc>
              </a:tr>
              <a:tr h="350518">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Escalate Accounts dialog</a:t>
                      </a:r>
                    </a:p>
                  </a:txBody>
                  <a:tcPr marL="54864" marR="54864" marT="27432" marB="27432">
                    <a:solidFill>
                      <a:srgbClr val="E5F5FF"/>
                    </a:solidFill>
                  </a:tcPr>
                </a:tc>
                <a:tc>
                  <a:txBody>
                    <a:bodyPr/>
                    <a:lstStyle/>
                    <a:p>
                      <a:r>
                        <a:rPr sz="850" b="0">
                          <a:solidFill>
                            <a:srgbClr val="4B4B4B"/>
                          </a:solidFill>
                          <a:latin typeface="Arial"/>
                        </a:rPr>
                        <a:t>Reason / Remarks</a:t>
                      </a:r>
                    </a:p>
                  </a:txBody>
                  <a:tcPr marL="54864" marR="54864" marT="27432" marB="27432">
                    <a:solidFill>
                      <a:srgbClr val="E5F5FF"/>
                    </a:solidFill>
                  </a:tcPr>
                </a:tc>
                <a:tc>
                  <a:txBody>
                    <a:bodyPr/>
                    <a:lstStyle/>
                    <a:p>
                      <a:r>
                        <a:rPr sz="850" b="0">
                          <a:solidFill>
                            <a:srgbClr val="4B4B4B"/>
                          </a:solidFill>
                          <a:latin typeface="Arial"/>
                        </a:rPr>
                        <a:t>Drop-down, text area</a:t>
                      </a:r>
                    </a:p>
                  </a:txBody>
                  <a:tcPr marL="54864" marR="54864" marT="27432" marB="27432">
                    <a:solidFill>
                      <a:srgbClr val="E5F5FF"/>
                    </a:solidFill>
                  </a:tcPr>
                </a:tc>
                <a:tc>
                  <a:txBody>
                    <a:bodyPr/>
                    <a:lstStyle/>
                    <a:p>
                      <a:r>
                        <a:rPr sz="850" b="0">
                          <a:solidFill>
                            <a:srgbClr val="4B4B4B"/>
                          </a:solidFill>
                          <a:latin typeface="Arial"/>
                        </a:rPr>
                        <a:t>Escalation reason list</a:t>
                      </a:r>
                    </a:p>
                  </a:txBody>
                  <a:tcPr marL="54864" marR="54864" marT="27432" marB="27432">
                    <a:solidFill>
                      <a:srgbClr val="E5F5FF"/>
                    </a:solidFill>
                  </a:tcPr>
                </a:tc>
                <a:tc>
                  <a:txBody>
                    <a:bodyPr/>
                    <a:lstStyle/>
                    <a:p>
                      <a:r>
                        <a:rPr sz="850" b="0">
                          <a:solidFill>
                            <a:srgbClr val="4B4B4B"/>
                          </a:solidFill>
                          <a:latin typeface="Arial"/>
                        </a:rPr>
                        <a:t>Y / 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Choose the reason</a:t>
                      </a:r>
                    </a:p>
                  </a:txBody>
                  <a:tcPr marL="54864" marR="54864" marT="27432" marB="27432">
                    <a:solidFill>
                      <a:srgbClr val="E5F5FF"/>
                    </a:solidFill>
                  </a:tcPr>
                </a:tc>
              </a:tr>
            </a:tbl>
          </a:graphicData>
        </a:graphic>
      </p:graphicFrame>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SCR-CL-11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236</a:t>
            </a:r>
          </a:p>
        </p:txBody>
      </p:sp>
      <p:graphicFrame>
        <p:nvGraphicFramePr>
          <p:cNvPr id="9" name="Table 8"/>
          <p:cNvGraphicFramePr>
            <a:graphicFrameLocks noGrp="1"/>
          </p:cNvGraphicFramePr>
          <p:nvPr/>
        </p:nvGraphicFramePr>
        <p:xfrm>
          <a:off x="548640" y="1325880"/>
          <a:ext cx="11094412" cy="1142994"/>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Escalate Accounts</a:t>
                      </a:r>
                    </a:p>
                  </a:txBody>
                  <a:tcPr marL="54864" marR="54864" marT="27432" marB="27432">
                    <a:solidFill>
                      <a:srgbClr val="FFFFFF"/>
                    </a:solidFill>
                  </a:tcPr>
                </a:tc>
                <a:tc>
                  <a:txBody>
                    <a:bodyPr/>
                    <a:lstStyle/>
                    <a:p>
                      <a:r>
                        <a:rPr sz="850" b="0">
                          <a:solidFill>
                            <a:srgbClr val="4B4B4B"/>
                          </a:solidFill>
                          <a:latin typeface="Arial"/>
                        </a:rPr>
                        <a:t>Collectors with the escalate permission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dialog</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Escalate</a:t>
                      </a:r>
                    </a:p>
                  </a:txBody>
                  <a:tcPr marL="54864" marR="54864" marT="27432" marB="27432">
                    <a:solidFill>
                      <a:srgbClr val="E5F5FF"/>
                    </a:solidFill>
                  </a:tcPr>
                </a:tc>
                <a:tc>
                  <a:txBody>
                    <a:bodyPr/>
                    <a:lstStyle/>
                    <a:p>
                      <a:r>
                        <a:rPr sz="850" b="0">
                          <a:solidFill>
                            <a:srgbClr val="4B4B4B"/>
                          </a:solidFill>
                          <a:latin typeface="Arial"/>
                        </a:rPr>
                        <a:t>Collectors with the escalate permission</a:t>
                      </a:r>
                    </a:p>
                  </a:txBody>
                  <a:tcPr marL="54864" marR="54864" marT="27432" marB="27432">
                    <a:solidFill>
                      <a:srgbClr val="E5F5FF"/>
                    </a:solidFill>
                  </a:tcPr>
                </a:tc>
                <a:tc>
                  <a:txBody>
                    <a:bodyPr/>
                    <a:lstStyle/>
                    <a:p>
                      <a:r>
                        <a:rPr sz="850" b="0">
                          <a:solidFill>
                            <a:srgbClr val="4B4B4B"/>
                          </a:solidFill>
                          <a:latin typeface="Arial"/>
                        </a:rPr>
                        <a:t>The form is complete</a:t>
                      </a:r>
                    </a:p>
                  </a:txBody>
                  <a:tcPr marL="54864" marR="54864" marT="27432" marB="27432">
                    <a:solidFill>
                      <a:srgbClr val="E5F5FF"/>
                    </a:solidFill>
                  </a:tcPr>
                </a:tc>
                <a:tc>
                  <a:txBody>
                    <a:bodyPr/>
                    <a:lstStyle/>
                    <a:p>
                      <a:r>
                        <a:rPr sz="850" b="0">
                          <a:solidFill>
                            <a:srgbClr val="4B4B4B"/>
                          </a:solidFill>
                          <a:latin typeface="Arial"/>
                        </a:rPr>
                        <a:t>Raises one escalation per account and lists the outcome per invoice</a:t>
                      </a:r>
                    </a:p>
                  </a:txBody>
                  <a:tcPr marL="54864" marR="54864" marT="27432" marB="27432">
                    <a:solidFill>
                      <a:srgbClr val="E5F5FF"/>
                    </a:solidFill>
                  </a:tcPr>
                </a:tc>
                <a:tc>
                  <a:txBody>
                    <a:bodyPr/>
                    <a:lstStyle/>
                    <a:p>
                      <a:r>
                        <a:rPr sz="850" b="0">
                          <a:solidFill>
                            <a:srgbClr val="4B4B4B"/>
                          </a:solidFill>
                          <a:latin typeface="Arial"/>
                        </a:rPr>
                        <a:t>With Team Lead or With Unit / Section Head</a:t>
                      </a:r>
                    </a:p>
                  </a:txBody>
                  <a:tcPr marL="54864" marR="54864" marT="27432" marB="27432">
                    <a:solidFill>
                      <a:srgbClr val="E5F5FF"/>
                    </a:solidFill>
                  </a:tcPr>
                </a:tc>
                <a:tc>
                  <a:txBody>
                    <a:bodyPr/>
                    <a:lstStyle/>
                    <a:p>
                      <a:r>
                        <a:rPr sz="850" b="0">
                          <a:solidFill>
                            <a:srgbClr val="4B4B4B"/>
                          </a:solidFill>
                          <a:latin typeface="Arial"/>
                        </a:rPr>
                        <a:t>Account escalated (NT-02)</a:t>
                      </a:r>
                    </a:p>
                  </a:txBody>
                  <a:tcPr marL="54864" marR="54864" marT="27432" marB="27432">
                    <a:solidFill>
                      <a:srgbClr val="E5F5FF"/>
                    </a:solidFill>
                  </a:tcPr>
                </a:tc>
              </a:tr>
              <a:tr h="220979">
                <a:tc>
                  <a:txBody>
                    <a:bodyPr/>
                    <a:lstStyle/>
                    <a:p>
                      <a:r>
                        <a:rPr sz="850" b="0">
                          <a:solidFill>
                            <a:srgbClr val="4B4B4B"/>
                          </a:solidFill>
                          <a:latin typeface="Arial"/>
                        </a:rPr>
                        <a:t>Row</a:t>
                      </a:r>
                    </a:p>
                  </a:txBody>
                  <a:tcPr marL="54864" marR="54864" marT="27432" marB="27432">
                    <a:solidFill>
                      <a:srgbClr val="FFFFFF"/>
                    </a:solidFill>
                  </a:tcPr>
                </a:tc>
                <a:tc>
                  <a:txBody>
                    <a:bodyPr/>
                    <a:lstStyle/>
                    <a:p>
                      <a:r>
                        <a:rPr sz="850" b="0">
                          <a:solidFill>
                            <a:srgbClr val="4B4B4B"/>
                          </a:solidFill>
                          <a:latin typeface="Arial"/>
                        </a:rPr>
                        <a:t>Every Collections user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escalation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SCR-CL-11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237</a:t>
            </a:r>
          </a:p>
        </p:txBody>
      </p:sp>
      <p:graphicFrame>
        <p:nvGraphicFramePr>
          <p:cNvPr id="9" name="Table 8"/>
          <p:cNvGraphicFramePr>
            <a:graphicFrameLocks noGrp="1"/>
          </p:cNvGraphicFramePr>
          <p:nvPr/>
        </p:nvGraphicFramePr>
        <p:xfrm>
          <a:off x="548640" y="1325880"/>
          <a:ext cx="11094415" cy="9753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rules escalate an account once per rule and month; the escalation job runs every night after the promise check (FR-CL-051).</a:t>
                      </a:r>
                    </a:p>
                  </a:txBody>
                  <a:tcPr marL="54864" marR="54864" marT="27432" marB="27432">
                    <a:solidFill>
                      <a:srgbClr val="FFFFFF"/>
                    </a:solidFill>
                  </a:tcPr>
                </a:tc>
              </a:tr>
              <a:tr h="243840">
                <a:tc>
                  <a:txBody>
                    <a:bodyPr/>
                    <a:lstStyle/>
                    <a:p>
                      <a:r>
                        <a:rPr sz="1000" b="0">
                          <a:solidFill>
                            <a:srgbClr val="4B4B4B"/>
                          </a:solidFill>
                          <a:latin typeface="Arial"/>
                        </a:rPr>
                        <a:t>A user escalates one or several invoices regardless of the rules; the invoices of one account become one escalation (FR-CL-052).</a:t>
                      </a:r>
                    </a:p>
                  </a:txBody>
                  <a:tcPr marL="54864" marR="54864" marT="27432" marB="27432">
                    <a:solidFill>
                      <a:srgbClr val="E5F5FF"/>
                    </a:solidFill>
                  </a:tcPr>
                </a:tc>
              </a:tr>
              <a:tr h="243840">
                <a:tc>
                  <a:txBody>
                    <a:bodyPr/>
                    <a:lstStyle/>
                    <a:p>
                      <a:r>
                        <a:rPr sz="1000" b="0">
                          <a:solidFill>
                            <a:srgbClr val="4B4B4B"/>
                          </a:solidFill>
                          <a:latin typeface="Arial"/>
                        </a:rPr>
                        <a:t>Each stage has the SLA of its rule; past it the escalation shows Past SLA and the overdue alert is raised (FR-CL-053).</a:t>
                      </a:r>
                    </a:p>
                  </a:txBody>
                  <a:tcPr marL="54864" marR="54864" marT="27432" marB="27432">
                    <a:solidFill>
                      <a:srgbClr val="FFFFFF"/>
                    </a:solidFill>
                  </a:tcPr>
                </a:tc>
              </a:tr>
            </a:tbl>
          </a:graphicData>
        </a:graphic>
      </p:graphicFrame>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SCR-CL-11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238</a:t>
            </a:r>
          </a:p>
        </p:txBody>
      </p:sp>
      <p:graphicFrame>
        <p:nvGraphicFramePr>
          <p:cNvPr id="9" name="Table 8"/>
          <p:cNvGraphicFramePr>
            <a:graphicFrameLocks noGrp="1"/>
          </p:cNvGraphicFramePr>
          <p:nvPr/>
        </p:nvGraphicFramePr>
        <p:xfrm>
          <a:off x="548640" y="1325880"/>
          <a:ext cx="11094413" cy="59436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36576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WT-B step 2</a:t>
                      </a:r>
                    </a:p>
                  </a:txBody>
                  <a:tcPr marL="54864" marR="54864" marT="27432" marB="27432">
                    <a:solidFill>
                      <a:srgbClr val="FFFFFF"/>
                    </a:solidFill>
                  </a:tcPr>
                </a:tc>
                <a:tc>
                  <a:txBody>
                    <a:bodyPr/>
                    <a:lstStyle/>
                    <a:p>
                      <a:r>
                        <a:rPr sz="900" b="0">
                          <a:solidFill>
                            <a:srgbClr val="4B4B4B"/>
                          </a:solidFill>
                          <a:latin typeface="Arial"/>
                        </a:rPr>
                        <a:t>Clicks Escalate Accounts and enters the invoice, Team Lead and the reason Credit term extension refused by the insurer</a:t>
                      </a:r>
                    </a:p>
                  </a:txBody>
                  <a:tcPr marL="54864" marR="54864" marT="27432" marB="27432">
                    <a:solidFill>
                      <a:srgbClr val="FFFFFF"/>
                    </a:solidFill>
                  </a:tcPr>
                </a:tc>
                <a:tc>
                  <a:txBody>
                    <a:bodyPr/>
                    <a:lstStyle/>
                    <a:p>
                      <a:r>
                        <a:rPr sz="900" b="0">
                          <a:solidFill>
                            <a:srgbClr val="4B4B4B"/>
                          </a:solidFill>
                          <a:latin typeface="Arial"/>
                        </a:rPr>
                        <a:t>SCR-CL-11_wt-b-step-02.png</a:t>
                      </a:r>
                    </a:p>
                  </a:txBody>
                  <a:tcPr marL="54864" marR="54864" marT="27432" marB="27432">
                    <a:solidFill>
                      <a:srgbClr val="FFFFFF"/>
                    </a:solidFill>
                  </a:tcPr>
                </a:tc>
              </a:tr>
            </a:tbl>
          </a:graphicData>
        </a:graphic>
      </p:graphicFrame>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SCR-CL-11 Escalations: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cl-11-01-list.png"/>
          <p:cNvPicPr>
            <a:picLocks noChangeAspect="1"/>
          </p:cNvPicPr>
          <p:nvPr/>
        </p:nvPicPr>
        <p:blipFill>
          <a:blip r:embed="rId3"/>
          <a:stretch>
            <a:fillRect/>
          </a:stretch>
        </p:blipFill>
        <p:spPr>
          <a:xfrm>
            <a:off x="1958463" y="1261872"/>
            <a:ext cx="8274769"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Escalations with the team lead: by rule or by a user, with the reason and the time in stage</a:t>
            </a: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SCR-CL-11 Escalations: Filled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144.png"/>
          <p:cNvPicPr>
            <a:picLocks noChangeAspect="1"/>
          </p:cNvPicPr>
          <p:nvPr/>
        </p:nvPicPr>
        <p:blipFill>
          <a:blip r:embed="rId3"/>
          <a:stretch>
            <a:fillRect/>
          </a:stretch>
        </p:blipFill>
        <p:spPr>
          <a:xfrm>
            <a:off x="548640" y="1261872"/>
            <a:ext cx="11094415" cy="439567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Escalate Accounts dialog: the invoices, the level and the reason (part 1 of 2)</a:t>
            </a: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SCR-CL-11 Escalations: Filled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145.png"/>
          <p:cNvPicPr>
            <a:picLocks noChangeAspect="1"/>
          </p:cNvPicPr>
          <p:nvPr/>
        </p:nvPicPr>
        <p:blipFill>
          <a:blip r:embed="rId3"/>
          <a:stretch>
            <a:fillRect/>
          </a:stretch>
        </p:blipFill>
        <p:spPr>
          <a:xfrm>
            <a:off x="548640" y="1261872"/>
            <a:ext cx="11094415" cy="362409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Escalate Accounts dialog: the invoices, the level and the reason (part 2 of 2)</a:t>
            </a: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SCR-CL-11 Escalations: Empty list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242</a:t>
            </a:r>
          </a:p>
        </p:txBody>
      </p:sp>
      <p:sp>
        <p:nvSpPr>
          <p:cNvPr id="9" name="Rounded Rectangle 8"/>
          <p:cNvSpPr/>
          <p:nvPr/>
        </p:nvSpPr>
        <p:spPr>
          <a:xfrm>
            <a:off x="10408615" y="896112"/>
            <a:ext cx="123444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Empty list</a:t>
            </a:r>
          </a:p>
        </p:txBody>
      </p:sp>
      <p:pic>
        <p:nvPicPr>
          <p:cNvPr id="10" name="Picture 9" descr="ux-scr-cl-11-empty.png"/>
          <p:cNvPicPr>
            <a:picLocks noChangeAspect="1"/>
          </p:cNvPicPr>
          <p:nvPr/>
        </p:nvPicPr>
        <p:blipFill>
          <a:blip r:embed="rId3"/>
          <a:stretch>
            <a:fillRect/>
          </a:stretch>
        </p:blipFill>
        <p:spPr>
          <a:xfrm>
            <a:off x="1198836" y="1261872"/>
            <a:ext cx="9794022"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An escalation tab without escalations</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SCR-CL-12 Escalation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243</a:t>
            </a:r>
          </a:p>
        </p:txBody>
      </p:sp>
      <p:graphicFrame>
        <p:nvGraphicFramePr>
          <p:cNvPr id="9" name="Table 8"/>
          <p:cNvGraphicFramePr>
            <a:graphicFrameLocks noGrp="1"/>
          </p:cNvGraphicFramePr>
          <p:nvPr/>
        </p:nvGraphicFramePr>
        <p:xfrm>
          <a:off x="548640" y="1307592"/>
          <a:ext cx="6434760" cy="29565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Escalation</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One escalation: the account, the reason, the receiving level or user, the outstanding and the SLA; the workflow header with the actions of the stage (acknowledge, escalate to the unit / section head, return to the handler, resubmit, resolve) and the history; the escalated invoices.</a:t>
                      </a:r>
                    </a:p>
                  </a:txBody>
                  <a:tcPr marL="54864" marR="54864" marT="27432" marB="27432">
                    <a:solidFill>
                      <a:srgbClr val="FFFFFF"/>
                    </a:solidFill>
                  </a:tcPr>
                </a:tc>
              </a:tr>
              <a:tr h="81534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Team Lead, Marketing Handler, Collection Handler, Collection Team Lead, Section Head (Corporate / Retail), Unapplied Payment Handler, Processing Unit, Cashier (read access and exports), Disbursement (read access and exports), Comptrollership (read access), Business Administrator, System Administrator, Auditor</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Collections › Escalations › Escalation</a:t>
                      </a:r>
                    </a:p>
                    <a:p>
                      <a:r>
                        <a:rPr sz="950" b="0">
                          <a:solidFill>
                            <a:srgbClr val="4B4B4B"/>
                          </a:solidFill>
                          <a:latin typeface="Arial"/>
                        </a:rPr>
                        <a:t>Escalations › open a row</a:t>
                      </a:r>
                    </a:p>
                    <a:p>
                      <a:r>
                        <a:rPr sz="950" b="0">
                          <a:solidFill>
                            <a:srgbClr val="4B4B4B"/>
                          </a:solidFill>
                          <a:latin typeface="Arial"/>
                        </a:rPr>
                        <a:t>Notification Account escalated</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13.3.2</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FR-CL-053</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escalation is acted on and closed with its resolution.</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(4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SCR-CL-12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244</a:t>
            </a:r>
          </a:p>
        </p:txBody>
      </p:sp>
      <p:graphicFrame>
        <p:nvGraphicFramePr>
          <p:cNvPr id="9" name="Table 8"/>
          <p:cNvGraphicFramePr>
            <a:graphicFrameLocks noGrp="1"/>
          </p:cNvGraphicFramePr>
          <p:nvPr/>
        </p:nvGraphicFramePr>
        <p:xfrm>
          <a:off x="548640" y="1325880"/>
          <a:ext cx="11094411" cy="3101321"/>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Header</a:t>
                      </a:r>
                    </a:p>
                  </a:txBody>
                  <a:tcPr marL="54864" marR="54864" marT="27432" marB="27432">
                    <a:solidFill>
                      <a:srgbClr val="FFFFFF"/>
                    </a:solidFill>
                  </a:tcPr>
                </a:tc>
                <a:tc>
                  <a:txBody>
                    <a:bodyPr/>
                    <a:lstStyle/>
                    <a:p>
                      <a:r>
                        <a:rPr sz="850" b="0">
                          <a:solidFill>
                            <a:srgbClr val="4B4B4B"/>
                          </a:solidFill>
                          <a:latin typeface="Arial"/>
                        </a:rPr>
                        <a:t>Escalation and ARN chips, status pill, By Rule or Manual tag, Past SLA</a:t>
                      </a:r>
                    </a:p>
                  </a:txBody>
                  <a:tcPr marL="54864" marR="54864" marT="27432" marB="27432">
                    <a:solidFill>
                      <a:srgbClr val="FFFFFF"/>
                    </a:solidFill>
                  </a:tcPr>
                </a:tc>
                <a:tc>
                  <a:txBody>
                    <a:bodyPr/>
                    <a:lstStyle/>
                    <a:p>
                      <a:r>
                        <a:rPr sz="850" b="0">
                          <a:solidFill>
                            <a:srgbClr val="4B4B4B"/>
                          </a:solidFill>
                          <a:latin typeface="Arial"/>
                        </a:rPr>
                        <a:t>Reference chip, status pill, tag</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609596">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Facts</a:t>
                      </a:r>
                    </a:p>
                  </a:txBody>
                  <a:tcPr marL="54864" marR="54864" marT="27432" marB="27432">
                    <a:solidFill>
                      <a:srgbClr val="E5F5FF"/>
                    </a:solidFill>
                  </a:tcPr>
                </a:tc>
                <a:tc>
                  <a:txBody>
                    <a:bodyPr/>
                    <a:lstStyle/>
                    <a:p>
                      <a:r>
                        <a:rPr sz="850" b="0">
                          <a:solidFill>
                            <a:srgbClr val="4B4B4B"/>
                          </a:solidFill>
                          <a:latin typeface="Arial"/>
                        </a:rPr>
                        <a:t>Reason / Escalated To / Outstanding / In Stage Since / Raised By</a:t>
                      </a:r>
                    </a:p>
                  </a:txBody>
                  <a:tcPr marL="54864" marR="54864" marT="27432" marB="27432">
                    <a:solidFill>
                      <a:srgbClr val="E5F5FF"/>
                    </a:solidFill>
                  </a:tcPr>
                </a:tc>
                <a:tc>
                  <a:txBody>
                    <a:bodyPr/>
                    <a:lstStyle/>
                    <a:p>
                      <a:r>
                        <a:rPr sz="850" b="0">
                          <a:solidFill>
                            <a:srgbClr val="4B4B4B"/>
                          </a:solidFill>
                          <a:latin typeface="Arial"/>
                        </a:rPr>
                        <a:t>Display</a:t>
                      </a:r>
                    </a:p>
                  </a:txBody>
                  <a:tcPr marL="54864" marR="54864" marT="27432" marB="27432">
                    <a:solidFill>
                      <a:srgbClr val="E5F5FF"/>
                    </a:solidFill>
                  </a:tcPr>
                </a:tc>
                <a:tc>
                  <a:txBody>
                    <a:bodyPr/>
                    <a:lstStyle/>
                    <a:p>
                      <a:r>
                        <a:rPr sz="850" b="0">
                          <a:solidFill>
                            <a:srgbClr val="4B4B4B"/>
                          </a:solidFill>
                          <a:latin typeface="Arial"/>
                        </a:rPr>
                        <a:t>Label of the reason; level or user's name; amount with the currency; time with the SLA in hours; the rule or the user's name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609596">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Workflow</a:t>
                      </a:r>
                    </a:p>
                  </a:txBody>
                  <a:tcPr marL="54864" marR="54864" marT="27432" marB="27432">
                    <a:solidFill>
                      <a:srgbClr val="FFFFFF"/>
                    </a:solidFill>
                  </a:tcPr>
                </a:tc>
                <a:tc>
                  <a:txBody>
                    <a:bodyPr/>
                    <a:lstStyle/>
                    <a:p>
                      <a:r>
                        <a:rPr sz="850" b="0">
                          <a:solidFill>
                            <a:srgbClr val="4B4B4B"/>
                          </a:solidFill>
                          <a:latin typeface="Arial"/>
                        </a:rPr>
                        <a:t>Escalation workflow header</a:t>
                      </a:r>
                    </a:p>
                  </a:txBody>
                  <a:tcPr marL="54864" marR="54864" marT="27432" marB="27432">
                    <a:solidFill>
                      <a:srgbClr val="FFFFFF"/>
                    </a:solidFill>
                  </a:tcPr>
                </a:tc>
                <a:tc>
                  <a:txBody>
                    <a:bodyPr/>
                    <a:lstStyle/>
                    <a:p>
                      <a:r>
                        <a:rPr sz="850" b="0">
                          <a:solidFill>
                            <a:srgbClr val="4B4B4B"/>
                          </a:solidFill>
                          <a:latin typeface="Arial"/>
                        </a:rPr>
                        <a:t>Stepper</a:t>
                      </a:r>
                    </a:p>
                  </a:txBody>
                  <a:tcPr marL="54864" marR="54864" marT="27432" marB="27432">
                    <a:solidFill>
                      <a:srgbClr val="FFFFFF"/>
                    </a:solidFill>
                  </a:tcPr>
                </a:tc>
                <a:tc>
                  <a:txBody>
                    <a:bodyPr/>
                    <a:lstStyle/>
                    <a:p>
                      <a:r>
                        <a:rPr sz="850" b="0">
                          <a:solidFill>
                            <a:srgbClr val="4B4B4B"/>
                          </a:solidFill>
                          <a:latin typeface="Arial"/>
                        </a:rPr>
                        <a:t>Raised, With the team lead, With the unit / section head, In action, Returned to the handler, Resolved with the history table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Escalated Invoices</a:t>
                      </a:r>
                    </a:p>
                  </a:txBody>
                  <a:tcPr marL="54864" marR="54864" marT="27432" marB="27432">
                    <a:solidFill>
                      <a:srgbClr val="E5F5FF"/>
                    </a:solidFill>
                  </a:tcPr>
                </a:tc>
                <a:tc>
                  <a:txBody>
                    <a:bodyPr/>
                    <a:lstStyle/>
                    <a:p>
                      <a:r>
                        <a:rPr sz="850" b="0">
                          <a:solidFill>
                            <a:srgbClr val="4B4B4B"/>
                          </a:solidFill>
                          <a:latin typeface="Arial"/>
                        </a:rPr>
                        <a:t>Invoice No. / Policy No. / Days Since Booking / Outstanding When Escalated</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Action dialog</a:t>
                      </a:r>
                    </a:p>
                  </a:txBody>
                  <a:tcPr marL="54864" marR="54864" marT="27432" marB="27432">
                    <a:solidFill>
                      <a:srgbClr val="FFFFFF"/>
                    </a:solidFill>
                  </a:tcPr>
                </a:tc>
                <a:tc>
                  <a:txBody>
                    <a:bodyPr/>
                    <a:lstStyle/>
                    <a:p>
                      <a:r>
                        <a:rPr sz="850" b="0">
                          <a:solidFill>
                            <a:srgbClr val="4B4B4B"/>
                          </a:solidFill>
                          <a:latin typeface="Arial"/>
                        </a:rPr>
                        <a:t>Reason / Comment</a:t>
                      </a:r>
                    </a:p>
                  </a:txBody>
                  <a:tcPr marL="54864" marR="54864" marT="27432" marB="27432">
                    <a:solidFill>
                      <a:srgbClr val="FFFFFF"/>
                    </a:solidFill>
                  </a:tcPr>
                </a:tc>
                <a:tc>
                  <a:txBody>
                    <a:bodyPr/>
                    <a:lstStyle/>
                    <a:p>
                      <a:r>
                        <a:rPr sz="850" b="0">
                          <a:solidFill>
                            <a:srgbClr val="4B4B4B"/>
                          </a:solidFill>
                          <a:latin typeface="Arial"/>
                        </a:rPr>
                        <a:t>Drop-down, text area</a:t>
                      </a:r>
                    </a:p>
                  </a:txBody>
                  <a:tcPr marL="54864" marR="54864" marT="27432" marB="27432">
                    <a:solidFill>
                      <a:srgbClr val="FFFFFF"/>
                    </a:solidFill>
                  </a:tcPr>
                </a:tc>
                <a:tc>
                  <a:txBody>
                    <a:bodyPr/>
                    <a:lstStyle/>
                    <a:p>
                      <a:r>
                        <a:rPr sz="850" b="0">
                          <a:solidFill>
                            <a:srgbClr val="4B4B4B"/>
                          </a:solidFill>
                          <a:latin typeface="Arial"/>
                        </a:rPr>
                        <a:t>Escalation reason list or return reason list</a:t>
                      </a:r>
                    </a:p>
                  </a:txBody>
                  <a:tcPr marL="54864" marR="54864" marT="27432" marB="27432">
                    <a:solidFill>
                      <a:srgbClr val="FFFFFF"/>
                    </a:solidFill>
                  </a:tcPr>
                </a:tc>
                <a:tc>
                  <a:txBody>
                    <a:bodyPr/>
                    <a:lstStyle/>
                    <a:p>
                      <a:r>
                        <a:rPr sz="850" b="0">
                          <a:solidFill>
                            <a:srgbClr val="4B4B4B"/>
                          </a:solidFill>
                          <a:latin typeface="Arial"/>
                        </a:rPr>
                        <a:t>Y / 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Resolve Escalation dialog</a:t>
                      </a:r>
                    </a:p>
                  </a:txBody>
                  <a:tcPr marL="54864" marR="54864" marT="27432" marB="27432">
                    <a:solidFill>
                      <a:srgbClr val="E5F5FF"/>
                    </a:solidFill>
                  </a:tcPr>
                </a:tc>
                <a:tc>
                  <a:txBody>
                    <a:bodyPr/>
                    <a:lstStyle/>
                    <a:p>
                      <a:r>
                        <a:rPr sz="850" b="0">
                          <a:solidFill>
                            <a:srgbClr val="4B4B4B"/>
                          </a:solidFill>
                          <a:latin typeface="Arial"/>
                        </a:rPr>
                        <a:t>Resolution</a:t>
                      </a:r>
                    </a:p>
                  </a:txBody>
                  <a:tcPr marL="54864" marR="54864" marT="27432" marB="27432">
                    <a:solidFill>
                      <a:srgbClr val="E5F5FF"/>
                    </a:solidFill>
                  </a:tcPr>
                </a:tc>
                <a:tc>
                  <a:txBody>
                    <a:bodyPr/>
                    <a:lstStyle/>
                    <a:p>
                      <a:r>
                        <a:rPr sz="850" b="0">
                          <a:solidFill>
                            <a:srgbClr val="4B4B4B"/>
                          </a:solidFill>
                          <a:latin typeface="Arial"/>
                        </a:rPr>
                        <a:t>Text area</a:t>
                      </a:r>
                    </a:p>
                  </a:txBody>
                  <a:tcPr marL="54864" marR="54864" marT="27432" marB="27432">
                    <a:solidFill>
                      <a:srgbClr val="E5F5FF"/>
                    </a:solidFill>
                  </a:tcPr>
                </a:tc>
                <a:tc>
                  <a:txBody>
                    <a:bodyPr/>
                    <a:lstStyle/>
                    <a:p>
                      <a:r>
                        <a:rPr sz="850" b="0">
                          <a:solidFill>
                            <a:srgbClr val="4B4B4B"/>
                          </a:solidFill>
                          <a:latin typeface="Arial"/>
                        </a:rPr>
                        <a:t>Up to 1,000 characters</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Not blank</a:t>
                      </a:r>
                    </a:p>
                  </a:txBody>
                  <a:tcPr marL="54864" marR="54864" marT="27432" marB="27432">
                    <a:solidFill>
                      <a:srgbClr val="E5F5FF"/>
                    </a:solidFill>
                  </a:tcPr>
                </a:tc>
                <a:tc>
                  <a:txBody>
                    <a:bodyPr/>
                    <a:lstStyle/>
                    <a:p>
                      <a:r>
                        <a:rPr sz="850" b="0">
                          <a:solidFill>
                            <a:srgbClr val="4B4B4B"/>
                          </a:solidFill>
                          <a:latin typeface="Arial"/>
                        </a:rPr>
                        <a:t>Describe how the escalation was resolved</a:t>
                      </a:r>
                    </a:p>
                  </a:txBody>
                  <a:tcPr marL="54864" marR="54864" marT="27432" marB="27432">
                    <a:solidFill>
                      <a:srgbClr val="E5F5FF"/>
                    </a:solidFill>
                  </a:tcPr>
                </a:tc>
              </a:tr>
            </a:tbl>
          </a:graphicData>
        </a:graphic>
      </p:graphicFrame>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SCR-CL-12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245</a:t>
            </a:r>
          </a:p>
        </p:txBody>
      </p:sp>
      <p:graphicFrame>
        <p:nvGraphicFramePr>
          <p:cNvPr id="9" name="Table 8"/>
          <p:cNvGraphicFramePr>
            <a:graphicFrameLocks noGrp="1"/>
          </p:cNvGraphicFramePr>
          <p:nvPr/>
        </p:nvGraphicFramePr>
        <p:xfrm>
          <a:off x="548640" y="1325880"/>
          <a:ext cx="11094412" cy="1973569"/>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Acknowledge</a:t>
                      </a:r>
                    </a:p>
                  </a:txBody>
                  <a:tcPr marL="54864" marR="54864" marT="27432" marB="27432">
                    <a:solidFill>
                      <a:srgbClr val="FFFFFF"/>
                    </a:solidFill>
                  </a:tcPr>
                </a:tc>
                <a:tc>
                  <a:txBody>
                    <a:bodyPr/>
                    <a:lstStyle/>
                    <a:p>
                      <a:r>
                        <a:rPr sz="850" b="0">
                          <a:solidFill>
                            <a:srgbClr val="4B4B4B"/>
                          </a:solidFill>
                          <a:latin typeface="Arial"/>
                        </a:rPr>
                        <a:t>Team leads and heads (escalation permission)</a:t>
                      </a:r>
                    </a:p>
                  </a:txBody>
                  <a:tcPr marL="54864" marR="54864" marT="27432" marB="27432">
                    <a:solidFill>
                      <a:srgbClr val="FFFFFF"/>
                    </a:solidFill>
                  </a:tcPr>
                </a:tc>
                <a:tc>
                  <a:txBody>
                    <a:bodyPr/>
                    <a:lstStyle/>
                    <a:p>
                      <a:r>
                        <a:rPr sz="850" b="0">
                          <a:solidFill>
                            <a:srgbClr val="4B4B4B"/>
                          </a:solidFill>
                          <a:latin typeface="Arial"/>
                        </a:rPr>
                        <a:t>With Team Lead or With Unit / Section Head</a:t>
                      </a:r>
                    </a:p>
                  </a:txBody>
                  <a:tcPr marL="54864" marR="54864" marT="27432" marB="27432">
                    <a:solidFill>
                      <a:srgbClr val="FFFFFF"/>
                    </a:solidFill>
                  </a:tcPr>
                </a:tc>
                <a:tc>
                  <a:txBody>
                    <a:bodyPr/>
                    <a:lstStyle/>
                    <a:p>
                      <a:r>
                        <a:rPr sz="850" b="0">
                          <a:solidFill>
                            <a:srgbClr val="4B4B4B"/>
                          </a:solidFill>
                          <a:latin typeface="Arial"/>
                        </a:rPr>
                        <a:t>Takes the escalation into action</a:t>
                      </a:r>
                    </a:p>
                  </a:txBody>
                  <a:tcPr marL="54864" marR="54864" marT="27432" marB="27432">
                    <a:solidFill>
                      <a:srgbClr val="FFFFFF"/>
                    </a:solidFill>
                  </a:tcPr>
                </a:tc>
                <a:tc>
                  <a:txBody>
                    <a:bodyPr/>
                    <a:lstStyle/>
                    <a:p>
                      <a:r>
                        <a:rPr sz="850" b="0">
                          <a:solidFill>
                            <a:srgbClr val="4B4B4B"/>
                          </a:solidFill>
                          <a:latin typeface="Arial"/>
                        </a:rPr>
                        <a:t>In action</a:t>
                      </a:r>
                    </a:p>
                  </a:txBody>
                  <a:tcPr marL="54864" marR="54864" marT="27432" marB="27432">
                    <a:solidFill>
                      <a:srgbClr val="FFFFFF"/>
                    </a:solidFill>
                  </a:tcPr>
                </a:tc>
                <a:tc>
                  <a:txBody>
                    <a:bodyPr/>
                    <a:lstStyle/>
                    <a:p>
                      <a:r>
                        <a:rPr sz="850" b="0">
                          <a:solidFill>
                            <a:srgbClr val="4B4B4B"/>
                          </a:solidFill>
                          <a:latin typeface="Arial"/>
                        </a:rPr>
                        <a:t>Workflow notice (NT-01)</a:t>
                      </a:r>
                    </a:p>
                  </a:txBody>
                  <a:tcPr marL="54864" marR="54864" marT="27432" marB="27432">
                    <a:solidFill>
                      <a:srgbClr val="FFFFFF"/>
                    </a:solidFill>
                  </a:tcPr>
                </a:tc>
              </a:tr>
              <a:tr h="350518">
                <a:tc>
                  <a:txBody>
                    <a:bodyPr/>
                    <a:lstStyle/>
                    <a:p>
                      <a:r>
                        <a:rPr sz="850" b="0">
                          <a:solidFill>
                            <a:srgbClr val="4B4B4B"/>
                          </a:solidFill>
                          <a:latin typeface="Arial"/>
                        </a:rPr>
                        <a:t>Escalate to the unit / section head</a:t>
                      </a:r>
                    </a:p>
                  </a:txBody>
                  <a:tcPr marL="54864" marR="54864" marT="27432" marB="27432">
                    <a:solidFill>
                      <a:srgbClr val="E5F5FF"/>
                    </a:solidFill>
                  </a:tcPr>
                </a:tc>
                <a:tc>
                  <a:txBody>
                    <a:bodyPr/>
                    <a:lstStyle/>
                    <a:p>
                      <a:r>
                        <a:rPr sz="850" b="0">
                          <a:solidFill>
                            <a:srgbClr val="4B4B4B"/>
                          </a:solidFill>
                          <a:latin typeface="Arial"/>
                        </a:rPr>
                        <a:t>Team leads and heads (escalation permission)</a:t>
                      </a:r>
                    </a:p>
                  </a:txBody>
                  <a:tcPr marL="54864" marR="54864" marT="27432" marB="27432">
                    <a:solidFill>
                      <a:srgbClr val="E5F5FF"/>
                    </a:solidFill>
                  </a:tcPr>
                </a:tc>
                <a:tc>
                  <a:txBody>
                    <a:bodyPr/>
                    <a:lstStyle/>
                    <a:p>
                      <a:r>
                        <a:rPr sz="850" b="0">
                          <a:solidFill>
                            <a:srgbClr val="4B4B4B"/>
                          </a:solidFill>
                          <a:latin typeface="Arial"/>
                        </a:rPr>
                        <a:t>With Team Lead or In Action</a:t>
                      </a:r>
                    </a:p>
                  </a:txBody>
                  <a:tcPr marL="54864" marR="54864" marT="27432" marB="27432">
                    <a:solidFill>
                      <a:srgbClr val="E5F5FF"/>
                    </a:solidFill>
                  </a:tcPr>
                </a:tc>
                <a:tc>
                  <a:txBody>
                    <a:bodyPr/>
                    <a:lstStyle/>
                    <a:p>
                      <a:r>
                        <a:rPr sz="850" b="0">
                          <a:solidFill>
                            <a:srgbClr val="4B4B4B"/>
                          </a:solidFill>
                          <a:latin typeface="Arial"/>
                        </a:rPr>
                        <a:t>Asks for the reason and moves it to the unit / section head</a:t>
                      </a:r>
                    </a:p>
                  </a:txBody>
                  <a:tcPr marL="54864" marR="54864" marT="27432" marB="27432">
                    <a:solidFill>
                      <a:srgbClr val="E5F5FF"/>
                    </a:solidFill>
                  </a:tcPr>
                </a:tc>
                <a:tc>
                  <a:txBody>
                    <a:bodyPr/>
                    <a:lstStyle/>
                    <a:p>
                      <a:r>
                        <a:rPr sz="850" b="0">
                          <a:solidFill>
                            <a:srgbClr val="4B4B4B"/>
                          </a:solidFill>
                          <a:latin typeface="Arial"/>
                        </a:rPr>
                        <a:t>With the unit / section head</a:t>
                      </a:r>
                    </a:p>
                  </a:txBody>
                  <a:tcPr marL="54864" marR="54864" marT="27432" marB="27432">
                    <a:solidFill>
                      <a:srgbClr val="E5F5FF"/>
                    </a:solidFill>
                  </a:tcPr>
                </a:tc>
                <a:tc>
                  <a:txBody>
                    <a:bodyPr/>
                    <a:lstStyle/>
                    <a:p>
                      <a:r>
                        <a:rPr sz="850" b="0">
                          <a:solidFill>
                            <a:srgbClr val="4B4B4B"/>
                          </a:solidFill>
                          <a:latin typeface="Arial"/>
                        </a:rPr>
                        <a:t>Workflow notice (NT-01)</a:t>
                      </a:r>
                    </a:p>
                  </a:txBody>
                  <a:tcPr marL="54864" marR="54864" marT="27432" marB="27432">
                    <a:solidFill>
                      <a:srgbClr val="E5F5FF"/>
                    </a:solidFill>
                  </a:tcPr>
                </a:tc>
              </a:tr>
              <a:tr h="350518">
                <a:tc>
                  <a:txBody>
                    <a:bodyPr/>
                    <a:lstStyle/>
                    <a:p>
                      <a:r>
                        <a:rPr sz="850" b="0">
                          <a:solidFill>
                            <a:srgbClr val="4B4B4B"/>
                          </a:solidFill>
                          <a:latin typeface="Arial"/>
                        </a:rPr>
                        <a:t>Return to the handler</a:t>
                      </a:r>
                    </a:p>
                  </a:txBody>
                  <a:tcPr marL="54864" marR="54864" marT="27432" marB="27432">
                    <a:solidFill>
                      <a:srgbClr val="FFFFFF"/>
                    </a:solidFill>
                  </a:tcPr>
                </a:tc>
                <a:tc>
                  <a:txBody>
                    <a:bodyPr/>
                    <a:lstStyle/>
                    <a:p>
                      <a:r>
                        <a:rPr sz="850" b="0">
                          <a:solidFill>
                            <a:srgbClr val="4B4B4B"/>
                          </a:solidFill>
                          <a:latin typeface="Arial"/>
                        </a:rPr>
                        <a:t>Team leads and heads (escalation permission)</a:t>
                      </a:r>
                    </a:p>
                  </a:txBody>
                  <a:tcPr marL="54864" marR="54864" marT="27432" marB="27432">
                    <a:solidFill>
                      <a:srgbClr val="FFFFFF"/>
                    </a:solidFill>
                  </a:tcPr>
                </a:tc>
                <a:tc>
                  <a:txBody>
                    <a:bodyPr/>
                    <a:lstStyle/>
                    <a:p>
                      <a:r>
                        <a:rPr sz="850" b="0">
                          <a:solidFill>
                            <a:srgbClr val="4B4B4B"/>
                          </a:solidFill>
                          <a:latin typeface="Arial"/>
                        </a:rPr>
                        <a:t>With Team Lead or With Unit / Section Head</a:t>
                      </a:r>
                    </a:p>
                  </a:txBody>
                  <a:tcPr marL="54864" marR="54864" marT="27432" marB="27432">
                    <a:solidFill>
                      <a:srgbClr val="FFFFFF"/>
                    </a:solidFill>
                  </a:tcPr>
                </a:tc>
                <a:tc>
                  <a:txBody>
                    <a:bodyPr/>
                    <a:lstStyle/>
                    <a:p>
                      <a:r>
                        <a:rPr sz="850" b="0">
                          <a:solidFill>
                            <a:srgbClr val="4B4B4B"/>
                          </a:solidFill>
                          <a:latin typeface="Arial"/>
                        </a:rPr>
                        <a:t>Asks for the reason and the instruction and returns it to the handler</a:t>
                      </a:r>
                    </a:p>
                  </a:txBody>
                  <a:tcPr marL="54864" marR="54864" marT="27432" marB="27432">
                    <a:solidFill>
                      <a:srgbClr val="FFFFFF"/>
                    </a:solidFill>
                  </a:tcPr>
                </a:tc>
                <a:tc>
                  <a:txBody>
                    <a:bodyPr/>
                    <a:lstStyle/>
                    <a:p>
                      <a:r>
                        <a:rPr sz="850" b="0">
                          <a:solidFill>
                            <a:srgbClr val="4B4B4B"/>
                          </a:solidFill>
                          <a:latin typeface="Arial"/>
                        </a:rPr>
                        <a:t>Returned to the handler</a:t>
                      </a:r>
                    </a:p>
                  </a:txBody>
                  <a:tcPr marL="54864" marR="54864" marT="27432" marB="27432">
                    <a:solidFill>
                      <a:srgbClr val="FFFFFF"/>
                    </a:solidFill>
                  </a:tcPr>
                </a:tc>
                <a:tc>
                  <a:txBody>
                    <a:bodyPr/>
                    <a:lstStyle/>
                    <a:p>
                      <a:r>
                        <a:rPr sz="850" b="0">
                          <a:solidFill>
                            <a:srgbClr val="4B4B4B"/>
                          </a:solidFill>
                          <a:latin typeface="Arial"/>
                        </a:rPr>
                        <a:t>Workflow notice (NT-01)</a:t>
                      </a:r>
                    </a:p>
                  </a:txBody>
                  <a:tcPr marL="54864" marR="54864" marT="27432" marB="27432">
                    <a:solidFill>
                      <a:srgbClr val="FFFFFF"/>
                    </a:solidFill>
                  </a:tcPr>
                </a:tc>
              </a:tr>
              <a:tr h="350518">
                <a:tc>
                  <a:txBody>
                    <a:bodyPr/>
                    <a:lstStyle/>
                    <a:p>
                      <a:r>
                        <a:rPr sz="850" b="0">
                          <a:solidFill>
                            <a:srgbClr val="4B4B4B"/>
                          </a:solidFill>
                          <a:latin typeface="Arial"/>
                        </a:rPr>
                        <a:t>Resubmit to the team lead</a:t>
                      </a:r>
                    </a:p>
                  </a:txBody>
                  <a:tcPr marL="54864" marR="54864" marT="27432" marB="27432">
                    <a:solidFill>
                      <a:srgbClr val="E5F5FF"/>
                    </a:solidFill>
                  </a:tcPr>
                </a:tc>
                <a:tc>
                  <a:txBody>
                    <a:bodyPr/>
                    <a:lstStyle/>
                    <a:p>
                      <a:r>
                        <a:rPr sz="850" b="0">
                          <a:solidFill>
                            <a:srgbClr val="4B4B4B"/>
                          </a:solidFill>
                          <a:latin typeface="Arial"/>
                        </a:rPr>
                        <a:t>The handler (work or escalate permission)</a:t>
                      </a:r>
                    </a:p>
                  </a:txBody>
                  <a:tcPr marL="54864" marR="54864" marT="27432" marB="27432">
                    <a:solidFill>
                      <a:srgbClr val="E5F5FF"/>
                    </a:solidFill>
                  </a:tcPr>
                </a:tc>
                <a:tc>
                  <a:txBody>
                    <a:bodyPr/>
                    <a:lstStyle/>
                    <a:p>
                      <a:r>
                        <a:rPr sz="850" b="0">
                          <a:solidFill>
                            <a:srgbClr val="4B4B4B"/>
                          </a:solidFill>
                          <a:latin typeface="Arial"/>
                        </a:rPr>
                        <a:t>Returned</a:t>
                      </a:r>
                    </a:p>
                  </a:txBody>
                  <a:tcPr marL="54864" marR="54864" marT="27432" marB="27432">
                    <a:solidFill>
                      <a:srgbClr val="E5F5FF"/>
                    </a:solidFill>
                  </a:tcPr>
                </a:tc>
                <a:tc>
                  <a:txBody>
                    <a:bodyPr/>
                    <a:lstStyle/>
                    <a:p>
                      <a:r>
                        <a:rPr sz="850" b="0">
                          <a:solidFill>
                            <a:srgbClr val="4B4B4B"/>
                          </a:solidFill>
                          <a:latin typeface="Arial"/>
                        </a:rPr>
                        <a:t>Sends it back to the team lead once the instruction is done</a:t>
                      </a:r>
                    </a:p>
                  </a:txBody>
                  <a:tcPr marL="54864" marR="54864" marT="27432" marB="27432">
                    <a:solidFill>
                      <a:srgbClr val="E5F5FF"/>
                    </a:solidFill>
                  </a:tcPr>
                </a:tc>
                <a:tc>
                  <a:txBody>
                    <a:bodyPr/>
                    <a:lstStyle/>
                    <a:p>
                      <a:r>
                        <a:rPr sz="850" b="0">
                          <a:solidFill>
                            <a:srgbClr val="4B4B4B"/>
                          </a:solidFill>
                          <a:latin typeface="Arial"/>
                        </a:rPr>
                        <a:t>With the team lead</a:t>
                      </a:r>
                    </a:p>
                  </a:txBody>
                  <a:tcPr marL="54864" marR="54864" marT="27432" marB="27432">
                    <a:solidFill>
                      <a:srgbClr val="E5F5FF"/>
                    </a:solidFill>
                  </a:tcPr>
                </a:tc>
                <a:tc>
                  <a:txBody>
                    <a:bodyPr/>
                    <a:lstStyle/>
                    <a:p>
                      <a:r>
                        <a:rPr sz="850" b="0">
                          <a:solidFill>
                            <a:srgbClr val="4B4B4B"/>
                          </a:solidFill>
                          <a:latin typeface="Arial"/>
                        </a:rPr>
                        <a:t>Workflow notice (NT-01)</a:t>
                      </a:r>
                    </a:p>
                  </a:txBody>
                  <a:tcPr marL="54864" marR="54864" marT="27432" marB="27432">
                    <a:solidFill>
                      <a:srgbClr val="E5F5FF"/>
                    </a:solidFill>
                  </a:tcPr>
                </a:tc>
              </a:tr>
              <a:tr h="350518">
                <a:tc>
                  <a:txBody>
                    <a:bodyPr/>
                    <a:lstStyle/>
                    <a:p>
                      <a:r>
                        <a:rPr sz="850" b="0">
                          <a:solidFill>
                            <a:srgbClr val="4B4B4B"/>
                          </a:solidFill>
                          <a:latin typeface="Arial"/>
                        </a:rPr>
                        <a:t>Resolve</a:t>
                      </a:r>
                    </a:p>
                  </a:txBody>
                  <a:tcPr marL="54864" marR="54864" marT="27432" marB="27432">
                    <a:solidFill>
                      <a:srgbClr val="FFFFFF"/>
                    </a:solidFill>
                  </a:tcPr>
                </a:tc>
                <a:tc>
                  <a:txBody>
                    <a:bodyPr/>
                    <a:lstStyle/>
                    <a:p>
                      <a:r>
                        <a:rPr sz="850" b="0">
                          <a:solidFill>
                            <a:srgbClr val="4B4B4B"/>
                          </a:solidFill>
                          <a:latin typeface="Arial"/>
                        </a:rPr>
                        <a:t>Team leads and heads (escalation permission)</a:t>
                      </a:r>
                    </a:p>
                  </a:txBody>
                  <a:tcPr marL="54864" marR="54864" marT="27432" marB="27432">
                    <a:solidFill>
                      <a:srgbClr val="FFFFFF"/>
                    </a:solidFill>
                  </a:tcPr>
                </a:tc>
                <a:tc>
                  <a:txBody>
                    <a:bodyPr/>
                    <a:lstStyle/>
                    <a:p>
                      <a:r>
                        <a:rPr sz="850" b="0">
                          <a:solidFill>
                            <a:srgbClr val="4B4B4B"/>
                          </a:solidFill>
                          <a:latin typeface="Arial"/>
                        </a:rPr>
                        <a:t>In Action</a:t>
                      </a:r>
                    </a:p>
                  </a:txBody>
                  <a:tcPr marL="54864" marR="54864" marT="27432" marB="27432">
                    <a:solidFill>
                      <a:srgbClr val="FFFFFF"/>
                    </a:solidFill>
                  </a:tcPr>
                </a:tc>
                <a:tc>
                  <a:txBody>
                    <a:bodyPr/>
                    <a:lstStyle/>
                    <a:p>
                      <a:r>
                        <a:rPr sz="850" b="0">
                          <a:solidFill>
                            <a:srgbClr val="4B4B4B"/>
                          </a:solidFill>
                          <a:latin typeface="Arial"/>
                        </a:rPr>
                        <a:t>Asks for the resolution and closes it</a:t>
                      </a:r>
                    </a:p>
                  </a:txBody>
                  <a:tcPr marL="54864" marR="54864" marT="27432" marB="27432">
                    <a:solidFill>
                      <a:srgbClr val="FFFFFF"/>
                    </a:solidFill>
                  </a:tcPr>
                </a:tc>
                <a:tc>
                  <a:txBody>
                    <a:bodyPr/>
                    <a:lstStyle/>
                    <a:p>
                      <a:r>
                        <a:rPr sz="850" b="0">
                          <a:solidFill>
                            <a:srgbClr val="4B4B4B"/>
                          </a:solidFill>
                          <a:latin typeface="Arial"/>
                        </a:rPr>
                        <a:t>Resolved</a:t>
                      </a:r>
                    </a:p>
                  </a:txBody>
                  <a:tcPr marL="54864" marR="54864" marT="27432" marB="27432">
                    <a:solidFill>
                      <a:srgbClr val="FFFFFF"/>
                    </a:solidFill>
                  </a:tcPr>
                </a:tc>
                <a:tc>
                  <a:txBody>
                    <a:bodyPr/>
                    <a:lstStyle/>
                    <a:p>
                      <a:r>
                        <a:rPr sz="850" b="0">
                          <a:solidFill>
                            <a:srgbClr val="4B4B4B"/>
                          </a:solidFill>
                          <a:latin typeface="Arial"/>
                        </a:rPr>
                        <a:t>Workflow notice (NT-01)</a:t>
                      </a:r>
                    </a:p>
                  </a:txBody>
                  <a:tcPr marL="54864" marR="54864" marT="27432" marB="27432">
                    <a:solidFill>
                      <a:srgbClr val="FFFFFF"/>
                    </a:solidFill>
                  </a:tcPr>
                </a:tc>
              </a:tr>
            </a:tbl>
          </a:graphicData>
        </a:graphic>
      </p:graphicFrame>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SCR-CL-12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246</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An escalation whose invoices are collected is closed automatically (FR-CL-053).</a:t>
                      </a:r>
                    </a:p>
                  </a:txBody>
                  <a:tcPr marL="54864" marR="54864" marT="27432" marB="27432">
                    <a:solidFill>
                      <a:srgbClr val="FFFFFF"/>
                    </a:solidFill>
                  </a:tcPr>
                </a:tc>
              </a:tr>
              <a:tr h="243840">
                <a:tc>
                  <a:txBody>
                    <a:bodyPr/>
                    <a:lstStyle/>
                    <a:p>
                      <a:r>
                        <a:rPr sz="1000" b="0">
                          <a:solidFill>
                            <a:srgbClr val="4B4B4B"/>
                          </a:solidFill>
                          <a:latin typeface="Arial"/>
                        </a:rPr>
                        <a:t>Acting on an escalation needs the escalation permission; the target and the account officers are notified (FR-CL-053).</a:t>
                      </a:r>
                    </a:p>
                  </a:txBody>
                  <a:tcPr marL="54864" marR="54864" marT="27432" marB="27432">
                    <a:solidFill>
                      <a:srgbClr val="E5F5FF"/>
                    </a:solidFill>
                  </a:tcPr>
                </a:tc>
              </a:tr>
            </a:tbl>
          </a:graphicData>
        </a:graphic>
      </p:graphicFrame>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SCR-CL-12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247</a:t>
            </a:r>
          </a:p>
        </p:txBody>
      </p:sp>
      <p:graphicFrame>
        <p:nvGraphicFramePr>
          <p:cNvPr id="9" name="Table 8"/>
          <p:cNvGraphicFramePr>
            <a:graphicFrameLocks noGrp="1"/>
          </p:cNvGraphicFramePr>
          <p:nvPr/>
        </p:nvGraphicFramePr>
        <p:xfrm>
          <a:off x="548640" y="1325880"/>
          <a:ext cx="11094413" cy="68580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WT-B step 3</a:t>
                      </a:r>
                    </a:p>
                  </a:txBody>
                  <a:tcPr marL="54864" marR="54864" marT="27432" marB="27432">
                    <a:solidFill>
                      <a:srgbClr val="FFFFFF"/>
                    </a:solidFill>
                  </a:tcPr>
                </a:tc>
                <a:tc>
                  <a:txBody>
                    <a:bodyPr/>
                    <a:lstStyle/>
                    <a:p>
                      <a:r>
                        <a:rPr sz="900" b="0">
                          <a:solidFill>
                            <a:srgbClr val="4B4B4B"/>
                          </a:solidFill>
                          <a:latin typeface="Arial"/>
                        </a:rPr>
                        <a:t>Opens the escalation from With Team Lead and clicks Acknowledge</a:t>
                      </a:r>
                    </a:p>
                  </a:txBody>
                  <a:tcPr marL="54864" marR="54864" marT="27432" marB="27432">
                    <a:solidFill>
                      <a:srgbClr val="FFFFFF"/>
                    </a:solidFill>
                  </a:tcPr>
                </a:tc>
                <a:tc>
                  <a:txBody>
                    <a:bodyPr/>
                    <a:lstStyle/>
                    <a:p>
                      <a:r>
                        <a:rPr sz="900" b="0">
                          <a:solidFill>
                            <a:srgbClr val="4B4B4B"/>
                          </a:solidFill>
                          <a:latin typeface="Arial"/>
                        </a:rPr>
                        <a:t>SCR-CL-12_wt-b-step-03.png</a:t>
                      </a:r>
                    </a:p>
                  </a:txBody>
                  <a:tcPr marL="54864" marR="54864" marT="27432" marB="27432">
                    <a:solidFill>
                      <a:srgbClr val="FFFFFF"/>
                    </a:solidFill>
                  </a:tcPr>
                </a:tc>
              </a:tr>
              <a:tr h="228600">
                <a:tc>
                  <a:txBody>
                    <a:bodyPr/>
                    <a:lstStyle/>
                    <a:p>
                      <a:r>
                        <a:rPr sz="900" b="0">
                          <a:solidFill>
                            <a:srgbClr val="4B4B4B"/>
                          </a:solidFill>
                          <a:latin typeface="Arial"/>
                        </a:rPr>
                        <a:t>Success message</a:t>
                      </a:r>
                    </a:p>
                  </a:txBody>
                  <a:tcPr marL="54864" marR="54864" marT="27432" marB="27432">
                    <a:solidFill>
                      <a:srgbClr val="E5F5FF"/>
                    </a:solidFill>
                  </a:tcPr>
                </a:tc>
                <a:tc>
                  <a:txBody>
                    <a:bodyPr/>
                    <a:lstStyle/>
                    <a:p>
                      <a:r>
                        <a:rPr sz="900" b="0">
                          <a:solidFill>
                            <a:srgbClr val="4B4B4B"/>
                          </a:solidFill>
                          <a:latin typeface="Arial"/>
                        </a:rPr>
                        <a:t>WT-B step 4</a:t>
                      </a:r>
                    </a:p>
                  </a:txBody>
                  <a:tcPr marL="54864" marR="54864" marT="27432" marB="27432">
                    <a:solidFill>
                      <a:srgbClr val="E5F5FF"/>
                    </a:solidFill>
                  </a:tcPr>
                </a:tc>
                <a:tc>
                  <a:txBody>
                    <a:bodyPr/>
                    <a:lstStyle/>
                    <a:p>
                      <a:r>
                        <a:rPr sz="900" b="0">
                          <a:solidFill>
                            <a:srgbClr val="4B4B4B"/>
                          </a:solidFill>
                          <a:latin typeface="Arial"/>
                        </a:rPr>
                        <a:t>Clicks Resolve and gives the resolution</a:t>
                      </a:r>
                    </a:p>
                  </a:txBody>
                  <a:tcPr marL="54864" marR="54864" marT="27432" marB="27432">
                    <a:solidFill>
                      <a:srgbClr val="E5F5FF"/>
                    </a:solidFill>
                  </a:tcPr>
                </a:tc>
                <a:tc>
                  <a:txBody>
                    <a:bodyPr/>
                    <a:lstStyle/>
                    <a:p>
                      <a:r>
                        <a:rPr sz="900" b="0">
                          <a:solidFill>
                            <a:srgbClr val="4B4B4B"/>
                          </a:solidFill>
                          <a:latin typeface="Arial"/>
                        </a:rPr>
                        <a:t>SCR-CL-12_wt-b-step-04.png</a:t>
                      </a:r>
                    </a:p>
                  </a:txBody>
                  <a:tcPr marL="54864" marR="54864" marT="27432" marB="27432">
                    <a:solidFill>
                      <a:srgbClr val="E5F5FF"/>
                    </a:solidFill>
                  </a:tcPr>
                </a:tc>
              </a:tr>
            </a:tbl>
          </a:graphicData>
        </a:graphic>
      </p:graphicFrame>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SCR-CL-12 Escalation: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46.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Escalation with the team lead: workflow header, actions and the escalated invoices (part 1 of 3)</a:t>
            </a:r>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SCR-CL-12 Escalation: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47.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Escalation with the team lead: workflow header, actions and the escalated invoices (part 2 of 3)</a:t>
            </a: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SCR-CL-12 Escalation: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48.png"/>
          <p:cNvPicPr>
            <a:picLocks noChangeAspect="1"/>
          </p:cNvPicPr>
          <p:nvPr/>
        </p:nvPicPr>
        <p:blipFill>
          <a:blip r:embed="rId3"/>
          <a:stretch>
            <a:fillRect/>
          </a:stretch>
        </p:blipFill>
        <p:spPr>
          <a:xfrm>
            <a:off x="548640" y="1261872"/>
            <a:ext cx="11094415" cy="1721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Escalation with the team lead: workflow header, actions and the escalated invoices (part 3 of 3)</a:t>
            </a: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SCR-CL-12 Escalation: Confirmation with reason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251</a:t>
            </a:r>
          </a:p>
        </p:txBody>
      </p:sp>
      <p:sp>
        <p:nvSpPr>
          <p:cNvPr id="9" name="Rounded Rectangle 8"/>
          <p:cNvSpPr/>
          <p:nvPr/>
        </p:nvSpPr>
        <p:spPr>
          <a:xfrm>
            <a:off x="9192463" y="896112"/>
            <a:ext cx="2450592"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Confirmation with reason</a:t>
            </a:r>
          </a:p>
        </p:txBody>
      </p:sp>
      <p:pic>
        <p:nvPicPr>
          <p:cNvPr id="10" name="Picture 9" descr="scr-cl-12-02-resolve.png"/>
          <p:cNvPicPr>
            <a:picLocks noChangeAspect="1"/>
          </p:cNvPicPr>
          <p:nvPr/>
        </p:nvPicPr>
        <p:blipFill>
          <a:blip r:embed="rId3"/>
          <a:stretch>
            <a:fillRect/>
          </a:stretch>
        </p:blipFill>
        <p:spPr>
          <a:xfrm>
            <a:off x="548640" y="1261872"/>
            <a:ext cx="11094415" cy="370593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Resolve Escalation dialog with the resolution, after the escalation is acknowledged</a:t>
            </a:r>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SCR-CL-13 Escalation Rules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252</a:t>
            </a:r>
          </a:p>
        </p:txBody>
      </p:sp>
      <p:graphicFrame>
        <p:nvGraphicFramePr>
          <p:cNvPr id="9" name="Table 8"/>
          <p:cNvGraphicFramePr>
            <a:graphicFrameLocks noGrp="1"/>
          </p:cNvGraphicFramePr>
          <p:nvPr/>
        </p:nvGraphicFramePr>
        <p:xfrm>
          <a:off x="548640" y="1307592"/>
          <a:ext cx="6434760" cy="252222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Escalation</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What escalates an account automatically: the basis and threshold, the segment, the receiving level or user, the reason, the SLA in hours and the effective dates. Preview lists the accounts a rule escalates today. A new or changed rule applies once another user authorizes it.</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Team Lead, Collection Team Lead, Section Head (Corporate / Retail), Business Administrator, System Administrator</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Collections › Escalation Rules</a:t>
                      </a:r>
                    </a:p>
                    <a:p>
                      <a:r>
                        <a:rPr sz="950" b="0">
                          <a:solidFill>
                            <a:srgbClr val="4B4B4B"/>
                          </a:solidFill>
                          <a:latin typeface="Arial"/>
                        </a:rPr>
                        <a:t>Finance › Collections › Escalation Rules</a:t>
                      </a:r>
                    </a:p>
                    <a:p>
                      <a:r>
                        <a:rPr sz="950" b="0">
                          <a:solidFill>
                            <a:srgbClr val="4B4B4B"/>
                          </a:solidFill>
                          <a:latin typeface="Arial"/>
                        </a:rPr>
                        <a:t>My Approvals (a rule waiting for authorization)</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13.3.3</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FR-CL-050, FR-CL-051</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escalation rules agreed by the business apply every night.</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(4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SCR-CL-13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253</a:t>
            </a:r>
          </a:p>
        </p:txBody>
      </p:sp>
      <p:graphicFrame>
        <p:nvGraphicFramePr>
          <p:cNvPr id="9" name="Table 8"/>
          <p:cNvGraphicFramePr>
            <a:graphicFrameLocks noGrp="1"/>
          </p:cNvGraphicFramePr>
          <p:nvPr/>
        </p:nvGraphicFramePr>
        <p:xfrm>
          <a:off x="548640" y="1325880"/>
          <a:ext cx="11094411" cy="4152875"/>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Rule</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Code with the name under it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escalation rules</a:t>
                      </a:r>
                    </a:p>
                  </a:txBody>
                  <a:tcPr marL="54864" marR="54864" marT="27432" marB="27432">
                    <a:solidFill>
                      <a:srgbClr val="FFFFFF"/>
                    </a:solidFill>
                  </a:tcPr>
                </a:tc>
              </a:tr>
              <a:tr h="480057">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Escalates When</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Basis, threshold and receiving level or user's name, for example Days since booking ≥ 45 → Team Lead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Segment / Reason / SLA (h) / Effective / 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All or the segment; label of the reason; hours; Active, Pending Authorization or Inactive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New Escalation Rule dialog</a:t>
                      </a:r>
                    </a:p>
                  </a:txBody>
                  <a:tcPr marL="54864" marR="54864" marT="27432" marB="27432">
                    <a:solidFill>
                      <a:srgbClr val="E5F5FF"/>
                    </a:solidFill>
                  </a:tcPr>
                </a:tc>
                <a:tc>
                  <a:txBody>
                    <a:bodyPr/>
                    <a:lstStyle/>
                    <a:p>
                      <a:r>
                        <a:rPr sz="850" b="0">
                          <a:solidFill>
                            <a:srgbClr val="4B4B4B"/>
                          </a:solidFill>
                          <a:latin typeface="Arial"/>
                        </a:rPr>
                        <a:t>Code / Name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Up to 60 characters; the code of a new rule only</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Not blank</a:t>
                      </a:r>
                    </a:p>
                  </a:txBody>
                  <a:tcPr marL="54864" marR="54864" marT="27432" marB="27432">
                    <a:solidFill>
                      <a:srgbClr val="E5F5FF"/>
                    </a:solidFill>
                  </a:tcPr>
                </a:tc>
                <a:tc>
                  <a:txBody>
                    <a:bodyPr/>
                    <a:lstStyle/>
                    <a:p>
                      <a:r>
                        <a:rPr sz="850" b="0">
                          <a:solidFill>
                            <a:srgbClr val="4B4B4B"/>
                          </a:solidFill>
                          <a:latin typeface="Arial"/>
                        </a:rPr>
                        <a:t>Enter the rule code</a:t>
                      </a:r>
                    </a:p>
                  </a:txBody>
                  <a:tcPr marL="54864" marR="54864" marT="27432" marB="27432">
                    <a:solidFill>
                      <a:srgbClr val="E5F5FF"/>
                    </a:solidFill>
                  </a:tcPr>
                </a:tc>
              </a:tr>
              <a:tr h="739135">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New Escalation Rule dialog</a:t>
                      </a:r>
                    </a:p>
                  </a:txBody>
                  <a:tcPr marL="54864" marR="54864" marT="27432" marB="27432">
                    <a:solidFill>
                      <a:srgbClr val="FFFFFF"/>
                    </a:solidFill>
                  </a:tcPr>
                </a:tc>
                <a:tc>
                  <a:txBody>
                    <a:bodyPr/>
                    <a:lstStyle/>
                    <a:p>
                      <a:r>
                        <a:rPr sz="850" b="0">
                          <a:solidFill>
                            <a:srgbClr val="4B4B4B"/>
                          </a:solidFill>
                          <a:latin typeface="Arial"/>
                        </a:rPr>
                        <a:t>Basis</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Days since booking; Days since inception; Days since booking without a promise; Broken promises; Days an installment is overdue; Outstanding at or above</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New Escalation Rule dialog</a:t>
                      </a:r>
                    </a:p>
                  </a:txBody>
                  <a:tcPr marL="54864" marR="54864" marT="27432" marB="27432">
                    <a:solidFill>
                      <a:srgbClr val="E5F5FF"/>
                    </a:solidFill>
                  </a:tcPr>
                </a:tc>
                <a:tc>
                  <a:txBody>
                    <a:bodyPr/>
                    <a:lstStyle/>
                    <a:p>
                      <a:r>
                        <a:rPr sz="850" b="0">
                          <a:solidFill>
                            <a:srgbClr val="4B4B4B"/>
                          </a:solidFill>
                          <a:latin typeface="Arial"/>
                        </a:rPr>
                        <a:t>Threshold</a:t>
                      </a:r>
                    </a:p>
                  </a:txBody>
                  <a:tcPr marL="54864" marR="54864" marT="27432" marB="27432">
                    <a:solidFill>
                      <a:srgbClr val="E5F5FF"/>
                    </a:solidFill>
                  </a:tcPr>
                </a:tc>
                <a:tc>
                  <a:txBody>
                    <a:bodyPr/>
                    <a:lstStyle/>
                    <a:p>
                      <a:r>
                        <a:rPr sz="850" b="0">
                          <a:solidFill>
                            <a:srgbClr val="4B4B4B"/>
                          </a:solidFill>
                          <a:latin typeface="Arial"/>
                        </a:rPr>
                        <a:t>Number</a:t>
                      </a:r>
                    </a:p>
                  </a:txBody>
                  <a:tcPr marL="54864" marR="54864" marT="27432" marB="27432">
                    <a:solidFill>
                      <a:srgbClr val="E5F5FF"/>
                    </a:solidFill>
                  </a:tcPr>
                </a:tc>
                <a:tc>
                  <a:txBody>
                    <a:bodyPr/>
                    <a:lstStyle/>
                    <a:p>
                      <a:r>
                        <a:rPr sz="850" b="0">
                          <a:solidFill>
                            <a:srgbClr val="4B4B4B"/>
                          </a:solidFill>
                          <a:latin typeface="Arial"/>
                        </a:rPr>
                        <a:t>Days, a number of promises or an amount, depending on the basis</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Above zero</a:t>
                      </a:r>
                    </a:p>
                  </a:txBody>
                  <a:tcPr marL="54864" marR="54864" marT="27432" marB="27432">
                    <a:solidFill>
                      <a:srgbClr val="E5F5FF"/>
                    </a:solidFill>
                  </a:tcPr>
                </a:tc>
                <a:tc>
                  <a:txBody>
                    <a:bodyPr/>
                    <a:lstStyle/>
                    <a:p>
                      <a:r>
                        <a:rPr sz="850" b="0">
                          <a:solidFill>
                            <a:srgbClr val="4B4B4B"/>
                          </a:solidFill>
                          <a:latin typeface="Arial"/>
                        </a:rPr>
                        <a:t>Enter a positive threshold</a:t>
                      </a:r>
                    </a:p>
                  </a:txBody>
                  <a:tcPr marL="54864" marR="54864" marT="27432" marB="27432">
                    <a:solidFill>
                      <a:srgbClr val="E5F5FF"/>
                    </a:solidFill>
                  </a:tcPr>
                </a:tc>
              </a:tr>
              <a:tr h="609596">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New Escalation Rule dialog</a:t>
                      </a:r>
                    </a:p>
                  </a:txBody>
                  <a:tcPr marL="54864" marR="54864" marT="27432" marB="27432">
                    <a:solidFill>
                      <a:srgbClr val="FFFFFF"/>
                    </a:solidFill>
                  </a:tcPr>
                </a:tc>
                <a:tc>
                  <a:txBody>
                    <a:bodyPr/>
                    <a:lstStyle/>
                    <a:p>
                      <a:r>
                        <a:rPr sz="850" b="0">
                          <a:solidFill>
                            <a:srgbClr val="4B4B4B"/>
                          </a:solidFill>
                          <a:latin typeface="Arial"/>
                        </a:rPr>
                        <a:t>Segment / Escalate To / User</a:t>
                      </a:r>
                    </a:p>
                  </a:txBody>
                  <a:tcPr marL="54864" marR="54864" marT="27432" marB="27432">
                    <a:solidFill>
                      <a:srgbClr val="FFFFFF"/>
                    </a:solidFill>
                  </a:tcPr>
                </a:tc>
                <a:tc>
                  <a:txBody>
                    <a:bodyPr/>
                    <a:lstStyle/>
                    <a:p>
                      <a:r>
                        <a:rPr sz="850" b="0">
                          <a:solidFill>
                            <a:srgbClr val="4B4B4B"/>
                          </a:solidFill>
                          <a:latin typeface="Arial"/>
                        </a:rPr>
                        <a:t>Text, drop-down</a:t>
                      </a:r>
                    </a:p>
                  </a:txBody>
                  <a:tcPr marL="54864" marR="54864" marT="27432" marB="27432">
                    <a:solidFill>
                      <a:srgbClr val="FFFFFF"/>
                    </a:solidFill>
                  </a:tcPr>
                </a:tc>
                <a:tc>
                  <a:txBody>
                    <a:bodyPr/>
                    <a:lstStyle/>
                    <a:p>
                      <a:r>
                        <a:rPr sz="850" b="0">
                          <a:solidFill>
                            <a:srgbClr val="4B4B4B"/>
                          </a:solidFill>
                          <a:latin typeface="Arial"/>
                        </a:rPr>
                        <a:t>Empty for every segment; Team Lead, Unit Head, Section Head or Designated User</a:t>
                      </a:r>
                    </a:p>
                  </a:txBody>
                  <a:tcPr marL="54864" marR="54864" marT="27432" marB="27432">
                    <a:solidFill>
                      <a:srgbClr val="FFFFFF"/>
                    </a:solidFill>
                  </a:tcPr>
                </a:tc>
                <a:tc>
                  <a:txBody>
                    <a:bodyPr/>
                    <a:lstStyle/>
                    <a:p>
                      <a:r>
                        <a:rPr sz="850" b="0">
                          <a:solidFill>
                            <a:srgbClr val="4B4B4B"/>
                          </a:solidFill>
                          <a:latin typeface="Arial"/>
                        </a:rPr>
                        <a:t>N / Y / Cond.: designated user</a:t>
                      </a:r>
                    </a:p>
                  </a:txBody>
                  <a:tcPr marL="54864" marR="54864" marT="27432" marB="27432">
                    <a:solidFill>
                      <a:srgbClr val="FFFFFF"/>
                    </a:solidFill>
                  </a:tcPr>
                </a:tc>
                <a:tc>
                  <a:txBody>
                    <a:bodyPr/>
                    <a:lstStyle/>
                    <a:p>
                      <a:r>
                        <a:rPr sz="850" b="0">
                          <a:solidFill>
                            <a:srgbClr val="4B4B4B"/>
                          </a:solidFill>
                          <a:latin typeface="Arial"/>
                        </a:rPr>
                        <a:t>The user handles escalations</a:t>
                      </a:r>
                    </a:p>
                  </a:txBody>
                  <a:tcPr marL="54864" marR="54864" marT="27432" marB="27432">
                    <a:solidFill>
                      <a:srgbClr val="FFFFFF"/>
                    </a:solidFill>
                  </a:tcPr>
                </a:tc>
                <a:tc>
                  <a:txBody>
                    <a:bodyPr/>
                    <a:lstStyle/>
                    <a:p>
                      <a:r>
                        <a:rPr sz="850" b="0">
                          <a:solidFill>
                            <a:srgbClr val="4B4B4B"/>
                          </a:solidFill>
                          <a:latin typeface="Arial"/>
                        </a:rPr>
                        <a:t>Name the user who receives the escalations</a:t>
                      </a:r>
                    </a:p>
                  </a:txBody>
                  <a:tcPr marL="54864" marR="54864" marT="27432" marB="27432">
                    <a:solidFill>
                      <a:srgbClr val="FFFFFF"/>
                    </a:solidFill>
                  </a:tcPr>
                </a:tc>
              </a:tr>
              <a:tr h="350518">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New Escalation Rule dialog</a:t>
                      </a:r>
                    </a:p>
                  </a:txBody>
                  <a:tcPr marL="54864" marR="54864" marT="27432" marB="27432">
                    <a:solidFill>
                      <a:srgbClr val="E5F5FF"/>
                    </a:solidFill>
                  </a:tcPr>
                </a:tc>
                <a:tc>
                  <a:txBody>
                    <a:bodyPr/>
                    <a:lstStyle/>
                    <a:p>
                      <a:r>
                        <a:rPr sz="850" b="0">
                          <a:solidFill>
                            <a:srgbClr val="4B4B4B"/>
                          </a:solidFill>
                          <a:latin typeface="Arial"/>
                        </a:rPr>
                        <a:t>Reason</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Escalation reason list</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Choose the escalation reason</a:t>
                      </a:r>
                    </a:p>
                  </a:txBody>
                  <a:tcPr marL="54864" marR="54864" marT="27432" marB="27432">
                    <a:solidFill>
                      <a:srgbClr val="E5F5FF"/>
                    </a:solidFill>
                  </a:tcPr>
                </a:tc>
              </a:tr>
              <a:tr h="350518">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New Escalation Rule dialog</a:t>
                      </a:r>
                    </a:p>
                  </a:txBody>
                  <a:tcPr marL="54864" marR="54864" marT="27432" marB="27432">
                    <a:solidFill>
                      <a:srgbClr val="FFFFFF"/>
                    </a:solidFill>
                  </a:tcPr>
                </a:tc>
                <a:tc>
                  <a:txBody>
                    <a:bodyPr/>
                    <a:lstStyle/>
                    <a:p>
                      <a:r>
                        <a:rPr sz="850" b="0">
                          <a:solidFill>
                            <a:srgbClr val="4B4B4B"/>
                          </a:solidFill>
                          <a:latin typeface="Arial"/>
                        </a:rPr>
                        <a:t>SLA (Hours) / Effective From / Effective To</a:t>
                      </a:r>
                    </a:p>
                  </a:txBody>
                  <a:tcPr marL="54864" marR="54864" marT="27432" marB="27432">
                    <a:solidFill>
                      <a:srgbClr val="FFFFFF"/>
                    </a:solidFill>
                  </a:tcPr>
                </a:tc>
                <a:tc>
                  <a:txBody>
                    <a:bodyPr/>
                    <a:lstStyle/>
                    <a:p>
                      <a:r>
                        <a:rPr sz="850" b="0">
                          <a:solidFill>
                            <a:srgbClr val="4B4B4B"/>
                          </a:solidFill>
                          <a:latin typeface="Arial"/>
                        </a:rPr>
                        <a:t>Number, date</a:t>
                      </a:r>
                    </a:p>
                  </a:txBody>
                  <a:tcPr marL="54864" marR="54864" marT="27432" marB="27432">
                    <a:solidFill>
                      <a:srgbClr val="FFFFFF"/>
                    </a:solidFill>
                  </a:tcPr>
                </a:tc>
                <a:tc>
                  <a:txBody>
                    <a:bodyPr/>
                    <a:lstStyle/>
                    <a:p>
                      <a:r>
                        <a:rPr sz="850" b="0">
                          <a:solidFill>
                            <a:srgbClr val="4B4B4B"/>
                          </a:solidFill>
                          <a:latin typeface="Arial"/>
                        </a:rPr>
                        <a:t>1 to 720 hours; dd-MMM-yyyy</a:t>
                      </a:r>
                    </a:p>
                  </a:txBody>
                  <a:tcPr marL="54864" marR="54864" marT="27432" marB="27432">
                    <a:solidFill>
                      <a:srgbClr val="FFFFFF"/>
                    </a:solidFill>
                  </a:tcPr>
                </a:tc>
                <a:tc>
                  <a:txBody>
                    <a:bodyPr/>
                    <a:lstStyle/>
                    <a:p>
                      <a:r>
                        <a:rPr sz="850" b="0">
                          <a:solidFill>
                            <a:srgbClr val="4B4B4B"/>
                          </a:solidFill>
                          <a:latin typeface="Arial"/>
                        </a:rPr>
                        <a:t>Y / Y / N</a:t>
                      </a:r>
                    </a:p>
                  </a:txBody>
                  <a:tcPr marL="54864" marR="54864" marT="27432" marB="27432">
                    <a:solidFill>
                      <a:srgbClr val="FFFFFF"/>
                    </a:solidFill>
                  </a:tcPr>
                </a:tc>
                <a:tc>
                  <a:txBody>
                    <a:bodyPr/>
                    <a:lstStyle/>
                    <a:p>
                      <a:r>
                        <a:rPr sz="850" b="0">
                          <a:solidFill>
                            <a:srgbClr val="4B4B4B"/>
                          </a:solidFill>
                          <a:latin typeface="Arial"/>
                        </a:rPr>
                        <a:t>The rule cannot end before it starts</a:t>
                      </a:r>
                    </a:p>
                  </a:txBody>
                  <a:tcPr marL="54864" marR="54864" marT="27432" marB="27432">
                    <a:solidFill>
                      <a:srgbClr val="FFFFFF"/>
                    </a:solidFill>
                  </a:tcPr>
                </a:tc>
                <a:tc>
                  <a:txBody>
                    <a:bodyPr/>
                    <a:lstStyle/>
                    <a:p>
                      <a:r>
                        <a:rPr sz="850" b="0">
                          <a:solidFill>
                            <a:srgbClr val="4B4B4B"/>
                          </a:solidFill>
                          <a:latin typeface="Arial"/>
                        </a:rPr>
                        <a:t>Enter between 1 and 720 hours</a:t>
                      </a:r>
                    </a:p>
                  </a:txBody>
                  <a:tcPr marL="54864" marR="54864" marT="27432" marB="27432">
                    <a:solidFill>
                      <a:srgbClr val="FFFFFF"/>
                    </a:solidFill>
                  </a:tcPr>
                </a:tc>
              </a:tr>
            </a:tbl>
          </a:graphicData>
        </a:graphic>
      </p:graphicFrame>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SCR-CL-13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254</a:t>
            </a:r>
          </a:p>
        </p:txBody>
      </p:sp>
      <p:graphicFrame>
        <p:nvGraphicFramePr>
          <p:cNvPr id="9" name="Table 8"/>
          <p:cNvGraphicFramePr>
            <a:graphicFrameLocks noGrp="1"/>
          </p:cNvGraphicFramePr>
          <p:nvPr/>
        </p:nvGraphicFramePr>
        <p:xfrm>
          <a:off x="548640" y="1325880"/>
          <a:ext cx="11094412" cy="2194548"/>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New Rule</a:t>
                      </a:r>
                    </a:p>
                  </a:txBody>
                  <a:tcPr marL="54864" marR="54864" marT="27432" marB="27432">
                    <a:solidFill>
                      <a:srgbClr val="FFFFFF"/>
                    </a:solidFill>
                  </a:tcPr>
                </a:tc>
                <a:tc>
                  <a:txBody>
                    <a:bodyPr/>
                    <a:lstStyle/>
                    <a:p>
                      <a:r>
                        <a:rPr sz="850" b="0">
                          <a:solidFill>
                            <a:srgbClr val="4B4B4B"/>
                          </a:solidFill>
                          <a:latin typeface="Arial"/>
                        </a:rPr>
                        <a:t>Users with the Collections set-up permission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dialog</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Save Rule</a:t>
                      </a:r>
                    </a:p>
                  </a:txBody>
                  <a:tcPr marL="54864" marR="54864" marT="27432" marB="27432">
                    <a:solidFill>
                      <a:srgbClr val="E5F5FF"/>
                    </a:solidFill>
                  </a:tcPr>
                </a:tc>
                <a:tc>
                  <a:txBody>
                    <a:bodyPr/>
                    <a:lstStyle/>
                    <a:p>
                      <a:r>
                        <a:rPr sz="850" b="0">
                          <a:solidFill>
                            <a:srgbClr val="4B4B4B"/>
                          </a:solidFill>
                          <a:latin typeface="Arial"/>
                        </a:rPr>
                        <a:t>Users with the Collections set-up permission</a:t>
                      </a:r>
                    </a:p>
                  </a:txBody>
                  <a:tcPr marL="54864" marR="54864" marT="27432" marB="27432">
                    <a:solidFill>
                      <a:srgbClr val="E5F5FF"/>
                    </a:solidFill>
                  </a:tcPr>
                </a:tc>
                <a:tc>
                  <a:txBody>
                    <a:bodyPr/>
                    <a:lstStyle/>
                    <a:p>
                      <a:r>
                        <a:rPr sz="850" b="0">
                          <a:solidFill>
                            <a:srgbClr val="4B4B4B"/>
                          </a:solidFill>
                          <a:latin typeface="Arial"/>
                        </a:rPr>
                        <a:t>The form is complete</a:t>
                      </a:r>
                    </a:p>
                  </a:txBody>
                  <a:tcPr marL="54864" marR="54864" marT="27432" marB="27432">
                    <a:solidFill>
                      <a:srgbClr val="E5F5FF"/>
                    </a:solidFill>
                  </a:tcPr>
                </a:tc>
                <a:tc>
                  <a:txBody>
                    <a:bodyPr/>
                    <a:lstStyle/>
                    <a:p>
                      <a:r>
                        <a:rPr sz="850" b="0">
                          <a:solidFill>
                            <a:srgbClr val="4B4B4B"/>
                          </a:solidFill>
                          <a:latin typeface="Arial"/>
                        </a:rPr>
                        <a:t>Saves the rule; it applies once authorized</a:t>
                      </a:r>
                    </a:p>
                  </a:txBody>
                  <a:tcPr marL="54864" marR="54864" marT="27432" marB="27432">
                    <a:solidFill>
                      <a:srgbClr val="E5F5FF"/>
                    </a:solidFill>
                  </a:tcPr>
                </a:tc>
                <a:tc>
                  <a:txBody>
                    <a:bodyPr/>
                    <a:lstStyle/>
                    <a:p>
                      <a:r>
                        <a:rPr sz="850" b="0">
                          <a:solidFill>
                            <a:srgbClr val="4B4B4B"/>
                          </a:solidFill>
                          <a:latin typeface="Arial"/>
                        </a:rPr>
                        <a:t>Pending Authorization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Preview (row menu)</a:t>
                      </a:r>
                    </a:p>
                  </a:txBody>
                  <a:tcPr marL="54864" marR="54864" marT="27432" marB="27432">
                    <a:solidFill>
                      <a:srgbClr val="FFFFFF"/>
                    </a:solidFill>
                  </a:tcPr>
                </a:tc>
                <a:tc>
                  <a:txBody>
                    <a:bodyPr/>
                    <a:lstStyle/>
                    <a:p>
                      <a:r>
                        <a:rPr sz="850" b="0">
                          <a:solidFill>
                            <a:srgbClr val="4B4B4B"/>
                          </a:solidFill>
                          <a:latin typeface="Arial"/>
                        </a:rPr>
                        <a:t>Set-up and authorizing users</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Lists the accounts the rule escalates today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Change (row menu)</a:t>
                      </a:r>
                    </a:p>
                  </a:txBody>
                  <a:tcPr marL="54864" marR="54864" marT="27432" marB="27432">
                    <a:solidFill>
                      <a:srgbClr val="E5F5FF"/>
                    </a:solidFill>
                  </a:tcPr>
                </a:tc>
                <a:tc>
                  <a:txBody>
                    <a:bodyPr/>
                    <a:lstStyle/>
                    <a:p>
                      <a:r>
                        <a:rPr sz="850" b="0">
                          <a:solidFill>
                            <a:srgbClr val="4B4B4B"/>
                          </a:solidFill>
                          <a:latin typeface="Arial"/>
                        </a:rPr>
                        <a:t>Users with the Collections set-up permission</a:t>
                      </a:r>
                    </a:p>
                  </a:txBody>
                  <a:tcPr marL="54864" marR="54864" marT="27432" marB="27432">
                    <a:solidFill>
                      <a:srgbClr val="E5F5FF"/>
                    </a:solidFill>
                  </a:tcPr>
                </a:tc>
                <a:tc>
                  <a:txBody>
                    <a:bodyPr/>
                    <a:lstStyle/>
                    <a:p>
                      <a:r>
                        <a:rPr sz="850" b="0">
                          <a:solidFill>
                            <a:srgbClr val="4B4B4B"/>
                          </a:solidFill>
                          <a:latin typeface="Arial"/>
                        </a:rPr>
                        <a:t>Not inactive</a:t>
                      </a:r>
                    </a:p>
                  </a:txBody>
                  <a:tcPr marL="54864" marR="54864" marT="27432" marB="27432">
                    <a:solidFill>
                      <a:srgbClr val="E5F5FF"/>
                    </a:solidFill>
                  </a:tcPr>
                </a:tc>
                <a:tc>
                  <a:txBody>
                    <a:bodyPr/>
                    <a:lstStyle/>
                    <a:p>
                      <a:r>
                        <a:rPr sz="850" b="0">
                          <a:solidFill>
                            <a:srgbClr val="4B4B4B"/>
                          </a:solidFill>
                          <a:latin typeface="Arial"/>
                        </a:rPr>
                        <a:t>Opens the rule; the change waits for authorization</a:t>
                      </a:r>
                    </a:p>
                  </a:txBody>
                  <a:tcPr marL="54864" marR="54864" marT="27432" marB="27432">
                    <a:solidFill>
                      <a:srgbClr val="E5F5FF"/>
                    </a:solidFill>
                  </a:tcPr>
                </a:tc>
                <a:tc>
                  <a:txBody>
                    <a:bodyPr/>
                    <a:lstStyle/>
                    <a:p>
                      <a:r>
                        <a:rPr sz="850" b="0">
                          <a:solidFill>
                            <a:srgbClr val="4B4B4B"/>
                          </a:solidFill>
                          <a:latin typeface="Arial"/>
                        </a:rPr>
                        <a:t>Pending Authorization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Authorize (row menu)</a:t>
                      </a:r>
                    </a:p>
                  </a:txBody>
                  <a:tcPr marL="54864" marR="54864" marT="27432" marB="27432">
                    <a:solidFill>
                      <a:srgbClr val="FFFFFF"/>
                    </a:solidFill>
                  </a:tcPr>
                </a:tc>
                <a:tc>
                  <a:txBody>
                    <a:bodyPr/>
                    <a:lstStyle/>
                    <a:p>
                      <a:r>
                        <a:rPr sz="850" b="0">
                          <a:solidFill>
                            <a:srgbClr val="4B4B4B"/>
                          </a:solidFill>
                          <a:latin typeface="Arial"/>
                        </a:rPr>
                        <a:t>Authorizers of master data, other than the maker</a:t>
                      </a:r>
                    </a:p>
                  </a:txBody>
                  <a:tcPr marL="54864" marR="54864" marT="27432" marB="27432">
                    <a:solidFill>
                      <a:srgbClr val="FFFFFF"/>
                    </a:solidFill>
                  </a:tcPr>
                </a:tc>
                <a:tc>
                  <a:txBody>
                    <a:bodyPr/>
                    <a:lstStyle/>
                    <a:p>
                      <a:r>
                        <a:rPr sz="850" b="0">
                          <a:solidFill>
                            <a:srgbClr val="4B4B4B"/>
                          </a:solidFill>
                          <a:latin typeface="Arial"/>
                        </a:rPr>
                        <a:t>Pending Authorization</a:t>
                      </a:r>
                    </a:p>
                  </a:txBody>
                  <a:tcPr marL="54864" marR="54864" marT="27432" marB="27432">
                    <a:solidFill>
                      <a:srgbClr val="FFFFFF"/>
                    </a:solidFill>
                  </a:tcPr>
                </a:tc>
                <a:tc>
                  <a:txBody>
                    <a:bodyPr/>
                    <a:lstStyle/>
                    <a:p>
                      <a:r>
                        <a:rPr sz="850" b="0">
                          <a:solidFill>
                            <a:srgbClr val="4B4B4B"/>
                          </a:solidFill>
                          <a:latin typeface="Arial"/>
                        </a:rPr>
                        <a:t>Asks for confirmation; the rule takes effect for new escalations</a:t>
                      </a:r>
                    </a:p>
                  </a:txBody>
                  <a:tcPr marL="54864" marR="54864" marT="27432" marB="27432">
                    <a:solidFill>
                      <a:srgbClr val="FFFFFF"/>
                    </a:solidFill>
                  </a:tcPr>
                </a:tc>
                <a:tc>
                  <a:txBody>
                    <a:bodyPr/>
                    <a:lstStyle/>
                    <a:p>
                      <a:r>
                        <a:rPr sz="850" b="0">
                          <a:solidFill>
                            <a:srgbClr val="4B4B4B"/>
                          </a:solidFill>
                          <a:latin typeface="Arial"/>
                        </a:rPr>
                        <a:t>Active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Deactivate (row menu)</a:t>
                      </a:r>
                    </a:p>
                  </a:txBody>
                  <a:tcPr marL="54864" marR="54864" marT="27432" marB="27432">
                    <a:solidFill>
                      <a:srgbClr val="E5F5FF"/>
                    </a:solidFill>
                  </a:tcPr>
                </a:tc>
                <a:tc>
                  <a:txBody>
                    <a:bodyPr/>
                    <a:lstStyle/>
                    <a:p>
                      <a:r>
                        <a:rPr sz="850" b="0">
                          <a:solidFill>
                            <a:srgbClr val="4B4B4B"/>
                          </a:solidFill>
                          <a:latin typeface="Arial"/>
                        </a:rPr>
                        <a:t>Users with the Collections set-up permission</a:t>
                      </a:r>
                    </a:p>
                  </a:txBody>
                  <a:tcPr marL="54864" marR="54864" marT="27432" marB="27432">
                    <a:solidFill>
                      <a:srgbClr val="E5F5FF"/>
                    </a:solidFill>
                  </a:tcPr>
                </a:tc>
                <a:tc>
                  <a:txBody>
                    <a:bodyPr/>
                    <a:lstStyle/>
                    <a:p>
                      <a:r>
                        <a:rPr sz="850" b="0">
                          <a:solidFill>
                            <a:srgbClr val="4B4B4B"/>
                          </a:solidFill>
                          <a:latin typeface="Arial"/>
                        </a:rPr>
                        <a:t>Active</a:t>
                      </a:r>
                    </a:p>
                  </a:txBody>
                  <a:tcPr marL="54864" marR="54864" marT="27432" marB="27432">
                    <a:solidFill>
                      <a:srgbClr val="E5F5FF"/>
                    </a:solidFill>
                  </a:tcPr>
                </a:tc>
                <a:tc>
                  <a:txBody>
                    <a:bodyPr/>
                    <a:lstStyle/>
                    <a:p>
                      <a:r>
                        <a:rPr sz="850" b="0">
                          <a:solidFill>
                            <a:srgbClr val="4B4B4B"/>
                          </a:solidFill>
                          <a:latin typeface="Arial"/>
                        </a:rPr>
                        <a:t>Asks for confirmation; the rule no longer applies</a:t>
                      </a:r>
                    </a:p>
                  </a:txBody>
                  <a:tcPr marL="54864" marR="54864" marT="27432" marB="27432">
                    <a:solidFill>
                      <a:srgbClr val="E5F5FF"/>
                    </a:solidFill>
                  </a:tcPr>
                </a:tc>
                <a:tc>
                  <a:txBody>
                    <a:bodyPr/>
                    <a:lstStyle/>
                    <a:p>
                      <a:r>
                        <a:rPr sz="850" b="0">
                          <a:solidFill>
                            <a:srgbClr val="4B4B4B"/>
                          </a:solidFill>
                          <a:latin typeface="Arial"/>
                        </a:rPr>
                        <a:t>Inactive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SCR-CL-13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255</a:t>
            </a:r>
          </a:p>
        </p:txBody>
      </p:sp>
      <p:graphicFrame>
        <p:nvGraphicFramePr>
          <p:cNvPr id="9" name="Table 8"/>
          <p:cNvGraphicFramePr>
            <a:graphicFrameLocks noGrp="1"/>
          </p:cNvGraphicFramePr>
          <p:nvPr/>
        </p:nvGraphicFramePr>
        <p:xfrm>
          <a:off x="548640" y="1325880"/>
          <a:ext cx="11094415" cy="11277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Maker-checker: the maker of a rule cannot authorize it; pending rules also appear in My Approvals (FR-CL-050).</a:t>
                      </a:r>
                    </a:p>
                  </a:txBody>
                  <a:tcPr marL="54864" marR="54864" marT="27432" marB="27432">
                    <a:solidFill>
                      <a:srgbClr val="FFFFFF"/>
                    </a:solidFill>
                  </a:tcPr>
                </a:tc>
              </a:tr>
              <a:tr h="396240">
                <a:tc>
                  <a:txBody>
                    <a:bodyPr/>
                    <a:lstStyle/>
                    <a:p>
                      <a:r>
                        <a:rPr sz="1000" b="0">
                          <a:solidFill>
                            <a:srgbClr val="4B4B4B"/>
                          </a:solidFill>
                          <a:latin typeface="Arial"/>
                        </a:rPr>
                        <a:t>The defaults of the process: 45 days after booking to the team lead, the 60th day from inception to the unit head, a broken promise to the team lead, an installment 15 days overdue to the team lead (FR-CL-050).</a:t>
                      </a:r>
                    </a:p>
                  </a:txBody>
                  <a:tcPr marL="54864" marR="54864" marT="27432" marB="27432">
                    <a:solidFill>
                      <a:srgbClr val="E5F5FF"/>
                    </a:solidFill>
                  </a:tcPr>
                </a:tc>
              </a:tr>
              <a:tr h="243840">
                <a:tc>
                  <a:txBody>
                    <a:bodyPr/>
                    <a:lstStyle/>
                    <a:p>
                      <a:r>
                        <a:rPr sz="1000" b="0">
                          <a:solidFill>
                            <a:srgbClr val="4B4B4B"/>
                          </a:solidFill>
                          <a:latin typeface="Arial"/>
                        </a:rPr>
                        <a:t>A rule is deactivated, never deleted (FR-CL-050).</a:t>
                      </a:r>
                    </a:p>
                  </a:txBody>
                  <a:tcPr marL="54864" marR="54864" marT="27432" marB="27432">
                    <a:solidFill>
                      <a:srgbClr val="FFFFFF"/>
                    </a:solidFill>
                  </a:tcPr>
                </a:tc>
              </a:tr>
            </a:tbl>
          </a:graphicData>
        </a:graphic>
      </p:graphicFrame>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SCR-CL-13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256</a:t>
            </a:r>
          </a:p>
        </p:txBody>
      </p:sp>
      <p:graphicFrame>
        <p:nvGraphicFramePr>
          <p:cNvPr id="9" name="Table 8"/>
          <p:cNvGraphicFramePr>
            <a:graphicFrameLocks noGrp="1"/>
          </p:cNvGraphicFramePr>
          <p:nvPr/>
        </p:nvGraphicFramePr>
        <p:xfrm>
          <a:off x="548640" y="1325880"/>
          <a:ext cx="11094413" cy="59436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36576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WT-B step 5</a:t>
                      </a:r>
                    </a:p>
                  </a:txBody>
                  <a:tcPr marL="54864" marR="54864" marT="27432" marB="27432">
                    <a:solidFill>
                      <a:srgbClr val="FFFFFF"/>
                    </a:solidFill>
                  </a:tcPr>
                </a:tc>
                <a:tc>
                  <a:txBody>
                    <a:bodyPr/>
                    <a:lstStyle/>
                    <a:p>
                      <a:r>
                        <a:rPr sz="900" b="0">
                          <a:solidFill>
                            <a:srgbClr val="4B4B4B"/>
                          </a:solidFill>
                          <a:latin typeface="Arial"/>
                        </a:rPr>
                        <a:t>Opens Escalation Rules and, from the row menu of CLX-AMOUNT-1M, authorizes the rule made by the Business Administrator</a:t>
                      </a:r>
                    </a:p>
                  </a:txBody>
                  <a:tcPr marL="54864" marR="54864" marT="27432" marB="27432">
                    <a:solidFill>
                      <a:srgbClr val="FFFFFF"/>
                    </a:solidFill>
                  </a:tcPr>
                </a:tc>
                <a:tc>
                  <a:txBody>
                    <a:bodyPr/>
                    <a:lstStyle/>
                    <a:p>
                      <a:r>
                        <a:rPr sz="900" b="0">
                          <a:solidFill>
                            <a:srgbClr val="4B4B4B"/>
                          </a:solidFill>
                          <a:latin typeface="Arial"/>
                        </a:rPr>
                        <a:t>SCR-CL-13_wt-b-step-05.png</a:t>
                      </a:r>
                    </a:p>
                  </a:txBody>
                  <a:tcPr marL="54864" marR="54864" marT="27432" marB="27432">
                    <a:solidFill>
                      <a:srgbClr val="FFFFFF"/>
                    </a:solidFill>
                  </a:tcPr>
                </a:tc>
              </a:tr>
            </a:tbl>
          </a:graphicData>
        </a:graphic>
      </p:graphicFrame>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SCR-CL-13 Escalation Rules: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ux-scr-cl-13-actions.png"/>
          <p:cNvPicPr>
            <a:picLocks noChangeAspect="1"/>
          </p:cNvPicPr>
          <p:nvPr/>
        </p:nvPicPr>
        <p:blipFill>
          <a:blip r:embed="rId3"/>
          <a:stretch>
            <a:fillRect/>
          </a:stretch>
        </p:blipFill>
        <p:spPr>
          <a:xfrm>
            <a:off x="1509498" y="1261872"/>
            <a:ext cx="9172699"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The row action menu of an escalation rule, opened from the more button of its row</a:t>
            </a: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SCR-CL-13 Escalation Rules: Filled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149.png"/>
          <p:cNvPicPr>
            <a:picLocks noChangeAspect="1"/>
          </p:cNvPicPr>
          <p:nvPr/>
        </p:nvPicPr>
        <p:blipFill>
          <a:blip r:embed="rId3"/>
          <a:stretch>
            <a:fillRect/>
          </a:stretch>
        </p:blipFill>
        <p:spPr>
          <a:xfrm>
            <a:off x="548640" y="1261872"/>
            <a:ext cx="11094415" cy="460611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Escalation Rule dialog (part 1 of 3)</a:t>
            </a:r>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SCR-CL-13 Escalation Rules: Filled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150.png"/>
          <p:cNvPicPr>
            <a:picLocks noChangeAspect="1"/>
          </p:cNvPicPr>
          <p:nvPr/>
        </p:nvPicPr>
        <p:blipFill>
          <a:blip r:embed="rId3"/>
          <a:stretch>
            <a:fillRect/>
          </a:stretch>
        </p:blipFill>
        <p:spPr>
          <a:xfrm>
            <a:off x="548640" y="1261872"/>
            <a:ext cx="11094415" cy="473470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Escalation Rule dialog (part 2 of 3)</a:t>
            </a:r>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SCR-CL-13 Escalation Rules: Filled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151.png"/>
          <p:cNvPicPr>
            <a:picLocks noChangeAspect="1"/>
          </p:cNvPicPr>
          <p:nvPr/>
        </p:nvPicPr>
        <p:blipFill>
          <a:blip r:embed="rId3"/>
          <a:stretch>
            <a:fillRect/>
          </a:stretch>
        </p:blipFill>
        <p:spPr>
          <a:xfrm>
            <a:off x="548640" y="1261872"/>
            <a:ext cx="11094415" cy="280575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Escalation Rule dialog (part 3 of 3)</a:t>
            </a: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SCR-CL-13 Escalation Rules: Pending approval</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261</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cr-cl-13-01-list.png"/>
          <p:cNvPicPr>
            <a:picLocks noChangeAspect="1"/>
          </p:cNvPicPr>
          <p:nvPr/>
        </p:nvPicPr>
        <p:blipFill>
          <a:blip r:embed="rId3"/>
          <a:stretch>
            <a:fillRect/>
          </a:stretch>
        </p:blipFill>
        <p:spPr>
          <a:xfrm>
            <a:off x="1509498" y="1261872"/>
            <a:ext cx="9172699"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Escalation Rules with their row menu: the rules in force and one waiting for authorization</a:t>
            </a: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SCR-CL-14 Unapplied Payments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262</a:t>
            </a:r>
          </a:p>
        </p:txBody>
      </p:sp>
      <p:graphicFrame>
        <p:nvGraphicFramePr>
          <p:cNvPr id="9" name="Table 8"/>
          <p:cNvGraphicFramePr>
            <a:graphicFrameLocks noGrp="1"/>
          </p:cNvGraphicFramePr>
          <p:nvPr/>
        </p:nvGraphicFramePr>
        <p:xfrm>
          <a:off x="548640" y="1307592"/>
          <a:ext cx="6434760" cy="324612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Unapplied payments</a:t>
                      </a:r>
                    </a:p>
                  </a:txBody>
                  <a:tcPr marL="54864" marR="54864" marT="27432" marB="27432">
                    <a:solidFill>
                      <a:srgbClr val="FFFFFF"/>
                    </a:solidFill>
                  </a:tcPr>
                </a:tc>
              </a:tr>
              <a:tr h="81534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payments Cashiering could not apply to an invoice, as of today, read from Cashiering (never copied), by Cashiering tab: the payment and its transaction, the unapplied balance, the matched account, the latest collector disposition and where the payment stands in Cashiering. The collector records a disposition on the selected payment, or asks Cashiering to apply it to an invoice.</a:t>
                      </a:r>
                    </a:p>
                  </a:txBody>
                  <a:tcPr marL="54864" marR="54864" marT="27432" marB="27432">
                    <a:solidFill>
                      <a:srgbClr val="FFFFFF"/>
                    </a:solidFill>
                  </a:tcPr>
                </a:tc>
              </a:tr>
              <a:tr h="81534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Team Lead, Marketing Handler, Collection Handler, Collection Team Lead, Section Head (Corporate / Retail), Unapplied Payment Handler, Processing Unit, Cashier (read access and exports), Disbursement (read access and exports), Comptrollership (read access), Business Administrator, System Administrator, Auditor</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Collections › Unapplied Payments</a:t>
                      </a:r>
                    </a:p>
                    <a:p>
                      <a:r>
                        <a:rPr sz="950" b="0">
                          <a:solidFill>
                            <a:srgbClr val="4B4B4B"/>
                          </a:solidFill>
                          <a:latin typeface="Arial"/>
                        </a:rPr>
                        <a:t>Finance › Collections › Unapplied Payments</a:t>
                      </a:r>
                    </a:p>
                    <a:p>
                      <a:r>
                        <a:rPr sz="950" b="0">
                          <a:solidFill>
                            <a:srgbClr val="4B4B4B"/>
                          </a:solidFill>
                          <a:latin typeface="Arial"/>
                        </a:rPr>
                        <a:t>Collections Home › Unapplied Awaiting Disposition tile</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13.4.1</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FR-CL-070, FR-CL-071, FR-CL-072, FR-CL-073, FR-CL-074, FR-CL-075, FR-CL-076</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Every unapplied payment has the collector's disposition and, where needed, a request to Cashiering.</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(6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2 images</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SCR-CL-14 fields and columns (No. = callout on the first image)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263</a:t>
            </a:r>
          </a:p>
        </p:txBody>
      </p:sp>
      <p:graphicFrame>
        <p:nvGraphicFramePr>
          <p:cNvPr id="9" name="Table 8"/>
          <p:cNvGraphicFramePr>
            <a:graphicFrameLocks noGrp="1"/>
          </p:cNvGraphicFramePr>
          <p:nvPr/>
        </p:nvGraphicFramePr>
        <p:xfrm>
          <a:off x="548640" y="1325880"/>
          <a:ext cx="11094411" cy="4853911"/>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Awaiting Disposition / In Cashiering / For Approval / For Reversal / All Open</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The Cashiering tab of the payment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Toolbar</a:t>
                      </a:r>
                    </a:p>
                  </a:txBody>
                  <a:tcPr marL="54864" marR="54864" marT="27432" marB="27432">
                    <a:solidFill>
                      <a:srgbClr val="E5F5FF"/>
                    </a:solidFill>
                  </a:tcPr>
                </a:tc>
                <a:tc>
                  <a:txBody>
                    <a:bodyPr/>
                    <a:lstStyle/>
                    <a:p>
                      <a:r>
                        <a:rPr sz="850" b="0">
                          <a:solidFill>
                            <a:srgbClr val="4B4B4B"/>
                          </a:solidFill>
                          <a:latin typeface="Arial"/>
                        </a:rPr>
                        <a:t>Search Unapplied Reference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Reference, payor, transaction, check or invoice</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Contains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Filters</a:t>
                      </a:r>
                    </a:p>
                  </a:txBody>
                  <a:tcPr marL="54864" marR="54864" marT="27432" marB="27432">
                    <a:solidFill>
                      <a:srgbClr val="FFFFFF"/>
                    </a:solidFill>
                  </a:tcPr>
                </a:tc>
                <a:tc>
                  <a:txBody>
                    <a:bodyPr/>
                    <a:lstStyle/>
                    <a:p>
                      <a:r>
                        <a:rPr sz="850" b="0">
                          <a:solidFill>
                            <a:srgbClr val="4B4B4B"/>
                          </a:solidFill>
                          <a:latin typeface="Arial"/>
                        </a:rPr>
                        <a:t>Market Segment / Collector Disposition / Age</a:t>
                      </a:r>
                    </a:p>
                  </a:txBody>
                  <a:tcPr marL="54864" marR="54864" marT="27432" marB="27432">
                    <a:solidFill>
                      <a:srgbClr val="FFFFFF"/>
                    </a:solidFill>
                  </a:tcPr>
                </a:tc>
                <a:tc>
                  <a:txBody>
                    <a:bodyPr/>
                    <a:lstStyle/>
                    <a:p>
                      <a:r>
                        <a:rPr sz="850" b="0">
                          <a:solidFill>
                            <a:srgbClr val="4B4B4B"/>
                          </a:solidFill>
                          <a:latin typeface="Arial"/>
                        </a:rPr>
                        <a:t>Text, drop-down</a:t>
                      </a:r>
                    </a:p>
                  </a:txBody>
                  <a:tcPr marL="54864" marR="54864" marT="27432" marB="27432">
                    <a:solidFill>
                      <a:srgbClr val="FFFFFF"/>
                    </a:solidFill>
                  </a:tcPr>
                </a:tc>
                <a:tc>
                  <a:txBody>
                    <a:bodyPr/>
                    <a:lstStyle/>
                    <a:p>
                      <a:r>
                        <a:rPr sz="850" b="0">
                          <a:solidFill>
                            <a:srgbClr val="4B4B4B"/>
                          </a:solidFill>
                          <a:latin typeface="Arial"/>
                        </a:rPr>
                        <a:t>Segment; any, no disposition yet or a value; up to 7, 8 to 30, 31 to 90, over 90 days</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Unapplied Reference</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UNP-yyyy-nnnnnn with the payor</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 unapplied payments to display</a:t>
                      </a:r>
                    </a:p>
                  </a:txBody>
                  <a:tcPr marL="54864" marR="54864" marT="27432" marB="27432">
                    <a:solidFill>
                      <a:srgbClr val="E5F5FF"/>
                    </a:solidFill>
                  </a:tcPr>
                </a:tc>
              </a:tr>
              <a:tr h="480057">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Payment / Transaction</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Payment date with its age in days; transaction number, payment type, bank and check</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Unapplied / Paid</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Unapplied balance with the amount paid under it, in the base currency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Matched Account / Segment</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Invoice or client matched, assured, segment and account officer; Not Matched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Collector Disposition</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Label as a tag with the user's name and date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Cashiering / Request</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Cashiering tab, and the status of the request sent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Disposition dialog</a:t>
                      </a:r>
                    </a:p>
                  </a:txBody>
                  <a:tcPr marL="54864" marR="54864" marT="27432" marB="27432">
                    <a:solidFill>
                      <a:srgbClr val="E5F5FF"/>
                    </a:solidFill>
                  </a:tcPr>
                </a:tc>
                <a:tc>
                  <a:txBody>
                    <a:bodyPr/>
                    <a:lstStyle/>
                    <a:p>
                      <a:r>
                        <a:rPr sz="850" b="0">
                          <a:solidFill>
                            <a:srgbClr val="4B4B4B"/>
                          </a:solidFill>
                          <a:latin typeface="Arial"/>
                        </a:rPr>
                        <a:t>Disposition</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Active values of the unapplied payment disposition list; what Cashiering is asked to do shows under it</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Choose the disposition</a:t>
                      </a:r>
                    </a:p>
                  </a:txBody>
                  <a:tcPr marL="54864" marR="54864" marT="27432" marB="27432">
                    <a:solidFill>
                      <a:srgbClr val="E5F5FF"/>
                    </a:solidFill>
                  </a:tcPr>
                </a:tc>
              </a:tr>
              <a:tr h="609596">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Disposition dialog</a:t>
                      </a:r>
                    </a:p>
                  </a:txBody>
                  <a:tcPr marL="54864" marR="54864" marT="27432" marB="27432">
                    <a:solidFill>
                      <a:srgbClr val="FFFFFF"/>
                    </a:solidFill>
                  </a:tcPr>
                </a:tc>
                <a:tc>
                  <a:txBody>
                    <a:bodyPr/>
                    <a:lstStyle/>
                    <a:p>
                      <a:r>
                        <a:rPr sz="850" b="0">
                          <a:solidFill>
                            <a:srgbClr val="4B4B4B"/>
                          </a:solidFill>
                          <a:latin typeface="Arial"/>
                        </a:rPr>
                        <a:t>Invoice No.</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a legacy invoice I followed by eight digits or a BIBS invoice BI-…, checked against the invoice ledger</a:t>
                      </a:r>
                    </a:p>
                  </a:txBody>
                  <a:tcPr marL="54864" marR="54864" marT="27432" marB="27432">
                    <a:solidFill>
                      <a:srgbClr val="FFFFFF"/>
                    </a:solidFill>
                  </a:tcPr>
                </a:tc>
                <a:tc>
                  <a:txBody>
                    <a:bodyPr/>
                    <a:lstStyle/>
                    <a:p>
                      <a:r>
                        <a:rPr sz="850" b="0">
                          <a:solidFill>
                            <a:srgbClr val="4B4B4B"/>
                          </a:solidFill>
                          <a:latin typeface="Arial"/>
                        </a:rPr>
                        <a:t>Cond.: For application to invoice</a:t>
                      </a:r>
                    </a:p>
                  </a:txBody>
                  <a:tcPr marL="54864" marR="54864" marT="27432" marB="27432">
                    <a:solidFill>
                      <a:srgbClr val="FFFFFF"/>
                    </a:solidFill>
                  </a:tcPr>
                </a:tc>
                <a:tc>
                  <a:txBody>
                    <a:bodyPr/>
                    <a:lstStyle/>
                    <a:p>
                      <a:r>
                        <a:rPr sz="850" b="0">
                          <a:solidFill>
                            <a:srgbClr val="4B4B4B"/>
                          </a:solidFill>
                          <a:latin typeface="Arial"/>
                        </a:rPr>
                        <a:t>Format of the invoice number parameter; invoice in the ledger</a:t>
                      </a:r>
                    </a:p>
                  </a:txBody>
                  <a:tcPr marL="54864" marR="54864" marT="27432" marB="27432">
                    <a:solidFill>
                      <a:srgbClr val="FFFFFF"/>
                    </a:solidFill>
                  </a:tcPr>
                </a:tc>
                <a:tc>
                  <a:txBody>
                    <a:bodyPr/>
                    <a:lstStyle/>
                    <a:p>
                      <a:r>
                        <a:rPr sz="850" b="0">
                          <a:solidFill>
                            <a:srgbClr val="4B4B4B"/>
                          </a:solidFill>
                          <a:latin typeface="Arial"/>
                        </a:rPr>
                        <a:t>The invoice number does not have the expected format</a:t>
                      </a:r>
                    </a:p>
                  </a:txBody>
                  <a:tcPr marL="54864" marR="54864" marT="27432" marB="27432">
                    <a:solidFill>
                      <a:srgbClr val="FFFFFF"/>
                    </a:solidFill>
                  </a:tcPr>
                </a:tc>
              </a:tr>
            </a:tbl>
          </a:graphicData>
        </a:graphic>
      </p:graphicFrame>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SCR-CL-14 fields and columns (No. = callout on the first image)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264</a:t>
            </a:r>
          </a:p>
        </p:txBody>
      </p:sp>
      <p:graphicFrame>
        <p:nvGraphicFramePr>
          <p:cNvPr id="9" name="Table 8"/>
          <p:cNvGraphicFramePr>
            <a:graphicFrameLocks noGrp="1"/>
          </p:cNvGraphicFramePr>
          <p:nvPr/>
        </p:nvGraphicFramePr>
        <p:xfrm>
          <a:off x="548640" y="1325880"/>
          <a:ext cx="11094411" cy="571497"/>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12</a:t>
                      </a:r>
                    </a:p>
                  </a:txBody>
                  <a:tcPr marL="54864" marR="54864" marT="27432" marB="27432">
                    <a:solidFill>
                      <a:srgbClr val="FFFFFF"/>
                    </a:solidFill>
                  </a:tcPr>
                </a:tc>
                <a:tc>
                  <a:txBody>
                    <a:bodyPr/>
                    <a:lstStyle/>
                    <a:p>
                      <a:r>
                        <a:rPr sz="850" b="0">
                          <a:solidFill>
                            <a:srgbClr val="4B4B4B"/>
                          </a:solidFill>
                          <a:latin typeface="Arial"/>
                        </a:rPr>
                        <a:t>Disposition dialog</a:t>
                      </a:r>
                    </a:p>
                  </a:txBody>
                  <a:tcPr marL="54864" marR="54864" marT="27432" marB="27432">
                    <a:solidFill>
                      <a:srgbClr val="FFFFFF"/>
                    </a:solidFill>
                  </a:tcPr>
                </a:tc>
                <a:tc>
                  <a:txBody>
                    <a:bodyPr/>
                    <a:lstStyle/>
                    <a:p>
                      <a:r>
                        <a:rPr sz="850" b="0">
                          <a:solidFill>
                            <a:srgbClr val="4B4B4B"/>
                          </a:solidFill>
                          <a:latin typeface="Arial"/>
                        </a:rPr>
                        <a:t>Amount / Remarks</a:t>
                      </a:r>
                    </a:p>
                  </a:txBody>
                  <a:tcPr marL="54864" marR="54864" marT="27432" marB="27432">
                    <a:solidFill>
                      <a:srgbClr val="FFFFFF"/>
                    </a:solidFill>
                  </a:tcPr>
                </a:tc>
                <a:tc>
                  <a:txBody>
                    <a:bodyPr/>
                    <a:lstStyle/>
                    <a:p>
                      <a:r>
                        <a:rPr sz="850" b="0">
                          <a:solidFill>
                            <a:srgbClr val="4B4B4B"/>
                          </a:solidFill>
                          <a:latin typeface="Arial"/>
                        </a:rPr>
                        <a:t>Number, text area</a:t>
                      </a:r>
                    </a:p>
                  </a:txBody>
                  <a:tcPr marL="54864" marR="54864" marT="27432" marB="27432">
                    <a:solidFill>
                      <a:srgbClr val="FFFFFF"/>
                    </a:solidFill>
                  </a:tcPr>
                </a:tc>
                <a:tc>
                  <a:txBody>
                    <a:bodyPr/>
                    <a:lstStyle/>
                    <a:p>
                      <a:r>
                        <a:rPr sz="850" b="0">
                          <a:solidFill>
                            <a:srgbClr val="4B4B4B"/>
                          </a:solidFill>
                          <a:latin typeface="Arial"/>
                        </a:rPr>
                        <a:t>Empty for the whole unapplied balance</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Above zero and at most the balance</a:t>
                      </a:r>
                    </a:p>
                  </a:txBody>
                  <a:tcPr marL="54864" marR="54864" marT="27432" marB="27432">
                    <a:solidFill>
                      <a:srgbClr val="FFFFFF"/>
                    </a:solidFill>
                  </a:tcPr>
                </a:tc>
                <a:tc>
                  <a:txBody>
                    <a:bodyPr/>
                    <a:lstStyle/>
                    <a:p>
                      <a:r>
                        <a:rPr sz="850" b="0">
                          <a:solidFill>
                            <a:srgbClr val="4B4B4B"/>
                          </a:solidFill>
                          <a:latin typeface="Arial"/>
                        </a:rPr>
                        <a:t>Enter an amount above zero and at most &lt;balance&gt;</a:t>
                      </a:r>
                    </a:p>
                  </a:txBody>
                  <a:tcPr marL="54864" marR="54864" marT="27432" marB="27432">
                    <a:solidFill>
                      <a:srgbClr val="FFFFFF"/>
                    </a:solidFill>
                  </a:tcPr>
                </a:tc>
              </a:tr>
            </a:tbl>
          </a:graphicData>
        </a:graphic>
      </p:graphicFrame>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SCR-CL-14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265</a:t>
            </a:r>
          </a:p>
        </p:txBody>
      </p:sp>
      <p:graphicFrame>
        <p:nvGraphicFramePr>
          <p:cNvPr id="9" name="Table 8"/>
          <p:cNvGraphicFramePr>
            <a:graphicFrameLocks noGrp="1"/>
          </p:cNvGraphicFramePr>
          <p:nvPr/>
        </p:nvGraphicFramePr>
        <p:xfrm>
          <a:off x="548640" y="1325880"/>
          <a:ext cx="11094412" cy="1714491"/>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Requests to Cashiering</a:t>
                      </a:r>
                    </a:p>
                  </a:txBody>
                  <a:tcPr marL="54864" marR="54864" marT="27432" marB="27432">
                    <a:solidFill>
                      <a:srgbClr val="FFFFFF"/>
                    </a:solidFill>
                  </a:tcPr>
                </a:tc>
                <a:tc>
                  <a:txBody>
                    <a:bodyPr/>
                    <a:lstStyle/>
                    <a:p>
                      <a:r>
                        <a:rPr sz="850" b="0">
                          <a:solidFill>
                            <a:srgbClr val="4B4B4B"/>
                          </a:solidFill>
                          <a:latin typeface="Arial"/>
                        </a:rPr>
                        <a:t>Every Collections user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requests sent to Cashiering</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Record Disposition</a:t>
                      </a:r>
                    </a:p>
                  </a:txBody>
                  <a:tcPr marL="54864" marR="54864" marT="27432" marB="27432">
                    <a:solidFill>
                      <a:srgbClr val="E5F5FF"/>
                    </a:solidFill>
                  </a:tcPr>
                </a:tc>
                <a:tc>
                  <a:txBody>
                    <a:bodyPr/>
                    <a:lstStyle/>
                    <a:p>
                      <a:r>
                        <a:rPr sz="850" b="0">
                          <a:solidFill>
                            <a:srgbClr val="4B4B4B"/>
                          </a:solidFill>
                          <a:latin typeface="Arial"/>
                        </a:rPr>
                        <a:t>Users with the unapplied work permission</a:t>
                      </a:r>
                    </a:p>
                  </a:txBody>
                  <a:tcPr marL="54864" marR="54864" marT="27432" marB="27432">
                    <a:solidFill>
                      <a:srgbClr val="E5F5FF"/>
                    </a:solidFill>
                  </a:tcPr>
                </a:tc>
                <a:tc>
                  <a:txBody>
                    <a:bodyPr/>
                    <a:lstStyle/>
                    <a:p>
                      <a:r>
                        <a:rPr sz="850" b="0">
                          <a:solidFill>
                            <a:srgbClr val="4B4B4B"/>
                          </a:solidFill>
                          <a:latin typeface="Arial"/>
                        </a:rPr>
                        <a:t>One payment selected</a:t>
                      </a:r>
                    </a:p>
                  </a:txBody>
                  <a:tcPr marL="54864" marR="54864" marT="27432" marB="27432">
                    <a:solidFill>
                      <a:srgbClr val="E5F5FF"/>
                    </a:solidFill>
                  </a:tcPr>
                </a:tc>
                <a:tc>
                  <a:txBody>
                    <a:bodyPr/>
                    <a:lstStyle/>
                    <a:p>
                      <a:r>
                        <a:rPr sz="850" b="0">
                          <a:solidFill>
                            <a:srgbClr val="4B4B4B"/>
                          </a:solidFill>
                          <a:latin typeface="Arial"/>
                        </a:rPr>
                        <a:t>Opens the disposition dialog</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Request Application</a:t>
                      </a:r>
                    </a:p>
                  </a:txBody>
                  <a:tcPr marL="54864" marR="54864" marT="27432" marB="27432">
                    <a:solidFill>
                      <a:srgbClr val="FFFFFF"/>
                    </a:solidFill>
                  </a:tcPr>
                </a:tc>
                <a:tc>
                  <a:txBody>
                    <a:bodyPr/>
                    <a:lstStyle/>
                    <a:p>
                      <a:r>
                        <a:rPr sz="850" b="0">
                          <a:solidFill>
                            <a:srgbClr val="4B4B4B"/>
                          </a:solidFill>
                          <a:latin typeface="Arial"/>
                        </a:rPr>
                        <a:t>Users with the unapplied work permission</a:t>
                      </a:r>
                    </a:p>
                  </a:txBody>
                  <a:tcPr marL="54864" marR="54864" marT="27432" marB="27432">
                    <a:solidFill>
                      <a:srgbClr val="FFFFFF"/>
                    </a:solidFill>
                  </a:tcPr>
                </a:tc>
                <a:tc>
                  <a:txBody>
                    <a:bodyPr/>
                    <a:lstStyle/>
                    <a:p>
                      <a:r>
                        <a:rPr sz="850" b="0">
                          <a:solidFill>
                            <a:srgbClr val="4B4B4B"/>
                          </a:solidFill>
                          <a:latin typeface="Arial"/>
                        </a:rPr>
                        <a:t>One payment selected</a:t>
                      </a:r>
                    </a:p>
                  </a:txBody>
                  <a:tcPr marL="54864" marR="54864" marT="27432" marB="27432">
                    <a:solidFill>
                      <a:srgbClr val="FFFFFF"/>
                    </a:solidFill>
                  </a:tcPr>
                </a:tc>
                <a:tc>
                  <a:txBody>
                    <a:bodyPr/>
                    <a:lstStyle/>
                    <a:p>
                      <a:r>
                        <a:rPr sz="850" b="0">
                          <a:solidFill>
                            <a:srgbClr val="4B4B4B"/>
                          </a:solidFill>
                          <a:latin typeface="Arial"/>
                        </a:rPr>
                        <a:t>Opens the dialog with For Application to Invoice chosen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Save Disposition / Request Application (dialog)</a:t>
                      </a:r>
                    </a:p>
                  </a:txBody>
                  <a:tcPr marL="54864" marR="54864" marT="27432" marB="27432">
                    <a:solidFill>
                      <a:srgbClr val="E5F5FF"/>
                    </a:solidFill>
                  </a:tcPr>
                </a:tc>
                <a:tc>
                  <a:txBody>
                    <a:bodyPr/>
                    <a:lstStyle/>
                    <a:p>
                      <a:r>
                        <a:rPr sz="850" b="0">
                          <a:solidFill>
                            <a:srgbClr val="4B4B4B"/>
                          </a:solidFill>
                          <a:latin typeface="Arial"/>
                        </a:rPr>
                        <a:t>Users with the unapplied work permission</a:t>
                      </a:r>
                    </a:p>
                  </a:txBody>
                  <a:tcPr marL="54864" marR="54864" marT="27432" marB="27432">
                    <a:solidFill>
                      <a:srgbClr val="E5F5FF"/>
                    </a:solidFill>
                  </a:tcPr>
                </a:tc>
                <a:tc>
                  <a:txBody>
                    <a:bodyPr/>
                    <a:lstStyle/>
                    <a:p>
                      <a:r>
                        <a:rPr sz="850" b="0">
                          <a:solidFill>
                            <a:srgbClr val="4B4B4B"/>
                          </a:solidFill>
                          <a:latin typeface="Arial"/>
                        </a:rPr>
                        <a:t>The form is complete</a:t>
                      </a:r>
                    </a:p>
                  </a:txBody>
                  <a:tcPr marL="54864" marR="54864" marT="27432" marB="27432">
                    <a:solidFill>
                      <a:srgbClr val="E5F5FF"/>
                    </a:solidFill>
                  </a:tcPr>
                </a:tc>
                <a:tc>
                  <a:txBody>
                    <a:bodyPr/>
                    <a:lstStyle/>
                    <a:p>
                      <a:r>
                        <a:rPr sz="850" b="0">
                          <a:solidFill>
                            <a:srgbClr val="4B4B4B"/>
                          </a:solidFill>
                          <a:latin typeface="Arial"/>
                        </a:rPr>
                        <a:t>Records the disposition; a value with a Cashiering action sends a request to the Incoming Requests of Cashiering</a:t>
                      </a:r>
                    </a:p>
                  </a:txBody>
                  <a:tcPr marL="54864" marR="54864" marT="27432" marB="27432">
                    <a:solidFill>
                      <a:srgbClr val="E5F5FF"/>
                    </a:solidFill>
                  </a:tcPr>
                </a:tc>
                <a:tc>
                  <a:txBody>
                    <a:bodyPr/>
                    <a:lstStyle/>
                    <a:p>
                      <a:r>
                        <a:rPr sz="850" b="0">
                          <a:solidFill>
                            <a:srgbClr val="4B4B4B"/>
                          </a:solidFill>
                          <a:latin typeface="Arial"/>
                        </a:rPr>
                        <a:t>Request Sent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Row</a:t>
                      </a:r>
                    </a:p>
                  </a:txBody>
                  <a:tcPr marL="54864" marR="54864" marT="27432" marB="27432">
                    <a:solidFill>
                      <a:srgbClr val="FFFFFF"/>
                    </a:solidFill>
                  </a:tcPr>
                </a:tc>
                <a:tc>
                  <a:txBody>
                    <a:bodyPr/>
                    <a:lstStyle/>
                    <a:p>
                      <a:r>
                        <a:rPr sz="850" b="0">
                          <a:solidFill>
                            <a:srgbClr val="4B4B4B"/>
                          </a:solidFill>
                          <a:latin typeface="Arial"/>
                        </a:rPr>
                        <a:t>Every Collections user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unapplied payment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SCR-CL-14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266</a:t>
            </a:r>
          </a:p>
        </p:txBody>
      </p:sp>
      <p:graphicFrame>
        <p:nvGraphicFramePr>
          <p:cNvPr id="9" name="Table 8"/>
          <p:cNvGraphicFramePr>
            <a:graphicFrameLocks noGrp="1"/>
          </p:cNvGraphicFramePr>
          <p:nvPr/>
        </p:nvGraphicFramePr>
        <p:xfrm>
          <a:off x="548640" y="1325880"/>
          <a:ext cx="11094415" cy="121920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Only active values of the unapplied payment disposition list can be chosen (FR-CL-072, FR-CL-073).</a:t>
                      </a:r>
                    </a:p>
                  </a:txBody>
                  <a:tcPr marL="54864" marR="54864" marT="27432" marB="27432">
                    <a:solidFill>
                      <a:srgbClr val="FFFFFF"/>
                    </a:solidFill>
                  </a:tcPr>
                </a:tc>
              </a:tr>
              <a:tr h="243840">
                <a:tc>
                  <a:txBody>
                    <a:bodyPr/>
                    <a:lstStyle/>
                    <a:p>
                      <a:r>
                        <a:rPr sz="1000" b="0">
                          <a:solidFill>
                            <a:srgbClr val="4B4B4B"/>
                          </a:solidFill>
                          <a:latin typeface="Arial"/>
                        </a:rPr>
                        <a:t>For Application to Invoice needs an invoice number in the format of the invoice number parameter that exists in the invoice ledger (FR-CL-075).</a:t>
                      </a:r>
                    </a:p>
                  </a:txBody>
                  <a:tcPr marL="54864" marR="54864" marT="27432" marB="27432">
                    <a:solidFill>
                      <a:srgbClr val="E5F5FF"/>
                    </a:solidFill>
                  </a:tcPr>
                </a:tc>
              </a:tr>
              <a:tr h="243840">
                <a:tc>
                  <a:txBody>
                    <a:bodyPr/>
                    <a:lstStyle/>
                    <a:p>
                      <a:r>
                        <a:rPr sz="1000" b="0">
                          <a:solidFill>
                            <a:srgbClr val="4B4B4B"/>
                          </a:solidFill>
                          <a:latin typeface="Arial"/>
                        </a:rPr>
                        <a:t>A value with a Cashiering action sends a request to Cashiering, which applies, refunds, reclassifies or transfers the payment with its own approvals (FR-CL-074).</a:t>
                      </a:r>
                    </a:p>
                  </a:txBody>
                  <a:tcPr marL="54864" marR="54864" marT="27432" marB="27432">
                    <a:solidFill>
                      <a:srgbClr val="FFFFFF"/>
                    </a:solidFill>
                  </a:tcPr>
                </a:tc>
              </a:tr>
              <a:tr h="243840">
                <a:tc>
                  <a:txBody>
                    <a:bodyPr/>
                    <a:lstStyle/>
                    <a:p>
                      <a:r>
                        <a:rPr sz="1000" b="0">
                          <a:solidFill>
                            <a:srgbClr val="4B4B4B"/>
                          </a:solidFill>
                          <a:latin typeface="Arial"/>
                        </a:rPr>
                        <a:t>Dispositions are never deleted; the history stays after the payment is applied or refunded (FR-CL-076).</a:t>
                      </a:r>
                    </a:p>
                  </a:txBody>
                  <a:tcPr marL="54864" marR="54864" marT="27432" marB="27432">
                    <a:solidFill>
                      <a:srgbClr val="E5F5FF"/>
                    </a:solidFill>
                  </a:tcPr>
                </a:tc>
              </a:tr>
            </a:tbl>
          </a:graphicData>
        </a:graphic>
      </p:graphicFrame>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SCR-CL-14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267</a:t>
            </a:r>
          </a:p>
        </p:txBody>
      </p:sp>
      <p:graphicFrame>
        <p:nvGraphicFramePr>
          <p:cNvPr id="9" name="Table 8"/>
          <p:cNvGraphicFramePr>
            <a:graphicFrameLocks noGrp="1"/>
          </p:cNvGraphicFramePr>
          <p:nvPr/>
        </p:nvGraphicFramePr>
        <p:xfrm>
          <a:off x="548640" y="1325880"/>
          <a:ext cx="11094413" cy="68580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Validation error</a:t>
                      </a:r>
                    </a:p>
                  </a:txBody>
                  <a:tcPr marL="54864" marR="54864" marT="27432" marB="27432">
                    <a:solidFill>
                      <a:srgbClr val="FFFFFF"/>
                    </a:solidFill>
                  </a:tcPr>
                </a:tc>
                <a:tc>
                  <a:txBody>
                    <a:bodyPr/>
                    <a:lstStyle/>
                    <a:p>
                      <a:r>
                        <a:rPr sz="900" b="0">
                          <a:solidFill>
                            <a:srgbClr val="4B4B4B"/>
                          </a:solidFill>
                          <a:latin typeface="Arial"/>
                        </a:rPr>
                        <a:t>WT-E step 4</a:t>
                      </a:r>
                    </a:p>
                  </a:txBody>
                  <a:tcPr marL="54864" marR="54864" marT="27432" marB="27432">
                    <a:solidFill>
                      <a:srgbClr val="FFFFFF"/>
                    </a:solidFill>
                  </a:tcPr>
                </a:tc>
                <a:tc>
                  <a:txBody>
                    <a:bodyPr/>
                    <a:lstStyle/>
                    <a:p>
                      <a:r>
                        <a:rPr sz="900" b="0">
                          <a:solidFill>
                            <a:srgbClr val="4B4B4B"/>
                          </a:solidFill>
                          <a:latin typeface="Arial"/>
                        </a:rPr>
                        <a:t>Requests the application of a payment to an invoice number in the wrong format</a:t>
                      </a:r>
                    </a:p>
                  </a:txBody>
                  <a:tcPr marL="54864" marR="54864" marT="27432" marB="27432">
                    <a:solidFill>
                      <a:srgbClr val="FFFFFF"/>
                    </a:solidFill>
                  </a:tcPr>
                </a:tc>
                <a:tc>
                  <a:txBody>
                    <a:bodyPr/>
                    <a:lstStyle/>
                    <a:p>
                      <a:r>
                        <a:rPr sz="900" b="0">
                          <a:solidFill>
                            <a:srgbClr val="4B4B4B"/>
                          </a:solidFill>
                          <a:latin typeface="Arial"/>
                        </a:rPr>
                        <a:t>SCR-CL-14_wt-e-step-04.png</a:t>
                      </a:r>
                    </a:p>
                  </a:txBody>
                  <a:tcPr marL="54864" marR="54864" marT="27432" marB="27432">
                    <a:solidFill>
                      <a:srgbClr val="FFFFFF"/>
                    </a:solidFill>
                  </a:tcPr>
                </a:tc>
              </a:tr>
              <a:tr h="228600">
                <a:tc>
                  <a:txBody>
                    <a:bodyPr/>
                    <a:lstStyle/>
                    <a:p>
                      <a:r>
                        <a:rPr sz="900" b="0">
                          <a:solidFill>
                            <a:srgbClr val="4B4B4B"/>
                          </a:solidFill>
                          <a:latin typeface="Arial"/>
                        </a:rPr>
                        <a:t>Success message</a:t>
                      </a:r>
                    </a:p>
                  </a:txBody>
                  <a:tcPr marL="54864" marR="54864" marT="27432" marB="27432">
                    <a:solidFill>
                      <a:srgbClr val="E5F5FF"/>
                    </a:solidFill>
                  </a:tcPr>
                </a:tc>
                <a:tc>
                  <a:txBody>
                    <a:bodyPr/>
                    <a:lstStyle/>
                    <a:p>
                      <a:r>
                        <a:rPr sz="900" b="0">
                          <a:solidFill>
                            <a:srgbClr val="4B4B4B"/>
                          </a:solidFill>
                          <a:latin typeface="Arial"/>
                        </a:rPr>
                        <a:t>WT-C step 1</a:t>
                      </a:r>
                    </a:p>
                  </a:txBody>
                  <a:tcPr marL="54864" marR="54864" marT="27432" marB="27432">
                    <a:solidFill>
                      <a:srgbClr val="E5F5FF"/>
                    </a:solidFill>
                  </a:tcPr>
                </a:tc>
                <a:tc>
                  <a:txBody>
                    <a:bodyPr/>
                    <a:lstStyle/>
                    <a:p>
                      <a:r>
                        <a:rPr sz="900" b="0">
                          <a:solidFill>
                            <a:srgbClr val="4B4B4B"/>
                          </a:solidFill>
                          <a:latin typeface="Arial"/>
                        </a:rPr>
                        <a:t>Selects the payment, clicks Request Application and enters the invoice number</a:t>
                      </a:r>
                    </a:p>
                  </a:txBody>
                  <a:tcPr marL="54864" marR="54864" marT="27432" marB="27432">
                    <a:solidFill>
                      <a:srgbClr val="E5F5FF"/>
                    </a:solidFill>
                  </a:tcPr>
                </a:tc>
                <a:tc>
                  <a:txBody>
                    <a:bodyPr/>
                    <a:lstStyle/>
                    <a:p>
                      <a:r>
                        <a:rPr sz="900" b="0">
                          <a:solidFill>
                            <a:srgbClr val="4B4B4B"/>
                          </a:solidFill>
                          <a:latin typeface="Arial"/>
                        </a:rPr>
                        <a:t>SCR-CL-14_wt-c-step-01.png</a:t>
                      </a:r>
                    </a:p>
                  </a:txBody>
                  <a:tcPr marL="54864" marR="54864" marT="27432" marB="27432">
                    <a:solidFill>
                      <a:srgbClr val="E5F5FF"/>
                    </a:solidFill>
                  </a:tcPr>
                </a:tc>
              </a:tr>
            </a:tbl>
          </a:graphicData>
        </a:graphic>
      </p:graphicFrame>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SCR-CL-14 Unapplied Payments: Filled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152.png"/>
          <p:cNvPicPr>
            <a:picLocks noChangeAspect="1"/>
          </p:cNvPicPr>
          <p:nvPr/>
        </p:nvPicPr>
        <p:blipFill>
          <a:blip r:embed="rId3"/>
          <a:stretch>
            <a:fillRect/>
          </a:stretch>
        </p:blipFill>
        <p:spPr>
          <a:xfrm>
            <a:off x="548640" y="1261872"/>
            <a:ext cx="11094415" cy="473470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Request Application: the disposition For Application to Invoice with the invoice number (part 1 of 2)</a:t>
            </a:r>
          </a:p>
        </p:txBody>
      </p:sp>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SCR-CL-14 Unapplied Payments: Filled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153.png"/>
          <p:cNvPicPr>
            <a:picLocks noChangeAspect="1"/>
          </p:cNvPicPr>
          <p:nvPr/>
        </p:nvPicPr>
        <p:blipFill>
          <a:blip r:embed="rId3"/>
          <a:stretch>
            <a:fillRect/>
          </a:stretch>
        </p:blipFill>
        <p:spPr>
          <a:xfrm>
            <a:off x="548640" y="1261872"/>
            <a:ext cx="11094415" cy="265377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Request Application: the disposition For Application to Invoice with the invoice number (part 2 of 2)</a:t>
            </a:r>
          </a:p>
        </p:txBody>
      </p:sp>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SCR-CL-14 Unapplied Payments: Filled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154.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Unapplied Payments with the Filters panel open (part 1 of 2)</a:t>
            </a:r>
          </a:p>
        </p:txBody>
      </p:sp>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SCR-CL-14 Unapplied Payments: Filled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155.png"/>
          <p:cNvPicPr>
            <a:picLocks noChangeAspect="1"/>
          </p:cNvPicPr>
          <p:nvPr/>
        </p:nvPicPr>
        <p:blipFill>
          <a:blip r:embed="rId3"/>
          <a:stretch>
            <a:fillRect/>
          </a:stretch>
        </p:blipFill>
        <p:spPr>
          <a:xfrm>
            <a:off x="548640" y="1261872"/>
            <a:ext cx="11094415" cy="374914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Unapplied Payments with the Filters panel open (part 2 of 2)</a:t>
            </a:r>
          </a:p>
        </p:txBody>
      </p:sp>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SCR-CL-14 Unapplied Payments: Validation error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272</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slice-00156.png"/>
          <p:cNvPicPr>
            <a:picLocks noChangeAspect="1"/>
          </p:cNvPicPr>
          <p:nvPr/>
        </p:nvPicPr>
        <p:blipFill>
          <a:blip r:embed="rId3"/>
          <a:stretch>
            <a:fillRect/>
          </a:stretch>
        </p:blipFill>
        <p:spPr>
          <a:xfrm>
            <a:off x="548640" y="1261872"/>
            <a:ext cx="11094415" cy="473470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An invoice number in the wrong format is refused under the field (part 1 of 2)</a:t>
            </a:r>
          </a:p>
        </p:txBody>
      </p:sp>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SCR-CL-14 Unapplied Payments: Validation error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273</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slice-00157.png"/>
          <p:cNvPicPr>
            <a:picLocks noChangeAspect="1"/>
          </p:cNvPicPr>
          <p:nvPr/>
        </p:nvPicPr>
        <p:blipFill>
          <a:blip r:embed="rId3"/>
          <a:stretch>
            <a:fillRect/>
          </a:stretch>
        </p:blipFill>
        <p:spPr>
          <a:xfrm>
            <a:off x="548640" y="1261872"/>
            <a:ext cx="11094415" cy="293435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An invoice number in the wrong format is refused under the field (part 2 of 2)</a:t>
            </a:r>
          </a:p>
        </p:txBody>
      </p:sp>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SCR-CL-14 Unapplied Payments: Pending approval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274</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158.png"/>
          <p:cNvPicPr>
            <a:picLocks noChangeAspect="1"/>
          </p:cNvPicPr>
          <p:nvPr/>
        </p:nvPicPr>
        <p:blipFill>
          <a:blip r:embed="rId3"/>
          <a:stretch>
            <a:fillRect/>
          </a:stretch>
        </p:blipFill>
        <p:spPr>
          <a:xfrm>
            <a:off x="548640" y="1261872"/>
            <a:ext cx="11094415" cy="467686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Unapplied Payments awaiting a disposition, with the matched account and the Cashiering status (part 1 of 2)</a:t>
            </a:r>
          </a:p>
        </p:txBody>
      </p:sp>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SCR-CL-14 Unapplied Payments: Pending approval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275</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159.png"/>
          <p:cNvPicPr>
            <a:picLocks noChangeAspect="1"/>
          </p:cNvPicPr>
          <p:nvPr/>
        </p:nvPicPr>
        <p:blipFill>
          <a:blip r:embed="rId3"/>
          <a:stretch>
            <a:fillRect/>
          </a:stretch>
        </p:blipFill>
        <p:spPr>
          <a:xfrm>
            <a:off x="548640" y="1261872"/>
            <a:ext cx="11094415" cy="284055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Unapplied Payments awaiting a disposition, with the matched account and the Cashiering status (part 2 of 2)</a:t>
            </a:r>
          </a:p>
        </p:txBody>
      </p:sp>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SCR-CL-15 Unapplied Payment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276</a:t>
            </a:r>
          </a:p>
        </p:txBody>
      </p:sp>
      <p:graphicFrame>
        <p:nvGraphicFramePr>
          <p:cNvPr id="9" name="Table 8"/>
          <p:cNvGraphicFramePr>
            <a:graphicFrameLocks noGrp="1"/>
          </p:cNvGraphicFramePr>
          <p:nvPr/>
        </p:nvGraphicFramePr>
        <p:xfrm>
          <a:off x="548640" y="1307592"/>
          <a:ext cx="6434760" cy="28117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Unapplied payments</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One unapplied payment as the collector sees it: the payment and the matched account, the collector dispositions, the requests sent to Cashiering with their status, and the whole history kept after the payment is applied or refunded.</a:t>
                      </a:r>
                    </a:p>
                  </a:txBody>
                  <a:tcPr marL="54864" marR="54864" marT="27432" marB="27432">
                    <a:solidFill>
                      <a:srgbClr val="FFFFFF"/>
                    </a:solidFill>
                  </a:tcPr>
                </a:tc>
              </a:tr>
              <a:tr h="81534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Team Lead, Marketing Handler, Collection Handler, Collection Team Lead, Section Head (Corporate / Retail), Unapplied Payment Handler, Processing Unit, Cashier (read access and exports), Disbursement (read access and exports), Comptrollership (read access), Business Administrator, System Administrator, Auditor</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Collections › Unapplied Payments › Unapplied Payment</a:t>
                      </a:r>
                    </a:p>
                    <a:p>
                      <a:r>
                        <a:rPr sz="950" b="0">
                          <a:solidFill>
                            <a:srgbClr val="4B4B4B"/>
                          </a:solidFill>
                          <a:latin typeface="Arial"/>
                        </a:rPr>
                        <a:t>Unapplied Payments › open a row</a:t>
                      </a:r>
                    </a:p>
                    <a:p>
                      <a:r>
                        <a:rPr sz="950" b="0">
                          <a:solidFill>
                            <a:srgbClr val="4B4B4B"/>
                          </a:solidFill>
                          <a:latin typeface="Arial"/>
                        </a:rPr>
                        <a:t>Requests to Cashiering › open a row</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13.4.2</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FR-CL-070, FR-CL-073, FR-CL-074, FR-CL-076</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collector sees the payment, what was decided and where Cashiering is with it.</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(3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SCR-CL-15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277</a:t>
            </a:r>
          </a:p>
        </p:txBody>
      </p:sp>
      <p:graphicFrame>
        <p:nvGraphicFramePr>
          <p:cNvPr id="9" name="Table 8"/>
          <p:cNvGraphicFramePr>
            <a:graphicFrameLocks noGrp="1"/>
          </p:cNvGraphicFramePr>
          <p:nvPr/>
        </p:nvGraphicFramePr>
        <p:xfrm>
          <a:off x="548640" y="1325880"/>
          <a:ext cx="11094411" cy="4320513"/>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Header</a:t>
                      </a:r>
                    </a:p>
                  </a:txBody>
                  <a:tcPr marL="54864" marR="54864" marT="27432" marB="27432">
                    <a:solidFill>
                      <a:srgbClr val="FFFFFF"/>
                    </a:solidFill>
                  </a:tcPr>
                </a:tc>
                <a:tc>
                  <a:txBody>
                    <a:bodyPr/>
                    <a:lstStyle/>
                    <a:p>
                      <a:r>
                        <a:rPr sz="850" b="0">
                          <a:solidFill>
                            <a:srgbClr val="4B4B4B"/>
                          </a:solidFill>
                          <a:latin typeface="Arial"/>
                        </a:rPr>
                        <a:t>Unapplied chip, Cashiering tab, request status</a:t>
                      </a:r>
                    </a:p>
                  </a:txBody>
                  <a:tcPr marL="54864" marR="54864" marT="27432" marB="27432">
                    <a:solidFill>
                      <a:srgbClr val="FFFFFF"/>
                    </a:solidFill>
                  </a:tcPr>
                </a:tc>
                <a:tc>
                  <a:txBody>
                    <a:bodyPr/>
                    <a:lstStyle/>
                    <a:p>
                      <a:r>
                        <a:rPr sz="850" b="0">
                          <a:solidFill>
                            <a:srgbClr val="4B4B4B"/>
                          </a:solidFill>
                          <a:latin typeface="Arial"/>
                        </a:rPr>
                        <a:t>Reference chip, tag, status pill</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Facts</a:t>
                      </a:r>
                    </a:p>
                  </a:txBody>
                  <a:tcPr marL="54864" marR="54864" marT="27432" marB="27432">
                    <a:solidFill>
                      <a:srgbClr val="E5F5FF"/>
                    </a:solidFill>
                  </a:tcPr>
                </a:tc>
                <a:tc>
                  <a:txBody>
                    <a:bodyPr/>
                    <a:lstStyle/>
                    <a:p>
                      <a:r>
                        <a:rPr sz="850" b="0">
                          <a:solidFill>
                            <a:srgbClr val="4B4B4B"/>
                          </a:solidFill>
                          <a:latin typeface="Arial"/>
                        </a:rPr>
                        <a:t>Payment Date / Paid / Unapplied / Transaction / Collector Disposition / Account Officer</a:t>
                      </a:r>
                    </a:p>
                  </a:txBody>
                  <a:tcPr marL="54864" marR="54864" marT="27432" marB="27432">
                    <a:solidFill>
                      <a:srgbClr val="E5F5FF"/>
                    </a:solidFill>
                  </a:tcPr>
                </a:tc>
                <a:tc>
                  <a:txBody>
                    <a:bodyPr/>
                    <a:lstStyle/>
                    <a:p>
                      <a:r>
                        <a:rPr sz="850" b="0">
                          <a:solidFill>
                            <a:srgbClr val="4B4B4B"/>
                          </a:solidFill>
                          <a:latin typeface="Arial"/>
                        </a:rPr>
                        <a:t>Display</a:t>
                      </a:r>
                    </a:p>
                  </a:txBody>
                  <a:tcPr marL="54864" marR="54864" marT="27432" marB="27432">
                    <a:solidFill>
                      <a:srgbClr val="E5F5FF"/>
                    </a:solidFill>
                  </a:tcPr>
                </a:tc>
                <a:tc>
                  <a:txBody>
                    <a:bodyPr/>
                    <a:lstStyle/>
                    <a:p>
                      <a:r>
                        <a:rPr sz="850" b="0">
                          <a:solidFill>
                            <a:srgbClr val="4B4B4B"/>
                          </a:solidFill>
                          <a:latin typeface="Arial"/>
                        </a:rPr>
                        <a:t>Date with the age; amounts with the currency; label; name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Payment &amp; Account / Collector Dispositions / Requests to Cashiering / History</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Payment &amp; Account</a:t>
                      </a:r>
                    </a:p>
                  </a:txBody>
                  <a:tcPr marL="54864" marR="54864" marT="27432" marB="27432">
                    <a:solidFill>
                      <a:srgbClr val="E5F5FF"/>
                    </a:solidFill>
                  </a:tcPr>
                </a:tc>
                <a:tc>
                  <a:txBody>
                    <a:bodyPr/>
                    <a:lstStyle/>
                    <a:p>
                      <a:r>
                        <a:rPr sz="850" b="0">
                          <a:solidFill>
                            <a:srgbClr val="4B4B4B"/>
                          </a:solidFill>
                          <a:latin typeface="Arial"/>
                        </a:rPr>
                        <a:t>Payment File / Transaction No. / Payment Type / Bank / Check No. / Payor Reference</a:t>
                      </a:r>
                    </a:p>
                  </a:txBody>
                  <a:tcPr marL="54864" marR="54864" marT="27432" marB="27432">
                    <a:solidFill>
                      <a:srgbClr val="E5F5FF"/>
                    </a:solidFill>
                  </a:tcPr>
                </a:tc>
                <a:tc>
                  <a:txBody>
                    <a:bodyPr/>
                    <a:lstStyle/>
                    <a:p>
                      <a:r>
                        <a:rPr sz="850" b="0">
                          <a:solidFill>
                            <a:srgbClr val="4B4B4B"/>
                          </a:solidFill>
                          <a:latin typeface="Arial"/>
                        </a:rPr>
                        <a:t>Display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868674">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Payment &amp; Account</a:t>
                      </a:r>
                    </a:p>
                  </a:txBody>
                  <a:tcPr marL="54864" marR="54864" marT="27432" marB="27432">
                    <a:solidFill>
                      <a:srgbClr val="FFFFFF"/>
                    </a:solidFill>
                  </a:tcPr>
                </a:tc>
                <a:tc>
                  <a:txBody>
                    <a:bodyPr/>
                    <a:lstStyle/>
                    <a:p>
                      <a:r>
                        <a:rPr sz="850" b="0">
                          <a:solidFill>
                            <a:srgbClr val="4B4B4B"/>
                          </a:solidFill>
                          <a:latin typeface="Arial"/>
                        </a:rPr>
                        <a:t>Matched Client / Matched Invoice / Name of Assured / PR Balance / Inception / Market Segment / Sales Unit / Unit Head / Account Officer / Insurer / Invoice Category / Collection Handler</a:t>
                      </a:r>
                    </a:p>
                  </a:txBody>
                  <a:tcPr marL="54864" marR="54864" marT="27432" marB="27432">
                    <a:solidFill>
                      <a:srgbClr val="FFFFFF"/>
                    </a:solidFill>
                  </a:tcPr>
                </a:tc>
                <a:tc>
                  <a:txBody>
                    <a:bodyPr/>
                    <a:lstStyle/>
                    <a:p>
                      <a:r>
                        <a:rPr sz="850" b="0">
                          <a:solidFill>
                            <a:srgbClr val="4B4B4B"/>
                          </a:solidFill>
                          <a:latin typeface="Arial"/>
                        </a:rPr>
                        <a:t>Display</a:t>
                      </a:r>
                    </a:p>
                  </a:txBody>
                  <a:tcPr marL="54864" marR="54864" marT="27432" marB="27432">
                    <a:solidFill>
                      <a:srgbClr val="FFFFFF"/>
                    </a:solidFill>
                  </a:tcPr>
                </a:tc>
                <a:tc>
                  <a:txBody>
                    <a:bodyPr/>
                    <a:lstStyle/>
                    <a:p>
                      <a:r>
                        <a:rPr sz="850" b="0">
                          <a:solidFill>
                            <a:srgbClr val="4B4B4B"/>
                          </a:solidFill>
                          <a:latin typeface="Arial"/>
                        </a:rPr>
                        <a:t>Names of the users; insurer name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Collector Dispositions</a:t>
                      </a:r>
                    </a:p>
                  </a:txBody>
                  <a:tcPr marL="54864" marR="54864" marT="27432" marB="27432">
                    <a:solidFill>
                      <a:srgbClr val="E5F5FF"/>
                    </a:solidFill>
                  </a:tcPr>
                </a:tc>
                <a:tc>
                  <a:txBody>
                    <a:bodyPr/>
                    <a:lstStyle/>
                    <a:p>
                      <a:r>
                        <a:rPr sz="850" b="0">
                          <a:solidFill>
                            <a:srgbClr val="4B4B4B"/>
                          </a:solidFill>
                          <a:latin typeface="Arial"/>
                        </a:rPr>
                        <a:t>Recorded / Disposition / Cashiering / Invoice No. / Amount / By / Remarks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Whole balance when no amount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 collector disposition yet</a:t>
                      </a:r>
                    </a:p>
                  </a:txBody>
                  <a:tcPr marL="54864" marR="54864" marT="27432" marB="27432">
                    <a:solidFill>
                      <a:srgbClr val="E5F5FF"/>
                    </a:solidFill>
                  </a:tcPr>
                </a:tc>
              </a:tr>
              <a:tr h="609596">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Requests to Cashiering</a:t>
                      </a:r>
                    </a:p>
                  </a:txBody>
                  <a:tcPr marL="54864" marR="54864" marT="27432" marB="27432">
                    <a:solidFill>
                      <a:srgbClr val="FFFFFF"/>
                    </a:solidFill>
                  </a:tcPr>
                </a:tc>
                <a:tc>
                  <a:txBody>
                    <a:bodyPr/>
                    <a:lstStyle/>
                    <a:p>
                      <a:r>
                        <a:rPr sz="850" b="0">
                          <a:solidFill>
                            <a:srgbClr val="4B4B4B"/>
                          </a:solidFill>
                          <a:latin typeface="Arial"/>
                        </a:rPr>
                        <a:t>Unapplied Reference / Request / Amount / Requested By / Cashiering Reference / Application File / 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request sent to Cashiering</a:t>
                      </a:r>
                    </a:p>
                  </a:txBody>
                  <a:tcPr marL="54864" marR="54864" marT="27432" marB="27432">
                    <a:solidFill>
                      <a:srgbClr val="FFFFFF"/>
                    </a:solidFill>
                  </a:tcPr>
                </a:tc>
              </a:tr>
              <a:tr h="350518">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History</a:t>
                      </a:r>
                    </a:p>
                  </a:txBody>
                  <a:tcPr marL="54864" marR="54864" marT="27432" marB="27432">
                    <a:solidFill>
                      <a:srgbClr val="E5F5FF"/>
                    </a:solidFill>
                  </a:tcPr>
                </a:tc>
                <a:tc>
                  <a:txBody>
                    <a:bodyPr/>
                    <a:lstStyle/>
                    <a:p>
                      <a:r>
                        <a:rPr sz="850" b="0">
                          <a:solidFill>
                            <a:srgbClr val="4B4B4B"/>
                          </a:solidFill>
                          <a:latin typeface="Arial"/>
                        </a:rPr>
                        <a:t>When / Event / Description / Amount / By / Reference</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 history</a:t>
                      </a:r>
                    </a:p>
                  </a:txBody>
                  <a:tcPr marL="54864" marR="54864" marT="27432" marB="27432">
                    <a:solidFill>
                      <a:srgbClr val="E5F5FF"/>
                    </a:solidFill>
                  </a:tcPr>
                </a:tc>
              </a:tr>
            </a:tbl>
          </a:graphicData>
        </a:graphic>
      </p:graphicFrame>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SCR-CL-15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278</a:t>
            </a:r>
          </a:p>
        </p:txBody>
      </p:sp>
      <p:graphicFrame>
        <p:nvGraphicFramePr>
          <p:cNvPr id="9" name="Table 8"/>
          <p:cNvGraphicFramePr>
            <a:graphicFrameLocks noGrp="1"/>
          </p:cNvGraphicFramePr>
          <p:nvPr/>
        </p:nvGraphicFramePr>
        <p:xfrm>
          <a:off x="548640" y="1325880"/>
          <a:ext cx="11094412" cy="922015"/>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Record Disposition</a:t>
                      </a:r>
                    </a:p>
                  </a:txBody>
                  <a:tcPr marL="54864" marR="54864" marT="27432" marB="27432">
                    <a:solidFill>
                      <a:srgbClr val="FFFFFF"/>
                    </a:solidFill>
                  </a:tcPr>
                </a:tc>
                <a:tc>
                  <a:txBody>
                    <a:bodyPr/>
                    <a:lstStyle/>
                    <a:p>
                      <a:r>
                        <a:rPr sz="850" b="0">
                          <a:solidFill>
                            <a:srgbClr val="4B4B4B"/>
                          </a:solidFill>
                          <a:latin typeface="Arial"/>
                        </a:rPr>
                        <a:t>Users with the unapplied work permission</a:t>
                      </a:r>
                    </a:p>
                  </a:txBody>
                  <a:tcPr marL="54864" marR="54864" marT="27432" marB="27432">
                    <a:solidFill>
                      <a:srgbClr val="FFFFFF"/>
                    </a:solidFill>
                  </a:tcPr>
                </a:tc>
                <a:tc>
                  <a:txBody>
                    <a:bodyPr/>
                    <a:lstStyle/>
                    <a:p>
                      <a:r>
                        <a:rPr sz="850" b="0">
                          <a:solidFill>
                            <a:srgbClr val="4B4B4B"/>
                          </a:solidFill>
                          <a:latin typeface="Arial"/>
                        </a:rPr>
                        <a:t>Balance above zero</a:t>
                      </a:r>
                    </a:p>
                  </a:txBody>
                  <a:tcPr marL="54864" marR="54864" marT="27432" marB="27432">
                    <a:solidFill>
                      <a:srgbClr val="FFFFFF"/>
                    </a:solidFill>
                  </a:tcPr>
                </a:tc>
                <a:tc>
                  <a:txBody>
                    <a:bodyPr/>
                    <a:lstStyle/>
                    <a:p>
                      <a:r>
                        <a:rPr sz="850" b="0">
                          <a:solidFill>
                            <a:srgbClr val="4B4B4B"/>
                          </a:solidFill>
                          <a:latin typeface="Arial"/>
                        </a:rPr>
                        <a:t>Opens the disposition dialog</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Request Application</a:t>
                      </a:r>
                    </a:p>
                  </a:txBody>
                  <a:tcPr marL="54864" marR="54864" marT="27432" marB="27432">
                    <a:solidFill>
                      <a:srgbClr val="E5F5FF"/>
                    </a:solidFill>
                  </a:tcPr>
                </a:tc>
                <a:tc>
                  <a:txBody>
                    <a:bodyPr/>
                    <a:lstStyle/>
                    <a:p>
                      <a:r>
                        <a:rPr sz="850" b="0">
                          <a:solidFill>
                            <a:srgbClr val="4B4B4B"/>
                          </a:solidFill>
                          <a:latin typeface="Arial"/>
                        </a:rPr>
                        <a:t>Users with the unapplied work permission</a:t>
                      </a:r>
                    </a:p>
                  </a:txBody>
                  <a:tcPr marL="54864" marR="54864" marT="27432" marB="27432">
                    <a:solidFill>
                      <a:srgbClr val="E5F5FF"/>
                    </a:solidFill>
                  </a:tcPr>
                </a:tc>
                <a:tc>
                  <a:txBody>
                    <a:bodyPr/>
                    <a:lstStyle/>
                    <a:p>
                      <a:r>
                        <a:rPr sz="850" b="0">
                          <a:solidFill>
                            <a:srgbClr val="4B4B4B"/>
                          </a:solidFill>
                          <a:latin typeface="Arial"/>
                        </a:rPr>
                        <a:t>Balance above zero</a:t>
                      </a:r>
                    </a:p>
                  </a:txBody>
                  <a:tcPr marL="54864" marR="54864" marT="27432" marB="27432">
                    <a:solidFill>
                      <a:srgbClr val="E5F5FF"/>
                    </a:solidFill>
                  </a:tcPr>
                </a:tc>
                <a:tc>
                  <a:txBody>
                    <a:bodyPr/>
                    <a:lstStyle/>
                    <a:p>
                      <a:r>
                        <a:rPr sz="850" b="0">
                          <a:solidFill>
                            <a:srgbClr val="4B4B4B"/>
                          </a:solidFill>
                          <a:latin typeface="Arial"/>
                        </a:rPr>
                        <a:t>Opens the dialog with For Application to Invoice chosen</a:t>
                      </a:r>
                    </a:p>
                  </a:txBody>
                  <a:tcPr marL="54864" marR="54864" marT="27432" marB="27432">
                    <a:solidFill>
                      <a:srgbClr val="E5F5FF"/>
                    </a:solidFill>
                  </a:tcPr>
                </a:tc>
                <a:tc>
                  <a:txBody>
                    <a:bodyPr/>
                    <a:lstStyle/>
                    <a:p>
                      <a:r>
                        <a:rPr sz="850" b="0">
                          <a:solidFill>
                            <a:srgbClr val="4B4B4B"/>
                          </a:solidFill>
                          <a:latin typeface="Arial"/>
                        </a:rPr>
                        <a:t>Request Sent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SCR-CL-15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279</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payment is read from Cashiering as of today; the collector never changes the payment itself (FR-CL-070).</a:t>
                      </a:r>
                    </a:p>
                  </a:txBody>
                  <a:tcPr marL="54864" marR="54864" marT="27432" marB="27432">
                    <a:solidFill>
                      <a:srgbClr val="FFFFFF"/>
                    </a:solidFill>
                  </a:tcPr>
                </a:tc>
              </a:tr>
              <a:tr h="243840">
                <a:tc>
                  <a:txBody>
                    <a:bodyPr/>
                    <a:lstStyle/>
                    <a:p>
                      <a:r>
                        <a:rPr sz="1000" b="0">
                          <a:solidFill>
                            <a:srgbClr val="4B4B4B"/>
                          </a:solidFill>
                          <a:latin typeface="Arial"/>
                        </a:rPr>
                        <a:t>The history keeps every disposition and request after the payment is applied or refunded (FR-CL-076).</a:t>
                      </a:r>
                    </a:p>
                  </a:txBody>
                  <a:tcPr marL="54864" marR="54864" marT="27432" marB="27432">
                    <a:solidFill>
                      <a:srgbClr val="E5F5FF"/>
                    </a:solidFill>
                  </a:tcPr>
                </a:tc>
              </a:tr>
            </a:tbl>
          </a:graphicData>
        </a:graphic>
      </p:graphicFrame>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SCR-CL-15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280</a:t>
            </a:r>
          </a:p>
        </p:txBody>
      </p:sp>
      <p:graphicFrame>
        <p:nvGraphicFramePr>
          <p:cNvPr id="9" name="Table 8"/>
          <p:cNvGraphicFramePr>
            <a:graphicFrameLocks noGrp="1"/>
          </p:cNvGraphicFramePr>
          <p:nvPr/>
        </p:nvGraphicFramePr>
        <p:xfrm>
          <a:off x="548640" y="1325880"/>
          <a:ext cx="11094413" cy="45720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Read-only or locked</a:t>
                      </a:r>
                    </a:p>
                  </a:txBody>
                  <a:tcPr marL="54864" marR="54864" marT="27432" marB="27432">
                    <a:solidFill>
                      <a:srgbClr val="FFFFFF"/>
                    </a:solidFill>
                  </a:tcPr>
                </a:tc>
                <a:tc>
                  <a:txBody>
                    <a:bodyPr/>
                    <a:lstStyle/>
                    <a:p>
                      <a:r>
                        <a:rPr sz="900" b="0">
                          <a:solidFill>
                            <a:srgbClr val="4B4B4B"/>
                          </a:solidFill>
                          <a:latin typeface="Arial"/>
                        </a:rPr>
                        <a:t>WT-C step 5</a:t>
                      </a:r>
                    </a:p>
                  </a:txBody>
                  <a:tcPr marL="54864" marR="54864" marT="27432" marB="27432">
                    <a:solidFill>
                      <a:srgbClr val="FFFFFF"/>
                    </a:solidFill>
                  </a:tcPr>
                </a:tc>
                <a:tc>
                  <a:txBody>
                    <a:bodyPr/>
                    <a:lstStyle/>
                    <a:p>
                      <a:r>
                        <a:rPr sz="900" b="0">
                          <a:solidFill>
                            <a:srgbClr val="4B4B4B"/>
                          </a:solidFill>
                          <a:latin typeface="Arial"/>
                        </a:rPr>
                        <a:t>Opens the unapplied payment, History tab</a:t>
                      </a:r>
                    </a:p>
                  </a:txBody>
                  <a:tcPr marL="54864" marR="54864" marT="27432" marB="27432">
                    <a:solidFill>
                      <a:srgbClr val="FFFFFF"/>
                    </a:solidFill>
                  </a:tcPr>
                </a:tc>
                <a:tc>
                  <a:txBody>
                    <a:bodyPr/>
                    <a:lstStyle/>
                    <a:p>
                      <a:r>
                        <a:rPr sz="900" b="0">
                          <a:solidFill>
                            <a:srgbClr val="4B4B4B"/>
                          </a:solidFill>
                          <a:latin typeface="Arial"/>
                        </a:rPr>
                        <a:t>SCR-CL-15_wt-c-step-05.png</a:t>
                      </a:r>
                    </a:p>
                  </a:txBody>
                  <a:tcPr marL="54864" marR="54864" marT="27432" marB="27432">
                    <a:solidFill>
                      <a:srgbClr val="FFFFFF"/>
                    </a:solidFill>
                  </a:tcPr>
                </a:tc>
              </a:tr>
            </a:tbl>
          </a:graphicData>
        </a:graphic>
      </p:graphicFrame>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SCR-CL-15 Unapplied Payment: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60.png"/>
          <p:cNvPicPr>
            <a:picLocks noChangeAspect="1"/>
          </p:cNvPicPr>
          <p:nvPr/>
        </p:nvPicPr>
        <p:blipFill>
          <a:blip r:embed="rId3"/>
          <a:stretch>
            <a:fillRect/>
          </a:stretch>
        </p:blipFill>
        <p:spPr>
          <a:xfrm>
            <a:off x="548640" y="1261872"/>
            <a:ext cx="11094415" cy="451427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Unapplied payment: the payment and the matched account (part 1 of 2)</a:t>
            </a:r>
          </a:p>
        </p:txBody>
      </p:sp>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SCR-CL-15 Unapplied Payment: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61.png"/>
          <p:cNvPicPr>
            <a:picLocks noChangeAspect="1"/>
          </p:cNvPicPr>
          <p:nvPr/>
        </p:nvPicPr>
        <p:blipFill>
          <a:blip r:embed="rId3"/>
          <a:stretch>
            <a:fillRect/>
          </a:stretch>
        </p:blipFill>
        <p:spPr>
          <a:xfrm>
            <a:off x="548640" y="1261872"/>
            <a:ext cx="11094415" cy="316573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Unapplied payment: the payment and the matched account (part 2 of 2)</a:t>
            </a:r>
          </a:p>
        </p:txBody>
      </p:sp>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SCR-CL-15 Unapplied Payment: Read-only or locked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283</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62.png"/>
          <p:cNvPicPr>
            <a:picLocks noChangeAspect="1"/>
          </p:cNvPicPr>
          <p:nvPr/>
        </p:nvPicPr>
        <p:blipFill>
          <a:blip r:embed="rId3"/>
          <a:stretch>
            <a:fillRect/>
          </a:stretch>
        </p:blipFill>
        <p:spPr>
          <a:xfrm>
            <a:off x="548640" y="1261872"/>
            <a:ext cx="11094415" cy="438994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History of an unapplied payment with the dispositions and the request to Cashiering (part 1 of 2)</a:t>
            </a:r>
          </a:p>
        </p:txBody>
      </p:sp>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SCR-CL-15 Unapplied Payment: Read-only or locked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284</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63.png"/>
          <p:cNvPicPr>
            <a:picLocks noChangeAspect="1"/>
          </p:cNvPicPr>
          <p:nvPr/>
        </p:nvPicPr>
        <p:blipFill>
          <a:blip r:embed="rId3"/>
          <a:stretch>
            <a:fillRect/>
          </a:stretch>
        </p:blipFill>
        <p:spPr>
          <a:xfrm>
            <a:off x="548640" y="1261872"/>
            <a:ext cx="11094415" cy="394999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History of an unapplied payment with the dispositions and the request to Cashiering (part 2 of 2)</a:t>
            </a:r>
          </a:p>
        </p:txBody>
      </p:sp>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SCR-CL-16 Requests to Cashiering</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285</a:t>
            </a:r>
          </a:p>
        </p:txBody>
      </p:sp>
      <p:graphicFrame>
        <p:nvGraphicFramePr>
          <p:cNvPr id="9" name="Table 8"/>
          <p:cNvGraphicFramePr>
            <a:graphicFrameLocks noGrp="1"/>
          </p:cNvGraphicFramePr>
          <p:nvPr/>
        </p:nvGraphicFramePr>
        <p:xfrm>
          <a:off x="548640" y="1307592"/>
          <a:ext cx="6434760" cy="310134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Unapplied payments</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status of every request sent to Cashiering on a collector disposition: sent, handed over, accepted, executed or rejected, with the Cashiering reference and message and the daily application file that listed it; Check Status asks Cashiering again for the selected open requests.</a:t>
                      </a:r>
                    </a:p>
                  </a:txBody>
                  <a:tcPr marL="54864" marR="54864" marT="27432" marB="27432">
                    <a:solidFill>
                      <a:srgbClr val="FFFFFF"/>
                    </a:solidFill>
                  </a:tcPr>
                </a:tc>
              </a:tr>
              <a:tr h="81534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Team Lead, Marketing Handler, Collection Handler, Collection Team Lead, Section Head (Corporate / Retail), Unapplied Payment Handler, Processing Unit, Cashier (read access and exports), Disbursement (read access and exports), Comptrollership (read access), Business Administrator, System Administrator, Auditor</a:t>
                      </a:r>
                    </a:p>
                  </a:txBody>
                  <a:tcPr marL="54864" marR="54864" marT="27432" marB="27432">
                    <a:solidFill>
                      <a:srgbClr val="FFFFFF"/>
                    </a:solidFill>
                  </a:tcPr>
                </a:tc>
              </a:tr>
              <a:tr h="67056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Collections › Requests to Cashiering</a:t>
                      </a:r>
                    </a:p>
                    <a:p>
                      <a:r>
                        <a:rPr sz="950" b="0">
                          <a:solidFill>
                            <a:srgbClr val="4B4B4B"/>
                          </a:solidFill>
                          <a:latin typeface="Arial"/>
                        </a:rPr>
                        <a:t>Finance › Collections › Requests to Cashiering</a:t>
                      </a:r>
                    </a:p>
                    <a:p>
                      <a:r>
                        <a:rPr sz="950" b="0">
                          <a:solidFill>
                            <a:srgbClr val="4B4B4B"/>
                          </a:solidFill>
                          <a:latin typeface="Arial"/>
                        </a:rPr>
                        <a:t>Unapplied Payments › Requests to Cashiering</a:t>
                      </a:r>
                    </a:p>
                    <a:p>
                      <a:r>
                        <a:rPr sz="950" b="0">
                          <a:solidFill>
                            <a:srgbClr val="4B4B4B"/>
                          </a:solidFill>
                          <a:latin typeface="Arial"/>
                        </a:rPr>
                        <a:t>Collections Home › My Requests in Cashiering tile</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13.4.3</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FR-CL-074, FR-CL-077</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collector follows each request to its execution.</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(3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SCR-CL-16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286</a:t>
            </a:r>
          </a:p>
        </p:txBody>
      </p:sp>
      <p:graphicFrame>
        <p:nvGraphicFramePr>
          <p:cNvPr id="9" name="Table 8"/>
          <p:cNvGraphicFramePr>
            <a:graphicFrameLocks noGrp="1"/>
          </p:cNvGraphicFramePr>
          <p:nvPr/>
        </p:nvGraphicFramePr>
        <p:xfrm>
          <a:off x="548640" y="1325880"/>
          <a:ext cx="11094411" cy="2011668"/>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Open / Executed / Rejected / All Requests</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Toolbar</a:t>
                      </a:r>
                    </a:p>
                  </a:txBody>
                  <a:tcPr marL="54864" marR="54864" marT="27432" marB="27432">
                    <a:solidFill>
                      <a:srgbClr val="E5F5FF"/>
                    </a:solidFill>
                  </a:tcPr>
                </a:tc>
                <a:tc>
                  <a:txBody>
                    <a:bodyPr/>
                    <a:lstStyle/>
                    <a:p>
                      <a:r>
                        <a:rPr sz="850" b="0">
                          <a:solidFill>
                            <a:srgbClr val="4B4B4B"/>
                          </a:solidFill>
                          <a:latin typeface="Arial"/>
                        </a:rPr>
                        <a:t>Search Unapplied Reference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Contains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609596">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Unapplied Reference / Request / Amount / Requested By</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Reference with the payor; Apply to Invoice, Refund, Reclass or Transfer to Unit with the invoice; amount or Whole Balance; name and time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requests to display</a:t>
                      </a:r>
                    </a:p>
                  </a:txBody>
                  <a:tcPr marL="54864" marR="54864" marT="27432" marB="27432">
                    <a:solidFill>
                      <a:srgbClr val="FFFFFF"/>
                    </a:solidFill>
                  </a:tcPr>
                </a:tc>
              </a:tr>
              <a:tr h="609596">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Cashiering Reference / Application File / 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Reference and message of Cashiering; the date of the daily file; Sent, Deferred, Accepted, Applied or Rejected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SCR-CL-16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287</a:t>
            </a:r>
          </a:p>
        </p:txBody>
      </p:sp>
      <p:graphicFrame>
        <p:nvGraphicFramePr>
          <p:cNvPr id="9" name="Table 8"/>
          <p:cNvGraphicFramePr>
            <a:graphicFrameLocks noGrp="1"/>
          </p:cNvGraphicFramePr>
          <p:nvPr/>
        </p:nvGraphicFramePr>
        <p:xfrm>
          <a:off x="548640" y="1325880"/>
          <a:ext cx="11094412" cy="792476"/>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Check Status</a:t>
                      </a:r>
                    </a:p>
                  </a:txBody>
                  <a:tcPr marL="54864" marR="54864" marT="27432" marB="27432">
                    <a:solidFill>
                      <a:srgbClr val="FFFFFF"/>
                    </a:solidFill>
                  </a:tcPr>
                </a:tc>
                <a:tc>
                  <a:txBody>
                    <a:bodyPr/>
                    <a:lstStyle/>
                    <a:p>
                      <a:r>
                        <a:rPr sz="850" b="0">
                          <a:solidFill>
                            <a:srgbClr val="4B4B4B"/>
                          </a:solidFill>
                          <a:latin typeface="Arial"/>
                        </a:rPr>
                        <a:t>Users with the unapplied work permission</a:t>
                      </a:r>
                    </a:p>
                  </a:txBody>
                  <a:tcPr marL="54864" marR="54864" marT="27432" marB="27432">
                    <a:solidFill>
                      <a:srgbClr val="FFFFFF"/>
                    </a:solidFill>
                  </a:tcPr>
                </a:tc>
                <a:tc>
                  <a:txBody>
                    <a:bodyPr/>
                    <a:lstStyle/>
                    <a:p>
                      <a:r>
                        <a:rPr sz="850" b="0">
                          <a:solidFill>
                            <a:srgbClr val="4B4B4B"/>
                          </a:solidFill>
                          <a:latin typeface="Arial"/>
                        </a:rPr>
                        <a:t>Open requests selected</a:t>
                      </a:r>
                    </a:p>
                  </a:txBody>
                  <a:tcPr marL="54864" marR="54864" marT="27432" marB="27432">
                    <a:solidFill>
                      <a:srgbClr val="FFFFFF"/>
                    </a:solidFill>
                  </a:tcPr>
                </a:tc>
                <a:tc>
                  <a:txBody>
                    <a:bodyPr/>
                    <a:lstStyle/>
                    <a:p>
                      <a:r>
                        <a:rPr sz="850" b="0">
                          <a:solidFill>
                            <a:srgbClr val="4B4B4B"/>
                          </a:solidFill>
                          <a:latin typeface="Arial"/>
                        </a:rPr>
                        <a:t>Asks Cashiering for the status of each selected request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Row</a:t>
                      </a:r>
                    </a:p>
                  </a:txBody>
                  <a:tcPr marL="54864" marR="54864" marT="27432" marB="27432">
                    <a:solidFill>
                      <a:srgbClr val="E5F5FF"/>
                    </a:solidFill>
                  </a:tcPr>
                </a:tc>
                <a:tc>
                  <a:txBody>
                    <a:bodyPr/>
                    <a:lstStyle/>
                    <a:p>
                      <a:r>
                        <a:rPr sz="850" b="0">
                          <a:solidFill>
                            <a:srgbClr val="4B4B4B"/>
                          </a:solidFill>
                          <a:latin typeface="Arial"/>
                        </a:rPr>
                        <a:t>Every Collections user</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the unapplied payment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SCR-CL-16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288</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requester is notified when Cashiering accepts, rejects or executes a request (FR-CL-074).</a:t>
                      </a:r>
                    </a:p>
                  </a:txBody>
                  <a:tcPr marL="54864" marR="54864" marT="27432" marB="27432">
                    <a:solidFill>
                      <a:srgbClr val="FFFFFF"/>
                    </a:solidFill>
                  </a:tcPr>
                </a:tc>
              </a:tr>
              <a:tr h="243840">
                <a:tc>
                  <a:txBody>
                    <a:bodyPr/>
                    <a:lstStyle/>
                    <a:p>
                      <a:r>
                        <a:rPr sz="1000" b="0">
                          <a:solidFill>
                            <a:srgbClr val="4B4B4B"/>
                          </a:solidFill>
                          <a:latin typeface="Arial"/>
                        </a:rPr>
                        <a:t>The daily For Application To Invoice file of the previous day lists the application requests before 06:00 (FR-CL-077).</a:t>
                      </a:r>
                    </a:p>
                  </a:txBody>
                  <a:tcPr marL="54864" marR="54864" marT="27432" marB="27432">
                    <a:solidFill>
                      <a:srgbClr val="E5F5FF"/>
                    </a:solidFill>
                  </a:tcPr>
                </a:tc>
              </a:tr>
            </a:tbl>
          </a:graphicData>
        </a:graphic>
      </p:graphicFrame>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SCR-CL-16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289</a:t>
            </a:r>
          </a:p>
        </p:txBody>
      </p:sp>
      <p:graphicFrame>
        <p:nvGraphicFramePr>
          <p:cNvPr id="9" name="Table 8"/>
          <p:cNvGraphicFramePr>
            <a:graphicFrameLocks noGrp="1"/>
          </p:cNvGraphicFramePr>
          <p:nvPr/>
        </p:nvGraphicFramePr>
        <p:xfrm>
          <a:off x="548640" y="1325880"/>
          <a:ext cx="11094413" cy="68580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WT-C step 4</a:t>
                      </a:r>
                    </a:p>
                  </a:txBody>
                  <a:tcPr marL="54864" marR="54864" marT="27432" marB="27432">
                    <a:solidFill>
                      <a:srgbClr val="FFFFFF"/>
                    </a:solidFill>
                  </a:tcPr>
                </a:tc>
                <a:tc>
                  <a:txBody>
                    <a:bodyPr/>
                    <a:lstStyle/>
                    <a:p>
                      <a:r>
                        <a:rPr sz="900" b="0">
                          <a:solidFill>
                            <a:srgbClr val="4B4B4B"/>
                          </a:solidFill>
                          <a:latin typeface="Arial"/>
                        </a:rPr>
                        <a:t>Opens the Executed tab of Requests to Cashiering</a:t>
                      </a:r>
                    </a:p>
                  </a:txBody>
                  <a:tcPr marL="54864" marR="54864" marT="27432" marB="27432">
                    <a:solidFill>
                      <a:srgbClr val="FFFFFF"/>
                    </a:solidFill>
                  </a:tcPr>
                </a:tc>
                <a:tc>
                  <a:txBody>
                    <a:bodyPr/>
                    <a:lstStyle/>
                    <a:p>
                      <a:r>
                        <a:rPr sz="900" b="0">
                          <a:solidFill>
                            <a:srgbClr val="4B4B4B"/>
                          </a:solidFill>
                          <a:latin typeface="Arial"/>
                        </a:rPr>
                        <a:t>SCR-CL-16_wt-c-step-04.png</a:t>
                      </a:r>
                    </a:p>
                  </a:txBody>
                  <a:tcPr marL="54864" marR="54864" marT="27432" marB="27432">
                    <a:solidFill>
                      <a:srgbClr val="FFFFFF"/>
                    </a:solidFill>
                  </a:tcPr>
                </a:tc>
              </a:tr>
              <a:tr h="228600">
                <a:tc>
                  <a:txBody>
                    <a:bodyPr/>
                    <a:lstStyle/>
                    <a:p>
                      <a:r>
                        <a:rPr sz="900" b="0">
                          <a:solidFill>
                            <a:srgbClr val="4B4B4B"/>
                          </a:solidFill>
                          <a:latin typeface="Arial"/>
                        </a:rPr>
                        <a:t>Pending approval</a:t>
                      </a:r>
                    </a:p>
                  </a:txBody>
                  <a:tcPr marL="54864" marR="54864" marT="27432" marB="27432">
                    <a:solidFill>
                      <a:srgbClr val="E5F5FF"/>
                    </a:solidFill>
                  </a:tcPr>
                </a:tc>
                <a:tc>
                  <a:txBody>
                    <a:bodyPr/>
                    <a:lstStyle/>
                    <a:p>
                      <a:r>
                        <a:rPr sz="900" b="0">
                          <a:solidFill>
                            <a:srgbClr val="4B4B4B"/>
                          </a:solidFill>
                          <a:latin typeface="Arial"/>
                        </a:rPr>
                        <a:t>WT-C step 2</a:t>
                      </a:r>
                    </a:p>
                  </a:txBody>
                  <a:tcPr marL="54864" marR="54864" marT="27432" marB="27432">
                    <a:solidFill>
                      <a:srgbClr val="E5F5FF"/>
                    </a:solidFill>
                  </a:tcPr>
                </a:tc>
                <a:tc>
                  <a:txBody>
                    <a:bodyPr/>
                    <a:lstStyle/>
                    <a:p>
                      <a:r>
                        <a:rPr sz="900" b="0">
                          <a:solidFill>
                            <a:srgbClr val="4B4B4B"/>
                          </a:solidFill>
                          <a:latin typeface="Arial"/>
                        </a:rPr>
                        <a:t>Opens Requests to Cashiering</a:t>
                      </a:r>
                    </a:p>
                  </a:txBody>
                  <a:tcPr marL="54864" marR="54864" marT="27432" marB="27432">
                    <a:solidFill>
                      <a:srgbClr val="E5F5FF"/>
                    </a:solidFill>
                  </a:tcPr>
                </a:tc>
                <a:tc>
                  <a:txBody>
                    <a:bodyPr/>
                    <a:lstStyle/>
                    <a:p>
                      <a:r>
                        <a:rPr sz="900" b="0">
                          <a:solidFill>
                            <a:srgbClr val="4B4B4B"/>
                          </a:solidFill>
                          <a:latin typeface="Arial"/>
                        </a:rPr>
                        <a:t>SCR-CL-16_wt-c-step-02.png</a:t>
                      </a:r>
                    </a:p>
                  </a:txBody>
                  <a:tcPr marL="54864" marR="54864" marT="27432" marB="27432">
                    <a:solidFill>
                      <a:srgbClr val="E5F5FF"/>
                    </a:solidFill>
                  </a:tcPr>
                </a:tc>
              </a:tr>
            </a:tbl>
          </a:graphicData>
        </a:graphic>
      </p:graphicFrame>
    </p:spTree>
  </p:cSld>
  <p:clrMapOvr>
    <a:masterClrMapping/>
  </p:clrMapOvr>
</p:sld>
</file>

<file path=ppt/slides/slide2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SCR-CL-16 Requests to Cashiering: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cl-16-01-list.png"/>
          <p:cNvPicPr>
            <a:picLocks noChangeAspect="1"/>
          </p:cNvPicPr>
          <p:nvPr/>
        </p:nvPicPr>
        <p:blipFill>
          <a:blip r:embed="rId3"/>
          <a:stretch>
            <a:fillRect/>
          </a:stretch>
        </p:blipFill>
        <p:spPr>
          <a:xfrm>
            <a:off x="548640" y="1261872"/>
            <a:ext cx="11094415" cy="443408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Requests to Cashiering: the open requests with the Cashiering reference</a:t>
            </a:r>
          </a:p>
        </p:txBody>
      </p:sp>
    </p:spTree>
  </p:cSld>
  <p:clrMapOvr>
    <a:masterClrMapping/>
  </p:clrMapOvr>
</p:sld>
</file>

<file path=ppt/slides/slide2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SCR-CL-17 Assignments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291</a:t>
            </a:r>
          </a:p>
        </p:txBody>
      </p:sp>
      <p:graphicFrame>
        <p:nvGraphicFramePr>
          <p:cNvPr id="9" name="Table 8"/>
          <p:cNvGraphicFramePr>
            <a:graphicFrameLocks noGrp="1"/>
          </p:cNvGraphicFramePr>
          <p:nvPr/>
        </p:nvGraphicFramePr>
        <p:xfrm>
          <a:off x="548640" y="1307592"/>
          <a:ext cx="6434760" cy="20878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Assignment, files and set-up</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Who handles new accounts by default: the assignment rules tried in priority order by the nightly refresh, each with its criteria and handler; and the reassignment of accounts by criteria after a preview, permanently or temporarily until an end date.</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Team Lead, Collection Team Lead, Section Head (Corporate / Retail)</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Collections › Assignments</a:t>
                      </a:r>
                    </a:p>
                    <a:p>
                      <a:r>
                        <a:rPr sz="950" b="0">
                          <a:solidFill>
                            <a:srgbClr val="4B4B4B"/>
                          </a:solidFill>
                          <a:latin typeface="Arial"/>
                        </a:rPr>
                        <a:t>Finance › Collections › Assignments</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13.5.1</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FR-CL-020, FR-CL-021</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workload is spread over the handlers as the team lead decides.</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(3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2 images</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SCR-CL-17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292</a:t>
            </a:r>
          </a:p>
        </p:txBody>
      </p:sp>
      <p:graphicFrame>
        <p:nvGraphicFramePr>
          <p:cNvPr id="9" name="Table 8"/>
          <p:cNvGraphicFramePr>
            <a:graphicFrameLocks noGrp="1"/>
          </p:cNvGraphicFramePr>
          <p:nvPr/>
        </p:nvGraphicFramePr>
        <p:xfrm>
          <a:off x="548640" y="1325880"/>
          <a:ext cx="11094411" cy="3063222"/>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Default Assignment Rules</a:t>
                      </a:r>
                    </a:p>
                  </a:txBody>
                  <a:tcPr marL="54864" marR="54864" marT="27432" marB="27432">
                    <a:solidFill>
                      <a:srgbClr val="FFFFFF"/>
                    </a:solidFill>
                  </a:tcPr>
                </a:tc>
                <a:tc>
                  <a:txBody>
                    <a:bodyPr/>
                    <a:lstStyle/>
                    <a:p>
                      <a:r>
                        <a:rPr sz="850" b="0">
                          <a:solidFill>
                            <a:srgbClr val="4B4B4B"/>
                          </a:solidFill>
                          <a:latin typeface="Arial"/>
                        </a:rPr>
                        <a:t>Priority / Rule / Criteria / Handler / 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Lower numbers are tried first; criteria in words; handler's name; Active or Inactive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assignment rule: new accounts go to their account officer</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Reassign by Criteria</a:t>
                      </a:r>
                    </a:p>
                  </a:txBody>
                  <a:tcPr marL="54864" marR="54864" marT="27432" marB="27432">
                    <a:solidFill>
                      <a:srgbClr val="E5F5FF"/>
                    </a:solidFill>
                  </a:tcPr>
                </a:tc>
                <a:tc>
                  <a:txBody>
                    <a:bodyPr/>
                    <a:lstStyle/>
                    <a:p>
                      <a:r>
                        <a:rPr sz="850" b="0">
                          <a:solidFill>
                            <a:srgbClr val="4B4B4B"/>
                          </a:solidFill>
                          <a:latin typeface="Arial"/>
                        </a:rPr>
                        <a:t>Current Handler</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Handlers by name, or any handler</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Reassign by Criteria</a:t>
                      </a:r>
                    </a:p>
                  </a:txBody>
                  <a:tcPr marL="54864" marR="54864" marT="27432" marB="27432">
                    <a:solidFill>
                      <a:srgbClr val="FFFFFF"/>
                    </a:solidFill>
                  </a:tcPr>
                </a:tc>
                <a:tc>
                  <a:txBody>
                    <a:bodyPr/>
                    <a:lstStyle/>
                    <a:p>
                      <a:r>
                        <a:rPr sz="850" b="0">
                          <a:solidFill>
                            <a:srgbClr val="4B4B4B"/>
                          </a:solidFill>
                          <a:latin typeface="Arial"/>
                        </a:rPr>
                        <a:t>Market Segment / Sales Unit / Client Code</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Code</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Equal</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Reassign by Criteria</a:t>
                      </a:r>
                    </a:p>
                  </a:txBody>
                  <a:tcPr marL="54864" marR="54864" marT="27432" marB="27432">
                    <a:solidFill>
                      <a:srgbClr val="E5F5FF"/>
                    </a:solidFill>
                  </a:tcPr>
                </a:tc>
                <a:tc>
                  <a:txBody>
                    <a:bodyPr/>
                    <a:lstStyle/>
                    <a:p>
                      <a:r>
                        <a:rPr sz="850" b="0">
                          <a:solidFill>
                            <a:srgbClr val="4B4B4B"/>
                          </a:solidFill>
                          <a:latin typeface="Arial"/>
                        </a:rPr>
                        <a:t>Outstanding From / Outstanding To / Aging From (days) / Aging To (days)</a:t>
                      </a:r>
                    </a:p>
                  </a:txBody>
                  <a:tcPr marL="54864" marR="54864" marT="27432" marB="27432">
                    <a:solidFill>
                      <a:srgbClr val="E5F5FF"/>
                    </a:solidFill>
                  </a:tcPr>
                </a:tc>
                <a:tc>
                  <a:txBody>
                    <a:bodyPr/>
                    <a:lstStyle/>
                    <a:p>
                      <a:r>
                        <a:rPr sz="850" b="0">
                          <a:solidFill>
                            <a:srgbClr val="4B4B4B"/>
                          </a:solidFill>
                          <a:latin typeface="Arial"/>
                        </a:rPr>
                        <a:t>Number</a:t>
                      </a:r>
                    </a:p>
                  </a:txBody>
                  <a:tcPr marL="54864" marR="54864" marT="27432" marB="27432">
                    <a:solidFill>
                      <a:srgbClr val="E5F5FF"/>
                    </a:solidFill>
                  </a:tcPr>
                </a:tc>
                <a:tc>
                  <a:txBody>
                    <a:bodyPr/>
                    <a:lstStyle/>
                    <a:p>
                      <a:r>
                        <a:rPr sz="850" b="0">
                          <a:solidFill>
                            <a:srgbClr val="4B4B4B"/>
                          </a:solidFill>
                          <a:latin typeface="Arial"/>
                        </a:rPr>
                        <a:t>Amounts; days</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 range starts before it ends</a:t>
                      </a:r>
                    </a:p>
                  </a:txBody>
                  <a:tcPr marL="54864" marR="54864" marT="27432" marB="27432">
                    <a:solidFill>
                      <a:srgbClr val="E5F5FF"/>
                    </a:solidFill>
                  </a:tcPr>
                </a:tc>
                <a:tc>
                  <a:txBody>
                    <a:bodyPr/>
                    <a:lstStyle/>
                    <a:p>
                      <a:r>
                        <a:rPr sz="850" b="0">
                          <a:solidFill>
                            <a:srgbClr val="4B4B4B"/>
                          </a:solidFill>
                          <a:latin typeface="Arial"/>
                        </a:rPr>
                        <a:t>A range must start before it ends</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Reassign by Criteria</a:t>
                      </a:r>
                    </a:p>
                  </a:txBody>
                  <a:tcPr marL="54864" marR="54864" marT="27432" marB="27432">
                    <a:solidFill>
                      <a:srgbClr val="FFFFFF"/>
                    </a:solidFill>
                  </a:tcPr>
                </a:tc>
                <a:tc>
                  <a:txBody>
                    <a:bodyPr/>
                    <a:lstStyle/>
                    <a:p>
                      <a:r>
                        <a:rPr sz="850" b="0">
                          <a:solidFill>
                            <a:srgbClr val="4B4B4B"/>
                          </a:solidFill>
                          <a:latin typeface="Arial"/>
                        </a:rPr>
                        <a:t>Invoice No. / Assured / Handler / Outstanding</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The first 20 accounts found, with the total</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account matches the selection</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New Assignment Rule dialog</a:t>
                      </a:r>
                    </a:p>
                  </a:txBody>
                  <a:tcPr marL="54864" marR="54864" marT="27432" marB="27432">
                    <a:solidFill>
                      <a:srgbClr val="E5F5FF"/>
                    </a:solidFill>
                  </a:tcPr>
                </a:tc>
                <a:tc>
                  <a:txBody>
                    <a:bodyPr/>
                    <a:lstStyle/>
                    <a:p>
                      <a:r>
                        <a:rPr sz="850" b="0">
                          <a:solidFill>
                            <a:srgbClr val="4B4B4B"/>
                          </a:solidFill>
                          <a:latin typeface="Arial"/>
                        </a:rPr>
                        <a:t>Priority / Name / Handler</a:t>
                      </a:r>
                    </a:p>
                  </a:txBody>
                  <a:tcPr marL="54864" marR="54864" marT="27432" marB="27432">
                    <a:solidFill>
                      <a:srgbClr val="E5F5FF"/>
                    </a:solidFill>
                  </a:tcPr>
                </a:tc>
                <a:tc>
                  <a:txBody>
                    <a:bodyPr/>
                    <a:lstStyle/>
                    <a:p>
                      <a:r>
                        <a:rPr sz="850" b="0">
                          <a:solidFill>
                            <a:srgbClr val="4B4B4B"/>
                          </a:solidFill>
                          <a:latin typeface="Arial"/>
                        </a:rPr>
                        <a:t>Number, text, drop-down</a:t>
                      </a:r>
                    </a:p>
                  </a:txBody>
                  <a:tcPr marL="54864" marR="54864" marT="27432" marB="27432">
                    <a:solidFill>
                      <a:srgbClr val="E5F5FF"/>
                    </a:solidFill>
                  </a:tcPr>
                </a:tc>
                <a:tc>
                  <a:txBody>
                    <a:bodyPr/>
                    <a:lstStyle/>
                    <a:p>
                      <a:r>
                        <a:rPr sz="850" b="0">
                          <a:solidFill>
                            <a:srgbClr val="4B4B4B"/>
                          </a:solidFill>
                          <a:latin typeface="Arial"/>
                        </a:rPr>
                        <a:t>Lower numbers are tried first; up to 120 characters; handlers by name</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Name not blank; a handler chosen</a:t>
                      </a:r>
                    </a:p>
                  </a:txBody>
                  <a:tcPr marL="54864" marR="54864" marT="27432" marB="27432">
                    <a:solidFill>
                      <a:srgbClr val="E5F5FF"/>
                    </a:solidFill>
                  </a:tcPr>
                </a:tc>
                <a:tc>
                  <a:txBody>
                    <a:bodyPr/>
                    <a:lstStyle/>
                    <a:p>
                      <a:r>
                        <a:rPr sz="850" b="0">
                          <a:solidFill>
                            <a:srgbClr val="4B4B4B"/>
                          </a:solidFill>
                          <a:latin typeface="Arial"/>
                        </a:rPr>
                        <a:t>Give the rule a name</a:t>
                      </a:r>
                    </a:p>
                  </a:txBody>
                  <a:tcPr marL="54864" marR="54864" marT="27432" marB="27432">
                    <a:solidFill>
                      <a:srgbClr val="E5F5FF"/>
                    </a:solidFill>
                  </a:tcPr>
                </a:tc>
              </a:tr>
              <a:tr h="609596">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New Assignment Rule dialog</a:t>
                      </a:r>
                    </a:p>
                  </a:txBody>
                  <a:tcPr marL="54864" marR="54864" marT="27432" marB="27432">
                    <a:solidFill>
                      <a:srgbClr val="FFFFFF"/>
                    </a:solidFill>
                  </a:tcPr>
                </a:tc>
                <a:tc>
                  <a:txBody>
                    <a:bodyPr/>
                    <a:lstStyle/>
                    <a:p>
                      <a:r>
                        <a:rPr sz="850" b="0">
                          <a:solidFill>
                            <a:srgbClr val="4B4B4B"/>
                          </a:solidFill>
                          <a:latin typeface="Arial"/>
                        </a:rPr>
                        <a:t>Market Segment / Sales Unit / Client Code / Outstanding From / Outstanding To / Aging From (days) / Aging To (days)</a:t>
                      </a:r>
                    </a:p>
                  </a:txBody>
                  <a:tcPr marL="54864" marR="54864" marT="27432" marB="27432">
                    <a:solidFill>
                      <a:srgbClr val="FFFFFF"/>
                    </a:solidFill>
                  </a:tcPr>
                </a:tc>
                <a:tc>
                  <a:txBody>
                    <a:bodyPr/>
                    <a:lstStyle/>
                    <a:p>
                      <a:r>
                        <a:rPr sz="850" b="0">
                          <a:solidFill>
                            <a:srgbClr val="4B4B4B"/>
                          </a:solidFill>
                          <a:latin typeface="Arial"/>
                        </a:rPr>
                        <a:t>Text, number</a:t>
                      </a:r>
                    </a:p>
                  </a:txBody>
                  <a:tcPr marL="54864" marR="54864" marT="27432" marB="27432">
                    <a:solidFill>
                      <a:srgbClr val="FFFFFF"/>
                    </a:solidFill>
                  </a:tcPr>
                </a:tc>
                <a:tc>
                  <a:txBody>
                    <a:bodyPr/>
                    <a:lstStyle/>
                    <a:p>
                      <a:r>
                        <a:rPr sz="850" b="0">
                          <a:solidFill>
                            <a:srgbClr val="4B4B4B"/>
                          </a:solidFill>
                          <a:latin typeface="Arial"/>
                        </a:rPr>
                        <a:t>Empty criteria match every account</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 range starts before it ends</a:t>
                      </a:r>
                    </a:p>
                  </a:txBody>
                  <a:tcPr marL="54864" marR="54864" marT="27432" marB="27432">
                    <a:solidFill>
                      <a:srgbClr val="FFFFFF"/>
                    </a:solidFill>
                  </a:tcPr>
                </a:tc>
                <a:tc>
                  <a:txBody>
                    <a:bodyPr/>
                    <a:lstStyle/>
                    <a:p>
                      <a:r>
                        <a:rPr sz="850" b="0">
                          <a:solidFill>
                            <a:srgbClr val="4B4B4B"/>
                          </a:solidFill>
                          <a:latin typeface="Arial"/>
                        </a:rPr>
                        <a:t>A range must start before it ends</a:t>
                      </a:r>
                    </a:p>
                  </a:txBody>
                  <a:tcPr marL="54864" marR="54864" marT="27432" marB="27432">
                    <a:solidFill>
                      <a:srgbClr val="FFFFFF"/>
                    </a:solidFill>
                  </a:tcPr>
                </a:tc>
              </a:tr>
            </a:tbl>
          </a:graphicData>
        </a:graphic>
      </p:graphicFrame>
    </p:spTree>
  </p:cSld>
  <p:clrMapOvr>
    <a:masterClrMapping/>
  </p:clrMapOvr>
</p:sld>
</file>

<file path=ppt/slides/slide2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SCR-CL-17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293</a:t>
            </a:r>
          </a:p>
        </p:txBody>
      </p:sp>
      <p:graphicFrame>
        <p:nvGraphicFramePr>
          <p:cNvPr id="9" name="Table 8"/>
          <p:cNvGraphicFramePr>
            <a:graphicFrameLocks noGrp="1"/>
          </p:cNvGraphicFramePr>
          <p:nvPr/>
        </p:nvGraphicFramePr>
        <p:xfrm>
          <a:off x="548640" y="1325880"/>
          <a:ext cx="11094412" cy="2324087"/>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New Rule</a:t>
                      </a:r>
                    </a:p>
                  </a:txBody>
                  <a:tcPr marL="54864" marR="54864" marT="27432" marB="27432">
                    <a:solidFill>
                      <a:srgbClr val="FFFFFF"/>
                    </a:solidFill>
                  </a:tcPr>
                </a:tc>
                <a:tc>
                  <a:txBody>
                    <a:bodyPr/>
                    <a:lstStyle/>
                    <a:p>
                      <a:r>
                        <a:rPr sz="850" b="0">
                          <a:solidFill>
                            <a:srgbClr val="4B4B4B"/>
                          </a:solidFill>
                          <a:latin typeface="Arial"/>
                        </a:rPr>
                        <a:t>Team leads and section heads (assignment permission)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dialog</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Save Rule</a:t>
                      </a:r>
                    </a:p>
                  </a:txBody>
                  <a:tcPr marL="54864" marR="54864" marT="27432" marB="27432">
                    <a:solidFill>
                      <a:srgbClr val="E5F5FF"/>
                    </a:solidFill>
                  </a:tcPr>
                </a:tc>
                <a:tc>
                  <a:txBody>
                    <a:bodyPr/>
                    <a:lstStyle/>
                    <a:p>
                      <a:r>
                        <a:rPr sz="850" b="0">
                          <a:solidFill>
                            <a:srgbClr val="4B4B4B"/>
                          </a:solidFill>
                          <a:latin typeface="Arial"/>
                        </a:rPr>
                        <a:t>Team leads and section heads (assignment permission)</a:t>
                      </a:r>
                    </a:p>
                  </a:txBody>
                  <a:tcPr marL="54864" marR="54864" marT="27432" marB="27432">
                    <a:solidFill>
                      <a:srgbClr val="E5F5FF"/>
                    </a:solidFill>
                  </a:tcPr>
                </a:tc>
                <a:tc>
                  <a:txBody>
                    <a:bodyPr/>
                    <a:lstStyle/>
                    <a:p>
                      <a:r>
                        <a:rPr sz="850" b="0">
                          <a:solidFill>
                            <a:srgbClr val="4B4B4B"/>
                          </a:solidFill>
                          <a:latin typeface="Arial"/>
                        </a:rPr>
                        <a:t>The form is complete</a:t>
                      </a:r>
                    </a:p>
                  </a:txBody>
                  <a:tcPr marL="54864" marR="54864" marT="27432" marB="27432">
                    <a:solidFill>
                      <a:srgbClr val="E5F5FF"/>
                    </a:solidFill>
                  </a:tcPr>
                </a:tc>
                <a:tc>
                  <a:txBody>
                    <a:bodyPr/>
                    <a:lstStyle/>
                    <a:p>
                      <a:r>
                        <a:rPr sz="850" b="0">
                          <a:solidFill>
                            <a:srgbClr val="4B4B4B"/>
                          </a:solidFill>
                          <a:latin typeface="Arial"/>
                        </a:rPr>
                        <a:t>Saves the rule</a:t>
                      </a:r>
                    </a:p>
                  </a:txBody>
                  <a:tcPr marL="54864" marR="54864" marT="27432" marB="27432">
                    <a:solidFill>
                      <a:srgbClr val="E5F5FF"/>
                    </a:solidFill>
                  </a:tcPr>
                </a:tc>
                <a:tc>
                  <a:txBody>
                    <a:bodyPr/>
                    <a:lstStyle/>
                    <a:p>
                      <a:r>
                        <a:rPr sz="850" b="0">
                          <a:solidFill>
                            <a:srgbClr val="4B4B4B"/>
                          </a:solidFill>
                          <a:latin typeface="Arial"/>
                        </a:rPr>
                        <a:t>Active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Change Rule (row menu)</a:t>
                      </a:r>
                    </a:p>
                  </a:txBody>
                  <a:tcPr marL="54864" marR="54864" marT="27432" marB="27432">
                    <a:solidFill>
                      <a:srgbClr val="FFFFFF"/>
                    </a:solidFill>
                  </a:tcPr>
                </a:tc>
                <a:tc>
                  <a:txBody>
                    <a:bodyPr/>
                    <a:lstStyle/>
                    <a:p>
                      <a:r>
                        <a:rPr sz="850" b="0">
                          <a:solidFill>
                            <a:srgbClr val="4B4B4B"/>
                          </a:solidFill>
                          <a:latin typeface="Arial"/>
                        </a:rPr>
                        <a:t>Team leads and section heads (assignment permission)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rule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Activate / Deactivate (row menu)</a:t>
                      </a:r>
                    </a:p>
                  </a:txBody>
                  <a:tcPr marL="54864" marR="54864" marT="27432" marB="27432">
                    <a:solidFill>
                      <a:srgbClr val="E5F5FF"/>
                    </a:solidFill>
                  </a:tcPr>
                </a:tc>
                <a:tc>
                  <a:txBody>
                    <a:bodyPr/>
                    <a:lstStyle/>
                    <a:p>
                      <a:r>
                        <a:rPr sz="850" b="0">
                          <a:solidFill>
                            <a:srgbClr val="4B4B4B"/>
                          </a:solidFill>
                          <a:latin typeface="Arial"/>
                        </a:rPr>
                        <a:t>Team leads and section heads (assignment permission)</a:t>
                      </a:r>
                    </a:p>
                  </a:txBody>
                  <a:tcPr marL="54864" marR="54864" marT="27432" marB="27432">
                    <a:solidFill>
                      <a:srgbClr val="E5F5FF"/>
                    </a:solidFill>
                  </a:tcPr>
                </a:tc>
                <a:tc>
                  <a:txBody>
                    <a:bodyPr/>
                    <a:lstStyle/>
                    <a:p>
                      <a:r>
                        <a:rPr sz="850" b="0">
                          <a:solidFill>
                            <a:srgbClr val="4B4B4B"/>
                          </a:solidFill>
                          <a:latin typeface="Arial"/>
                        </a:rPr>
                        <a:t>Inactive / Active</a:t>
                      </a:r>
                    </a:p>
                  </a:txBody>
                  <a:tcPr marL="54864" marR="54864" marT="27432" marB="27432">
                    <a:solidFill>
                      <a:srgbClr val="E5F5FF"/>
                    </a:solidFill>
                  </a:tcPr>
                </a:tc>
                <a:tc>
                  <a:txBody>
                    <a:bodyPr/>
                    <a:lstStyle/>
                    <a:p>
                      <a:r>
                        <a:rPr sz="850" b="0">
                          <a:solidFill>
                            <a:srgbClr val="4B4B4B"/>
                          </a:solidFill>
                          <a:latin typeface="Arial"/>
                        </a:rPr>
                        <a:t>Switches the rule on or off</a:t>
                      </a:r>
                    </a:p>
                  </a:txBody>
                  <a:tcPr marL="54864" marR="54864" marT="27432" marB="27432">
                    <a:solidFill>
                      <a:srgbClr val="E5F5FF"/>
                    </a:solidFill>
                  </a:tcPr>
                </a:tc>
                <a:tc>
                  <a:txBody>
                    <a:bodyPr/>
                    <a:lstStyle/>
                    <a:p>
                      <a:r>
                        <a:rPr sz="850" b="0">
                          <a:solidFill>
                            <a:srgbClr val="4B4B4B"/>
                          </a:solidFill>
                          <a:latin typeface="Arial"/>
                        </a:rPr>
                        <a:t>Active / Inactive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Preview Accounts</a:t>
                      </a:r>
                    </a:p>
                  </a:txBody>
                  <a:tcPr marL="54864" marR="54864" marT="27432" marB="27432">
                    <a:solidFill>
                      <a:srgbClr val="FFFFFF"/>
                    </a:solidFill>
                  </a:tcPr>
                </a:tc>
                <a:tc>
                  <a:txBody>
                    <a:bodyPr/>
                    <a:lstStyle/>
                    <a:p>
                      <a:r>
                        <a:rPr sz="850" b="0">
                          <a:solidFill>
                            <a:srgbClr val="4B4B4B"/>
                          </a:solidFill>
                          <a:latin typeface="Arial"/>
                        </a:rPr>
                        <a:t>Team leads and section heads (assignment permission)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Lists the open accounts of the criteria</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Reassign n Account(s)</a:t>
                      </a:r>
                    </a:p>
                  </a:txBody>
                  <a:tcPr marL="54864" marR="54864" marT="27432" marB="27432">
                    <a:solidFill>
                      <a:srgbClr val="E5F5FF"/>
                    </a:solidFill>
                  </a:tcPr>
                </a:tc>
                <a:tc>
                  <a:txBody>
                    <a:bodyPr/>
                    <a:lstStyle/>
                    <a:p>
                      <a:r>
                        <a:rPr sz="850" b="0">
                          <a:solidFill>
                            <a:srgbClr val="4B4B4B"/>
                          </a:solidFill>
                          <a:latin typeface="Arial"/>
                        </a:rPr>
                        <a:t>Team leads and section heads (assignment permission)</a:t>
                      </a:r>
                    </a:p>
                  </a:txBody>
                  <a:tcPr marL="54864" marR="54864" marT="27432" marB="27432">
                    <a:solidFill>
                      <a:srgbClr val="E5F5FF"/>
                    </a:solidFill>
                  </a:tcPr>
                </a:tc>
                <a:tc>
                  <a:txBody>
                    <a:bodyPr/>
                    <a:lstStyle/>
                    <a:p>
                      <a:r>
                        <a:rPr sz="850" b="0">
                          <a:solidFill>
                            <a:srgbClr val="4B4B4B"/>
                          </a:solidFill>
                          <a:latin typeface="Arial"/>
                        </a:rPr>
                        <a:t>At least one account found</a:t>
                      </a:r>
                    </a:p>
                  </a:txBody>
                  <a:tcPr marL="54864" marR="54864" marT="27432" marB="27432">
                    <a:solidFill>
                      <a:srgbClr val="E5F5FF"/>
                    </a:solidFill>
                  </a:tcPr>
                </a:tc>
                <a:tc>
                  <a:txBody>
                    <a:bodyPr/>
                    <a:lstStyle/>
                    <a:p>
                      <a:r>
                        <a:rPr sz="850" b="0">
                          <a:solidFill>
                            <a:srgbClr val="4B4B4B"/>
                          </a:solidFill>
                          <a:latin typeface="Arial"/>
                        </a:rPr>
                        <a:t>Opens Reassign Accounts for the accounts found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Account reassigned (NT-03)</a:t>
                      </a:r>
                    </a:p>
                  </a:txBody>
                  <a:tcPr marL="54864" marR="54864" marT="27432" marB="27432">
                    <a:solidFill>
                      <a:srgbClr val="E5F5FF"/>
                    </a:solidFill>
                  </a:tcPr>
                </a:tc>
              </a:tr>
            </a:tbl>
          </a:graphicData>
        </a:graphic>
      </p:graphicFrame>
    </p:spTree>
  </p:cSld>
  <p:clrMapOvr>
    <a:masterClrMapping/>
  </p:clrMapOvr>
</p:sld>
</file>

<file path=ppt/slides/slide2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SCR-CL-17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294</a:t>
            </a:r>
          </a:p>
        </p:txBody>
      </p:sp>
      <p:graphicFrame>
        <p:nvGraphicFramePr>
          <p:cNvPr id="9" name="Table 8"/>
          <p:cNvGraphicFramePr>
            <a:graphicFrameLocks noGrp="1"/>
          </p:cNvGraphicFramePr>
          <p:nvPr/>
        </p:nvGraphicFramePr>
        <p:xfrm>
          <a:off x="548640" y="1325880"/>
          <a:ext cx="11094415" cy="9753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New accounts go to the handler of the first active rule they meet, else to their account officer (FR-CL-020).</a:t>
                      </a:r>
                    </a:p>
                  </a:txBody>
                  <a:tcPr marL="54864" marR="54864" marT="27432" marB="27432">
                    <a:solidFill>
                      <a:srgbClr val="FFFFFF"/>
                    </a:solidFill>
                  </a:tcPr>
                </a:tc>
              </a:tr>
              <a:tr h="243840">
                <a:tc>
                  <a:txBody>
                    <a:bodyPr/>
                    <a:lstStyle/>
                    <a:p>
                      <a:r>
                        <a:rPr sz="1000" b="0">
                          <a:solidFill>
                            <a:srgbClr val="4B4B4B"/>
                          </a:solidFill>
                          <a:latin typeface="Arial"/>
                        </a:rPr>
                        <a:t>The new handler must be an active collection handler; a temporary reassignment ends after today and the account returns to its handler on the end date (FR-CL-021).</a:t>
                      </a:r>
                    </a:p>
                  </a:txBody>
                  <a:tcPr marL="54864" marR="54864" marT="27432" marB="27432">
                    <a:solidFill>
                      <a:srgbClr val="E5F5FF"/>
                    </a:solidFill>
                  </a:tcPr>
                </a:tc>
              </a:tr>
              <a:tr h="243840">
                <a:tc>
                  <a:txBody>
                    <a:bodyPr/>
                    <a:lstStyle/>
                    <a:p>
                      <a:r>
                        <a:rPr sz="1000" b="0">
                          <a:solidFill>
                            <a:srgbClr val="4B4B4B"/>
                          </a:solidFill>
                          <a:latin typeface="Arial"/>
                        </a:rPr>
                        <a:t>Every reassignment keeps its history on the account and notifies the handlers (FR-CL-021).</a:t>
                      </a:r>
                    </a:p>
                  </a:txBody>
                  <a:tcPr marL="54864" marR="54864" marT="27432" marB="27432">
                    <a:solidFill>
                      <a:srgbClr val="FFFFFF"/>
                    </a:solidFill>
                  </a:tcPr>
                </a:tc>
              </a:tr>
            </a:tbl>
          </a:graphicData>
        </a:graphic>
      </p:graphicFrame>
    </p:spTree>
  </p:cSld>
  <p:clrMapOvr>
    <a:masterClrMapping/>
  </p:clrMapOvr>
</p:sld>
</file>

<file path=ppt/slides/slide2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SCR-CL-17 Assignments: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64.png"/>
          <p:cNvPicPr>
            <a:picLocks noChangeAspect="1"/>
          </p:cNvPicPr>
          <p:nvPr/>
        </p:nvPicPr>
        <p:blipFill>
          <a:blip r:embed="rId3"/>
          <a:stretch>
            <a:fillRect/>
          </a:stretch>
        </p:blipFill>
        <p:spPr>
          <a:xfrm>
            <a:off x="548640" y="1261872"/>
            <a:ext cx="11094415" cy="435168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Assignments: the default assignment rules with their row menu, and Reassign by Criteria (part 1 of 2)</a:t>
            </a:r>
          </a:p>
        </p:txBody>
      </p:sp>
    </p:spTree>
  </p:cSld>
  <p:clrMapOvr>
    <a:masterClrMapping/>
  </p:clrMapOvr>
</p:sld>
</file>

<file path=ppt/slides/slide2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SCR-CL-17 Assignments: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65.png"/>
          <p:cNvPicPr>
            <a:picLocks noChangeAspect="1"/>
          </p:cNvPicPr>
          <p:nvPr/>
        </p:nvPicPr>
        <p:blipFill>
          <a:blip r:embed="rId3"/>
          <a:stretch>
            <a:fillRect/>
          </a:stretch>
        </p:blipFill>
        <p:spPr>
          <a:xfrm>
            <a:off x="548640" y="1261872"/>
            <a:ext cx="11094415" cy="342396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Assignments: the default assignment rules with their row menu, and Reassign by Criteria (part 2 of 2)</a:t>
            </a:r>
          </a:p>
        </p:txBody>
      </p:sp>
    </p:spTree>
  </p:cSld>
  <p:clrMapOvr>
    <a:masterClrMapping/>
  </p:clrMapOvr>
</p:sld>
</file>

<file path=ppt/slides/slide2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SCR-CL-17 Assignments: Filled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166.png"/>
          <p:cNvPicPr>
            <a:picLocks noChangeAspect="1"/>
          </p:cNvPicPr>
          <p:nvPr/>
        </p:nvPicPr>
        <p:blipFill>
          <a:blip r:embed="rId3"/>
          <a:stretch>
            <a:fillRect/>
          </a:stretch>
        </p:blipFill>
        <p:spPr>
          <a:xfrm>
            <a:off x="548640" y="1261872"/>
            <a:ext cx="11094415" cy="435168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Reassign by Criteria: the accounts of a handler found by the preview (part 1 of 3)</a:t>
            </a:r>
          </a:p>
        </p:txBody>
      </p:sp>
    </p:spTree>
  </p:cSld>
  <p:clrMapOvr>
    <a:masterClrMapping/>
  </p:clrMapOvr>
</p:sld>
</file>

<file path=ppt/slides/slide2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SCR-CL-17 Assignments: Filled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167.png"/>
          <p:cNvPicPr>
            <a:picLocks noChangeAspect="1"/>
          </p:cNvPicPr>
          <p:nvPr/>
        </p:nvPicPr>
        <p:blipFill>
          <a:blip r:embed="rId3"/>
          <a:stretch>
            <a:fillRect/>
          </a:stretch>
        </p:blipFill>
        <p:spPr>
          <a:xfrm>
            <a:off x="548640" y="1261872"/>
            <a:ext cx="11094415" cy="470556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Reassign by Criteria: the accounts of a handler found by the preview (part 2 of 3)</a:t>
            </a:r>
          </a:p>
        </p:txBody>
      </p:sp>
    </p:spTree>
  </p:cSld>
  <p:clrMapOvr>
    <a:masterClrMapping/>
  </p:clrMapOvr>
</p:sld>
</file>

<file path=ppt/slides/slide2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SCR-CL-17 Assignments: Filled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168.png"/>
          <p:cNvPicPr>
            <a:picLocks noChangeAspect="1"/>
          </p:cNvPicPr>
          <p:nvPr/>
        </p:nvPicPr>
        <p:blipFill>
          <a:blip r:embed="rId3"/>
          <a:stretch>
            <a:fillRect/>
          </a:stretch>
        </p:blipFill>
        <p:spPr>
          <a:xfrm>
            <a:off x="548640" y="1261872"/>
            <a:ext cx="11094415" cy="11859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Reassign by Criteria: the accounts of a handler found by the preview (part 3 of 3)</a:t>
            </a:r>
          </a:p>
        </p:txBody>
      </p:sp>
    </p:spTree>
  </p:cSld>
  <p:clrMapOvr>
    <a:masterClrMapping/>
  </p:clrMapOvr>
</p:sld>
</file>

<file path=ppt/slides/slide3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SCR-CL-17 Assignments: Filled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cr-cl-17-03-new.png"/>
          <p:cNvPicPr>
            <a:picLocks noChangeAspect="1"/>
          </p:cNvPicPr>
          <p:nvPr/>
        </p:nvPicPr>
        <p:blipFill>
          <a:blip r:embed="rId3"/>
          <a:stretch>
            <a:fillRect/>
          </a:stretch>
        </p:blipFill>
        <p:spPr>
          <a:xfrm>
            <a:off x="1887022" y="1261872"/>
            <a:ext cx="8417651"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Assignment Rule dialog</a:t>
            </a:r>
          </a:p>
        </p:txBody>
      </p:sp>
    </p:spTree>
  </p:cSld>
  <p:clrMapOvr>
    <a:masterClrMapping/>
  </p:clrMapOvr>
</p:sld>
</file>

<file path=ppt/slides/slide3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SCR-CL-18 Collections Files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301</a:t>
            </a:r>
          </a:p>
        </p:txBody>
      </p:sp>
      <p:graphicFrame>
        <p:nvGraphicFramePr>
          <p:cNvPr id="9" name="Table 8"/>
          <p:cNvGraphicFramePr>
            <a:graphicFrameLocks noGrp="1"/>
          </p:cNvGraphicFramePr>
          <p:nvPr/>
        </p:nvGraphicFramePr>
        <p:xfrm>
          <a:off x="548640" y="1307592"/>
          <a:ext cx="6434760" cy="28117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Assignment, files and set-up</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scheduled files and the exports of Collections, with the time from which each may be downloaded: the daily Outstanding PR List and Full Production Report, the weekly DP PR for Reversal and PR 2307 for Reversal files per unit and branch, the monthly ones of the previous month, and the exports of the users.</a:t>
                      </a:r>
                    </a:p>
                  </a:txBody>
                  <a:tcPr marL="54864" marR="54864" marT="27432" marB="27432">
                    <a:solidFill>
                      <a:srgbClr val="FFFFFF"/>
                    </a:solidFill>
                  </a:tcPr>
                </a:tc>
              </a:tr>
              <a:tr h="67056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Team Lead, Marketing Handler, Collection Handler, Collection Team Lead, Section Head (Corporate / Retail), Unapplied Payment Handler, Cashier (read access and exports), Disbursement (read access and exports), Comptrollership (read access), System Administrator, Auditor</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Collections › Collections Files</a:t>
                      </a:r>
                    </a:p>
                    <a:p>
                      <a:r>
                        <a:rPr sz="950" b="0">
                          <a:solidFill>
                            <a:srgbClr val="4B4B4B"/>
                          </a:solidFill>
                          <a:latin typeface="Arial"/>
                        </a:rPr>
                        <a:t>Finance › Collections › Collections Files</a:t>
                      </a:r>
                    </a:p>
                    <a:p>
                      <a:r>
                        <a:rPr sz="950" b="0">
                          <a:solidFill>
                            <a:srgbClr val="4B4B4B"/>
                          </a:solidFill>
                          <a:latin typeface="Arial"/>
                        </a:rPr>
                        <a:t>Collections Home › Files Ready This Week tile</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13.5.2</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FR-CL-080, FR-CL-081, FR-CL-082, FR-CL-083, FR-CL-084</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business takes the files it needs at the time agreed.</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SCR-CL-18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302</a:t>
            </a:r>
          </a:p>
        </p:txBody>
      </p:sp>
      <p:graphicFrame>
        <p:nvGraphicFramePr>
          <p:cNvPr id="9" name="Table 8"/>
          <p:cNvGraphicFramePr>
            <a:graphicFrameLocks noGrp="1"/>
          </p:cNvGraphicFramePr>
          <p:nvPr/>
        </p:nvGraphicFramePr>
        <p:xfrm>
          <a:off x="548640" y="1325880"/>
          <a:ext cx="11094411" cy="2362186"/>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All Files / Daily / Weekly / Monthly / Exports</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609596">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Report</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Outstanding PR List, Full Production Report, DP PR for Reversal or PR 2307 for Reversal, with the unit and branch</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 file published yet</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Period / Rows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Period on two lines; number of rows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Published / Available From / 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Date and time with the user's name; At once or the date and time; Published or Failed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Generate Files dialog</a:t>
                      </a:r>
                    </a:p>
                  </a:txBody>
                  <a:tcPr marL="54864" marR="54864" marT="27432" marB="27432">
                    <a:solidFill>
                      <a:srgbClr val="FFFFFF"/>
                    </a:solidFill>
                  </a:tcPr>
                </a:tc>
                <a:tc>
                  <a:txBody>
                    <a:bodyPr/>
                    <a:lstStyle/>
                    <a:p>
                      <a:r>
                        <a:rPr sz="850" b="0">
                          <a:solidFill>
                            <a:srgbClr val="4B4B4B"/>
                          </a:solidFill>
                          <a:latin typeface="Arial"/>
                        </a:rPr>
                        <a:t>Files / Business Date</a:t>
                      </a:r>
                    </a:p>
                  </a:txBody>
                  <a:tcPr marL="54864" marR="54864" marT="27432" marB="27432">
                    <a:solidFill>
                      <a:srgbClr val="FFFFFF"/>
                    </a:solidFill>
                  </a:tcPr>
                </a:tc>
                <a:tc>
                  <a:txBody>
                    <a:bodyPr/>
                    <a:lstStyle/>
                    <a:p>
                      <a:r>
                        <a:rPr sz="850" b="0">
                          <a:solidFill>
                            <a:srgbClr val="4B4B4B"/>
                          </a:solidFill>
                          <a:latin typeface="Arial"/>
                        </a:rPr>
                        <a:t>Drop-down, date</a:t>
                      </a:r>
                    </a:p>
                  </a:txBody>
                  <a:tcPr marL="54864" marR="54864" marT="27432" marB="27432">
                    <a:solidFill>
                      <a:srgbClr val="FFFFFF"/>
                    </a:solidFill>
                  </a:tcPr>
                </a:tc>
                <a:tc>
                  <a:txBody>
                    <a:bodyPr/>
                    <a:lstStyle/>
                    <a:p>
                      <a:r>
                        <a:rPr sz="850" b="0">
                          <a:solidFill>
                            <a:srgbClr val="4B4B4B"/>
                          </a:solidFill>
                          <a:latin typeface="Arial"/>
                        </a:rPr>
                        <a:t>Daily files; Weekly files (week ending that Friday); Monthly files (previous month)</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SCR-CL-18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303</a:t>
            </a:r>
          </a:p>
        </p:txBody>
      </p:sp>
      <p:graphicFrame>
        <p:nvGraphicFramePr>
          <p:cNvPr id="9" name="Table 8"/>
          <p:cNvGraphicFramePr>
            <a:graphicFrameLocks noGrp="1"/>
          </p:cNvGraphicFramePr>
          <p:nvPr/>
        </p:nvGraphicFramePr>
        <p:xfrm>
          <a:off x="548640" y="1325880"/>
          <a:ext cx="11094412" cy="922015"/>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Download (row menu)</a:t>
                      </a:r>
                    </a:p>
                  </a:txBody>
                  <a:tcPr marL="54864" marR="54864" marT="27432" marB="27432">
                    <a:solidFill>
                      <a:srgbClr val="FFFFFF"/>
                    </a:solidFill>
                  </a:tcPr>
                </a:tc>
                <a:tc>
                  <a:txBody>
                    <a:bodyPr/>
                    <a:lstStyle/>
                    <a:p>
                      <a:r>
                        <a:rPr sz="850" b="0">
                          <a:solidFill>
                            <a:srgbClr val="4B4B4B"/>
                          </a:solidFill>
                          <a:latin typeface="Arial"/>
                        </a:rPr>
                        <a:t>Users with the export permission</a:t>
                      </a:r>
                    </a:p>
                  </a:txBody>
                  <a:tcPr marL="54864" marR="54864" marT="27432" marB="27432">
                    <a:solidFill>
                      <a:srgbClr val="FFFFFF"/>
                    </a:solidFill>
                  </a:tcPr>
                </a:tc>
                <a:tc>
                  <a:txBody>
                    <a:bodyPr/>
                    <a:lstStyle/>
                    <a:p>
                      <a:r>
                        <a:rPr sz="850" b="0">
                          <a:solidFill>
                            <a:srgbClr val="4B4B4B"/>
                          </a:solidFill>
                          <a:latin typeface="Arial"/>
                        </a:rPr>
                        <a:t>Available from its time</a:t>
                      </a:r>
                    </a:p>
                  </a:txBody>
                  <a:tcPr marL="54864" marR="54864" marT="27432" marB="27432">
                    <a:solidFill>
                      <a:srgbClr val="FFFFFF"/>
                    </a:solidFill>
                  </a:tcPr>
                </a:tc>
                <a:tc>
                  <a:txBody>
                    <a:bodyPr/>
                    <a:lstStyle/>
                    <a:p>
                      <a:r>
                        <a:rPr sz="850" b="0">
                          <a:solidFill>
                            <a:srgbClr val="4B4B4B"/>
                          </a:solidFill>
                          <a:latin typeface="Arial"/>
                        </a:rPr>
                        <a:t>Downloads the file (Excel)</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Generate Files</a:t>
                      </a:r>
                    </a:p>
                  </a:txBody>
                  <a:tcPr marL="54864" marR="54864" marT="27432" marB="27432">
                    <a:solidFill>
                      <a:srgbClr val="E5F5FF"/>
                    </a:solidFill>
                  </a:tcPr>
                </a:tc>
                <a:tc>
                  <a:txBody>
                    <a:bodyPr/>
                    <a:lstStyle/>
                    <a:p>
                      <a:r>
                        <a:rPr sz="850" b="0">
                          <a:solidFill>
                            <a:srgbClr val="4B4B4B"/>
                          </a:solidFill>
                          <a:latin typeface="Arial"/>
                        </a:rPr>
                        <a:t>Users with the Collections set-up permission</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Publishes the files of the business date again; a file already published for its period is kept</a:t>
                      </a:r>
                    </a:p>
                  </a:txBody>
                  <a:tcPr marL="54864" marR="54864" marT="27432" marB="27432">
                    <a:solidFill>
                      <a:srgbClr val="E5F5FF"/>
                    </a:solidFill>
                  </a:tcPr>
                </a:tc>
                <a:tc>
                  <a:txBody>
                    <a:bodyPr/>
                    <a:lstStyle/>
                    <a:p>
                      <a:r>
                        <a:rPr sz="850" b="0">
                          <a:solidFill>
                            <a:srgbClr val="4B4B4B"/>
                          </a:solidFill>
                          <a:latin typeface="Arial"/>
                        </a:rPr>
                        <a:t>Published</a:t>
                      </a:r>
                    </a:p>
                  </a:txBody>
                  <a:tcPr marL="54864" marR="54864" marT="27432" marB="27432">
                    <a:solidFill>
                      <a:srgbClr val="E5F5FF"/>
                    </a:solidFill>
                  </a:tcPr>
                </a:tc>
                <a:tc>
                  <a:txBody>
                    <a:bodyPr/>
                    <a:lstStyle/>
                    <a:p>
                      <a:r>
                        <a:rPr sz="850" b="0">
                          <a:solidFill>
                            <a:srgbClr val="4B4B4B"/>
                          </a:solidFill>
                          <a:latin typeface="Arial"/>
                        </a:rPr>
                        <a:t>Collections file ready (NT-06)</a:t>
                      </a:r>
                    </a:p>
                  </a:txBody>
                  <a:tcPr marL="54864" marR="54864" marT="27432" marB="27432">
                    <a:solidFill>
                      <a:srgbClr val="E5F5FF"/>
                    </a:solidFill>
                  </a:tcPr>
                </a:tc>
              </a:tr>
            </a:tbl>
          </a:graphicData>
        </a:graphic>
      </p:graphicFrame>
    </p:spTree>
  </p:cSld>
  <p:clrMapOvr>
    <a:masterClrMapping/>
  </p:clrMapOvr>
</p:sld>
</file>

<file path=ppt/slides/slide3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SCR-CL-18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304</a:t>
            </a:r>
          </a:p>
        </p:txBody>
      </p:sp>
      <p:graphicFrame>
        <p:nvGraphicFramePr>
          <p:cNvPr id="9" name="Table 8"/>
          <p:cNvGraphicFramePr>
            <a:graphicFrameLocks noGrp="1"/>
          </p:cNvGraphicFramePr>
          <p:nvPr/>
        </p:nvGraphicFramePr>
        <p:xfrm>
          <a:off x="548640" y="1325880"/>
          <a:ext cx="11094415" cy="11277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396240">
                <a:tc>
                  <a:txBody>
                    <a:bodyPr/>
                    <a:lstStyle/>
                    <a:p>
                      <a:r>
                        <a:rPr sz="1000" b="0">
                          <a:solidFill>
                            <a:srgbClr val="4B4B4B"/>
                          </a:solidFill>
                          <a:latin typeface="Arial"/>
                        </a:rPr>
                        <a:t>A file cannot be downloaded before its availability time: daily at once, weekly on the Monday 08:00 after the week (Saturday to Friday), monthly on the first working day (FR-CL-080, FR-CL-081, FR-CL-082, FR-CL-083).</a:t>
                      </a:r>
                    </a:p>
                  </a:txBody>
                  <a:tcPr marL="54864" marR="54864" marT="27432" marB="27432">
                    <a:solidFill>
                      <a:srgbClr val="FFFFFF"/>
                    </a:solidFill>
                  </a:tcPr>
                </a:tc>
              </a:tr>
              <a:tr h="243840">
                <a:tc>
                  <a:txBody>
                    <a:bodyPr/>
                    <a:lstStyle/>
                    <a:p>
                      <a:r>
                        <a:rPr sz="1000" b="0">
                          <a:solidFill>
                            <a:srgbClr val="4B4B4B"/>
                          </a:solidFill>
                          <a:latin typeface="Arial"/>
                        </a:rPr>
                        <a:t>A file that fails raises an alert to the administrators (FR-CL-083).</a:t>
                      </a:r>
                    </a:p>
                  </a:txBody>
                  <a:tcPr marL="54864" marR="54864" marT="27432" marB="27432">
                    <a:solidFill>
                      <a:srgbClr val="E5F5FF"/>
                    </a:solidFill>
                  </a:tcPr>
                </a:tc>
              </a:tr>
              <a:tr h="243840">
                <a:tc>
                  <a:txBody>
                    <a:bodyPr/>
                    <a:lstStyle/>
                    <a:p>
                      <a:r>
                        <a:rPr sz="1000" b="0">
                          <a:solidFill>
                            <a:srgbClr val="4B4B4B"/>
                          </a:solidFill>
                          <a:latin typeface="Arial"/>
                        </a:rPr>
                        <a:t>Downloads need the export permission (FR-CL-084).</a:t>
                      </a:r>
                    </a:p>
                  </a:txBody>
                  <a:tcPr marL="54864" marR="54864" marT="27432" marB="27432">
                    <a:solidFill>
                      <a:srgbClr val="FFFFFF"/>
                    </a:solidFill>
                  </a:tcPr>
                </a:tc>
              </a:tr>
            </a:tbl>
          </a:graphicData>
        </a:graphic>
      </p:graphicFrame>
    </p:spTree>
  </p:cSld>
  <p:clrMapOvr>
    <a:masterClrMapping/>
  </p:clrMapOvr>
</p:sld>
</file>

<file path=ppt/slides/slide3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SCR-CL-18 Collections Files: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69.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Collections Files: the daily, weekly and monthly files with their availability (part 1 of 2)</a:t>
            </a:r>
          </a:p>
        </p:txBody>
      </p:sp>
    </p:spTree>
  </p:cSld>
  <p:clrMapOvr>
    <a:masterClrMapping/>
  </p:clrMapOvr>
</p:sld>
</file>

<file path=ppt/slides/slide3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SCR-CL-18 Collections Files: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70.png"/>
          <p:cNvPicPr>
            <a:picLocks noChangeAspect="1"/>
          </p:cNvPicPr>
          <p:nvPr/>
        </p:nvPicPr>
        <p:blipFill>
          <a:blip r:embed="rId3"/>
          <a:stretch>
            <a:fillRect/>
          </a:stretch>
        </p:blipFill>
        <p:spPr>
          <a:xfrm>
            <a:off x="548640" y="1261872"/>
            <a:ext cx="11094415" cy="20562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Collections Files: the daily, weekly and monthly files with their availability (part 2 of 2)</a:t>
            </a:r>
          </a:p>
        </p:txBody>
      </p:sp>
    </p:spTree>
  </p:cSld>
  <p:clrMapOvr>
    <a:masterClrMapping/>
  </p:clrMapOvr>
</p:sld>
</file>

<file path=ppt/slides/slide3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SCR-CL-18 Collections Files: Filled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cr-cl-18-02-generate.png"/>
          <p:cNvPicPr>
            <a:picLocks noChangeAspect="1"/>
          </p:cNvPicPr>
          <p:nvPr/>
        </p:nvPicPr>
        <p:blipFill>
          <a:blip r:embed="rId3"/>
          <a:stretch>
            <a:fillRect/>
          </a:stretch>
        </p:blipFill>
        <p:spPr>
          <a:xfrm>
            <a:off x="548640" y="1261872"/>
            <a:ext cx="11094415" cy="423201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Generate Files dialog of the set-up users</a:t>
            </a:r>
          </a:p>
        </p:txBody>
      </p:sp>
    </p:spTree>
  </p:cSld>
  <p:clrMapOvr>
    <a:masterClrMapping/>
  </p:clrMapOvr>
</p:sld>
</file>

<file path=ppt/slides/slide3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SCR-CL-19 Collections Setup</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308</a:t>
            </a:r>
          </a:p>
        </p:txBody>
      </p:sp>
      <p:graphicFrame>
        <p:nvGraphicFramePr>
          <p:cNvPr id="9" name="Table 8"/>
          <p:cNvGraphicFramePr>
            <a:graphicFrameLocks noGrp="1"/>
          </p:cNvGraphicFramePr>
          <p:nvPr/>
        </p:nvGraphicFramePr>
        <p:xfrm>
          <a:off x="548640" y="1307592"/>
          <a:ext cx="6434760" cy="237744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Assignment, files and set-up</a:t>
                      </a:r>
                    </a:p>
                  </a:txBody>
                  <a:tcPr marL="54864" marR="54864" marT="27432" marB="27432">
                    <a:solidFill>
                      <a:srgbClr val="FFFFFF"/>
                    </a:solidFill>
                  </a:tcPr>
                </a:tc>
              </a:tr>
              <a:tr h="81534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Collections parameters (minimal balance threshold, aging basis and brackets, export cap, edit-lock time, invoice number format, promise grace days), the attributes of each disposition value (category, tagging owner, Operations action, reserved roles, unapplied-payment attributes), the Unit Head of each sales unit and a refresh of the worklist on demand.</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Section Head (Corporate / Retail), Business Administrator, System Administrator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Collections › Collections Setup</a:t>
                      </a:r>
                    </a:p>
                    <a:p>
                      <a:r>
                        <a:rPr sz="950" b="0">
                          <a:solidFill>
                            <a:srgbClr val="4B4B4B"/>
                          </a:solidFill>
                          <a:latin typeface="Arial"/>
                        </a:rPr>
                        <a:t>Finance › Collections › Collections Setup</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13.5.3</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FR-CL-003, FR-CL-012, FR-CL-030, FR-CL-072</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business keeps the Collections rules without a change request.</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(3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SCR-CL-19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309</a:t>
            </a:r>
          </a:p>
        </p:txBody>
      </p:sp>
      <p:graphicFrame>
        <p:nvGraphicFramePr>
          <p:cNvPr id="9" name="Table 8"/>
          <p:cNvGraphicFramePr>
            <a:graphicFrameLocks noGrp="1"/>
          </p:cNvGraphicFramePr>
          <p:nvPr/>
        </p:nvGraphicFramePr>
        <p:xfrm>
          <a:off x="548640" y="1325880"/>
          <a:ext cx="11094411" cy="3489938"/>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Parameters</a:t>
                      </a:r>
                    </a:p>
                  </a:txBody>
                  <a:tcPr marL="54864" marR="54864" marT="27432" marB="27432">
                    <a:solidFill>
                      <a:srgbClr val="FFFFFF"/>
                    </a:solidFill>
                  </a:tcPr>
                </a:tc>
                <a:tc>
                  <a:txBody>
                    <a:bodyPr/>
                    <a:lstStyle/>
                    <a:p>
                      <a:r>
                        <a:rPr sz="850" b="0">
                          <a:solidFill>
                            <a:srgbClr val="4B4B4B"/>
                          </a:solidFill>
                          <a:latin typeface="Arial"/>
                        </a:rPr>
                        <a:t>Parameter / Value / Description / Changed By</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The parameter by name, its value, what it does and the name of the last user who changed it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Within the range of the parameter</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Disposition Rules</a:t>
                      </a:r>
                    </a:p>
                  </a:txBody>
                  <a:tcPr marL="54864" marR="54864" marT="27432" marB="27432">
                    <a:solidFill>
                      <a:srgbClr val="E5F5FF"/>
                    </a:solidFill>
                  </a:tcPr>
                </a:tc>
                <a:tc>
                  <a:txBody>
                    <a:bodyPr/>
                    <a:lstStyle/>
                    <a:p>
                      <a:r>
                        <a:rPr sz="850" b="0">
                          <a:solidFill>
                            <a:srgbClr val="4B4B4B"/>
                          </a:solidFill>
                          <a:latin typeface="Arial"/>
                        </a:rPr>
                        <a:t>PR Dispositions / Unapplied Payment Dispositions</a:t>
                      </a:r>
                    </a:p>
                  </a:txBody>
                  <a:tcPr marL="54864" marR="54864" marT="27432" marB="27432">
                    <a:solidFill>
                      <a:srgbClr val="E5F5FF"/>
                    </a:solidFill>
                  </a:tcPr>
                </a:tc>
                <a:tc>
                  <a:txBody>
                    <a:bodyPr/>
                    <a:lstStyle/>
                    <a:p>
                      <a:r>
                        <a:rPr sz="850" b="0">
                          <a:solidFill>
                            <a:srgbClr val="4B4B4B"/>
                          </a:solidFill>
                          <a:latin typeface="Arial"/>
                        </a:rPr>
                        <a:t>Table</a:t>
                      </a:r>
                    </a:p>
                  </a:txBody>
                  <a:tcPr marL="54864" marR="54864" marT="27432" marB="27432">
                    <a:solidFill>
                      <a:srgbClr val="E5F5FF"/>
                    </a:solidFill>
                  </a:tcPr>
                </a:tc>
                <a:tc>
                  <a:txBody>
                    <a:bodyPr/>
                    <a:lstStyle/>
                    <a:p>
                      <a:r>
                        <a:rPr sz="850" b="0">
                          <a:solidFill>
                            <a:srgbClr val="4B4B4B"/>
                          </a:solidFill>
                          <a:latin typeface="Arial"/>
                        </a:rPr>
                        <a:t>One table per list: the label of each disposition value with its code under it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868674">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Disposition Rules</a:t>
                      </a:r>
                    </a:p>
                  </a:txBody>
                  <a:tcPr marL="54864" marR="54864" marT="27432" marB="27432">
                    <a:solidFill>
                      <a:srgbClr val="FFFFFF"/>
                    </a:solidFill>
                  </a:tcPr>
                </a:tc>
                <a:tc>
                  <a:txBody>
                    <a:bodyPr/>
                    <a:lstStyle/>
                    <a:p>
                      <a:r>
                        <a:rPr sz="850" b="0">
                          <a:solidFill>
                            <a:srgbClr val="4B4B4B"/>
                          </a:solidFill>
                          <a:latin typeface="Arial"/>
                        </a:rPr>
                        <a:t>Category / Tagging Owner / Operations Action / Reserved To / Requires Invoice / Cashiering Action</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Category A, B or C; Marketing or Operations; the Operations action; the roles the value is reserved to (Every collector when none); Yes or No; the Cashiering action; Not set when blank</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 value of the attribute</a:t>
                      </a:r>
                    </a:p>
                  </a:txBody>
                  <a:tcPr marL="54864" marR="54864" marT="27432" marB="27432">
                    <a:solidFill>
                      <a:srgbClr val="FFFFFF"/>
                    </a:solidFill>
                  </a:tcPr>
                </a:tc>
                <a:tc>
                  <a:txBody>
                    <a:bodyPr/>
                    <a:lstStyle/>
                    <a:p>
                      <a:r>
                        <a:rPr sz="850" b="0">
                          <a:solidFill>
                            <a:srgbClr val="4B4B4B"/>
                          </a:solidFill>
                          <a:latin typeface="Arial"/>
                        </a:rPr>
                        <a:t>'&lt;value&gt;' is not a valid &lt;attribute&gt;</a:t>
                      </a:r>
                    </a:p>
                  </a:txBody>
                  <a:tcPr marL="54864" marR="54864" marT="27432" marB="27432">
                    <a:solidFill>
                      <a:srgbClr val="FFFFFF"/>
                    </a:solidFill>
                  </a:tcPr>
                </a:tc>
              </a:tr>
              <a:tr h="480057">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Attribute dialog</a:t>
                      </a:r>
                    </a:p>
                  </a:txBody>
                  <a:tcPr marL="54864" marR="54864" marT="27432" marB="27432">
                    <a:solidFill>
                      <a:srgbClr val="E5F5FF"/>
                    </a:solidFill>
                  </a:tcPr>
                </a:tc>
                <a:tc>
                  <a:txBody>
                    <a:bodyPr/>
                    <a:lstStyle/>
                    <a:p>
                      <a:r>
                        <a:rPr sz="850" b="0">
                          <a:solidFill>
                            <a:srgbClr val="4B4B4B"/>
                          </a:solidFill>
                          <a:latin typeface="Arial"/>
                        </a:rPr>
                        <a:t>Attribute value</a:t>
                      </a:r>
                    </a:p>
                  </a:txBody>
                  <a:tcPr marL="54864" marR="54864" marT="27432" marB="27432">
                    <a:solidFill>
                      <a:srgbClr val="E5F5FF"/>
                    </a:solidFill>
                  </a:tcPr>
                </a:tc>
                <a:tc>
                  <a:txBody>
                    <a:bodyPr/>
                    <a:lstStyle/>
                    <a:p>
                      <a:r>
                        <a:rPr sz="850" b="0">
                          <a:solidFill>
                            <a:srgbClr val="4B4B4B"/>
                          </a:solidFill>
                          <a:latin typeface="Arial"/>
                        </a:rPr>
                        <a:t>Drop-down / check boxes</a:t>
                      </a:r>
                    </a:p>
                  </a:txBody>
                  <a:tcPr marL="54864" marR="54864" marT="27432" marB="27432">
                    <a:solidFill>
                      <a:srgbClr val="E5F5FF"/>
                    </a:solidFill>
                  </a:tcPr>
                </a:tc>
                <a:tc>
                  <a:txBody>
                    <a:bodyPr/>
                    <a:lstStyle/>
                    <a:p>
                      <a:r>
                        <a:rPr sz="850" b="0">
                          <a:solidFill>
                            <a:srgbClr val="4B4B4B"/>
                          </a:solidFill>
                          <a:latin typeface="Arial"/>
                        </a:rPr>
                        <a:t>The labels of the attribute's values; the reserved roles as check boxes, none ticked for every collector</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 value of the attribute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Unit Heads</a:t>
                      </a:r>
                    </a:p>
                  </a:txBody>
                  <a:tcPr marL="54864" marR="54864" marT="27432" marB="27432">
                    <a:solidFill>
                      <a:srgbClr val="FFFFFF"/>
                    </a:solidFill>
                  </a:tcPr>
                </a:tc>
                <a:tc>
                  <a:txBody>
                    <a:bodyPr/>
                    <a:lstStyle/>
                    <a:p>
                      <a:r>
                        <a:rPr sz="850" b="0">
                          <a:solidFill>
                            <a:srgbClr val="4B4B4B"/>
                          </a:solidFill>
                          <a:latin typeface="Arial"/>
                        </a:rPr>
                        <a:t>Unit / Name / Level / Parent / Unit Head</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Sales unit with its level and parent; the Unit Head's name or From the parent unit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An active user</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Change Parameter dialog</a:t>
                      </a:r>
                    </a:p>
                  </a:txBody>
                  <a:tcPr marL="54864" marR="54864" marT="27432" marB="27432">
                    <a:solidFill>
                      <a:srgbClr val="E5F5FF"/>
                    </a:solidFill>
                  </a:tcPr>
                </a:tc>
                <a:tc>
                  <a:txBody>
                    <a:bodyPr/>
                    <a:lstStyle/>
                    <a:p>
                      <a:r>
                        <a:rPr sz="850" b="0">
                          <a:solidFill>
                            <a:srgbClr val="4B4B4B"/>
                          </a:solidFill>
                          <a:latin typeface="Arial"/>
                        </a:rPr>
                        <a:t>Parameter value</a:t>
                      </a:r>
                    </a:p>
                  </a:txBody>
                  <a:tcPr marL="54864" marR="54864" marT="27432" marB="27432">
                    <a:solidFill>
                      <a:srgbClr val="E5F5FF"/>
                    </a:solidFill>
                  </a:tcPr>
                </a:tc>
                <a:tc>
                  <a:txBody>
                    <a:bodyPr/>
                    <a:lstStyle/>
                    <a:p>
                      <a:r>
                        <a:rPr sz="850" b="0">
                          <a:solidFill>
                            <a:srgbClr val="4B4B4B"/>
                          </a:solidFill>
                          <a:latin typeface="Arial"/>
                        </a:rPr>
                        <a:t>Text or drop-down</a:t>
                      </a:r>
                    </a:p>
                  </a:txBody>
                  <a:tcPr marL="54864" marR="54864" marT="27432" marB="27432">
                    <a:solidFill>
                      <a:srgbClr val="E5F5FF"/>
                    </a:solidFill>
                  </a:tcPr>
                </a:tc>
                <a:tc>
                  <a:txBody>
                    <a:bodyPr/>
                    <a:lstStyle/>
                    <a:p>
                      <a:r>
                        <a:rPr sz="850" b="0">
                          <a:solidFill>
                            <a:srgbClr val="4B4B4B"/>
                          </a:solidFill>
                          <a:latin typeface="Arial"/>
                        </a:rPr>
                        <a:t>The value with its hint; the aging basis as a drop-down (Booking date or Inception date)</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Within the range of the parameter</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3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SCR-CL-19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310</a:t>
            </a:r>
          </a:p>
        </p:txBody>
      </p:sp>
      <p:graphicFrame>
        <p:nvGraphicFramePr>
          <p:cNvPr id="9" name="Table 8"/>
          <p:cNvGraphicFramePr>
            <a:graphicFrameLocks noGrp="1"/>
          </p:cNvGraphicFramePr>
          <p:nvPr/>
        </p:nvGraphicFramePr>
        <p:xfrm>
          <a:off x="548640" y="1325880"/>
          <a:ext cx="11094412" cy="1973569"/>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Refresh Worklist Now</a:t>
                      </a:r>
                    </a:p>
                  </a:txBody>
                  <a:tcPr marL="54864" marR="54864" marT="27432" marB="27432">
                    <a:solidFill>
                      <a:srgbClr val="FFFFFF"/>
                    </a:solidFill>
                  </a:tcPr>
                </a:tc>
                <a:tc>
                  <a:txBody>
                    <a:bodyPr/>
                    <a:lstStyle/>
                    <a:p>
                      <a:r>
                        <a:rPr sz="850" b="0">
                          <a:solidFill>
                            <a:srgbClr val="4B4B4B"/>
                          </a:solidFill>
                          <a:latin typeface="Arial"/>
                        </a:rPr>
                        <a:t>Users with the Collections set-up permission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Runs the refresh of the worklist from the invoice ledger at once and shows its outcome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Parameter row</a:t>
                      </a:r>
                    </a:p>
                  </a:txBody>
                  <a:tcPr marL="54864" marR="54864" marT="27432" marB="27432">
                    <a:solidFill>
                      <a:srgbClr val="E5F5FF"/>
                    </a:solidFill>
                  </a:tcPr>
                </a:tc>
                <a:tc>
                  <a:txBody>
                    <a:bodyPr/>
                    <a:lstStyle/>
                    <a:p>
                      <a:r>
                        <a:rPr sz="850" b="0">
                          <a:solidFill>
                            <a:srgbClr val="4B4B4B"/>
                          </a:solidFill>
                          <a:latin typeface="Arial"/>
                        </a:rPr>
                        <a:t>Users with the Collections set-up permission</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Change Parameter</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Attribute value</a:t>
                      </a:r>
                    </a:p>
                  </a:txBody>
                  <a:tcPr marL="54864" marR="54864" marT="27432" marB="27432">
                    <a:solidFill>
                      <a:srgbClr val="FFFFFF"/>
                    </a:solidFill>
                  </a:tcPr>
                </a:tc>
                <a:tc>
                  <a:txBody>
                    <a:bodyPr/>
                    <a:lstStyle/>
                    <a:p>
                      <a:r>
                        <a:rPr sz="850" b="0">
                          <a:solidFill>
                            <a:srgbClr val="4B4B4B"/>
                          </a:solidFill>
                          <a:latin typeface="Arial"/>
                        </a:rPr>
                        <a:t>Users with the Collections set-up permission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attribute of the disposition value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Maintain LOV Values</a:t>
                      </a:r>
                    </a:p>
                  </a:txBody>
                  <a:tcPr marL="54864" marR="54864" marT="27432" marB="27432">
                    <a:solidFill>
                      <a:srgbClr val="E5F5FF"/>
                    </a:solidFill>
                  </a:tcPr>
                </a:tc>
                <a:tc>
                  <a:txBody>
                    <a:bodyPr/>
                    <a:lstStyle/>
                    <a:p>
                      <a:r>
                        <a:rPr sz="850" b="0">
                          <a:solidFill>
                            <a:srgbClr val="4B4B4B"/>
                          </a:solidFill>
                          <a:latin typeface="Arial"/>
                        </a:rPr>
                        <a:t>Users who maintain lists of values</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the Lists of Values screen to add or deactivate disposition values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Unit row</a:t>
                      </a:r>
                    </a:p>
                  </a:txBody>
                  <a:tcPr marL="54864" marR="54864" marT="27432" marB="27432">
                    <a:solidFill>
                      <a:srgbClr val="FFFFFF"/>
                    </a:solidFill>
                  </a:tcPr>
                </a:tc>
                <a:tc>
                  <a:txBody>
                    <a:bodyPr/>
                    <a:lstStyle/>
                    <a:p>
                      <a:r>
                        <a:rPr sz="850" b="0">
                          <a:solidFill>
                            <a:srgbClr val="4B4B4B"/>
                          </a:solidFill>
                          <a:latin typeface="Arial"/>
                        </a:rPr>
                        <a:t>Users with the Collections set-up permission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Sets the Unit Head of the unit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SCR-CL-19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311</a:t>
            </a:r>
          </a:p>
        </p:txBody>
      </p:sp>
      <p:graphicFrame>
        <p:nvGraphicFramePr>
          <p:cNvPr id="9" name="Table 8"/>
          <p:cNvGraphicFramePr>
            <a:graphicFrameLocks noGrp="1"/>
          </p:cNvGraphicFramePr>
          <p:nvPr/>
        </p:nvGraphicFramePr>
        <p:xfrm>
          <a:off x="548640" y="1325880"/>
          <a:ext cx="11094415" cy="9753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Every change is kept in the Collections audit log with the old and new value (FR-CL-003, FR-CL-012).</a:t>
                      </a:r>
                    </a:p>
                  </a:txBody>
                  <a:tcPr marL="54864" marR="54864" marT="27432" marB="27432">
                    <a:solidFill>
                      <a:srgbClr val="FFFFFF"/>
                    </a:solidFill>
                  </a:tcPr>
                </a:tc>
              </a:tr>
              <a:tr h="243840">
                <a:tc>
                  <a:txBody>
                    <a:bodyPr/>
                    <a:lstStyle/>
                    <a:p>
                      <a:r>
                        <a:rPr sz="1000" b="0">
                          <a:solidFill>
                            <a:srgbClr val="4B4B4B"/>
                          </a:solidFill>
                          <a:latin typeface="Arial"/>
                        </a:rPr>
                        <a:t>Disposition values themselves are added and deactivated on the Lists of Values screen with maker-checker; their rules are kept here (FR-CL-030, FR-CL-072).</a:t>
                      </a:r>
                    </a:p>
                  </a:txBody>
                  <a:tcPr marL="54864" marR="54864" marT="27432" marB="27432">
                    <a:solidFill>
                      <a:srgbClr val="E5F5FF"/>
                    </a:solidFill>
                  </a:tcPr>
                </a:tc>
              </a:tr>
              <a:tr h="243840">
                <a:tc>
                  <a:txBody>
                    <a:bodyPr/>
                    <a:lstStyle/>
                    <a:p>
                      <a:r>
                        <a:rPr sz="1000" b="0">
                          <a:solidFill>
                            <a:srgbClr val="4B4B4B"/>
                          </a:solidFill>
                          <a:latin typeface="Arial"/>
                        </a:rPr>
                        <a:t>The minimal balance threshold is 10.00 by default; the business changes it here without a change request (FR-CL-012).</a:t>
                      </a:r>
                    </a:p>
                  </a:txBody>
                  <a:tcPr marL="54864" marR="54864" marT="27432" marB="27432">
                    <a:solidFill>
                      <a:srgbClr val="FFFFFF"/>
                    </a:solidFill>
                  </a:tcPr>
                </a:tc>
              </a:tr>
            </a:tbl>
          </a:graphicData>
        </a:graphic>
      </p:graphicFrame>
    </p:spTree>
  </p:cSld>
  <p:clrMapOvr>
    <a:masterClrMapping/>
  </p:clrMapOvr>
</p:sld>
</file>

<file path=ppt/slides/slide3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SCR-CL-19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312</a:t>
            </a:r>
          </a:p>
        </p:txBody>
      </p:sp>
      <p:graphicFrame>
        <p:nvGraphicFramePr>
          <p:cNvPr id="9" name="Table 8"/>
          <p:cNvGraphicFramePr>
            <a:graphicFrameLocks noGrp="1"/>
          </p:cNvGraphicFramePr>
          <p:nvPr/>
        </p:nvGraphicFramePr>
        <p:xfrm>
          <a:off x="548640" y="1325880"/>
          <a:ext cx="11094413" cy="45720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WT-A step 1</a:t>
                      </a:r>
                    </a:p>
                  </a:txBody>
                  <a:tcPr marL="54864" marR="54864" marT="27432" marB="27432">
                    <a:solidFill>
                      <a:srgbClr val="FFFFFF"/>
                    </a:solidFill>
                  </a:tcPr>
                </a:tc>
                <a:tc>
                  <a:txBody>
                    <a:bodyPr/>
                    <a:lstStyle/>
                    <a:p>
                      <a:r>
                        <a:rPr sz="900" b="0">
                          <a:solidFill>
                            <a:srgbClr val="4B4B4B"/>
                          </a:solidFill>
                          <a:latin typeface="Arial"/>
                        </a:rPr>
                        <a:t>Clicks Refresh Worklist Now on Collections Setup</a:t>
                      </a:r>
                    </a:p>
                  </a:txBody>
                  <a:tcPr marL="54864" marR="54864" marT="27432" marB="27432">
                    <a:solidFill>
                      <a:srgbClr val="FFFFFF"/>
                    </a:solidFill>
                  </a:tcPr>
                </a:tc>
                <a:tc>
                  <a:txBody>
                    <a:bodyPr/>
                    <a:lstStyle/>
                    <a:p>
                      <a:r>
                        <a:rPr sz="900" b="0">
                          <a:solidFill>
                            <a:srgbClr val="4B4B4B"/>
                          </a:solidFill>
                          <a:latin typeface="Arial"/>
                        </a:rPr>
                        <a:t>SCR-CL-19_wt-a-step-01.png</a:t>
                      </a:r>
                    </a:p>
                  </a:txBody>
                  <a:tcPr marL="54864" marR="54864" marT="27432" marB="27432">
                    <a:solidFill>
                      <a:srgbClr val="FFFFFF"/>
                    </a:solidFill>
                  </a:tcPr>
                </a:tc>
              </a:tr>
            </a:tbl>
          </a:graphicData>
        </a:graphic>
      </p:graphicFrame>
    </p:spTree>
  </p:cSld>
  <p:clrMapOvr>
    <a:masterClrMapping/>
  </p:clrMapOvr>
</p:sld>
</file>

<file path=ppt/slides/slide3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SCR-CL-19 Collections Setup: Default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71.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Collections Setup: the parameters and the disposition rules (part 1 of 4)</a:t>
            </a:r>
          </a:p>
        </p:txBody>
      </p:sp>
    </p:spTree>
  </p:cSld>
  <p:clrMapOvr>
    <a:masterClrMapping/>
  </p:clrMapOvr>
</p:sld>
</file>

<file path=ppt/slides/slide3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SCR-CL-19 Collections Setup: Default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72.png"/>
          <p:cNvPicPr>
            <a:picLocks noChangeAspect="1"/>
          </p:cNvPicPr>
          <p:nvPr/>
        </p:nvPicPr>
        <p:blipFill>
          <a:blip r:embed="rId3"/>
          <a:stretch>
            <a:fillRect/>
          </a:stretch>
        </p:blipFill>
        <p:spPr>
          <a:xfrm>
            <a:off x="548640" y="1261872"/>
            <a:ext cx="11094415" cy="460992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Collections Setup: the parameters and the disposition rules (part 2 of 4)</a:t>
            </a:r>
          </a:p>
        </p:txBody>
      </p:sp>
    </p:spTree>
  </p:cSld>
  <p:clrMapOvr>
    <a:masterClrMapping/>
  </p:clrMapOvr>
</p:sld>
</file>

<file path=ppt/slides/slide3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SCR-CL-19 Collections Setup: Default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73.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Collections Setup: the parameters and the disposition rules (part 3 of 4)</a:t>
            </a:r>
          </a:p>
        </p:txBody>
      </p:sp>
    </p:spTree>
  </p:cSld>
  <p:clrMapOvr>
    <a:masterClrMapping/>
  </p:clrMapOvr>
</p:sld>
</file>

<file path=ppt/slides/slide3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SCR-CL-19 Collections Setup: Default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74.png"/>
          <p:cNvPicPr>
            <a:picLocks noChangeAspect="1"/>
          </p:cNvPicPr>
          <p:nvPr/>
        </p:nvPicPr>
        <p:blipFill>
          <a:blip r:embed="rId3"/>
          <a:stretch>
            <a:fillRect/>
          </a:stretch>
        </p:blipFill>
        <p:spPr>
          <a:xfrm>
            <a:off x="548640" y="1261872"/>
            <a:ext cx="11094415" cy="447602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Collections Setup: the parameters and the disposition rules (part 4 of 4)</a:t>
            </a:r>
          </a:p>
        </p:txBody>
      </p:sp>
    </p:spTree>
  </p:cSld>
  <p:clrMapOvr>
    <a:masterClrMapping/>
  </p:clrMapOvr>
</p:sld>
</file>

<file path=ppt/slides/slide3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SCR-CL-19 Collections Setup: Filled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cr-cl-19-02-change.png"/>
          <p:cNvPicPr>
            <a:picLocks noChangeAspect="1"/>
          </p:cNvPicPr>
          <p:nvPr/>
        </p:nvPicPr>
        <p:blipFill>
          <a:blip r:embed="rId3"/>
          <a:stretch>
            <a:fillRect/>
          </a:stretch>
        </p:blipFill>
        <p:spPr>
          <a:xfrm>
            <a:off x="548640" y="1261872"/>
            <a:ext cx="11094415" cy="331422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Change Parameter dialog of the minimal balance threshold</a:t>
            </a:r>
          </a:p>
        </p:txBody>
      </p:sp>
    </p:spTree>
  </p:cSld>
  <p:clrMapOvr>
    <a:masterClrMapping/>
  </p:clrMapOvr>
</p:sld>
</file>

<file path=ppt/slides/slide3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Outputs</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Documents, e-mails and notifications, and the exports as the user receives them</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BRD-4 Collections</a:t>
            </a:r>
          </a:p>
        </p:txBody>
      </p:sp>
    </p:spTree>
  </p:cSld>
  <p:clrMapOvr>
    <a:masterClrMapping/>
  </p:clrMapOvr>
</p:sld>
</file>

<file path=ppt/slides/slide3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DO-01 Statement of account (SOA)</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319</a:t>
            </a:r>
          </a:p>
        </p:txBody>
      </p:sp>
      <p:pic>
        <p:nvPicPr>
          <p:cNvPr id="9" name="Picture 8" descr="doc-soa.png"/>
          <p:cNvPicPr>
            <a:picLocks noChangeAspect="1"/>
          </p:cNvPicPr>
          <p:nvPr/>
        </p:nvPicPr>
        <p:blipFill>
          <a:blip r:embed="rId3"/>
          <a:stretch>
            <a:fillRect/>
          </a:stretch>
        </p:blipFill>
        <p:spPr>
          <a:xfrm>
            <a:off x="1606181" y="1261872"/>
            <a:ext cx="3554197" cy="5029200"/>
          </a:xfrm>
          <a:prstGeom prst="rect">
            <a:avLst/>
          </a:prstGeom>
          <a:ln w="9525">
            <a:solidFill>
              <a:srgbClr val="C2C2C1"/>
            </a:solidFill>
          </a:ln>
        </p:spPr>
      </p:pic>
      <p:graphicFrame>
        <p:nvGraphicFramePr>
          <p:cNvPr id="10" name="Table 9"/>
          <p:cNvGraphicFramePr>
            <a:graphicFrameLocks noGrp="1"/>
          </p:cNvGraphicFramePr>
          <p:nvPr/>
        </p:nvGraphicFramePr>
        <p:xfrm>
          <a:off x="6492240" y="1307592"/>
          <a:ext cx="5150815" cy="2651760"/>
        </p:xfrm>
        <a:graphic>
          <a:graphicData uri="http://schemas.openxmlformats.org/drawingml/2006/table">
            <a:tbl>
              <a:tblPr bandRow="1">
                <a:tableStyleId>{5C22544A-7EE6-4342-B048-85BDC9FD1C3A}</a:tableStyleId>
              </a:tblPr>
              <a:tblGrid>
                <a:gridCol w="1371600"/>
                <a:gridCol w="3779215"/>
              </a:tblGrid>
              <a:tr h="228600">
                <a:tc>
                  <a:txBody>
                    <a:bodyPr/>
                    <a:lstStyle/>
                    <a:p>
                      <a:r>
                        <a:rPr sz="900" b="1">
                          <a:solidFill>
                            <a:srgbClr val="004EA8"/>
                          </a:solidFill>
                          <a:latin typeface="Arial"/>
                        </a:rPr>
                        <a:t>Template</a:t>
                      </a:r>
                    </a:p>
                  </a:txBody>
                  <a:tcPr marL="54864" marR="54864" marT="27432" marB="27432">
                    <a:solidFill>
                      <a:srgbClr val="E5F5FF"/>
                    </a:solidFill>
                  </a:tcPr>
                </a:tc>
                <a:tc>
                  <a:txBody>
                    <a:bodyPr/>
                    <a:lstStyle/>
                    <a:p>
                      <a:r>
                        <a:rPr sz="900" b="0">
                          <a:solidFill>
                            <a:srgbClr val="4B4B4B"/>
                          </a:solidFill>
                          <a:latin typeface="Arial"/>
                        </a:rPr>
                        <a:t>Statement of account template (wording to confirm, CQ18)</a:t>
                      </a:r>
                    </a:p>
                  </a:txBody>
                  <a:tcPr marL="54864" marR="54864" marT="27432" marB="27432">
                    <a:solidFill>
                      <a:srgbClr val="FFFFFF"/>
                    </a:solidFill>
                  </a:tcPr>
                </a:tc>
              </a:tr>
              <a:tr h="228600">
                <a:tc>
                  <a:txBody>
                    <a:bodyPr/>
                    <a:lstStyle/>
                    <a:p>
                      <a:r>
                        <a:rPr sz="900" b="1">
                          <a:solidFill>
                            <a:srgbClr val="004EA8"/>
                          </a:solidFill>
                          <a:latin typeface="Arial"/>
                        </a:rPr>
                        <a:t>Format</a:t>
                      </a:r>
                    </a:p>
                  </a:txBody>
                  <a:tcPr marL="54864" marR="54864" marT="27432" marB="27432">
                    <a:solidFill>
                      <a:srgbClr val="E5F5FF"/>
                    </a:solidFill>
                  </a:tcPr>
                </a:tc>
                <a:tc>
                  <a:txBody>
                    <a:bodyPr/>
                    <a:lstStyle/>
                    <a:p>
                      <a:r>
                        <a:rPr sz="900" b="0">
                          <a:solidFill>
                            <a:srgbClr val="4B4B4B"/>
                          </a:solidFill>
                          <a:latin typeface="Arial"/>
                        </a:rPr>
                        <a:t>PDF, one per billing cycle of an installment plan</a:t>
                      </a:r>
                    </a:p>
                  </a:txBody>
                  <a:tcPr marL="54864" marR="54864" marT="27432" marB="27432">
                    <a:solidFill>
                      <a:srgbClr val="FFFFFF"/>
                    </a:solidFill>
                  </a:tcPr>
                </a:tc>
              </a:tr>
              <a:tr h="365760">
                <a:tc>
                  <a:txBody>
                    <a:bodyPr/>
                    <a:lstStyle/>
                    <a:p>
                      <a:r>
                        <a:rPr sz="900" b="1">
                          <a:solidFill>
                            <a:srgbClr val="004EA8"/>
                          </a:solidFill>
                          <a:latin typeface="Arial"/>
                        </a:rPr>
                        <a:t>Produced by</a:t>
                      </a:r>
                    </a:p>
                  </a:txBody>
                  <a:tcPr marL="54864" marR="54864" marT="27432" marB="27432">
                    <a:solidFill>
                      <a:srgbClr val="E5F5FF"/>
                    </a:solidFill>
                  </a:tcPr>
                </a:tc>
                <a:tc>
                  <a:txBody>
                    <a:bodyPr/>
                    <a:lstStyle/>
                    <a:p>
                      <a:r>
                        <a:rPr sz="900" b="0">
                          <a:solidFill>
                            <a:srgbClr val="4B4B4B"/>
                          </a:solidFill>
                          <a:latin typeface="Arial"/>
                        </a:rPr>
                        <a:t>Statement of Account › Download PDF; Send via Email; Billing Run and Generate SOA create the statement</a:t>
                      </a:r>
                    </a:p>
                  </a:txBody>
                  <a:tcPr marL="54864" marR="54864" marT="27432" marB="27432">
                    <a:solidFill>
                      <a:srgbClr val="FFFFFF"/>
                    </a:solidFill>
                  </a:tcPr>
                </a:tc>
              </a:tr>
              <a:tr h="228600">
                <a:tc>
                  <a:txBody>
                    <a:bodyPr/>
                    <a:lstStyle/>
                    <a:p>
                      <a:r>
                        <a:rPr sz="900" b="1">
                          <a:solidFill>
                            <a:srgbClr val="004EA8"/>
                          </a:solidFill>
                          <a:latin typeface="Arial"/>
                        </a:rPr>
                        <a:t>Password protected</a:t>
                      </a:r>
                    </a:p>
                  </a:txBody>
                  <a:tcPr marL="54864" marR="54864" marT="27432" marB="27432">
                    <a:solidFill>
                      <a:srgbClr val="E5F5FF"/>
                    </a:solidFill>
                  </a:tcPr>
                </a:tc>
                <a:tc>
                  <a:txBody>
                    <a:bodyPr/>
                    <a:lstStyle/>
                    <a:p>
                      <a:r>
                        <a:rPr sz="900" b="0">
                          <a:solidFill>
                            <a:srgbClr val="4B4B4B"/>
                          </a:solidFill>
                          <a:latin typeface="Arial"/>
                        </a:rPr>
                        <a:t>Yes when e-mailed (password in a separate e-mail)</a:t>
                      </a:r>
                    </a:p>
                  </a:txBody>
                  <a:tcPr marL="54864" marR="54864" marT="27432" marB="27432">
                    <a:solidFill>
                      <a:srgbClr val="FFFFFF"/>
                    </a:solidFill>
                  </a:tcPr>
                </a:tc>
              </a:tr>
              <a:tr h="1600200">
                <a:tc>
                  <a:txBody>
                    <a:bodyPr/>
                    <a:lstStyle/>
                    <a:p>
                      <a:r>
                        <a:rPr sz="900" b="1">
                          <a:solidFill>
                            <a:srgbClr val="004EA8"/>
                          </a:solidFill>
                          <a:latin typeface="Arial"/>
                        </a:rPr>
                        <a:t>Fields</a:t>
                      </a:r>
                    </a:p>
                  </a:txBody>
                  <a:tcPr marL="54864" marR="54864" marT="27432" marB="27432">
                    <a:solidFill>
                      <a:srgbClr val="E5F5FF"/>
                    </a:solidFill>
                  </a:tcPr>
                </a:tc>
                <a:tc>
                  <a:txBody>
                    <a:bodyPr/>
                    <a:lstStyle/>
                    <a:p>
                      <a:r>
                        <a:rPr sz="900" b="0">
                          <a:solidFill>
                            <a:srgbClr val="4B4B4B"/>
                          </a:solidFill>
                          <a:latin typeface="Arial"/>
                        </a:rPr>
                        <a:t>Title and reference: Statement of Account, SOA number and date – from the statement</a:t>
                      </a:r>
                    </a:p>
                    <a:p>
                      <a:r>
                        <a:rPr sz="900" b="0">
                          <a:solidFill>
                            <a:srgbClr val="4B4B4B"/>
                          </a:solidFill>
                          <a:latin typeface="Arial"/>
                        </a:rPr>
                        <a:t>Account: Name of the assured, ARN, billing frequency, billing cycle and due date – from the installment plan</a:t>
                      </a:r>
                    </a:p>
                    <a:p>
                      <a:r>
                        <a:rPr sz="900" b="0">
                          <a:solidFill>
                            <a:srgbClr val="4B4B4B"/>
                          </a:solidFill>
                          <a:latin typeface="Arial"/>
                        </a:rPr>
                        <a:t>Installments billed: the installment of the cycle and any earlier installment still unpaid (arrears), with invoice, policy year, coverage, due date, amount, paid and balance – from the plan and the invoice ledger</a:t>
                      </a:r>
                    </a:p>
                    <a:p>
                      <a:r>
                        <a:rPr sz="900" b="0">
                          <a:solidFill>
                            <a:srgbClr val="4B4B4B"/>
                          </a:solidFill>
                          <a:latin typeface="Arial"/>
                        </a:rPr>
                        <a:t>Amount due and the text of the template: settle the amount on or before the due date; disregard if paid; issued for monitoring only, creates no new receivable</a:t>
                      </a:r>
                    </a:p>
                  </a:txBody>
                  <a:tcPr marL="54864" marR="54864" marT="27432" marB="27432">
                    <a:solidFill>
                      <a:srgbClr val="FFFFFF"/>
                    </a:solidFill>
                  </a:tcPr>
                </a:tc>
              </a:tr>
            </a:tbl>
          </a:graphicData>
        </a:graphic>
      </p:graphicFrame>
    </p:spTree>
  </p:cSld>
  <p:clrMapOvr>
    <a:masterClrMapping/>
  </p:clrMapOvr>
</p:sld>
</file>

<file path=ppt/slides/slide3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DO-02 Outstanding PR List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320</a:t>
            </a:r>
          </a:p>
        </p:txBody>
      </p:sp>
      <p:pic>
        <p:nvPicPr>
          <p:cNvPr id="9" name="Picture 8" descr="doc-outstanding-pr.png"/>
          <p:cNvPicPr>
            <a:picLocks noChangeAspect="1"/>
          </p:cNvPicPr>
          <p:nvPr/>
        </p:nvPicPr>
        <p:blipFill>
          <a:blip r:embed="rId3"/>
          <a:stretch>
            <a:fillRect/>
          </a:stretch>
        </p:blipFill>
        <p:spPr>
          <a:xfrm>
            <a:off x="548640" y="1261872"/>
            <a:ext cx="5669280" cy="599278"/>
          </a:xfrm>
          <a:prstGeom prst="rect">
            <a:avLst/>
          </a:prstGeom>
          <a:ln w="9525">
            <a:solidFill>
              <a:srgbClr val="C2C2C1"/>
            </a:solidFill>
          </a:ln>
        </p:spPr>
      </p:pic>
      <p:graphicFrame>
        <p:nvGraphicFramePr>
          <p:cNvPr id="10" name="Table 9"/>
          <p:cNvGraphicFramePr>
            <a:graphicFrameLocks noGrp="1"/>
          </p:cNvGraphicFramePr>
          <p:nvPr/>
        </p:nvGraphicFramePr>
        <p:xfrm>
          <a:off x="6492240" y="1307592"/>
          <a:ext cx="5150815" cy="2926080"/>
        </p:xfrm>
        <a:graphic>
          <a:graphicData uri="http://schemas.openxmlformats.org/drawingml/2006/table">
            <a:tbl>
              <a:tblPr bandRow="1">
                <a:tableStyleId>{5C22544A-7EE6-4342-B048-85BDC9FD1C3A}</a:tableStyleId>
              </a:tblPr>
              <a:tblGrid>
                <a:gridCol w="1371600"/>
                <a:gridCol w="3779215"/>
              </a:tblGrid>
              <a:tr h="228600">
                <a:tc>
                  <a:txBody>
                    <a:bodyPr/>
                    <a:lstStyle/>
                    <a:p>
                      <a:r>
                        <a:rPr sz="900" b="1">
                          <a:solidFill>
                            <a:srgbClr val="004EA8"/>
                          </a:solidFill>
                          <a:latin typeface="Arial"/>
                        </a:rPr>
                        <a:t>Template</a:t>
                      </a:r>
                    </a:p>
                  </a:txBody>
                  <a:tcPr marL="54864" marR="54864" marT="27432" marB="27432">
                    <a:solidFill>
                      <a:srgbClr val="E5F5FF"/>
                    </a:solidFill>
                  </a:tcPr>
                </a:tc>
                <a:tc>
                  <a:txBody>
                    <a:bodyPr/>
                    <a:lstStyle/>
                    <a:p>
                      <a:r>
                        <a:rPr sz="900" b="0">
                          <a:solidFill>
                            <a:srgbClr val="4B4B4B"/>
                          </a:solidFill>
                          <a:latin typeface="Arial"/>
                        </a:rPr>
                        <a:t>(report layout of the Collections reports)</a:t>
                      </a:r>
                    </a:p>
                  </a:txBody>
                  <a:tcPr marL="54864" marR="54864" marT="27432" marB="27432">
                    <a:solidFill>
                      <a:srgbClr val="FFFFFF"/>
                    </a:solidFill>
                  </a:tcPr>
                </a:tc>
              </a:tr>
              <a:tr h="365760">
                <a:tc>
                  <a:txBody>
                    <a:bodyPr/>
                    <a:lstStyle/>
                    <a:p>
                      <a:r>
                        <a:rPr sz="900" b="1">
                          <a:solidFill>
                            <a:srgbClr val="004EA8"/>
                          </a:solidFill>
                          <a:latin typeface="Arial"/>
                        </a:rPr>
                        <a:t>Format</a:t>
                      </a:r>
                    </a:p>
                  </a:txBody>
                  <a:tcPr marL="54864" marR="54864" marT="27432" marB="27432">
                    <a:solidFill>
                      <a:srgbClr val="E5F5FF"/>
                    </a:solidFill>
                  </a:tcPr>
                </a:tc>
                <a:tc>
                  <a:txBody>
                    <a:bodyPr/>
                    <a:lstStyle/>
                    <a:p>
                      <a:r>
                        <a:rPr sz="900" b="0">
                          <a:solidFill>
                            <a:srgbClr val="4B4B4B"/>
                          </a:solidFill>
                          <a:latin typeface="Arial"/>
                        </a:rPr>
                        <a:t>Excel; daily at the end of the day, and on request (Export to Files)</a:t>
                      </a:r>
                    </a:p>
                  </a:txBody>
                  <a:tcPr marL="54864" marR="54864" marT="27432" marB="27432">
                    <a:solidFill>
                      <a:srgbClr val="FFFFFF"/>
                    </a:solidFill>
                  </a:tcPr>
                </a:tc>
              </a:tr>
              <a:tr h="228600">
                <a:tc>
                  <a:txBody>
                    <a:bodyPr/>
                    <a:lstStyle/>
                    <a:p>
                      <a:r>
                        <a:rPr sz="900" b="1">
                          <a:solidFill>
                            <a:srgbClr val="004EA8"/>
                          </a:solidFill>
                          <a:latin typeface="Arial"/>
                        </a:rPr>
                        <a:t>Produced by</a:t>
                      </a:r>
                    </a:p>
                  </a:txBody>
                  <a:tcPr marL="54864" marR="54864" marT="27432" marB="27432">
                    <a:solidFill>
                      <a:srgbClr val="E5F5FF"/>
                    </a:solidFill>
                  </a:tcPr>
                </a:tc>
                <a:tc>
                  <a:txBody>
                    <a:bodyPr/>
                    <a:lstStyle/>
                    <a:p>
                      <a:r>
                        <a:rPr sz="900" b="0">
                          <a:solidFill>
                            <a:srgbClr val="4B4B4B"/>
                          </a:solidFill>
                          <a:latin typeface="Arial"/>
                        </a:rPr>
                        <a:t>Collections Files (daily file); PR Worklist › Export to Files</a:t>
                      </a:r>
                    </a:p>
                  </a:txBody>
                  <a:tcPr marL="54864" marR="54864" marT="27432" marB="27432">
                    <a:solidFill>
                      <a:srgbClr val="FFFFFF"/>
                    </a:solidFill>
                  </a:tcPr>
                </a:tc>
              </a:tr>
              <a:tr h="228600">
                <a:tc>
                  <a:txBody>
                    <a:bodyPr/>
                    <a:lstStyle/>
                    <a:p>
                      <a:r>
                        <a:rPr sz="900" b="1">
                          <a:solidFill>
                            <a:srgbClr val="004EA8"/>
                          </a:solidFill>
                          <a:latin typeface="Arial"/>
                        </a:rPr>
                        <a:t>Password protected</a:t>
                      </a:r>
                    </a:p>
                  </a:txBody>
                  <a:tcPr marL="54864" marR="54864" marT="27432" marB="27432">
                    <a:solidFill>
                      <a:srgbClr val="E5F5FF"/>
                    </a:solidFill>
                  </a:tcPr>
                </a:tc>
                <a:tc>
                  <a:txBody>
                    <a:bodyPr/>
                    <a:lstStyle/>
                    <a:p>
                      <a:r>
                        <a:rPr sz="900" b="0">
                          <a:solidFill>
                            <a:srgbClr val="4B4B4B"/>
                          </a:solidFill>
                          <a:latin typeface="Arial"/>
                        </a:rPr>
                        <a:t>No</a:t>
                      </a:r>
                    </a:p>
                  </a:txBody>
                  <a:tcPr marL="54864" marR="54864" marT="27432" marB="27432">
                    <a:solidFill>
                      <a:srgbClr val="FFFFFF"/>
                    </a:solidFill>
                  </a:tcPr>
                </a:tc>
              </a:tr>
              <a:tr h="1874520">
                <a:tc>
                  <a:txBody>
                    <a:bodyPr/>
                    <a:lstStyle/>
                    <a:p>
                      <a:r>
                        <a:rPr sz="900" b="1">
                          <a:solidFill>
                            <a:srgbClr val="004EA8"/>
                          </a:solidFill>
                          <a:latin typeface="Arial"/>
                        </a:rPr>
                        <a:t>Fields</a:t>
                      </a:r>
                    </a:p>
                  </a:txBody>
                  <a:tcPr marL="54864" marR="54864" marT="27432" marB="27432">
                    <a:solidFill>
                      <a:srgbClr val="E5F5FF"/>
                    </a:solidFill>
                  </a:tcPr>
                </a:tc>
                <a:tc>
                  <a:txBody>
                    <a:bodyPr/>
                    <a:lstStyle/>
                    <a:p>
                      <a:r>
                        <a:rPr sz="900" b="0">
                          <a:solidFill>
                            <a:srgbClr val="4B4B4B"/>
                          </a:solidFill>
                          <a:latin typeface="Arial"/>
                        </a:rPr>
                        <a:t>Client and account: Client Code, Name of Assured, Invoice No., Policy No., Account (ARN), Booking Date, Aging Bracket, Invoicing Branch, Insurer, Product Line, Inception, Expiry – from the invoice ledger</a:t>
                      </a:r>
                    </a:p>
                    <a:p>
                      <a:r>
                        <a:rPr sz="900" b="0">
                          <a:solidFill>
                            <a:srgbClr val="4B4B4B"/>
                          </a:solidFill>
                          <a:latin typeface="Arial"/>
                        </a:rPr>
                        <a:t>Amounts: Currency, Total Premium, Outstanding Premium, PR2307 Amount – from the invoice ledger</a:t>
                      </a:r>
                    </a:p>
                    <a:p>
                      <a:r>
                        <a:rPr sz="900" b="0">
                          <a:solidFill>
                            <a:srgbClr val="4B4B4B"/>
                          </a:solidFill>
                          <a:latin typeface="Arial"/>
                        </a:rPr>
                        <a:t>Ownership: Market Segment, Sales Unit, Unit Head, Account Officer, Collection Handler – from the sales organisation and the assignments</a:t>
                      </a:r>
                    </a:p>
                    <a:p>
                      <a:r>
                        <a:rPr sz="900" b="0">
                          <a:solidFill>
                            <a:srgbClr val="4B4B4B"/>
                          </a:solidFill>
                          <a:latin typeface="Arial"/>
                        </a:rPr>
                        <a:t>Collection work: Client Payment Status, Invoice Category, Disposition, Category (A/B/C), Tagging Owner, Last Collection Effort Date, Last Collection Effort Code, Remarks, Status – from the collection account</a:t>
                      </a:r>
                    </a:p>
                  </a:txBody>
                  <a:tcPr marL="54864" marR="54864" marT="27432" marB="27432">
                    <a:solidFill>
                      <a:srgbClr val="FFFFFF"/>
                    </a:solidFill>
                  </a:tcPr>
                </a:tc>
              </a:tr>
            </a:tbl>
          </a:graphicData>
        </a:graphic>
      </p:graphicFrame>
    </p:spTree>
  </p:cSld>
  <p:clrMapOvr>
    <a:masterClrMapping/>
  </p:clrMapOvr>
</p:sld>
</file>

<file path=ppt/slides/slide3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DO-03 Full Production Report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321</a:t>
            </a:r>
          </a:p>
        </p:txBody>
      </p:sp>
      <p:pic>
        <p:nvPicPr>
          <p:cNvPr id="9" name="Picture 8" descr="doc-full-production.png"/>
          <p:cNvPicPr>
            <a:picLocks noChangeAspect="1"/>
          </p:cNvPicPr>
          <p:nvPr/>
        </p:nvPicPr>
        <p:blipFill>
          <a:blip r:embed="rId3"/>
          <a:stretch>
            <a:fillRect/>
          </a:stretch>
        </p:blipFill>
        <p:spPr>
          <a:xfrm>
            <a:off x="548640" y="1261872"/>
            <a:ext cx="5669280" cy="551548"/>
          </a:xfrm>
          <a:prstGeom prst="rect">
            <a:avLst/>
          </a:prstGeom>
          <a:ln w="9525">
            <a:solidFill>
              <a:srgbClr val="C2C2C1"/>
            </a:solidFill>
          </a:ln>
        </p:spPr>
      </p:pic>
      <p:graphicFrame>
        <p:nvGraphicFramePr>
          <p:cNvPr id="10" name="Table 9"/>
          <p:cNvGraphicFramePr>
            <a:graphicFrameLocks noGrp="1"/>
          </p:cNvGraphicFramePr>
          <p:nvPr/>
        </p:nvGraphicFramePr>
        <p:xfrm>
          <a:off x="6492240" y="1307592"/>
          <a:ext cx="5150815" cy="1417320"/>
        </p:xfrm>
        <a:graphic>
          <a:graphicData uri="http://schemas.openxmlformats.org/drawingml/2006/table">
            <a:tbl>
              <a:tblPr bandRow="1">
                <a:tableStyleId>{5C22544A-7EE6-4342-B048-85BDC9FD1C3A}</a:tableStyleId>
              </a:tblPr>
              <a:tblGrid>
                <a:gridCol w="1371600"/>
                <a:gridCol w="3779215"/>
              </a:tblGrid>
              <a:tr h="228600">
                <a:tc>
                  <a:txBody>
                    <a:bodyPr/>
                    <a:lstStyle/>
                    <a:p>
                      <a:r>
                        <a:rPr sz="900" b="1">
                          <a:solidFill>
                            <a:srgbClr val="004EA8"/>
                          </a:solidFill>
                          <a:latin typeface="Arial"/>
                        </a:rPr>
                        <a:t>Template</a:t>
                      </a:r>
                    </a:p>
                  </a:txBody>
                  <a:tcPr marL="54864" marR="54864" marT="27432" marB="27432">
                    <a:solidFill>
                      <a:srgbClr val="E5F5FF"/>
                    </a:solidFill>
                  </a:tcPr>
                </a:tc>
                <a:tc>
                  <a:txBody>
                    <a:bodyPr/>
                    <a:lstStyle/>
                    <a:p>
                      <a:r>
                        <a:rPr sz="900" b="0">
                          <a:solidFill>
                            <a:srgbClr val="4B4B4B"/>
                          </a:solidFill>
                          <a:latin typeface="Arial"/>
                        </a:rPr>
                        <a:t>(report layout of the Collections reports)</a:t>
                      </a:r>
                    </a:p>
                  </a:txBody>
                  <a:tcPr marL="54864" marR="54864" marT="27432" marB="27432">
                    <a:solidFill>
                      <a:srgbClr val="FFFFFF"/>
                    </a:solidFill>
                  </a:tcPr>
                </a:tc>
              </a:tr>
              <a:tr h="228600">
                <a:tc>
                  <a:txBody>
                    <a:bodyPr/>
                    <a:lstStyle/>
                    <a:p>
                      <a:r>
                        <a:rPr sz="900" b="1">
                          <a:solidFill>
                            <a:srgbClr val="004EA8"/>
                          </a:solidFill>
                          <a:latin typeface="Arial"/>
                        </a:rPr>
                        <a:t>Format</a:t>
                      </a:r>
                    </a:p>
                  </a:txBody>
                  <a:tcPr marL="54864" marR="54864" marT="27432" marB="27432">
                    <a:solidFill>
                      <a:srgbClr val="E5F5FF"/>
                    </a:solidFill>
                  </a:tcPr>
                </a:tc>
                <a:tc>
                  <a:txBody>
                    <a:bodyPr/>
                    <a:lstStyle/>
                    <a:p>
                      <a:r>
                        <a:rPr sz="900" b="0">
                          <a:solidFill>
                            <a:srgbClr val="4B4B4B"/>
                          </a:solidFill>
                          <a:latin typeface="Arial"/>
                        </a:rPr>
                        <a:t>Excel; daily after the end-of-day run (BRD p.61)</a:t>
                      </a:r>
                    </a:p>
                  </a:txBody>
                  <a:tcPr marL="54864" marR="54864" marT="27432" marB="27432">
                    <a:solidFill>
                      <a:srgbClr val="FFFFFF"/>
                    </a:solidFill>
                  </a:tcPr>
                </a:tc>
              </a:tr>
              <a:tr h="365760">
                <a:tc>
                  <a:txBody>
                    <a:bodyPr/>
                    <a:lstStyle/>
                    <a:p>
                      <a:r>
                        <a:rPr sz="900" b="1">
                          <a:solidFill>
                            <a:srgbClr val="004EA8"/>
                          </a:solidFill>
                          <a:latin typeface="Arial"/>
                        </a:rPr>
                        <a:t>Produced by</a:t>
                      </a:r>
                    </a:p>
                  </a:txBody>
                  <a:tcPr marL="54864" marR="54864" marT="27432" marB="27432">
                    <a:solidFill>
                      <a:srgbClr val="E5F5FF"/>
                    </a:solidFill>
                  </a:tcPr>
                </a:tc>
                <a:tc>
                  <a:txBody>
                    <a:bodyPr/>
                    <a:lstStyle/>
                    <a:p>
                      <a:r>
                        <a:rPr sz="900" b="0">
                          <a:solidFill>
                            <a:srgbClr val="4B4B4B"/>
                          </a:solidFill>
                          <a:latin typeface="Arial"/>
                        </a:rPr>
                        <a:t>Collections Files (daily file); Report Centre › Full Production Report</a:t>
                      </a:r>
                    </a:p>
                  </a:txBody>
                  <a:tcPr marL="54864" marR="54864" marT="27432" marB="27432">
                    <a:solidFill>
                      <a:srgbClr val="FFFFFF"/>
                    </a:solidFill>
                  </a:tcPr>
                </a:tc>
              </a:tr>
              <a:tr h="228600">
                <a:tc>
                  <a:txBody>
                    <a:bodyPr/>
                    <a:lstStyle/>
                    <a:p>
                      <a:r>
                        <a:rPr sz="900" b="1">
                          <a:solidFill>
                            <a:srgbClr val="004EA8"/>
                          </a:solidFill>
                          <a:latin typeface="Arial"/>
                        </a:rPr>
                        <a:t>Password protected</a:t>
                      </a:r>
                    </a:p>
                  </a:txBody>
                  <a:tcPr marL="54864" marR="54864" marT="27432" marB="27432">
                    <a:solidFill>
                      <a:srgbClr val="E5F5FF"/>
                    </a:solidFill>
                  </a:tcPr>
                </a:tc>
                <a:tc>
                  <a:txBody>
                    <a:bodyPr/>
                    <a:lstStyle/>
                    <a:p>
                      <a:r>
                        <a:rPr sz="900" b="0">
                          <a:solidFill>
                            <a:srgbClr val="4B4B4B"/>
                          </a:solidFill>
                          <a:latin typeface="Arial"/>
                        </a:rPr>
                        <a:t>No</a:t>
                      </a:r>
                    </a:p>
                  </a:txBody>
                  <a:tcPr marL="54864" marR="54864" marT="27432" marB="27432">
                    <a:solidFill>
                      <a:srgbClr val="FFFFFF"/>
                    </a:solidFill>
                  </a:tcPr>
                </a:tc>
              </a:tr>
              <a:tr h="365760">
                <a:tc>
                  <a:txBody>
                    <a:bodyPr/>
                    <a:lstStyle/>
                    <a:p>
                      <a:r>
                        <a:rPr sz="900" b="1">
                          <a:solidFill>
                            <a:srgbClr val="004EA8"/>
                          </a:solidFill>
                          <a:latin typeface="Arial"/>
                        </a:rPr>
                        <a:t>Fields</a:t>
                      </a:r>
                    </a:p>
                  </a:txBody>
                  <a:tcPr marL="54864" marR="54864" marT="27432" marB="27432">
                    <a:solidFill>
                      <a:srgbClr val="E5F5FF"/>
                    </a:solidFill>
                  </a:tcPr>
                </a:tc>
                <a:tc>
                  <a:txBody>
                    <a:bodyPr/>
                    <a:lstStyle/>
                    <a:p>
                      <a:r>
                        <a:rPr sz="900" b="0">
                          <a:solidFill>
                            <a:srgbClr val="4B4B4B"/>
                          </a:solidFill>
                          <a:latin typeface="Arial"/>
                        </a:rPr>
                        <a:t>Every collection account of the invoices booked in the period, any status, with the columns of the Outstanding PR List</a:t>
                      </a:r>
                    </a:p>
                  </a:txBody>
                  <a:tcPr marL="54864" marR="54864" marT="27432" marB="27432">
                    <a:solidFill>
                      <a:srgbClr val="FFFFFF"/>
                    </a:solidFill>
                  </a:tcPr>
                </a:tc>
              </a:tr>
            </a:tbl>
          </a:graphicData>
        </a:graphic>
      </p:graphicFrame>
    </p:spTree>
  </p:cSld>
  <p:clrMapOvr>
    <a:masterClrMapping/>
  </p:clrMapOvr>
</p:sld>
</file>

<file path=ppt/slides/slide3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DO-04 DP PR for Reversal and PR 2307 for Reversal files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322</a:t>
            </a:r>
          </a:p>
        </p:txBody>
      </p:sp>
      <p:pic>
        <p:nvPicPr>
          <p:cNvPr id="9" name="Picture 8" descr="doc-dp-reversal.png"/>
          <p:cNvPicPr>
            <a:picLocks noChangeAspect="1"/>
          </p:cNvPicPr>
          <p:nvPr/>
        </p:nvPicPr>
        <p:blipFill>
          <a:blip r:embed="rId3"/>
          <a:stretch>
            <a:fillRect/>
          </a:stretch>
        </p:blipFill>
        <p:spPr>
          <a:xfrm>
            <a:off x="548640" y="1261872"/>
            <a:ext cx="5669280" cy="430305"/>
          </a:xfrm>
          <a:prstGeom prst="rect">
            <a:avLst/>
          </a:prstGeom>
          <a:ln w="9525">
            <a:solidFill>
              <a:srgbClr val="C2C2C1"/>
            </a:solidFill>
          </a:ln>
        </p:spPr>
      </p:pic>
      <p:graphicFrame>
        <p:nvGraphicFramePr>
          <p:cNvPr id="10" name="Table 9"/>
          <p:cNvGraphicFramePr>
            <a:graphicFrameLocks noGrp="1"/>
          </p:cNvGraphicFramePr>
          <p:nvPr/>
        </p:nvGraphicFramePr>
        <p:xfrm>
          <a:off x="6492240" y="1307592"/>
          <a:ext cx="5150815" cy="2103120"/>
        </p:xfrm>
        <a:graphic>
          <a:graphicData uri="http://schemas.openxmlformats.org/drawingml/2006/table">
            <a:tbl>
              <a:tblPr bandRow="1">
                <a:tableStyleId>{5C22544A-7EE6-4342-B048-85BDC9FD1C3A}</a:tableStyleId>
              </a:tblPr>
              <a:tblGrid>
                <a:gridCol w="1371600"/>
                <a:gridCol w="3779215"/>
              </a:tblGrid>
              <a:tr h="228600">
                <a:tc>
                  <a:txBody>
                    <a:bodyPr/>
                    <a:lstStyle/>
                    <a:p>
                      <a:r>
                        <a:rPr sz="900" b="1">
                          <a:solidFill>
                            <a:srgbClr val="004EA8"/>
                          </a:solidFill>
                          <a:latin typeface="Arial"/>
                        </a:rPr>
                        <a:t>Template</a:t>
                      </a:r>
                    </a:p>
                  </a:txBody>
                  <a:tcPr marL="54864" marR="54864" marT="27432" marB="27432">
                    <a:solidFill>
                      <a:srgbClr val="E5F5FF"/>
                    </a:solidFill>
                  </a:tcPr>
                </a:tc>
                <a:tc>
                  <a:txBody>
                    <a:bodyPr/>
                    <a:lstStyle/>
                    <a:p>
                      <a:r>
                        <a:rPr sz="900" b="0">
                          <a:solidFill>
                            <a:srgbClr val="4B4B4B"/>
                          </a:solidFill>
                          <a:latin typeface="Arial"/>
                        </a:rPr>
                        <a:t>(report layout of the Collections reports)</a:t>
                      </a:r>
                    </a:p>
                  </a:txBody>
                  <a:tcPr marL="54864" marR="54864" marT="27432" marB="27432">
                    <a:solidFill>
                      <a:srgbClr val="FFFFFF"/>
                    </a:solidFill>
                  </a:tcPr>
                </a:tc>
              </a:tr>
              <a:tr h="502920">
                <a:tc>
                  <a:txBody>
                    <a:bodyPr/>
                    <a:lstStyle/>
                    <a:p>
                      <a:r>
                        <a:rPr sz="900" b="1">
                          <a:solidFill>
                            <a:srgbClr val="004EA8"/>
                          </a:solidFill>
                          <a:latin typeface="Arial"/>
                        </a:rPr>
                        <a:t>Format</a:t>
                      </a:r>
                    </a:p>
                  </a:txBody>
                  <a:tcPr marL="54864" marR="54864" marT="27432" marB="27432">
                    <a:solidFill>
                      <a:srgbClr val="E5F5FF"/>
                    </a:solidFill>
                  </a:tcPr>
                </a:tc>
                <a:tc>
                  <a:txBody>
                    <a:bodyPr/>
                    <a:lstStyle/>
                    <a:p>
                      <a:r>
                        <a:rPr sz="900" b="0">
                          <a:solidFill>
                            <a:srgbClr val="4B4B4B"/>
                          </a:solidFill>
                          <a:latin typeface="Arial"/>
                        </a:rPr>
                        <a:t>Excel; weekly per unit and branch (Saturday to Friday, available the Monday 08:00) and monthly for the previous month (first working day)</a:t>
                      </a:r>
                    </a:p>
                  </a:txBody>
                  <a:tcPr marL="54864" marR="54864" marT="27432" marB="27432">
                    <a:solidFill>
                      <a:srgbClr val="FFFFFF"/>
                    </a:solidFill>
                  </a:tcPr>
                </a:tc>
              </a:tr>
              <a:tr h="228600">
                <a:tc>
                  <a:txBody>
                    <a:bodyPr/>
                    <a:lstStyle/>
                    <a:p>
                      <a:r>
                        <a:rPr sz="900" b="1">
                          <a:solidFill>
                            <a:srgbClr val="004EA8"/>
                          </a:solidFill>
                          <a:latin typeface="Arial"/>
                        </a:rPr>
                        <a:t>Produced by</a:t>
                      </a:r>
                    </a:p>
                  </a:txBody>
                  <a:tcPr marL="54864" marR="54864" marT="27432" marB="27432">
                    <a:solidFill>
                      <a:srgbClr val="E5F5FF"/>
                    </a:solidFill>
                  </a:tcPr>
                </a:tc>
                <a:tc>
                  <a:txBody>
                    <a:bodyPr/>
                    <a:lstStyle/>
                    <a:p>
                      <a:r>
                        <a:rPr sz="900" b="0">
                          <a:solidFill>
                            <a:srgbClr val="4B4B4B"/>
                          </a:solidFill>
                          <a:latin typeface="Arial"/>
                        </a:rPr>
                        <a:t>Collections Files (weekly and monthly files)</a:t>
                      </a:r>
                    </a:p>
                  </a:txBody>
                  <a:tcPr marL="54864" marR="54864" marT="27432" marB="27432">
                    <a:solidFill>
                      <a:srgbClr val="FFFFFF"/>
                    </a:solidFill>
                  </a:tcPr>
                </a:tc>
              </a:tr>
              <a:tr h="228600">
                <a:tc>
                  <a:txBody>
                    <a:bodyPr/>
                    <a:lstStyle/>
                    <a:p>
                      <a:r>
                        <a:rPr sz="900" b="1">
                          <a:solidFill>
                            <a:srgbClr val="004EA8"/>
                          </a:solidFill>
                          <a:latin typeface="Arial"/>
                        </a:rPr>
                        <a:t>Password protected</a:t>
                      </a:r>
                    </a:p>
                  </a:txBody>
                  <a:tcPr marL="54864" marR="54864" marT="27432" marB="27432">
                    <a:solidFill>
                      <a:srgbClr val="E5F5FF"/>
                    </a:solidFill>
                  </a:tcPr>
                </a:tc>
                <a:tc>
                  <a:txBody>
                    <a:bodyPr/>
                    <a:lstStyle/>
                    <a:p>
                      <a:r>
                        <a:rPr sz="900" b="0">
                          <a:solidFill>
                            <a:srgbClr val="4B4B4B"/>
                          </a:solidFill>
                          <a:latin typeface="Arial"/>
                        </a:rPr>
                        <a:t>No</a:t>
                      </a:r>
                    </a:p>
                  </a:txBody>
                  <a:tcPr marL="54864" marR="54864" marT="27432" marB="27432">
                    <a:solidFill>
                      <a:srgbClr val="FFFFFF"/>
                    </a:solidFill>
                  </a:tcPr>
                </a:tc>
              </a:tr>
              <a:tr h="914400">
                <a:tc>
                  <a:txBody>
                    <a:bodyPr/>
                    <a:lstStyle/>
                    <a:p>
                      <a:r>
                        <a:rPr sz="900" b="1">
                          <a:solidFill>
                            <a:srgbClr val="004EA8"/>
                          </a:solidFill>
                          <a:latin typeface="Arial"/>
                        </a:rPr>
                        <a:t>Fields</a:t>
                      </a:r>
                    </a:p>
                  </a:txBody>
                  <a:tcPr marL="54864" marR="54864" marT="27432" marB="27432">
                    <a:solidFill>
                      <a:srgbClr val="E5F5FF"/>
                    </a:solidFill>
                  </a:tcPr>
                </a:tc>
                <a:tc>
                  <a:txBody>
                    <a:bodyPr/>
                    <a:lstStyle/>
                    <a:p>
                      <a:r>
                        <a:rPr sz="900" b="0">
                          <a:solidFill>
                            <a:srgbClr val="4B4B4B"/>
                          </a:solidFill>
                          <a:latin typeface="Arial"/>
                        </a:rPr>
                        <a:t>The accounts tagged DP PR for reversal or PR 2307 for reversal in the period, with the columns of the Outstanding PR List – from the collection accounts</a:t>
                      </a:r>
                    </a:p>
                    <a:p>
                      <a:r>
                        <a:rPr sz="900" b="0">
                          <a:solidFill>
                            <a:srgbClr val="4B4B4B"/>
                          </a:solidFill>
                          <a:latin typeface="Arial"/>
                        </a:rPr>
                        <a:t>Tagging: Date Tagged, Tagged By, Tag Remarks – from the disposition</a:t>
                      </a:r>
                    </a:p>
                    <a:p>
                      <a:r>
                        <a:rPr sz="900" b="0">
                          <a:solidFill>
                            <a:srgbClr val="4B4B4B"/>
                          </a:solidFill>
                          <a:latin typeface="Arial"/>
                        </a:rPr>
                        <a:t>Commission: Basic Commission, VAT on Commission, WTAX Rate and Diff (Premium Balance less PR2307) – from the invoice ledger</a:t>
                      </a:r>
                    </a:p>
                  </a:txBody>
                  <a:tcPr marL="54864" marR="54864" marT="27432" marB="27432">
                    <a:solidFill>
                      <a:srgbClr val="FFFFFF"/>
                    </a:solidFill>
                  </a:tcPr>
                </a:tc>
              </a:tr>
            </a:tbl>
          </a:graphicData>
        </a:graphic>
      </p:graphicFrame>
    </p:spTree>
  </p:cSld>
  <p:clrMapOvr>
    <a:masterClrMapping/>
  </p:clrMapOvr>
</p:sld>
</file>

<file path=ppt/slides/slide3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DO-05 For Application To Invoice file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323</a:t>
            </a:r>
          </a:p>
        </p:txBody>
      </p:sp>
      <p:pic>
        <p:nvPicPr>
          <p:cNvPr id="9" name="Picture 8" descr="doc-application-file.png"/>
          <p:cNvPicPr>
            <a:picLocks noChangeAspect="1"/>
          </p:cNvPicPr>
          <p:nvPr/>
        </p:nvPicPr>
        <p:blipFill>
          <a:blip r:embed="rId3"/>
          <a:stretch>
            <a:fillRect/>
          </a:stretch>
        </p:blipFill>
        <p:spPr>
          <a:xfrm>
            <a:off x="1605106" y="1261872"/>
            <a:ext cx="3556347" cy="5029200"/>
          </a:xfrm>
          <a:prstGeom prst="rect">
            <a:avLst/>
          </a:prstGeom>
          <a:ln w="9525">
            <a:solidFill>
              <a:srgbClr val="C2C2C1"/>
            </a:solidFill>
          </a:ln>
        </p:spPr>
      </p:pic>
      <p:graphicFrame>
        <p:nvGraphicFramePr>
          <p:cNvPr id="10" name="Table 9"/>
          <p:cNvGraphicFramePr>
            <a:graphicFrameLocks noGrp="1"/>
          </p:cNvGraphicFramePr>
          <p:nvPr/>
        </p:nvGraphicFramePr>
        <p:xfrm>
          <a:off x="6492240" y="1307592"/>
          <a:ext cx="5150815" cy="1965960"/>
        </p:xfrm>
        <a:graphic>
          <a:graphicData uri="http://schemas.openxmlformats.org/drawingml/2006/table">
            <a:tbl>
              <a:tblPr bandRow="1">
                <a:tableStyleId>{5C22544A-7EE6-4342-B048-85BDC9FD1C3A}</a:tableStyleId>
              </a:tblPr>
              <a:tblGrid>
                <a:gridCol w="1371600"/>
                <a:gridCol w="3779215"/>
              </a:tblGrid>
              <a:tr h="228600">
                <a:tc>
                  <a:txBody>
                    <a:bodyPr/>
                    <a:lstStyle/>
                    <a:p>
                      <a:r>
                        <a:rPr sz="900" b="1">
                          <a:solidFill>
                            <a:srgbClr val="004EA8"/>
                          </a:solidFill>
                          <a:latin typeface="Arial"/>
                        </a:rPr>
                        <a:t>Template</a:t>
                      </a:r>
                    </a:p>
                  </a:txBody>
                  <a:tcPr marL="54864" marR="54864" marT="27432" marB="27432">
                    <a:solidFill>
                      <a:srgbClr val="E5F5FF"/>
                    </a:solidFill>
                  </a:tcPr>
                </a:tc>
                <a:tc>
                  <a:txBody>
                    <a:bodyPr/>
                    <a:lstStyle/>
                    <a:p>
                      <a:r>
                        <a:rPr sz="900" b="0">
                          <a:solidFill>
                            <a:srgbClr val="4B4B4B"/>
                          </a:solidFill>
                          <a:latin typeface="Arial"/>
                        </a:rPr>
                        <a:t>(fixed layout of the daily application file)</a:t>
                      </a:r>
                    </a:p>
                  </a:txBody>
                  <a:tcPr marL="54864" marR="54864" marT="27432" marB="27432">
                    <a:solidFill>
                      <a:srgbClr val="FFFFFF"/>
                    </a:solidFill>
                  </a:tcPr>
                </a:tc>
              </a:tr>
              <a:tr h="365760">
                <a:tc>
                  <a:txBody>
                    <a:bodyPr/>
                    <a:lstStyle/>
                    <a:p>
                      <a:r>
                        <a:rPr sz="900" b="1">
                          <a:solidFill>
                            <a:srgbClr val="004EA8"/>
                          </a:solidFill>
                          <a:latin typeface="Arial"/>
                        </a:rPr>
                        <a:t>Format</a:t>
                      </a:r>
                    </a:p>
                  </a:txBody>
                  <a:tcPr marL="54864" marR="54864" marT="27432" marB="27432">
                    <a:solidFill>
                      <a:srgbClr val="E5F5FF"/>
                    </a:solidFill>
                  </a:tcPr>
                </a:tc>
                <a:tc>
                  <a:txBody>
                    <a:bodyPr/>
                    <a:lstStyle/>
                    <a:p>
                      <a:r>
                        <a:rPr sz="900" b="0">
                          <a:solidFill>
                            <a:srgbClr val="4B4B4B"/>
                          </a:solidFill>
                          <a:latin typeface="Arial"/>
                        </a:rPr>
                        <a:t>Text file, daily before 06:00 for the requests of the previous day (BRCLXN.041-042); Report Centre for any period</a:t>
                      </a:r>
                    </a:p>
                  </a:txBody>
                  <a:tcPr marL="54864" marR="54864" marT="27432" marB="27432">
                    <a:solidFill>
                      <a:srgbClr val="FFFFFF"/>
                    </a:solidFill>
                  </a:tcPr>
                </a:tc>
              </a:tr>
              <a:tr h="365760">
                <a:tc>
                  <a:txBody>
                    <a:bodyPr/>
                    <a:lstStyle/>
                    <a:p>
                      <a:r>
                        <a:rPr sz="900" b="1">
                          <a:solidFill>
                            <a:srgbClr val="004EA8"/>
                          </a:solidFill>
                          <a:latin typeface="Arial"/>
                        </a:rPr>
                        <a:t>Produced by</a:t>
                      </a:r>
                    </a:p>
                  </a:txBody>
                  <a:tcPr marL="54864" marR="54864" marT="27432" marB="27432">
                    <a:solidFill>
                      <a:srgbClr val="E5F5FF"/>
                    </a:solidFill>
                  </a:tcPr>
                </a:tc>
                <a:tc>
                  <a:txBody>
                    <a:bodyPr/>
                    <a:lstStyle/>
                    <a:p>
                      <a:r>
                        <a:rPr sz="900" b="0">
                          <a:solidFill>
                            <a:srgbClr val="4B4B4B"/>
                          </a:solidFill>
                          <a:latin typeface="Arial"/>
                        </a:rPr>
                        <a:t>The daily application job; Requests to Cashiering shows the file of each request</a:t>
                      </a:r>
                    </a:p>
                  </a:txBody>
                  <a:tcPr marL="54864" marR="54864" marT="27432" marB="27432">
                    <a:solidFill>
                      <a:srgbClr val="FFFFFF"/>
                    </a:solidFill>
                  </a:tcPr>
                </a:tc>
              </a:tr>
              <a:tr h="228600">
                <a:tc>
                  <a:txBody>
                    <a:bodyPr/>
                    <a:lstStyle/>
                    <a:p>
                      <a:r>
                        <a:rPr sz="900" b="1">
                          <a:solidFill>
                            <a:srgbClr val="004EA8"/>
                          </a:solidFill>
                          <a:latin typeface="Arial"/>
                        </a:rPr>
                        <a:t>Password protected</a:t>
                      </a:r>
                    </a:p>
                  </a:txBody>
                  <a:tcPr marL="54864" marR="54864" marT="27432" marB="27432">
                    <a:solidFill>
                      <a:srgbClr val="E5F5FF"/>
                    </a:solidFill>
                  </a:tcPr>
                </a:tc>
                <a:tc>
                  <a:txBody>
                    <a:bodyPr/>
                    <a:lstStyle/>
                    <a:p>
                      <a:r>
                        <a:rPr sz="900" b="0">
                          <a:solidFill>
                            <a:srgbClr val="4B4B4B"/>
                          </a:solidFill>
                          <a:latin typeface="Arial"/>
                        </a:rPr>
                        <a:t>No</a:t>
                      </a:r>
                    </a:p>
                  </a:txBody>
                  <a:tcPr marL="54864" marR="54864" marT="27432" marB="27432">
                    <a:solidFill>
                      <a:srgbClr val="FFFFFF"/>
                    </a:solidFill>
                  </a:tcPr>
                </a:tc>
              </a:tr>
              <a:tr h="777240">
                <a:tc>
                  <a:txBody>
                    <a:bodyPr/>
                    <a:lstStyle/>
                    <a:p>
                      <a:r>
                        <a:rPr sz="900" b="1">
                          <a:solidFill>
                            <a:srgbClr val="004EA8"/>
                          </a:solidFill>
                          <a:latin typeface="Arial"/>
                        </a:rPr>
                        <a:t>Fields</a:t>
                      </a:r>
                    </a:p>
                  </a:txBody>
                  <a:tcPr marL="54864" marR="54864" marT="27432" marB="27432">
                    <a:solidFill>
                      <a:srgbClr val="E5F5FF"/>
                    </a:solidFill>
                  </a:tcPr>
                </a:tc>
                <a:tc>
                  <a:txBody>
                    <a:bodyPr/>
                    <a:lstStyle/>
                    <a:p>
                      <a:r>
                        <a:rPr sz="900" b="0">
                          <a:solidFill>
                            <a:srgbClr val="4B4B4B"/>
                          </a:solidFill>
                          <a:latin typeface="Arial"/>
                        </a:rPr>
                        <a:t>One line per application request: Requested On, Payment Date, Payment File Name, Transaction No., Paid Amount, Currency, Payment Type, Payor, Reference No., Name of Assured, Invoice No., User ID (who made the disposition), Unapplied Reference, Status, Cashiering Reference – from the requests and Cashiering</a:t>
                      </a:r>
                    </a:p>
                  </a:txBody>
                  <a:tcPr marL="54864" marR="54864" marT="27432" marB="27432">
                    <a:solidFill>
                      <a:srgbClr val="FFFFFF"/>
                    </a:solidFill>
                  </a:tcPr>
                </a:tc>
              </a:tr>
            </a:tbl>
          </a:graphicData>
        </a:graphic>
      </p:graphicFrame>
    </p:spTree>
  </p:cSld>
  <p:clrMapOvr>
    <a:masterClrMapping/>
  </p:clrMapOvr>
</p:sld>
</file>

<file path=ppt/slides/slide3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Notifications and e-mails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324</a:t>
            </a:r>
          </a:p>
        </p:txBody>
      </p:sp>
      <p:graphicFrame>
        <p:nvGraphicFramePr>
          <p:cNvPr id="9" name="Table 8"/>
          <p:cNvGraphicFramePr>
            <a:graphicFrameLocks noGrp="1"/>
          </p:cNvGraphicFramePr>
          <p:nvPr/>
        </p:nvGraphicFramePr>
        <p:xfrm>
          <a:off x="548640" y="1325880"/>
          <a:ext cx="11094413" cy="4373854"/>
        </p:xfrm>
        <a:graphic>
          <a:graphicData uri="http://schemas.openxmlformats.org/drawingml/2006/table">
            <a:tbl>
              <a:tblPr firstRow="1" bandRow="1">
                <a:tableStyleId>{5C22544A-7EE6-4342-B048-85BDC9FD1C3A}</a:tableStyleId>
              </a:tblPr>
              <a:tblGrid>
                <a:gridCol w="682733"/>
                <a:gridCol w="1109441"/>
                <a:gridCol w="2730932"/>
                <a:gridCol w="2218883"/>
                <a:gridCol w="4352424"/>
              </a:tblGrid>
              <a:tr h="220979">
                <a:tc>
                  <a:txBody>
                    <a:bodyPr/>
                    <a:lstStyle/>
                    <a:p>
                      <a:r>
                        <a:rPr sz="850" b="1">
                          <a:solidFill>
                            <a:srgbClr val="FFFFFF"/>
                          </a:solidFill>
                          <a:latin typeface="Arial"/>
                        </a:rPr>
                        <a:t>ID</a:t>
                      </a:r>
                    </a:p>
                  </a:txBody>
                  <a:tcPr marL="54864" marR="54864" marT="27432" marB="27432">
                    <a:solidFill>
                      <a:srgbClr val="004EA8"/>
                    </a:solidFill>
                  </a:tcPr>
                </a:tc>
                <a:tc>
                  <a:txBody>
                    <a:bodyPr/>
                    <a:lstStyle/>
                    <a:p>
                      <a:r>
                        <a:rPr sz="850" b="1">
                          <a:solidFill>
                            <a:srgbClr val="FFFFFF"/>
                          </a:solidFill>
                          <a:latin typeface="Arial"/>
                        </a:rPr>
                        <a:t>Channel</a:t>
                      </a:r>
                    </a:p>
                  </a:txBody>
                  <a:tcPr marL="54864" marR="54864" marT="27432" marB="27432">
                    <a:solidFill>
                      <a:srgbClr val="004EA8"/>
                    </a:solidFill>
                  </a:tcPr>
                </a:tc>
                <a:tc>
                  <a:txBody>
                    <a:bodyPr/>
                    <a:lstStyle/>
                    <a:p>
                      <a:r>
                        <a:rPr sz="850" b="1">
                          <a:solidFill>
                            <a:srgbClr val="FFFFFF"/>
                          </a:solidFill>
                          <a:latin typeface="Arial"/>
                        </a:rPr>
                        <a:t>Trigger</a:t>
                      </a:r>
                    </a:p>
                  </a:txBody>
                  <a:tcPr marL="54864" marR="54864" marT="27432" marB="27432">
                    <a:solidFill>
                      <a:srgbClr val="004EA8"/>
                    </a:solidFill>
                  </a:tcPr>
                </a:tc>
                <a:tc>
                  <a:txBody>
                    <a:bodyPr/>
                    <a:lstStyle/>
                    <a:p>
                      <a:r>
                        <a:rPr sz="850" b="1">
                          <a:solidFill>
                            <a:srgbClr val="FFFFFF"/>
                          </a:solidFill>
                          <a:latin typeface="Arial"/>
                        </a:rPr>
                        <a:t>Recipient</a:t>
                      </a:r>
                    </a:p>
                  </a:txBody>
                  <a:tcPr marL="54864" marR="54864" marT="27432" marB="27432">
                    <a:solidFill>
                      <a:srgbClr val="004EA8"/>
                    </a:solidFill>
                  </a:tcPr>
                </a:tc>
                <a:tc>
                  <a:txBody>
                    <a:bodyPr/>
                    <a:lstStyle/>
                    <a:p>
                      <a:r>
                        <a:rPr sz="850" b="1">
                          <a:solidFill>
                            <a:srgbClr val="FFFFFF"/>
                          </a:solidFill>
                          <a:latin typeface="Arial"/>
                        </a:rPr>
                        <a:t>Content</a:t>
                      </a:r>
                    </a:p>
                  </a:txBody>
                  <a:tcPr marL="54864" marR="54864" marT="27432" marB="27432">
                    <a:solidFill>
                      <a:srgbClr val="004EA8"/>
                    </a:solidFill>
                  </a:tcPr>
                </a:tc>
              </a:tr>
              <a:tr h="480057">
                <a:tc>
                  <a:txBody>
                    <a:bodyPr/>
                    <a:lstStyle/>
                    <a:p>
                      <a:r>
                        <a:rPr sz="850" b="0">
                          <a:solidFill>
                            <a:srgbClr val="4B4B4B"/>
                          </a:solidFill>
                          <a:latin typeface="Arial"/>
                        </a:rPr>
                        <a:t>NT-01</a:t>
                      </a:r>
                    </a:p>
                  </a:txBody>
                  <a:tcPr marL="54864" marR="54864" marT="27432" marB="27432">
                    <a:solidFill>
                      <a:srgbClr val="FFFFFF"/>
                    </a:solidFill>
                  </a:tcPr>
                </a:tc>
                <a:tc>
                  <a:txBody>
                    <a:bodyPr/>
                    <a:lstStyle/>
                    <a:p>
                      <a:r>
                        <a:rPr sz="850" b="0">
                          <a:solidFill>
                            <a:srgbClr val="4B4B4B"/>
                          </a:solidFill>
                          <a:latin typeface="Arial"/>
                        </a:rPr>
                        <a:t>In-app</a:t>
                      </a:r>
                    </a:p>
                  </a:txBody>
                  <a:tcPr marL="54864" marR="54864" marT="27432" marB="27432">
                    <a:solidFill>
                      <a:srgbClr val="FFFFFF"/>
                    </a:solidFill>
                  </a:tcPr>
                </a:tc>
                <a:tc>
                  <a:txBody>
                    <a:bodyPr/>
                    <a:lstStyle/>
                    <a:p>
                      <a:r>
                        <a:rPr sz="850" b="0">
                          <a:solidFill>
                            <a:srgbClr val="4B4B4B"/>
                          </a:solidFill>
                          <a:latin typeface="Arial"/>
                        </a:rPr>
                        <a:t>An escalation moves to another stage by a workflow action (acknowledge, escalate to the unit / section head, return to the handler, resubmit, resolve)</a:t>
                      </a:r>
                    </a:p>
                  </a:txBody>
                  <a:tcPr marL="54864" marR="54864" marT="27432" marB="27432">
                    <a:solidFill>
                      <a:srgbClr val="FFFFFF"/>
                    </a:solidFill>
                  </a:tcPr>
                </a:tc>
                <a:tc>
                  <a:txBody>
                    <a:bodyPr/>
                    <a:lstStyle/>
                    <a:p>
                      <a:r>
                        <a:rPr sz="850" b="0">
                          <a:solidFill>
                            <a:srgbClr val="4B4B4B"/>
                          </a:solidFill>
                          <a:latin typeface="Arial"/>
                        </a:rPr>
                        <a:t>The creator of the escalation and its current assignee, unless they made the move themselves</a:t>
                      </a:r>
                    </a:p>
                  </a:txBody>
                  <a:tcPr marL="54864" marR="54864" marT="27432" marB="27432">
                    <a:solidFill>
                      <a:srgbClr val="FFFFFF"/>
                    </a:solidFill>
                  </a:tcPr>
                </a:tc>
                <a:tc>
                  <a:txBody>
                    <a:bodyPr/>
                    <a:lstStyle/>
                    <a:p>
                      <a:r>
                        <a:rPr sz="850" b="0">
                          <a:solidFill>
                            <a:srgbClr val="4B4B4B"/>
                          </a:solidFill>
                          <a:latin typeface="Arial"/>
                        </a:rPr>
                        <a:t>Title: &lt;escalation no&gt;: &lt;new stage name&gt;. Text: &lt;escalation description&gt; - &lt;comment&gt;</a:t>
                      </a:r>
                    </a:p>
                  </a:txBody>
                  <a:tcPr marL="54864" marR="54864" marT="27432" marB="27432">
                    <a:solidFill>
                      <a:srgbClr val="FFFFFF"/>
                    </a:solidFill>
                  </a:tcPr>
                </a:tc>
              </a:tr>
              <a:tr h="609596">
                <a:tc>
                  <a:txBody>
                    <a:bodyPr/>
                    <a:lstStyle/>
                    <a:p>
                      <a:r>
                        <a:rPr sz="850" b="0">
                          <a:solidFill>
                            <a:srgbClr val="4B4B4B"/>
                          </a:solidFill>
                          <a:latin typeface="Arial"/>
                        </a:rPr>
                        <a:t>NT-02</a:t>
                      </a:r>
                    </a:p>
                  </a:txBody>
                  <a:tcPr marL="54864" marR="54864" marT="27432" marB="27432">
                    <a:solidFill>
                      <a:srgbClr val="E5F5FF"/>
                    </a:solidFill>
                  </a:tcPr>
                </a:tc>
                <a:tc>
                  <a:txBody>
                    <a:bodyPr/>
                    <a:lstStyle/>
                    <a:p>
                      <a:r>
                        <a:rPr sz="850" b="0">
                          <a:solidFill>
                            <a:srgbClr val="4B4B4B"/>
                          </a:solidFill>
                          <a:latin typeface="Arial"/>
                        </a:rPr>
                        <a:t>In-app, e-mail</a:t>
                      </a:r>
                    </a:p>
                  </a:txBody>
                  <a:tcPr marL="54864" marR="54864" marT="27432" marB="27432">
                    <a:solidFill>
                      <a:srgbClr val="E5F5FF"/>
                    </a:solidFill>
                  </a:tcPr>
                </a:tc>
                <a:tc>
                  <a:txBody>
                    <a:bodyPr/>
                    <a:lstStyle/>
                    <a:p>
                      <a:r>
                        <a:rPr sz="850" b="0">
                          <a:solidFill>
                            <a:srgbClr val="4B4B4B"/>
                          </a:solidFill>
                          <a:latin typeface="Arial"/>
                        </a:rPr>
                        <a:t>An account is escalated by a rule or by a user (event Account escalated)</a:t>
                      </a:r>
                    </a:p>
                  </a:txBody>
                  <a:tcPr marL="54864" marR="54864" marT="27432" marB="27432">
                    <a:solidFill>
                      <a:srgbClr val="E5F5FF"/>
                    </a:solidFill>
                  </a:tcPr>
                </a:tc>
                <a:tc>
                  <a:txBody>
                    <a:bodyPr/>
                    <a:lstStyle/>
                    <a:p>
                      <a:r>
                        <a:rPr sz="850" b="0">
                          <a:solidFill>
                            <a:srgbClr val="4B4B4B"/>
                          </a:solidFill>
                          <a:latin typeface="Arial"/>
                        </a:rPr>
                        <a:t>The designated user of the escalation, or every user who handles escalations; the account officers of the invoices, other than the user who escalated</a:t>
                      </a:r>
                    </a:p>
                  </a:txBody>
                  <a:tcPr marL="54864" marR="54864" marT="27432" marB="27432">
                    <a:solidFill>
                      <a:srgbClr val="E5F5FF"/>
                    </a:solidFill>
                  </a:tcPr>
                </a:tc>
                <a:tc>
                  <a:txBody>
                    <a:bodyPr/>
                    <a:lstStyle/>
                    <a:p>
                      <a:r>
                        <a:rPr sz="850" b="0">
                          <a:solidFill>
                            <a:srgbClr val="4B4B4B"/>
                          </a:solidFill>
                          <a:latin typeface="Arial"/>
                        </a:rPr>
                        <a:t>Title: &lt;escalation no&gt;: &lt;assured&gt; escalated. Text: Escalated by &lt;name&gt; (or Rule &lt;rule code&gt;) - &lt;currency&gt; &lt;amount&gt; outstanding on &lt;n&gt; invoice(s)</a:t>
                      </a:r>
                    </a:p>
                  </a:txBody>
                  <a:tcPr marL="54864" marR="54864" marT="27432" marB="27432">
                    <a:solidFill>
                      <a:srgbClr val="E5F5FF"/>
                    </a:solidFill>
                  </a:tcPr>
                </a:tc>
              </a:tr>
              <a:tr h="350518">
                <a:tc>
                  <a:txBody>
                    <a:bodyPr/>
                    <a:lstStyle/>
                    <a:p>
                      <a:r>
                        <a:rPr sz="850" b="0">
                          <a:solidFill>
                            <a:srgbClr val="4B4B4B"/>
                          </a:solidFill>
                          <a:latin typeface="Arial"/>
                        </a:rPr>
                        <a:t>NT-03</a:t>
                      </a:r>
                    </a:p>
                  </a:txBody>
                  <a:tcPr marL="54864" marR="54864" marT="27432" marB="27432">
                    <a:solidFill>
                      <a:srgbClr val="FFFFFF"/>
                    </a:solidFill>
                  </a:tcPr>
                </a:tc>
                <a:tc>
                  <a:txBody>
                    <a:bodyPr/>
                    <a:lstStyle/>
                    <a:p>
                      <a:r>
                        <a:rPr sz="850" b="0">
                          <a:solidFill>
                            <a:srgbClr val="4B4B4B"/>
                          </a:solidFill>
                          <a:latin typeface="Arial"/>
                        </a:rPr>
                        <a:t>In-app</a:t>
                      </a:r>
                    </a:p>
                  </a:txBody>
                  <a:tcPr marL="54864" marR="54864" marT="27432" marB="27432">
                    <a:solidFill>
                      <a:srgbClr val="FFFFFF"/>
                    </a:solidFill>
                  </a:tcPr>
                </a:tc>
                <a:tc>
                  <a:txBody>
                    <a:bodyPr/>
                    <a:lstStyle/>
                    <a:p>
                      <a:r>
                        <a:rPr sz="850" b="0">
                          <a:solidFill>
                            <a:srgbClr val="4B4B4B"/>
                          </a:solidFill>
                          <a:latin typeface="Arial"/>
                        </a:rPr>
                        <a:t>Collection accounts are reassigned (event Account reassigned)</a:t>
                      </a:r>
                    </a:p>
                  </a:txBody>
                  <a:tcPr marL="54864" marR="54864" marT="27432" marB="27432">
                    <a:solidFill>
                      <a:srgbClr val="FFFFFF"/>
                    </a:solidFill>
                  </a:tcPr>
                </a:tc>
                <a:tc>
                  <a:txBody>
                    <a:bodyPr/>
                    <a:lstStyle/>
                    <a:p>
                      <a:r>
                        <a:rPr sz="850" b="0">
                          <a:solidFill>
                            <a:srgbClr val="4B4B4B"/>
                          </a:solidFill>
                          <a:latin typeface="Arial"/>
                        </a:rPr>
                        <a:t>The new handler; each previous handler of the accounts taken</a:t>
                      </a:r>
                    </a:p>
                  </a:txBody>
                  <a:tcPr marL="54864" marR="54864" marT="27432" marB="27432">
                    <a:solidFill>
                      <a:srgbClr val="FFFFFF"/>
                    </a:solidFill>
                  </a:tcPr>
                </a:tc>
                <a:tc>
                  <a:txBody>
                    <a:bodyPr/>
                    <a:lstStyle/>
                    <a:p>
                      <a:r>
                        <a:rPr sz="850" b="0">
                          <a:solidFill>
                            <a:srgbClr val="4B4B4B"/>
                          </a:solidFill>
                          <a:latin typeface="Arial"/>
                        </a:rPr>
                        <a:t>Title: &lt;n&gt; collection account(s) assigned to you [until &lt;date&gt;], or &lt;n&gt; collection account(s) reassigned to &lt;handler&gt; [until &lt;date&gt;]. Text: the reason</a:t>
                      </a:r>
                    </a:p>
                  </a:txBody>
                  <a:tcPr marL="54864" marR="54864" marT="27432" marB="27432">
                    <a:solidFill>
                      <a:srgbClr val="FFFFFF"/>
                    </a:solidFill>
                  </a:tcPr>
                </a:tc>
              </a:tr>
              <a:tr h="350518">
                <a:tc>
                  <a:txBody>
                    <a:bodyPr/>
                    <a:lstStyle/>
                    <a:p>
                      <a:r>
                        <a:rPr sz="850" b="0">
                          <a:solidFill>
                            <a:srgbClr val="4B4B4B"/>
                          </a:solidFill>
                          <a:latin typeface="Arial"/>
                        </a:rPr>
                        <a:t>NT-04</a:t>
                      </a:r>
                    </a:p>
                  </a:txBody>
                  <a:tcPr marL="54864" marR="54864" marT="27432" marB="27432">
                    <a:solidFill>
                      <a:srgbClr val="E5F5FF"/>
                    </a:solidFill>
                  </a:tcPr>
                </a:tc>
                <a:tc>
                  <a:txBody>
                    <a:bodyPr/>
                    <a:lstStyle/>
                    <a:p>
                      <a:r>
                        <a:rPr sz="850" b="0">
                          <a:solidFill>
                            <a:srgbClr val="4B4B4B"/>
                          </a:solidFill>
                          <a:latin typeface="Arial"/>
                        </a:rPr>
                        <a:t>In-app</a:t>
                      </a:r>
                    </a:p>
                  </a:txBody>
                  <a:tcPr marL="54864" marR="54864" marT="27432" marB="27432">
                    <a:solidFill>
                      <a:srgbClr val="E5F5FF"/>
                    </a:solidFill>
                  </a:tcPr>
                </a:tc>
                <a:tc>
                  <a:txBody>
                    <a:bodyPr/>
                    <a:lstStyle/>
                    <a:p>
                      <a:r>
                        <a:rPr sz="850" b="0">
                          <a:solidFill>
                            <a:srgbClr val="4B4B4B"/>
                          </a:solidFill>
                          <a:latin typeface="Arial"/>
                        </a:rPr>
                        <a:t>The nightly promise check finds a promise to pay broken (event Promise to pay broken)</a:t>
                      </a:r>
                    </a:p>
                  </a:txBody>
                  <a:tcPr marL="54864" marR="54864" marT="27432" marB="27432">
                    <a:solidFill>
                      <a:srgbClr val="E5F5FF"/>
                    </a:solidFill>
                  </a:tcPr>
                </a:tc>
                <a:tc>
                  <a:txBody>
                    <a:bodyPr/>
                    <a:lstStyle/>
                    <a:p>
                      <a:r>
                        <a:rPr sz="850" b="0">
                          <a:solidFill>
                            <a:srgbClr val="4B4B4B"/>
                          </a:solidFill>
                          <a:latin typeface="Arial"/>
                        </a:rPr>
                        <a:t>The user who recorded the promise and the account officer of the invoice</a:t>
                      </a:r>
                    </a:p>
                  </a:txBody>
                  <a:tcPr marL="54864" marR="54864" marT="27432" marB="27432">
                    <a:solidFill>
                      <a:srgbClr val="E5F5FF"/>
                    </a:solidFill>
                  </a:tcPr>
                </a:tc>
                <a:tc>
                  <a:txBody>
                    <a:bodyPr/>
                    <a:lstStyle/>
                    <a:p>
                      <a:r>
                        <a:rPr sz="850" b="0">
                          <a:solidFill>
                            <a:srgbClr val="4B4B4B"/>
                          </a:solidFill>
                          <a:latin typeface="Arial"/>
                        </a:rPr>
                        <a:t>Title: Promise of &lt;assured&gt; broken. Text: &lt;invoice&gt;: &lt;currency&gt; &lt;amount&gt; promised by &lt;date&gt; was not paid</a:t>
                      </a:r>
                    </a:p>
                  </a:txBody>
                  <a:tcPr marL="54864" marR="54864" marT="27432" marB="27432">
                    <a:solidFill>
                      <a:srgbClr val="E5F5FF"/>
                    </a:solidFill>
                  </a:tcPr>
                </a:tc>
              </a:tr>
              <a:tr h="350518">
                <a:tc>
                  <a:txBody>
                    <a:bodyPr/>
                    <a:lstStyle/>
                    <a:p>
                      <a:r>
                        <a:rPr sz="850" b="0">
                          <a:solidFill>
                            <a:srgbClr val="4B4B4B"/>
                          </a:solidFill>
                          <a:latin typeface="Arial"/>
                        </a:rPr>
                        <a:t>NT-05</a:t>
                      </a:r>
                    </a:p>
                  </a:txBody>
                  <a:tcPr marL="54864" marR="54864" marT="27432" marB="27432">
                    <a:solidFill>
                      <a:srgbClr val="FFFFFF"/>
                    </a:solidFill>
                  </a:tcPr>
                </a:tc>
                <a:tc>
                  <a:txBody>
                    <a:bodyPr/>
                    <a:lstStyle/>
                    <a:p>
                      <a:r>
                        <a:rPr sz="850" b="0">
                          <a:solidFill>
                            <a:srgbClr val="4B4B4B"/>
                          </a:solidFill>
                          <a:latin typeface="Arial"/>
                        </a:rPr>
                        <a:t>In-app</a:t>
                      </a:r>
                    </a:p>
                  </a:txBody>
                  <a:tcPr marL="54864" marR="54864" marT="27432" marB="27432">
                    <a:solidFill>
                      <a:srgbClr val="FFFFFF"/>
                    </a:solidFill>
                  </a:tcPr>
                </a:tc>
                <a:tc>
                  <a:txBody>
                    <a:bodyPr/>
                    <a:lstStyle/>
                    <a:p>
                      <a:r>
                        <a:rPr sz="850" b="0">
                          <a:solidFill>
                            <a:srgbClr val="4B4B4B"/>
                          </a:solidFill>
                          <a:latin typeface="Arial"/>
                        </a:rPr>
                        <a:t>An insurer returns a direct payment account to Collections (event Direct payment returned by insurer)</a:t>
                      </a:r>
                    </a:p>
                  </a:txBody>
                  <a:tcPr marL="54864" marR="54864" marT="27432" marB="27432">
                    <a:solidFill>
                      <a:srgbClr val="FFFFFF"/>
                    </a:solidFill>
                  </a:tcPr>
                </a:tc>
                <a:tc>
                  <a:txBody>
                    <a:bodyPr/>
                    <a:lstStyle/>
                    <a:p>
                      <a:r>
                        <a:rPr sz="850" b="0">
                          <a:solidFill>
                            <a:srgbClr val="4B4B4B"/>
                          </a:solidFill>
                          <a:latin typeface="Arial"/>
                        </a:rPr>
                        <a:t>The handler of the account</a:t>
                      </a:r>
                    </a:p>
                  </a:txBody>
                  <a:tcPr marL="54864" marR="54864" marT="27432" marB="27432">
                    <a:solidFill>
                      <a:srgbClr val="FFFFFF"/>
                    </a:solidFill>
                  </a:tcPr>
                </a:tc>
                <a:tc>
                  <a:txBody>
                    <a:bodyPr/>
                    <a:lstStyle/>
                    <a:p>
                      <a:r>
                        <a:rPr sz="850" b="0">
                          <a:solidFill>
                            <a:srgbClr val="4B4B4B"/>
                          </a:solidFill>
                          <a:latin typeface="Arial"/>
                        </a:rPr>
                        <a:t>Title: Direct payment returned: &lt;invoice&gt;. Text: the remarks of Commission Receivables</a:t>
                      </a:r>
                    </a:p>
                  </a:txBody>
                  <a:tcPr marL="54864" marR="54864" marT="27432" marB="27432">
                    <a:solidFill>
                      <a:srgbClr val="FFFFFF"/>
                    </a:solidFill>
                  </a:tcPr>
                </a:tc>
              </a:tr>
              <a:tr h="350518">
                <a:tc>
                  <a:txBody>
                    <a:bodyPr/>
                    <a:lstStyle/>
                    <a:p>
                      <a:r>
                        <a:rPr sz="850" b="0">
                          <a:solidFill>
                            <a:srgbClr val="4B4B4B"/>
                          </a:solidFill>
                          <a:latin typeface="Arial"/>
                        </a:rPr>
                        <a:t>NT-06</a:t>
                      </a:r>
                    </a:p>
                  </a:txBody>
                  <a:tcPr marL="54864" marR="54864" marT="27432" marB="27432">
                    <a:solidFill>
                      <a:srgbClr val="E5F5FF"/>
                    </a:solidFill>
                  </a:tcPr>
                </a:tc>
                <a:tc>
                  <a:txBody>
                    <a:bodyPr/>
                    <a:lstStyle/>
                    <a:p>
                      <a:r>
                        <a:rPr sz="850" b="0">
                          <a:solidFill>
                            <a:srgbClr val="4B4B4B"/>
                          </a:solidFill>
                          <a:latin typeface="Arial"/>
                        </a:rPr>
                        <a:t>In-app</a:t>
                      </a:r>
                    </a:p>
                  </a:txBody>
                  <a:tcPr marL="54864" marR="54864" marT="27432" marB="27432">
                    <a:solidFill>
                      <a:srgbClr val="E5F5FF"/>
                    </a:solidFill>
                  </a:tcPr>
                </a:tc>
                <a:tc>
                  <a:txBody>
                    <a:bodyPr/>
                    <a:lstStyle/>
                    <a:p>
                      <a:r>
                        <a:rPr sz="850" b="0">
                          <a:solidFill>
                            <a:srgbClr val="4B4B4B"/>
                          </a:solidFill>
                          <a:latin typeface="Arial"/>
                        </a:rPr>
                        <a:t>A scheduled Collections file is published (event Collections file ready)</a:t>
                      </a:r>
                    </a:p>
                  </a:txBody>
                  <a:tcPr marL="54864" marR="54864" marT="27432" marB="27432">
                    <a:solidFill>
                      <a:srgbClr val="E5F5FF"/>
                    </a:solidFill>
                  </a:tcPr>
                </a:tc>
                <a:tc>
                  <a:txBody>
                    <a:bodyPr/>
                    <a:lstStyle/>
                    <a:p>
                      <a:r>
                        <a:rPr sz="850" b="0">
                          <a:solidFill>
                            <a:srgbClr val="4B4B4B"/>
                          </a:solidFill>
                          <a:latin typeface="Arial"/>
                        </a:rPr>
                        <a:t>The users who may download the Collections files (export permission)</a:t>
                      </a:r>
                    </a:p>
                  </a:txBody>
                  <a:tcPr marL="54864" marR="54864" marT="27432" marB="27432">
                    <a:solidFill>
                      <a:srgbClr val="E5F5FF"/>
                    </a:solidFill>
                  </a:tcPr>
                </a:tc>
                <a:tc>
                  <a:txBody>
                    <a:bodyPr/>
                    <a:lstStyle/>
                    <a:p>
                      <a:r>
                        <a:rPr sz="850" b="0">
                          <a:solidFill>
                            <a:srgbClr val="4B4B4B"/>
                          </a:solidFill>
                          <a:latin typeface="Arial"/>
                        </a:rPr>
                        <a:t>Title: &lt;report&gt; &lt;period&gt; is ready. Text: Available from &lt;date and time&gt; [&lt;unit and branch&gt;]</a:t>
                      </a:r>
                    </a:p>
                  </a:txBody>
                  <a:tcPr marL="54864" marR="54864" marT="27432" marB="27432">
                    <a:solidFill>
                      <a:srgbClr val="E5F5FF"/>
                    </a:solidFill>
                  </a:tcPr>
                </a:tc>
              </a:tr>
              <a:tr h="350518">
                <a:tc>
                  <a:txBody>
                    <a:bodyPr/>
                    <a:lstStyle/>
                    <a:p>
                      <a:r>
                        <a:rPr sz="850" b="0">
                          <a:solidFill>
                            <a:srgbClr val="4B4B4B"/>
                          </a:solidFill>
                          <a:latin typeface="Arial"/>
                        </a:rPr>
                        <a:t>NT-07</a:t>
                      </a:r>
                    </a:p>
                  </a:txBody>
                  <a:tcPr marL="54864" marR="54864" marT="27432" marB="27432">
                    <a:solidFill>
                      <a:srgbClr val="FFFFFF"/>
                    </a:solidFill>
                  </a:tcPr>
                </a:tc>
                <a:tc>
                  <a:txBody>
                    <a:bodyPr/>
                    <a:lstStyle/>
                    <a:p>
                      <a:r>
                        <a:rPr sz="850" b="0">
                          <a:solidFill>
                            <a:srgbClr val="4B4B4B"/>
                          </a:solidFill>
                          <a:latin typeface="Arial"/>
                        </a:rPr>
                        <a:t>In-app</a:t>
                      </a:r>
                    </a:p>
                  </a:txBody>
                  <a:tcPr marL="54864" marR="54864" marT="27432" marB="27432">
                    <a:solidFill>
                      <a:srgbClr val="FFFFFF"/>
                    </a:solidFill>
                  </a:tcPr>
                </a:tc>
                <a:tc>
                  <a:txBody>
                    <a:bodyPr/>
                    <a:lstStyle/>
                    <a:p>
                      <a:r>
                        <a:rPr sz="850" b="0">
                          <a:solidFill>
                            <a:srgbClr val="4B4B4B"/>
                          </a:solidFill>
                          <a:latin typeface="Arial"/>
                        </a:rPr>
                        <a:t>Cashiering accepts, rejects or carries out a request sent on a collector disposition</a:t>
                      </a:r>
                    </a:p>
                  </a:txBody>
                  <a:tcPr marL="54864" marR="54864" marT="27432" marB="27432">
                    <a:solidFill>
                      <a:srgbClr val="FFFFFF"/>
                    </a:solidFill>
                  </a:tcPr>
                </a:tc>
                <a:tc>
                  <a:txBody>
                    <a:bodyPr/>
                    <a:lstStyle/>
                    <a:p>
                      <a:r>
                        <a:rPr sz="850" b="0">
                          <a:solidFill>
                            <a:srgbClr val="4B4B4B"/>
                          </a:solidFill>
                          <a:latin typeface="Arial"/>
                        </a:rPr>
                        <a:t>The user who requested it</a:t>
                      </a:r>
                    </a:p>
                  </a:txBody>
                  <a:tcPr marL="54864" marR="54864" marT="27432" marB="27432">
                    <a:solidFill>
                      <a:srgbClr val="FFFFFF"/>
                    </a:solidFill>
                  </a:tcPr>
                </a:tc>
                <a:tc>
                  <a:txBody>
                    <a:bodyPr/>
                    <a:lstStyle/>
                    <a:p>
                      <a:r>
                        <a:rPr sz="850" b="0">
                          <a:solidFill>
                            <a:srgbClr val="4B4B4B"/>
                          </a:solidFill>
                          <a:latin typeface="Arial"/>
                        </a:rPr>
                        <a:t>Title: &lt;unapplied reference&gt; &lt;request&gt; &lt;status&gt;. Text: the message of Cashiering, or Cashiering decided the request</a:t>
                      </a:r>
                    </a:p>
                  </a:txBody>
                  <a:tcPr marL="54864" marR="54864" marT="27432" marB="27432">
                    <a:solidFill>
                      <a:srgbClr val="FFFFFF"/>
                    </a:solidFill>
                  </a:tcPr>
                </a:tc>
              </a:tr>
              <a:tr h="350518">
                <a:tc>
                  <a:txBody>
                    <a:bodyPr/>
                    <a:lstStyle/>
                    <a:p>
                      <a:r>
                        <a:rPr sz="850" b="0">
                          <a:solidFill>
                            <a:srgbClr val="4B4B4B"/>
                          </a:solidFill>
                          <a:latin typeface="Arial"/>
                        </a:rPr>
                        <a:t>NT-08</a:t>
                      </a:r>
                    </a:p>
                  </a:txBody>
                  <a:tcPr marL="54864" marR="54864" marT="27432" marB="27432">
                    <a:solidFill>
                      <a:srgbClr val="E5F5FF"/>
                    </a:solidFill>
                  </a:tcPr>
                </a:tc>
                <a:tc>
                  <a:txBody>
                    <a:bodyPr/>
                    <a:lstStyle/>
                    <a:p>
                      <a:r>
                        <a:rPr sz="850" b="0">
                          <a:solidFill>
                            <a:srgbClr val="4B4B4B"/>
                          </a:solidFill>
                          <a:latin typeface="Arial"/>
                        </a:rPr>
                        <a:t>Alert</a:t>
                      </a:r>
                    </a:p>
                  </a:txBody>
                  <a:tcPr marL="54864" marR="54864" marT="27432" marB="27432">
                    <a:solidFill>
                      <a:srgbClr val="E5F5FF"/>
                    </a:solidFill>
                  </a:tcPr>
                </a:tc>
                <a:tc>
                  <a:txBody>
                    <a:bodyPr/>
                    <a:lstStyle/>
                    <a:p>
                      <a:r>
                        <a:rPr sz="850" b="0">
                          <a:solidFill>
                            <a:srgbClr val="4B4B4B"/>
                          </a:solidFill>
                          <a:latin typeface="Arial"/>
                        </a:rPr>
                        <a:t>The nightly refresh of the worklist fails for a company (Collections refresh failed)</a:t>
                      </a:r>
                    </a:p>
                  </a:txBody>
                  <a:tcPr marL="54864" marR="54864" marT="27432" marB="27432">
                    <a:solidFill>
                      <a:srgbClr val="E5F5FF"/>
                    </a:solidFill>
                  </a:tcPr>
                </a:tc>
                <a:tc>
                  <a:txBody>
                    <a:bodyPr/>
                    <a:lstStyle/>
                    <a:p>
                      <a:r>
                        <a:rPr sz="850" b="0">
                          <a:solidFill>
                            <a:srgbClr val="4B4B4B"/>
                          </a:solidFill>
                          <a:latin typeface="Arial"/>
                        </a:rPr>
                        <a:t>The administrators who receive the alerts of Collections</a:t>
                      </a:r>
                    </a:p>
                  </a:txBody>
                  <a:tcPr marL="54864" marR="54864" marT="27432" marB="27432">
                    <a:solidFill>
                      <a:srgbClr val="E5F5FF"/>
                    </a:solidFill>
                  </a:tcPr>
                </a:tc>
                <a:tc>
                  <a:txBody>
                    <a:bodyPr/>
                    <a:lstStyle/>
                    <a:p>
                      <a:r>
                        <a:rPr sz="850" b="0">
                          <a:solidFill>
                            <a:srgbClr val="4B4B4B"/>
                          </a:solidFill>
                          <a:latin typeface="Arial"/>
                        </a:rPr>
                        <a:t>The collection worklist refresh of &lt;date&gt; failed: &lt;reason&gt;</a:t>
                      </a:r>
                    </a:p>
                  </a:txBody>
                  <a:tcPr marL="54864" marR="54864" marT="27432" marB="27432">
                    <a:solidFill>
                      <a:srgbClr val="E5F5FF"/>
                    </a:solidFill>
                  </a:tcPr>
                </a:tc>
              </a:tr>
              <a:tr h="480057">
                <a:tc>
                  <a:txBody>
                    <a:bodyPr/>
                    <a:lstStyle/>
                    <a:p>
                      <a:r>
                        <a:rPr sz="850" b="0">
                          <a:solidFill>
                            <a:srgbClr val="4B4B4B"/>
                          </a:solidFill>
                          <a:latin typeface="Arial"/>
                        </a:rPr>
                        <a:t>NT-09</a:t>
                      </a:r>
                    </a:p>
                  </a:txBody>
                  <a:tcPr marL="54864" marR="54864" marT="27432" marB="27432">
                    <a:solidFill>
                      <a:srgbClr val="FFFFFF"/>
                    </a:solidFill>
                  </a:tcPr>
                </a:tc>
                <a:tc>
                  <a:txBody>
                    <a:bodyPr/>
                    <a:lstStyle/>
                    <a:p>
                      <a:r>
                        <a:rPr sz="850" b="0">
                          <a:solidFill>
                            <a:srgbClr val="4B4B4B"/>
                          </a:solidFill>
                          <a:latin typeface="Arial"/>
                        </a:rPr>
                        <a:t>Alert</a:t>
                      </a:r>
                    </a:p>
                  </a:txBody>
                  <a:tcPr marL="54864" marR="54864" marT="27432" marB="27432">
                    <a:solidFill>
                      <a:srgbClr val="FFFFFF"/>
                    </a:solidFill>
                  </a:tcPr>
                </a:tc>
                <a:tc>
                  <a:txBody>
                    <a:bodyPr/>
                    <a:lstStyle/>
                    <a:p>
                      <a:r>
                        <a:rPr sz="850" b="0">
                          <a:solidFill>
                            <a:srgbClr val="4B4B4B"/>
                          </a:solidFill>
                          <a:latin typeface="Arial"/>
                        </a:rPr>
                        <a:t>An escalation stays in a stage beyond the SLA of its rule (Collections escalation overdue)</a:t>
                      </a:r>
                    </a:p>
                  </a:txBody>
                  <a:tcPr marL="54864" marR="54864" marT="27432" marB="27432">
                    <a:solidFill>
                      <a:srgbClr val="FFFFFF"/>
                    </a:solidFill>
                  </a:tcPr>
                </a:tc>
                <a:tc>
                  <a:txBody>
                    <a:bodyPr/>
                    <a:lstStyle/>
                    <a:p>
                      <a:r>
                        <a:rPr sz="850" b="0">
                          <a:solidFill>
                            <a:srgbClr val="4B4B4B"/>
                          </a:solidFill>
                          <a:latin typeface="Arial"/>
                        </a:rPr>
                        <a:t>The receiving level of the escalation and the administrators who receive the alerts of Collections</a:t>
                      </a:r>
                    </a:p>
                  </a:txBody>
                  <a:tcPr marL="54864" marR="54864" marT="27432" marB="27432">
                    <a:solidFill>
                      <a:srgbClr val="FFFFFF"/>
                    </a:solidFill>
                  </a:tcPr>
                </a:tc>
                <a:tc>
                  <a:txBody>
                    <a:bodyPr/>
                    <a:lstStyle/>
                    <a:p>
                      <a:r>
                        <a:rPr sz="850" b="0">
                          <a:solidFill>
                            <a:srgbClr val="4B4B4B"/>
                          </a:solidFill>
                          <a:latin typeface="Arial"/>
                        </a:rPr>
                        <a:t>&lt;escalation no&gt; (&lt;assured&gt;) is past its &lt;hours&gt;-hour SLA in stage &lt;stage&gt;</a:t>
                      </a:r>
                    </a:p>
                  </a:txBody>
                  <a:tcPr marL="54864" marR="54864" marT="27432" marB="27432">
                    <a:solidFill>
                      <a:srgbClr val="FFFFFF"/>
                    </a:solidFill>
                  </a:tcPr>
                </a:tc>
              </a:tr>
              <a:tr h="480057">
                <a:tc>
                  <a:txBody>
                    <a:bodyPr/>
                    <a:lstStyle/>
                    <a:p>
                      <a:r>
                        <a:rPr sz="850" b="0">
                          <a:solidFill>
                            <a:srgbClr val="4B4B4B"/>
                          </a:solidFill>
                          <a:latin typeface="Arial"/>
                        </a:rPr>
                        <a:t>NT-10</a:t>
                      </a:r>
                    </a:p>
                  </a:txBody>
                  <a:tcPr marL="54864" marR="54864" marT="27432" marB="27432">
                    <a:solidFill>
                      <a:srgbClr val="E5F5FF"/>
                    </a:solidFill>
                  </a:tcPr>
                </a:tc>
                <a:tc>
                  <a:txBody>
                    <a:bodyPr/>
                    <a:lstStyle/>
                    <a:p>
                      <a:r>
                        <a:rPr sz="850" b="0">
                          <a:solidFill>
                            <a:srgbClr val="4B4B4B"/>
                          </a:solidFill>
                          <a:latin typeface="Arial"/>
                        </a:rPr>
                        <a:t>Alert</a:t>
                      </a:r>
                    </a:p>
                  </a:txBody>
                  <a:tcPr marL="54864" marR="54864" marT="27432" marB="27432">
                    <a:solidFill>
                      <a:srgbClr val="E5F5FF"/>
                    </a:solidFill>
                  </a:tcPr>
                </a:tc>
                <a:tc>
                  <a:txBody>
                    <a:bodyPr/>
                    <a:lstStyle/>
                    <a:p>
                      <a:r>
                        <a:rPr sz="850" b="0">
                          <a:solidFill>
                            <a:srgbClr val="4B4B4B"/>
                          </a:solidFill>
                          <a:latin typeface="Arial"/>
                        </a:rPr>
                        <a:t>A scheduled file (daily, weekly, monthly or the application file) is not generated on time (Collections file not published)</a:t>
                      </a:r>
                    </a:p>
                  </a:txBody>
                  <a:tcPr marL="54864" marR="54864" marT="27432" marB="27432">
                    <a:solidFill>
                      <a:srgbClr val="E5F5FF"/>
                    </a:solidFill>
                  </a:tcPr>
                </a:tc>
                <a:tc>
                  <a:txBody>
                    <a:bodyPr/>
                    <a:lstStyle/>
                    <a:p>
                      <a:r>
                        <a:rPr sz="850" b="0">
                          <a:solidFill>
                            <a:srgbClr val="4B4B4B"/>
                          </a:solidFill>
                          <a:latin typeface="Arial"/>
                        </a:rPr>
                        <a:t>The administrators who receive the alerts of Collections</a:t>
                      </a:r>
                    </a:p>
                  </a:txBody>
                  <a:tcPr marL="54864" marR="54864" marT="27432" marB="27432">
                    <a:solidFill>
                      <a:srgbClr val="E5F5FF"/>
                    </a:solidFill>
                  </a:tcPr>
                </a:tc>
                <a:tc>
                  <a:txBody>
                    <a:bodyPr/>
                    <a:lstStyle/>
                    <a:p>
                      <a:r>
                        <a:rPr sz="850" b="0">
                          <a:solidFill>
                            <a:srgbClr val="4B4B4B"/>
                          </a:solidFill>
                          <a:latin typeface="Arial"/>
                        </a:rPr>
                        <a:t>&lt;report&gt; for &lt;period&gt; was not published: &lt;reason&gt;</a:t>
                      </a:r>
                    </a:p>
                  </a:txBody>
                  <a:tcPr marL="54864" marR="54864" marT="27432" marB="27432">
                    <a:solidFill>
                      <a:srgbClr val="E5F5FF"/>
                    </a:solidFill>
                  </a:tcPr>
                </a:tc>
              </a:tr>
            </a:tbl>
          </a:graphicData>
        </a:graphic>
      </p:graphicFrame>
    </p:spTree>
  </p:cSld>
  <p:clrMapOvr>
    <a:masterClrMapping/>
  </p:clrMapOvr>
</p:sld>
</file>

<file path=ppt/slides/slide3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Notifications and e-mails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325</a:t>
            </a:r>
          </a:p>
        </p:txBody>
      </p:sp>
      <p:graphicFrame>
        <p:nvGraphicFramePr>
          <p:cNvPr id="9" name="Table 8"/>
          <p:cNvGraphicFramePr>
            <a:graphicFrameLocks noGrp="1"/>
          </p:cNvGraphicFramePr>
          <p:nvPr/>
        </p:nvGraphicFramePr>
        <p:xfrm>
          <a:off x="548640" y="1325880"/>
          <a:ext cx="11094413" cy="1920228"/>
        </p:xfrm>
        <a:graphic>
          <a:graphicData uri="http://schemas.openxmlformats.org/drawingml/2006/table">
            <a:tbl>
              <a:tblPr firstRow="1" bandRow="1">
                <a:tableStyleId>{5C22544A-7EE6-4342-B048-85BDC9FD1C3A}</a:tableStyleId>
              </a:tblPr>
              <a:tblGrid>
                <a:gridCol w="682733"/>
                <a:gridCol w="1109441"/>
                <a:gridCol w="2730932"/>
                <a:gridCol w="2218883"/>
                <a:gridCol w="4352424"/>
              </a:tblGrid>
              <a:tr h="220979">
                <a:tc>
                  <a:txBody>
                    <a:bodyPr/>
                    <a:lstStyle/>
                    <a:p>
                      <a:r>
                        <a:rPr sz="850" b="1">
                          <a:solidFill>
                            <a:srgbClr val="FFFFFF"/>
                          </a:solidFill>
                          <a:latin typeface="Arial"/>
                        </a:rPr>
                        <a:t>ID</a:t>
                      </a:r>
                    </a:p>
                  </a:txBody>
                  <a:tcPr marL="54864" marR="54864" marT="27432" marB="27432">
                    <a:solidFill>
                      <a:srgbClr val="004EA8"/>
                    </a:solidFill>
                  </a:tcPr>
                </a:tc>
                <a:tc>
                  <a:txBody>
                    <a:bodyPr/>
                    <a:lstStyle/>
                    <a:p>
                      <a:r>
                        <a:rPr sz="850" b="1">
                          <a:solidFill>
                            <a:srgbClr val="FFFFFF"/>
                          </a:solidFill>
                          <a:latin typeface="Arial"/>
                        </a:rPr>
                        <a:t>Channel</a:t>
                      </a:r>
                    </a:p>
                  </a:txBody>
                  <a:tcPr marL="54864" marR="54864" marT="27432" marB="27432">
                    <a:solidFill>
                      <a:srgbClr val="004EA8"/>
                    </a:solidFill>
                  </a:tcPr>
                </a:tc>
                <a:tc>
                  <a:txBody>
                    <a:bodyPr/>
                    <a:lstStyle/>
                    <a:p>
                      <a:r>
                        <a:rPr sz="850" b="1">
                          <a:solidFill>
                            <a:srgbClr val="FFFFFF"/>
                          </a:solidFill>
                          <a:latin typeface="Arial"/>
                        </a:rPr>
                        <a:t>Trigger</a:t>
                      </a:r>
                    </a:p>
                  </a:txBody>
                  <a:tcPr marL="54864" marR="54864" marT="27432" marB="27432">
                    <a:solidFill>
                      <a:srgbClr val="004EA8"/>
                    </a:solidFill>
                  </a:tcPr>
                </a:tc>
                <a:tc>
                  <a:txBody>
                    <a:bodyPr/>
                    <a:lstStyle/>
                    <a:p>
                      <a:r>
                        <a:rPr sz="850" b="1">
                          <a:solidFill>
                            <a:srgbClr val="FFFFFF"/>
                          </a:solidFill>
                          <a:latin typeface="Arial"/>
                        </a:rPr>
                        <a:t>Recipient</a:t>
                      </a:r>
                    </a:p>
                  </a:txBody>
                  <a:tcPr marL="54864" marR="54864" marT="27432" marB="27432">
                    <a:solidFill>
                      <a:srgbClr val="004EA8"/>
                    </a:solidFill>
                  </a:tcPr>
                </a:tc>
                <a:tc>
                  <a:txBody>
                    <a:bodyPr/>
                    <a:lstStyle/>
                    <a:p>
                      <a:r>
                        <a:rPr sz="850" b="1">
                          <a:solidFill>
                            <a:srgbClr val="FFFFFF"/>
                          </a:solidFill>
                          <a:latin typeface="Arial"/>
                        </a:rPr>
                        <a:t>Content</a:t>
                      </a:r>
                    </a:p>
                  </a:txBody>
                  <a:tcPr marL="54864" marR="54864" marT="27432" marB="27432">
                    <a:solidFill>
                      <a:srgbClr val="004EA8"/>
                    </a:solidFill>
                  </a:tcPr>
                </a:tc>
              </a:tr>
              <a:tr h="739135">
                <a:tc>
                  <a:txBody>
                    <a:bodyPr/>
                    <a:lstStyle/>
                    <a:p>
                      <a:r>
                        <a:rPr sz="850" b="0">
                          <a:solidFill>
                            <a:srgbClr val="4B4B4B"/>
                          </a:solidFill>
                          <a:latin typeface="Arial"/>
                        </a:rPr>
                        <a:t>NT-11</a:t>
                      </a:r>
                    </a:p>
                  </a:txBody>
                  <a:tcPr marL="54864" marR="54864" marT="27432" marB="27432">
                    <a:solidFill>
                      <a:srgbClr val="FFFFFF"/>
                    </a:solidFill>
                  </a:tcPr>
                </a:tc>
                <a:tc>
                  <a:txBody>
                    <a:bodyPr/>
                    <a:lstStyle/>
                    <a:p>
                      <a:r>
                        <a:rPr sz="850" b="0">
                          <a:solidFill>
                            <a:srgbClr val="4B4B4B"/>
                          </a:solidFill>
                          <a:latin typeface="Arial"/>
                        </a:rPr>
                        <a:t>E-mail</a:t>
                      </a:r>
                    </a:p>
                  </a:txBody>
                  <a:tcPr marL="54864" marR="54864" marT="27432" marB="27432">
                    <a:solidFill>
                      <a:srgbClr val="FFFFFF"/>
                    </a:solidFill>
                  </a:tcPr>
                </a:tc>
                <a:tc>
                  <a:txBody>
                    <a:bodyPr/>
                    <a:lstStyle/>
                    <a:p>
                      <a:r>
                        <a:rPr sz="850" b="0">
                          <a:solidFill>
                            <a:srgbClr val="4B4B4B"/>
                          </a:solidFill>
                          <a:latin typeface="Arial"/>
                        </a:rPr>
                        <a:t>Send via Email on a statement of account</a:t>
                      </a:r>
                    </a:p>
                  </a:txBody>
                  <a:tcPr marL="54864" marR="54864" marT="27432" marB="27432">
                    <a:solidFill>
                      <a:srgbClr val="FFFFFF"/>
                    </a:solidFill>
                  </a:tcPr>
                </a:tc>
                <a:tc>
                  <a:txBody>
                    <a:bodyPr/>
                    <a:lstStyle/>
                    <a:p>
                      <a:r>
                        <a:rPr sz="850" b="0">
                          <a:solidFill>
                            <a:srgbClr val="4B4B4B"/>
                          </a:solidFill>
                          <a:latin typeface="Arial"/>
                        </a:rPr>
                        <a:t>The client's e-mail address (To and Cc as entered)</a:t>
                      </a:r>
                    </a:p>
                  </a:txBody>
                  <a:tcPr marL="54864" marR="54864" marT="27432" marB="27432">
                    <a:solidFill>
                      <a:srgbClr val="FFFFFF"/>
                    </a:solidFill>
                  </a:tcPr>
                </a:tc>
                <a:tc>
                  <a:txBody>
                    <a:bodyPr/>
                    <a:lstStyle/>
                    <a:p>
                      <a:r>
                        <a:rPr sz="850" b="0">
                          <a:solidFill>
                            <a:srgbClr val="4B4B4B"/>
                          </a:solidFill>
                          <a:latin typeface="Arial"/>
                        </a:rPr>
                        <a:t>Subject: Statement of Account &lt;soa no&gt; – &lt;assured&gt;. Body: Dear &lt;assured&gt;, please find attached your statement of account &lt;soa no&gt; for account &lt;ARN&gt;, billing cycle &lt;period&gt;. The amount due is &lt;currency&gt; &lt;amount&gt;, payable on or before &lt;due date&gt;. The attachment is protected; the password follows in a separate e-mail. Please disregard this statement if payment has been made.</a:t>
                      </a:r>
                    </a:p>
                  </a:txBody>
                  <a:tcPr marL="54864" marR="54864" marT="27432" marB="27432">
                    <a:solidFill>
                      <a:srgbClr val="FFFFFF"/>
                    </a:solidFill>
                  </a:tcPr>
                </a:tc>
              </a:tr>
              <a:tr h="350518">
                <a:tc>
                  <a:txBody>
                    <a:bodyPr/>
                    <a:lstStyle/>
                    <a:p>
                      <a:r>
                        <a:rPr sz="850" b="0">
                          <a:solidFill>
                            <a:srgbClr val="4B4B4B"/>
                          </a:solidFill>
                          <a:latin typeface="Arial"/>
                        </a:rPr>
                        <a:t>NT-12</a:t>
                      </a:r>
                    </a:p>
                  </a:txBody>
                  <a:tcPr marL="54864" marR="54864" marT="27432" marB="27432">
                    <a:solidFill>
                      <a:srgbClr val="E5F5FF"/>
                    </a:solidFill>
                  </a:tcPr>
                </a:tc>
                <a:tc>
                  <a:txBody>
                    <a:bodyPr/>
                    <a:lstStyle/>
                    <a:p>
                      <a:r>
                        <a:rPr sz="850" b="0">
                          <a:solidFill>
                            <a:srgbClr val="4B4B4B"/>
                          </a:solidFill>
                          <a:latin typeface="Arial"/>
                        </a:rPr>
                        <a:t>E-mail</a:t>
                      </a:r>
                    </a:p>
                  </a:txBody>
                  <a:tcPr marL="54864" marR="54864" marT="27432" marB="27432">
                    <a:solidFill>
                      <a:srgbClr val="E5F5FF"/>
                    </a:solidFill>
                  </a:tcPr>
                </a:tc>
                <a:tc>
                  <a:txBody>
                    <a:bodyPr/>
                    <a:lstStyle/>
                    <a:p>
                      <a:r>
                        <a:rPr sz="850" b="0">
                          <a:solidFill>
                            <a:srgbClr val="4B4B4B"/>
                          </a:solidFill>
                          <a:latin typeface="Arial"/>
                        </a:rPr>
                        <a:t>Follows every protected statement of account e-mail</a:t>
                      </a:r>
                    </a:p>
                  </a:txBody>
                  <a:tcPr marL="54864" marR="54864" marT="27432" marB="27432">
                    <a:solidFill>
                      <a:srgbClr val="E5F5FF"/>
                    </a:solidFill>
                  </a:tcPr>
                </a:tc>
                <a:tc>
                  <a:txBody>
                    <a:bodyPr/>
                    <a:lstStyle/>
                    <a:p>
                      <a:r>
                        <a:rPr sz="850" b="0">
                          <a:solidFill>
                            <a:srgbClr val="4B4B4B"/>
                          </a:solidFill>
                          <a:latin typeface="Arial"/>
                        </a:rPr>
                        <a:t>The same recipients</a:t>
                      </a:r>
                    </a:p>
                  </a:txBody>
                  <a:tcPr marL="54864" marR="54864" marT="27432" marB="27432">
                    <a:solidFill>
                      <a:srgbClr val="E5F5FF"/>
                    </a:solidFill>
                  </a:tcPr>
                </a:tc>
                <a:tc>
                  <a:txBody>
                    <a:bodyPr/>
                    <a:lstStyle/>
                    <a:p>
                      <a:r>
                        <a:rPr sz="850" b="0">
                          <a:solidFill>
                            <a:srgbClr val="4B4B4B"/>
                          </a:solidFill>
                          <a:latin typeface="Arial"/>
                        </a:rPr>
                        <a:t>The password of the attachment of the e-mail &lt;subject&gt;, with the password hint for the recipient</a:t>
                      </a:r>
                    </a:p>
                  </a:txBody>
                  <a:tcPr marL="54864" marR="54864" marT="27432" marB="27432">
                    <a:solidFill>
                      <a:srgbClr val="E5F5FF"/>
                    </a:solidFill>
                  </a:tcPr>
                </a:tc>
              </a:tr>
              <a:tr h="609596">
                <a:tc>
                  <a:txBody>
                    <a:bodyPr/>
                    <a:lstStyle/>
                    <a:p>
                      <a:r>
                        <a:rPr sz="850" b="0">
                          <a:solidFill>
                            <a:srgbClr val="4B4B4B"/>
                          </a:solidFill>
                          <a:latin typeface="Arial"/>
                        </a:rPr>
                        <a:t>NT-13</a:t>
                      </a:r>
                    </a:p>
                  </a:txBody>
                  <a:tcPr marL="54864" marR="54864" marT="27432" marB="27432">
                    <a:solidFill>
                      <a:srgbClr val="FFFFFF"/>
                    </a:solidFill>
                  </a:tcPr>
                </a:tc>
                <a:tc>
                  <a:txBody>
                    <a:bodyPr/>
                    <a:lstStyle/>
                    <a:p>
                      <a:r>
                        <a:rPr sz="850" b="0">
                          <a:solidFill>
                            <a:srgbClr val="4B4B4B"/>
                          </a:solidFill>
                          <a:latin typeface="Arial"/>
                        </a:rPr>
                        <a:t>Alert</a:t>
                      </a:r>
                    </a:p>
                  </a:txBody>
                  <a:tcPr marL="54864" marR="54864" marT="27432" marB="27432">
                    <a:solidFill>
                      <a:srgbClr val="FFFFFF"/>
                    </a:solidFill>
                  </a:tcPr>
                </a:tc>
                <a:tc>
                  <a:txBody>
                    <a:bodyPr/>
                    <a:lstStyle/>
                    <a:p>
                      <a:r>
                        <a:rPr sz="850" b="0">
                          <a:solidFill>
                            <a:srgbClr val="4B4B4B"/>
                          </a:solidFill>
                          <a:latin typeface="Arial"/>
                        </a:rPr>
                        <a:t>An item handed to Cashiering or Commission Receivables (check pick-up, BIR 2307 tag, direct payment account) is still not taken after the threshold (Collections item not taken)</a:t>
                      </a:r>
                    </a:p>
                  </a:txBody>
                  <a:tcPr marL="54864" marR="54864" marT="27432" marB="27432">
                    <a:solidFill>
                      <a:srgbClr val="FFFFFF"/>
                    </a:solidFill>
                  </a:tcPr>
                </a:tc>
                <a:tc>
                  <a:txBody>
                    <a:bodyPr/>
                    <a:lstStyle/>
                    <a:p>
                      <a:r>
                        <a:rPr sz="850" b="0">
                          <a:solidFill>
                            <a:srgbClr val="4B4B4B"/>
                          </a:solidFill>
                          <a:latin typeface="Arial"/>
                        </a:rPr>
                        <a:t>The administrators who receive the alerts of Collections</a:t>
                      </a:r>
                    </a:p>
                  </a:txBody>
                  <a:tcPr marL="54864" marR="54864" marT="27432" marB="27432">
                    <a:solidFill>
                      <a:srgbClr val="FFFFFF"/>
                    </a:solidFill>
                  </a:tcPr>
                </a:tc>
                <a:tc>
                  <a:txBody>
                    <a:bodyPr/>
                    <a:lstStyle/>
                    <a:p>
                      <a:r>
                        <a:rPr sz="850" b="0">
                          <a:solidFill>
                            <a:srgbClr val="4B4B4B"/>
                          </a:solidFill>
                          <a:latin typeface="Arial"/>
                        </a:rPr>
                        <a:t>&lt;feed&gt; item of &lt;invoice&gt; not taken by Operations since &lt;date and time&gt;</a:t>
                      </a:r>
                    </a:p>
                  </a:txBody>
                  <a:tcPr marL="54864" marR="54864" marT="27432" marB="27432">
                    <a:solidFill>
                      <a:srgbClr val="FFFFFF"/>
                    </a:solidFill>
                  </a:tcPr>
                </a:tc>
              </a:tr>
            </a:tbl>
          </a:graphicData>
        </a:graphic>
      </p:graphicFrame>
    </p:spTree>
  </p:cSld>
  <p:clrMapOvr>
    <a:masterClrMapping/>
  </p:clrMapOvr>
</p:sld>
</file>

<file path=ppt/slides/slide3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Exports and downloads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326</a:t>
            </a:r>
          </a:p>
        </p:txBody>
      </p:sp>
      <p:graphicFrame>
        <p:nvGraphicFramePr>
          <p:cNvPr id="9" name="Table 8"/>
          <p:cNvGraphicFramePr>
            <a:graphicFrameLocks noGrp="1"/>
          </p:cNvGraphicFramePr>
          <p:nvPr/>
        </p:nvGraphicFramePr>
        <p:xfrm>
          <a:off x="548640" y="1325880"/>
          <a:ext cx="11094413" cy="685800"/>
        </p:xfrm>
        <a:graphic>
          <a:graphicData uri="http://schemas.openxmlformats.org/drawingml/2006/table">
            <a:tbl>
              <a:tblPr firstRow="1" bandRow="1">
                <a:tableStyleId>{5C22544A-7EE6-4342-B048-85BDC9FD1C3A}</a:tableStyleId>
              </a:tblPr>
              <a:tblGrid>
                <a:gridCol w="1194783"/>
                <a:gridCol w="2048199"/>
                <a:gridCol w="2560249"/>
                <a:gridCol w="5291182"/>
              </a:tblGrid>
              <a:tr h="228600">
                <a:tc>
                  <a:txBody>
                    <a:bodyPr/>
                    <a:lstStyle/>
                    <a:p>
                      <a:r>
                        <a:rPr sz="900" b="1">
                          <a:solidFill>
                            <a:srgbClr val="FFFFFF"/>
                          </a:solidFill>
                          <a:latin typeface="Arial"/>
                        </a:rPr>
                        <a:t>Screen</a:t>
                      </a:r>
                    </a:p>
                  </a:txBody>
                  <a:tcPr marL="54864" marR="54864" marT="27432" marB="27432">
                    <a:solidFill>
                      <a:srgbClr val="004EA8"/>
                    </a:solidFill>
                  </a:tcPr>
                </a:tc>
                <a:tc>
                  <a:txBody>
                    <a:bodyPr/>
                    <a:lstStyle/>
                    <a:p>
                      <a:r>
                        <a:rPr sz="900" b="1">
                          <a:solidFill>
                            <a:srgbClr val="FFFFFF"/>
                          </a:solidFill>
                          <a:latin typeface="Arial"/>
                        </a:rPr>
                        <a:t>Button</a:t>
                      </a:r>
                    </a:p>
                  </a:txBody>
                  <a:tcPr marL="54864" marR="54864" marT="27432" marB="27432">
                    <a:solidFill>
                      <a:srgbClr val="004EA8"/>
                    </a:solidFill>
                  </a:tcPr>
                </a:tc>
                <a:tc>
                  <a:txBody>
                    <a:bodyPr/>
                    <a:lstStyle/>
                    <a:p>
                      <a:r>
                        <a:rPr sz="900" b="1">
                          <a:solidFill>
                            <a:srgbClr val="FFFFFF"/>
                          </a:solidFill>
                          <a:latin typeface="Arial"/>
                        </a:rPr>
                        <a:t>Who</a:t>
                      </a:r>
                    </a:p>
                  </a:txBody>
                  <a:tcPr marL="54864" marR="54864" marT="27432" marB="27432">
                    <a:solidFill>
                      <a:srgbClr val="004EA8"/>
                    </a:solidFill>
                  </a:tcPr>
                </a:tc>
                <a:tc>
                  <a:txBody>
                    <a:bodyPr/>
                    <a:lstStyle/>
                    <a:p>
                      <a:r>
                        <a:rPr sz="900" b="1">
                          <a:solidFill>
                            <a:srgbClr val="FFFFFF"/>
                          </a:solidFill>
                          <a:latin typeface="Arial"/>
                        </a:rPr>
                        <a:t>What the user receives</a:t>
                      </a:r>
                    </a:p>
                  </a:txBody>
                  <a:tcPr marL="54864" marR="54864" marT="27432" marB="27432">
                    <a:solidFill>
                      <a:srgbClr val="004EA8"/>
                    </a:solidFill>
                  </a:tcPr>
                </a:tc>
              </a:tr>
              <a:tr h="228600">
                <a:tc>
                  <a:txBody>
                    <a:bodyPr/>
                    <a:lstStyle/>
                    <a:p>
                      <a:r>
                        <a:rPr sz="900" b="0">
                          <a:solidFill>
                            <a:srgbClr val="4B4B4B"/>
                          </a:solidFill>
                          <a:latin typeface="Arial"/>
                        </a:rPr>
                        <a:t>SCR-CL-10</a:t>
                      </a:r>
                    </a:p>
                  </a:txBody>
                  <a:tcPr marL="54864" marR="54864" marT="27432" marB="27432">
                    <a:solidFill>
                      <a:srgbClr val="FFFFFF"/>
                    </a:solidFill>
                  </a:tcPr>
                </a:tc>
                <a:tc>
                  <a:txBody>
                    <a:bodyPr/>
                    <a:lstStyle/>
                    <a:p>
                      <a:r>
                        <a:rPr sz="900" b="0">
                          <a:solidFill>
                            <a:srgbClr val="4B4B4B"/>
                          </a:solidFill>
                          <a:latin typeface="Arial"/>
                        </a:rPr>
                        <a:t>Download PDF</a:t>
                      </a:r>
                    </a:p>
                  </a:txBody>
                  <a:tcPr marL="54864" marR="54864" marT="27432" marB="27432">
                    <a:solidFill>
                      <a:srgbClr val="FFFFFF"/>
                    </a:solidFill>
                  </a:tcPr>
                </a:tc>
                <a:tc>
                  <a:txBody>
                    <a:bodyPr/>
                    <a:lstStyle/>
                    <a:p>
                      <a:r>
                        <a:rPr sz="900" b="0">
                          <a:solidFill>
                            <a:srgbClr val="4B4B4B"/>
                          </a:solidFill>
                          <a:latin typeface="Arial"/>
                        </a:rPr>
                        <a:t>Every Collections user</a:t>
                      </a:r>
                    </a:p>
                  </a:txBody>
                  <a:tcPr marL="54864" marR="54864" marT="27432" marB="27432">
                    <a:solidFill>
                      <a:srgbClr val="FFFFFF"/>
                    </a:solidFill>
                  </a:tcPr>
                </a:tc>
                <a:tc>
                  <a:txBody>
                    <a:bodyPr/>
                    <a:lstStyle/>
                    <a:p>
                      <a:r>
                        <a:rPr sz="900" b="0">
                          <a:solidFill>
                            <a:srgbClr val="4B4B4B"/>
                          </a:solidFill>
                          <a:latin typeface="Arial"/>
                        </a:rPr>
                        <a:t>Downloads the statement of account (PDF)</a:t>
                      </a:r>
                    </a:p>
                  </a:txBody>
                  <a:tcPr marL="54864" marR="54864" marT="27432" marB="27432">
                    <a:solidFill>
                      <a:srgbClr val="FFFFFF"/>
                    </a:solidFill>
                  </a:tcPr>
                </a:tc>
              </a:tr>
              <a:tr h="228600">
                <a:tc>
                  <a:txBody>
                    <a:bodyPr/>
                    <a:lstStyle/>
                    <a:p>
                      <a:r>
                        <a:rPr sz="900" b="0">
                          <a:solidFill>
                            <a:srgbClr val="4B4B4B"/>
                          </a:solidFill>
                          <a:latin typeface="Arial"/>
                        </a:rPr>
                        <a:t>SCR-CL-18</a:t>
                      </a:r>
                    </a:p>
                  </a:txBody>
                  <a:tcPr marL="54864" marR="54864" marT="27432" marB="27432">
                    <a:solidFill>
                      <a:srgbClr val="E5F5FF"/>
                    </a:solidFill>
                  </a:tcPr>
                </a:tc>
                <a:tc>
                  <a:txBody>
                    <a:bodyPr/>
                    <a:lstStyle/>
                    <a:p>
                      <a:r>
                        <a:rPr sz="900" b="0">
                          <a:solidFill>
                            <a:srgbClr val="4B4B4B"/>
                          </a:solidFill>
                          <a:latin typeface="Arial"/>
                        </a:rPr>
                        <a:t>Download (row menu)</a:t>
                      </a:r>
                    </a:p>
                  </a:txBody>
                  <a:tcPr marL="54864" marR="54864" marT="27432" marB="27432">
                    <a:solidFill>
                      <a:srgbClr val="E5F5FF"/>
                    </a:solidFill>
                  </a:tcPr>
                </a:tc>
                <a:tc>
                  <a:txBody>
                    <a:bodyPr/>
                    <a:lstStyle/>
                    <a:p>
                      <a:r>
                        <a:rPr sz="900" b="0">
                          <a:solidFill>
                            <a:srgbClr val="4B4B4B"/>
                          </a:solidFill>
                          <a:latin typeface="Arial"/>
                        </a:rPr>
                        <a:t>Users with the export permission</a:t>
                      </a:r>
                    </a:p>
                  </a:txBody>
                  <a:tcPr marL="54864" marR="54864" marT="27432" marB="27432">
                    <a:solidFill>
                      <a:srgbClr val="E5F5FF"/>
                    </a:solidFill>
                  </a:tcPr>
                </a:tc>
                <a:tc>
                  <a:txBody>
                    <a:bodyPr/>
                    <a:lstStyle/>
                    <a:p>
                      <a:r>
                        <a:rPr sz="900" b="0">
                          <a:solidFill>
                            <a:srgbClr val="4B4B4B"/>
                          </a:solidFill>
                          <a:latin typeface="Arial"/>
                        </a:rPr>
                        <a:t>Downloads the file (Excel)</a:t>
                      </a:r>
                    </a:p>
                  </a:txBody>
                  <a:tcPr marL="54864" marR="54864" marT="27432" marB="27432">
                    <a:solidFill>
                      <a:srgbClr val="E5F5FF"/>
                    </a:solidFill>
                  </a:tcPr>
                </a:tc>
              </a:tr>
            </a:tbl>
          </a:graphicData>
        </a:graphic>
      </p:graphicFrame>
    </p:spTree>
  </p:cSld>
  <p:clrMapOvr>
    <a:masterClrMapping/>
  </p:clrMapOvr>
</p:sld>
</file>

<file path=ppt/slides/slide3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UX points for confirmation</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Presentation items to confirm, screen observations, accessibility and the desktop assumptions</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BRD-4 Collections</a:t>
            </a:r>
          </a:p>
        </p:txBody>
      </p:sp>
    </p:spTree>
  </p:cSld>
  <p:clrMapOvr>
    <a:masterClrMapping/>
  </p:clrMapOvr>
</p:sld>
</file>

<file path=ppt/slides/slide3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Presentation items of the clarifications chapter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328</a:t>
            </a:r>
          </a:p>
        </p:txBody>
      </p:sp>
      <p:graphicFrame>
        <p:nvGraphicFramePr>
          <p:cNvPr id="9" name="Table 8"/>
          <p:cNvGraphicFramePr>
            <a:graphicFrameLocks noGrp="1"/>
          </p:cNvGraphicFramePr>
          <p:nvPr/>
        </p:nvGraphicFramePr>
        <p:xfrm>
          <a:off x="548640" y="1325880"/>
          <a:ext cx="11094413" cy="3108960"/>
        </p:xfrm>
        <a:graphic>
          <a:graphicData uri="http://schemas.openxmlformats.org/drawingml/2006/table">
            <a:tbl>
              <a:tblPr firstRow="1" bandRow="1">
                <a:tableStyleId>{5C22544A-7EE6-4342-B048-85BDC9FD1C3A}</a:tableStyleId>
              </a:tblPr>
              <a:tblGrid>
                <a:gridCol w="1024099"/>
                <a:gridCol w="2048199"/>
                <a:gridCol w="5120499"/>
                <a:gridCol w="2901616"/>
              </a:tblGrid>
              <a:tr h="228600">
                <a:tc>
                  <a:txBody>
                    <a:bodyPr/>
                    <a:lstStyle/>
                    <a:p>
                      <a:r>
                        <a:rPr sz="900" b="1">
                          <a:solidFill>
                            <a:srgbClr val="FFFFFF"/>
                          </a:solidFill>
                          <a:latin typeface="Arial"/>
                        </a:rPr>
                        <a:t>Ref</a:t>
                      </a:r>
                    </a:p>
                  </a:txBody>
                  <a:tcPr marL="54864" marR="54864" marT="27432" marB="27432">
                    <a:solidFill>
                      <a:srgbClr val="004EA8"/>
                    </a:solidFill>
                  </a:tcPr>
                </a:tc>
                <a:tc>
                  <a:txBody>
                    <a:bodyPr/>
                    <a:lstStyle/>
                    <a:p>
                      <a:r>
                        <a:rPr sz="900" b="1">
                          <a:solidFill>
                            <a:srgbClr val="FFFFFF"/>
                          </a:solidFill>
                          <a:latin typeface="Arial"/>
                        </a:rPr>
                        <a:t>Topic</a:t>
                      </a:r>
                    </a:p>
                  </a:txBody>
                  <a:tcPr marL="54864" marR="54864" marT="27432" marB="27432">
                    <a:solidFill>
                      <a:srgbClr val="004EA8"/>
                    </a:solidFill>
                  </a:tcPr>
                </a:tc>
                <a:tc>
                  <a:txBody>
                    <a:bodyPr/>
                    <a:lstStyle/>
                    <a:p>
                      <a:r>
                        <a:rPr sz="900" b="1">
                          <a:solidFill>
                            <a:srgbClr val="FFFFFF"/>
                          </a:solidFill>
                          <a:latin typeface="Arial"/>
                        </a:rPr>
                        <a:t>Proposed</a:t>
                      </a:r>
                    </a:p>
                  </a:txBody>
                  <a:tcPr marL="54864" marR="54864" marT="27432" marB="27432">
                    <a:solidFill>
                      <a:srgbClr val="004EA8"/>
                    </a:solidFill>
                  </a:tcPr>
                </a:tc>
                <a:tc>
                  <a:txBody>
                    <a:bodyPr/>
                    <a:lstStyle/>
                    <a:p>
                      <a:r>
                        <a:rPr sz="900" b="1">
                          <a:solidFill>
                            <a:srgbClr val="FFFFFF"/>
                          </a:solidFill>
                          <a:latin typeface="Arial"/>
                        </a:rPr>
                        <a:t>To confirm</a:t>
                      </a:r>
                    </a:p>
                  </a:txBody>
                  <a:tcPr marL="54864" marR="54864" marT="27432" marB="27432">
                    <a:solidFill>
                      <a:srgbClr val="004EA8"/>
                    </a:solidFill>
                  </a:tcPr>
                </a:tc>
              </a:tr>
              <a:tr h="365760">
                <a:tc>
                  <a:txBody>
                    <a:bodyPr/>
                    <a:lstStyle/>
                    <a:p>
                      <a:r>
                        <a:rPr sz="900" b="0">
                          <a:solidFill>
                            <a:srgbClr val="4B4B4B"/>
                          </a:solidFill>
                          <a:latin typeface="Arial"/>
                        </a:rPr>
                        <a:t>CLR-CL-25</a:t>
                      </a:r>
                    </a:p>
                  </a:txBody>
                  <a:tcPr marL="54864" marR="54864" marT="27432" marB="27432">
                    <a:solidFill>
                      <a:srgbClr val="FFFFFF"/>
                    </a:solidFill>
                  </a:tcPr>
                </a:tc>
                <a:tc>
                  <a:txBody>
                    <a:bodyPr/>
                    <a:lstStyle/>
                    <a:p>
                      <a:r>
                        <a:rPr sz="900" b="0">
                          <a:solidFill>
                            <a:srgbClr val="4B4B4B"/>
                          </a:solidFill>
                          <a:latin typeface="Arial"/>
                        </a:rPr>
                        <a:t>Client on the worklist (screen standards; SCR-CL-02 to 04)</a:t>
                      </a:r>
                    </a:p>
                  </a:txBody>
                  <a:tcPr marL="54864" marR="54864" marT="27432" marB="27432">
                    <a:solidFill>
                      <a:srgbClr val="FFFFFF"/>
                    </a:solidFill>
                  </a:tcPr>
                </a:tc>
                <a:tc>
                  <a:txBody>
                    <a:bodyPr/>
                    <a:lstStyle/>
                    <a:p>
                      <a:r>
                        <a:rPr sz="900" b="0">
                          <a:solidFill>
                            <a:srgbClr val="4B4B4B"/>
                          </a:solidFill>
                          <a:latin typeface="Arial"/>
                        </a:rPr>
                        <a:t>The client of an account is shown by its client code, a link to the client view, with the name of the assured under it; the client's own name is shown on the client view.</a:t>
                      </a:r>
                    </a:p>
                  </a:txBody>
                  <a:tcPr marL="54864" marR="54864" marT="27432" marB="27432">
                    <a:solidFill>
                      <a:srgbClr val="FFFFFF"/>
                    </a:solidFill>
                  </a:tcPr>
                </a:tc>
                <a:tc>
                  <a:txBody>
                    <a:bodyPr/>
                    <a:lstStyle/>
                    <a:p>
                      <a:r>
                        <a:rPr sz="900" b="0">
                          <a:solidFill>
                            <a:srgbClr val="4B4B4B"/>
                          </a:solidFill>
                          <a:latin typeface="Arial"/>
                        </a:rPr>
                        <a:t>Confirm the client code, or ask for the client's name with the code under it.</a:t>
                      </a:r>
                    </a:p>
                  </a:txBody>
                  <a:tcPr marL="54864" marR="54864" marT="27432" marB="27432">
                    <a:solidFill>
                      <a:srgbClr val="FFFFFF"/>
                    </a:solidFill>
                  </a:tcPr>
                </a:tc>
              </a:tr>
              <a:tr h="502920">
                <a:tc>
                  <a:txBody>
                    <a:bodyPr/>
                    <a:lstStyle/>
                    <a:p>
                      <a:r>
                        <a:rPr sz="900" b="0">
                          <a:solidFill>
                            <a:srgbClr val="4B4B4B"/>
                          </a:solidFill>
                          <a:latin typeface="Arial"/>
                        </a:rPr>
                        <a:t>CLR-CL-26</a:t>
                      </a:r>
                    </a:p>
                  </a:txBody>
                  <a:tcPr marL="54864" marR="54864" marT="27432" marB="27432">
                    <a:solidFill>
                      <a:srgbClr val="E5F5FF"/>
                    </a:solidFill>
                  </a:tcPr>
                </a:tc>
                <a:tc>
                  <a:txBody>
                    <a:bodyPr/>
                    <a:lstStyle/>
                    <a:p>
                      <a:r>
                        <a:rPr sz="900" b="0">
                          <a:solidFill>
                            <a:srgbClr val="4B4B4B"/>
                          </a:solidFill>
                          <a:latin typeface="Arial"/>
                        </a:rPr>
                        <a:t>Filters and criteria typed (screen standards; SCR-CL-02, SCR-CL-17)</a:t>
                      </a:r>
                    </a:p>
                  </a:txBody>
                  <a:tcPr marL="54864" marR="54864" marT="27432" marB="27432">
                    <a:solidFill>
                      <a:srgbClr val="E5F5FF"/>
                    </a:solidFill>
                  </a:tcPr>
                </a:tc>
                <a:tc>
                  <a:txBody>
                    <a:bodyPr/>
                    <a:lstStyle/>
                    <a:p>
                      <a:r>
                        <a:rPr sz="900" b="0">
                          <a:solidFill>
                            <a:srgbClr val="4B4B4B"/>
                          </a:solidFill>
                          <a:latin typeface="Arial"/>
                        </a:rPr>
                        <a:t>The filters of the PR Worklist and the criteria of the assignment rules and of Reassign by Criteria are text fields where the user types a segment, unit, Unit Head, handler or account officer; the handler of a reassignment is chosen by name.</a:t>
                      </a:r>
                    </a:p>
                  </a:txBody>
                  <a:tcPr marL="54864" marR="54864" marT="27432" marB="27432">
                    <a:solidFill>
                      <a:srgbClr val="E5F5FF"/>
                    </a:solidFill>
                  </a:tcPr>
                </a:tc>
                <a:tc>
                  <a:txBody>
                    <a:bodyPr/>
                    <a:lstStyle/>
                    <a:p>
                      <a:r>
                        <a:rPr sz="900" b="0">
                          <a:solidFill>
                            <a:srgbClr val="4B4B4B"/>
                          </a:solidFill>
                          <a:latin typeface="Arial"/>
                        </a:rPr>
                        <a:t>Confirm, or ask for drop-downs of the segments, units and users by name.</a:t>
                      </a:r>
                    </a:p>
                  </a:txBody>
                  <a:tcPr marL="54864" marR="54864" marT="27432" marB="27432">
                    <a:solidFill>
                      <a:srgbClr val="E5F5FF"/>
                    </a:solidFill>
                  </a:tcPr>
                </a:tc>
              </a:tr>
              <a:tr h="640080">
                <a:tc>
                  <a:txBody>
                    <a:bodyPr/>
                    <a:lstStyle/>
                    <a:p>
                      <a:r>
                        <a:rPr sz="900" b="0">
                          <a:solidFill>
                            <a:srgbClr val="4B4B4B"/>
                          </a:solidFill>
                          <a:latin typeface="Arial"/>
                        </a:rPr>
                        <a:t>CLR-CL-27</a:t>
                      </a:r>
                    </a:p>
                  </a:txBody>
                  <a:tcPr marL="54864" marR="54864" marT="27432" marB="27432">
                    <a:solidFill>
                      <a:srgbClr val="FFFFFF"/>
                    </a:solidFill>
                  </a:tcPr>
                </a:tc>
                <a:tc>
                  <a:txBody>
                    <a:bodyPr/>
                    <a:lstStyle/>
                    <a:p>
                      <a:r>
                        <a:rPr sz="900" b="0">
                          <a:solidFill>
                            <a:srgbClr val="4B4B4B"/>
                          </a:solidFill>
                          <a:latin typeface="Arial"/>
                        </a:rPr>
                        <a:t>Collections Setup values (screen standards; SCR-CL-19)</a:t>
                      </a:r>
                    </a:p>
                  </a:txBody>
                  <a:tcPr marL="54864" marR="54864" marT="27432" marB="27432">
                    <a:solidFill>
                      <a:srgbClr val="FFFFFF"/>
                    </a:solidFill>
                  </a:tcPr>
                </a:tc>
                <a:tc>
                  <a:txBody>
                    <a:bodyPr/>
                    <a:lstStyle/>
                    <a:p>
                      <a:r>
                        <a:rPr sz="900" b="0">
                          <a:solidFill>
                            <a:srgbClr val="4B4B4B"/>
                          </a:solidFill>
                          <a:latin typeface="Arial"/>
                        </a:rPr>
                        <a:t>The parameters are listed by name with a business description, and the attributes of a disposition are shown by label and chosen from drop-downs (the reserved roles as check boxes). The Invoice Number Format parameter is kept as the pattern the invoice number is checked against.</a:t>
                      </a:r>
                    </a:p>
                  </a:txBody>
                  <a:tcPr marL="54864" marR="54864" marT="27432" marB="27432">
                    <a:solidFill>
                      <a:srgbClr val="FFFFFF"/>
                    </a:solidFill>
                  </a:tcPr>
                </a:tc>
                <a:tc>
                  <a:txBody>
                    <a:bodyPr/>
                    <a:lstStyle/>
                    <a:p>
                      <a:r>
                        <a:rPr sz="900" b="0">
                          <a:solidFill>
                            <a:srgbClr val="4B4B4B"/>
                          </a:solidFill>
                          <a:latin typeface="Arial"/>
                        </a:rPr>
                        <a:t>Confirm the names and descriptions of the parameters, and whether the invoice number format stays a pattern kept by the System Administrator or becomes a choice of formats.</a:t>
                      </a:r>
                    </a:p>
                  </a:txBody>
                  <a:tcPr marL="54864" marR="54864" marT="27432" marB="27432">
                    <a:solidFill>
                      <a:srgbClr val="FFFFFF"/>
                    </a:solidFill>
                  </a:tcPr>
                </a:tc>
              </a:tr>
              <a:tr h="502920">
                <a:tc>
                  <a:txBody>
                    <a:bodyPr/>
                    <a:lstStyle/>
                    <a:p>
                      <a:r>
                        <a:rPr sz="900" b="0">
                          <a:solidFill>
                            <a:srgbClr val="4B4B4B"/>
                          </a:solidFill>
                          <a:latin typeface="Arial"/>
                        </a:rPr>
                        <a:t>CLR-CL-28</a:t>
                      </a:r>
                    </a:p>
                  </a:txBody>
                  <a:tcPr marL="54864" marR="54864" marT="27432" marB="27432">
                    <a:solidFill>
                      <a:srgbClr val="E5F5FF"/>
                    </a:solidFill>
                  </a:tcPr>
                </a:tc>
                <a:tc>
                  <a:txBody>
                    <a:bodyPr/>
                    <a:lstStyle/>
                    <a:p>
                      <a:r>
                        <a:rPr sz="900" b="0">
                          <a:solidFill>
                            <a:srgbClr val="4B4B4B"/>
                          </a:solidFill>
                          <a:latin typeface="Arial"/>
                        </a:rPr>
                        <a:t>Designated user of an escalation (screen standards; SCR-CL-11, SCR-CL-13)</a:t>
                      </a:r>
                    </a:p>
                  </a:txBody>
                  <a:tcPr marL="54864" marR="54864" marT="27432" marB="27432">
                    <a:solidFill>
                      <a:srgbClr val="E5F5FF"/>
                    </a:solidFill>
                  </a:tcPr>
                </a:tc>
                <a:tc>
                  <a:txBody>
                    <a:bodyPr/>
                    <a:lstStyle/>
                    <a:p>
                      <a:r>
                        <a:rPr sz="900" b="0">
                          <a:solidFill>
                            <a:srgbClr val="4B4B4B"/>
                          </a:solidFill>
                          <a:latin typeface="Arial"/>
                        </a:rPr>
                        <a:t>The designated user of a manual escalation and of an escalation rule is typed as the user ID; a user who does not handle escalations is refused.</a:t>
                      </a:r>
                    </a:p>
                  </a:txBody>
                  <a:tcPr marL="54864" marR="54864" marT="27432" marB="27432">
                    <a:solidFill>
                      <a:srgbClr val="E5F5FF"/>
                    </a:solidFill>
                  </a:tcPr>
                </a:tc>
                <a:tc>
                  <a:txBody>
                    <a:bodyPr/>
                    <a:lstStyle/>
                    <a:p>
                      <a:r>
                        <a:rPr sz="900" b="0">
                          <a:solidFill>
                            <a:srgbClr val="4B4B4B"/>
                          </a:solidFill>
                          <a:latin typeface="Arial"/>
                        </a:rPr>
                        <a:t>Confirm, or ask for a drop-down of the users who handle escalations, by name.</a:t>
                      </a:r>
                    </a:p>
                  </a:txBody>
                  <a:tcPr marL="54864" marR="54864" marT="27432" marB="27432">
                    <a:solidFill>
                      <a:srgbClr val="E5F5FF"/>
                    </a:solidFill>
                  </a:tcPr>
                </a:tc>
              </a:tr>
              <a:tr h="502920">
                <a:tc>
                  <a:txBody>
                    <a:bodyPr/>
                    <a:lstStyle/>
                    <a:p>
                      <a:r>
                        <a:rPr sz="900" b="0">
                          <a:solidFill>
                            <a:srgbClr val="4B4B4B"/>
                          </a:solidFill>
                          <a:latin typeface="Arial"/>
                        </a:rPr>
                        <a:t>CLR-CL-29</a:t>
                      </a:r>
                    </a:p>
                  </a:txBody>
                  <a:tcPr marL="54864" marR="54864" marT="27432" marB="27432">
                    <a:solidFill>
                      <a:srgbClr val="FFFFFF"/>
                    </a:solidFill>
                  </a:tcPr>
                </a:tc>
                <a:tc>
                  <a:txBody>
                    <a:bodyPr/>
                    <a:lstStyle/>
                    <a:p>
                      <a:r>
                        <a:rPr sz="900" b="0">
                          <a:solidFill>
                            <a:srgbClr val="4B4B4B"/>
                          </a:solidFill>
                          <a:latin typeface="Arial"/>
                        </a:rPr>
                        <a:t>Values of the upload template (FR-CL-034; chapter 18)</a:t>
                      </a:r>
                    </a:p>
                  </a:txBody>
                  <a:tcPr marL="54864" marR="54864" marT="27432" marB="27432">
                    <a:solidFill>
                      <a:srgbClr val="FFFFFF"/>
                    </a:solidFill>
                  </a:tcPr>
                </a:tc>
                <a:tc>
                  <a:txBody>
                    <a:bodyPr/>
                    <a:lstStyle/>
                    <a:p>
                      <a:r>
                        <a:rPr sz="900" b="0">
                          <a:solidFill>
                            <a:srgbClr val="4B4B4B"/>
                          </a:solidFill>
                          <a:latin typeface="Arial"/>
                        </a:rPr>
                        <a:t>The Collections Bulk Update template takes the codes of its lists (escalation level TL, UH, SECTION_HEAD or USER; the codes of the escalation reasons, dispositions and efforts), as the template instructions state.</a:t>
                      </a:r>
                    </a:p>
                  </a:txBody>
                  <a:tcPr marL="54864" marR="54864" marT="27432" marB="27432">
                    <a:solidFill>
                      <a:srgbClr val="FFFFFF"/>
                    </a:solidFill>
                  </a:tcPr>
                </a:tc>
                <a:tc>
                  <a:txBody>
                    <a:bodyPr/>
                    <a:lstStyle/>
                    <a:p>
                      <a:r>
                        <a:rPr sz="900" b="0">
                          <a:solidFill>
                            <a:srgbClr val="4B4B4B"/>
                          </a:solidFill>
                          <a:latin typeface="Arial"/>
                        </a:rPr>
                        <a:t>Confirm the codes in the template, or ask for the labels.</a:t>
                      </a:r>
                    </a:p>
                  </a:txBody>
                  <a:tcPr marL="54864" marR="54864" marT="27432" marB="27432">
                    <a:solidFill>
                      <a:srgbClr val="FFFFFF"/>
                    </a:solidFill>
                  </a:tcPr>
                </a:tc>
              </a:tr>
              <a:tr h="365760">
                <a:tc>
                  <a:txBody>
                    <a:bodyPr/>
                    <a:lstStyle/>
                    <a:p>
                      <a:r>
                        <a:rPr sz="900" b="0">
                          <a:solidFill>
                            <a:srgbClr val="4B4B4B"/>
                          </a:solidFill>
                          <a:latin typeface="Arial"/>
                        </a:rPr>
                        <a:t>CLR-CL-30</a:t>
                      </a:r>
                    </a:p>
                  </a:txBody>
                  <a:tcPr marL="54864" marR="54864" marT="27432" marB="27432">
                    <a:solidFill>
                      <a:srgbClr val="E5F5FF"/>
                    </a:solidFill>
                  </a:tcPr>
                </a:tc>
                <a:tc>
                  <a:txBody>
                    <a:bodyPr/>
                    <a:lstStyle/>
                    <a:p>
                      <a:r>
                        <a:rPr sz="900" b="0">
                          <a:solidFill>
                            <a:srgbClr val="4B4B4B"/>
                          </a:solidFill>
                          <a:latin typeface="Arial"/>
                        </a:rPr>
                        <a:t>Disposition and effort values to confirm (FR-CL-030, 033, 072; CQ08)</a:t>
                      </a:r>
                    </a:p>
                  </a:txBody>
                  <a:tcPr marL="54864" marR="54864" marT="27432" marB="27432">
                    <a:solidFill>
                      <a:srgbClr val="E5F5FF"/>
                    </a:solidFill>
                  </a:tcPr>
                </a:tc>
                <a:tc>
                  <a:txBody>
                    <a:bodyPr/>
                    <a:lstStyle/>
                    <a:p>
                      <a:r>
                        <a:rPr sz="900" b="0">
                          <a:solidFill>
                            <a:srgbClr val="4B4B4B"/>
                          </a:solidFill>
                          <a:latin typeface="Arial"/>
                        </a:rPr>
                        <a:t>The seeded dispositions, effort codes and escalation reasons are the values implied by the BRD; BDOI replaces them with its lists as configuration.</a:t>
                      </a:r>
                    </a:p>
                  </a:txBody>
                  <a:tcPr marL="54864" marR="54864" marT="27432" marB="27432">
                    <a:solidFill>
                      <a:srgbClr val="E5F5FF"/>
                    </a:solidFill>
                  </a:tcPr>
                </a:tc>
                <a:tc>
                  <a:txBody>
                    <a:bodyPr/>
                    <a:lstStyle/>
                    <a:p>
                      <a:r>
                        <a:rPr sz="900" b="0">
                          <a:solidFill>
                            <a:srgbClr val="4B4B4B"/>
                          </a:solidFill>
                          <a:latin typeface="Arial"/>
                        </a:rPr>
                        <a:t>Give the lists of dispositions, effort codes and escalation reasons (CQ08).</a:t>
                      </a:r>
                    </a:p>
                  </a:txBody>
                  <a:tcPr marL="54864" marR="54864" marT="27432" marB="27432">
                    <a:solidFill>
                      <a:srgbClr val="E5F5FF"/>
                    </a:solidFill>
                  </a:tcPr>
                </a:tc>
              </a:tr>
            </a:tbl>
          </a:graphicData>
        </a:graphic>
      </p:graphicFrame>
    </p:spTree>
  </p:cSld>
  <p:clrMapOvr>
    <a:masterClrMapping/>
  </p:clrMapOvr>
</p:sld>
</file>

<file path=ppt/slides/slide3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Screen observations: proposals for the UX Design team</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329</a:t>
            </a:r>
          </a:p>
        </p:txBody>
      </p:sp>
      <p:graphicFrame>
        <p:nvGraphicFramePr>
          <p:cNvPr id="9" name="Table 8"/>
          <p:cNvGraphicFramePr>
            <a:graphicFrameLocks noGrp="1"/>
          </p:cNvGraphicFramePr>
          <p:nvPr/>
        </p:nvGraphicFramePr>
        <p:xfrm>
          <a:off x="548640" y="1325880"/>
          <a:ext cx="11094413" cy="4251960"/>
        </p:xfrm>
        <a:graphic>
          <a:graphicData uri="http://schemas.openxmlformats.org/drawingml/2006/table">
            <a:tbl>
              <a:tblPr firstRow="1" bandRow="1">
                <a:tableStyleId>{5C22544A-7EE6-4342-B048-85BDC9FD1C3A}</a:tableStyleId>
              </a:tblPr>
              <a:tblGrid>
                <a:gridCol w="938758"/>
                <a:gridCol w="1536149"/>
                <a:gridCol w="4267082"/>
                <a:gridCol w="4352424"/>
              </a:tblGrid>
              <a:tr h="228600">
                <a:tc>
                  <a:txBody>
                    <a:bodyPr/>
                    <a:lstStyle/>
                    <a:p>
                      <a:r>
                        <a:rPr sz="900" b="1">
                          <a:solidFill>
                            <a:srgbClr val="FFFFFF"/>
                          </a:solidFill>
                          <a:latin typeface="Arial"/>
                        </a:rPr>
                        <a:t>No.</a:t>
                      </a:r>
                    </a:p>
                  </a:txBody>
                  <a:tcPr marL="54864" marR="54864" marT="27432" marB="27432">
                    <a:solidFill>
                      <a:srgbClr val="004EA8"/>
                    </a:solidFill>
                  </a:tcPr>
                </a:tc>
                <a:tc>
                  <a:txBody>
                    <a:bodyPr/>
                    <a:lstStyle/>
                    <a:p>
                      <a:r>
                        <a:rPr sz="900" b="1">
                          <a:solidFill>
                            <a:srgbClr val="FFFFFF"/>
                          </a:solidFill>
                          <a:latin typeface="Arial"/>
                        </a:rPr>
                        <a:t>Screens</a:t>
                      </a:r>
                    </a:p>
                  </a:txBody>
                  <a:tcPr marL="54864" marR="54864" marT="27432" marB="27432">
                    <a:solidFill>
                      <a:srgbClr val="004EA8"/>
                    </a:solidFill>
                  </a:tcPr>
                </a:tc>
                <a:tc>
                  <a:txBody>
                    <a:bodyPr/>
                    <a:lstStyle/>
                    <a:p>
                      <a:r>
                        <a:rPr sz="900" b="1">
                          <a:solidFill>
                            <a:srgbClr val="FFFFFF"/>
                          </a:solidFill>
                          <a:latin typeface="Arial"/>
                        </a:rPr>
                        <a:t>Observation</a:t>
                      </a:r>
                    </a:p>
                  </a:txBody>
                  <a:tcPr marL="54864" marR="54864" marT="27432" marB="27432">
                    <a:solidFill>
                      <a:srgbClr val="004EA8"/>
                    </a:solidFill>
                  </a:tcPr>
                </a:tc>
                <a:tc>
                  <a:txBody>
                    <a:bodyPr/>
                    <a:lstStyle/>
                    <a:p>
                      <a:r>
                        <a:rPr sz="900" b="1">
                          <a:solidFill>
                            <a:srgbClr val="FFFFFF"/>
                          </a:solidFill>
                          <a:latin typeface="Arial"/>
                        </a:rPr>
                        <a:t>Proposal</a:t>
                      </a:r>
                    </a:p>
                  </a:txBody>
                  <a:tcPr marL="54864" marR="54864" marT="27432" marB="27432">
                    <a:solidFill>
                      <a:srgbClr val="004EA8"/>
                    </a:solidFill>
                  </a:tcPr>
                </a:tc>
              </a:tr>
              <a:tr h="502920">
                <a:tc>
                  <a:txBody>
                    <a:bodyPr/>
                    <a:lstStyle/>
                    <a:p>
                      <a:r>
                        <a:rPr sz="900" b="0">
                          <a:solidFill>
                            <a:srgbClr val="4B4B4B"/>
                          </a:solidFill>
                          <a:latin typeface="Arial"/>
                        </a:rPr>
                        <a:t>UX-CL-01</a:t>
                      </a:r>
                    </a:p>
                  </a:txBody>
                  <a:tcPr marL="54864" marR="54864" marT="27432" marB="27432">
                    <a:solidFill>
                      <a:srgbClr val="FFFFFF"/>
                    </a:solidFill>
                  </a:tcPr>
                </a:tc>
                <a:tc>
                  <a:txBody>
                    <a:bodyPr/>
                    <a:lstStyle/>
                    <a:p>
                      <a:r>
                        <a:rPr sz="900" b="0">
                          <a:solidFill>
                            <a:srgbClr val="4B4B4B"/>
                          </a:solidFill>
                          <a:latin typeface="Arial"/>
                        </a:rPr>
                        <a:t>SCR-CL-01</a:t>
                      </a:r>
                    </a:p>
                  </a:txBody>
                  <a:tcPr marL="54864" marR="54864" marT="27432" marB="27432">
                    <a:solidFill>
                      <a:srgbClr val="FFFFFF"/>
                    </a:solidFill>
                  </a:tcPr>
                </a:tc>
                <a:tc>
                  <a:txBody>
                    <a:bodyPr/>
                    <a:lstStyle/>
                    <a:p>
                      <a:r>
                        <a:rPr sz="900" b="0">
                          <a:solidFill>
                            <a:srgbClr val="4B4B4B"/>
                          </a:solidFill>
                          <a:latin typeface="Arial"/>
                        </a:rPr>
                        <a:t>The Collections personas land on the New Business dashboard after sign-in, the landing page of every broking role; Collections Home is one click away in the menu.</a:t>
                      </a:r>
                    </a:p>
                  </a:txBody>
                  <a:tcPr marL="54864" marR="54864" marT="27432" marB="27432">
                    <a:solidFill>
                      <a:srgbClr val="FFFFFF"/>
                    </a:solidFill>
                  </a:tcPr>
                </a:tc>
                <a:tc>
                  <a:txBody>
                    <a:bodyPr/>
                    <a:lstStyle/>
                    <a:p>
                      <a:r>
                        <a:rPr sz="900" b="0">
                          <a:solidFill>
                            <a:srgbClr val="4B4B4B"/>
                          </a:solidFill>
                          <a:latin typeface="Arial"/>
                        </a:rPr>
                        <a:t>Confirm the landing page, or land each Collections persona on Collections Home.</a:t>
                      </a:r>
                    </a:p>
                  </a:txBody>
                  <a:tcPr marL="54864" marR="54864" marT="27432" marB="27432">
                    <a:solidFill>
                      <a:srgbClr val="FFFFFF"/>
                    </a:solidFill>
                  </a:tcPr>
                </a:tc>
              </a:tr>
              <a:tr h="640080">
                <a:tc>
                  <a:txBody>
                    <a:bodyPr/>
                    <a:lstStyle/>
                    <a:p>
                      <a:r>
                        <a:rPr sz="900" b="0">
                          <a:solidFill>
                            <a:srgbClr val="4B4B4B"/>
                          </a:solidFill>
                          <a:latin typeface="Arial"/>
                        </a:rPr>
                        <a:t>UX-CL-02</a:t>
                      </a:r>
                    </a:p>
                  </a:txBody>
                  <a:tcPr marL="54864" marR="54864" marT="27432" marB="27432">
                    <a:solidFill>
                      <a:srgbClr val="E5F5FF"/>
                    </a:solidFill>
                  </a:tcPr>
                </a:tc>
                <a:tc>
                  <a:txBody>
                    <a:bodyPr/>
                    <a:lstStyle/>
                    <a:p>
                      <a:r>
                        <a:rPr sz="900" b="0">
                          <a:solidFill>
                            <a:srgbClr val="4B4B4B"/>
                          </a:solidFill>
                          <a:latin typeface="Arial"/>
                        </a:rPr>
                        <a:t>SCR-CL-02, SCR-CL-14</a:t>
                      </a:r>
                    </a:p>
                  </a:txBody>
                  <a:tcPr marL="54864" marR="54864" marT="27432" marB="27432">
                    <a:solidFill>
                      <a:srgbClr val="E5F5FF"/>
                    </a:solidFill>
                  </a:tcPr>
                </a:tc>
                <a:tc>
                  <a:txBody>
                    <a:bodyPr/>
                    <a:lstStyle/>
                    <a:p>
                      <a:r>
                        <a:rPr sz="900" b="0">
                          <a:solidFill>
                            <a:srgbClr val="4B4B4B"/>
                          </a:solidFill>
                          <a:latin typeface="Arial"/>
                        </a:rPr>
                        <a:t>The PR Worklist and the Unapplied Payments hold many facts per row: related values share a column, one under the other (Booked / Aging, Payment / Transaction, Unapplied / Paid, Matched Account / Segment, Cashiering / Request), so that every column is in view at 1440 pixels.</a:t>
                      </a:r>
                    </a:p>
                  </a:txBody>
                  <a:tcPr marL="54864" marR="54864" marT="27432" marB="27432">
                    <a:solidFill>
                      <a:srgbClr val="E5F5FF"/>
                    </a:solidFill>
                  </a:tcPr>
                </a:tc>
                <a:tc>
                  <a:txBody>
                    <a:bodyPr/>
                    <a:lstStyle/>
                    <a:p>
                      <a:r>
                        <a:rPr sz="900" b="0">
                          <a:solidFill>
                            <a:srgbClr val="4B4B4B"/>
                          </a:solidFill>
                          <a:latin typeface="Arial"/>
                        </a:rPr>
                        <a:t>Confirm the stacked columns, or choose the columns to keep in view and move the others to the record.</a:t>
                      </a:r>
                    </a:p>
                  </a:txBody>
                  <a:tcPr marL="54864" marR="54864" marT="27432" marB="27432">
                    <a:solidFill>
                      <a:srgbClr val="E5F5FF"/>
                    </a:solidFill>
                  </a:tcPr>
                </a:tc>
              </a:tr>
              <a:tr h="365760">
                <a:tc>
                  <a:txBody>
                    <a:bodyPr/>
                    <a:lstStyle/>
                    <a:p>
                      <a:r>
                        <a:rPr sz="900" b="0">
                          <a:solidFill>
                            <a:srgbClr val="4B4B4B"/>
                          </a:solidFill>
                          <a:latin typeface="Arial"/>
                        </a:rPr>
                        <a:t>UX-CL-03</a:t>
                      </a:r>
                    </a:p>
                  </a:txBody>
                  <a:tcPr marL="54864" marR="54864" marT="27432" marB="27432">
                    <a:solidFill>
                      <a:srgbClr val="FFFFFF"/>
                    </a:solidFill>
                  </a:tcPr>
                </a:tc>
                <a:tc>
                  <a:txBody>
                    <a:bodyPr/>
                    <a:lstStyle/>
                    <a:p>
                      <a:r>
                        <a:rPr sz="900" b="0">
                          <a:solidFill>
                            <a:srgbClr val="4B4B4B"/>
                          </a:solidFill>
                          <a:latin typeface="Arial"/>
                        </a:rPr>
                        <a:t>SCR-CL-02</a:t>
                      </a:r>
                    </a:p>
                  </a:txBody>
                  <a:tcPr marL="54864" marR="54864" marT="27432" marB="27432">
                    <a:solidFill>
                      <a:srgbClr val="FFFFFF"/>
                    </a:solidFill>
                  </a:tcPr>
                </a:tc>
                <a:tc>
                  <a:txBody>
                    <a:bodyPr/>
                    <a:lstStyle/>
                    <a:p>
                      <a:r>
                        <a:rPr sz="900" b="0">
                          <a:solidFill>
                            <a:srgbClr val="4B4B4B"/>
                          </a:solidFill>
                          <a:latin typeface="Arial"/>
                        </a:rPr>
                        <a:t>A migrated invoice carries the Legacy tag; when its booking date is later than today (a legacy booking dated ahead), its aging reads in negative days.</a:t>
                      </a:r>
                    </a:p>
                  </a:txBody>
                  <a:tcPr marL="54864" marR="54864" marT="27432" marB="27432">
                    <a:solidFill>
                      <a:srgbClr val="FFFFFF"/>
                    </a:solidFill>
                  </a:tcPr>
                </a:tc>
                <a:tc>
                  <a:txBody>
                    <a:bodyPr/>
                    <a:lstStyle/>
                    <a:p>
                      <a:r>
                        <a:rPr sz="900" b="0">
                          <a:solidFill>
                            <a:srgbClr val="4B4B4B"/>
                          </a:solidFill>
                          <a:latin typeface="Arial"/>
                        </a:rPr>
                        <a:t>Show the aging of an invoice booked ahead as 0 days, or count it from the inception date.</a:t>
                      </a:r>
                    </a:p>
                  </a:txBody>
                  <a:tcPr marL="54864" marR="54864" marT="27432" marB="27432">
                    <a:solidFill>
                      <a:srgbClr val="FFFFFF"/>
                    </a:solidFill>
                  </a:tcPr>
                </a:tc>
              </a:tr>
              <a:tr h="502920">
                <a:tc>
                  <a:txBody>
                    <a:bodyPr/>
                    <a:lstStyle/>
                    <a:p>
                      <a:r>
                        <a:rPr sz="900" b="0">
                          <a:solidFill>
                            <a:srgbClr val="4B4B4B"/>
                          </a:solidFill>
                          <a:latin typeface="Arial"/>
                        </a:rPr>
                        <a:t>UX-CL-04</a:t>
                      </a:r>
                    </a:p>
                  </a:txBody>
                  <a:tcPr marL="54864" marR="54864" marT="27432" marB="27432">
                    <a:solidFill>
                      <a:srgbClr val="E5F5FF"/>
                    </a:solidFill>
                  </a:tcPr>
                </a:tc>
                <a:tc>
                  <a:txBody>
                    <a:bodyPr/>
                    <a:lstStyle/>
                    <a:p>
                      <a:r>
                        <a:rPr sz="900" b="0">
                          <a:solidFill>
                            <a:srgbClr val="4B4B4B"/>
                          </a:solidFill>
                          <a:latin typeface="Arial"/>
                        </a:rPr>
                        <a:t>SCR-CL-03</a:t>
                      </a:r>
                    </a:p>
                  </a:txBody>
                  <a:tcPr marL="54864" marR="54864" marT="27432" marB="27432">
                    <a:solidFill>
                      <a:srgbClr val="E5F5FF"/>
                    </a:solidFill>
                  </a:tcPr>
                </a:tc>
                <a:tc>
                  <a:txBody>
                    <a:bodyPr/>
                    <a:lstStyle/>
                    <a:p>
                      <a:r>
                        <a:rPr sz="900" b="0">
                          <a:solidFill>
                            <a:srgbClr val="4B4B4B"/>
                          </a:solidFill>
                          <a:latin typeface="Arial"/>
                        </a:rPr>
                        <a:t>The Hand-offs to Operations table on the Dispositions &amp; Efforts tab shows the reference of a hand-off as Operations keeps it (PU:BI-HO-2026-000009:5 for a check pick-up request).</a:t>
                      </a:r>
                    </a:p>
                  </a:txBody>
                  <a:tcPr marL="54864" marR="54864" marT="27432" marB="27432">
                    <a:solidFill>
                      <a:srgbClr val="E5F5FF"/>
                    </a:solidFill>
                  </a:tcPr>
                </a:tc>
                <a:tc>
                  <a:txBody>
                    <a:bodyPr/>
                    <a:lstStyle/>
                    <a:p>
                      <a:r>
                        <a:rPr sz="900" b="0">
                          <a:solidFill>
                            <a:srgbClr val="4B4B4B"/>
                          </a:solidFill>
                          <a:latin typeface="Arial"/>
                        </a:rPr>
                        <a:t>Show the number of the Operations record the hand-off created (the check pick-up or reversal request).</a:t>
                      </a:r>
                    </a:p>
                  </a:txBody>
                  <a:tcPr marL="54864" marR="54864" marT="27432" marB="27432">
                    <a:solidFill>
                      <a:srgbClr val="E5F5FF"/>
                    </a:solidFill>
                  </a:tcPr>
                </a:tc>
              </a:tr>
              <a:tr h="502920">
                <a:tc>
                  <a:txBody>
                    <a:bodyPr/>
                    <a:lstStyle/>
                    <a:p>
                      <a:r>
                        <a:rPr sz="900" b="0">
                          <a:solidFill>
                            <a:srgbClr val="4B4B4B"/>
                          </a:solidFill>
                          <a:latin typeface="Arial"/>
                        </a:rPr>
                        <a:t>UX-CL-05</a:t>
                      </a:r>
                    </a:p>
                  </a:txBody>
                  <a:tcPr marL="54864" marR="54864" marT="27432" marB="27432">
                    <a:solidFill>
                      <a:srgbClr val="FFFFFF"/>
                    </a:solidFill>
                  </a:tcPr>
                </a:tc>
                <a:tc>
                  <a:txBody>
                    <a:bodyPr/>
                    <a:lstStyle/>
                    <a:p>
                      <a:r>
                        <a:rPr sz="900" b="0">
                          <a:solidFill>
                            <a:srgbClr val="4B4B4B"/>
                          </a:solidFill>
                          <a:latin typeface="Arial"/>
                        </a:rPr>
                        <a:t>SCR-CL-15</a:t>
                      </a:r>
                    </a:p>
                  </a:txBody>
                  <a:tcPr marL="54864" marR="54864" marT="27432" marB="27432">
                    <a:solidFill>
                      <a:srgbClr val="FFFFFF"/>
                    </a:solidFill>
                  </a:tcPr>
                </a:tc>
                <a:tc>
                  <a:txBody>
                    <a:bodyPr/>
                    <a:lstStyle/>
                    <a:p>
                      <a:r>
                        <a:rPr sz="900" b="0">
                          <a:solidFill>
                            <a:srgbClr val="4B4B4B"/>
                          </a:solidFill>
                          <a:latin typeface="Arial"/>
                        </a:rPr>
                        <a:t>The History tab of an unapplied payment shows, in its Reference column, the internal reference of a disposition (DSP:3) and of a request to Cashiering (CLX-UPP-4) next to the receipt and request numbers.</a:t>
                      </a:r>
                    </a:p>
                  </a:txBody>
                  <a:tcPr marL="54864" marR="54864" marT="27432" marB="27432">
                    <a:solidFill>
                      <a:srgbClr val="FFFFFF"/>
                    </a:solidFill>
                  </a:tcPr>
                </a:tc>
                <a:tc>
                  <a:txBody>
                    <a:bodyPr/>
                    <a:lstStyle/>
                    <a:p>
                      <a:r>
                        <a:rPr sz="900" b="0">
                          <a:solidFill>
                            <a:srgbClr val="4B4B4B"/>
                          </a:solidFill>
                          <a:latin typeface="Arial"/>
                        </a:rPr>
                        <a:t>Show only the business numbers (AR, CRQ and invoice numbers) and leave the cell blank otherwise.</a:t>
                      </a:r>
                    </a:p>
                  </a:txBody>
                  <a:tcPr marL="54864" marR="54864" marT="27432" marB="27432">
                    <a:solidFill>
                      <a:srgbClr val="FFFFFF"/>
                    </a:solidFill>
                  </a:tcPr>
                </a:tc>
              </a:tr>
              <a:tr h="365760">
                <a:tc>
                  <a:txBody>
                    <a:bodyPr/>
                    <a:lstStyle/>
                    <a:p>
                      <a:r>
                        <a:rPr sz="900" b="0">
                          <a:solidFill>
                            <a:srgbClr val="4B4B4B"/>
                          </a:solidFill>
                          <a:latin typeface="Arial"/>
                        </a:rPr>
                        <a:t>UX-CL-06</a:t>
                      </a:r>
                    </a:p>
                  </a:txBody>
                  <a:tcPr marL="54864" marR="54864" marT="27432" marB="27432">
                    <a:solidFill>
                      <a:srgbClr val="E5F5FF"/>
                    </a:solidFill>
                  </a:tcPr>
                </a:tc>
                <a:tc>
                  <a:txBody>
                    <a:bodyPr/>
                    <a:lstStyle/>
                    <a:p>
                      <a:r>
                        <a:rPr sz="900" b="0">
                          <a:solidFill>
                            <a:srgbClr val="4B4B4B"/>
                          </a:solidFill>
                          <a:latin typeface="Arial"/>
                        </a:rPr>
                        <a:t>SCR-CL-13, SCR-CL-02, SCR-CL-17</a:t>
                      </a:r>
                    </a:p>
                  </a:txBody>
                  <a:tcPr marL="54864" marR="54864" marT="27432" marB="27432">
                    <a:solidFill>
                      <a:srgbClr val="E5F5FF"/>
                    </a:solidFill>
                  </a:tcPr>
                </a:tc>
                <a:tc>
                  <a:txBody>
                    <a:bodyPr/>
                    <a:lstStyle/>
                    <a:p>
                      <a:r>
                        <a:rPr sz="900" b="0">
                          <a:solidFill>
                            <a:srgbClr val="4B4B4B"/>
                          </a:solidFill>
                          <a:latin typeface="Arial"/>
                        </a:rPr>
                        <a:t>The Segment of an escalation rule and the Market Segment, Sales Unit and Unit Head filters are typed in as codes (RETAIL, T-CBG1).</a:t>
                      </a:r>
                    </a:p>
                  </a:txBody>
                  <a:tcPr marL="54864" marR="54864" marT="27432" marB="27432">
                    <a:solidFill>
                      <a:srgbClr val="E5F5FF"/>
                    </a:solidFill>
                  </a:tcPr>
                </a:tc>
                <a:tc>
                  <a:txBody>
                    <a:bodyPr/>
                    <a:lstStyle/>
                    <a:p>
                      <a:r>
                        <a:rPr sz="900" b="0">
                          <a:solidFill>
                            <a:srgbClr val="4B4B4B"/>
                          </a:solidFill>
                          <a:latin typeface="Arial"/>
                        </a:rPr>
                        <a:t>Offer the segments, the sales units and the unit heads as drop-downs by name.</a:t>
                      </a:r>
                    </a:p>
                  </a:txBody>
                  <a:tcPr marL="54864" marR="54864" marT="27432" marB="27432">
                    <a:solidFill>
                      <a:srgbClr val="E5F5FF"/>
                    </a:solidFill>
                  </a:tcPr>
                </a:tc>
              </a:tr>
              <a:tr h="502920">
                <a:tc>
                  <a:txBody>
                    <a:bodyPr/>
                    <a:lstStyle/>
                    <a:p>
                      <a:r>
                        <a:rPr sz="900" b="0">
                          <a:solidFill>
                            <a:srgbClr val="4B4B4B"/>
                          </a:solidFill>
                          <a:latin typeface="Arial"/>
                        </a:rPr>
                        <a:t>UX-CL-07</a:t>
                      </a:r>
                    </a:p>
                  </a:txBody>
                  <a:tcPr marL="54864" marR="54864" marT="27432" marB="27432">
                    <a:solidFill>
                      <a:srgbClr val="FFFFFF"/>
                    </a:solidFill>
                  </a:tcPr>
                </a:tc>
                <a:tc>
                  <a:txBody>
                    <a:bodyPr/>
                    <a:lstStyle/>
                    <a:p>
                      <a:r>
                        <a:rPr sz="900" b="0">
                          <a:solidFill>
                            <a:srgbClr val="4B4B4B"/>
                          </a:solidFill>
                          <a:latin typeface="Arial"/>
                        </a:rPr>
                        <a:t>SCR-CL-19</a:t>
                      </a:r>
                    </a:p>
                  </a:txBody>
                  <a:tcPr marL="54864" marR="54864" marT="27432" marB="27432">
                    <a:solidFill>
                      <a:srgbClr val="FFFFFF"/>
                    </a:solidFill>
                  </a:tcPr>
                </a:tc>
                <a:tc>
                  <a:txBody>
                    <a:bodyPr/>
                    <a:lstStyle/>
                    <a:p>
                      <a:r>
                        <a:rPr sz="900" b="0">
                          <a:solidFill>
                            <a:srgbClr val="4B4B4B"/>
                          </a:solidFill>
                          <a:latin typeface="Arial"/>
                        </a:rPr>
                        <a:t>The Invoice Number Format parameter holds the pattern the system checks the invoice number of "For application to invoice" against, written as an expression.</a:t>
                      </a:r>
                    </a:p>
                  </a:txBody>
                  <a:tcPr marL="54864" marR="54864" marT="27432" marB="27432">
                    <a:solidFill>
                      <a:srgbClr val="FFFFFF"/>
                    </a:solidFill>
                  </a:tcPr>
                </a:tc>
                <a:tc>
                  <a:txBody>
                    <a:bodyPr/>
                    <a:lstStyle/>
                    <a:p>
                      <a:r>
                        <a:rPr sz="900" b="0">
                          <a:solidFill>
                            <a:srgbClr val="4B4B4B"/>
                          </a:solidFill>
                          <a:latin typeface="Arial"/>
                        </a:rPr>
                        <a:t>Confirm that the System Administrator keeps the format, or offer the allowed formats as choices.</a:t>
                      </a:r>
                    </a:p>
                  </a:txBody>
                  <a:tcPr marL="54864" marR="54864" marT="27432" marB="27432">
                    <a:solidFill>
                      <a:srgbClr val="FFFFFF"/>
                    </a:solidFill>
                  </a:tcPr>
                </a:tc>
              </a:tr>
              <a:tr h="640080">
                <a:tc>
                  <a:txBody>
                    <a:bodyPr/>
                    <a:lstStyle/>
                    <a:p>
                      <a:r>
                        <a:rPr sz="900" b="0">
                          <a:solidFill>
                            <a:srgbClr val="4B4B4B"/>
                          </a:solidFill>
                          <a:latin typeface="Arial"/>
                        </a:rPr>
                        <a:t>UX-CL-08</a:t>
                      </a:r>
                    </a:p>
                  </a:txBody>
                  <a:tcPr marL="54864" marR="54864" marT="27432" marB="27432">
                    <a:solidFill>
                      <a:srgbClr val="E5F5FF"/>
                    </a:solidFill>
                  </a:tcPr>
                </a:tc>
                <a:tc>
                  <a:txBody>
                    <a:bodyPr/>
                    <a:lstStyle/>
                    <a:p>
                      <a:r>
                        <a:rPr sz="900" b="0">
                          <a:solidFill>
                            <a:srgbClr val="4B4B4B"/>
                          </a:solidFill>
                          <a:latin typeface="Arial"/>
                        </a:rPr>
                        <a:t>SCR-CL-18</a:t>
                      </a:r>
                    </a:p>
                  </a:txBody>
                  <a:tcPr marL="54864" marR="54864" marT="27432" marB="27432">
                    <a:solidFill>
                      <a:srgbClr val="E5F5FF"/>
                    </a:solidFill>
                  </a:tcPr>
                </a:tc>
                <a:tc>
                  <a:txBody>
                    <a:bodyPr/>
                    <a:lstStyle/>
                    <a:p>
                      <a:r>
                        <a:rPr sz="900" b="0">
                          <a:solidFill>
                            <a:srgbClr val="4B4B4B"/>
                          </a:solidFill>
                          <a:latin typeface="Arial"/>
                        </a:rPr>
                        <a:t>The Collections report files (Outstanding PR List, Full Production Report, DP PR for Reversal) print the product name and the report code in the page footer; the daily application file to Cashiering is the interface file itself, with its field names and the user ID of the requester.</a:t>
                      </a:r>
                    </a:p>
                  </a:txBody>
                  <a:tcPr marL="54864" marR="54864" marT="27432" marB="27432">
                    <a:solidFill>
                      <a:srgbClr val="E5F5FF"/>
                    </a:solidFill>
                  </a:tcPr>
                </a:tc>
                <a:tc>
                  <a:txBody>
                    <a:bodyPr/>
                    <a:lstStyle/>
                    <a:p>
                      <a:r>
                        <a:rPr sz="900" b="0">
                          <a:solidFill>
                            <a:srgbClr val="4B4B4B"/>
                          </a:solidFill>
                          <a:latin typeface="Arial"/>
                        </a:rPr>
                        <a:t>Confirm the footer of the report files (BIBS and the report title), and the layout of the application file with Cashiering.</a:t>
                      </a:r>
                    </a:p>
                  </a:txBody>
                  <a:tcPr marL="54864" marR="54864" marT="27432" marB="27432">
                    <a:solidFill>
                      <a:srgbClr val="E5F5FF"/>
                    </a:solidFill>
                  </a:tcPr>
                </a:tc>
              </a:tr>
            </a:tbl>
          </a:graphicData>
        </a:graphic>
      </p:graphicFrame>
    </p:spTree>
  </p:cSld>
  <p:clrMapOvr>
    <a:masterClrMapping/>
  </p:clrMapOvr>
</p:sld>
</file>

<file path=ppt/slides/slide3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Accessibility notes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330</a:t>
            </a:r>
          </a:p>
        </p:txBody>
      </p:sp>
      <p:graphicFrame>
        <p:nvGraphicFramePr>
          <p:cNvPr id="9" name="Table 8"/>
          <p:cNvGraphicFramePr>
            <a:graphicFrameLocks noGrp="1"/>
          </p:cNvGraphicFramePr>
          <p:nvPr/>
        </p:nvGraphicFramePr>
        <p:xfrm>
          <a:off x="548640" y="1325880"/>
          <a:ext cx="11094414" cy="2377440"/>
        </p:xfrm>
        <a:graphic>
          <a:graphicData uri="http://schemas.openxmlformats.org/drawingml/2006/table">
            <a:tbl>
              <a:tblPr firstRow="1" bandRow="1">
                <a:tableStyleId>{5C22544A-7EE6-4342-B048-85BDC9FD1C3A}</a:tableStyleId>
              </a:tblPr>
              <a:tblGrid>
                <a:gridCol w="1706833"/>
                <a:gridCol w="5120499"/>
                <a:gridCol w="4267082"/>
              </a:tblGrid>
              <a:tr h="243840">
                <a:tc>
                  <a:txBody>
                    <a:bodyPr/>
                    <a:lstStyle/>
                    <a:p>
                      <a:r>
                        <a:rPr sz="1000" b="1">
                          <a:solidFill>
                            <a:srgbClr val="FFFFFF"/>
                          </a:solidFill>
                          <a:latin typeface="Arial"/>
                        </a:rPr>
                        <a:t>Topic</a:t>
                      </a:r>
                    </a:p>
                  </a:txBody>
                  <a:tcPr marL="54864" marR="54864" marT="27432" marB="27432">
                    <a:solidFill>
                      <a:srgbClr val="004EA8"/>
                    </a:solidFill>
                  </a:tcPr>
                </a:tc>
                <a:tc>
                  <a:txBody>
                    <a:bodyPr/>
                    <a:lstStyle/>
                    <a:p>
                      <a:r>
                        <a:rPr sz="1000" b="1">
                          <a:solidFill>
                            <a:srgbClr val="FFFFFF"/>
                          </a:solidFill>
                          <a:latin typeface="Arial"/>
                        </a:rPr>
                        <a:t>What the screens do</a:t>
                      </a:r>
                    </a:p>
                  </a:txBody>
                  <a:tcPr marL="54864" marR="54864" marT="27432" marB="27432">
                    <a:solidFill>
                      <a:srgbClr val="004EA8"/>
                    </a:solidFill>
                  </a:tcPr>
                </a:tc>
                <a:tc>
                  <a:txBody>
                    <a:bodyPr/>
                    <a:lstStyle/>
                    <a:p>
                      <a:r>
                        <a:rPr sz="1000" b="1">
                          <a:solidFill>
                            <a:srgbClr val="FFFFFF"/>
                          </a:solidFill>
                          <a:latin typeface="Arial"/>
                        </a:rPr>
                        <a:t>For the UX Design team</a:t>
                      </a:r>
                    </a:p>
                  </a:txBody>
                  <a:tcPr marL="54864" marR="54864" marT="27432" marB="27432">
                    <a:solidFill>
                      <a:srgbClr val="004EA8"/>
                    </a:solidFill>
                  </a:tcPr>
                </a:tc>
              </a:tr>
              <a:tr h="396240">
                <a:tc>
                  <a:txBody>
                    <a:bodyPr/>
                    <a:lstStyle/>
                    <a:p>
                      <a:r>
                        <a:rPr sz="1000" b="0">
                          <a:solidFill>
                            <a:srgbClr val="4B4B4B"/>
                          </a:solidFill>
                          <a:latin typeface="Arial"/>
                        </a:rPr>
                        <a:t>Keyboard</a:t>
                      </a:r>
                    </a:p>
                  </a:txBody>
                  <a:tcPr marL="54864" marR="54864" marT="27432" marB="27432">
                    <a:solidFill>
                      <a:srgbClr val="FFFFFF"/>
                    </a:solidFill>
                  </a:tcPr>
                </a:tc>
                <a:tc>
                  <a:txBody>
                    <a:bodyPr/>
                    <a:lstStyle/>
                    <a:p>
                      <a:r>
                        <a:rPr sz="1000" b="0">
                          <a:solidFill>
                            <a:srgbClr val="4B4B4B"/>
                          </a:solidFill>
                          <a:latin typeface="Arial"/>
                        </a:rPr>
                        <a:t>Tabs move with the arrow keys, Home and End; table rows open with Enter; tree tables expand and collapse with the arrow keys; dialogs close with Escape</a:t>
                      </a:r>
                    </a:p>
                  </a:txBody>
                  <a:tcPr marL="54864" marR="54864" marT="27432" marB="27432">
                    <a:solidFill>
                      <a:srgbClr val="FFFFFF"/>
                    </a:solidFill>
                  </a:tcPr>
                </a:tc>
                <a:tc>
                  <a:txBody>
                    <a:bodyPr/>
                    <a:lstStyle/>
                    <a:p>
                      <a:r>
                        <a:rPr sz="1000" b="0">
                          <a:solidFill>
                            <a:srgbClr val="4B4B4B"/>
                          </a:solidFill>
                          <a:latin typeface="Arial"/>
                        </a:rPr>
                        <a:t>Keep every action reachable without a mouse; keep the order of the tabs and fields</a:t>
                      </a:r>
                    </a:p>
                  </a:txBody>
                  <a:tcPr marL="54864" marR="54864" marT="27432" marB="27432">
                    <a:solidFill>
                      <a:srgbClr val="FFFFFF"/>
                    </a:solidFill>
                  </a:tcPr>
                </a:tc>
              </a:tr>
              <a:tr h="396240">
                <a:tc>
                  <a:txBody>
                    <a:bodyPr/>
                    <a:lstStyle/>
                    <a:p>
                      <a:r>
                        <a:rPr sz="1000" b="0">
                          <a:solidFill>
                            <a:srgbClr val="4B4B4B"/>
                          </a:solidFill>
                          <a:latin typeface="Arial"/>
                        </a:rPr>
                        <a:t>Focus</a:t>
                      </a:r>
                    </a:p>
                  </a:txBody>
                  <a:tcPr marL="54864" marR="54864" marT="27432" marB="27432">
                    <a:solidFill>
                      <a:srgbClr val="E5F5FF"/>
                    </a:solidFill>
                  </a:tcPr>
                </a:tc>
                <a:tc>
                  <a:txBody>
                    <a:bodyPr/>
                    <a:lstStyle/>
                    <a:p>
                      <a:r>
                        <a:rPr sz="1000" b="0">
                          <a:solidFill>
                            <a:srgbClr val="4B4B4B"/>
                          </a:solidFill>
                          <a:latin typeface="Arial"/>
                        </a:rPr>
                        <a:t>A visible focus ring (3 px CTA Blue halo) on every control; a dialog takes the focus and returns it to the button that opened it</a:t>
                      </a:r>
                    </a:p>
                  </a:txBody>
                  <a:tcPr marL="54864" marR="54864" marT="27432" marB="27432">
                    <a:solidFill>
                      <a:srgbClr val="E5F5FF"/>
                    </a:solidFill>
                  </a:tcPr>
                </a:tc>
                <a:tc>
                  <a:txBody>
                    <a:bodyPr/>
                    <a:lstStyle/>
                    <a:p>
                      <a:r>
                        <a:rPr sz="1000" b="0">
                          <a:solidFill>
                            <a:srgbClr val="4B4B4B"/>
                          </a:solidFill>
                          <a:latin typeface="Arial"/>
                        </a:rPr>
                        <a:t>Never hide the focus ring; show it in the designs</a:t>
                      </a:r>
                    </a:p>
                  </a:txBody>
                  <a:tcPr marL="54864" marR="54864" marT="27432" marB="27432">
                    <a:solidFill>
                      <a:srgbClr val="E5F5FF"/>
                    </a:solidFill>
                  </a:tcPr>
                </a:tc>
              </a:tr>
              <a:tr h="396240">
                <a:tc>
                  <a:txBody>
                    <a:bodyPr/>
                    <a:lstStyle/>
                    <a:p>
                      <a:r>
                        <a:rPr sz="1000" b="0">
                          <a:solidFill>
                            <a:srgbClr val="4B4B4B"/>
                          </a:solidFill>
                          <a:latin typeface="Arial"/>
                        </a:rPr>
                        <a:t>Contrast</a:t>
                      </a:r>
                    </a:p>
                  </a:txBody>
                  <a:tcPr marL="54864" marR="54864" marT="27432" marB="27432">
                    <a:solidFill>
                      <a:srgbClr val="FFFFFF"/>
                    </a:solidFill>
                  </a:tcPr>
                </a:tc>
                <a:tc>
                  <a:txBody>
                    <a:bodyPr/>
                    <a:lstStyle/>
                    <a:p>
                      <a:r>
                        <a:rPr sz="1000" b="0">
                          <a:solidFill>
                            <a:srgbClr val="4B4B4B"/>
                          </a:solidFill>
                          <a:latin typeface="Arial"/>
                        </a:rPr>
                        <a:t>Text and pills meet AA contrast; no dark text on a dark fill or light text on a light fill; yellow only as an accent</a:t>
                      </a:r>
                    </a:p>
                  </a:txBody>
                  <a:tcPr marL="54864" marR="54864" marT="27432" marB="27432">
                    <a:solidFill>
                      <a:srgbClr val="FFFFFF"/>
                    </a:solidFill>
                  </a:tcPr>
                </a:tc>
                <a:tc>
                  <a:txBody>
                    <a:bodyPr/>
                    <a:lstStyle/>
                    <a:p>
                      <a:r>
                        <a:rPr sz="1000" b="0">
                          <a:solidFill>
                            <a:srgbClr val="4B4B4B"/>
                          </a:solidFill>
                          <a:latin typeface="Arial"/>
                        </a:rPr>
                        <a:t>Check new colours of pills, tags and charts for AA</a:t>
                      </a:r>
                    </a:p>
                  </a:txBody>
                  <a:tcPr marL="54864" marR="54864" marT="27432" marB="27432">
                    <a:solidFill>
                      <a:srgbClr val="FFFFFF"/>
                    </a:solidFill>
                  </a:tcPr>
                </a:tc>
              </a:tr>
              <a:tr h="548640">
                <a:tc>
                  <a:txBody>
                    <a:bodyPr/>
                    <a:lstStyle/>
                    <a:p>
                      <a:r>
                        <a:rPr sz="1000" b="0">
                          <a:solidFill>
                            <a:srgbClr val="4B4B4B"/>
                          </a:solidFill>
                          <a:latin typeface="Arial"/>
                        </a:rPr>
                        <a:t>Error identification</a:t>
                      </a:r>
                    </a:p>
                  </a:txBody>
                  <a:tcPr marL="54864" marR="54864" marT="27432" marB="27432">
                    <a:solidFill>
                      <a:srgbClr val="E5F5FF"/>
                    </a:solidFill>
                  </a:tcPr>
                </a:tc>
                <a:tc>
                  <a:txBody>
                    <a:bodyPr/>
                    <a:lstStyle/>
                    <a:p>
                      <a:r>
                        <a:rPr sz="1000" b="0">
                          <a:solidFill>
                            <a:srgbClr val="4B4B4B"/>
                          </a:solidFill>
                          <a:latin typeface="Arial"/>
                        </a:rPr>
                        <a:t>Errors are named in words under the field with the field outlined; a long form lists its errors at the top with a link to the first field; colour is never the only sign</a:t>
                      </a:r>
                    </a:p>
                  </a:txBody>
                  <a:tcPr marL="54864" marR="54864" marT="27432" marB="27432">
                    <a:solidFill>
                      <a:srgbClr val="E5F5FF"/>
                    </a:solidFill>
                  </a:tcPr>
                </a:tc>
                <a:tc>
                  <a:txBody>
                    <a:bodyPr/>
                    <a:lstStyle/>
                    <a:p>
                      <a:r>
                        <a:rPr sz="1000" b="0">
                          <a:solidFill>
                            <a:srgbClr val="4B4B4B"/>
                          </a:solidFill>
                          <a:latin typeface="Arial"/>
                        </a:rPr>
                        <a:t>Keep the text of the message with its icon and title</a:t>
                      </a:r>
                    </a:p>
                  </a:txBody>
                  <a:tcPr marL="54864" marR="54864" marT="27432" marB="27432">
                    <a:solidFill>
                      <a:srgbClr val="E5F5FF"/>
                    </a:solidFill>
                  </a:tcPr>
                </a:tc>
              </a:tr>
              <a:tr h="396240">
                <a:tc>
                  <a:txBody>
                    <a:bodyPr/>
                    <a:lstStyle/>
                    <a:p>
                      <a:r>
                        <a:rPr sz="1000" b="0">
                          <a:solidFill>
                            <a:srgbClr val="4B4B4B"/>
                          </a:solidFill>
                          <a:latin typeface="Arial"/>
                        </a:rPr>
                        <a:t>Labels and names</a:t>
                      </a:r>
                    </a:p>
                  </a:txBody>
                  <a:tcPr marL="54864" marR="54864" marT="27432" marB="27432">
                    <a:solidFill>
                      <a:srgbClr val="FFFFFF"/>
                    </a:solidFill>
                  </a:tcPr>
                </a:tc>
                <a:tc>
                  <a:txBody>
                    <a:bodyPr/>
                    <a:lstStyle/>
                    <a:p>
                      <a:r>
                        <a:rPr sz="1000" b="0">
                          <a:solidFill>
                            <a:srgbClr val="4B4B4B"/>
                          </a:solidFill>
                          <a:latin typeface="Arial"/>
                        </a:rPr>
                        <a:t>Every field has a visible label above it; icons have a text label or a tooltip; users are named by their names</a:t>
                      </a:r>
                    </a:p>
                  </a:txBody>
                  <a:tcPr marL="54864" marR="54864" marT="27432" marB="27432">
                    <a:solidFill>
                      <a:srgbClr val="FFFFFF"/>
                    </a:solidFill>
                  </a:tcPr>
                </a:tc>
                <a:tc>
                  <a:txBody>
                    <a:bodyPr/>
                    <a:lstStyle/>
                    <a:p>
                      <a:r>
                        <a:rPr sz="1000" b="0">
                          <a:solidFill>
                            <a:srgbClr val="4B4B4B"/>
                          </a:solidFill>
                          <a:latin typeface="Arial"/>
                        </a:rPr>
                        <a:t>No placeholder as the only label</a:t>
                      </a:r>
                    </a:p>
                  </a:txBody>
                  <a:tcPr marL="54864" marR="54864" marT="27432" marB="27432">
                    <a:solidFill>
                      <a:srgbClr val="FFFFFF"/>
                    </a:solidFill>
                  </a:tcPr>
                </a:tc>
              </a:tr>
            </a:tbl>
          </a:graphicData>
        </a:graphic>
      </p:graphicFrame>
    </p:spTree>
  </p:cSld>
  <p:clrMapOvr>
    <a:masterClrMapping/>
  </p:clrMapOvr>
</p:sld>
</file>

<file path=ppt/slides/slide3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Desktop and responsive assumptions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331</a:t>
            </a:r>
          </a:p>
        </p:txBody>
      </p:sp>
      <p:sp>
        <p:nvSpPr>
          <p:cNvPr id="9" name="TextBox 8"/>
          <p:cNvSpPr txBox="1"/>
          <p:nvPr/>
        </p:nvSpPr>
        <p:spPr>
          <a:xfrm>
            <a:off x="548640" y="1371600"/>
            <a:ext cx="11094415" cy="4754880"/>
          </a:xfrm>
          <a:prstGeom prst="rect">
            <a:avLst/>
          </a:prstGeom>
          <a:noFill/>
        </p:spPr>
        <p:txBody>
          <a:bodyPr wrap="square">
            <a:spAutoFit/>
          </a:bodyPr>
          <a:lstStyle/>
          <a:p>
            <a:pPr>
              <a:spcAft>
                <a:spcPts val="600"/>
              </a:spcAft>
            </a:pPr>
            <a:r>
              <a:rPr sz="1500">
                <a:solidFill>
                  <a:srgbClr val="004EA8"/>
                </a:solidFill>
                <a:latin typeface="Arial"/>
              </a:rPr>
              <a:t>•  </a:t>
            </a:r>
            <a:r>
              <a:rPr sz="1500">
                <a:solidFill>
                  <a:srgbClr val="4B4B4B"/>
                </a:solidFill>
                <a:latin typeface="Arial"/>
              </a:rPr>
              <a:t>BIBS is a desktop web application used in the office; the designs are for 1440 x 900 at 100 % zoom and work from 1280 px wide</a:t>
            </a:r>
          </a:p>
          <a:p>
            <a:pPr>
              <a:spcAft>
                <a:spcPts val="600"/>
              </a:spcAft>
            </a:pPr>
            <a:r>
              <a:rPr sz="1500">
                <a:solidFill>
                  <a:srgbClr val="004EA8"/>
                </a:solidFill>
                <a:latin typeface="Arial"/>
              </a:rPr>
              <a:t>•  </a:t>
            </a:r>
            <a:r>
              <a:rPr sz="1500">
                <a:solidFill>
                  <a:srgbClr val="4B4B4B"/>
                </a:solidFill>
                <a:latin typeface="Arial"/>
              </a:rPr>
              <a:t>The images of this deck are taken at 1440 x 900 at twice the screen resolution</a:t>
            </a:r>
          </a:p>
          <a:p>
            <a:pPr>
              <a:spcAft>
                <a:spcPts val="600"/>
              </a:spcAft>
            </a:pPr>
            <a:r>
              <a:rPr sz="1500">
                <a:solidFill>
                  <a:srgbClr val="004EA8"/>
                </a:solidFill>
                <a:latin typeface="Arial"/>
              </a:rPr>
              <a:t>•  </a:t>
            </a:r>
            <a:r>
              <a:rPr sz="1500">
                <a:solidFill>
                  <a:srgbClr val="4B4B4B"/>
                </a:solidFill>
                <a:latin typeface="Arial"/>
              </a:rPr>
              <a:t>Narrow widths: the menu collapses; the workflow step bar keeps the first, the last and the current stage and its neighbours; tables scroll inside their card with the header row in view</a:t>
            </a:r>
          </a:p>
          <a:p>
            <a:pPr>
              <a:spcAft>
                <a:spcPts val="600"/>
              </a:spcAft>
            </a:pPr>
            <a:r>
              <a:rPr sz="1500">
                <a:solidFill>
                  <a:srgbClr val="004EA8"/>
                </a:solidFill>
                <a:latin typeface="Arial"/>
              </a:rPr>
              <a:t>•  </a:t>
            </a:r>
            <a:r>
              <a:rPr sz="1500">
                <a:solidFill>
                  <a:srgbClr val="4B4B4B"/>
                </a:solidFill>
                <a:latin typeface="Arial"/>
              </a:rPr>
              <a:t>No phone or tablet layout is in scope; printing uses the BDO print layout (A4 landscape, no menu or buttons)</a:t>
            </a:r>
          </a:p>
          <a:p>
            <a:pPr>
              <a:spcAft>
                <a:spcPts val="600"/>
              </a:spcAft>
            </a:pPr>
            <a:r>
              <a:rPr sz="1500">
                <a:solidFill>
                  <a:srgbClr val="004EA8"/>
                </a:solidFill>
                <a:latin typeface="Arial"/>
              </a:rPr>
              <a:t>•  </a:t>
            </a:r>
            <a:r>
              <a:rPr sz="1500">
                <a:solidFill>
                  <a:srgbClr val="4B4B4B"/>
                </a:solidFill>
                <a:latin typeface="Arial"/>
              </a:rPr>
              <a:t>Browser zoom up to 200 % keeps every function usable</a:t>
            </a:r>
          </a:p>
        </p:txBody>
      </p:sp>
    </p:spTree>
  </p:cSld>
  <p:clrMapOvr>
    <a:masterClrMapping/>
  </p:clrMapOvr>
</p:sld>
</file>

<file path=ppt/slides/slide3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Appendix</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Screen ID, FRS section and requirements</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BRD-4 Collections</a:t>
            </a:r>
          </a:p>
        </p:txBody>
      </p:sp>
    </p:spTree>
  </p:cSld>
  <p:clrMapOvr>
    <a:masterClrMapping/>
  </p:clrMapOvr>
</p:sld>
</file>

<file path=ppt/slides/slide3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Screen ID, FRS section and requirements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333</a:t>
            </a:r>
          </a:p>
        </p:txBody>
      </p:sp>
      <p:graphicFrame>
        <p:nvGraphicFramePr>
          <p:cNvPr id="9" name="Table 8"/>
          <p:cNvGraphicFramePr>
            <a:graphicFrameLocks noGrp="1"/>
          </p:cNvGraphicFramePr>
          <p:nvPr/>
        </p:nvGraphicFramePr>
        <p:xfrm>
          <a:off x="548640" y="1325880"/>
          <a:ext cx="11094412" cy="4625317"/>
        </p:xfrm>
        <a:graphic>
          <a:graphicData uri="http://schemas.openxmlformats.org/drawingml/2006/table">
            <a:tbl>
              <a:tblPr firstRow="1" bandRow="1">
                <a:tableStyleId>{5C22544A-7EE6-4342-B048-85BDC9FD1C3A}</a:tableStyleId>
              </a:tblPr>
              <a:tblGrid>
                <a:gridCol w="1109441"/>
                <a:gridCol w="2816274"/>
                <a:gridCol w="938758"/>
                <a:gridCol w="2560249"/>
                <a:gridCol w="682733"/>
                <a:gridCol w="2986957"/>
              </a:tblGrid>
              <a:tr h="220979">
                <a:tc>
                  <a:txBody>
                    <a:bodyPr/>
                    <a:lstStyle/>
                    <a:p>
                      <a:r>
                        <a:rPr sz="850" b="1">
                          <a:solidFill>
                            <a:srgbClr val="FFFFFF"/>
                          </a:solidFill>
                          <a:latin typeface="Arial"/>
                        </a:rPr>
                        <a:t>Screen ID</a:t>
                      </a:r>
                    </a:p>
                  </a:txBody>
                  <a:tcPr marL="54864" marR="54864" marT="27432" marB="27432">
                    <a:solidFill>
                      <a:srgbClr val="004EA8"/>
                    </a:solidFill>
                  </a:tcPr>
                </a:tc>
                <a:tc>
                  <a:txBody>
                    <a:bodyPr/>
                    <a:lstStyle/>
                    <a:p>
                      <a:r>
                        <a:rPr sz="850" b="1">
                          <a:solidFill>
                            <a:srgbClr val="FFFFFF"/>
                          </a:solidFill>
                          <a:latin typeface="Arial"/>
                        </a:rPr>
                        <a:t>Screen</a:t>
                      </a:r>
                    </a:p>
                  </a:txBody>
                  <a:tcPr marL="54864" marR="54864" marT="27432" marB="27432">
                    <a:solidFill>
                      <a:srgbClr val="004EA8"/>
                    </a:solidFill>
                  </a:tcPr>
                </a:tc>
                <a:tc>
                  <a:txBody>
                    <a:bodyPr/>
                    <a:lstStyle/>
                    <a:p>
                      <a:r>
                        <a:rPr sz="850" b="1">
                          <a:solidFill>
                            <a:srgbClr val="FFFFFF"/>
                          </a:solidFill>
                          <a:latin typeface="Arial"/>
                        </a:rPr>
                        <a:t>FRS section</a:t>
                      </a:r>
                    </a:p>
                  </a:txBody>
                  <a:tcPr marL="54864" marR="54864" marT="27432" marB="27432">
                    <a:solidFill>
                      <a:srgbClr val="004EA8"/>
                    </a:solidFill>
                  </a:tcPr>
                </a:tc>
                <a:tc>
                  <a:txBody>
                    <a:bodyPr/>
                    <a:lstStyle/>
                    <a:p>
                      <a:r>
                        <a:rPr sz="850" b="1">
                          <a:solidFill>
                            <a:srgbClr val="FFFFFF"/>
                          </a:solidFill>
                          <a:latin typeface="Arial"/>
                        </a:rPr>
                        <a:t>Requirements</a:t>
                      </a:r>
                    </a:p>
                  </a:txBody>
                  <a:tcPr marL="54864" marR="54864" marT="27432" marB="27432">
                    <a:solidFill>
                      <a:srgbClr val="004EA8"/>
                    </a:solidFill>
                  </a:tcPr>
                </a:tc>
                <a:tc>
                  <a:txBody>
                    <a:bodyPr/>
                    <a:lstStyle/>
                    <a:p>
                      <a:r>
                        <a:rPr sz="850" b="1">
                          <a:solidFill>
                            <a:srgbClr val="FFFFFF"/>
                          </a:solidFill>
                          <a:latin typeface="Arial"/>
                        </a:rPr>
                        <a:t>Images</a:t>
                      </a:r>
                    </a:p>
                  </a:txBody>
                  <a:tcPr marL="54864" marR="54864" marT="27432" marB="27432">
                    <a:solidFill>
                      <a:srgbClr val="004EA8"/>
                    </a:solidFill>
                  </a:tcPr>
                </a:tc>
                <a:tc>
                  <a:txBody>
                    <a:bodyPr/>
                    <a:lstStyle/>
                    <a:p>
                      <a:r>
                        <a:rPr sz="850" b="1">
                          <a:solidFill>
                            <a:srgbClr val="FFFFFF"/>
                          </a:solidFill>
                          <a:latin typeface="Arial"/>
                        </a:rPr>
                        <a:t>States</a:t>
                      </a:r>
                    </a:p>
                  </a:txBody>
                  <a:tcPr marL="54864" marR="54864" marT="27432" marB="27432">
                    <a:solidFill>
                      <a:srgbClr val="004EA8"/>
                    </a:solidFill>
                  </a:tcPr>
                </a:tc>
              </a:tr>
              <a:tr h="220979">
                <a:tc>
                  <a:txBody>
                    <a:bodyPr/>
                    <a:lstStyle/>
                    <a:p>
                      <a:r>
                        <a:rPr sz="850" b="0">
                          <a:solidFill>
                            <a:srgbClr val="4B4B4B"/>
                          </a:solidFill>
                          <a:latin typeface="Arial"/>
                        </a:rPr>
                        <a:t>SCR-CL-01</a:t>
                      </a:r>
                    </a:p>
                  </a:txBody>
                  <a:tcPr marL="54864" marR="54864" marT="27432" marB="27432">
                    <a:solidFill>
                      <a:srgbClr val="FFFFFF"/>
                    </a:solidFill>
                  </a:tcPr>
                </a:tc>
                <a:tc>
                  <a:txBody>
                    <a:bodyPr/>
                    <a:lstStyle/>
                    <a:p>
                      <a:r>
                        <a:rPr sz="850" b="0">
                          <a:solidFill>
                            <a:srgbClr val="4B4B4B"/>
                          </a:solidFill>
                          <a:latin typeface="Arial"/>
                        </a:rPr>
                        <a:t>Collections Home</a:t>
                      </a:r>
                    </a:p>
                  </a:txBody>
                  <a:tcPr marL="54864" marR="54864" marT="27432" marB="27432">
                    <a:solidFill>
                      <a:srgbClr val="FFFFFF"/>
                    </a:solidFill>
                  </a:tcPr>
                </a:tc>
                <a:tc>
                  <a:txBody>
                    <a:bodyPr/>
                    <a:lstStyle/>
                    <a:p>
                      <a:r>
                        <a:rPr sz="850" b="0">
                          <a:solidFill>
                            <a:srgbClr val="4B4B4B"/>
                          </a:solidFill>
                          <a:latin typeface="Arial"/>
                        </a:rPr>
                        <a:t>13.1.1</a:t>
                      </a:r>
                    </a:p>
                  </a:txBody>
                  <a:tcPr marL="54864" marR="54864" marT="27432" marB="27432">
                    <a:solidFill>
                      <a:srgbClr val="FFFFFF"/>
                    </a:solidFill>
                  </a:tcPr>
                </a:tc>
                <a:tc>
                  <a:txBody>
                    <a:bodyPr/>
                    <a:lstStyle/>
                    <a:p>
                      <a:r>
                        <a:rPr sz="850" b="0">
                          <a:solidFill>
                            <a:srgbClr val="4B4B4B"/>
                          </a:solidFill>
                          <a:latin typeface="Arial"/>
                        </a:rPr>
                        <a:t>FR-CL-085</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Default</a:t>
                      </a:r>
                    </a:p>
                  </a:txBody>
                  <a:tcPr marL="54864" marR="54864" marT="27432" marB="27432">
                    <a:solidFill>
                      <a:srgbClr val="FFFFFF"/>
                    </a:solidFill>
                  </a:tcPr>
                </a:tc>
              </a:tr>
              <a:tr h="480057">
                <a:tc>
                  <a:txBody>
                    <a:bodyPr/>
                    <a:lstStyle/>
                    <a:p>
                      <a:r>
                        <a:rPr sz="850" b="0">
                          <a:solidFill>
                            <a:srgbClr val="4B4B4B"/>
                          </a:solidFill>
                          <a:latin typeface="Arial"/>
                        </a:rPr>
                        <a:t>SCR-CL-02</a:t>
                      </a:r>
                    </a:p>
                  </a:txBody>
                  <a:tcPr marL="54864" marR="54864" marT="27432" marB="27432">
                    <a:solidFill>
                      <a:srgbClr val="E5F5FF"/>
                    </a:solidFill>
                  </a:tcPr>
                </a:tc>
                <a:tc>
                  <a:txBody>
                    <a:bodyPr/>
                    <a:lstStyle/>
                    <a:p>
                      <a:r>
                        <a:rPr sz="850" b="0">
                          <a:solidFill>
                            <a:srgbClr val="4B4B4B"/>
                          </a:solidFill>
                          <a:latin typeface="Arial"/>
                        </a:rPr>
                        <a:t>PR Worklist</a:t>
                      </a:r>
                    </a:p>
                  </a:txBody>
                  <a:tcPr marL="54864" marR="54864" marT="27432" marB="27432">
                    <a:solidFill>
                      <a:srgbClr val="E5F5FF"/>
                    </a:solidFill>
                  </a:tcPr>
                </a:tc>
                <a:tc>
                  <a:txBody>
                    <a:bodyPr/>
                    <a:lstStyle/>
                    <a:p>
                      <a:r>
                        <a:rPr sz="850" b="0">
                          <a:solidFill>
                            <a:srgbClr val="4B4B4B"/>
                          </a:solidFill>
                          <a:latin typeface="Arial"/>
                        </a:rPr>
                        <a:t>13.1.2</a:t>
                      </a:r>
                    </a:p>
                  </a:txBody>
                  <a:tcPr marL="54864" marR="54864" marT="27432" marB="27432">
                    <a:solidFill>
                      <a:srgbClr val="E5F5FF"/>
                    </a:solidFill>
                  </a:tcPr>
                </a:tc>
                <a:tc>
                  <a:txBody>
                    <a:bodyPr/>
                    <a:lstStyle/>
                    <a:p>
                      <a:r>
                        <a:rPr sz="850" b="0">
                          <a:solidFill>
                            <a:srgbClr val="4B4B4B"/>
                          </a:solidFill>
                          <a:latin typeface="Arial"/>
                        </a:rPr>
                        <a:t>FR-CL-010, FR-CL-011, FR-CL-013, FR-CL-014, FR-CL-015, FR-CL-017, FR-CL-021, FR-CL-031, FR-CL-033, FR-CL-034, FR-CL-084</a:t>
                      </a:r>
                    </a:p>
                  </a:txBody>
                  <a:tcPr marL="54864" marR="54864" marT="27432" marB="27432">
                    <a:solidFill>
                      <a:srgbClr val="E5F5FF"/>
                    </a:solidFill>
                  </a:tcPr>
                </a:tc>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Default, Filled, Empty list</a:t>
                      </a:r>
                    </a:p>
                  </a:txBody>
                  <a:tcPr marL="54864" marR="54864" marT="27432" marB="27432">
                    <a:solidFill>
                      <a:srgbClr val="E5F5FF"/>
                    </a:solidFill>
                  </a:tcPr>
                </a:tc>
              </a:tr>
              <a:tr h="480057">
                <a:tc>
                  <a:txBody>
                    <a:bodyPr/>
                    <a:lstStyle/>
                    <a:p>
                      <a:r>
                        <a:rPr sz="850" b="0">
                          <a:solidFill>
                            <a:srgbClr val="4B4B4B"/>
                          </a:solidFill>
                          <a:latin typeface="Arial"/>
                        </a:rPr>
                        <a:t>SCR-CL-03</a:t>
                      </a:r>
                    </a:p>
                  </a:txBody>
                  <a:tcPr marL="54864" marR="54864" marT="27432" marB="27432">
                    <a:solidFill>
                      <a:srgbClr val="FFFFFF"/>
                    </a:solidFill>
                  </a:tcPr>
                </a:tc>
                <a:tc>
                  <a:txBody>
                    <a:bodyPr/>
                    <a:lstStyle/>
                    <a:p>
                      <a:r>
                        <a:rPr sz="850" b="0">
                          <a:solidFill>
                            <a:srgbClr val="4B4B4B"/>
                          </a:solidFill>
                          <a:latin typeface="Arial"/>
                        </a:rPr>
                        <a:t>Collection Account</a:t>
                      </a:r>
                    </a:p>
                  </a:txBody>
                  <a:tcPr marL="54864" marR="54864" marT="27432" marB="27432">
                    <a:solidFill>
                      <a:srgbClr val="FFFFFF"/>
                    </a:solidFill>
                  </a:tcPr>
                </a:tc>
                <a:tc>
                  <a:txBody>
                    <a:bodyPr/>
                    <a:lstStyle/>
                    <a:p>
                      <a:r>
                        <a:rPr sz="850" b="0">
                          <a:solidFill>
                            <a:srgbClr val="4B4B4B"/>
                          </a:solidFill>
                          <a:latin typeface="Arial"/>
                        </a:rPr>
                        <a:t>13.1.3</a:t>
                      </a:r>
                    </a:p>
                  </a:txBody>
                  <a:tcPr marL="54864" marR="54864" marT="27432" marB="27432">
                    <a:solidFill>
                      <a:srgbClr val="FFFFFF"/>
                    </a:solidFill>
                  </a:tcPr>
                </a:tc>
                <a:tc>
                  <a:txBody>
                    <a:bodyPr/>
                    <a:lstStyle/>
                    <a:p>
                      <a:r>
                        <a:rPr sz="850" b="0">
                          <a:solidFill>
                            <a:srgbClr val="4B4B4B"/>
                          </a:solidFill>
                          <a:latin typeface="Arial"/>
                        </a:rPr>
                        <a:t>FR-CL-002, FR-CL-003, FR-CL-005, FR-CL-016, FR-CL-018, FR-CL-031, FR-CL-032, FR-CL-033, FR-CL-041, FR-CL-043, FR-CL-044</a:t>
                      </a:r>
                    </a:p>
                  </a:txBody>
                  <a:tcPr marL="54864" marR="54864" marT="27432" marB="27432">
                    <a:solidFill>
                      <a:srgbClr val="FFFFFF"/>
                    </a:solidFill>
                  </a:tcPr>
                </a:tc>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Default, Validation error, Success message, Read-only or locked</a:t>
                      </a:r>
                    </a:p>
                  </a:txBody>
                  <a:tcPr marL="54864" marR="54864" marT="27432" marB="27432">
                    <a:solidFill>
                      <a:srgbClr val="FFFFFF"/>
                    </a:solidFill>
                  </a:tcPr>
                </a:tc>
              </a:tr>
              <a:tr h="220979">
                <a:tc>
                  <a:txBody>
                    <a:bodyPr/>
                    <a:lstStyle/>
                    <a:p>
                      <a:r>
                        <a:rPr sz="850" b="0">
                          <a:solidFill>
                            <a:srgbClr val="4B4B4B"/>
                          </a:solidFill>
                          <a:latin typeface="Arial"/>
                        </a:rPr>
                        <a:t>SCR-CL-04</a:t>
                      </a:r>
                    </a:p>
                  </a:txBody>
                  <a:tcPr marL="54864" marR="54864" marT="27432" marB="27432">
                    <a:solidFill>
                      <a:srgbClr val="E5F5FF"/>
                    </a:solidFill>
                  </a:tcPr>
                </a:tc>
                <a:tc>
                  <a:txBody>
                    <a:bodyPr/>
                    <a:lstStyle/>
                    <a:p>
                      <a:r>
                        <a:rPr sz="850" b="0">
                          <a:solidFill>
                            <a:srgbClr val="4B4B4B"/>
                          </a:solidFill>
                          <a:latin typeface="Arial"/>
                        </a:rPr>
                        <a:t>Client View</a:t>
                      </a:r>
                    </a:p>
                  </a:txBody>
                  <a:tcPr marL="54864" marR="54864" marT="27432" marB="27432">
                    <a:solidFill>
                      <a:srgbClr val="E5F5FF"/>
                    </a:solidFill>
                  </a:tcPr>
                </a:tc>
                <a:tc>
                  <a:txBody>
                    <a:bodyPr/>
                    <a:lstStyle/>
                    <a:p>
                      <a:r>
                        <a:rPr sz="850" b="0">
                          <a:solidFill>
                            <a:srgbClr val="4B4B4B"/>
                          </a:solidFill>
                          <a:latin typeface="Arial"/>
                        </a:rPr>
                        <a:t>13.1.4</a:t>
                      </a:r>
                    </a:p>
                  </a:txBody>
                  <a:tcPr marL="54864" marR="54864" marT="27432" marB="27432">
                    <a:solidFill>
                      <a:srgbClr val="E5F5FF"/>
                    </a:solidFill>
                  </a:tcPr>
                </a:tc>
                <a:tc>
                  <a:txBody>
                    <a:bodyPr/>
                    <a:lstStyle/>
                    <a:p>
                      <a:r>
                        <a:rPr sz="850" b="0">
                          <a:solidFill>
                            <a:srgbClr val="4B4B4B"/>
                          </a:solidFill>
                          <a:latin typeface="Arial"/>
                        </a:rPr>
                        <a:t>FR-CL-014</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Default</a:t>
                      </a:r>
                    </a:p>
                  </a:txBody>
                  <a:tcPr marL="54864" marR="54864" marT="27432" marB="27432">
                    <a:solidFill>
                      <a:srgbClr val="E5F5FF"/>
                    </a:solidFill>
                  </a:tcPr>
                </a:tc>
              </a:tr>
              <a:tr h="220979">
                <a:tc>
                  <a:txBody>
                    <a:bodyPr/>
                    <a:lstStyle/>
                    <a:p>
                      <a:r>
                        <a:rPr sz="850" b="0">
                          <a:solidFill>
                            <a:srgbClr val="4B4B4B"/>
                          </a:solidFill>
                          <a:latin typeface="Arial"/>
                        </a:rPr>
                        <a:t>SCR-CL-05</a:t>
                      </a:r>
                    </a:p>
                  </a:txBody>
                  <a:tcPr marL="54864" marR="54864" marT="27432" marB="27432">
                    <a:solidFill>
                      <a:srgbClr val="FFFFFF"/>
                    </a:solidFill>
                  </a:tcPr>
                </a:tc>
                <a:tc>
                  <a:txBody>
                    <a:bodyPr/>
                    <a:lstStyle/>
                    <a:p>
                      <a:r>
                        <a:rPr sz="850" b="0">
                          <a:solidFill>
                            <a:srgbClr val="4B4B4B"/>
                          </a:solidFill>
                          <a:latin typeface="Arial"/>
                        </a:rPr>
                        <a:t>Installment Plans</a:t>
                      </a:r>
                    </a:p>
                  </a:txBody>
                  <a:tcPr marL="54864" marR="54864" marT="27432" marB="27432">
                    <a:solidFill>
                      <a:srgbClr val="FFFFFF"/>
                    </a:solidFill>
                  </a:tcPr>
                </a:tc>
                <a:tc>
                  <a:txBody>
                    <a:bodyPr/>
                    <a:lstStyle/>
                    <a:p>
                      <a:r>
                        <a:rPr sz="850" b="0">
                          <a:solidFill>
                            <a:srgbClr val="4B4B4B"/>
                          </a:solidFill>
                          <a:latin typeface="Arial"/>
                        </a:rPr>
                        <a:t>13.2.1</a:t>
                      </a:r>
                    </a:p>
                  </a:txBody>
                  <a:tcPr marL="54864" marR="54864" marT="27432" marB="27432">
                    <a:solidFill>
                      <a:srgbClr val="FFFFFF"/>
                    </a:solidFill>
                  </a:tcPr>
                </a:tc>
                <a:tc>
                  <a:txBody>
                    <a:bodyPr/>
                    <a:lstStyle/>
                    <a:p>
                      <a:r>
                        <a:rPr sz="850" b="0">
                          <a:solidFill>
                            <a:srgbClr val="4B4B4B"/>
                          </a:solidFill>
                          <a:latin typeface="Arial"/>
                        </a:rPr>
                        <a:t>FR-CL-040, FR-CL-041</a:t>
                      </a:r>
                    </a:p>
                  </a:txBody>
                  <a:tcPr marL="54864" marR="54864" marT="27432" marB="27432">
                    <a:solidFill>
                      <a:srgbClr val="FFFFFF"/>
                    </a:solidFill>
                  </a:tcPr>
                </a:tc>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Default, Filled, Success message</a:t>
                      </a:r>
                    </a:p>
                  </a:txBody>
                  <a:tcPr marL="54864" marR="54864" marT="27432" marB="27432">
                    <a:solidFill>
                      <a:srgbClr val="FFFFFF"/>
                    </a:solidFill>
                  </a:tcPr>
                </a:tc>
              </a:tr>
              <a:tr h="220979">
                <a:tc>
                  <a:txBody>
                    <a:bodyPr/>
                    <a:lstStyle/>
                    <a:p>
                      <a:r>
                        <a:rPr sz="850" b="0">
                          <a:solidFill>
                            <a:srgbClr val="4B4B4B"/>
                          </a:solidFill>
                          <a:latin typeface="Arial"/>
                        </a:rPr>
                        <a:t>SCR-CL-06</a:t>
                      </a:r>
                    </a:p>
                  </a:txBody>
                  <a:tcPr marL="54864" marR="54864" marT="27432" marB="27432">
                    <a:solidFill>
                      <a:srgbClr val="E5F5FF"/>
                    </a:solidFill>
                  </a:tcPr>
                </a:tc>
                <a:tc>
                  <a:txBody>
                    <a:bodyPr/>
                    <a:lstStyle/>
                    <a:p>
                      <a:r>
                        <a:rPr sz="850" b="0">
                          <a:solidFill>
                            <a:srgbClr val="4B4B4B"/>
                          </a:solidFill>
                          <a:latin typeface="Arial"/>
                        </a:rPr>
                        <a:t>Installment Plan</a:t>
                      </a:r>
                    </a:p>
                  </a:txBody>
                  <a:tcPr marL="54864" marR="54864" marT="27432" marB="27432">
                    <a:solidFill>
                      <a:srgbClr val="E5F5FF"/>
                    </a:solidFill>
                  </a:tcPr>
                </a:tc>
                <a:tc>
                  <a:txBody>
                    <a:bodyPr/>
                    <a:lstStyle/>
                    <a:p>
                      <a:r>
                        <a:rPr sz="850" b="0">
                          <a:solidFill>
                            <a:srgbClr val="4B4B4B"/>
                          </a:solidFill>
                          <a:latin typeface="Arial"/>
                        </a:rPr>
                        <a:t>13.2.2</a:t>
                      </a:r>
                    </a:p>
                  </a:txBody>
                  <a:tcPr marL="54864" marR="54864" marT="27432" marB="27432">
                    <a:solidFill>
                      <a:srgbClr val="E5F5FF"/>
                    </a:solidFill>
                  </a:tcPr>
                </a:tc>
                <a:tc>
                  <a:txBody>
                    <a:bodyPr/>
                    <a:lstStyle/>
                    <a:p>
                      <a:r>
                        <a:rPr sz="850" b="0">
                          <a:solidFill>
                            <a:srgbClr val="4B4B4B"/>
                          </a:solidFill>
                          <a:latin typeface="Arial"/>
                        </a:rPr>
                        <a:t>FR-CL-040, FR-CL-041, FR-CL-042, FR-CL-060</a:t>
                      </a:r>
                    </a:p>
                  </a:txBody>
                  <a:tcPr marL="54864" marR="54864" marT="27432" marB="27432">
                    <a:solidFill>
                      <a:srgbClr val="E5F5FF"/>
                    </a:solidFill>
                  </a:tcPr>
                </a:tc>
                <a:tc>
                  <a:txBody>
                    <a:bodyPr/>
                    <a:lstStyle/>
                    <a:p>
                      <a:r>
                        <a:rPr sz="850" b="0">
                          <a:solidFill>
                            <a:srgbClr val="4B4B4B"/>
                          </a:solidFill>
                          <a:latin typeface="Arial"/>
                        </a:rPr>
                        <a:t>3</a:t>
                      </a:r>
                    </a:p>
                  </a:txBody>
                  <a:tcPr marL="54864" marR="54864" marT="27432" marB="27432">
                    <a:solidFill>
                      <a:srgbClr val="E5F5FF"/>
                    </a:solidFill>
                  </a:tcPr>
                </a:tc>
                <a:tc>
                  <a:txBody>
                    <a:bodyPr/>
                    <a:lstStyle/>
                    <a:p>
                      <a:r>
                        <a:rPr sz="850" b="0">
                          <a:solidFill>
                            <a:srgbClr val="4B4B4B"/>
                          </a:solidFill>
                          <a:latin typeface="Arial"/>
                        </a:rPr>
                        <a:t>Default, Success message</a:t>
                      </a:r>
                    </a:p>
                  </a:txBody>
                  <a:tcPr marL="54864" marR="54864" marT="27432" marB="27432">
                    <a:solidFill>
                      <a:srgbClr val="E5F5FF"/>
                    </a:solidFill>
                  </a:tcPr>
                </a:tc>
              </a:tr>
              <a:tr h="220979">
                <a:tc>
                  <a:txBody>
                    <a:bodyPr/>
                    <a:lstStyle/>
                    <a:p>
                      <a:r>
                        <a:rPr sz="850" b="0">
                          <a:solidFill>
                            <a:srgbClr val="4B4B4B"/>
                          </a:solidFill>
                          <a:latin typeface="Arial"/>
                        </a:rPr>
                        <a:t>SCR-CL-07</a:t>
                      </a:r>
                    </a:p>
                  </a:txBody>
                  <a:tcPr marL="54864" marR="54864" marT="27432" marB="27432">
                    <a:solidFill>
                      <a:srgbClr val="FFFFFF"/>
                    </a:solidFill>
                  </a:tcPr>
                </a:tc>
                <a:tc>
                  <a:txBody>
                    <a:bodyPr/>
                    <a:lstStyle/>
                    <a:p>
                      <a:r>
                        <a:rPr sz="850" b="0">
                          <a:solidFill>
                            <a:srgbClr val="4B4B4B"/>
                          </a:solidFill>
                          <a:latin typeface="Arial"/>
                        </a:rPr>
                        <a:t>Installments Due</a:t>
                      </a:r>
                    </a:p>
                  </a:txBody>
                  <a:tcPr marL="54864" marR="54864" marT="27432" marB="27432">
                    <a:solidFill>
                      <a:srgbClr val="FFFFFF"/>
                    </a:solidFill>
                  </a:tcPr>
                </a:tc>
                <a:tc>
                  <a:txBody>
                    <a:bodyPr/>
                    <a:lstStyle/>
                    <a:p>
                      <a:r>
                        <a:rPr sz="850" b="0">
                          <a:solidFill>
                            <a:srgbClr val="4B4B4B"/>
                          </a:solidFill>
                          <a:latin typeface="Arial"/>
                        </a:rPr>
                        <a:t>13.2.3</a:t>
                      </a:r>
                    </a:p>
                  </a:txBody>
                  <a:tcPr marL="54864" marR="54864" marT="27432" marB="27432">
                    <a:solidFill>
                      <a:srgbClr val="FFFFFF"/>
                    </a:solidFill>
                  </a:tcPr>
                </a:tc>
                <a:tc>
                  <a:txBody>
                    <a:bodyPr/>
                    <a:lstStyle/>
                    <a:p>
                      <a:r>
                        <a:rPr sz="850" b="0">
                          <a:solidFill>
                            <a:srgbClr val="4B4B4B"/>
                          </a:solidFill>
                          <a:latin typeface="Arial"/>
                        </a:rPr>
                        <a:t>FR-CL-041</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Default</a:t>
                      </a:r>
                    </a:p>
                  </a:txBody>
                  <a:tcPr marL="54864" marR="54864" marT="27432" marB="27432">
                    <a:solidFill>
                      <a:srgbClr val="FFFFFF"/>
                    </a:solidFill>
                  </a:tcPr>
                </a:tc>
              </a:tr>
              <a:tr h="220979">
                <a:tc>
                  <a:txBody>
                    <a:bodyPr/>
                    <a:lstStyle/>
                    <a:p>
                      <a:r>
                        <a:rPr sz="850" b="0">
                          <a:solidFill>
                            <a:srgbClr val="4B4B4B"/>
                          </a:solidFill>
                          <a:latin typeface="Arial"/>
                        </a:rPr>
                        <a:t>SCR-CL-08</a:t>
                      </a:r>
                    </a:p>
                  </a:txBody>
                  <a:tcPr marL="54864" marR="54864" marT="27432" marB="27432">
                    <a:solidFill>
                      <a:srgbClr val="E5F5FF"/>
                    </a:solidFill>
                  </a:tcPr>
                </a:tc>
                <a:tc>
                  <a:txBody>
                    <a:bodyPr/>
                    <a:lstStyle/>
                    <a:p>
                      <a:r>
                        <a:rPr sz="850" b="0">
                          <a:solidFill>
                            <a:srgbClr val="4B4B4B"/>
                          </a:solidFill>
                          <a:latin typeface="Arial"/>
                        </a:rPr>
                        <a:t>Promises to Pay</a:t>
                      </a:r>
                    </a:p>
                  </a:txBody>
                  <a:tcPr marL="54864" marR="54864" marT="27432" marB="27432">
                    <a:solidFill>
                      <a:srgbClr val="E5F5FF"/>
                    </a:solidFill>
                  </a:tcPr>
                </a:tc>
                <a:tc>
                  <a:txBody>
                    <a:bodyPr/>
                    <a:lstStyle/>
                    <a:p>
                      <a:r>
                        <a:rPr sz="850" b="0">
                          <a:solidFill>
                            <a:srgbClr val="4B4B4B"/>
                          </a:solidFill>
                          <a:latin typeface="Arial"/>
                        </a:rPr>
                        <a:t>13.2.4</a:t>
                      </a:r>
                    </a:p>
                  </a:txBody>
                  <a:tcPr marL="54864" marR="54864" marT="27432" marB="27432">
                    <a:solidFill>
                      <a:srgbClr val="E5F5FF"/>
                    </a:solidFill>
                  </a:tcPr>
                </a:tc>
                <a:tc>
                  <a:txBody>
                    <a:bodyPr/>
                    <a:lstStyle/>
                    <a:p>
                      <a:r>
                        <a:rPr sz="850" b="0">
                          <a:solidFill>
                            <a:srgbClr val="4B4B4B"/>
                          </a:solidFill>
                          <a:latin typeface="Arial"/>
                        </a:rPr>
                        <a:t>FR-CL-042, FR-CL-034</a:t>
                      </a:r>
                    </a:p>
                  </a:txBody>
                  <a:tcPr marL="54864" marR="54864" marT="27432" marB="27432">
                    <a:solidFill>
                      <a:srgbClr val="E5F5FF"/>
                    </a:solidFill>
                  </a:tcPr>
                </a:tc>
                <a:tc>
                  <a:txBody>
                    <a:bodyPr/>
                    <a:lstStyle/>
                    <a:p>
                      <a:r>
                        <a:rPr sz="850" b="0">
                          <a:solidFill>
                            <a:srgbClr val="4B4B4B"/>
                          </a:solidFill>
                          <a:latin typeface="Arial"/>
                        </a:rPr>
                        <a:t>5</a:t>
                      </a:r>
                    </a:p>
                  </a:txBody>
                  <a:tcPr marL="54864" marR="54864" marT="27432" marB="27432">
                    <a:solidFill>
                      <a:srgbClr val="E5F5FF"/>
                    </a:solidFill>
                  </a:tcPr>
                </a:tc>
                <a:tc>
                  <a:txBody>
                    <a:bodyPr/>
                    <a:lstStyle/>
                    <a:p>
                      <a:r>
                        <a:rPr sz="850" b="0">
                          <a:solidFill>
                            <a:srgbClr val="4B4B4B"/>
                          </a:solidFill>
                          <a:latin typeface="Arial"/>
                        </a:rPr>
                        <a:t>Default, Filled, Validation error, Success message</a:t>
                      </a:r>
                    </a:p>
                  </a:txBody>
                  <a:tcPr marL="54864" marR="54864" marT="27432" marB="27432">
                    <a:solidFill>
                      <a:srgbClr val="E5F5FF"/>
                    </a:solidFill>
                  </a:tcPr>
                </a:tc>
              </a:tr>
              <a:tr h="220979">
                <a:tc>
                  <a:txBody>
                    <a:bodyPr/>
                    <a:lstStyle/>
                    <a:p>
                      <a:r>
                        <a:rPr sz="850" b="0">
                          <a:solidFill>
                            <a:srgbClr val="4B4B4B"/>
                          </a:solidFill>
                          <a:latin typeface="Arial"/>
                        </a:rPr>
                        <a:t>SCR-CL-09</a:t>
                      </a:r>
                    </a:p>
                  </a:txBody>
                  <a:tcPr marL="54864" marR="54864" marT="27432" marB="27432">
                    <a:solidFill>
                      <a:srgbClr val="FFFFFF"/>
                    </a:solidFill>
                  </a:tcPr>
                </a:tc>
                <a:tc>
                  <a:txBody>
                    <a:bodyPr/>
                    <a:lstStyle/>
                    <a:p>
                      <a:r>
                        <a:rPr sz="850" b="0">
                          <a:solidFill>
                            <a:srgbClr val="4B4B4B"/>
                          </a:solidFill>
                          <a:latin typeface="Arial"/>
                        </a:rPr>
                        <a:t>Billing Statements</a:t>
                      </a:r>
                    </a:p>
                  </a:txBody>
                  <a:tcPr marL="54864" marR="54864" marT="27432" marB="27432">
                    <a:solidFill>
                      <a:srgbClr val="FFFFFF"/>
                    </a:solidFill>
                  </a:tcPr>
                </a:tc>
                <a:tc>
                  <a:txBody>
                    <a:bodyPr/>
                    <a:lstStyle/>
                    <a:p>
                      <a:r>
                        <a:rPr sz="850" b="0">
                          <a:solidFill>
                            <a:srgbClr val="4B4B4B"/>
                          </a:solidFill>
                          <a:latin typeface="Arial"/>
                        </a:rPr>
                        <a:t>13.2.5</a:t>
                      </a:r>
                    </a:p>
                  </a:txBody>
                  <a:tcPr marL="54864" marR="54864" marT="27432" marB="27432">
                    <a:solidFill>
                      <a:srgbClr val="FFFFFF"/>
                    </a:solidFill>
                  </a:tcPr>
                </a:tc>
                <a:tc>
                  <a:txBody>
                    <a:bodyPr/>
                    <a:lstStyle/>
                    <a:p>
                      <a:r>
                        <a:rPr sz="850" b="0">
                          <a:solidFill>
                            <a:srgbClr val="4B4B4B"/>
                          </a:solidFill>
                          <a:latin typeface="Arial"/>
                        </a:rPr>
                        <a:t>FR-CL-060, FR-CL-061, FR-CL-062</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Default, Filled</a:t>
                      </a:r>
                    </a:p>
                  </a:txBody>
                  <a:tcPr marL="54864" marR="54864" marT="27432" marB="27432">
                    <a:solidFill>
                      <a:srgbClr val="FFFFFF"/>
                    </a:solidFill>
                  </a:tcPr>
                </a:tc>
              </a:tr>
              <a:tr h="220979">
                <a:tc>
                  <a:txBody>
                    <a:bodyPr/>
                    <a:lstStyle/>
                    <a:p>
                      <a:r>
                        <a:rPr sz="850" b="0">
                          <a:solidFill>
                            <a:srgbClr val="4B4B4B"/>
                          </a:solidFill>
                          <a:latin typeface="Arial"/>
                        </a:rPr>
                        <a:t>SCR-CL-10</a:t>
                      </a:r>
                    </a:p>
                  </a:txBody>
                  <a:tcPr marL="54864" marR="54864" marT="27432" marB="27432">
                    <a:solidFill>
                      <a:srgbClr val="E5F5FF"/>
                    </a:solidFill>
                  </a:tcPr>
                </a:tc>
                <a:tc>
                  <a:txBody>
                    <a:bodyPr/>
                    <a:lstStyle/>
                    <a:p>
                      <a:r>
                        <a:rPr sz="850" b="0">
                          <a:solidFill>
                            <a:srgbClr val="4B4B4B"/>
                          </a:solidFill>
                          <a:latin typeface="Arial"/>
                        </a:rPr>
                        <a:t>Statement of Account</a:t>
                      </a:r>
                    </a:p>
                  </a:txBody>
                  <a:tcPr marL="54864" marR="54864" marT="27432" marB="27432">
                    <a:solidFill>
                      <a:srgbClr val="E5F5FF"/>
                    </a:solidFill>
                  </a:tcPr>
                </a:tc>
                <a:tc>
                  <a:txBody>
                    <a:bodyPr/>
                    <a:lstStyle/>
                    <a:p>
                      <a:r>
                        <a:rPr sz="850" b="0">
                          <a:solidFill>
                            <a:srgbClr val="4B4B4B"/>
                          </a:solidFill>
                          <a:latin typeface="Arial"/>
                        </a:rPr>
                        <a:t>13.2.6</a:t>
                      </a:r>
                    </a:p>
                  </a:txBody>
                  <a:tcPr marL="54864" marR="54864" marT="27432" marB="27432">
                    <a:solidFill>
                      <a:srgbClr val="E5F5FF"/>
                    </a:solidFill>
                  </a:tcPr>
                </a:tc>
                <a:tc>
                  <a:txBody>
                    <a:bodyPr/>
                    <a:lstStyle/>
                    <a:p>
                      <a:r>
                        <a:rPr sz="850" b="0">
                          <a:solidFill>
                            <a:srgbClr val="4B4B4B"/>
                          </a:solidFill>
                          <a:latin typeface="Arial"/>
                        </a:rPr>
                        <a:t>FR-CL-060, FR-CL-061, FR-CL-062</a:t>
                      </a:r>
                    </a:p>
                  </a:txBody>
                  <a:tcPr marL="54864" marR="54864" marT="27432" marB="27432">
                    <a:solidFill>
                      <a:srgbClr val="E5F5FF"/>
                    </a:solidFill>
                  </a:tcPr>
                </a:tc>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Default, Filled, Success message</a:t>
                      </a:r>
                    </a:p>
                  </a:txBody>
                  <a:tcPr marL="54864" marR="54864" marT="27432" marB="27432">
                    <a:solidFill>
                      <a:srgbClr val="E5F5FF"/>
                    </a:solidFill>
                  </a:tcPr>
                </a:tc>
              </a:tr>
              <a:tr h="220979">
                <a:tc>
                  <a:txBody>
                    <a:bodyPr/>
                    <a:lstStyle/>
                    <a:p>
                      <a:r>
                        <a:rPr sz="850" b="0">
                          <a:solidFill>
                            <a:srgbClr val="4B4B4B"/>
                          </a:solidFill>
                          <a:latin typeface="Arial"/>
                        </a:rPr>
                        <a:t>SCR-CL-11</a:t>
                      </a:r>
                    </a:p>
                  </a:txBody>
                  <a:tcPr marL="54864" marR="54864" marT="27432" marB="27432">
                    <a:solidFill>
                      <a:srgbClr val="FFFFFF"/>
                    </a:solidFill>
                  </a:tcPr>
                </a:tc>
                <a:tc>
                  <a:txBody>
                    <a:bodyPr/>
                    <a:lstStyle/>
                    <a:p>
                      <a:r>
                        <a:rPr sz="850" b="0">
                          <a:solidFill>
                            <a:srgbClr val="4B4B4B"/>
                          </a:solidFill>
                          <a:latin typeface="Arial"/>
                        </a:rPr>
                        <a:t>Escalations</a:t>
                      </a:r>
                    </a:p>
                  </a:txBody>
                  <a:tcPr marL="54864" marR="54864" marT="27432" marB="27432">
                    <a:solidFill>
                      <a:srgbClr val="FFFFFF"/>
                    </a:solidFill>
                  </a:tcPr>
                </a:tc>
                <a:tc>
                  <a:txBody>
                    <a:bodyPr/>
                    <a:lstStyle/>
                    <a:p>
                      <a:r>
                        <a:rPr sz="850" b="0">
                          <a:solidFill>
                            <a:srgbClr val="4B4B4B"/>
                          </a:solidFill>
                          <a:latin typeface="Arial"/>
                        </a:rPr>
                        <a:t>13.3.1</a:t>
                      </a:r>
                    </a:p>
                  </a:txBody>
                  <a:tcPr marL="54864" marR="54864" marT="27432" marB="27432">
                    <a:solidFill>
                      <a:srgbClr val="FFFFFF"/>
                    </a:solidFill>
                  </a:tcPr>
                </a:tc>
                <a:tc>
                  <a:txBody>
                    <a:bodyPr/>
                    <a:lstStyle/>
                    <a:p>
                      <a:r>
                        <a:rPr sz="850" b="0">
                          <a:solidFill>
                            <a:srgbClr val="4B4B4B"/>
                          </a:solidFill>
                          <a:latin typeface="Arial"/>
                        </a:rPr>
                        <a:t>FR-CL-051, FR-CL-052, FR-CL-053</a:t>
                      </a:r>
                    </a:p>
                  </a:txBody>
                  <a:tcPr marL="54864" marR="54864" marT="27432" marB="27432">
                    <a:solidFill>
                      <a:srgbClr val="FFFFFF"/>
                    </a:solidFill>
                  </a:tcPr>
                </a:tc>
                <a:tc>
                  <a:txBody>
                    <a:bodyPr/>
                    <a:lstStyle/>
                    <a:p>
                      <a:r>
                        <a:rPr sz="850" b="0">
                          <a:solidFill>
                            <a:srgbClr val="4B4B4B"/>
                          </a:solidFill>
                          <a:latin typeface="Arial"/>
                        </a:rPr>
                        <a:t>4</a:t>
                      </a:r>
                    </a:p>
                  </a:txBody>
                  <a:tcPr marL="54864" marR="54864" marT="27432" marB="27432">
                    <a:solidFill>
                      <a:srgbClr val="FFFFFF"/>
                    </a:solidFill>
                  </a:tcPr>
                </a:tc>
                <a:tc>
                  <a:txBody>
                    <a:bodyPr/>
                    <a:lstStyle/>
                    <a:p>
                      <a:r>
                        <a:rPr sz="850" b="0">
                          <a:solidFill>
                            <a:srgbClr val="4B4B4B"/>
                          </a:solidFill>
                          <a:latin typeface="Arial"/>
                        </a:rPr>
                        <a:t>Default, Filled, Success message, Empty list</a:t>
                      </a:r>
                    </a:p>
                  </a:txBody>
                  <a:tcPr marL="54864" marR="54864" marT="27432" marB="27432">
                    <a:solidFill>
                      <a:srgbClr val="FFFFFF"/>
                    </a:solidFill>
                  </a:tcPr>
                </a:tc>
              </a:tr>
              <a:tr h="220979">
                <a:tc>
                  <a:txBody>
                    <a:bodyPr/>
                    <a:lstStyle/>
                    <a:p>
                      <a:r>
                        <a:rPr sz="850" b="0">
                          <a:solidFill>
                            <a:srgbClr val="4B4B4B"/>
                          </a:solidFill>
                          <a:latin typeface="Arial"/>
                        </a:rPr>
                        <a:t>SCR-CL-12</a:t>
                      </a:r>
                    </a:p>
                  </a:txBody>
                  <a:tcPr marL="54864" marR="54864" marT="27432" marB="27432">
                    <a:solidFill>
                      <a:srgbClr val="E5F5FF"/>
                    </a:solidFill>
                  </a:tcPr>
                </a:tc>
                <a:tc>
                  <a:txBody>
                    <a:bodyPr/>
                    <a:lstStyle/>
                    <a:p>
                      <a:r>
                        <a:rPr sz="850" b="0">
                          <a:solidFill>
                            <a:srgbClr val="4B4B4B"/>
                          </a:solidFill>
                          <a:latin typeface="Arial"/>
                        </a:rPr>
                        <a:t>Escalation</a:t>
                      </a:r>
                    </a:p>
                  </a:txBody>
                  <a:tcPr marL="54864" marR="54864" marT="27432" marB="27432">
                    <a:solidFill>
                      <a:srgbClr val="E5F5FF"/>
                    </a:solidFill>
                  </a:tcPr>
                </a:tc>
                <a:tc>
                  <a:txBody>
                    <a:bodyPr/>
                    <a:lstStyle/>
                    <a:p>
                      <a:r>
                        <a:rPr sz="850" b="0">
                          <a:solidFill>
                            <a:srgbClr val="4B4B4B"/>
                          </a:solidFill>
                          <a:latin typeface="Arial"/>
                        </a:rPr>
                        <a:t>13.3.2</a:t>
                      </a:r>
                    </a:p>
                  </a:txBody>
                  <a:tcPr marL="54864" marR="54864" marT="27432" marB="27432">
                    <a:solidFill>
                      <a:srgbClr val="E5F5FF"/>
                    </a:solidFill>
                  </a:tcPr>
                </a:tc>
                <a:tc>
                  <a:txBody>
                    <a:bodyPr/>
                    <a:lstStyle/>
                    <a:p>
                      <a:r>
                        <a:rPr sz="850" b="0">
                          <a:solidFill>
                            <a:srgbClr val="4B4B4B"/>
                          </a:solidFill>
                          <a:latin typeface="Arial"/>
                        </a:rPr>
                        <a:t>FR-CL-053</a:t>
                      </a:r>
                    </a:p>
                  </a:txBody>
                  <a:tcPr marL="54864" marR="54864" marT="27432" marB="27432">
                    <a:solidFill>
                      <a:srgbClr val="E5F5FF"/>
                    </a:solidFill>
                  </a:tcPr>
                </a:tc>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Default, Confirmation with reason, Success message</a:t>
                      </a:r>
                    </a:p>
                  </a:txBody>
                  <a:tcPr marL="54864" marR="54864" marT="27432" marB="27432">
                    <a:solidFill>
                      <a:srgbClr val="E5F5FF"/>
                    </a:solidFill>
                  </a:tcPr>
                </a:tc>
              </a:tr>
              <a:tr h="220979">
                <a:tc>
                  <a:txBody>
                    <a:bodyPr/>
                    <a:lstStyle/>
                    <a:p>
                      <a:r>
                        <a:rPr sz="850" b="0">
                          <a:solidFill>
                            <a:srgbClr val="4B4B4B"/>
                          </a:solidFill>
                          <a:latin typeface="Arial"/>
                        </a:rPr>
                        <a:t>SCR-CL-13</a:t>
                      </a:r>
                    </a:p>
                  </a:txBody>
                  <a:tcPr marL="54864" marR="54864" marT="27432" marB="27432">
                    <a:solidFill>
                      <a:srgbClr val="FFFFFF"/>
                    </a:solidFill>
                  </a:tcPr>
                </a:tc>
                <a:tc>
                  <a:txBody>
                    <a:bodyPr/>
                    <a:lstStyle/>
                    <a:p>
                      <a:r>
                        <a:rPr sz="850" b="0">
                          <a:solidFill>
                            <a:srgbClr val="4B4B4B"/>
                          </a:solidFill>
                          <a:latin typeface="Arial"/>
                        </a:rPr>
                        <a:t>Escalation Rules</a:t>
                      </a:r>
                    </a:p>
                  </a:txBody>
                  <a:tcPr marL="54864" marR="54864" marT="27432" marB="27432">
                    <a:solidFill>
                      <a:srgbClr val="FFFFFF"/>
                    </a:solidFill>
                  </a:tcPr>
                </a:tc>
                <a:tc>
                  <a:txBody>
                    <a:bodyPr/>
                    <a:lstStyle/>
                    <a:p>
                      <a:r>
                        <a:rPr sz="850" b="0">
                          <a:solidFill>
                            <a:srgbClr val="4B4B4B"/>
                          </a:solidFill>
                          <a:latin typeface="Arial"/>
                        </a:rPr>
                        <a:t>13.3.3</a:t>
                      </a:r>
                    </a:p>
                  </a:txBody>
                  <a:tcPr marL="54864" marR="54864" marT="27432" marB="27432">
                    <a:solidFill>
                      <a:srgbClr val="FFFFFF"/>
                    </a:solidFill>
                  </a:tcPr>
                </a:tc>
                <a:tc>
                  <a:txBody>
                    <a:bodyPr/>
                    <a:lstStyle/>
                    <a:p>
                      <a:r>
                        <a:rPr sz="850" b="0">
                          <a:solidFill>
                            <a:srgbClr val="4B4B4B"/>
                          </a:solidFill>
                          <a:latin typeface="Arial"/>
                        </a:rPr>
                        <a:t>FR-CL-050, FR-CL-051</a:t>
                      </a:r>
                    </a:p>
                  </a:txBody>
                  <a:tcPr marL="54864" marR="54864" marT="27432" marB="27432">
                    <a:solidFill>
                      <a:srgbClr val="FFFFFF"/>
                    </a:solidFill>
                  </a:tcPr>
                </a:tc>
                <a:tc>
                  <a:txBody>
                    <a:bodyPr/>
                    <a:lstStyle/>
                    <a:p>
                      <a:r>
                        <a:rPr sz="850" b="0">
                          <a:solidFill>
                            <a:srgbClr val="4B4B4B"/>
                          </a:solidFill>
                          <a:latin typeface="Arial"/>
                        </a:rPr>
                        <a:t>4</a:t>
                      </a:r>
                    </a:p>
                  </a:txBody>
                  <a:tcPr marL="54864" marR="54864" marT="27432" marB="27432">
                    <a:solidFill>
                      <a:srgbClr val="FFFFFF"/>
                    </a:solidFill>
                  </a:tcPr>
                </a:tc>
                <a:tc>
                  <a:txBody>
                    <a:bodyPr/>
                    <a:lstStyle/>
                    <a:p>
                      <a:r>
                        <a:rPr sz="850" b="0">
                          <a:solidFill>
                            <a:srgbClr val="4B4B4B"/>
                          </a:solidFill>
                          <a:latin typeface="Arial"/>
                        </a:rPr>
                        <a:t>Default, Filled, Success message, Pending approval</a:t>
                      </a:r>
                    </a:p>
                  </a:txBody>
                  <a:tcPr marL="54864" marR="54864" marT="27432" marB="27432">
                    <a:solidFill>
                      <a:srgbClr val="FFFFFF"/>
                    </a:solidFill>
                  </a:tcPr>
                </a:tc>
              </a:tr>
              <a:tr h="350518">
                <a:tc>
                  <a:txBody>
                    <a:bodyPr/>
                    <a:lstStyle/>
                    <a:p>
                      <a:r>
                        <a:rPr sz="850" b="0">
                          <a:solidFill>
                            <a:srgbClr val="4B4B4B"/>
                          </a:solidFill>
                          <a:latin typeface="Arial"/>
                        </a:rPr>
                        <a:t>SCR-CL-14</a:t>
                      </a:r>
                    </a:p>
                  </a:txBody>
                  <a:tcPr marL="54864" marR="54864" marT="27432" marB="27432">
                    <a:solidFill>
                      <a:srgbClr val="E5F5FF"/>
                    </a:solidFill>
                  </a:tcPr>
                </a:tc>
                <a:tc>
                  <a:txBody>
                    <a:bodyPr/>
                    <a:lstStyle/>
                    <a:p>
                      <a:r>
                        <a:rPr sz="850" b="0">
                          <a:solidFill>
                            <a:srgbClr val="4B4B4B"/>
                          </a:solidFill>
                          <a:latin typeface="Arial"/>
                        </a:rPr>
                        <a:t>Unapplied Payments</a:t>
                      </a:r>
                    </a:p>
                  </a:txBody>
                  <a:tcPr marL="54864" marR="54864" marT="27432" marB="27432">
                    <a:solidFill>
                      <a:srgbClr val="E5F5FF"/>
                    </a:solidFill>
                  </a:tcPr>
                </a:tc>
                <a:tc>
                  <a:txBody>
                    <a:bodyPr/>
                    <a:lstStyle/>
                    <a:p>
                      <a:r>
                        <a:rPr sz="850" b="0">
                          <a:solidFill>
                            <a:srgbClr val="4B4B4B"/>
                          </a:solidFill>
                          <a:latin typeface="Arial"/>
                        </a:rPr>
                        <a:t>13.4.1</a:t>
                      </a:r>
                    </a:p>
                  </a:txBody>
                  <a:tcPr marL="54864" marR="54864" marT="27432" marB="27432">
                    <a:solidFill>
                      <a:srgbClr val="E5F5FF"/>
                    </a:solidFill>
                  </a:tcPr>
                </a:tc>
                <a:tc>
                  <a:txBody>
                    <a:bodyPr/>
                    <a:lstStyle/>
                    <a:p>
                      <a:r>
                        <a:rPr sz="850" b="0">
                          <a:solidFill>
                            <a:srgbClr val="4B4B4B"/>
                          </a:solidFill>
                          <a:latin typeface="Arial"/>
                        </a:rPr>
                        <a:t>FR-CL-070, FR-CL-071, FR-CL-072, FR-CL-073, FR-CL-074, FR-CL-075, FR-CL-076</a:t>
                      </a:r>
                    </a:p>
                  </a:txBody>
                  <a:tcPr marL="54864" marR="54864" marT="27432" marB="27432">
                    <a:solidFill>
                      <a:srgbClr val="E5F5FF"/>
                    </a:solidFill>
                  </a:tcPr>
                </a:tc>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Filled, Validation error, Success message, Pending approval</a:t>
                      </a:r>
                    </a:p>
                  </a:txBody>
                  <a:tcPr marL="54864" marR="54864" marT="27432" marB="27432">
                    <a:solidFill>
                      <a:srgbClr val="E5F5FF"/>
                    </a:solidFill>
                  </a:tcPr>
                </a:tc>
              </a:tr>
              <a:tr h="220979">
                <a:tc>
                  <a:txBody>
                    <a:bodyPr/>
                    <a:lstStyle/>
                    <a:p>
                      <a:r>
                        <a:rPr sz="850" b="0">
                          <a:solidFill>
                            <a:srgbClr val="4B4B4B"/>
                          </a:solidFill>
                          <a:latin typeface="Arial"/>
                        </a:rPr>
                        <a:t>SCR-CL-15</a:t>
                      </a:r>
                    </a:p>
                  </a:txBody>
                  <a:tcPr marL="54864" marR="54864" marT="27432" marB="27432">
                    <a:solidFill>
                      <a:srgbClr val="FFFFFF"/>
                    </a:solidFill>
                  </a:tcPr>
                </a:tc>
                <a:tc>
                  <a:txBody>
                    <a:bodyPr/>
                    <a:lstStyle/>
                    <a:p>
                      <a:r>
                        <a:rPr sz="850" b="0">
                          <a:solidFill>
                            <a:srgbClr val="4B4B4B"/>
                          </a:solidFill>
                          <a:latin typeface="Arial"/>
                        </a:rPr>
                        <a:t>Unapplied Payment</a:t>
                      </a:r>
                    </a:p>
                  </a:txBody>
                  <a:tcPr marL="54864" marR="54864" marT="27432" marB="27432">
                    <a:solidFill>
                      <a:srgbClr val="FFFFFF"/>
                    </a:solidFill>
                  </a:tcPr>
                </a:tc>
                <a:tc>
                  <a:txBody>
                    <a:bodyPr/>
                    <a:lstStyle/>
                    <a:p>
                      <a:r>
                        <a:rPr sz="850" b="0">
                          <a:solidFill>
                            <a:srgbClr val="4B4B4B"/>
                          </a:solidFill>
                          <a:latin typeface="Arial"/>
                        </a:rPr>
                        <a:t>13.4.2</a:t>
                      </a:r>
                    </a:p>
                  </a:txBody>
                  <a:tcPr marL="54864" marR="54864" marT="27432" marB="27432">
                    <a:solidFill>
                      <a:srgbClr val="FFFFFF"/>
                    </a:solidFill>
                  </a:tcPr>
                </a:tc>
                <a:tc>
                  <a:txBody>
                    <a:bodyPr/>
                    <a:lstStyle/>
                    <a:p>
                      <a:r>
                        <a:rPr sz="850" b="0">
                          <a:solidFill>
                            <a:srgbClr val="4B4B4B"/>
                          </a:solidFill>
                          <a:latin typeface="Arial"/>
                        </a:rPr>
                        <a:t>FR-CL-070, FR-CL-073, FR-CL-074, FR-CL-076</a:t>
                      </a:r>
                    </a:p>
                  </a:txBody>
                  <a:tcPr marL="54864" marR="54864" marT="27432" marB="27432">
                    <a:solidFill>
                      <a:srgbClr val="FFFFFF"/>
                    </a:solidFill>
                  </a:tcPr>
                </a:tc>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Default, Read-only or locked</a:t>
                      </a:r>
                    </a:p>
                  </a:txBody>
                  <a:tcPr marL="54864" marR="54864" marT="27432" marB="27432">
                    <a:solidFill>
                      <a:srgbClr val="FFFFFF"/>
                    </a:solidFill>
                  </a:tcPr>
                </a:tc>
              </a:tr>
              <a:tr h="220979">
                <a:tc>
                  <a:txBody>
                    <a:bodyPr/>
                    <a:lstStyle/>
                    <a:p>
                      <a:r>
                        <a:rPr sz="850" b="0">
                          <a:solidFill>
                            <a:srgbClr val="4B4B4B"/>
                          </a:solidFill>
                          <a:latin typeface="Arial"/>
                        </a:rPr>
                        <a:t>SCR-CL-16</a:t>
                      </a:r>
                    </a:p>
                  </a:txBody>
                  <a:tcPr marL="54864" marR="54864" marT="27432" marB="27432">
                    <a:solidFill>
                      <a:srgbClr val="E5F5FF"/>
                    </a:solidFill>
                  </a:tcPr>
                </a:tc>
                <a:tc>
                  <a:txBody>
                    <a:bodyPr/>
                    <a:lstStyle/>
                    <a:p>
                      <a:r>
                        <a:rPr sz="850" b="0">
                          <a:solidFill>
                            <a:srgbClr val="4B4B4B"/>
                          </a:solidFill>
                          <a:latin typeface="Arial"/>
                        </a:rPr>
                        <a:t>Requests to Cashiering</a:t>
                      </a:r>
                    </a:p>
                  </a:txBody>
                  <a:tcPr marL="54864" marR="54864" marT="27432" marB="27432">
                    <a:solidFill>
                      <a:srgbClr val="E5F5FF"/>
                    </a:solidFill>
                  </a:tcPr>
                </a:tc>
                <a:tc>
                  <a:txBody>
                    <a:bodyPr/>
                    <a:lstStyle/>
                    <a:p>
                      <a:r>
                        <a:rPr sz="850" b="0">
                          <a:solidFill>
                            <a:srgbClr val="4B4B4B"/>
                          </a:solidFill>
                          <a:latin typeface="Arial"/>
                        </a:rPr>
                        <a:t>13.4.3</a:t>
                      </a:r>
                    </a:p>
                  </a:txBody>
                  <a:tcPr marL="54864" marR="54864" marT="27432" marB="27432">
                    <a:solidFill>
                      <a:srgbClr val="E5F5FF"/>
                    </a:solidFill>
                  </a:tcPr>
                </a:tc>
                <a:tc>
                  <a:txBody>
                    <a:bodyPr/>
                    <a:lstStyle/>
                    <a:p>
                      <a:r>
                        <a:rPr sz="850" b="0">
                          <a:solidFill>
                            <a:srgbClr val="4B4B4B"/>
                          </a:solidFill>
                          <a:latin typeface="Arial"/>
                        </a:rPr>
                        <a:t>FR-CL-074, FR-CL-077</a:t>
                      </a:r>
                    </a:p>
                  </a:txBody>
                  <a:tcPr marL="54864" marR="54864" marT="27432" marB="27432">
                    <a:solidFill>
                      <a:srgbClr val="E5F5FF"/>
                    </a:solidFill>
                  </a:tcPr>
                </a:tc>
                <a:tc>
                  <a:txBody>
                    <a:bodyPr/>
                    <a:lstStyle/>
                    <a:p>
                      <a:r>
                        <a:rPr sz="850" b="0">
                          <a:solidFill>
                            <a:srgbClr val="4B4B4B"/>
                          </a:solidFill>
                          <a:latin typeface="Arial"/>
                        </a:rPr>
                        <a:t>3</a:t>
                      </a:r>
                    </a:p>
                  </a:txBody>
                  <a:tcPr marL="54864" marR="54864" marT="27432" marB="27432">
                    <a:solidFill>
                      <a:srgbClr val="E5F5FF"/>
                    </a:solidFill>
                  </a:tcPr>
                </a:tc>
                <a:tc>
                  <a:txBody>
                    <a:bodyPr/>
                    <a:lstStyle/>
                    <a:p>
                      <a:r>
                        <a:rPr sz="850" b="0">
                          <a:solidFill>
                            <a:srgbClr val="4B4B4B"/>
                          </a:solidFill>
                          <a:latin typeface="Arial"/>
                        </a:rPr>
                        <a:t>Default, Success message, Pending approval</a:t>
                      </a:r>
                    </a:p>
                  </a:txBody>
                  <a:tcPr marL="54864" marR="54864" marT="27432" marB="27432">
                    <a:solidFill>
                      <a:srgbClr val="E5F5FF"/>
                    </a:solidFill>
                  </a:tcPr>
                </a:tc>
              </a:tr>
              <a:tr h="220979">
                <a:tc>
                  <a:txBody>
                    <a:bodyPr/>
                    <a:lstStyle/>
                    <a:p>
                      <a:r>
                        <a:rPr sz="850" b="0">
                          <a:solidFill>
                            <a:srgbClr val="4B4B4B"/>
                          </a:solidFill>
                          <a:latin typeface="Arial"/>
                        </a:rPr>
                        <a:t>SCR-CL-17</a:t>
                      </a:r>
                    </a:p>
                  </a:txBody>
                  <a:tcPr marL="54864" marR="54864" marT="27432" marB="27432">
                    <a:solidFill>
                      <a:srgbClr val="FFFFFF"/>
                    </a:solidFill>
                  </a:tcPr>
                </a:tc>
                <a:tc>
                  <a:txBody>
                    <a:bodyPr/>
                    <a:lstStyle/>
                    <a:p>
                      <a:r>
                        <a:rPr sz="850" b="0">
                          <a:solidFill>
                            <a:srgbClr val="4B4B4B"/>
                          </a:solidFill>
                          <a:latin typeface="Arial"/>
                        </a:rPr>
                        <a:t>Assignments</a:t>
                      </a:r>
                    </a:p>
                  </a:txBody>
                  <a:tcPr marL="54864" marR="54864" marT="27432" marB="27432">
                    <a:solidFill>
                      <a:srgbClr val="FFFFFF"/>
                    </a:solidFill>
                  </a:tcPr>
                </a:tc>
                <a:tc>
                  <a:txBody>
                    <a:bodyPr/>
                    <a:lstStyle/>
                    <a:p>
                      <a:r>
                        <a:rPr sz="850" b="0">
                          <a:solidFill>
                            <a:srgbClr val="4B4B4B"/>
                          </a:solidFill>
                          <a:latin typeface="Arial"/>
                        </a:rPr>
                        <a:t>13.5.1</a:t>
                      </a:r>
                    </a:p>
                  </a:txBody>
                  <a:tcPr marL="54864" marR="54864" marT="27432" marB="27432">
                    <a:solidFill>
                      <a:srgbClr val="FFFFFF"/>
                    </a:solidFill>
                  </a:tcPr>
                </a:tc>
                <a:tc>
                  <a:txBody>
                    <a:bodyPr/>
                    <a:lstStyle/>
                    <a:p>
                      <a:r>
                        <a:rPr sz="850" b="0">
                          <a:solidFill>
                            <a:srgbClr val="4B4B4B"/>
                          </a:solidFill>
                          <a:latin typeface="Arial"/>
                        </a:rPr>
                        <a:t>FR-CL-020, FR-CL-021</a:t>
                      </a:r>
                    </a:p>
                  </a:txBody>
                  <a:tcPr marL="54864" marR="54864" marT="27432" marB="27432">
                    <a:solidFill>
                      <a:srgbClr val="FFFFFF"/>
                    </a:solidFill>
                  </a:tcPr>
                </a:tc>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Default, Filled</a:t>
                      </a:r>
                    </a:p>
                  </a:txBody>
                  <a:tcPr marL="54864" marR="54864" marT="27432" marB="27432">
                    <a:solidFill>
                      <a:srgbClr val="FFFFFF"/>
                    </a:solidFill>
                  </a:tcPr>
                </a:tc>
              </a:tr>
            </a:tbl>
          </a:graphicData>
        </a:graphic>
      </p:graphicFrame>
    </p:spTree>
  </p:cSld>
  <p:clrMapOvr>
    <a:masterClrMapping/>
  </p:clrMapOvr>
</p:sld>
</file>

<file path=ppt/slides/slide3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Screen ID, FRS section and requirements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334</a:t>
            </a:r>
          </a:p>
        </p:txBody>
      </p:sp>
      <p:graphicFrame>
        <p:nvGraphicFramePr>
          <p:cNvPr id="9" name="Table 8"/>
          <p:cNvGraphicFramePr>
            <a:graphicFrameLocks noGrp="1"/>
          </p:cNvGraphicFramePr>
          <p:nvPr/>
        </p:nvGraphicFramePr>
        <p:xfrm>
          <a:off x="548640" y="1325880"/>
          <a:ext cx="11094412" cy="4937736"/>
        </p:xfrm>
        <a:graphic>
          <a:graphicData uri="http://schemas.openxmlformats.org/drawingml/2006/table">
            <a:tbl>
              <a:tblPr firstRow="1" bandRow="1">
                <a:tableStyleId>{5C22544A-7EE6-4342-B048-85BDC9FD1C3A}</a:tableStyleId>
              </a:tblPr>
              <a:tblGrid>
                <a:gridCol w="1109441"/>
                <a:gridCol w="2816274"/>
                <a:gridCol w="938758"/>
                <a:gridCol w="2560249"/>
                <a:gridCol w="682733"/>
                <a:gridCol w="2986957"/>
              </a:tblGrid>
              <a:tr h="220979">
                <a:tc>
                  <a:txBody>
                    <a:bodyPr/>
                    <a:lstStyle/>
                    <a:p>
                      <a:r>
                        <a:rPr sz="850" b="1">
                          <a:solidFill>
                            <a:srgbClr val="FFFFFF"/>
                          </a:solidFill>
                          <a:latin typeface="Arial"/>
                        </a:rPr>
                        <a:t>Screen ID</a:t>
                      </a:r>
                    </a:p>
                  </a:txBody>
                  <a:tcPr marL="54864" marR="54864" marT="27432" marB="27432">
                    <a:solidFill>
                      <a:srgbClr val="004EA8"/>
                    </a:solidFill>
                  </a:tcPr>
                </a:tc>
                <a:tc>
                  <a:txBody>
                    <a:bodyPr/>
                    <a:lstStyle/>
                    <a:p>
                      <a:r>
                        <a:rPr sz="850" b="1">
                          <a:solidFill>
                            <a:srgbClr val="FFFFFF"/>
                          </a:solidFill>
                          <a:latin typeface="Arial"/>
                        </a:rPr>
                        <a:t>Screen</a:t>
                      </a:r>
                    </a:p>
                  </a:txBody>
                  <a:tcPr marL="54864" marR="54864" marT="27432" marB="27432">
                    <a:solidFill>
                      <a:srgbClr val="004EA8"/>
                    </a:solidFill>
                  </a:tcPr>
                </a:tc>
                <a:tc>
                  <a:txBody>
                    <a:bodyPr/>
                    <a:lstStyle/>
                    <a:p>
                      <a:r>
                        <a:rPr sz="850" b="1">
                          <a:solidFill>
                            <a:srgbClr val="FFFFFF"/>
                          </a:solidFill>
                          <a:latin typeface="Arial"/>
                        </a:rPr>
                        <a:t>FRS section</a:t>
                      </a:r>
                    </a:p>
                  </a:txBody>
                  <a:tcPr marL="54864" marR="54864" marT="27432" marB="27432">
                    <a:solidFill>
                      <a:srgbClr val="004EA8"/>
                    </a:solidFill>
                  </a:tcPr>
                </a:tc>
                <a:tc>
                  <a:txBody>
                    <a:bodyPr/>
                    <a:lstStyle/>
                    <a:p>
                      <a:r>
                        <a:rPr sz="850" b="1">
                          <a:solidFill>
                            <a:srgbClr val="FFFFFF"/>
                          </a:solidFill>
                          <a:latin typeface="Arial"/>
                        </a:rPr>
                        <a:t>Requirements</a:t>
                      </a:r>
                    </a:p>
                  </a:txBody>
                  <a:tcPr marL="54864" marR="54864" marT="27432" marB="27432">
                    <a:solidFill>
                      <a:srgbClr val="004EA8"/>
                    </a:solidFill>
                  </a:tcPr>
                </a:tc>
                <a:tc>
                  <a:txBody>
                    <a:bodyPr/>
                    <a:lstStyle/>
                    <a:p>
                      <a:r>
                        <a:rPr sz="850" b="1">
                          <a:solidFill>
                            <a:srgbClr val="FFFFFF"/>
                          </a:solidFill>
                          <a:latin typeface="Arial"/>
                        </a:rPr>
                        <a:t>Images</a:t>
                      </a:r>
                    </a:p>
                  </a:txBody>
                  <a:tcPr marL="54864" marR="54864" marT="27432" marB="27432">
                    <a:solidFill>
                      <a:srgbClr val="004EA8"/>
                    </a:solidFill>
                  </a:tcPr>
                </a:tc>
                <a:tc>
                  <a:txBody>
                    <a:bodyPr/>
                    <a:lstStyle/>
                    <a:p>
                      <a:r>
                        <a:rPr sz="850" b="1">
                          <a:solidFill>
                            <a:srgbClr val="FFFFFF"/>
                          </a:solidFill>
                          <a:latin typeface="Arial"/>
                        </a:rPr>
                        <a:t>States</a:t>
                      </a:r>
                    </a:p>
                  </a:txBody>
                  <a:tcPr marL="54864" marR="54864" marT="27432" marB="27432">
                    <a:solidFill>
                      <a:srgbClr val="004EA8"/>
                    </a:solidFill>
                  </a:tcPr>
                </a:tc>
              </a:tr>
              <a:tr h="350518">
                <a:tc>
                  <a:txBody>
                    <a:bodyPr/>
                    <a:lstStyle/>
                    <a:p>
                      <a:r>
                        <a:rPr sz="850" b="0">
                          <a:solidFill>
                            <a:srgbClr val="4B4B4B"/>
                          </a:solidFill>
                          <a:latin typeface="Arial"/>
                        </a:rPr>
                        <a:t>SCR-CL-18</a:t>
                      </a:r>
                    </a:p>
                  </a:txBody>
                  <a:tcPr marL="54864" marR="54864" marT="27432" marB="27432">
                    <a:solidFill>
                      <a:srgbClr val="FFFFFF"/>
                    </a:solidFill>
                  </a:tcPr>
                </a:tc>
                <a:tc>
                  <a:txBody>
                    <a:bodyPr/>
                    <a:lstStyle/>
                    <a:p>
                      <a:r>
                        <a:rPr sz="850" b="0">
                          <a:solidFill>
                            <a:srgbClr val="4B4B4B"/>
                          </a:solidFill>
                          <a:latin typeface="Arial"/>
                        </a:rPr>
                        <a:t>Collections Files</a:t>
                      </a:r>
                    </a:p>
                  </a:txBody>
                  <a:tcPr marL="54864" marR="54864" marT="27432" marB="27432">
                    <a:solidFill>
                      <a:srgbClr val="FFFFFF"/>
                    </a:solidFill>
                  </a:tcPr>
                </a:tc>
                <a:tc>
                  <a:txBody>
                    <a:bodyPr/>
                    <a:lstStyle/>
                    <a:p>
                      <a:r>
                        <a:rPr sz="850" b="0">
                          <a:solidFill>
                            <a:srgbClr val="4B4B4B"/>
                          </a:solidFill>
                          <a:latin typeface="Arial"/>
                        </a:rPr>
                        <a:t>13.5.2</a:t>
                      </a:r>
                    </a:p>
                  </a:txBody>
                  <a:tcPr marL="54864" marR="54864" marT="27432" marB="27432">
                    <a:solidFill>
                      <a:srgbClr val="FFFFFF"/>
                    </a:solidFill>
                  </a:tcPr>
                </a:tc>
                <a:tc>
                  <a:txBody>
                    <a:bodyPr/>
                    <a:lstStyle/>
                    <a:p>
                      <a:r>
                        <a:rPr sz="850" b="0">
                          <a:solidFill>
                            <a:srgbClr val="4B4B4B"/>
                          </a:solidFill>
                          <a:latin typeface="Arial"/>
                        </a:rPr>
                        <a:t>FR-CL-080, FR-CL-081, FR-CL-082, FR-CL-083, FR-CL-084</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Default, Filled</a:t>
                      </a:r>
                    </a:p>
                  </a:txBody>
                  <a:tcPr marL="54864" marR="54864" marT="27432" marB="27432">
                    <a:solidFill>
                      <a:srgbClr val="FFFFFF"/>
                    </a:solidFill>
                  </a:tcPr>
                </a:tc>
              </a:tr>
              <a:tr h="220979">
                <a:tc>
                  <a:txBody>
                    <a:bodyPr/>
                    <a:lstStyle/>
                    <a:p>
                      <a:r>
                        <a:rPr sz="850" b="0">
                          <a:solidFill>
                            <a:srgbClr val="4B4B4B"/>
                          </a:solidFill>
                          <a:latin typeface="Arial"/>
                        </a:rPr>
                        <a:t>SCR-CL-19</a:t>
                      </a:r>
                    </a:p>
                  </a:txBody>
                  <a:tcPr marL="54864" marR="54864" marT="27432" marB="27432">
                    <a:solidFill>
                      <a:srgbClr val="E5F5FF"/>
                    </a:solidFill>
                  </a:tcPr>
                </a:tc>
                <a:tc>
                  <a:txBody>
                    <a:bodyPr/>
                    <a:lstStyle/>
                    <a:p>
                      <a:r>
                        <a:rPr sz="850" b="0">
                          <a:solidFill>
                            <a:srgbClr val="4B4B4B"/>
                          </a:solidFill>
                          <a:latin typeface="Arial"/>
                        </a:rPr>
                        <a:t>Collections Setup</a:t>
                      </a:r>
                    </a:p>
                  </a:txBody>
                  <a:tcPr marL="54864" marR="54864" marT="27432" marB="27432">
                    <a:solidFill>
                      <a:srgbClr val="E5F5FF"/>
                    </a:solidFill>
                  </a:tcPr>
                </a:tc>
                <a:tc>
                  <a:txBody>
                    <a:bodyPr/>
                    <a:lstStyle/>
                    <a:p>
                      <a:r>
                        <a:rPr sz="850" b="0">
                          <a:solidFill>
                            <a:srgbClr val="4B4B4B"/>
                          </a:solidFill>
                          <a:latin typeface="Arial"/>
                        </a:rPr>
                        <a:t>13.5.3</a:t>
                      </a:r>
                    </a:p>
                  </a:txBody>
                  <a:tcPr marL="54864" marR="54864" marT="27432" marB="27432">
                    <a:solidFill>
                      <a:srgbClr val="E5F5FF"/>
                    </a:solidFill>
                  </a:tcPr>
                </a:tc>
                <a:tc>
                  <a:txBody>
                    <a:bodyPr/>
                    <a:lstStyle/>
                    <a:p>
                      <a:r>
                        <a:rPr sz="850" b="0">
                          <a:solidFill>
                            <a:srgbClr val="4B4B4B"/>
                          </a:solidFill>
                          <a:latin typeface="Arial"/>
                        </a:rPr>
                        <a:t>FR-CL-003, FR-CL-012, FR-CL-030, FR-CL-072</a:t>
                      </a:r>
                    </a:p>
                  </a:txBody>
                  <a:tcPr marL="54864" marR="54864" marT="27432" marB="27432">
                    <a:solidFill>
                      <a:srgbClr val="E5F5FF"/>
                    </a:solidFill>
                  </a:tcPr>
                </a:tc>
                <a:tc>
                  <a:txBody>
                    <a:bodyPr/>
                    <a:lstStyle/>
                    <a:p>
                      <a:r>
                        <a:rPr sz="850" b="0">
                          <a:solidFill>
                            <a:srgbClr val="4B4B4B"/>
                          </a:solidFill>
                          <a:latin typeface="Arial"/>
                        </a:rPr>
                        <a:t>3</a:t>
                      </a:r>
                    </a:p>
                  </a:txBody>
                  <a:tcPr marL="54864" marR="54864" marT="27432" marB="27432">
                    <a:solidFill>
                      <a:srgbClr val="E5F5FF"/>
                    </a:solidFill>
                  </a:tcPr>
                </a:tc>
                <a:tc>
                  <a:txBody>
                    <a:bodyPr/>
                    <a:lstStyle/>
                    <a:p>
                      <a:r>
                        <a:rPr sz="850" b="0">
                          <a:solidFill>
                            <a:srgbClr val="4B4B4B"/>
                          </a:solidFill>
                          <a:latin typeface="Arial"/>
                        </a:rPr>
                        <a:t>Default, Filled, Success message</a:t>
                      </a:r>
                    </a:p>
                  </a:txBody>
                  <a:tcPr marL="54864" marR="54864" marT="27432" marB="27432">
                    <a:solidFill>
                      <a:srgbClr val="E5F5FF"/>
                    </a:solidFill>
                  </a:tcPr>
                </a:tc>
              </a:tr>
              <a:tr h="220979">
                <a:tc>
                  <a:txBody>
                    <a:bodyPr/>
                    <a:lstStyle/>
                    <a:p>
                      <a:r>
                        <a:rPr sz="850" b="0">
                          <a:solidFill>
                            <a:srgbClr val="4B4B4B"/>
                          </a:solidFill>
                          <a:latin typeface="Arial"/>
                        </a:rPr>
                        <a:t>NAV-CL-01</a:t>
                      </a:r>
                    </a:p>
                  </a:txBody>
                  <a:tcPr marL="54864" marR="54864" marT="27432" marB="27432">
                    <a:solidFill>
                      <a:srgbClr val="FFFFFF"/>
                    </a:solidFill>
                  </a:tcPr>
                </a:tc>
                <a:tc>
                  <a:txBody>
                    <a:bodyPr/>
                    <a:lstStyle/>
                    <a:p>
                      <a:r>
                        <a:rPr sz="850" b="0">
                          <a:solidFill>
                            <a:srgbClr val="4B4B4B"/>
                          </a:solidFill>
                          <a:latin typeface="Arial"/>
                        </a:rPr>
                        <a:t>Landing page and menu: Marketing Account Officer</a:t>
                      </a:r>
                    </a:p>
                  </a:txBody>
                  <a:tcPr marL="54864" marR="54864" marT="27432" marB="27432">
                    <a:solidFill>
                      <a:srgbClr val="FFFFFF"/>
                    </a:solidFill>
                  </a:tcPr>
                </a:tc>
                <a:tc>
                  <a:txBody>
                    <a:bodyPr/>
                    <a:lstStyle/>
                    <a:p>
                      <a:r>
                        <a:rPr sz="850" b="0">
                          <a:solidFill>
                            <a:srgbClr val="4B4B4B"/>
                          </a:solidFill>
                          <a:latin typeface="Arial"/>
                        </a:rPr>
                        <a:t>12.3</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Landing page, Menu</a:t>
                      </a:r>
                    </a:p>
                  </a:txBody>
                  <a:tcPr marL="54864" marR="54864" marT="27432" marB="27432">
                    <a:solidFill>
                      <a:srgbClr val="FFFFFF"/>
                    </a:solidFill>
                  </a:tcPr>
                </a:tc>
              </a:tr>
              <a:tr h="220979">
                <a:tc>
                  <a:txBody>
                    <a:bodyPr/>
                    <a:lstStyle/>
                    <a:p>
                      <a:r>
                        <a:rPr sz="850" b="0">
                          <a:solidFill>
                            <a:srgbClr val="4B4B4B"/>
                          </a:solidFill>
                          <a:latin typeface="Arial"/>
                        </a:rPr>
                        <a:t>NAV-CL-02</a:t>
                      </a:r>
                    </a:p>
                  </a:txBody>
                  <a:tcPr marL="54864" marR="54864" marT="27432" marB="27432">
                    <a:solidFill>
                      <a:srgbClr val="E5F5FF"/>
                    </a:solidFill>
                  </a:tcPr>
                </a:tc>
                <a:tc>
                  <a:txBody>
                    <a:bodyPr/>
                    <a:lstStyle/>
                    <a:p>
                      <a:r>
                        <a:rPr sz="850" b="0">
                          <a:solidFill>
                            <a:srgbClr val="4B4B4B"/>
                          </a:solidFill>
                          <a:latin typeface="Arial"/>
                        </a:rPr>
                        <a:t>Landing page and menu: Marketing Team Lead</a:t>
                      </a:r>
                    </a:p>
                  </a:txBody>
                  <a:tcPr marL="54864" marR="54864" marT="27432" marB="27432">
                    <a:solidFill>
                      <a:srgbClr val="E5F5FF"/>
                    </a:solidFill>
                  </a:tcPr>
                </a:tc>
                <a:tc>
                  <a:txBody>
                    <a:bodyPr/>
                    <a:lstStyle/>
                    <a:p>
                      <a:r>
                        <a:rPr sz="850" b="0">
                          <a:solidFill>
                            <a:srgbClr val="4B4B4B"/>
                          </a:solidFill>
                          <a:latin typeface="Arial"/>
                        </a:rPr>
                        <a:t>12.3</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Landing page, Menu</a:t>
                      </a:r>
                    </a:p>
                  </a:txBody>
                  <a:tcPr marL="54864" marR="54864" marT="27432" marB="27432">
                    <a:solidFill>
                      <a:srgbClr val="E5F5FF"/>
                    </a:solidFill>
                  </a:tcPr>
                </a:tc>
              </a:tr>
              <a:tr h="220979">
                <a:tc>
                  <a:txBody>
                    <a:bodyPr/>
                    <a:lstStyle/>
                    <a:p>
                      <a:r>
                        <a:rPr sz="850" b="0">
                          <a:solidFill>
                            <a:srgbClr val="4B4B4B"/>
                          </a:solidFill>
                          <a:latin typeface="Arial"/>
                        </a:rPr>
                        <a:t>NAV-CL-03</a:t>
                      </a:r>
                    </a:p>
                  </a:txBody>
                  <a:tcPr marL="54864" marR="54864" marT="27432" marB="27432">
                    <a:solidFill>
                      <a:srgbClr val="FFFFFF"/>
                    </a:solidFill>
                  </a:tcPr>
                </a:tc>
                <a:tc>
                  <a:txBody>
                    <a:bodyPr/>
                    <a:lstStyle/>
                    <a:p>
                      <a:r>
                        <a:rPr sz="850" b="0">
                          <a:solidFill>
                            <a:srgbClr val="4B4B4B"/>
                          </a:solidFill>
                          <a:latin typeface="Arial"/>
                        </a:rPr>
                        <a:t>Landing page and menu: Marketing Handler</a:t>
                      </a:r>
                    </a:p>
                  </a:txBody>
                  <a:tcPr marL="54864" marR="54864" marT="27432" marB="27432">
                    <a:solidFill>
                      <a:srgbClr val="FFFFFF"/>
                    </a:solidFill>
                  </a:tcPr>
                </a:tc>
                <a:tc>
                  <a:txBody>
                    <a:bodyPr/>
                    <a:lstStyle/>
                    <a:p>
                      <a:r>
                        <a:rPr sz="850" b="0">
                          <a:solidFill>
                            <a:srgbClr val="4B4B4B"/>
                          </a:solidFill>
                          <a:latin typeface="Arial"/>
                        </a:rPr>
                        <a:t>12.3</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Landing page, Menu</a:t>
                      </a:r>
                    </a:p>
                  </a:txBody>
                  <a:tcPr marL="54864" marR="54864" marT="27432" marB="27432">
                    <a:solidFill>
                      <a:srgbClr val="FFFFFF"/>
                    </a:solidFill>
                  </a:tcPr>
                </a:tc>
              </a:tr>
              <a:tr h="220979">
                <a:tc>
                  <a:txBody>
                    <a:bodyPr/>
                    <a:lstStyle/>
                    <a:p>
                      <a:r>
                        <a:rPr sz="850" b="0">
                          <a:solidFill>
                            <a:srgbClr val="4B4B4B"/>
                          </a:solidFill>
                          <a:latin typeface="Arial"/>
                        </a:rPr>
                        <a:t>NAV-CL-04</a:t>
                      </a:r>
                    </a:p>
                  </a:txBody>
                  <a:tcPr marL="54864" marR="54864" marT="27432" marB="27432">
                    <a:solidFill>
                      <a:srgbClr val="E5F5FF"/>
                    </a:solidFill>
                  </a:tcPr>
                </a:tc>
                <a:tc>
                  <a:txBody>
                    <a:bodyPr/>
                    <a:lstStyle/>
                    <a:p>
                      <a:r>
                        <a:rPr sz="850" b="0">
                          <a:solidFill>
                            <a:srgbClr val="4B4B4B"/>
                          </a:solidFill>
                          <a:latin typeface="Arial"/>
                        </a:rPr>
                        <a:t>Landing page and menu: Collection Handler</a:t>
                      </a:r>
                    </a:p>
                  </a:txBody>
                  <a:tcPr marL="54864" marR="54864" marT="27432" marB="27432">
                    <a:solidFill>
                      <a:srgbClr val="E5F5FF"/>
                    </a:solidFill>
                  </a:tcPr>
                </a:tc>
                <a:tc>
                  <a:txBody>
                    <a:bodyPr/>
                    <a:lstStyle/>
                    <a:p>
                      <a:r>
                        <a:rPr sz="850" b="0">
                          <a:solidFill>
                            <a:srgbClr val="4B4B4B"/>
                          </a:solidFill>
                          <a:latin typeface="Arial"/>
                        </a:rPr>
                        <a:t>12.3</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Landing page, Menu</a:t>
                      </a:r>
                    </a:p>
                  </a:txBody>
                  <a:tcPr marL="54864" marR="54864" marT="27432" marB="27432">
                    <a:solidFill>
                      <a:srgbClr val="E5F5FF"/>
                    </a:solidFill>
                  </a:tcPr>
                </a:tc>
              </a:tr>
              <a:tr h="220979">
                <a:tc>
                  <a:txBody>
                    <a:bodyPr/>
                    <a:lstStyle/>
                    <a:p>
                      <a:r>
                        <a:rPr sz="850" b="0">
                          <a:solidFill>
                            <a:srgbClr val="4B4B4B"/>
                          </a:solidFill>
                          <a:latin typeface="Arial"/>
                        </a:rPr>
                        <a:t>NAV-CL-05</a:t>
                      </a:r>
                    </a:p>
                  </a:txBody>
                  <a:tcPr marL="54864" marR="54864" marT="27432" marB="27432">
                    <a:solidFill>
                      <a:srgbClr val="FFFFFF"/>
                    </a:solidFill>
                  </a:tcPr>
                </a:tc>
                <a:tc>
                  <a:txBody>
                    <a:bodyPr/>
                    <a:lstStyle/>
                    <a:p>
                      <a:r>
                        <a:rPr sz="850" b="0">
                          <a:solidFill>
                            <a:srgbClr val="4B4B4B"/>
                          </a:solidFill>
                          <a:latin typeface="Arial"/>
                        </a:rPr>
                        <a:t>Landing page and menu: Collection Team Lead</a:t>
                      </a:r>
                    </a:p>
                  </a:txBody>
                  <a:tcPr marL="54864" marR="54864" marT="27432" marB="27432">
                    <a:solidFill>
                      <a:srgbClr val="FFFFFF"/>
                    </a:solidFill>
                  </a:tcPr>
                </a:tc>
                <a:tc>
                  <a:txBody>
                    <a:bodyPr/>
                    <a:lstStyle/>
                    <a:p>
                      <a:r>
                        <a:rPr sz="850" b="0">
                          <a:solidFill>
                            <a:srgbClr val="4B4B4B"/>
                          </a:solidFill>
                          <a:latin typeface="Arial"/>
                        </a:rPr>
                        <a:t>12.3</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Landing page, Menu</a:t>
                      </a:r>
                    </a:p>
                  </a:txBody>
                  <a:tcPr marL="54864" marR="54864" marT="27432" marB="27432">
                    <a:solidFill>
                      <a:srgbClr val="FFFFFF"/>
                    </a:solidFill>
                  </a:tcPr>
                </a:tc>
              </a:tr>
              <a:tr h="350518">
                <a:tc>
                  <a:txBody>
                    <a:bodyPr/>
                    <a:lstStyle/>
                    <a:p>
                      <a:r>
                        <a:rPr sz="850" b="0">
                          <a:solidFill>
                            <a:srgbClr val="4B4B4B"/>
                          </a:solidFill>
                          <a:latin typeface="Arial"/>
                        </a:rPr>
                        <a:t>NAV-CL-06</a:t>
                      </a:r>
                    </a:p>
                  </a:txBody>
                  <a:tcPr marL="54864" marR="54864" marT="27432" marB="27432">
                    <a:solidFill>
                      <a:srgbClr val="E5F5FF"/>
                    </a:solidFill>
                  </a:tcPr>
                </a:tc>
                <a:tc>
                  <a:txBody>
                    <a:bodyPr/>
                    <a:lstStyle/>
                    <a:p>
                      <a:r>
                        <a:rPr sz="850" b="0">
                          <a:solidFill>
                            <a:srgbClr val="4B4B4B"/>
                          </a:solidFill>
                          <a:latin typeface="Arial"/>
                        </a:rPr>
                        <a:t>Landing page and menu: Section Head (Corporate / Retail)</a:t>
                      </a:r>
                    </a:p>
                  </a:txBody>
                  <a:tcPr marL="54864" marR="54864" marT="27432" marB="27432">
                    <a:solidFill>
                      <a:srgbClr val="E5F5FF"/>
                    </a:solidFill>
                  </a:tcPr>
                </a:tc>
                <a:tc>
                  <a:txBody>
                    <a:bodyPr/>
                    <a:lstStyle/>
                    <a:p>
                      <a:r>
                        <a:rPr sz="850" b="0">
                          <a:solidFill>
                            <a:srgbClr val="4B4B4B"/>
                          </a:solidFill>
                          <a:latin typeface="Arial"/>
                        </a:rPr>
                        <a:t>12.3</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Landing page, Menu</a:t>
                      </a:r>
                    </a:p>
                  </a:txBody>
                  <a:tcPr marL="54864" marR="54864" marT="27432" marB="27432">
                    <a:solidFill>
                      <a:srgbClr val="E5F5FF"/>
                    </a:solidFill>
                  </a:tcPr>
                </a:tc>
              </a:tr>
              <a:tr h="220979">
                <a:tc>
                  <a:txBody>
                    <a:bodyPr/>
                    <a:lstStyle/>
                    <a:p>
                      <a:r>
                        <a:rPr sz="850" b="0">
                          <a:solidFill>
                            <a:srgbClr val="4B4B4B"/>
                          </a:solidFill>
                          <a:latin typeface="Arial"/>
                        </a:rPr>
                        <a:t>NAV-CL-07</a:t>
                      </a:r>
                    </a:p>
                  </a:txBody>
                  <a:tcPr marL="54864" marR="54864" marT="27432" marB="27432">
                    <a:solidFill>
                      <a:srgbClr val="FFFFFF"/>
                    </a:solidFill>
                  </a:tcPr>
                </a:tc>
                <a:tc>
                  <a:txBody>
                    <a:bodyPr/>
                    <a:lstStyle/>
                    <a:p>
                      <a:r>
                        <a:rPr sz="850" b="0">
                          <a:solidFill>
                            <a:srgbClr val="4B4B4B"/>
                          </a:solidFill>
                          <a:latin typeface="Arial"/>
                        </a:rPr>
                        <a:t>Landing page and menu: Unapplied Payment Handler</a:t>
                      </a:r>
                    </a:p>
                  </a:txBody>
                  <a:tcPr marL="54864" marR="54864" marT="27432" marB="27432">
                    <a:solidFill>
                      <a:srgbClr val="FFFFFF"/>
                    </a:solidFill>
                  </a:tcPr>
                </a:tc>
                <a:tc>
                  <a:txBody>
                    <a:bodyPr/>
                    <a:lstStyle/>
                    <a:p>
                      <a:r>
                        <a:rPr sz="850" b="0">
                          <a:solidFill>
                            <a:srgbClr val="4B4B4B"/>
                          </a:solidFill>
                          <a:latin typeface="Arial"/>
                        </a:rPr>
                        <a:t>12.3</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Landing page, Menu</a:t>
                      </a:r>
                    </a:p>
                  </a:txBody>
                  <a:tcPr marL="54864" marR="54864" marT="27432" marB="27432">
                    <a:solidFill>
                      <a:srgbClr val="FFFFFF"/>
                    </a:solidFill>
                  </a:tcPr>
                </a:tc>
              </a:tr>
              <a:tr h="220979">
                <a:tc>
                  <a:txBody>
                    <a:bodyPr/>
                    <a:lstStyle/>
                    <a:p>
                      <a:r>
                        <a:rPr sz="850" b="0">
                          <a:solidFill>
                            <a:srgbClr val="4B4B4B"/>
                          </a:solidFill>
                          <a:latin typeface="Arial"/>
                        </a:rPr>
                        <a:t>NAV-CL-08</a:t>
                      </a:r>
                    </a:p>
                  </a:txBody>
                  <a:tcPr marL="54864" marR="54864" marT="27432" marB="27432">
                    <a:solidFill>
                      <a:srgbClr val="E5F5FF"/>
                    </a:solidFill>
                  </a:tcPr>
                </a:tc>
                <a:tc>
                  <a:txBody>
                    <a:bodyPr/>
                    <a:lstStyle/>
                    <a:p>
                      <a:r>
                        <a:rPr sz="850" b="0">
                          <a:solidFill>
                            <a:srgbClr val="4B4B4B"/>
                          </a:solidFill>
                          <a:latin typeface="Arial"/>
                        </a:rPr>
                        <a:t>Landing page and menu: Processing Unit</a:t>
                      </a:r>
                    </a:p>
                  </a:txBody>
                  <a:tcPr marL="54864" marR="54864" marT="27432" marB="27432">
                    <a:solidFill>
                      <a:srgbClr val="E5F5FF"/>
                    </a:solidFill>
                  </a:tcPr>
                </a:tc>
                <a:tc>
                  <a:txBody>
                    <a:bodyPr/>
                    <a:lstStyle/>
                    <a:p>
                      <a:r>
                        <a:rPr sz="850" b="0">
                          <a:solidFill>
                            <a:srgbClr val="4B4B4B"/>
                          </a:solidFill>
                          <a:latin typeface="Arial"/>
                        </a:rPr>
                        <a:t>12.3</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Landing page, Menu</a:t>
                      </a:r>
                    </a:p>
                  </a:txBody>
                  <a:tcPr marL="54864" marR="54864" marT="27432" marB="27432">
                    <a:solidFill>
                      <a:srgbClr val="E5F5FF"/>
                    </a:solidFill>
                  </a:tcPr>
                </a:tc>
              </a:tr>
              <a:tr h="350518">
                <a:tc>
                  <a:txBody>
                    <a:bodyPr/>
                    <a:lstStyle/>
                    <a:p>
                      <a:r>
                        <a:rPr sz="850" b="0">
                          <a:solidFill>
                            <a:srgbClr val="4B4B4B"/>
                          </a:solidFill>
                          <a:latin typeface="Arial"/>
                        </a:rPr>
                        <a:t>NAV-CL-09</a:t>
                      </a:r>
                    </a:p>
                  </a:txBody>
                  <a:tcPr marL="54864" marR="54864" marT="27432" marB="27432">
                    <a:solidFill>
                      <a:srgbClr val="FFFFFF"/>
                    </a:solidFill>
                  </a:tcPr>
                </a:tc>
                <a:tc>
                  <a:txBody>
                    <a:bodyPr/>
                    <a:lstStyle/>
                    <a:p>
                      <a:r>
                        <a:rPr sz="850" b="0">
                          <a:solidFill>
                            <a:srgbClr val="4B4B4B"/>
                          </a:solidFill>
                          <a:latin typeface="Arial"/>
                        </a:rPr>
                        <a:t>Landing page and menu: Cashier (read access and exports)</a:t>
                      </a:r>
                    </a:p>
                  </a:txBody>
                  <a:tcPr marL="54864" marR="54864" marT="27432" marB="27432">
                    <a:solidFill>
                      <a:srgbClr val="FFFFFF"/>
                    </a:solidFill>
                  </a:tcPr>
                </a:tc>
                <a:tc>
                  <a:txBody>
                    <a:bodyPr/>
                    <a:lstStyle/>
                    <a:p>
                      <a:r>
                        <a:rPr sz="850" b="0">
                          <a:solidFill>
                            <a:srgbClr val="4B4B4B"/>
                          </a:solidFill>
                          <a:latin typeface="Arial"/>
                        </a:rPr>
                        <a:t>12.3</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Landing page, Menu</a:t>
                      </a:r>
                    </a:p>
                  </a:txBody>
                  <a:tcPr marL="54864" marR="54864" marT="27432" marB="27432">
                    <a:solidFill>
                      <a:srgbClr val="FFFFFF"/>
                    </a:solidFill>
                  </a:tcPr>
                </a:tc>
              </a:tr>
              <a:tr h="350518">
                <a:tc>
                  <a:txBody>
                    <a:bodyPr/>
                    <a:lstStyle/>
                    <a:p>
                      <a:r>
                        <a:rPr sz="850" b="0">
                          <a:solidFill>
                            <a:srgbClr val="4B4B4B"/>
                          </a:solidFill>
                          <a:latin typeface="Arial"/>
                        </a:rPr>
                        <a:t>NAV-CL-10</a:t>
                      </a:r>
                    </a:p>
                  </a:txBody>
                  <a:tcPr marL="54864" marR="54864" marT="27432" marB="27432">
                    <a:solidFill>
                      <a:srgbClr val="E5F5FF"/>
                    </a:solidFill>
                  </a:tcPr>
                </a:tc>
                <a:tc>
                  <a:txBody>
                    <a:bodyPr/>
                    <a:lstStyle/>
                    <a:p>
                      <a:r>
                        <a:rPr sz="850" b="0">
                          <a:solidFill>
                            <a:srgbClr val="4B4B4B"/>
                          </a:solidFill>
                          <a:latin typeface="Arial"/>
                        </a:rPr>
                        <a:t>Landing page and menu: Disbursement (read access and exports)</a:t>
                      </a:r>
                    </a:p>
                  </a:txBody>
                  <a:tcPr marL="54864" marR="54864" marT="27432" marB="27432">
                    <a:solidFill>
                      <a:srgbClr val="E5F5FF"/>
                    </a:solidFill>
                  </a:tcPr>
                </a:tc>
                <a:tc>
                  <a:txBody>
                    <a:bodyPr/>
                    <a:lstStyle/>
                    <a:p>
                      <a:r>
                        <a:rPr sz="850" b="0">
                          <a:solidFill>
                            <a:srgbClr val="4B4B4B"/>
                          </a:solidFill>
                          <a:latin typeface="Arial"/>
                        </a:rPr>
                        <a:t>12.3</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Landing page, Menu</a:t>
                      </a:r>
                    </a:p>
                  </a:txBody>
                  <a:tcPr marL="54864" marR="54864" marT="27432" marB="27432">
                    <a:solidFill>
                      <a:srgbClr val="E5F5FF"/>
                    </a:solidFill>
                  </a:tcPr>
                </a:tc>
              </a:tr>
              <a:tr h="220979">
                <a:tc>
                  <a:txBody>
                    <a:bodyPr/>
                    <a:lstStyle/>
                    <a:p>
                      <a:r>
                        <a:rPr sz="850" b="0">
                          <a:solidFill>
                            <a:srgbClr val="4B4B4B"/>
                          </a:solidFill>
                          <a:latin typeface="Arial"/>
                        </a:rPr>
                        <a:t>NAV-CL-11</a:t>
                      </a:r>
                    </a:p>
                  </a:txBody>
                  <a:tcPr marL="54864" marR="54864" marT="27432" marB="27432">
                    <a:solidFill>
                      <a:srgbClr val="FFFFFF"/>
                    </a:solidFill>
                  </a:tcPr>
                </a:tc>
                <a:tc>
                  <a:txBody>
                    <a:bodyPr/>
                    <a:lstStyle/>
                    <a:p>
                      <a:r>
                        <a:rPr sz="850" b="0">
                          <a:solidFill>
                            <a:srgbClr val="4B4B4B"/>
                          </a:solidFill>
                          <a:latin typeface="Arial"/>
                        </a:rPr>
                        <a:t>Landing page and menu: Comptrollership (read access)</a:t>
                      </a:r>
                    </a:p>
                  </a:txBody>
                  <a:tcPr marL="54864" marR="54864" marT="27432" marB="27432">
                    <a:solidFill>
                      <a:srgbClr val="FFFFFF"/>
                    </a:solidFill>
                  </a:tcPr>
                </a:tc>
                <a:tc>
                  <a:txBody>
                    <a:bodyPr/>
                    <a:lstStyle/>
                    <a:p>
                      <a:r>
                        <a:rPr sz="850" b="0">
                          <a:solidFill>
                            <a:srgbClr val="4B4B4B"/>
                          </a:solidFill>
                          <a:latin typeface="Arial"/>
                        </a:rPr>
                        <a:t>12.3</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Landing page, Menu</a:t>
                      </a:r>
                    </a:p>
                  </a:txBody>
                  <a:tcPr marL="54864" marR="54864" marT="27432" marB="27432">
                    <a:solidFill>
                      <a:srgbClr val="FFFFFF"/>
                    </a:solidFill>
                  </a:tcPr>
                </a:tc>
              </a:tr>
              <a:tr h="220979">
                <a:tc>
                  <a:txBody>
                    <a:bodyPr/>
                    <a:lstStyle/>
                    <a:p>
                      <a:r>
                        <a:rPr sz="850" b="0">
                          <a:solidFill>
                            <a:srgbClr val="4B4B4B"/>
                          </a:solidFill>
                          <a:latin typeface="Arial"/>
                        </a:rPr>
                        <a:t>NAV-CL-12</a:t>
                      </a:r>
                    </a:p>
                  </a:txBody>
                  <a:tcPr marL="54864" marR="54864" marT="27432" marB="27432">
                    <a:solidFill>
                      <a:srgbClr val="E5F5FF"/>
                    </a:solidFill>
                  </a:tcPr>
                </a:tc>
                <a:tc>
                  <a:txBody>
                    <a:bodyPr/>
                    <a:lstStyle/>
                    <a:p>
                      <a:r>
                        <a:rPr sz="850" b="0">
                          <a:solidFill>
                            <a:srgbClr val="4B4B4B"/>
                          </a:solidFill>
                          <a:latin typeface="Arial"/>
                        </a:rPr>
                        <a:t>Landing page and menu: Business Administrator</a:t>
                      </a:r>
                    </a:p>
                  </a:txBody>
                  <a:tcPr marL="54864" marR="54864" marT="27432" marB="27432">
                    <a:solidFill>
                      <a:srgbClr val="E5F5FF"/>
                    </a:solidFill>
                  </a:tcPr>
                </a:tc>
                <a:tc>
                  <a:txBody>
                    <a:bodyPr/>
                    <a:lstStyle/>
                    <a:p>
                      <a:r>
                        <a:rPr sz="850" b="0">
                          <a:solidFill>
                            <a:srgbClr val="4B4B4B"/>
                          </a:solidFill>
                          <a:latin typeface="Arial"/>
                        </a:rPr>
                        <a:t>12.3</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Landing page, Menu</a:t>
                      </a:r>
                    </a:p>
                  </a:txBody>
                  <a:tcPr marL="54864" marR="54864" marT="27432" marB="27432">
                    <a:solidFill>
                      <a:srgbClr val="E5F5FF"/>
                    </a:solidFill>
                  </a:tcPr>
                </a:tc>
              </a:tr>
              <a:tr h="220979">
                <a:tc>
                  <a:txBody>
                    <a:bodyPr/>
                    <a:lstStyle/>
                    <a:p>
                      <a:r>
                        <a:rPr sz="850" b="0">
                          <a:solidFill>
                            <a:srgbClr val="4B4B4B"/>
                          </a:solidFill>
                          <a:latin typeface="Arial"/>
                        </a:rPr>
                        <a:t>NAV-CL-13</a:t>
                      </a:r>
                    </a:p>
                  </a:txBody>
                  <a:tcPr marL="54864" marR="54864" marT="27432" marB="27432">
                    <a:solidFill>
                      <a:srgbClr val="FFFFFF"/>
                    </a:solidFill>
                  </a:tcPr>
                </a:tc>
                <a:tc>
                  <a:txBody>
                    <a:bodyPr/>
                    <a:lstStyle/>
                    <a:p>
                      <a:r>
                        <a:rPr sz="850" b="0">
                          <a:solidFill>
                            <a:srgbClr val="4B4B4B"/>
                          </a:solidFill>
                          <a:latin typeface="Arial"/>
                        </a:rPr>
                        <a:t>Landing page and menu: System Administrator</a:t>
                      </a:r>
                    </a:p>
                  </a:txBody>
                  <a:tcPr marL="54864" marR="54864" marT="27432" marB="27432">
                    <a:solidFill>
                      <a:srgbClr val="FFFFFF"/>
                    </a:solidFill>
                  </a:tcPr>
                </a:tc>
                <a:tc>
                  <a:txBody>
                    <a:bodyPr/>
                    <a:lstStyle/>
                    <a:p>
                      <a:r>
                        <a:rPr sz="850" b="0">
                          <a:solidFill>
                            <a:srgbClr val="4B4B4B"/>
                          </a:solidFill>
                          <a:latin typeface="Arial"/>
                        </a:rPr>
                        <a:t>12.3</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Landing page, Menu</a:t>
                      </a:r>
                    </a:p>
                  </a:txBody>
                  <a:tcPr marL="54864" marR="54864" marT="27432" marB="27432">
                    <a:solidFill>
                      <a:srgbClr val="FFFFFF"/>
                    </a:solidFill>
                  </a:tcPr>
                </a:tc>
              </a:tr>
              <a:tr h="220979">
                <a:tc>
                  <a:txBody>
                    <a:bodyPr/>
                    <a:lstStyle/>
                    <a:p>
                      <a:r>
                        <a:rPr sz="850" b="0">
                          <a:solidFill>
                            <a:srgbClr val="4B4B4B"/>
                          </a:solidFill>
                          <a:latin typeface="Arial"/>
                        </a:rPr>
                        <a:t>NAV-CL-14</a:t>
                      </a:r>
                    </a:p>
                  </a:txBody>
                  <a:tcPr marL="54864" marR="54864" marT="27432" marB="27432">
                    <a:solidFill>
                      <a:srgbClr val="E5F5FF"/>
                    </a:solidFill>
                  </a:tcPr>
                </a:tc>
                <a:tc>
                  <a:txBody>
                    <a:bodyPr/>
                    <a:lstStyle/>
                    <a:p>
                      <a:r>
                        <a:rPr sz="850" b="0">
                          <a:solidFill>
                            <a:srgbClr val="4B4B4B"/>
                          </a:solidFill>
                          <a:latin typeface="Arial"/>
                        </a:rPr>
                        <a:t>Landing page and menu: Auditor</a:t>
                      </a:r>
                    </a:p>
                  </a:txBody>
                  <a:tcPr marL="54864" marR="54864" marT="27432" marB="27432">
                    <a:solidFill>
                      <a:srgbClr val="E5F5FF"/>
                    </a:solidFill>
                  </a:tcPr>
                </a:tc>
                <a:tc>
                  <a:txBody>
                    <a:bodyPr/>
                    <a:lstStyle/>
                    <a:p>
                      <a:r>
                        <a:rPr sz="850" b="0">
                          <a:solidFill>
                            <a:srgbClr val="4B4B4B"/>
                          </a:solidFill>
                          <a:latin typeface="Arial"/>
                        </a:rPr>
                        <a:t>12.3</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Landing page, Menu</a:t>
                      </a:r>
                    </a:p>
                  </a:txBody>
                  <a:tcPr marL="54864" marR="54864" marT="27432" marB="27432">
                    <a:solidFill>
                      <a:srgbClr val="E5F5FF"/>
                    </a:solidFill>
                  </a:tcPr>
                </a:tc>
              </a:tr>
              <a:tr h="220979">
                <a:tc>
                  <a:txBody>
                    <a:bodyPr/>
                    <a:lstStyle/>
                    <a:p>
                      <a:r>
                        <a:rPr sz="850" b="0">
                          <a:solidFill>
                            <a:srgbClr val="4B4B4B"/>
                          </a:solidFill>
                          <a:latin typeface="Arial"/>
                        </a:rPr>
                        <a:t>DO-01</a:t>
                      </a:r>
                    </a:p>
                  </a:txBody>
                  <a:tcPr marL="54864" marR="54864" marT="27432" marB="27432">
                    <a:solidFill>
                      <a:srgbClr val="FFFFFF"/>
                    </a:solidFill>
                  </a:tcPr>
                </a:tc>
                <a:tc>
                  <a:txBody>
                    <a:bodyPr/>
                    <a:lstStyle/>
                    <a:p>
                      <a:r>
                        <a:rPr sz="850" b="0">
                          <a:solidFill>
                            <a:srgbClr val="4B4B4B"/>
                          </a:solidFill>
                          <a:latin typeface="Arial"/>
                        </a:rPr>
                        <a:t>Statement of account (SOA)</a:t>
                      </a:r>
                    </a:p>
                  </a:txBody>
                  <a:tcPr marL="54864" marR="54864" marT="27432" marB="27432">
                    <a:solidFill>
                      <a:srgbClr val="FFFFFF"/>
                    </a:solidFill>
                  </a:tcPr>
                </a:tc>
                <a:tc>
                  <a:txBody>
                    <a:bodyPr/>
                    <a:lstStyle/>
                    <a:p>
                      <a:r>
                        <a:rPr sz="850" b="0">
                          <a:solidFill>
                            <a:srgbClr val="4B4B4B"/>
                          </a:solidFill>
                          <a:latin typeface="Arial"/>
                        </a:rPr>
                        <a:t>17.1</a:t>
                      </a:r>
                    </a:p>
                  </a:txBody>
                  <a:tcPr marL="54864" marR="54864" marT="27432" marB="27432">
                    <a:solidFill>
                      <a:srgbClr val="FFFFFF"/>
                    </a:solidFill>
                  </a:tcPr>
                </a:tc>
                <a:tc>
                  <a:txBody>
                    <a:bodyPr/>
                    <a:lstStyle/>
                    <a:p>
                      <a:r>
                        <a:rPr sz="850" b="0">
                          <a:solidFill>
                            <a:srgbClr val="4B4B4B"/>
                          </a:solidFill>
                          <a:latin typeface="Arial"/>
                        </a:rPr>
                        <a:t>FR-CL-060, FR-CL-061, FR-CL-062</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Document as received</a:t>
                      </a:r>
                    </a:p>
                  </a:txBody>
                  <a:tcPr marL="54864" marR="54864" marT="27432" marB="27432">
                    <a:solidFill>
                      <a:srgbClr val="FFFFFF"/>
                    </a:solidFill>
                  </a:tcPr>
                </a:tc>
              </a:tr>
              <a:tr h="220979">
                <a:tc>
                  <a:txBody>
                    <a:bodyPr/>
                    <a:lstStyle/>
                    <a:p>
                      <a:r>
                        <a:rPr sz="850" b="0">
                          <a:solidFill>
                            <a:srgbClr val="4B4B4B"/>
                          </a:solidFill>
                          <a:latin typeface="Arial"/>
                        </a:rPr>
                        <a:t>DO-02</a:t>
                      </a:r>
                    </a:p>
                  </a:txBody>
                  <a:tcPr marL="54864" marR="54864" marT="27432" marB="27432">
                    <a:solidFill>
                      <a:srgbClr val="E5F5FF"/>
                    </a:solidFill>
                  </a:tcPr>
                </a:tc>
                <a:tc>
                  <a:txBody>
                    <a:bodyPr/>
                    <a:lstStyle/>
                    <a:p>
                      <a:r>
                        <a:rPr sz="850" b="0">
                          <a:solidFill>
                            <a:srgbClr val="4B4B4B"/>
                          </a:solidFill>
                          <a:latin typeface="Arial"/>
                        </a:rPr>
                        <a:t>Outstanding PR List</a:t>
                      </a:r>
                    </a:p>
                  </a:txBody>
                  <a:tcPr marL="54864" marR="54864" marT="27432" marB="27432">
                    <a:solidFill>
                      <a:srgbClr val="E5F5FF"/>
                    </a:solidFill>
                  </a:tcPr>
                </a:tc>
                <a:tc>
                  <a:txBody>
                    <a:bodyPr/>
                    <a:lstStyle/>
                    <a:p>
                      <a:r>
                        <a:rPr sz="850" b="0">
                          <a:solidFill>
                            <a:srgbClr val="4B4B4B"/>
                          </a:solidFill>
                          <a:latin typeface="Arial"/>
                        </a:rPr>
                        <a:t>17.2</a:t>
                      </a:r>
                    </a:p>
                  </a:txBody>
                  <a:tcPr marL="54864" marR="54864" marT="27432" marB="27432">
                    <a:solidFill>
                      <a:srgbClr val="E5F5FF"/>
                    </a:solidFill>
                  </a:tcPr>
                </a:tc>
                <a:tc>
                  <a:txBody>
                    <a:bodyPr/>
                    <a:lstStyle/>
                    <a:p>
                      <a:r>
                        <a:rPr sz="850" b="0">
                          <a:solidFill>
                            <a:srgbClr val="4B4B4B"/>
                          </a:solidFill>
                          <a:latin typeface="Arial"/>
                        </a:rPr>
                        <a:t>FR-CL-083, FR-CL-084</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Document as received</a:t>
                      </a:r>
                    </a:p>
                  </a:txBody>
                  <a:tcPr marL="54864" marR="54864" marT="27432" marB="27432">
                    <a:solidFill>
                      <a:srgbClr val="E5F5FF"/>
                    </a:solidFill>
                  </a:tcPr>
                </a:tc>
              </a:tr>
              <a:tr h="220979">
                <a:tc>
                  <a:txBody>
                    <a:bodyPr/>
                    <a:lstStyle/>
                    <a:p>
                      <a:r>
                        <a:rPr sz="850" b="0">
                          <a:solidFill>
                            <a:srgbClr val="4B4B4B"/>
                          </a:solidFill>
                          <a:latin typeface="Arial"/>
                        </a:rPr>
                        <a:t>DO-03</a:t>
                      </a:r>
                    </a:p>
                  </a:txBody>
                  <a:tcPr marL="54864" marR="54864" marT="27432" marB="27432">
                    <a:solidFill>
                      <a:srgbClr val="FFFFFF"/>
                    </a:solidFill>
                  </a:tcPr>
                </a:tc>
                <a:tc>
                  <a:txBody>
                    <a:bodyPr/>
                    <a:lstStyle/>
                    <a:p>
                      <a:r>
                        <a:rPr sz="850" b="0">
                          <a:solidFill>
                            <a:srgbClr val="4B4B4B"/>
                          </a:solidFill>
                          <a:latin typeface="Arial"/>
                        </a:rPr>
                        <a:t>Full Production Report</a:t>
                      </a:r>
                    </a:p>
                  </a:txBody>
                  <a:tcPr marL="54864" marR="54864" marT="27432" marB="27432">
                    <a:solidFill>
                      <a:srgbClr val="FFFFFF"/>
                    </a:solidFill>
                  </a:tcPr>
                </a:tc>
                <a:tc>
                  <a:txBody>
                    <a:bodyPr/>
                    <a:lstStyle/>
                    <a:p>
                      <a:r>
                        <a:rPr sz="850" b="0">
                          <a:solidFill>
                            <a:srgbClr val="4B4B4B"/>
                          </a:solidFill>
                          <a:latin typeface="Arial"/>
                        </a:rPr>
                        <a:t>17.3</a:t>
                      </a:r>
                    </a:p>
                  </a:txBody>
                  <a:tcPr marL="54864" marR="54864" marT="27432" marB="27432">
                    <a:solidFill>
                      <a:srgbClr val="FFFFFF"/>
                    </a:solidFill>
                  </a:tcPr>
                </a:tc>
                <a:tc>
                  <a:txBody>
                    <a:bodyPr/>
                    <a:lstStyle/>
                    <a:p>
                      <a:r>
                        <a:rPr sz="850" b="0">
                          <a:solidFill>
                            <a:srgbClr val="4B4B4B"/>
                          </a:solidFill>
                          <a:latin typeface="Arial"/>
                        </a:rPr>
                        <a:t>FR-CL-083</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Document as received</a:t>
                      </a:r>
                    </a:p>
                  </a:txBody>
                  <a:tcPr marL="54864" marR="54864" marT="27432" marB="27432">
                    <a:solidFill>
                      <a:srgbClr val="FFFFFF"/>
                    </a:solidFill>
                  </a:tcPr>
                </a:tc>
              </a:tr>
            </a:tbl>
          </a:graphicData>
        </a:graphic>
      </p:graphicFrame>
    </p:spTree>
  </p:cSld>
  <p:clrMapOvr>
    <a:masterClrMapping/>
  </p:clrMapOvr>
</p:sld>
</file>

<file path=ppt/slides/slide3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Screen ID, FRS section and requirements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BRD-4 Collections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335</a:t>
            </a:r>
          </a:p>
        </p:txBody>
      </p:sp>
      <p:graphicFrame>
        <p:nvGraphicFramePr>
          <p:cNvPr id="9" name="Table 8"/>
          <p:cNvGraphicFramePr>
            <a:graphicFrameLocks noGrp="1"/>
          </p:cNvGraphicFramePr>
          <p:nvPr/>
        </p:nvGraphicFramePr>
        <p:xfrm>
          <a:off x="548640" y="1325880"/>
          <a:ext cx="11094412" cy="662937"/>
        </p:xfrm>
        <a:graphic>
          <a:graphicData uri="http://schemas.openxmlformats.org/drawingml/2006/table">
            <a:tbl>
              <a:tblPr firstRow="1" bandRow="1">
                <a:tableStyleId>{5C22544A-7EE6-4342-B048-85BDC9FD1C3A}</a:tableStyleId>
              </a:tblPr>
              <a:tblGrid>
                <a:gridCol w="1109441"/>
                <a:gridCol w="2816274"/>
                <a:gridCol w="938758"/>
                <a:gridCol w="2560249"/>
                <a:gridCol w="682733"/>
                <a:gridCol w="2986957"/>
              </a:tblGrid>
              <a:tr h="220979">
                <a:tc>
                  <a:txBody>
                    <a:bodyPr/>
                    <a:lstStyle/>
                    <a:p>
                      <a:r>
                        <a:rPr sz="850" b="1">
                          <a:solidFill>
                            <a:srgbClr val="FFFFFF"/>
                          </a:solidFill>
                          <a:latin typeface="Arial"/>
                        </a:rPr>
                        <a:t>Screen ID</a:t>
                      </a:r>
                    </a:p>
                  </a:txBody>
                  <a:tcPr marL="54864" marR="54864" marT="27432" marB="27432">
                    <a:solidFill>
                      <a:srgbClr val="004EA8"/>
                    </a:solidFill>
                  </a:tcPr>
                </a:tc>
                <a:tc>
                  <a:txBody>
                    <a:bodyPr/>
                    <a:lstStyle/>
                    <a:p>
                      <a:r>
                        <a:rPr sz="850" b="1">
                          <a:solidFill>
                            <a:srgbClr val="FFFFFF"/>
                          </a:solidFill>
                          <a:latin typeface="Arial"/>
                        </a:rPr>
                        <a:t>Screen</a:t>
                      </a:r>
                    </a:p>
                  </a:txBody>
                  <a:tcPr marL="54864" marR="54864" marT="27432" marB="27432">
                    <a:solidFill>
                      <a:srgbClr val="004EA8"/>
                    </a:solidFill>
                  </a:tcPr>
                </a:tc>
                <a:tc>
                  <a:txBody>
                    <a:bodyPr/>
                    <a:lstStyle/>
                    <a:p>
                      <a:r>
                        <a:rPr sz="850" b="1">
                          <a:solidFill>
                            <a:srgbClr val="FFFFFF"/>
                          </a:solidFill>
                          <a:latin typeface="Arial"/>
                        </a:rPr>
                        <a:t>FRS section</a:t>
                      </a:r>
                    </a:p>
                  </a:txBody>
                  <a:tcPr marL="54864" marR="54864" marT="27432" marB="27432">
                    <a:solidFill>
                      <a:srgbClr val="004EA8"/>
                    </a:solidFill>
                  </a:tcPr>
                </a:tc>
                <a:tc>
                  <a:txBody>
                    <a:bodyPr/>
                    <a:lstStyle/>
                    <a:p>
                      <a:r>
                        <a:rPr sz="850" b="1">
                          <a:solidFill>
                            <a:srgbClr val="FFFFFF"/>
                          </a:solidFill>
                          <a:latin typeface="Arial"/>
                        </a:rPr>
                        <a:t>Requirements</a:t>
                      </a:r>
                    </a:p>
                  </a:txBody>
                  <a:tcPr marL="54864" marR="54864" marT="27432" marB="27432">
                    <a:solidFill>
                      <a:srgbClr val="004EA8"/>
                    </a:solidFill>
                  </a:tcPr>
                </a:tc>
                <a:tc>
                  <a:txBody>
                    <a:bodyPr/>
                    <a:lstStyle/>
                    <a:p>
                      <a:r>
                        <a:rPr sz="850" b="1">
                          <a:solidFill>
                            <a:srgbClr val="FFFFFF"/>
                          </a:solidFill>
                          <a:latin typeface="Arial"/>
                        </a:rPr>
                        <a:t>Images</a:t>
                      </a:r>
                    </a:p>
                  </a:txBody>
                  <a:tcPr marL="54864" marR="54864" marT="27432" marB="27432">
                    <a:solidFill>
                      <a:srgbClr val="004EA8"/>
                    </a:solidFill>
                  </a:tcPr>
                </a:tc>
                <a:tc>
                  <a:txBody>
                    <a:bodyPr/>
                    <a:lstStyle/>
                    <a:p>
                      <a:r>
                        <a:rPr sz="850" b="1">
                          <a:solidFill>
                            <a:srgbClr val="FFFFFF"/>
                          </a:solidFill>
                          <a:latin typeface="Arial"/>
                        </a:rPr>
                        <a:t>States</a:t>
                      </a:r>
                    </a:p>
                  </a:txBody>
                  <a:tcPr marL="54864" marR="54864" marT="27432" marB="27432">
                    <a:solidFill>
                      <a:srgbClr val="004EA8"/>
                    </a:solidFill>
                  </a:tcPr>
                </a:tc>
              </a:tr>
              <a:tr h="220979">
                <a:tc>
                  <a:txBody>
                    <a:bodyPr/>
                    <a:lstStyle/>
                    <a:p>
                      <a:r>
                        <a:rPr sz="850" b="0">
                          <a:solidFill>
                            <a:srgbClr val="4B4B4B"/>
                          </a:solidFill>
                          <a:latin typeface="Arial"/>
                        </a:rPr>
                        <a:t>DO-04</a:t>
                      </a:r>
                    </a:p>
                  </a:txBody>
                  <a:tcPr marL="54864" marR="54864" marT="27432" marB="27432">
                    <a:solidFill>
                      <a:srgbClr val="FFFFFF"/>
                    </a:solidFill>
                  </a:tcPr>
                </a:tc>
                <a:tc>
                  <a:txBody>
                    <a:bodyPr/>
                    <a:lstStyle/>
                    <a:p>
                      <a:r>
                        <a:rPr sz="850" b="0">
                          <a:solidFill>
                            <a:srgbClr val="4B4B4B"/>
                          </a:solidFill>
                          <a:latin typeface="Arial"/>
                        </a:rPr>
                        <a:t>DP PR for Reversal and PR 2307 for Reversal files</a:t>
                      </a:r>
                    </a:p>
                  </a:txBody>
                  <a:tcPr marL="54864" marR="54864" marT="27432" marB="27432">
                    <a:solidFill>
                      <a:srgbClr val="FFFFFF"/>
                    </a:solidFill>
                  </a:tcPr>
                </a:tc>
                <a:tc>
                  <a:txBody>
                    <a:bodyPr/>
                    <a:lstStyle/>
                    <a:p>
                      <a:r>
                        <a:rPr sz="850" b="0">
                          <a:solidFill>
                            <a:srgbClr val="4B4B4B"/>
                          </a:solidFill>
                          <a:latin typeface="Arial"/>
                        </a:rPr>
                        <a:t>17.4</a:t>
                      </a:r>
                    </a:p>
                  </a:txBody>
                  <a:tcPr marL="54864" marR="54864" marT="27432" marB="27432">
                    <a:solidFill>
                      <a:srgbClr val="FFFFFF"/>
                    </a:solidFill>
                  </a:tcPr>
                </a:tc>
                <a:tc>
                  <a:txBody>
                    <a:bodyPr/>
                    <a:lstStyle/>
                    <a:p>
                      <a:r>
                        <a:rPr sz="850" b="0">
                          <a:solidFill>
                            <a:srgbClr val="4B4B4B"/>
                          </a:solidFill>
                          <a:latin typeface="Arial"/>
                        </a:rPr>
                        <a:t>FR-CL-080, FR-CL-081, FR-CL-082</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Document as received</a:t>
                      </a:r>
                    </a:p>
                  </a:txBody>
                  <a:tcPr marL="54864" marR="54864" marT="27432" marB="27432">
                    <a:solidFill>
                      <a:srgbClr val="FFFFFF"/>
                    </a:solidFill>
                  </a:tcPr>
                </a:tc>
              </a:tr>
              <a:tr h="220979">
                <a:tc>
                  <a:txBody>
                    <a:bodyPr/>
                    <a:lstStyle/>
                    <a:p>
                      <a:r>
                        <a:rPr sz="850" b="0">
                          <a:solidFill>
                            <a:srgbClr val="4B4B4B"/>
                          </a:solidFill>
                          <a:latin typeface="Arial"/>
                        </a:rPr>
                        <a:t>DO-05</a:t>
                      </a:r>
                    </a:p>
                  </a:txBody>
                  <a:tcPr marL="54864" marR="54864" marT="27432" marB="27432">
                    <a:solidFill>
                      <a:srgbClr val="E5F5FF"/>
                    </a:solidFill>
                  </a:tcPr>
                </a:tc>
                <a:tc>
                  <a:txBody>
                    <a:bodyPr/>
                    <a:lstStyle/>
                    <a:p>
                      <a:r>
                        <a:rPr sz="850" b="0">
                          <a:solidFill>
                            <a:srgbClr val="4B4B4B"/>
                          </a:solidFill>
                          <a:latin typeface="Arial"/>
                        </a:rPr>
                        <a:t>For Application To Invoice file</a:t>
                      </a:r>
                    </a:p>
                  </a:txBody>
                  <a:tcPr marL="54864" marR="54864" marT="27432" marB="27432">
                    <a:solidFill>
                      <a:srgbClr val="E5F5FF"/>
                    </a:solidFill>
                  </a:tcPr>
                </a:tc>
                <a:tc>
                  <a:txBody>
                    <a:bodyPr/>
                    <a:lstStyle/>
                    <a:p>
                      <a:r>
                        <a:rPr sz="850" b="0">
                          <a:solidFill>
                            <a:srgbClr val="4B4B4B"/>
                          </a:solidFill>
                          <a:latin typeface="Arial"/>
                        </a:rPr>
                        <a:t>17.5</a:t>
                      </a:r>
                    </a:p>
                  </a:txBody>
                  <a:tcPr marL="54864" marR="54864" marT="27432" marB="27432">
                    <a:solidFill>
                      <a:srgbClr val="E5F5FF"/>
                    </a:solidFill>
                  </a:tcPr>
                </a:tc>
                <a:tc>
                  <a:txBody>
                    <a:bodyPr/>
                    <a:lstStyle/>
                    <a:p>
                      <a:r>
                        <a:rPr sz="850" b="0">
                          <a:solidFill>
                            <a:srgbClr val="4B4B4B"/>
                          </a:solidFill>
                          <a:latin typeface="Arial"/>
                        </a:rPr>
                        <a:t>FR-CL-077</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Document as received</a:t>
                      </a:r>
                    </a:p>
                  </a:txBody>
                  <a:tcPr marL="54864" marR="54864" marT="27432" marB="27432">
                    <a:solidFill>
                      <a:srgbClr val="E5F5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UX Screen Deck BRD-4 Collections</dc:title>
  <dc:subject>BIBS – BDOI Broker System</dc:subject>
  <dc:creator>iorta TechNXT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