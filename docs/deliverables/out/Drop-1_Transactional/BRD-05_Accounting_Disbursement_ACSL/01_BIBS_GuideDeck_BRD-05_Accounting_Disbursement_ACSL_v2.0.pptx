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BRD-5 Accounting Disbursement ACSL sign-off pack, release set v2.0.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(Fri 2-Oct-2026); sessions scheduled after the BRD-4 Collections walkthroughs.</a:t>
            </a:r>
          </a:p>
          <a:p>
            <a:r>
              <a:t>2. Kick-off and screen walkthrough on SIT: 5 sessions, 25-Nov to 1-Dec-2026.</a:t>
            </a:r>
          </a:p>
          <a:p>
            <a:r>
              <a:t>3. Review with the workbook: 10 working days after the walkthroughs, until Mon 14-Dec-2026.</a:t>
            </a:r>
          </a:p>
          <a:p>
            <a:r>
              <a:t>4. Comments consolidated and a Q&amp;A session: 2 working days, Q&amp;A on Wed 16-Dec-2026.</a:t>
            </a:r>
          </a:p>
          <a:p>
            <a:r>
              <a:t>5. One revision cycle (v2.1): 2 working days, v2.1 on Fri 18-Dec-2026; check by the reviewers until Tue 22-Dec-2026.</a:t>
            </a:r>
          </a:p>
          <a:p>
            <a:r>
              <a:t>6. Sign-off meeting and signature: Wed 23-Dec-2026.</a:t>
            </a:r>
          </a:p>
          <a:p>
            <a:r>
              <a:t>7. Content freeze: From Mon 28-Dec-2026.</a:t>
            </a:r>
          </a:p>
          <a:p>
            <a:r>
              <a:t>8. Traceability into SIT and UAT: SIT Jan - Jul 2027; UAT Aug - Dec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(BRD-5 approval sheets: main BRD p.140-141 (Prepared, Input Provided, Reviewed, Approved by), Addendum 1 p.38-39 and the Workshop Addendum p.14-15).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(BRD-5 approval sheets: main BRD p.140-141 (Prepared, Input Provided, Reviewed, Approved by), Addendum 1 p.38-39 and the Workshop Addendum p.14-15).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test lead: Added for this set (author of the FRS set).</a:t>
            </a:r>
          </a:p>
          <a:p>
            <a:r>
              <a:t>Business Analysts, Enterprise Services Group - Business Project Services (BPS) (Roda Lyn D. Gallardo; Zean C. Ibay and Jane Tagle for the Workshop Addendum): Prepared by (p.140, p.38, p.14).</a:t>
            </a:r>
          </a:p>
          <a:p>
            <a:r>
              <a:t>Marketing Business Services and System Support (MBS Team) (Ma. Fides Rivera; Ruby Evangelista and Darryl Castillo for the Workshop Addendum): Input Provided by (p.140, p.38, p.14).</a:t>
            </a:r>
          </a:p>
          <a:p>
            <a:r>
              <a:t>Program Manager, Enterprise Services Group - Business Project Services (BPS) (Dan Ace R. Cauton): Reviewed by (p.140, p.38, p.15).</a:t>
            </a:r>
          </a:p>
          <a:p>
            <a:r>
              <a:t>Product Owners - Comptrollership - ACSL (Freddie A. Atanque, Jennifer T. Lugtu): Reviewed by (p.140, p.39); Input Provided by (p.14).</a:t>
            </a:r>
          </a:p>
          <a:p>
            <a:r>
              <a:t>BDOI Information Technology Group (Carmela A. Morfe, Yonille D. Guy, Abegail R. Panghulan, Nelda R. Ranchez): Reviewed by (p.38).</a:t>
            </a:r>
          </a:p>
          <a:p>
            <a:r>
              <a:t>Marketing Business Services and System Support (Rhommel Mark Galler): Reviewed by (p.15).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 Comptrollership - Disbursement (Rodrigo R. Dela Cruz): Approved by (p.140, p.39); Input Provided by (p.14).</a:t>
            </a:r>
          </a:p>
          <a:p>
            <a:r>
              <a:t>Product Owner - Comptrollership - FRBS and ACSL (Iris S. Marquez): Approved by (p.140, p.39); Input Provided by (p.14).</a:t>
            </a:r>
          </a:p>
          <a:p>
            <a:r>
              <a:t>Product Owner - Comptrollership and Operations (Perjelyn Joy R. Gutierrez): Approved by (p.141).</a:t>
            </a:r>
          </a:p>
          <a:p>
            <a:r>
              <a:t>Product Owner - Marketing, Processing and Collections, AVP (Shellah Marie C. Miranda): Approved by (p.141, p.39, p.15).</a:t>
            </a:r>
          </a:p>
          <a:p>
            <a:r>
              <a:t>Head - Comptrollership, VP (Ronald Allan E. De Leon): Approved by (p.141, p.39, p.15).</a:t>
            </a:r>
          </a:p>
          <a:p>
            <a:r>
              <a:t>Head - Institutional Banking, SM and BDO Accounts, FVP (Roderick L. Lim; Head - Retail Marketing on the Workshop Addendum): Approved by (p.141, p.39, p.15).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A change to anything in this contract is raised in the Change Management Register and assessed with the owners of the other BRD: Disbursement pays what Operations, Marketing and Comptrollership request and reports the payment back, and ACSL corrects the postings of every module, so a change of a disbursement type, a request status or an accounting rule changes what the other BRDs send or receive and is signed by both owners as a delta.</a:t>
            </a:r>
          </a:p>
          <a:p>
            <a:r>
              <a:t>IC-01 Every BIBS module (New Business, Operations, Collections, Claims, Renewal) (In): The business events that post to the ledger (bookings, receipts, remittances, adjustments, commission, vouchers, corrections) with their amounts by component</a:t>
            </a:r>
          </a:p>
          <a:p>
            <a:r>
              <a:t>IC-02 BRD-2 Operations (Remittance) (In): The remittance of an approved remittance batch to the insurer, with the CPC2 and the early-incentive service invoice, the deductions applied and the insurer's DTIP</a:t>
            </a:r>
          </a:p>
          <a:p>
            <a:r>
              <a:t>IC-03 BRD-2 Operations (Remittance, Cashiering, Adjustment) (Out): The status of each payment request (voucher created, approved, paid, returned, cancelled) and the regularisation of a cancelled approved voucher (the remittance restored, the refund put back)</a:t>
            </a:r>
          </a:p>
          <a:p>
            <a:r>
              <a:t>IC-04 BRD-2 Operations (Cashiering) (Out): The validation of the refund of a cancelled policy and the reversal of a payment application asked by ACSL</a:t>
            </a:r>
          </a:p>
          <a:p>
            <a:r>
              <a:t>IC-05 BRD-2 Operations (Remittance Deductions) (Out): The deduction of an AR insurer's refund from the next remittance of the insurer, confirmed by the ACSL Team Leader on the insurer's confirmation</a:t>
            </a:r>
          </a:p>
          <a:p>
            <a:r>
              <a:t>IC-06 BRD-2 Operations (invoice ledger) (In): The invoices with their family (root invoice), components, payments and statuses, read by the SOA reconciliation, the cases and the corrections</a:t>
            </a:r>
          </a:p>
          <a:p>
            <a:r>
              <a:t>IC-07 BRD-1 New Business (clients) (In / Out): The client of a refund and its CA / SA account; the account approved on a refund is written back to the client record</a:t>
            </a:r>
          </a:p>
          <a:p>
            <a:r>
              <a:t>IC-08 BRD-1 New Business (booking) (In): The root invoice of each booking, endorsement and cancellation, and the service invoices of the early incentive</a:t>
            </a:r>
          </a:p>
          <a:p>
            <a:r>
              <a:t>IC-09 BRD-11 User Access Maintenance and BRD-1 (lists of values) (In): The users, roles and permissions of the BRD-5 personas; the lists of values (payee classes, disbursement types, reasons, categories)</a:t>
            </a:r>
          </a:p>
          <a:p>
            <a:r>
              <a:t>IC-10 BDO bank channels (TPD / ACA, branches, BDO Business Online Banking) (Out / In): The DCTF, the ATD, MC / DD, credit ticket and TT forms and the checks; back from the bank the credited accounts, the negotiated checks and the online banking approvals</a:t>
            </a:r>
          </a:p>
          <a:p>
            <a:r>
              <a:t>IC-11 Insurers (In): The statements of account of each insurer, and the BIR 2307 certificates on commission and incentives</a:t>
            </a:r>
          </a:p>
          <a:p>
            <a:r>
              <a:t>IC-12 BDO Unibank (GARD) and the BIR (Out): The GARD statements and schedules of the report pack; the BIR returns, alphalists and books of accounts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and the approved deltas are scheduled.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Wed 25-Nov-2026</a:t>
            </a:r>
          </a:p>
          <a:p>
            <a:r>
              <a:t>Workbooks returned by Mon 14-Dec-2026; Q&amp;A on Wed 16-Dec-2026; sign-off on Wed 23-Dec-2026</a:t>
            </a:r>
          </a:p>
          <a:p>
            <a:r>
              <a:t>BRD-13 Data Migration follows (opening balances, open items and payees), then BRD-7 and BRD-8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BRD-5 Accounting Disbursement ACSL</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BRD-5 Accounting Disbursement ACSL business sign-off pack, release set v2.0</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Accounting Disbursement ACSL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51 screens, 293 fields, 98 business rules, 378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00_BIBS_StartHere_BRD-05_Accounting_Disbursement_ACSL_v2.0.docx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who signs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01_BIBS_GuideDeck_BRD-05_Accounting_Disbursement_ACSL_v2.0.pptx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and impacts on other modules, entry and exit criteria, change control</a:t>
                      </a:r>
                    </a:p>
                  </a:txBody>
                  <a:tcPr marL="73152" marR="73152" marT="36576" marB="36576">
                    <a:solidFill>
                      <a:srgbClr val="E5F5FF"/>
                    </a:solidFill>
                  </a:tcPr>
                </a:tc>
                <a:tc>
                  <a:txBody>
                    <a:bodyPr/>
                    <a:lstStyle/>
                    <a:p>
                      <a:r>
                        <a:rPr sz="1000" b="0">
                          <a:solidFill>
                            <a:srgbClr val="4B4B4B"/>
                          </a:solidFill>
                          <a:latin typeface="Arial"/>
                        </a:rPr>
                        <a:t>Head of Comptrollership, the product owners of FRBS, Disbursement, ACSL and Marketing;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02_BIBS_FRS_BRD-05_Accounting_Disbursement_ACSL_v2.0.docx</a:t>
                      </a:r>
                    </a:p>
                  </a:txBody>
                  <a:tcPr marL="73152" marR="73152" marT="36576" marB="36576">
                    <a:solidFill>
                      <a:srgbClr val="FFFFFF"/>
                    </a:solidFill>
                  </a:tcPr>
                </a:tc>
                <a:tc>
                  <a:txBody>
                    <a:bodyPr/>
                    <a:lstStyle/>
                    <a:p>
                      <a:r>
                        <a:rPr sz="1000" b="0">
                          <a:solidFill>
                            <a:srgbClr val="4B4B4B"/>
                          </a:solidFill>
                          <a:latin typeface="Arial"/>
                        </a:rPr>
                        <a:t>Functional Requirements Specification v2.0: requirements of the two former volumes in one document, navigation, 51 screen specifications with screenshots, five walkthroughs, messages, notifications, documents, upload templates, cross-BRD contract</a:t>
                      </a:r>
                    </a:p>
                  </a:txBody>
                  <a:tcPr marL="73152" marR="73152" marT="36576" marB="36576">
                    <a:solidFill>
                      <a:srgbClr val="FFFFFF"/>
                    </a:solidFill>
                  </a:tcPr>
                </a:tc>
                <a:tc>
                  <a:txBody>
                    <a:bodyPr/>
                    <a:lstStyle/>
                    <a:p>
                      <a:r>
                        <a:rPr sz="1000" b="0">
                          <a:solidFill>
                            <a:srgbClr val="4B4B4B"/>
                          </a:solidFill>
                          <a:latin typeface="Arial"/>
                        </a:rPr>
                        <a:t>The GL team, Disbursement, ACSL and the Marketing requesters for their sections; Operations and BDOI IT for their chapters</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03_BIBS_Signoff_BRD-05_Accounting_Disbursement_ACSL_v2.0.xlsx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approvers sign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04_BIBS_TestPlan_BRD-05_Accounting_Disbursement_ACSL_v2.0.xlsx</a:t>
                      </a:r>
                    </a:p>
                  </a:txBody>
                  <a:tcPr marL="73152" marR="73152" marT="36576" marB="36576">
                    <a:solidFill>
                      <a:srgbClr val="FFFFFF"/>
                    </a:solidFill>
                  </a:tcPr>
                </a:tc>
                <a:tc>
                  <a:txBody>
                    <a:bodyPr/>
                    <a:lstStyle/>
                    <a:p>
                      <a:r>
                        <a:rPr sz="1000" b="0">
                          <a:solidFill>
                            <a:srgbClr val="4B4B4B"/>
                          </a:solidFill>
                          <a:latin typeface="Arial"/>
                        </a:rPr>
                        <a:t>Test plan workbook: the test cases of both former volumes traced to the FRs and to the screens, including one screen case and one message case per screen</a:t>
                      </a:r>
                    </a:p>
                  </a:txBody>
                  <a:tcPr marL="73152" marR="73152" marT="36576" marB="36576">
                    <a:solidFill>
                      <a:srgbClr val="FFFFFF"/>
                    </a:solidFill>
                  </a:tcPr>
                </a:tc>
                <a:tc>
                  <a:txBody>
                    <a:bodyPr/>
                    <a:lstStyle/>
                    <a:p>
                      <a:r>
                        <a:rPr sz="1000" b="0">
                          <a:solidFill>
                            <a:srgbClr val="4B4B4B"/>
                          </a:solidFill>
                          <a:latin typeface="Arial"/>
                        </a:rPr>
                        <a:t>Business users who will run UAT;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182880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05_BIBS_TestPlan_BRD-05_Accounting_Disbursement_ACSL_Summary_v2.0.docx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Product owners,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07_BIBS_UXDeck_BRD-05_Accounting_Disbursement_ACSL_v2.0.pptx</a:t>
                      </a:r>
                    </a:p>
                  </a:txBody>
                  <a:tcPr marL="73152" marR="73152" marT="36576" marB="36576">
                    <a:solidFill>
                      <a:srgbClr val="E5F5FF"/>
                    </a:solidFill>
                  </a:tcPr>
                </a:tc>
                <a:tc>
                  <a:txBody>
                    <a:bodyPr/>
                    <a:lstStyle/>
                    <a:p>
                      <a:r>
                        <a:rPr sz="1000" b="0">
                          <a:solidFill>
                            <a:srgbClr val="4B4B4B"/>
                          </a:solidFill>
                          <a:latin typeface="Arial"/>
                        </a:rPr>
                        <a:t>UX Screen Deck for the BDOI UX Design team: design foundation, navigation and personas, every walkthrough step by step and every screen with all its states</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E5F5FF"/>
                    </a:solidFill>
                  </a:tcPr>
                </a:tc>
              </a:tr>
              <a:tr h="365760">
                <a:tc>
                  <a:txBody>
                    <a:bodyPr/>
                    <a:lstStyle/>
                    <a:p>
                      <a:r>
                        <a:rPr sz="1000" b="0">
                          <a:solidFill>
                            <a:srgbClr val="4B4B4B"/>
                          </a:solidFill>
                          <a:latin typeface="Arial"/>
                        </a:rPr>
                        <a:t>08_BIBS_UXScreens_BRD-05_Accounting_Disbursement_ACSL_v2.0.xlsx</a:t>
                      </a:r>
                    </a:p>
                  </a:txBody>
                  <a:tcPr marL="73152" marR="73152" marT="36576" marB="36576">
                    <a:solidFill>
                      <a:srgbClr val="FFFFFF"/>
                    </a:solidFill>
                  </a:tcPr>
                </a:tc>
                <a:tc>
                  <a:txBody>
                    <a:bodyPr/>
                    <a:lstStyle/>
                    <a:p>
                      <a:r>
                        <a:rPr sz="1000" b="0">
                          <a:solidFill>
                            <a:srgbClr val="4B4B4B"/>
                          </a:solidFill>
                          <a:latin typeface="Arial"/>
                        </a:rPr>
                        <a:t>UX screen register: one row per screen image with the screen, personas, walkthrough and step, state, FRS section and requirements, UXD status and comments, and the Changed in this issue flag</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FFFFFF"/>
                    </a:solidFill>
                  </a:tcPr>
                </a:tc>
              </a:tr>
              <a:tr h="365760">
                <a:tc>
                  <a:txBody>
                    <a:bodyPr/>
                    <a:lstStyle/>
                    <a:p>
                      <a:r>
                        <a:rPr sz="1000" b="0">
                          <a:solidFill>
                            <a:srgbClr val="4B4B4B"/>
                          </a:solidFill>
                          <a:latin typeface="Arial"/>
                        </a:rPr>
                        <a:t>09_BIBS_UXScreens_BRD-05_Accounting_Disbursement_ACSL_v2.0.zip</a:t>
                      </a:r>
                    </a:p>
                  </a:txBody>
                  <a:tcPr marL="73152" marR="73152" marT="36576" marB="36576">
                    <a:solidFill>
                      <a:srgbClr val="E5F5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Imported into the design tool at each issue</a:t>
                      </a:r>
                    </a:p>
                  </a:txBody>
                  <a:tcPr marL="73152" marR="73152" marT="36576" marB="36576">
                    <a:solidFill>
                      <a:srgbClr val="E5F5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402336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Approvers (Head of Comptrollership; product owners of FRBS and ACSL, Disbursement, Comptrollership and Operations, Marketing)</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14 (walkthroughs), 20 (sign-off) and 21 (proposed rules for confirmation); workbook Sign-off certificate</a:t>
                      </a:r>
                    </a:p>
                  </a:txBody>
                  <a:tcPr marL="73152" marR="73152" marT="36576" marB="36576">
                    <a:solidFill>
                      <a:srgbClr val="FFFFFF"/>
                    </a:solidFill>
                  </a:tcPr>
                </a:tc>
              </a:tr>
              <a:tr h="365760">
                <a:tc>
                  <a:txBody>
                    <a:bodyPr/>
                    <a:lstStyle/>
                    <a:p>
                      <a:r>
                        <a:rPr sz="1100" b="0">
                          <a:solidFill>
                            <a:srgbClr val="4B4B4B"/>
                          </a:solidFill>
                          <a:latin typeface="Arial"/>
                        </a:rPr>
                        <a:t>GL team (GL Officers, GL Team Lead, GL Section Head)</a:t>
                      </a:r>
                    </a:p>
                  </a:txBody>
                  <a:tcPr marL="73152" marR="73152" marT="36576" marB="36576">
                    <a:solidFill>
                      <a:srgbClr val="E5F5FF"/>
                    </a:solidFill>
                  </a:tcPr>
                </a:tc>
                <a:tc>
                  <a:txBody>
                    <a:bodyPr/>
                    <a:lstStyle/>
                    <a:p>
                      <a:r>
                        <a:rPr sz="1100" b="0">
                          <a:solidFill>
                            <a:srgbClr val="4B4B4B"/>
                          </a:solidFill>
                          <a:latin typeface="Arial"/>
                        </a:rPr>
                        <a:t>FRS sections 4.1 to 4.10; the screens SCR-AC-01 to 24 of chapter 13; walkthroughs A and D; messages in chapter 15; configuration in chapter 9</a:t>
                      </a:r>
                    </a:p>
                  </a:txBody>
                  <a:tcPr marL="73152" marR="73152" marT="36576" marB="36576">
                    <a:solidFill>
                      <a:srgbClr val="E5F5FF"/>
                    </a:solidFill>
                  </a:tcPr>
                </a:tc>
              </a:tr>
              <a:tr h="365760">
                <a:tc>
                  <a:txBody>
                    <a:bodyPr/>
                    <a:lstStyle/>
                    <a:p>
                      <a:r>
                        <a:rPr sz="1100" b="0">
                          <a:solidFill>
                            <a:srgbClr val="4B4B4B"/>
                          </a:solidFill>
                          <a:latin typeface="Arial"/>
                        </a:rPr>
                        <a:t>Disbursement (Processors, Team Leaders, Approvers)</a:t>
                      </a:r>
                    </a:p>
                  </a:txBody>
                  <a:tcPr marL="73152" marR="73152" marT="36576" marB="36576">
                    <a:solidFill>
                      <a:srgbClr val="FFFFFF"/>
                    </a:solidFill>
                  </a:tcPr>
                </a:tc>
                <a:tc>
                  <a:txBody>
                    <a:bodyPr/>
                    <a:lstStyle/>
                    <a:p>
                      <a:r>
                        <a:rPr sz="1100" b="0">
                          <a:solidFill>
                            <a:srgbClr val="4B4B4B"/>
                          </a:solidFill>
                          <a:latin typeface="Arial"/>
                        </a:rPr>
                        <a:t>FRS section 4.11; the screens SCR-AC-25 to 38; walkthroughs B and E; the documents DO-01 to DO-03 and DO-05 in chapter 17; the upload templates in chapter 18</a:t>
                      </a:r>
                    </a:p>
                  </a:txBody>
                  <a:tcPr marL="73152" marR="73152" marT="36576" marB="36576">
                    <a:solidFill>
                      <a:srgbClr val="FFFFFF"/>
                    </a:solidFill>
                  </a:tcPr>
                </a:tc>
              </a:tr>
              <a:tr h="365760">
                <a:tc>
                  <a:txBody>
                    <a:bodyPr/>
                    <a:lstStyle/>
                    <a:p>
                      <a:r>
                        <a:rPr sz="1100" b="0">
                          <a:solidFill>
                            <a:srgbClr val="4B4B4B"/>
                          </a:solidFill>
                          <a:latin typeface="Arial"/>
                        </a:rPr>
                        <a:t>Marketing (Processors, Reviewers, Approvers) and Human Resources</a:t>
                      </a:r>
                    </a:p>
                  </a:txBody>
                  <a:tcPr marL="73152" marR="73152" marT="36576" marB="36576">
                    <a:solidFill>
                      <a:srgbClr val="E5F5FF"/>
                    </a:solidFill>
                  </a:tcPr>
                </a:tc>
                <a:tc>
                  <a:txBody>
                    <a:bodyPr/>
                    <a:lstStyle/>
                    <a:p>
                      <a:r>
                        <a:rPr sz="1100" b="0">
                          <a:solidFill>
                            <a:srgbClr val="4B4B4B"/>
                          </a:solidFill>
                          <a:latin typeface="Arial"/>
                        </a:rPr>
                        <a:t>FRS section 4.12; the screens SCR-AC-39 to 44; walkthrough B (steps 1 to 4 and 8) and E; the Refund Request Form DO-04</a:t>
                      </a:r>
                    </a:p>
                  </a:txBody>
                  <a:tcPr marL="73152" marR="73152" marT="36576" marB="36576">
                    <a:solidFill>
                      <a:srgbClr val="E5F5FF"/>
                    </a:solidFill>
                  </a:tcPr>
                </a:tc>
              </a:tr>
              <a:tr h="365760">
                <a:tc>
                  <a:txBody>
                    <a:bodyPr/>
                    <a:lstStyle/>
                    <a:p>
                      <a:r>
                        <a:rPr sz="1100" b="0">
                          <a:solidFill>
                            <a:srgbClr val="4B4B4B"/>
                          </a:solidFill>
                          <a:latin typeface="Arial"/>
                        </a:rPr>
                        <a:t>ACSL (Processors, Team Leader, Head)</a:t>
                      </a:r>
                    </a:p>
                  </a:txBody>
                  <a:tcPr marL="73152" marR="73152" marT="36576" marB="36576">
                    <a:solidFill>
                      <a:srgbClr val="FFFFFF"/>
                    </a:solidFill>
                  </a:tcPr>
                </a:tc>
                <a:tc>
                  <a:txBody>
                    <a:bodyPr/>
                    <a:lstStyle/>
                    <a:p>
                      <a:r>
                        <a:rPr sz="1100" b="0">
                          <a:solidFill>
                            <a:srgbClr val="4B4B4B"/>
                          </a:solidFill>
                          <a:latin typeface="Arial"/>
                        </a:rPr>
                        <a:t>FRS section 4.13; the screens SCR-AC-45 to 51; walkthrough C; the reconciliation report DO-06</a:t>
                      </a:r>
                    </a:p>
                  </a:txBody>
                  <a:tcPr marL="73152" marR="73152" marT="36576" marB="36576">
                    <a:solidFill>
                      <a:srgbClr val="FFFFFF"/>
                    </a:solidFill>
                  </a:tcPr>
                </a:tc>
              </a:tr>
              <a:tr h="365760">
                <a:tc>
                  <a:txBody>
                    <a:bodyPr/>
                    <a:lstStyle/>
                    <a:p>
                      <a:r>
                        <a:rPr sz="1100" b="0">
                          <a:solidFill>
                            <a:srgbClr val="4B4B4B"/>
                          </a:solidFill>
                          <a:latin typeface="Arial"/>
                        </a:rPr>
                        <a:t>Operations (Cashiering and Remittance, BRD-2)</a:t>
                      </a:r>
                    </a:p>
                  </a:txBody>
                  <a:tcPr marL="73152" marR="73152" marT="36576" marB="36576">
                    <a:solidFill>
                      <a:srgbClr val="E5F5FF"/>
                    </a:solidFill>
                  </a:tcPr>
                </a:tc>
                <a:tc>
                  <a:txBody>
                    <a:bodyPr/>
                    <a:lstStyle/>
                    <a:p>
                      <a:r>
                        <a:rPr sz="1100" b="0">
                          <a:solidFill>
                            <a:srgbClr val="4B4B4B"/>
                          </a:solidFill>
                          <a:latin typeface="Arial"/>
                        </a:rPr>
                        <a:t>The hand-offs of chapter 19 (remittance payments, refund validations, payment reversals, remittance deductions); walkthrough B; FRS sections 4.11 and 4.13</a:t>
                      </a:r>
                    </a:p>
                  </a:txBody>
                  <a:tcPr marL="73152" marR="73152" marT="36576" marB="36576">
                    <a:solidFill>
                      <a:srgbClr val="E5F5FF"/>
                    </a:solidFill>
                  </a:tcPr>
                </a:tc>
              </a:tr>
              <a:tr h="365760">
                <a:tc>
                  <a:txBody>
                    <a:bodyPr/>
                    <a:lstStyle/>
                    <a:p>
                      <a:r>
                        <a:rPr sz="1100" b="0">
                          <a:solidFill>
                            <a:srgbClr val="4B4B4B"/>
                          </a:solidFill>
                          <a:latin typeface="Arial"/>
                        </a:rPr>
                        <a:t>Business and System Administrators</a:t>
                      </a:r>
                    </a:p>
                  </a:txBody>
                  <a:tcPr marL="73152" marR="73152" marT="36576" marB="36576">
                    <a:solidFill>
                      <a:srgbClr val="FFFFFF"/>
                    </a:solidFill>
                  </a:tcPr>
                </a:tc>
                <a:tc>
                  <a:txBody>
                    <a:bodyPr/>
                    <a:lstStyle/>
                    <a:p>
                      <a:r>
                        <a:rPr sz="1100" b="0">
                          <a:solidFill>
                            <a:srgbClr val="4B4B4B"/>
                          </a:solidFill>
                          <a:latin typeface="Arial"/>
                        </a:rPr>
                        <a:t>FRS section 4.10 (administration) and configuration in chapter 9; the lists of values and access screens of the BRD-1 and BRD-11 sets; Menu by persona in chapter 12</a:t>
                      </a:r>
                    </a:p>
                  </a:txBody>
                  <a:tcPr marL="73152" marR="73152" marT="36576" marB="36576">
                    <a:solidFill>
                      <a:srgbClr val="FFFFFF"/>
                    </a:solidFill>
                  </a:tcPr>
                </a:tc>
              </a:tr>
              <a:tr h="365760">
                <a:tc>
                  <a:txBody>
                    <a:bodyPr/>
                    <a:lstStyle/>
                    <a:p>
                      <a:r>
                        <a:rPr sz="1100" b="0">
                          <a:solidFill>
                            <a:srgbClr val="4B4B4B"/>
                          </a:solidFill>
                          <a:latin typeface="Arial"/>
                        </a:rPr>
                        <a:t>BDOI IT</a:t>
                      </a:r>
                    </a:p>
                  </a:txBody>
                  <a:tcPr marL="73152" marR="73152" marT="36576" marB="36576">
                    <a:solidFill>
                      <a:srgbClr val="E5F5FF"/>
                    </a:solidFill>
                  </a:tcPr>
                </a:tc>
                <a:tc>
                  <a:txBody>
                    <a:bodyPr/>
                    <a:lstStyle/>
                    <a:p>
                      <a:r>
                        <a:rPr sz="1100" b="0">
                          <a:solidFill>
                            <a:srgbClr val="4B4B4B"/>
                          </a:solidFill>
                          <a:latin typeface="Arial"/>
                        </a:rPr>
                        <a:t>Interfaces and integration (chapter 7), non-functional requirements (chapter 8), configuration and jobs (chapter 9), cross-BRD contract (chapter 19), the bank files of chapter 17; the Technical Specification, reviewed by BDOI IT</a:t>
                      </a:r>
                    </a:p>
                  </a:txBody>
                  <a:tcPr marL="73152" marR="73152" marT="36576" marB="36576">
                    <a:solidFill>
                      <a:srgbClr val="E5F5FF"/>
                    </a:solidFill>
                  </a:tcPr>
                </a:tc>
              </a:tr>
              <a:tr h="365760">
                <a:tc>
                  <a:txBody>
                    <a:bodyPr/>
                    <a:lstStyle/>
                    <a:p>
                      <a:r>
                        <a:rPr sz="1100" b="0">
                          <a:solidFill>
                            <a:srgbClr val="4B4B4B"/>
                          </a:solidFill>
                          <a:latin typeface="Arial"/>
                        </a:rPr>
                        <a:t>BDOI UX Design team</a:t>
                      </a:r>
                    </a:p>
                  </a:txBody>
                  <a:tcPr marL="73152" marR="73152" marT="36576" marB="36576">
                    <a:solidFill>
                      <a:srgbClr val="FFFFFF"/>
                    </a:solidFill>
                  </a:tcPr>
                </a:tc>
                <a:tc>
                  <a:txBody>
                    <a:bodyPr/>
                    <a:lstStyle/>
                    <a:p>
                      <a:r>
                        <a:rPr sz="1100" b="0">
                          <a:solidFill>
                            <a:srgbClr val="4B4B4B"/>
                          </a:solidFill>
                          <a:latin typeface="Arial"/>
                        </a:rPr>
                        <a:t>07 UX Screen Deck: design foundation and navigation first, then the personas, walkthroughs and screens of the design work; 08 UX screen register (filter Changed in this issue at each new issue); 09 image package in the design tool</a:t>
                      </a:r>
                    </a:p>
                  </a:txBody>
                  <a:tcPr marL="73152" marR="73152" marT="36576" marB="36576">
                    <a:solidFill>
                      <a:srgbClr val="FFFFFF"/>
                    </a:solidFill>
                  </a:tcPr>
                </a:tc>
              </a:tr>
              <a:tr h="365760">
                <a:tc>
                  <a:txBody>
                    <a:bodyPr/>
                    <a:lstStyle/>
                    <a:p>
                      <a:r>
                        <a:rPr sz="1100" b="0">
                          <a:solidFill>
                            <a:srgbClr val="4B4B4B"/>
                          </a:solidFill>
                          <a:latin typeface="Arial"/>
                        </a:rPr>
                        <a:t>iorta TechNXT project team</a:t>
                      </a:r>
                    </a:p>
                  </a:txBody>
                  <a:tcPr marL="73152" marR="73152" marT="36576" marB="36576">
                    <a:solidFill>
                      <a:srgbClr val="E5F5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E5F5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v2.0 in the BRD-05 folder;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(Fri 2-Oct-2026); sessions scheduled after the BRD-4 Collections walkthroughs</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(general ledger and closing, reports and service fee, Disbursement, the Marketing requests, ACSL);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5 sessions, 25-Nov to 1-Dec-2026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10 working days after the walkthroughs, until Mon 14-Dec-2026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2 working days, Q&amp;A on Wed 16-Dec-2026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(v2.1)</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v2.1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2 working days, v2.1 on Fri 18-Dec-2026; check by the reviewers until Tue 22-Dec-2026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Wed 23-Dec-2026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Mon 28-Dec-2026</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and messages;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Jan - Jul 2027; UAT Aug - Dec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v2.0, workbook, test plan, guide and deck</a:t>
                      </a:r>
                    </a:p>
                  </a:txBody>
                  <a:tcPr marL="73152" marR="73152" marT="36576" marB="36576">
                    <a:solidFill>
                      <a:srgbClr val="FFFFFF"/>
                    </a:solidFill>
                  </a:tcPr>
                </a:tc>
                <a:tc>
                  <a:txBody>
                    <a:bodyPr/>
                    <a:lstStyle/>
                    <a:p>
                      <a:r>
                        <a:rPr sz="1000" b="0">
                          <a:solidFill>
                            <a:srgbClr val="4B4B4B"/>
                          </a:solidFill>
                          <a:latin typeface="Arial"/>
                        </a:rPr>
                        <a:t>Release set v2.0 in the BRD-05 folder; invitations to the sessions</a:t>
                      </a:r>
                    </a:p>
                  </a:txBody>
                  <a:tcPr marL="73152" marR="73152" marT="36576" marB="36576">
                    <a:solidFill>
                      <a:srgbClr val="FFFFFF"/>
                    </a:solidFill>
                  </a:tcPr>
                </a:tc>
                <a:tc>
                  <a:txBody>
                    <a:bodyPr/>
                    <a:lstStyle/>
                    <a:p>
                      <a:r>
                        <a:rPr sz="1000" b="0">
                          <a:solidFill>
                            <a:srgbClr val="4B4B4B"/>
                          </a:solidFill>
                          <a:latin typeface="Arial"/>
                        </a:rPr>
                        <a:t>Day 0 (Fri 2-Oct-2026); sessions scheduled after the BRD-4 Collections walkthroughs</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Head of Comptrollership; C: product owners of FRBS, ACSL, Disbursement and Marketing; I: Operations, BDOI IT</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to E</a:t>
                      </a:r>
                    </a:p>
                  </a:txBody>
                  <a:tcPr marL="73152" marR="73152" marT="36576" marB="36576">
                    <a:solidFill>
                      <a:srgbClr val="E5F5FF"/>
                    </a:solidFill>
                  </a:tcPr>
                </a:tc>
                <a:tc>
                  <a:txBody>
                    <a:bodyPr/>
                    <a:lstStyle/>
                    <a:p>
                      <a:r>
                        <a:rPr sz="1000" b="0">
                          <a:solidFill>
                            <a:srgbClr val="4B4B4B"/>
                          </a:solidFill>
                          <a:latin typeface="Arial"/>
                        </a:rPr>
                        <a:t>Screens shown live (general ledger and closing, reports and service fee, Disbursement, the Marketing requests, ACSL);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5 sessions, 25-Nov to 1-Dec-2026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a:t>
                      </a:r>
                    </a:p>
                  </a:txBody>
                  <a:tcPr marL="73152" marR="73152" marT="36576" marB="36576">
                    <a:solidFill>
                      <a:srgbClr val="FFFFFF"/>
                    </a:solidFill>
                  </a:tcPr>
                </a:tc>
                <a:tc>
                  <a:txBody>
                    <a:bodyPr/>
                    <a:lstStyle/>
                    <a:p>
                      <a:r>
                        <a:rPr sz="1000" b="0">
                          <a:solidFill>
                            <a:srgbClr val="4B4B4B"/>
                          </a:solidFill>
                          <a:latin typeface="Arial"/>
                        </a:rPr>
                        <a:t>R: GL team, Disbursement, ACSL and Marketing reviewers; A: the product owners;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a:t>
                      </a:r>
                    </a:p>
                  </a:txBody>
                  <a:tcPr marL="73152" marR="73152" marT="36576" marB="36576">
                    <a:solidFill>
                      <a:srgbClr val="FFFFFF"/>
                    </a:solidFill>
                  </a:tcPr>
                </a:tc>
                <a:tc>
                  <a:txBody>
                    <a:bodyPr/>
                    <a:lstStyle/>
                    <a:p>
                      <a:r>
                        <a:rPr sz="1000" b="0">
                          <a:solidFill>
                            <a:srgbClr val="4B4B4B"/>
                          </a:solidFill>
                          <a:latin typeface="Arial"/>
                        </a:rPr>
                        <a:t>10 working days after the walkthroughs, until Mon 14-Dec-2026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Head of Comptrollership;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2 working days, Q&amp;A on Wed 16-Dec-2026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(v2.1)</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v2.1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2 working days, v2.1 on Fri 18-Dec-2026; check by the reviewers until Tue 22-Dec-2026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Head of Comptrollership; C: the product owners, BDOI IT, Business Project Services</a:t>
                      </a:r>
                    </a:p>
                  </a:txBody>
                  <a:tcPr marL="73152" marR="73152" marT="36576" marB="36576">
                    <a:solidFill>
                      <a:srgbClr val="E5F5FF"/>
                    </a:solidFill>
                  </a:tcPr>
                </a:tc>
                <a:tc>
                  <a:txBody>
                    <a:bodyPr/>
                    <a:lstStyle/>
                    <a:p>
                      <a:r>
                        <a:rPr sz="1000" b="0">
                          <a:solidFill>
                            <a:srgbClr val="4B4B4B"/>
                          </a:solidFill>
                          <a:latin typeface="Arial"/>
                        </a:rPr>
                        <a:t>v2.1 (or v2.0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Wed 23-Dec-2026</a:t>
                      </a:r>
                    </a:p>
                  </a:txBody>
                  <a:tcPr marL="73152" marR="73152" marT="36576" marB="36576">
                    <a:solidFill>
                      <a:srgbClr val="E5F5FF"/>
                    </a:solidFill>
                  </a:tcPr>
                </a:tc>
              </a:tr>
              <a:tr h="365760">
                <a:tc>
                  <a:txBody>
                    <a:bodyPr/>
                    <a:lstStyle/>
                    <a:p>
                      <a:r>
                        <a:rPr sz="1000" b="0">
                          <a:solidFill>
                            <a:srgbClr val="4B4B4B"/>
                          </a:solidFill>
                          <a:latin typeface="Arial"/>
                        </a:rPr>
                        <a:t>7. Content freeze</a:t>
                      </a:r>
                    </a:p>
                  </a:txBody>
                  <a:tcPr marL="73152" marR="73152" marT="36576" marB="36576">
                    <a:solidFill>
                      <a:srgbClr val="FFFFFF"/>
                    </a:solidFill>
                  </a:tcPr>
                </a:tc>
                <a:tc>
                  <a:txBody>
                    <a:bodyPr/>
                    <a:lstStyle/>
                    <a:p>
                      <a:r>
                        <a:rPr sz="1000" b="0">
                          <a:solidFill>
                            <a:srgbClr val="4B4B4B"/>
                          </a:solidFill>
                          <a:latin typeface="Arial"/>
                        </a:rPr>
                        <a:t>R: iorta TechNXT delivery lead; A: Head of Comptrollership; I: BDOI IT, other BRD owners</a:t>
                      </a:r>
                    </a:p>
                  </a:txBody>
                  <a:tcPr marL="73152" marR="73152" marT="36576" marB="36576">
                    <a:solidFill>
                      <a:srgbClr val="FFFFFF"/>
                    </a:solidFill>
                  </a:tcPr>
                </a:tc>
                <a:tc>
                  <a:txBody>
                    <a:bodyPr/>
                    <a:lstStyle/>
                    <a:p>
                      <a:r>
                        <a:rPr sz="1000" b="0">
                          <a:solidFill>
                            <a:srgbClr val="4B4B4B"/>
                          </a:solidFill>
                          <a:latin typeface="Arial"/>
                        </a:rPr>
                        <a:t>Signed set; change requests with mandays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a:t>
                      </a:r>
                    </a:p>
                  </a:txBody>
                  <a:tcPr marL="73152" marR="73152" marT="36576" marB="36576">
                    <a:solidFill>
                      <a:srgbClr val="FFFFFF"/>
                    </a:solidFill>
                  </a:tcPr>
                </a:tc>
                <a:tc>
                  <a:txBody>
                    <a:bodyPr/>
                    <a:lstStyle/>
                    <a:p>
                      <a:r>
                        <a:rPr sz="1000" b="0">
                          <a:solidFill>
                            <a:srgbClr val="4B4B4B"/>
                          </a:solidFill>
                          <a:latin typeface="Arial"/>
                        </a:rPr>
                        <a:t>From Mon 28-Dec-2026</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Head of Comptrollership; C: business users</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and messages; results against each row</a:t>
                      </a:r>
                    </a:p>
                  </a:txBody>
                  <a:tcPr marL="73152" marR="73152" marT="36576" marB="36576">
                    <a:solidFill>
                      <a:srgbClr val="E5F5FF"/>
                    </a:solidFill>
                  </a:tcPr>
                </a:tc>
                <a:tc>
                  <a:txBody>
                    <a:bodyPr/>
                    <a:lstStyle/>
                    <a:p>
                      <a:r>
                        <a:rPr sz="1000" b="0">
                          <a:solidFill>
                            <a:srgbClr val="4B4B4B"/>
                          </a:solidFill>
                          <a:latin typeface="Arial"/>
                        </a:rPr>
                        <a:t>SIT Jan - Jul 2027; UAT Aug - Dec 2027</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92608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General ledger, closing, bank reconciliation and report screens (FRS sections 4.1-4.10, screens SCR-AC-01 to 24)</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a:t>
                      </a:r>
                    </a:p>
                  </a:txBody>
                  <a:tcPr marL="73152" marR="73152" marT="36576" marB="36576">
                    <a:solidFill>
                      <a:srgbClr val="FFFFFF"/>
                    </a:solidFill>
                  </a:tcPr>
                </a:tc>
                <a:tc>
                  <a:txBody>
                    <a:bodyPr/>
                    <a:lstStyle/>
                    <a:p>
                      <a:r>
                        <a:rPr sz="900" b="0">
                          <a:solidFill>
                            <a:srgbClr val="4B4B4B"/>
                          </a:solidFill>
                          <a:latin typeface="Arial"/>
                        </a:rPr>
                        <a:t>Program Manager (BPS), ACSL product owners</a:t>
                      </a:r>
                    </a:p>
                  </a:txBody>
                  <a:tcPr marL="73152" marR="73152" marT="36576" marB="36576">
                    <a:solidFill>
                      <a:srgbClr val="FFFFFF"/>
                    </a:solidFill>
                  </a:tcPr>
                </a:tc>
                <a:tc>
                  <a:txBody>
                    <a:bodyPr/>
                    <a:lstStyle/>
                    <a:p>
                      <a:r>
                        <a:rPr sz="900" b="0">
                          <a:solidFill>
                            <a:srgbClr val="4B4B4B"/>
                          </a:solidFill>
                          <a:latin typeface="Arial"/>
                        </a:rPr>
                        <a:t>FRBS and ACSL PO, Head - Comptrollership</a:t>
                      </a:r>
                    </a:p>
                  </a:txBody>
                  <a:tcPr marL="73152" marR="73152" marT="36576" marB="36576">
                    <a:solidFill>
                      <a:srgbClr val="FFFFFF"/>
                    </a:solidFill>
                  </a:tcPr>
                </a:tc>
              </a:tr>
              <a:tr h="365760">
                <a:tc>
                  <a:txBody>
                    <a:bodyPr/>
                    <a:lstStyle/>
                    <a:p>
                      <a:r>
                        <a:rPr sz="900" b="0">
                          <a:solidFill>
                            <a:srgbClr val="4B4B4B"/>
                          </a:solidFill>
                          <a:latin typeface="Arial"/>
                        </a:rPr>
                        <a:t>Disbursement screens, fields, documents and bank files (FRS section 4.11, screens SCR-AC-25 to 38)</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BA (BPS)</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Disbursement PO, Head - Comptrollership</a:t>
                      </a:r>
                    </a:p>
                  </a:txBody>
                  <a:tcPr marL="73152" marR="73152" marT="36576" marB="36576">
                    <a:solidFill>
                      <a:srgbClr val="E5F5FF"/>
                    </a:solidFill>
                  </a:tcPr>
                </a:tc>
              </a:tr>
              <a:tr h="365760">
                <a:tc>
                  <a:txBody>
                    <a:bodyPr/>
                    <a:lstStyle/>
                    <a:p>
                      <a:r>
                        <a:rPr sz="900" b="0">
                          <a:solidFill>
                            <a:srgbClr val="4B4B4B"/>
                          </a:solidFill>
                          <a:latin typeface="Arial"/>
                        </a:rPr>
                        <a:t>Marketing refund and cash-advance requests (FRS section 4.12, screens SCR-AC-39 to 44)</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Program Manager (BPS), MBS review</a:t>
                      </a:r>
                    </a:p>
                  </a:txBody>
                  <a:tcPr marL="73152" marR="73152" marT="36576" marB="36576">
                    <a:solidFill>
                      <a:srgbClr val="FFFFFF"/>
                    </a:solidFill>
                  </a:tcPr>
                </a:tc>
                <a:tc>
                  <a:txBody>
                    <a:bodyPr/>
                    <a:lstStyle/>
                    <a:p>
                      <a:r>
                        <a:rPr sz="900" b="0">
                          <a:solidFill>
                            <a:srgbClr val="4B4B4B"/>
                          </a:solidFill>
                          <a:latin typeface="Arial"/>
                        </a:rPr>
                        <a:t>Product Owner (Marketing), Marketing head</a:t>
                      </a:r>
                    </a:p>
                  </a:txBody>
                  <a:tcPr marL="73152" marR="73152" marT="36576" marB="36576">
                    <a:solidFill>
                      <a:srgbClr val="FFFFFF"/>
                    </a:solidFill>
                  </a:tcPr>
                </a:tc>
              </a:tr>
              <a:tr h="365760">
                <a:tc>
                  <a:txBody>
                    <a:bodyPr/>
                    <a:lstStyle/>
                    <a:p>
                      <a:r>
                        <a:rPr sz="900" b="0">
                          <a:solidFill>
                            <a:srgbClr val="4B4B4B"/>
                          </a:solidFill>
                          <a:latin typeface="Arial"/>
                        </a:rPr>
                        <a:t>ACSL screens, reconciliations, cases and corrections (FRS section 4.13, screens SCR-AC-45 to 51)</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BA (BPS)</a:t>
                      </a:r>
                    </a:p>
                  </a:txBody>
                  <a:tcPr marL="73152" marR="73152" marT="36576" marB="36576">
                    <a:solidFill>
                      <a:srgbClr val="E5F5FF"/>
                    </a:solidFill>
                  </a:tcPr>
                </a:tc>
                <a:tc>
                  <a:txBody>
                    <a:bodyPr/>
                    <a:lstStyle/>
                    <a:p>
                      <a:r>
                        <a:rPr sz="900" b="0">
                          <a:solidFill>
                            <a:srgbClr val="4B4B4B"/>
                          </a:solidFill>
                          <a:latin typeface="Arial"/>
                        </a:rPr>
                        <a:t>Program Manager (BPS), ACSL product owners</a:t>
                      </a:r>
                    </a:p>
                  </a:txBody>
                  <a:tcPr marL="73152" marR="73152" marT="36576" marB="36576">
                    <a:solidFill>
                      <a:srgbClr val="E5F5FF"/>
                    </a:solidFill>
                  </a:tcPr>
                </a:tc>
                <a:tc>
                  <a:txBody>
                    <a:bodyPr/>
                    <a:lstStyle/>
                    <a:p>
                      <a:r>
                        <a:rPr sz="900" b="0">
                          <a:solidFill>
                            <a:srgbClr val="4B4B4B"/>
                          </a:solidFill>
                          <a:latin typeface="Arial"/>
                        </a:rPr>
                        <a:t>FRBS and ACSL PO, Head - Comptrollership</a:t>
                      </a:r>
                    </a:p>
                  </a:txBody>
                  <a:tcPr marL="73152" marR="73152" marT="36576" marB="36576">
                    <a:solidFill>
                      <a:srgbClr val="E5F5FF"/>
                    </a:solidFill>
                  </a:tcPr>
                </a:tc>
              </a:tr>
              <a:tr h="365760">
                <a:tc>
                  <a:txBody>
                    <a:bodyPr/>
                    <a:lstStyle/>
                    <a:p>
                      <a:r>
                        <a:rPr sz="900" b="0">
                          <a:solidFill>
                            <a:srgbClr val="4B4B4B"/>
                          </a:solidFill>
                          <a:latin typeface="Arial"/>
                        </a:rPr>
                        <a:t>Business rules, validations and the accounting entries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 MBS input</a:t>
                      </a:r>
                    </a:p>
                  </a:txBody>
                  <a:tcPr marL="73152" marR="73152" marT="36576" marB="36576">
                    <a:solidFill>
                      <a:srgbClr val="FFFFFF"/>
                    </a:solidFill>
                  </a:tcPr>
                </a:tc>
                <a:tc>
                  <a:txBody>
                    <a:bodyPr/>
                    <a:lstStyle/>
                    <a:p>
                      <a:r>
                        <a:rPr sz="900" b="0">
                          <a:solidFill>
                            <a:srgbClr val="4B4B4B"/>
                          </a:solidFill>
                          <a:latin typeface="Arial"/>
                        </a:rPr>
                        <a:t>Program Manager (BPS), ACSL product owners</a:t>
                      </a:r>
                    </a:p>
                  </a:txBody>
                  <a:tcPr marL="73152" marR="73152" marT="36576" marB="36576">
                    <a:solidFill>
                      <a:srgbClr val="FFFFFF"/>
                    </a:solidFill>
                  </a:tcPr>
                </a:tc>
                <a:tc>
                  <a:txBody>
                    <a:bodyPr/>
                    <a:lstStyle/>
                    <a:p>
                      <a:r>
                        <a:rPr sz="900" b="0">
                          <a:solidFill>
                            <a:srgbClr val="4B4B4B"/>
                          </a:solidFill>
                          <a:latin typeface="Arial"/>
                        </a:rPr>
                        <a:t>Head - Comptrollership, FRBS and ACSL PO, Disbursement PO</a:t>
                      </a:r>
                    </a:p>
                  </a:txBody>
                  <a:tcPr marL="73152" marR="73152" marT="36576" marB="36576">
                    <a:solidFill>
                      <a:srgbClr val="FFFFFF"/>
                    </a:solidFill>
                  </a:tcPr>
                </a:tc>
              </a:tr>
              <a:tr h="365760">
                <a:tc>
                  <a:txBody>
                    <a:bodyPr/>
                    <a:lstStyle/>
                    <a:p>
                      <a:r>
                        <a:rPr sz="900" b="0">
                          <a:solidFill>
                            <a:srgbClr val="4B4B4B"/>
                          </a:solidFill>
                          <a:latin typeface="Arial"/>
                        </a:rPr>
                        <a:t>Messages and notifications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 input</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Head - Comptrollership</a:t>
                      </a:r>
                    </a:p>
                  </a:txBody>
                  <a:tcPr marL="73152" marR="73152" marT="36576" marB="36576">
                    <a:solidFill>
                      <a:srgbClr val="E5F5FF"/>
                    </a:solidFill>
                  </a:tcPr>
                </a:tc>
              </a:tr>
              <a:tr h="365760">
                <a:tc>
                  <a:txBody>
                    <a:bodyPr/>
                    <a:lstStyle/>
                    <a:p>
                      <a:r>
                        <a:rPr sz="900" b="0">
                          <a:solidFill>
                            <a:srgbClr val="4B4B4B"/>
                          </a:solidFill>
                          <a:latin typeface="Arial"/>
                        </a:rPr>
                        <a:t>Hand-offs with Operations (remittance payments, refund validations, payment reversals, remittance deductions)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a:t>
                      </a:r>
                    </a:p>
                  </a:txBody>
                  <a:tcPr marL="73152" marR="73152" marT="36576" marB="36576">
                    <a:solidFill>
                      <a:srgbClr val="FFFFFF"/>
                    </a:solidFill>
                  </a:tcPr>
                </a:tc>
                <a:tc>
                  <a:txBody>
                    <a:bodyPr/>
                    <a:lstStyle/>
                    <a:p>
                      <a:r>
                        <a:rPr sz="900" b="0">
                          <a:solidFill>
                            <a:srgbClr val="4B4B4B"/>
                          </a:solidFill>
                          <a:latin typeface="Arial"/>
                        </a:rPr>
                        <a:t>Program Manager (BPS), ACSL product owners</a:t>
                      </a:r>
                    </a:p>
                  </a:txBody>
                  <a:tcPr marL="73152" marR="73152" marT="36576" marB="36576">
                    <a:solidFill>
                      <a:srgbClr val="FFFFFF"/>
                    </a:solidFill>
                  </a:tcPr>
                </a:tc>
                <a:tc>
                  <a:txBody>
                    <a:bodyPr/>
                    <a:lstStyle/>
                    <a:p>
                      <a:r>
                        <a:rPr sz="900" b="0">
                          <a:solidFill>
                            <a:srgbClr val="4B4B4B"/>
                          </a:solidFill>
                          <a:latin typeface="Arial"/>
                        </a:rPr>
                        <a:t>Comptrollership and Operations PO, Head - Comptrollership</a:t>
                      </a:r>
                    </a:p>
                  </a:txBody>
                  <a:tcPr marL="73152" marR="73152" marT="36576" marB="36576">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Walkthroughs (end-to-end, screen by screen)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Head - Comptrollership</a:t>
                      </a:r>
                    </a:p>
                  </a:txBody>
                  <a:tcPr marL="73152" marR="73152" marT="36576" marB="36576">
                    <a:solidFill>
                      <a:srgbClr val="FFFFFF"/>
                    </a:solidFill>
                  </a:tcPr>
                </a:tc>
              </a:tr>
              <a:tr h="365760">
                <a:tc>
                  <a:txBody>
                    <a:bodyPr/>
                    <a:lstStyle/>
                    <a:p>
                      <a:r>
                        <a:rPr sz="900" b="0">
                          <a:solidFill>
                            <a:srgbClr val="4B4B4B"/>
                          </a:solidFill>
                          <a:latin typeface="Arial"/>
                        </a:rPr>
                        <a:t>Proposed business rules and clarifications for confirmation</a:t>
                      </a:r>
                    </a:p>
                  </a:txBody>
                  <a:tcPr marL="73152" marR="73152" marT="36576" marB="36576">
                    <a:solidFill>
                      <a:srgbClr val="E5F5FF"/>
                    </a:solidFill>
                  </a:tcPr>
                </a:tc>
                <a:tc>
                  <a:txBody>
                    <a:bodyPr/>
                    <a:lstStyle/>
                    <a:p>
                      <a:r>
                        <a:rPr sz="900" b="0">
                          <a:solidFill>
                            <a:srgbClr val="4B4B4B"/>
                          </a:solidFill>
                          <a:latin typeface="Arial"/>
                        </a:rPr>
                        <a:t>iorta TechNXT, BA (BPS)</a:t>
                      </a:r>
                    </a:p>
                  </a:txBody>
                  <a:tcPr marL="73152" marR="73152" marT="36576" marB="36576">
                    <a:solidFill>
                      <a:srgbClr val="E5F5FF"/>
                    </a:solidFill>
                  </a:tcPr>
                </a:tc>
                <a:tc>
                  <a:txBody>
                    <a:bodyPr/>
                    <a:lstStyle/>
                    <a:p>
                      <a:r>
                        <a:rPr sz="900" b="0">
                          <a:solidFill>
                            <a:srgbClr val="4B4B4B"/>
                          </a:solidFill>
                          <a:latin typeface="Arial"/>
                        </a:rPr>
                        <a:t>MBS input</a:t>
                      </a:r>
                    </a:p>
                  </a:txBody>
                  <a:tcPr marL="73152" marR="73152" marT="36576" marB="36576">
                    <a:solidFill>
                      <a:srgbClr val="E5F5FF"/>
                    </a:solidFill>
                  </a:tcPr>
                </a:tc>
                <a:tc>
                  <a:txBody>
                    <a:bodyPr/>
                    <a:lstStyle/>
                    <a:p>
                      <a:r>
                        <a:rPr sz="900" b="0">
                          <a:solidFill>
                            <a:srgbClr val="4B4B4B"/>
                          </a:solidFill>
                          <a:latin typeface="Arial"/>
                        </a:rPr>
                        <a:t>Program Manager (BPS), ACSL product owners</a:t>
                      </a:r>
                    </a:p>
                  </a:txBody>
                  <a:tcPr marL="73152" marR="73152" marT="36576" marB="36576">
                    <a:solidFill>
                      <a:srgbClr val="E5F5FF"/>
                    </a:solidFill>
                  </a:tcPr>
                </a:tc>
                <a:tc>
                  <a:txBody>
                    <a:bodyPr/>
                    <a:lstStyle/>
                    <a:p>
                      <a:r>
                        <a:rPr sz="900" b="0">
                          <a:solidFill>
                            <a:srgbClr val="4B4B4B"/>
                          </a:solidFill>
                          <a:latin typeface="Arial"/>
                        </a:rPr>
                        <a:t>Head - Comptrollership, FRBS and ACSL PO, Disbursement PO, Product Owner (Marketing)</a:t>
                      </a:r>
                    </a:p>
                  </a:txBody>
                  <a:tcPr marL="73152" marR="73152" marT="36576" marB="36576">
                    <a:solidFill>
                      <a:srgbClr val="E5F5FF"/>
                    </a:solidFill>
                  </a:tcPr>
                </a:tc>
              </a:tr>
              <a:tr h="365760">
                <a:tc>
                  <a:txBody>
                    <a:bodyPr/>
                    <a:lstStyle/>
                    <a:p>
                      <a:r>
                        <a:rPr sz="900" b="0">
                          <a:solidFill>
                            <a:srgbClr val="4B4B4B"/>
                          </a:solidFill>
                          <a:latin typeface="Arial"/>
                        </a:rPr>
                        <a:t>Scheduled runs and files, bank files and forms, user access and menus by persona</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BDOI IT, Program Manager (BPS)</a:t>
                      </a:r>
                    </a:p>
                  </a:txBody>
                  <a:tcPr marL="73152" marR="73152" marT="36576" marB="36576">
                    <a:solidFill>
                      <a:srgbClr val="FFFFFF"/>
                    </a:solidFill>
                  </a:tcPr>
                </a:tc>
                <a:tc>
                  <a:txBody>
                    <a:bodyPr/>
                    <a:lstStyle/>
                    <a:p>
                      <a:r>
                        <a:rPr sz="900" b="0">
                          <a:solidFill>
                            <a:srgbClr val="4B4B4B"/>
                          </a:solidFill>
                          <a:latin typeface="Arial"/>
                        </a:rPr>
                        <a:t>Head - Comptrollership</a:t>
                      </a:r>
                    </a:p>
                  </a:txBody>
                  <a:tcPr marL="73152" marR="73152" marT="36576" marB="36576">
                    <a:solidFill>
                      <a:srgbClr val="FFFFFF"/>
                    </a:solidFill>
                  </a:tcPr>
                </a:tc>
              </a:tr>
              <a:tr h="365760">
                <a:tc>
                  <a:txBody>
                    <a:bodyPr/>
                    <a:lstStyle/>
                    <a:p>
                      <a:r>
                        <a:rPr sz="900" b="0">
                          <a:solidFill>
                            <a:srgbClr val="4B4B4B"/>
                          </a:solidFill>
                          <a:latin typeface="Arial"/>
                        </a:rPr>
                        <a:t>Test plan (04 workbook, 05 summary)</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 input</a:t>
                      </a:r>
                    </a:p>
                  </a:txBody>
                  <a:tcPr marL="73152" marR="73152" marT="36576" marB="36576">
                    <a:solidFill>
                      <a:srgbClr val="E5F5FF"/>
                    </a:solidFill>
                  </a:tcPr>
                </a:tc>
                <a:tc>
                  <a:txBody>
                    <a:bodyPr/>
                    <a:lstStyle/>
                    <a:p>
                      <a:r>
                        <a:rPr sz="900" b="0">
                          <a:solidFill>
                            <a:srgbClr val="4B4B4B"/>
                          </a:solidFill>
                          <a:latin typeface="Arial"/>
                        </a:rPr>
                        <a:t>Program Manager (BPS), BDOI IT</a:t>
                      </a:r>
                    </a:p>
                  </a:txBody>
                  <a:tcPr marL="73152" marR="73152" marT="36576" marB="36576">
                    <a:solidFill>
                      <a:srgbClr val="E5F5FF"/>
                    </a:solidFill>
                  </a:tcPr>
                </a:tc>
                <a:tc>
                  <a:txBody>
                    <a:bodyPr/>
                    <a:lstStyle/>
                    <a:p>
                      <a:r>
                        <a:rPr sz="900" b="0">
                          <a:solidFill>
                            <a:srgbClr val="4B4B4B"/>
                          </a:solidFill>
                          <a:latin typeface="Arial"/>
                        </a:rPr>
                        <a:t>Head - Comptrollership</a:t>
                      </a:r>
                    </a:p>
                  </a:txBody>
                  <a:tcPr marL="73152" marR="73152" marT="36576" marB="36576">
                    <a:solidFill>
                      <a:srgbClr val="E5F5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MBS input</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Head - Comptrollership</a:t>
                      </a:r>
                    </a:p>
                  </a:txBody>
                  <a:tcPr marL="73152" marR="73152" marT="36576" marB="36576">
                    <a:solidFill>
                      <a:srgbClr val="FFFFFF"/>
                    </a:solidFill>
                  </a:tcPr>
                </a:tc>
              </a:tr>
              <a:tr h="365760">
                <a:tc>
                  <a:txBody>
                    <a:bodyPr/>
                    <a:lstStyle/>
                    <a:p>
                      <a:r>
                        <a:rPr sz="900" b="0">
                          <a:solidFill>
                            <a:srgbClr val="4B4B4B"/>
                          </a:solidFill>
                          <a:latin typeface="Arial"/>
                        </a:rPr>
                        <a:t>Technical Specification (separate document, not part of the business sign-off)</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292608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Business Analysts, Enterprise Services Group - Business Project Services (BPS) (Roda Lyn D. Gallardo; Zean C. Ibay and Jane Tagle for the Workshop Addendum)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Marketing Business Services and System Support (MBS Team) (Ma. Fides Rivera; Ruby Evangelista and Darryl Castillo for the Workshop Addendum) (BDOI)</a:t>
                      </a:r>
                    </a:p>
                  </a:txBody>
                  <a:tcPr marL="73152" marR="73152" marT="36576" marB="36576">
                    <a:solidFill>
                      <a:srgbClr val="FFFFFF"/>
                    </a:solidFill>
                  </a:tcPr>
                </a:tc>
                <a:tc>
                  <a:txBody>
                    <a:bodyPr/>
                    <a:lstStyle/>
                    <a:p>
                      <a:r>
                        <a:rPr sz="900" b="0">
                          <a:solidFill>
                            <a:srgbClr val="4B4B4B"/>
                          </a:solidFill>
                          <a:latin typeface="Arial"/>
                        </a:rPr>
                        <a:t>The non-functional requirements and the Marketing refund and cash-advance request screens, fields, rules and messages match the business input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Program Manager, Enterprise Services Group - Business Project Services (BPS) (Dan Ace R. Cauton) (BDO Unibank ESG)</a:t>
                      </a:r>
                    </a:p>
                  </a:txBody>
                  <a:tcPr marL="73152" marR="73152" marT="36576" marB="36576">
                    <a:solidFill>
                      <a:srgbClr val="E5F5FF"/>
                    </a:solidFill>
                  </a:tcPr>
                </a:tc>
                <a:tc>
                  <a:txBody>
                    <a:bodyPr/>
                    <a:lstStyle/>
                    <a:p>
                      <a:r>
                        <a:rPr sz="900" b="0">
                          <a:solidFill>
                            <a:srgbClr val="4B4B4B"/>
                          </a:solidFill>
                          <a:latin typeface="Arial"/>
                        </a:rPr>
                        <a:t>Traceability of every BRD requirement to the set and completeness of the set</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Product Owners - Comptrollership - ACSL (Freddie A. Atanque, Jennifer T. Lugtu) (BDOI)</a:t>
                      </a:r>
                    </a:p>
                  </a:txBody>
                  <a:tcPr marL="73152" marR="73152" marT="36576" marB="36576">
                    <a:solidFill>
                      <a:srgbClr val="FFFFFF"/>
                    </a:solidFill>
                  </a:tcPr>
                </a:tc>
                <a:tc>
                  <a:txBody>
                    <a:bodyPr/>
                    <a:lstStyle/>
                    <a:p>
                      <a:r>
                        <a:rPr sz="900" b="0">
                          <a:solidFill>
                            <a:srgbClr val="4B4B4B"/>
                          </a:solidFill>
                          <a:latin typeface="Arial"/>
                        </a:rPr>
                        <a:t>The ACSL screens, the reconciliations, cases, corrections and remittance deductions, and the accounting entries they post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BDOI Information Technology Group (Carmela A. Morfe, Yonille D. Guy, Abegail R. Panghulan, Nelda R. Ranchez) (BDOI)</a:t>
                      </a:r>
                    </a:p>
                  </a:txBody>
                  <a:tcPr marL="73152" marR="73152" marT="36576" marB="36576">
                    <a:solidFill>
                      <a:srgbClr val="E5F5FF"/>
                    </a:solidFill>
                  </a:tcPr>
                </a:tc>
                <a:tc>
                  <a:txBody>
                    <a:bodyPr/>
                    <a:lstStyle/>
                    <a:p>
                      <a:r>
                        <a:rPr sz="900" b="0">
                          <a:solidFill>
                            <a:srgbClr val="4B4B4B"/>
                          </a:solidFill>
                          <a:latin typeface="Arial"/>
                        </a:rPr>
                        <a:t>Scheduled runs and files, the bank files and forms, user access and menus, the hand-offs inside BIBS and the Technical Specification (a separate document); not the business screens</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Marketing Business Services and System Support (Rhommel Mark Galler) (BDOI)</a:t>
                      </a:r>
                    </a:p>
                  </a:txBody>
                  <a:tcPr marL="73152" marR="73152" marT="36576" marB="36576">
                    <a:solidFill>
                      <a:srgbClr val="FFFFFF"/>
                    </a:solidFill>
                  </a:tcPr>
                </a:tc>
                <a:tc>
                  <a:txBody>
                    <a:bodyPr/>
                    <a:lstStyle/>
                    <a:p>
                      <a:r>
                        <a:rPr sz="900" b="0">
                          <a:solidFill>
                            <a:srgbClr val="4B4B4B"/>
                          </a:solidFill>
                          <a:latin typeface="Arial"/>
                        </a:rPr>
                        <a:t>The Workshop Addendum functions for Marketing: the cost centres of the payments and the incentives</a:t>
                      </a:r>
                    </a:p>
                  </a:txBody>
                  <a:tcPr marL="73152" marR="73152" marT="36576" marB="36576">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 Disbursement (Rodrigo R. Dela Cruz) (BDOI)</a:t>
                      </a:r>
                    </a:p>
                  </a:txBody>
                  <a:tcPr marL="73152" marR="73152" marT="36576" marB="36576">
                    <a:solidFill>
                      <a:srgbClr val="FFFFFF"/>
                    </a:solidFill>
                  </a:tcPr>
                </a:tc>
                <a:tc>
                  <a:txBody>
                    <a:bodyPr/>
                    <a:lstStyle/>
                    <a:p>
                      <a:r>
                        <a:rPr sz="900" b="0">
                          <a:solidFill>
                            <a:srgbClr val="4B4B4B"/>
                          </a:solidFill>
                          <a:latin typeface="Arial"/>
                        </a:rPr>
                        <a:t>The Disbursement screens, fields, rules, messages, documents and bank files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 Comptrollership - FRBS and ACSL (Iris S. Marquez) (BDOI)</a:t>
                      </a:r>
                    </a:p>
                  </a:txBody>
                  <a:tcPr marL="73152" marR="73152" marT="36576" marB="36576">
                    <a:solidFill>
                      <a:srgbClr val="E5F5FF"/>
                    </a:solidFill>
                  </a:tcPr>
                </a:tc>
                <a:tc>
                  <a:txBody>
                    <a:bodyPr/>
                    <a:lstStyle/>
                    <a:p>
                      <a:r>
                        <a:rPr sz="900" b="0">
                          <a:solidFill>
                            <a:srgbClr val="4B4B4B"/>
                          </a:solidFill>
                          <a:latin typeface="Arial"/>
                        </a:rPr>
                        <a:t>The general ledger, closing, bank reconciliation, report pack, service fee and ACSL screens, rules and messages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and Operations (Perjelyn Joy R. Gutierrez) (BDOI)</a:t>
                      </a:r>
                    </a:p>
                  </a:txBody>
                  <a:tcPr marL="73152" marR="73152" marT="36576" marB="36576">
                    <a:solidFill>
                      <a:srgbClr val="FFFFFF"/>
                    </a:solidFill>
                  </a:tcPr>
                </a:tc>
                <a:tc>
                  <a:txBody>
                    <a:bodyPr/>
                    <a:lstStyle/>
                    <a:p>
                      <a:r>
                        <a:rPr sz="900" b="0">
                          <a:solidFill>
                            <a:srgbClr val="4B4B4B"/>
                          </a:solidFill>
                          <a:latin typeface="Arial"/>
                        </a:rPr>
                        <a:t>The hand-offs with Operations: remittance payments, refund validations, payment reversals, remittance deductions and the regularisation of cancelled vouchers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 Marketing, Processing and Collections, AVP (Shellah Marie C. Miranda) (BDOI)</a:t>
                      </a:r>
                    </a:p>
                  </a:txBody>
                  <a:tcPr marL="73152" marR="73152" marT="36576" marB="36576">
                    <a:solidFill>
                      <a:srgbClr val="E5F5FF"/>
                    </a:solidFill>
                  </a:tcPr>
                </a:tc>
                <a:tc>
                  <a:txBody>
                    <a:bodyPr/>
                    <a:lstStyle/>
                    <a:p>
                      <a:r>
                        <a:rPr sz="900" b="0">
                          <a:solidFill>
                            <a:srgbClr val="4B4B4B"/>
                          </a:solidFill>
                          <a:latin typeface="Arial"/>
                        </a:rPr>
                        <a:t>The Marketing refund, cash-advance and check-cancellation requests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Comptrollership, VP (Ronald Allan E. De Leon) (BDOI)</a:t>
                      </a:r>
                    </a:p>
                  </a:txBody>
                  <a:tcPr marL="73152" marR="73152" marT="36576" marB="36576">
                    <a:solidFill>
                      <a:srgbClr val="FFFFFF"/>
                    </a:solidFill>
                  </a:tcPr>
                </a:tc>
                <a:tc>
                  <a:txBody>
                    <a:bodyPr/>
                    <a:lstStyle/>
                    <a:p>
                      <a:r>
                        <a:rPr sz="900" b="0">
                          <a:solidFill>
                            <a:srgbClr val="4B4B4B"/>
                          </a:solidFill>
                          <a:latin typeface="Arial"/>
                        </a:rPr>
                        <a:t>Owns the set for Comptrollership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Institutional Banking, SM and BDO Accounts, FVP (Roderick L. Lim; Head - Retail Marketing on the Workshop Addendum) (BDOI)</a:t>
                      </a:r>
                    </a:p>
                  </a:txBody>
                  <a:tcPr marL="73152" marR="73152" marT="36576" marB="36576">
                    <a:solidFill>
                      <a:srgbClr val="E5F5FF"/>
                    </a:solidFill>
                  </a:tcPr>
                </a:tc>
                <a:tc>
                  <a:txBody>
                    <a:bodyPr/>
                    <a:lstStyle/>
                    <a:p>
                      <a:r>
                        <a:rPr sz="900" b="0">
                          <a:solidFill>
                            <a:srgbClr val="4B4B4B"/>
                          </a:solidFill>
                          <a:latin typeface="Arial"/>
                        </a:rPr>
                        <a:t>The Marketing requests and the service fee of the referrers</a:t>
                      </a:r>
                    </a:p>
                  </a:txBody>
                  <a:tcPr marL="73152" marR="73152" marT="36576" marB="36576">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field-register.png"/>
          <p:cNvPicPr>
            <a:picLocks noChangeAspect="1"/>
          </p:cNvPicPr>
          <p:nvPr/>
        </p:nvPicPr>
        <p:blipFill>
          <a:blip r:embed="rId3"/>
          <a:stretch>
            <a:fillRect/>
          </a:stretch>
        </p:blipFill>
        <p:spPr>
          <a:xfrm>
            <a:off x="548640" y="1325880"/>
            <a:ext cx="7498079" cy="1726531"/>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Accounting Disbursement ACSL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graphicFrame>
        <p:nvGraphicFramePr>
          <p:cNvPr id="9" name="Table 8"/>
          <p:cNvGraphicFramePr>
            <a:graphicFrameLocks noGrp="1"/>
          </p:cNvGraphicFramePr>
          <p:nvPr/>
        </p:nvGraphicFramePr>
        <p:xfrm>
          <a:off x="548640" y="1371600"/>
          <a:ext cx="11094413" cy="731520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GL Officer (FRBS)</a:t>
                      </a:r>
                    </a:p>
                  </a:txBody>
                  <a:tcPr marL="73152" marR="73152" marT="36576" marB="36576">
                    <a:solidFill>
                      <a:srgbClr val="FFFFFF"/>
                    </a:solidFill>
                  </a:tcPr>
                </a:tc>
                <a:tc>
                  <a:txBody>
                    <a:bodyPr/>
                    <a:lstStyle/>
                    <a:p>
                      <a:r>
                        <a:rPr sz="1000" b="0">
                          <a:solidFill>
                            <a:srgbClr val="4B4B4B"/>
                          </a:solidFill>
                          <a:latin typeface="Arial"/>
                        </a:rPr>
                        <a:t>glofficer</a:t>
                      </a:r>
                    </a:p>
                  </a:txBody>
                  <a:tcPr marL="73152" marR="73152" marT="36576" marB="36576">
                    <a:solidFill>
                      <a:srgbClr val="FFFFFF"/>
                    </a:solidFill>
                  </a:tcPr>
                </a:tc>
                <a:tc>
                  <a:txBody>
                    <a:bodyPr/>
                    <a:lstStyle/>
                    <a:p>
                      <a:r>
                        <a:rPr sz="1000" b="0">
                          <a:solidFill>
                            <a:srgbClr val="4B4B4B"/>
                          </a:solidFill>
                          <a:latin typeface="Arial"/>
                        </a:rPr>
                        <a:t>46</a:t>
                      </a:r>
                    </a:p>
                  </a:txBody>
                  <a:tcPr marL="73152" marR="73152" marT="36576" marB="36576">
                    <a:solidFill>
                      <a:srgbClr val="FFFF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FFFFFF"/>
                    </a:solidFill>
                  </a:tcPr>
                </a:tc>
              </a:tr>
              <a:tr h="365760">
                <a:tc>
                  <a:txBody>
                    <a:bodyPr/>
                    <a:lstStyle/>
                    <a:p>
                      <a:r>
                        <a:rPr sz="1000" b="0">
                          <a:solidFill>
                            <a:srgbClr val="4B4B4B"/>
                          </a:solidFill>
                          <a:latin typeface="Arial"/>
                        </a:rPr>
                        <a:t>GL Team Lead</a:t>
                      </a:r>
                    </a:p>
                  </a:txBody>
                  <a:tcPr marL="73152" marR="73152" marT="36576" marB="36576">
                    <a:solidFill>
                      <a:srgbClr val="E5F5FF"/>
                    </a:solidFill>
                  </a:tcPr>
                </a:tc>
                <a:tc>
                  <a:txBody>
                    <a:bodyPr/>
                    <a:lstStyle/>
                    <a:p>
                      <a:r>
                        <a:rPr sz="1000" b="0">
                          <a:solidFill>
                            <a:srgbClr val="4B4B4B"/>
                          </a:solidFill>
                          <a:latin typeface="Arial"/>
                        </a:rPr>
                        <a:t>gltl</a:t>
                      </a:r>
                    </a:p>
                  </a:txBody>
                  <a:tcPr marL="73152" marR="73152" marT="36576" marB="36576">
                    <a:solidFill>
                      <a:srgbClr val="E5F5FF"/>
                    </a:solidFill>
                  </a:tcPr>
                </a:tc>
                <a:tc>
                  <a:txBody>
                    <a:bodyPr/>
                    <a:lstStyle/>
                    <a:p>
                      <a:r>
                        <a:rPr sz="1000" b="0">
                          <a:solidFill>
                            <a:srgbClr val="4B4B4B"/>
                          </a:solidFill>
                          <a:latin typeface="Arial"/>
                        </a:rPr>
                        <a:t>50</a:t>
                      </a:r>
                    </a:p>
                  </a:txBody>
                  <a:tcPr marL="73152" marR="73152" marT="36576" marB="36576">
                    <a:solidFill>
                      <a:srgbClr val="E5F5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E5F5FF"/>
                    </a:solidFill>
                  </a:tcPr>
                </a:tc>
              </a:tr>
              <a:tr h="365760">
                <a:tc>
                  <a:txBody>
                    <a:bodyPr/>
                    <a:lstStyle/>
                    <a:p>
                      <a:r>
                        <a:rPr sz="1000" b="0">
                          <a:solidFill>
                            <a:srgbClr val="4B4B4B"/>
                          </a:solidFill>
                          <a:latin typeface="Arial"/>
                        </a:rPr>
                        <a:t>GL Section Head</a:t>
                      </a:r>
                    </a:p>
                  </a:txBody>
                  <a:tcPr marL="73152" marR="73152" marT="36576" marB="36576">
                    <a:solidFill>
                      <a:srgbClr val="FFFFFF"/>
                    </a:solidFill>
                  </a:tcPr>
                </a:tc>
                <a:tc>
                  <a:txBody>
                    <a:bodyPr/>
                    <a:lstStyle/>
                    <a:p>
                      <a:r>
                        <a:rPr sz="1000" b="0">
                          <a:solidFill>
                            <a:srgbClr val="4B4B4B"/>
                          </a:solidFill>
                          <a:latin typeface="Arial"/>
                        </a:rPr>
                        <a:t>glhead</a:t>
                      </a:r>
                    </a:p>
                  </a:txBody>
                  <a:tcPr marL="73152" marR="73152" marT="36576" marB="36576">
                    <a:solidFill>
                      <a:srgbClr val="FFFFFF"/>
                    </a:solidFill>
                  </a:tcPr>
                </a:tc>
                <a:tc>
                  <a:txBody>
                    <a:bodyPr/>
                    <a:lstStyle/>
                    <a:p>
                      <a:r>
                        <a:rPr sz="1000" b="0">
                          <a:solidFill>
                            <a:srgbClr val="4B4B4B"/>
                          </a:solidFill>
                          <a:latin typeface="Arial"/>
                        </a:rPr>
                        <a:t>47</a:t>
                      </a:r>
                    </a:p>
                  </a:txBody>
                  <a:tcPr marL="73152" marR="73152" marT="36576" marB="36576">
                    <a:solidFill>
                      <a:srgbClr val="FFFF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FFFFFF"/>
                    </a:solidFill>
                  </a:tcPr>
                </a:tc>
              </a:tr>
              <a:tr h="365760">
                <a:tc>
                  <a:txBody>
                    <a:bodyPr/>
                    <a:lstStyle/>
                    <a:p>
                      <a:r>
                        <a:rPr sz="1000" b="0">
                          <a:solidFill>
                            <a:srgbClr val="4B4B4B"/>
                          </a:solidFill>
                          <a:latin typeface="Arial"/>
                        </a:rPr>
                        <a:t>Accountant (bank reconciliation)</a:t>
                      </a:r>
                    </a:p>
                  </a:txBody>
                  <a:tcPr marL="73152" marR="73152" marT="36576" marB="36576">
                    <a:solidFill>
                      <a:srgbClr val="E5F5FF"/>
                    </a:solidFill>
                  </a:tcPr>
                </a:tc>
                <a:tc>
                  <a:txBody>
                    <a:bodyPr/>
                    <a:lstStyle/>
                    <a:p>
                      <a:r>
                        <a:rPr sz="1000" b="0">
                          <a:solidFill>
                            <a:srgbClr val="4B4B4B"/>
                          </a:solidFill>
                          <a:latin typeface="Arial"/>
                        </a:rPr>
                        <a:t>accountant</a:t>
                      </a:r>
                    </a:p>
                  </a:txBody>
                  <a:tcPr marL="73152" marR="73152" marT="36576" marB="36576">
                    <a:solidFill>
                      <a:srgbClr val="E5F5FF"/>
                    </a:solidFill>
                  </a:tcPr>
                </a:tc>
                <a:tc>
                  <a:txBody>
                    <a:bodyPr/>
                    <a:lstStyle/>
                    <a:p>
                      <a:r>
                        <a:rPr sz="1000" b="0">
                          <a:solidFill>
                            <a:srgbClr val="4B4B4B"/>
                          </a:solidFill>
                          <a:latin typeface="Arial"/>
                        </a:rPr>
                        <a:t>47</a:t>
                      </a:r>
                    </a:p>
                  </a:txBody>
                  <a:tcPr marL="73152" marR="73152" marT="36576" marB="36576">
                    <a:solidFill>
                      <a:srgbClr val="E5F5FF"/>
                    </a:solidFill>
                  </a:tcPr>
                </a:tc>
                <a:tc>
                  <a:txBody>
                    <a:bodyPr/>
                    <a:lstStyle/>
                    <a:p>
                      <a:r>
                        <a:rPr sz="1000" b="0">
                          <a:solidFill>
                            <a:srgbClr val="4B4B4B"/>
                          </a:solidFill>
                          <a:latin typeface="Arial"/>
                        </a:rPr>
                        <a:t>Accounting Reports, General Ledger, Receivables &amp; Banking, Payables &amp; Cash, Assets &amp; Investments, Planning &amp; Closing, Tax &amp; Statutory, Accounting Engine</a:t>
                      </a:r>
                    </a:p>
                  </a:txBody>
                  <a:tcPr marL="73152" marR="73152" marT="36576" marB="36576">
                    <a:solidFill>
                      <a:srgbClr val="E5F5FF"/>
                    </a:solidFill>
                  </a:tcPr>
                </a:tc>
              </a:tr>
              <a:tr h="365760">
                <a:tc>
                  <a:txBody>
                    <a:bodyPr/>
                    <a:lstStyle/>
                    <a:p>
                      <a:r>
                        <a:rPr sz="1000" b="0">
                          <a:solidFill>
                            <a:srgbClr val="4B4B4B"/>
                          </a:solidFill>
                          <a:latin typeface="Arial"/>
                        </a:rPr>
                        <a:t>Comptrollership administrator (masters and rules)</a:t>
                      </a:r>
                    </a:p>
                  </a:txBody>
                  <a:tcPr marL="73152" marR="73152" marT="36576" marB="36576">
                    <a:solidFill>
                      <a:srgbClr val="FFFFFF"/>
                    </a:solidFill>
                  </a:tcPr>
                </a:tc>
                <a:tc>
                  <a:txBody>
                    <a:bodyPr/>
                    <a:lstStyle/>
                    <a:p>
                      <a:r>
                        <a:rPr sz="1000" b="0">
                          <a:solidFill>
                            <a:srgbClr val="4B4B4B"/>
                          </a:solidFill>
                          <a:latin typeface="Arial"/>
                        </a:rPr>
                        <a:t>fmanager</a:t>
                      </a:r>
                    </a:p>
                  </a:txBody>
                  <a:tcPr marL="73152" marR="73152" marT="36576" marB="36576">
                    <a:solidFill>
                      <a:srgbClr val="FFFFFF"/>
                    </a:solidFill>
                  </a:tcPr>
                </a:tc>
                <a:tc>
                  <a:txBody>
                    <a:bodyPr/>
                    <a:lstStyle/>
                    <a:p>
                      <a:r>
                        <a:rPr sz="1000" b="0">
                          <a:solidFill>
                            <a:srgbClr val="4B4B4B"/>
                          </a:solidFill>
                          <a:latin typeface="Arial"/>
                        </a:rPr>
                        <a:t>43</a:t>
                      </a:r>
                    </a:p>
                  </a:txBody>
                  <a:tcPr marL="73152" marR="73152" marT="36576" marB="36576">
                    <a:solidFill>
                      <a:srgbClr val="FFFFFF"/>
                    </a:solidFill>
                  </a:tcPr>
                </a:tc>
                <a:tc>
                  <a:txBody>
                    <a:bodyPr/>
                    <a:lstStyle/>
                    <a:p>
                      <a:r>
                        <a:rPr sz="1000" b="0">
                          <a:solidFill>
                            <a:srgbClr val="4B4B4B"/>
                          </a:solidFill>
                          <a:latin typeface="Arial"/>
                        </a:rPr>
                        <a:t>Refund &amp; Cash Advance Requests, Accounting Reports, General Ledger, Receivables &amp; Banking, Payables &amp; Cash, Assets &amp; Investments, Planning &amp; Closing, Tax &amp; Statutory, Accounting Engine</a:t>
                      </a:r>
                    </a:p>
                  </a:txBody>
                  <a:tcPr marL="73152" marR="73152" marT="36576" marB="36576">
                    <a:solidFill>
                      <a:srgbClr val="FFFFFF"/>
                    </a:solidFill>
                  </a:tcPr>
                </a:tc>
              </a:tr>
              <a:tr h="365760">
                <a:tc>
                  <a:txBody>
                    <a:bodyPr/>
                    <a:lstStyle/>
                    <a:p>
                      <a:r>
                        <a:rPr sz="1000" b="0">
                          <a:solidFill>
                            <a:srgbClr val="4B4B4B"/>
                          </a:solidFill>
                          <a:latin typeface="Arial"/>
                        </a:rPr>
                        <a:t>Disbursement Processor</a:t>
                      </a:r>
                    </a:p>
                  </a:txBody>
                  <a:tcPr marL="73152" marR="73152" marT="36576" marB="36576">
                    <a:solidFill>
                      <a:srgbClr val="E5F5FF"/>
                    </a:solidFill>
                  </a:tcPr>
                </a:tc>
                <a:tc>
                  <a:txBody>
                    <a:bodyPr/>
                    <a:lstStyle/>
                    <a:p>
                      <a:r>
                        <a:rPr sz="1000" b="0">
                          <a:solidFill>
                            <a:srgbClr val="4B4B4B"/>
                          </a:solidFill>
                          <a:latin typeface="Arial"/>
                        </a:rPr>
                        <a:t>disb</a:t>
                      </a:r>
                    </a:p>
                  </a:txBody>
                  <a:tcPr marL="73152" marR="73152" marT="36576" marB="36576">
                    <a:solidFill>
                      <a:srgbClr val="E5F5FF"/>
                    </a:solidFill>
                  </a:tcPr>
                </a:tc>
                <a:tc>
                  <a:txBody>
                    <a:bodyPr/>
                    <a:lstStyle/>
                    <a:p>
                      <a:r>
                        <a:rPr sz="1000" b="0">
                          <a:solidFill>
                            <a:srgbClr val="4B4B4B"/>
                          </a:solidFill>
                          <a:latin typeface="Arial"/>
                        </a:rPr>
                        <a:t>20</a:t>
                      </a:r>
                    </a:p>
                  </a:txBody>
                  <a:tcPr marL="73152" marR="73152" marT="36576" marB="36576">
                    <a:solidFill>
                      <a:srgbClr val="E5F5FF"/>
                    </a:solidFill>
                  </a:tcPr>
                </a:tc>
                <a:tc>
                  <a:txBody>
                    <a:bodyPr/>
                    <a:lstStyle/>
                    <a:p>
                      <a:r>
                        <a:rPr sz="1000" b="0">
                          <a:solidFill>
                            <a:srgbClr val="4B4B4B"/>
                          </a:solidFill>
                          <a:latin typeface="Arial"/>
                        </a:rPr>
                        <a:t>Disbursement, Tax &amp; Statutory</a:t>
                      </a:r>
                    </a:p>
                  </a:txBody>
                  <a:tcPr marL="73152" marR="73152" marT="36576" marB="36576">
                    <a:solidFill>
                      <a:srgbClr val="E5F5FF"/>
                    </a:solidFill>
                  </a:tcPr>
                </a:tc>
              </a:tr>
              <a:tr h="365760">
                <a:tc>
                  <a:txBody>
                    <a:bodyPr/>
                    <a:lstStyle/>
                    <a:p>
                      <a:r>
                        <a:rPr sz="1000" b="0">
                          <a:solidFill>
                            <a:srgbClr val="4B4B4B"/>
                          </a:solidFill>
                          <a:latin typeface="Arial"/>
                        </a:rPr>
                        <a:t>Disbursement Team Leader</a:t>
                      </a:r>
                    </a:p>
                  </a:txBody>
                  <a:tcPr marL="73152" marR="73152" marT="36576" marB="36576">
                    <a:solidFill>
                      <a:srgbClr val="FFFFFF"/>
                    </a:solidFill>
                  </a:tcPr>
                </a:tc>
                <a:tc>
                  <a:txBody>
                    <a:bodyPr/>
                    <a:lstStyle/>
                    <a:p>
                      <a:r>
                        <a:rPr sz="1000" b="0">
                          <a:solidFill>
                            <a:srgbClr val="4B4B4B"/>
                          </a:solidFill>
                          <a:latin typeface="Arial"/>
                        </a:rPr>
                        <a:t>disbtl</a:t>
                      </a:r>
                    </a:p>
                  </a:txBody>
                  <a:tcPr marL="73152" marR="73152" marT="36576" marB="36576">
                    <a:solidFill>
                      <a:srgbClr val="FFFFFF"/>
                    </a:solidFill>
                  </a:tcPr>
                </a:tc>
                <a:tc>
                  <a:txBody>
                    <a:bodyPr/>
                    <a:lstStyle/>
                    <a:p>
                      <a:r>
                        <a:rPr sz="1000" b="0">
                          <a:solidFill>
                            <a:srgbClr val="4B4B4B"/>
                          </a:solidFill>
                          <a:latin typeface="Arial"/>
                        </a:rPr>
                        <a:t>20</a:t>
                      </a:r>
                    </a:p>
                  </a:txBody>
                  <a:tcPr marL="73152" marR="73152" marT="36576" marB="36576">
                    <a:solidFill>
                      <a:srgbClr val="FFFFFF"/>
                    </a:solidFill>
                  </a:tcPr>
                </a:tc>
                <a:tc>
                  <a:txBody>
                    <a:bodyPr/>
                    <a:lstStyle/>
                    <a:p>
                      <a:r>
                        <a:rPr sz="1000" b="0">
                          <a:solidFill>
                            <a:srgbClr val="4B4B4B"/>
                          </a:solidFill>
                          <a:latin typeface="Arial"/>
                        </a:rPr>
                        <a:t>Disbursement, Tax &amp; Statutory</a:t>
                      </a:r>
                    </a:p>
                  </a:txBody>
                  <a:tcPr marL="73152" marR="73152" marT="36576" marB="36576">
                    <a:solidFill>
                      <a:srgbClr val="FFFFFF"/>
                    </a:solidFill>
                  </a:tcPr>
                </a:tc>
              </a:tr>
              <a:tr h="365760">
                <a:tc>
                  <a:txBody>
                    <a:bodyPr/>
                    <a:lstStyle/>
                    <a:p>
                      <a:r>
                        <a:rPr sz="1000" b="0">
                          <a:solidFill>
                            <a:srgbClr val="4B4B4B"/>
                          </a:solidFill>
                          <a:latin typeface="Arial"/>
                        </a:rPr>
                        <a:t>Disbursement Approver</a:t>
                      </a:r>
                    </a:p>
                  </a:txBody>
                  <a:tcPr marL="73152" marR="73152" marT="36576" marB="36576">
                    <a:solidFill>
                      <a:srgbClr val="E5F5FF"/>
                    </a:solidFill>
                  </a:tcPr>
                </a:tc>
                <a:tc>
                  <a:txBody>
                    <a:bodyPr/>
                    <a:lstStyle/>
                    <a:p>
                      <a:r>
                        <a:rPr sz="1000" b="0">
                          <a:solidFill>
                            <a:srgbClr val="4B4B4B"/>
                          </a:solidFill>
                          <a:latin typeface="Arial"/>
                        </a:rPr>
                        <a:t>disbappr</a:t>
                      </a:r>
                    </a:p>
                  </a:txBody>
                  <a:tcPr marL="73152" marR="73152" marT="36576" marB="36576">
                    <a:solidFill>
                      <a:srgbClr val="E5F5FF"/>
                    </a:solidFill>
                  </a:tcPr>
                </a:tc>
                <a:tc>
                  <a:txBody>
                    <a:bodyPr/>
                    <a:lstStyle/>
                    <a:p>
                      <a:r>
                        <a:rPr sz="1000" b="0">
                          <a:solidFill>
                            <a:srgbClr val="4B4B4B"/>
                          </a:solidFill>
                          <a:latin typeface="Arial"/>
                        </a:rPr>
                        <a:t>20</a:t>
                      </a:r>
                    </a:p>
                  </a:txBody>
                  <a:tcPr marL="73152" marR="73152" marT="36576" marB="36576">
                    <a:solidFill>
                      <a:srgbClr val="E5F5FF"/>
                    </a:solidFill>
                  </a:tcPr>
                </a:tc>
                <a:tc>
                  <a:txBody>
                    <a:bodyPr/>
                    <a:lstStyle/>
                    <a:p>
                      <a:r>
                        <a:rPr sz="1000" b="0">
                          <a:solidFill>
                            <a:srgbClr val="4B4B4B"/>
                          </a:solidFill>
                          <a:latin typeface="Arial"/>
                        </a:rPr>
                        <a:t>Disbursement, Accounting Reports, General Ledger, Payables &amp; Cash, Assets &amp; Investments, Accounting Engine</a:t>
                      </a:r>
                    </a:p>
                  </a:txBody>
                  <a:tcPr marL="73152" marR="73152" marT="36576" marB="36576">
                    <a:solidFill>
                      <a:srgbClr val="E5F5FF"/>
                    </a:solidFill>
                  </a:tcPr>
                </a:tc>
              </a:tr>
              <a:tr h="365760">
                <a:tc>
                  <a:txBody>
                    <a:bodyPr/>
                    <a:lstStyle/>
                    <a:p>
                      <a:r>
                        <a:rPr sz="1000" b="0">
                          <a:solidFill>
                            <a:srgbClr val="4B4B4B"/>
                          </a:solidFill>
                          <a:latin typeface="Arial"/>
                        </a:rPr>
                        <a:t>Marketing Processor (AO)</a:t>
                      </a:r>
                    </a:p>
                  </a:txBody>
                  <a:tcPr marL="73152" marR="73152" marT="36576" marB="36576">
                    <a:solidFill>
                      <a:srgbClr val="FFFFFF"/>
                    </a:solidFill>
                  </a:tcPr>
                </a:tc>
                <a:tc>
                  <a:txBody>
                    <a:bodyPr/>
                    <a:lstStyle/>
                    <a:p>
                      <a:r>
                        <a:rPr sz="1000" b="0">
                          <a:solidFill>
                            <a:srgbClr val="4B4B4B"/>
                          </a:solidFill>
                          <a:latin typeface="Arial"/>
                        </a:rPr>
                        <a:t>mktao</a:t>
                      </a:r>
                    </a:p>
                  </a:txBody>
                  <a:tcPr marL="73152" marR="73152" marT="36576" marB="36576">
                    <a:solidFill>
                      <a:srgbClr val="FFFFFF"/>
                    </a:solidFill>
                  </a:tcPr>
                </a:tc>
                <a:tc>
                  <a:txBody>
                    <a:bodyPr/>
                    <a:lstStyle/>
                    <a:p>
                      <a:r>
                        <a:rPr sz="1000" b="0">
                          <a:solidFill>
                            <a:srgbClr val="4B4B4B"/>
                          </a:solidFill>
                          <a:latin typeface="Arial"/>
                        </a:rPr>
                        <a:t>4</a:t>
                      </a:r>
                    </a:p>
                  </a:txBody>
                  <a:tcPr marL="73152" marR="73152" marT="36576" marB="36576">
                    <a:solidFill>
                      <a:srgbClr val="FFFFFF"/>
                    </a:solidFill>
                  </a:tcPr>
                </a:tc>
                <a:tc>
                  <a:txBody>
                    <a:bodyPr/>
                    <a:lstStyle/>
                    <a:p>
                      <a:r>
                        <a:rPr sz="1000" b="0">
                          <a:solidFill>
                            <a:srgbClr val="4B4B4B"/>
                          </a:solidFill>
                          <a:latin typeface="Arial"/>
                        </a:rPr>
                        <a:t>Refund &amp; Cash Advance Requests</a:t>
                      </a:r>
                    </a:p>
                  </a:txBody>
                  <a:tcPr marL="73152" marR="73152" marT="36576" marB="36576">
                    <a:solidFill>
                      <a:srgbClr val="FFFFFF"/>
                    </a:solidFill>
                  </a:tcPr>
                </a:tc>
              </a:tr>
              <a:tr h="365760">
                <a:tc>
                  <a:txBody>
                    <a:bodyPr/>
                    <a:lstStyle/>
                    <a:p>
                      <a:r>
                        <a:rPr sz="1000" b="0">
                          <a:solidFill>
                            <a:srgbClr val="4B4B4B"/>
                          </a:solidFill>
                          <a:latin typeface="Arial"/>
                        </a:rPr>
                        <a:t>Marketing Reviewer</a:t>
                      </a:r>
                    </a:p>
                  </a:txBody>
                  <a:tcPr marL="73152" marR="73152" marT="36576" marB="36576">
                    <a:solidFill>
                      <a:srgbClr val="E5F5FF"/>
                    </a:solidFill>
                  </a:tcPr>
                </a:tc>
                <a:tc>
                  <a:txBody>
                    <a:bodyPr/>
                    <a:lstStyle/>
                    <a:p>
                      <a:r>
                        <a:rPr sz="1000" b="0">
                          <a:solidFill>
                            <a:srgbClr val="4B4B4B"/>
                          </a:solidFill>
                          <a:latin typeface="Arial"/>
                        </a:rPr>
                        <a:t>mktrev</a:t>
                      </a:r>
                    </a:p>
                  </a:txBody>
                  <a:tcPr marL="73152" marR="73152" marT="36576" marB="36576">
                    <a:solidFill>
                      <a:srgbClr val="E5F5FF"/>
                    </a:solidFill>
                  </a:tcPr>
                </a:tc>
                <a:tc>
                  <a:txBody>
                    <a:bodyPr/>
                    <a:lstStyle/>
                    <a:p>
                      <a:r>
                        <a:rPr sz="1000" b="0">
                          <a:solidFill>
                            <a:srgbClr val="4B4B4B"/>
                          </a:solidFill>
                          <a:latin typeface="Arial"/>
                        </a:rPr>
                        <a:t>5</a:t>
                      </a:r>
                    </a:p>
                  </a:txBody>
                  <a:tcPr marL="73152" marR="73152" marT="36576" marB="36576">
                    <a:solidFill>
                      <a:srgbClr val="E5F5FF"/>
                    </a:solidFill>
                  </a:tcPr>
                </a:tc>
                <a:tc>
                  <a:txBody>
                    <a:bodyPr/>
                    <a:lstStyle/>
                    <a:p>
                      <a:r>
                        <a:rPr sz="1000" b="0">
                          <a:solidFill>
                            <a:srgbClr val="4B4B4B"/>
                          </a:solidFill>
                          <a:latin typeface="Arial"/>
                        </a:rPr>
                        <a:t>Refund &amp; Cash Advance Requests</a:t>
                      </a:r>
                    </a:p>
                  </a:txBody>
                  <a:tcPr marL="73152" marR="73152" marT="36576" marB="36576">
                    <a:solidFill>
                      <a:srgbClr val="E5F5FF"/>
                    </a:solidFill>
                  </a:tcPr>
                </a:tc>
              </a:tr>
              <a:tr h="365760">
                <a:tc>
                  <a:txBody>
                    <a:bodyPr/>
                    <a:lstStyle/>
                    <a:p>
                      <a:r>
                        <a:rPr sz="1000" b="0">
                          <a:solidFill>
                            <a:srgbClr val="4B4B4B"/>
                          </a:solidFill>
                          <a:latin typeface="Arial"/>
                        </a:rPr>
                        <a:t>Marketing Approver</a:t>
                      </a:r>
                    </a:p>
                  </a:txBody>
                  <a:tcPr marL="73152" marR="73152" marT="36576" marB="36576">
                    <a:solidFill>
                      <a:srgbClr val="FFFFFF"/>
                    </a:solidFill>
                  </a:tcPr>
                </a:tc>
                <a:tc>
                  <a:txBody>
                    <a:bodyPr/>
                    <a:lstStyle/>
                    <a:p>
                      <a:r>
                        <a:rPr sz="1000" b="0">
                          <a:solidFill>
                            <a:srgbClr val="4B4B4B"/>
                          </a:solidFill>
                          <a:latin typeface="Arial"/>
                        </a:rPr>
                        <a:t>mktappr</a:t>
                      </a:r>
                    </a:p>
                  </a:txBody>
                  <a:tcPr marL="73152" marR="73152" marT="36576" marB="36576">
                    <a:solidFill>
                      <a:srgbClr val="FFFFFF"/>
                    </a:solidFill>
                  </a:tcPr>
                </a:tc>
                <a:tc>
                  <a:txBody>
                    <a:bodyPr/>
                    <a:lstStyle/>
                    <a:p>
                      <a:r>
                        <a:rPr sz="1000" b="0">
                          <a:solidFill>
                            <a:srgbClr val="4B4B4B"/>
                          </a:solidFill>
                          <a:latin typeface="Arial"/>
                        </a:rPr>
                        <a:t>1</a:t>
                      </a:r>
                    </a:p>
                  </a:txBody>
                  <a:tcPr marL="73152" marR="73152" marT="36576" marB="36576">
                    <a:solidFill>
                      <a:srgbClr val="FFFFFF"/>
                    </a:solidFill>
                  </a:tcPr>
                </a:tc>
                <a:tc>
                  <a:txBody>
                    <a:bodyPr/>
                    <a:lstStyle/>
                    <a:p>
                      <a:r>
                        <a:rPr sz="1000" b="0">
                          <a:solidFill>
                            <a:srgbClr val="4B4B4B"/>
                          </a:solidFill>
                          <a:latin typeface="Arial"/>
                        </a:rPr>
                        <a:t>Refund &amp; Cash Advance Requests</a:t>
                      </a:r>
                    </a:p>
                  </a:txBody>
                  <a:tcPr marL="73152" marR="73152" marT="36576" marB="36576">
                    <a:solidFill>
                      <a:srgbClr val="FFFFFF"/>
                    </a:solidFill>
                  </a:tcPr>
                </a:tc>
              </a:tr>
              <a:tr h="365760">
                <a:tc>
                  <a:txBody>
                    <a:bodyPr/>
                    <a:lstStyle/>
                    <a:p>
                      <a:r>
                        <a:rPr sz="1000" b="0">
                          <a:solidFill>
                            <a:srgbClr val="4B4B4B"/>
                          </a:solidFill>
                          <a:latin typeface="Arial"/>
                        </a:rPr>
                        <a:t>Human Resources Approver</a:t>
                      </a:r>
                    </a:p>
                  </a:txBody>
                  <a:tcPr marL="73152" marR="73152" marT="36576" marB="36576">
                    <a:solidFill>
                      <a:srgbClr val="E5F5FF"/>
                    </a:solidFill>
                  </a:tcPr>
                </a:tc>
                <a:tc>
                  <a:txBody>
                    <a:bodyPr/>
                    <a:lstStyle/>
                    <a:p>
                      <a:r>
                        <a:rPr sz="1000" b="0">
                          <a:solidFill>
                            <a:srgbClr val="4B4B4B"/>
                          </a:solidFill>
                          <a:latin typeface="Arial"/>
                        </a:rPr>
                        <a:t>hrappr</a:t>
                      </a:r>
                    </a:p>
                  </a:txBody>
                  <a:tcPr marL="73152" marR="73152" marT="36576" marB="36576">
                    <a:solidFill>
                      <a:srgbClr val="E5F5FF"/>
                    </a:solidFill>
                  </a:tcPr>
                </a:tc>
                <a:tc>
                  <a:txBody>
                    <a:bodyPr/>
                    <a:lstStyle/>
                    <a:p>
                      <a:r>
                        <a:rPr sz="1000" b="0">
                          <a:solidFill>
                            <a:srgbClr val="4B4B4B"/>
                          </a:solidFill>
                          <a:latin typeface="Arial"/>
                        </a:rPr>
                        <a:t>1</a:t>
                      </a:r>
                    </a:p>
                  </a:txBody>
                  <a:tcPr marL="73152" marR="73152" marT="36576" marB="36576">
                    <a:solidFill>
                      <a:srgbClr val="E5F5FF"/>
                    </a:solidFill>
                  </a:tcPr>
                </a:tc>
                <a:tc>
                  <a:txBody>
                    <a:bodyPr/>
                    <a:lstStyle/>
                    <a:p>
                      <a:r>
                        <a:rPr sz="1000" b="0">
                          <a:solidFill>
                            <a:srgbClr val="4B4B4B"/>
                          </a:solidFill>
                          <a:latin typeface="Arial"/>
                        </a:rPr>
                        <a:t>Refund &amp; Cash Advance Requests</a:t>
                      </a:r>
                    </a:p>
                  </a:txBody>
                  <a:tcPr marL="73152" marR="73152" marT="36576" marB="36576">
                    <a:solidFill>
                      <a:srgbClr val="E5F5FF"/>
                    </a:solidFill>
                  </a:tcPr>
                </a:tc>
              </a:tr>
              <a:tr h="365760">
                <a:tc>
                  <a:txBody>
                    <a:bodyPr/>
                    <a:lstStyle/>
                    <a:p>
                      <a:r>
                        <a:rPr sz="1000" b="0">
                          <a:solidFill>
                            <a:srgbClr val="4B4B4B"/>
                          </a:solidFill>
                          <a:latin typeface="Arial"/>
                        </a:rPr>
                        <a:t>ACSL Processor</a:t>
                      </a:r>
                    </a:p>
                  </a:txBody>
                  <a:tcPr marL="73152" marR="73152" marT="36576" marB="36576">
                    <a:solidFill>
                      <a:srgbClr val="FFFFFF"/>
                    </a:solidFill>
                  </a:tcPr>
                </a:tc>
                <a:tc>
                  <a:txBody>
                    <a:bodyPr/>
                    <a:lstStyle/>
                    <a:p>
                      <a:r>
                        <a:rPr sz="1000" b="0">
                          <a:solidFill>
                            <a:srgbClr val="4B4B4B"/>
                          </a:solidFill>
                          <a:latin typeface="Arial"/>
                        </a:rPr>
                        <a:t>acsl</a:t>
                      </a:r>
                    </a:p>
                  </a:txBody>
                  <a:tcPr marL="73152" marR="73152" marT="36576" marB="36576">
                    <a:solidFill>
                      <a:srgbClr val="FFFFFF"/>
                    </a:solidFill>
                  </a:tcPr>
                </a:tc>
                <a:tc>
                  <a:txBody>
                    <a:bodyPr/>
                    <a:lstStyle/>
                    <a:p>
                      <a:r>
                        <a:rPr sz="1000" b="0">
                          <a:solidFill>
                            <a:srgbClr val="4B4B4B"/>
                          </a:solidFill>
                          <a:latin typeface="Arial"/>
                        </a:rPr>
                        <a:t>16</a:t>
                      </a:r>
                    </a:p>
                  </a:txBody>
                  <a:tcPr marL="73152" marR="73152" marT="36576" marB="36576">
                    <a:solidFill>
                      <a:srgbClr val="FFFFFF"/>
                    </a:solidFill>
                  </a:tcPr>
                </a:tc>
                <a:tc>
                  <a:txBody>
                    <a:bodyPr/>
                    <a:lstStyle/>
                    <a:p>
                      <a:r>
                        <a:rPr sz="1000" b="0">
                          <a:solidFill>
                            <a:srgbClr val="4B4B4B"/>
                          </a:solidFill>
                          <a:latin typeface="Arial"/>
                        </a:rPr>
                        <a:t>ACSL, General Ledger, Receivables &amp; Banking, Payables &amp; Cash, Accounting Engine</a:t>
                      </a:r>
                    </a:p>
                  </a:txBody>
                  <a:tcPr marL="73152" marR="73152" marT="36576" marB="36576">
                    <a:solidFill>
                      <a:srgbClr val="FFFFFF"/>
                    </a:solidFill>
                  </a:tcPr>
                </a:tc>
              </a:tr>
              <a:tr h="365760">
                <a:tc>
                  <a:txBody>
                    <a:bodyPr/>
                    <a:lstStyle/>
                    <a:p>
                      <a:r>
                        <a:rPr sz="1000" b="0">
                          <a:solidFill>
                            <a:srgbClr val="4B4B4B"/>
                          </a:solidFill>
                          <a:latin typeface="Arial"/>
                        </a:rPr>
                        <a:t>ACSL Team Leader</a:t>
                      </a:r>
                    </a:p>
                  </a:txBody>
                  <a:tcPr marL="73152" marR="73152" marT="36576" marB="36576">
                    <a:solidFill>
                      <a:srgbClr val="E5F5FF"/>
                    </a:solidFill>
                  </a:tcPr>
                </a:tc>
                <a:tc>
                  <a:txBody>
                    <a:bodyPr/>
                    <a:lstStyle/>
                    <a:p>
                      <a:r>
                        <a:rPr sz="1000" b="0">
                          <a:solidFill>
                            <a:srgbClr val="4B4B4B"/>
                          </a:solidFill>
                          <a:latin typeface="Arial"/>
                        </a:rPr>
                        <a:t>acsltl</a:t>
                      </a:r>
                    </a:p>
                  </a:txBody>
                  <a:tcPr marL="73152" marR="73152" marT="36576" marB="36576">
                    <a:solidFill>
                      <a:srgbClr val="E5F5FF"/>
                    </a:solidFill>
                  </a:tcPr>
                </a:tc>
                <a:tc>
                  <a:txBody>
                    <a:bodyPr/>
                    <a:lstStyle/>
                    <a:p>
                      <a:r>
                        <a:rPr sz="1000" b="0">
                          <a:solidFill>
                            <a:srgbClr val="4B4B4B"/>
                          </a:solidFill>
                          <a:latin typeface="Arial"/>
                        </a:rPr>
                        <a:t>16</a:t>
                      </a:r>
                    </a:p>
                  </a:txBody>
                  <a:tcPr marL="73152" marR="73152" marT="36576" marB="36576">
                    <a:solidFill>
                      <a:srgbClr val="E5F5FF"/>
                    </a:solidFill>
                  </a:tcPr>
                </a:tc>
                <a:tc>
                  <a:txBody>
                    <a:bodyPr/>
                    <a:lstStyle/>
                    <a:p>
                      <a:r>
                        <a:rPr sz="1000" b="0">
                          <a:solidFill>
                            <a:srgbClr val="4B4B4B"/>
                          </a:solidFill>
                          <a:latin typeface="Arial"/>
                        </a:rPr>
                        <a:t>ACSL, General Ledger, Receivables &amp; Banking, Payables &amp; Cash, Accounting Engine</a:t>
                      </a:r>
                    </a:p>
                  </a:txBody>
                  <a:tcPr marL="73152" marR="73152" marT="36576" marB="36576">
                    <a:solidFill>
                      <a:srgbClr val="E5F5FF"/>
                    </a:solidFill>
                  </a:tcPr>
                </a:tc>
              </a:tr>
              <a:tr h="365760">
                <a:tc>
                  <a:txBody>
                    <a:bodyPr/>
                    <a:lstStyle/>
                    <a:p>
                      <a:r>
                        <a:rPr sz="1000" b="0">
                          <a:solidFill>
                            <a:srgbClr val="4B4B4B"/>
                          </a:solidFill>
                          <a:latin typeface="Arial"/>
                        </a:rPr>
                        <a:t>ACSL Head (approver)</a:t>
                      </a:r>
                    </a:p>
                  </a:txBody>
                  <a:tcPr marL="73152" marR="73152" marT="36576" marB="36576">
                    <a:solidFill>
                      <a:srgbClr val="FFFFFF"/>
                    </a:solidFill>
                  </a:tcPr>
                </a:tc>
                <a:tc>
                  <a:txBody>
                    <a:bodyPr/>
                    <a:lstStyle/>
                    <a:p>
                      <a:r>
                        <a:rPr sz="1000" b="0">
                          <a:solidFill>
                            <a:srgbClr val="4B4B4B"/>
                          </a:solidFill>
                          <a:latin typeface="Arial"/>
                        </a:rPr>
                        <a:t>acslhead</a:t>
                      </a:r>
                    </a:p>
                  </a:txBody>
                  <a:tcPr marL="73152" marR="73152" marT="36576" marB="36576">
                    <a:solidFill>
                      <a:srgbClr val="FFFFFF"/>
                    </a:solidFill>
                  </a:tcPr>
                </a:tc>
                <a:tc>
                  <a:txBody>
                    <a:bodyPr/>
                    <a:lstStyle/>
                    <a:p>
                      <a:r>
                        <a:rPr sz="1000" b="0">
                          <a:solidFill>
                            <a:srgbClr val="4B4B4B"/>
                          </a:solidFill>
                          <a:latin typeface="Arial"/>
                        </a:rPr>
                        <a:t>16</a:t>
                      </a:r>
                    </a:p>
                  </a:txBody>
                  <a:tcPr marL="73152" marR="73152" marT="36576" marB="36576">
                    <a:solidFill>
                      <a:srgbClr val="FFFFFF"/>
                    </a:solidFill>
                  </a:tcPr>
                </a:tc>
                <a:tc>
                  <a:txBody>
                    <a:bodyPr/>
                    <a:lstStyle/>
                    <a:p>
                      <a:r>
                        <a:rPr sz="1000" b="0">
                          <a:solidFill>
                            <a:srgbClr val="4B4B4B"/>
                          </a:solidFill>
                          <a:latin typeface="Arial"/>
                        </a:rPr>
                        <a:t>ACSL, General Ledger, Receivables &amp; Banking, Payables &amp; Cash, Accounting Engine</a:t>
                      </a:r>
                    </a:p>
                  </a:txBody>
                  <a:tcPr marL="73152" marR="73152" marT="36576" marB="36576">
                    <a:solidFill>
                      <a:srgbClr val="FFFFFF"/>
                    </a:solidFill>
                  </a:tcPr>
                </a:tc>
              </a:tr>
              <a:tr h="365760">
                <a:tc>
                  <a:txBody>
                    <a:bodyPr/>
                    <a:lstStyle/>
                    <a:p>
                      <a:r>
                        <a:rPr sz="1000" b="0">
                          <a:solidFill>
                            <a:srgbClr val="4B4B4B"/>
                          </a:solidFill>
                          <a:latin typeface="Arial"/>
                        </a:rPr>
                        <a:t>Comptrollership (read access)</a:t>
                      </a:r>
                    </a:p>
                  </a:txBody>
                  <a:tcPr marL="73152" marR="73152" marT="36576" marB="36576">
                    <a:solidFill>
                      <a:srgbClr val="E5F5FF"/>
                    </a:solidFill>
                  </a:tcPr>
                </a:tc>
                <a:tc>
                  <a:txBody>
                    <a:bodyPr/>
                    <a:lstStyle/>
                    <a:p>
                      <a:r>
                        <a:rPr sz="1000" b="0">
                          <a:solidFill>
                            <a:srgbClr val="4B4B4B"/>
                          </a:solidFill>
                          <a:latin typeface="Arial"/>
                        </a:rPr>
                        <a:t>comptrol</a:t>
                      </a:r>
                    </a:p>
                  </a:txBody>
                  <a:tcPr marL="73152" marR="73152" marT="36576" marB="36576">
                    <a:solidFill>
                      <a:srgbClr val="E5F5FF"/>
                    </a:solidFill>
                  </a:tcPr>
                </a:tc>
                <a:tc>
                  <a:txBody>
                    <a:bodyPr/>
                    <a:lstStyle/>
                    <a:p>
                      <a:r>
                        <a:rPr sz="1000" b="0">
                          <a:solidFill>
                            <a:srgbClr val="4B4B4B"/>
                          </a:solidFill>
                          <a:latin typeface="Arial"/>
                        </a:rPr>
                        <a:t>26</a:t>
                      </a:r>
                    </a:p>
                  </a:txBody>
                  <a:tcPr marL="73152" marR="73152" marT="36576" marB="36576">
                    <a:solidFill>
                      <a:srgbClr val="E5F5FF"/>
                    </a:solidFill>
                  </a:tcPr>
                </a:tc>
                <a:tc>
                  <a:txBody>
                    <a:bodyPr/>
                    <a:lstStyle/>
                    <a:p>
                      <a:r>
                        <a:rPr sz="1000" b="0">
                          <a:solidFill>
                            <a:srgbClr val="4B4B4B"/>
                          </a:solidFill>
                          <a:latin typeface="Arial"/>
                        </a:rPr>
                        <a:t>Disbursement, ACSL, Accounting Reports, General Ledger, Receivables &amp; Banking, Payables &amp; Cash, Accounting Engine</a:t>
                      </a:r>
                    </a:p>
                  </a:txBody>
                  <a:tcPr marL="73152" marR="73152" marT="36576" marB="36576">
                    <a:solidFill>
                      <a:srgbClr val="E5F5FF"/>
                    </a:solidFill>
                  </a:tcPr>
                </a:tc>
              </a:tr>
              <a:tr h="365760">
                <a:tc>
                  <a:txBody>
                    <a:bodyPr/>
                    <a:lstStyle/>
                    <a:p>
                      <a:r>
                        <a:rPr sz="1000" b="0">
                          <a:solidFill>
                            <a:srgbClr val="4B4B4B"/>
                          </a:solidFill>
                          <a:latin typeface="Arial"/>
                        </a:rPr>
                        <a:t>Business Administrator</a:t>
                      </a:r>
                    </a:p>
                  </a:txBody>
                  <a:tcPr marL="73152" marR="73152" marT="36576" marB="36576">
                    <a:solidFill>
                      <a:srgbClr val="FFFFFF"/>
                    </a:solidFill>
                  </a:tcPr>
                </a:tc>
                <a:tc>
                  <a:txBody>
                    <a:bodyPr/>
                    <a:lstStyle/>
                    <a:p>
                      <a:r>
                        <a:rPr sz="1000" b="0">
                          <a:solidFill>
                            <a:srgbClr val="4B4B4B"/>
                          </a:solidFill>
                          <a:latin typeface="Arial"/>
                        </a:rPr>
                        <a:t>badmin</a:t>
                      </a:r>
                    </a:p>
                  </a:txBody>
                  <a:tcPr marL="73152" marR="73152" marT="36576" marB="36576">
                    <a:solidFill>
                      <a:srgbClr val="FFFFFF"/>
                    </a:solidFill>
                  </a:tcPr>
                </a:tc>
                <a:tc>
                  <a:txBody>
                    <a:bodyPr/>
                    <a:lstStyle/>
                    <a:p>
                      <a:r>
                        <a:rPr sz="1000" b="0">
                          <a:solidFill>
                            <a:srgbClr val="4B4B4B"/>
                          </a:solidFill>
                          <a:latin typeface="Arial"/>
                        </a:rPr>
                        <a:t>14</a:t>
                      </a:r>
                    </a:p>
                  </a:txBody>
                  <a:tcPr marL="73152" marR="73152" marT="36576" marB="36576">
                    <a:solidFill>
                      <a:srgbClr val="FFFFFF"/>
                    </a:solidFill>
                  </a:tcPr>
                </a:tc>
                <a:tc>
                  <a:txBody>
                    <a:bodyPr/>
                    <a:lstStyle/>
                    <a:p>
                      <a:r>
                        <a:rPr sz="1000" b="0">
                          <a:solidFill>
                            <a:srgbClr val="4B4B4B"/>
                          </a:solidFill>
                          <a:latin typeface="Arial"/>
                        </a:rPr>
                        <a:t>Accounting Reports, General Ledger, Payables &amp; Cash, Assets &amp; Investments, Accounting Engine</a:t>
                      </a:r>
                    </a:p>
                  </a:txBody>
                  <a:tcPr marL="73152" marR="73152" marT="36576" marB="36576">
                    <a:solidFill>
                      <a:srgbClr val="FFFFFF"/>
                    </a:solidFill>
                  </a:tcPr>
                </a:tc>
              </a:tr>
              <a:tr h="365760">
                <a:tc>
                  <a:txBody>
                    <a:bodyPr/>
                    <a:lstStyle/>
                    <a:p>
                      <a:r>
                        <a:rPr sz="1000" b="0">
                          <a:solidFill>
                            <a:srgbClr val="4B4B4B"/>
                          </a:solidFill>
                          <a:latin typeface="Arial"/>
                        </a:rPr>
                        <a:t>System Administrator</a:t>
                      </a:r>
                    </a:p>
                  </a:txBody>
                  <a:tcPr marL="73152" marR="73152" marT="36576" marB="36576">
                    <a:solidFill>
                      <a:srgbClr val="E5F5FF"/>
                    </a:solidFill>
                  </a:tcPr>
                </a:tc>
                <a:tc>
                  <a:txBody>
                    <a:bodyPr/>
                    <a:lstStyle/>
                    <a:p>
                      <a:r>
                        <a:rPr sz="1000" b="0">
                          <a:solidFill>
                            <a:srgbClr val="4B4B4B"/>
                          </a:solidFill>
                          <a:latin typeface="Arial"/>
                        </a:rPr>
                        <a:t>admin</a:t>
                      </a:r>
                    </a:p>
                  </a:txBody>
                  <a:tcPr marL="73152" marR="73152" marT="36576" marB="36576">
                    <a:solidFill>
                      <a:srgbClr val="E5F5FF"/>
                    </a:solidFill>
                  </a:tcPr>
                </a:tc>
                <a:tc>
                  <a:txBody>
                    <a:bodyPr/>
                    <a:lstStyle/>
                    <a:p>
                      <a:r>
                        <a:rPr sz="1000" b="0">
                          <a:solidFill>
                            <a:srgbClr val="4B4B4B"/>
                          </a:solidFill>
                          <a:latin typeface="Arial"/>
                        </a:rPr>
                        <a:t>28</a:t>
                      </a:r>
                    </a:p>
                  </a:txBody>
                  <a:tcPr marL="73152" marR="73152" marT="36576" marB="36576">
                    <a:solidFill>
                      <a:srgbClr val="E5F5FF"/>
                    </a:solidFill>
                  </a:tcPr>
                </a:tc>
                <a:tc>
                  <a:txBody>
                    <a:bodyPr/>
                    <a:lstStyle/>
                    <a:p>
                      <a:r>
                        <a:rPr sz="1000" b="0">
                          <a:solidFill>
                            <a:srgbClr val="4B4B4B"/>
                          </a:solidFill>
                          <a:latin typeface="Arial"/>
                        </a:rPr>
                        <a:t>Disbursement, Refund &amp; Cash Advance Requests, ACSL, Accounting Reports, General Ledger, Payables &amp; Cash, Assets &amp; Investments, Accounting Engine</a:t>
                      </a:r>
                    </a:p>
                  </a:txBody>
                  <a:tcPr marL="73152" marR="73152" marT="36576" marB="36576">
                    <a:solidFill>
                      <a:srgbClr val="E5F5FF"/>
                    </a:solidFill>
                  </a:tcPr>
                </a:tc>
              </a:tr>
              <a:tr h="365760">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55</a:t>
                      </a:r>
                    </a:p>
                  </a:txBody>
                  <a:tcPr marL="73152" marR="73152" marT="36576" marB="36576">
                    <a:solidFill>
                      <a:srgbClr val="FFFFFF"/>
                    </a:solidFill>
                  </a:tcPr>
                </a:tc>
                <a:tc>
                  <a:txBody>
                    <a:bodyPr/>
                    <a:lstStyle/>
                    <a:p>
                      <a:r>
                        <a:rPr sz="1000" b="0">
                          <a:solidFill>
                            <a:srgbClr val="4B4B4B"/>
                          </a:solidFill>
                          <a:latin typeface="Arial"/>
                        </a:rPr>
                        <a:t>Disbursement, Refund &amp; Cash Advance Requests, ACSL, Accounting Reports, General Ledger, Receivables &amp; Banking, Payables &amp; Cash, Assets &amp; Investments, Planning &amp; Closing, Tax &amp; Statutory, Accounting Engine</a:t>
                      </a:r>
                    </a:p>
                  </a:txBody>
                  <a:tcPr marL="73152" marR="73152" marT="36576" marB="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Accounting Disbursement ACSL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wt-a-03.png"/>
          <p:cNvPicPr>
            <a:picLocks noChangeAspect="1"/>
          </p:cNvPicPr>
          <p:nvPr/>
        </p:nvPicPr>
        <p:blipFill>
          <a:blip r:embed="rId3"/>
          <a:stretch>
            <a:fillRect/>
          </a:stretch>
        </p:blipFill>
        <p:spPr>
          <a:xfrm>
            <a:off x="1620011" y="1325880"/>
            <a:ext cx="3267305"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Journals: the accrual posted from the list of the journals assigned</a:t>
            </a:r>
          </a:p>
        </p:txBody>
      </p:sp>
      <p:pic>
        <p:nvPicPr>
          <p:cNvPr id="11" name="Picture 10" descr="wt-b-06.png"/>
          <p:cNvPicPr>
            <a:picLocks noChangeAspect="1"/>
          </p:cNvPicPr>
          <p:nvPr/>
        </p:nvPicPr>
        <p:blipFill>
          <a:blip r:embed="rId4"/>
          <a:stretch>
            <a:fillRect/>
          </a:stretch>
        </p:blipFill>
        <p:spPr>
          <a:xfrm>
            <a:off x="7643719" y="1325880"/>
            <a:ext cx="2588622"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A refund voucher routed to the approver with its entry</a:t>
            </a:r>
          </a:p>
        </p:txBody>
      </p:sp>
      <p:pic>
        <p:nvPicPr>
          <p:cNvPr id="13" name="Picture 12" descr="wt-c-02.png"/>
          <p:cNvPicPr>
            <a:picLocks noChangeAspect="1"/>
          </p:cNvPicPr>
          <p:nvPr/>
        </p:nvPicPr>
        <p:blipFill>
          <a:blip r:embed="rId5"/>
          <a:stretch>
            <a:fillRect/>
          </a:stretch>
        </p:blipFill>
        <p:spPr>
          <a:xfrm>
            <a:off x="1894539" y="3566160"/>
            <a:ext cx="2718248"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An insurer statement reconciled line by line with the books</a:t>
            </a:r>
          </a:p>
        </p:txBody>
      </p:sp>
      <p:pic>
        <p:nvPicPr>
          <p:cNvPr id="15" name="Picture 14" descr="wt-c-07.png"/>
          <p:cNvPicPr>
            <a:picLocks noChangeAspect="1"/>
          </p:cNvPicPr>
          <p:nvPr/>
        </p:nvPicPr>
        <p:blipFill>
          <a:blip r:embed="rId6"/>
          <a:stretch>
            <a:fillRect/>
          </a:stretch>
        </p:blipFill>
        <p:spPr>
          <a:xfrm>
            <a:off x="8298965" y="3566160"/>
            <a:ext cx="1278131"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 correction entry with the reversal and the re-post of a wrong 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Every amount posts through the accounting rules of its business event; a journal posts only when it balances, and posted entries are reversed, never changed.</a:t>
            </a:r>
          </a:p>
          <a:p>
            <a:pPr>
              <a:spcAft>
                <a:spcPts val="600"/>
              </a:spcAft>
            </a:pPr>
            <a:r>
              <a:rPr sz="1400">
                <a:solidFill>
                  <a:srgbClr val="004EA8"/>
                </a:solidFill>
                <a:latin typeface="Arial"/>
              </a:rPr>
              <a:t>•  </a:t>
            </a:r>
            <a:r>
              <a:rPr sz="1400">
                <a:solidFill>
                  <a:srgbClr val="4B4B4B"/>
                </a:solidFill>
                <a:latin typeface="Arial"/>
              </a:rPr>
              <a:t>Four eyes everywhere: journals, vouchers, payees, bank accounts, fundings, corrections and service-fee runs are approved by another user than their maker; a funding needs a verifier and two approvers.</a:t>
            </a:r>
          </a:p>
          <a:p>
            <a:pPr>
              <a:spcAft>
                <a:spcPts val="600"/>
              </a:spcAft>
            </a:pPr>
            <a:r>
              <a:rPr sz="1400">
                <a:solidFill>
                  <a:srgbClr val="004EA8"/>
                </a:solidFill>
                <a:latin typeface="Arial"/>
              </a:rPr>
              <a:t>•  </a:t>
            </a:r>
            <a:r>
              <a:rPr sz="1400">
                <a:solidFill>
                  <a:srgbClr val="4B4B4B"/>
                </a:solidFill>
                <a:latin typeface="Arial"/>
              </a:rPr>
              <a:t>Accruals reverse themselves on their reversal date; the broking books close at month end and the GL month closes on the date the GL Team Lead schedules.</a:t>
            </a:r>
          </a:p>
          <a:p>
            <a:pPr>
              <a:spcAft>
                <a:spcPts val="600"/>
              </a:spcAft>
            </a:pPr>
            <a:r>
              <a:rPr sz="1400">
                <a:solidFill>
                  <a:srgbClr val="004EA8"/>
                </a:solidFill>
                <a:latin typeface="Arial"/>
              </a:rPr>
              <a:t>•  </a:t>
            </a:r>
            <a:r>
              <a:rPr sz="1400">
                <a:solidFill>
                  <a:srgbClr val="4B4B4B"/>
                </a:solidFill>
                <a:latin typeface="Arial"/>
              </a:rPr>
              <a:t>Disbursement pays what the units request: each request becomes a voucher with its proforma entry; refunds and remittances go straight to the approver; approval posts the entry and issues the instrument of the mode.</a:t>
            </a:r>
          </a:p>
          <a:p>
            <a:pPr>
              <a:spcAft>
                <a:spcPts val="600"/>
              </a:spcAft>
            </a:pPr>
            <a:r>
              <a:rPr sz="1400">
                <a:solidFill>
                  <a:srgbClr val="004EA8"/>
                </a:solidFill>
                <a:latin typeface="Arial"/>
              </a:rPr>
              <a:t>•  </a:t>
            </a:r>
            <a:r>
              <a:rPr sz="1400">
                <a:solidFill>
                  <a:srgbClr val="4B4B4B"/>
                </a:solidFill>
                <a:latin typeface="Arial"/>
              </a:rPr>
              <a:t>A cancelled approved voucher is reversed and its request goes back to its source to be regularised; an approved voucher counts as unregularised until its OR / AR is tagged.</a:t>
            </a:r>
          </a:p>
          <a:p>
            <a:pPr>
              <a:spcAft>
                <a:spcPts val="600"/>
              </a:spcAft>
            </a:pPr>
            <a:r>
              <a:rPr sz="1400">
                <a:solidFill>
                  <a:srgbClr val="004EA8"/>
                </a:solidFill>
                <a:latin typeface="Arial"/>
              </a:rPr>
              <a:t>•  </a:t>
            </a:r>
            <a:r>
              <a:rPr sz="1400">
                <a:solidFill>
                  <a:srgbClr val="4B4B4B"/>
                </a:solidFill>
                <a:latin typeface="Arial"/>
              </a:rPr>
              <a:t>Marketing refunds and cash advances are reviewed and approved in BIBS (cash advances also by HR) and reach Disbursement on approval; an AR is refunded once.</a:t>
            </a:r>
          </a:p>
          <a:p>
            <a:pPr>
              <a:spcAft>
                <a:spcPts val="600"/>
              </a:spcAft>
            </a:pPr>
            <a:r>
              <a:rPr sz="1400">
                <a:solidFill>
                  <a:srgbClr val="004EA8"/>
                </a:solidFill>
                <a:latin typeface="Arial"/>
              </a:rPr>
              <a:t>•  </a:t>
            </a:r>
            <a:r>
              <a:rPr sz="1400">
                <a:solidFill>
                  <a:srgbClr val="4B4B4B"/>
                </a:solidFill>
                <a:latin typeface="Arial"/>
              </a:rPr>
              <a:t>ACSL reconciles the insurer statements and the GL with the sub-ledgers, investigates cases and corrects wrong postings with a preparer, a reviewer and an approver.</a:t>
            </a:r>
          </a:p>
          <a:p>
            <a:pPr lvl="1">
              <a:spcAft>
                <a:spcPts val="600"/>
              </a:spcAft>
            </a:pPr>
            <a:r>
              <a:rPr sz="1200">
                <a:solidFill>
                  <a:srgbClr val="656565"/>
                </a:solidFill>
                <a:latin typeface="Arial"/>
              </a:rPr>
              <a:t>–  </a:t>
            </a:r>
            <a:r>
              <a:rPr sz="1200">
                <a:solidFill>
                  <a:srgbClr val="4B4B4B"/>
                </a:solidFill>
                <a:latin typeface="Arial"/>
              </a:rPr>
              <a:t>Full list: FRS chapter 13 per screen, 98 rules on the Business rules sheet and 378 messages in FRS chapter 15 and on the Messages sheet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brd05_contract_map.png"/>
          <p:cNvPicPr>
            <a:picLocks noChangeAspect="1"/>
          </p:cNvPicPr>
          <p:nvPr/>
        </p:nvPicPr>
        <p:blipFill>
          <a:blip r:embed="rId3"/>
          <a:stretch>
            <a:fillRect/>
          </a:stretch>
        </p:blipFill>
        <p:spPr>
          <a:xfrm>
            <a:off x="548640" y="1325880"/>
            <a:ext cx="11094415" cy="3735606"/>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Accounting Disbursement ACSL takes from and hands to the other BRDs and systems (FRS chapter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Impacts on other modules</a:t>
                      </a:r>
                    </a:p>
                  </a:txBody>
                  <a:tcPr marL="73152" marR="73152" marT="36576" marB="36576">
                    <a:solidFill>
                      <a:srgbClr val="E5F5FF"/>
                    </a:solidFill>
                  </a:tcPr>
                </a:tc>
                <a:tc>
                  <a:txBody>
                    <a:bodyPr/>
                    <a:lstStyle/>
                    <a:p>
                      <a:r>
                        <a:rPr sz="1000" b="0">
                          <a:solidFill>
                            <a:srgbClr val="4B4B4B"/>
                          </a:solidFill>
                          <a:latin typeface="Arial"/>
                        </a:rPr>
                        <a:t>Disbursement pays the remittances, refunds and commission refunds of Operations and the Marketing requests; ACSL corrects the postings of every module; every module posts through the accounting rules.</a:t>
                      </a:r>
                    </a:p>
                  </a:txBody>
                  <a:tcPr marL="73152" marR="73152" marT="36576" marB="36576">
                    <a:solidFill>
                      <a:srgbClr val="E5F5FF"/>
                    </a:solidFill>
                  </a:tcPr>
                </a:tc>
                <a:tc>
                  <a:txBody>
                    <a:bodyPr/>
                    <a:lstStyle/>
                    <a:p>
                      <a:r>
                        <a:rPr sz="1000" b="0">
                          <a:solidFill>
                            <a:srgbClr val="4B4B4B"/>
                          </a:solidFill>
                          <a:latin typeface="Arial"/>
                        </a:rPr>
                        <a:t>Each change is assessed against the cross-BRD contract (FRS chapter 19); when it touches another set, a delta sign-off of the affected pages of both sets.</a:t>
                      </a:r>
                    </a:p>
                  </a:txBody>
                  <a:tcPr marL="73152" marR="73152" marT="36576" marB="36576">
                    <a:solidFill>
                      <a:srgbClr val="E5F5FF"/>
                    </a:solidFill>
                  </a:tcPr>
                </a:tc>
              </a:tr>
              <a:tr h="365760">
                <a:tc>
                  <a:txBody>
                    <a:bodyPr/>
                    <a:lstStyle/>
                    <a:p>
                      <a:r>
                        <a:rPr sz="1000" b="0">
                          <a:solidFill>
                            <a:srgbClr val="4B4B4B"/>
                          </a:solidFill>
                          <a:latin typeface="Arial"/>
                        </a:rPr>
                        <a:t>Other BRDs change Accounting and Disbursement</a:t>
                      </a:r>
                    </a:p>
                  </a:txBody>
                  <a:tcPr marL="73152" marR="73152" marT="36576" marB="36576">
                    <a:solidFill>
                      <a:srgbClr val="FFFFFF"/>
                    </a:solidFill>
                  </a:tcPr>
                </a:tc>
                <a:tc>
                  <a:txBody>
                    <a:bodyPr/>
                    <a:lstStyle/>
                    <a:p>
                      <a:r>
                        <a:rPr sz="1000" b="0">
                          <a:solidFill>
                            <a:srgbClr val="4B4B4B"/>
                          </a:solidFill>
                          <a:latin typeface="Arial"/>
                        </a:rPr>
                        <a:t>Operations (remittance batches, cashiering validations, remittance deductions), New Business (clients, booking, root invoices), User Access (roles) and Data Migration (opening balances, payees) change what this set shows.</a:t>
                      </a:r>
                    </a:p>
                  </a:txBody>
                  <a:tcPr marL="73152" marR="73152" marT="36576" marB="36576">
                    <a:solidFill>
                      <a:srgbClr val="FFFFFF"/>
                    </a:solidFill>
                  </a:tcPr>
                </a:tc>
                <a:tc>
                  <a:txBody>
                    <a:bodyPr/>
                    <a:lstStyle/>
                    <a:p>
                      <a:r>
                        <a:rPr sz="1000" b="0">
                          <a:solidFill>
                            <a:srgbClr val="4B4B4B"/>
                          </a:solidFill>
                          <a:latin typeface="Arial"/>
                        </a:rPr>
                        <a:t>The change is raised against the other BRD and assessed against the contract; when it touches this set, a delta sign-off of the affected pages only.</a:t>
                      </a:r>
                    </a:p>
                  </a:txBody>
                  <a:tcPr marL="73152" marR="73152" marT="36576" marB="36576">
                    <a:solidFill>
                      <a:srgbClr val="FFFFFF"/>
                    </a:solidFill>
                  </a:tcPr>
                </a:tc>
              </a:tr>
              <a:tr h="365760">
                <a:tc>
                  <a:txBody>
                    <a:bodyPr/>
                    <a:lstStyle/>
                    <a:p>
                      <a:r>
                        <a:rPr sz="1000" b="0">
                          <a:solidFill>
                            <a:srgbClr val="4B4B4B"/>
                          </a:solidFill>
                          <a:latin typeface="Arial"/>
                        </a:rPr>
                        <a:t>BDOI data still to give</a:t>
                      </a:r>
                    </a:p>
                  </a:txBody>
                  <a:tcPr marL="73152" marR="73152" marT="36576" marB="36576">
                    <a:solidFill>
                      <a:srgbClr val="E5F5FF"/>
                    </a:solidFill>
                  </a:tcPr>
                </a:tc>
                <a:tc>
                  <a:txBody>
                    <a:bodyPr/>
                    <a:lstStyle/>
                    <a:p>
                      <a:r>
                        <a:rPr sz="1000" b="0">
                          <a:solidFill>
                            <a:srgbClr val="4B4B4B"/>
                          </a:solidFill>
                          <a:latin typeface="Arial"/>
                        </a:rPr>
                        <a:t>The chart of accounts, the accounting entries of the transactions, the report layouts, the bank file layouts, the check and form layouts and several rates are BDOI data not given yet (AQ01-AQ31).</a:t>
                      </a:r>
                    </a:p>
                  </a:txBody>
                  <a:tcPr marL="73152" marR="73152" marT="36576" marB="36576">
                    <a:solidFill>
                      <a:srgbClr val="E5F5FF"/>
                    </a:solidFill>
                  </a:tcPr>
                </a:tc>
                <a:tc>
                  <a:txBody>
                    <a:bodyPr/>
                    <a:lstStyle/>
                    <a:p>
                      <a:r>
                        <a:rPr sz="1000" b="0">
                          <a:solidFill>
                            <a:srgbClr val="4B4B4B"/>
                          </a:solidFill>
                          <a:latin typeface="Arial"/>
                        </a:rPr>
                        <a:t>BIBS holds them as configuration with provisional values; the answer is loaded as configuration, without a change request.</a:t>
                      </a:r>
                    </a:p>
                  </a:txBody>
                  <a:tcPr marL="73152" marR="73152" marT="36576" marB="36576">
                    <a:solidFill>
                      <a:srgbClr val="E5F5FF"/>
                    </a:solidFill>
                  </a:tcPr>
                </a:tc>
              </a:tr>
              <a:tr h="365760">
                <a:tc>
                  <a:txBody>
                    <a:bodyPr/>
                    <a:lstStyle/>
                    <a:p>
                      <a:r>
                        <a:rPr sz="1000" b="0">
                          <a:solidFill>
                            <a:srgbClr val="4B4B4B"/>
                          </a:solidFill>
                          <a:latin typeface="Arial"/>
                        </a:rPr>
                        <a:t>Role matrix to confirm</a:t>
                      </a:r>
                    </a:p>
                  </a:txBody>
                  <a:tcPr marL="73152" marR="73152" marT="36576" marB="36576">
                    <a:solidFill>
                      <a:srgbClr val="FFFFFF"/>
                    </a:solidFill>
                  </a:tcPr>
                </a:tc>
                <a:tc>
                  <a:txBody>
                    <a:bodyPr/>
                    <a:lstStyle/>
                    <a:p>
                      <a:r>
                        <a:rPr sz="1000" b="0">
                          <a:solidFill>
                            <a:srgbClr val="4B4B4B"/>
                          </a:solidFill>
                          <a:latin typeface="Arial"/>
                        </a:rPr>
                        <a:t>The grants follow the role matrices read from the scanned pages; the bank reconciliation is held today by the Accountant and Finance Manager roles (AQ28, CLR-AC-15).</a:t>
                      </a:r>
                    </a:p>
                  </a:txBody>
                  <a:tcPr marL="73152" marR="73152" marT="36576" marB="36576">
                    <a:solidFill>
                      <a:srgbClr val="FFFFFF"/>
                    </a:solidFill>
                  </a:tcPr>
                </a:tc>
                <a:tc>
                  <a:txBody>
                    <a:bodyPr/>
                    <a:lstStyle/>
                    <a:p>
                      <a:r>
                        <a:rPr sz="1000" b="0">
                          <a:solidFill>
                            <a:srgbClr val="4B4B4B"/>
                          </a:solidFill>
                          <a:latin typeface="Arial"/>
                        </a:rPr>
                        <a:t>BDOI confirms the matrix; a change of a grant is applied through an access request, without a change to the screens.</a:t>
                      </a:r>
                    </a:p>
                  </a:txBody>
                  <a:tcPr marL="73152" marR="73152" marT="36576" marB="36576">
                    <a:solidFill>
                      <a:srgbClr val="FFFFFF"/>
                    </a:solidFill>
                  </a:tcPr>
                </a:tc>
              </a:tr>
              <a:tr h="365760">
                <a:tc>
                  <a:txBody>
                    <a:bodyPr/>
                    <a:lstStyle/>
                    <a:p>
                      <a:r>
                        <a:rPr sz="1000" b="0">
                          <a:solidFill>
                            <a:srgbClr val="4B4B4B"/>
                          </a:solidFill>
                          <a:latin typeface="Arial"/>
                        </a:rPr>
                        <a:t>Integrations pending BDOI IT specifications</a:t>
                      </a:r>
                    </a:p>
                  </a:txBody>
                  <a:tcPr marL="73152" marR="73152" marT="36576" marB="36576">
                    <a:solidFill>
                      <a:srgbClr val="E5F5FF"/>
                    </a:solidFill>
                  </a:tcPr>
                </a:tc>
                <a:tc>
                  <a:txBody>
                    <a:bodyPr/>
                    <a:lstStyle/>
                    <a:p>
                      <a:r>
                        <a:rPr sz="1000" b="0">
                          <a:solidFill>
                            <a:srgbClr val="4B4B4B"/>
                          </a:solidFill>
                          <a:latin typeface="Arial"/>
                        </a:rPr>
                        <a:t>The DCTF to TPD, BDO Business Online Banking, the e-filing of the BIR forms and the GARD transmission depend on BDOI IT and the bank (AQ09, AQ07, AQ31).</a:t>
                      </a:r>
                    </a:p>
                  </a:txBody>
                  <a:tcPr marL="73152" marR="73152" marT="36576" marB="36576">
                    <a:solidFill>
                      <a:srgbClr val="E5F5FF"/>
                    </a:solidFill>
                  </a:tcPr>
                </a:tc>
                <a:tc>
                  <a:txBody>
                    <a:bodyPr/>
                    <a:lstStyle/>
                    <a:p>
                      <a:r>
                        <a:rPr sz="1000" b="0">
                          <a:solidFill>
                            <a:srgbClr val="4B4B4B"/>
                          </a:solidFill>
                          <a:latin typeface="Arial"/>
                        </a:rPr>
                        <a:t>Files are produced and uploaded by the users until the transfers are specified; an automatic transfer is then a change request. The technical detail is in the Technical Specification, reviewed by BDOI IT.</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follow the assumptions of section 10.1; chapter 21 lists the proposed rules and clarifications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(lists of values, parameters, templates, rules);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reviewer asks for the cost centre on the Disbursement Workbench list: a new column, so a change request; asking which vouchers count as unregularised is a clarification.</a:t>
                      </a:r>
                    </a:p>
                  </a:txBody>
                  <a:tcPr marL="73152" marR="73152" marT="36576" marB="36576">
                    <a:solidFill>
                      <a:srgbClr val="FFFFFF"/>
                    </a:solidFill>
                  </a:tcPr>
                </a:tc>
              </a:tr>
              <a:tr h="365760">
                <a:tc>
                  <a:txBody>
                    <a:bodyPr/>
                    <a:lstStyle/>
                    <a:p>
                      <a:r>
                        <a:rPr sz="1100" b="0">
                          <a:solidFill>
                            <a:srgbClr val="4B4B4B"/>
                          </a:solidFill>
                          <a:latin typeface="Arial"/>
                        </a:rPr>
                        <a:t>Impacts on other modules</a:t>
                      </a:r>
                    </a:p>
                  </a:txBody>
                  <a:tcPr marL="73152" marR="73152" marT="36576" marB="36576">
                    <a:solidFill>
                      <a:srgbClr val="E5F5FF"/>
                    </a:solidFill>
                  </a:tcPr>
                </a:tc>
                <a:tc>
                  <a:txBody>
                    <a:bodyPr/>
                    <a:lstStyle/>
                    <a:p>
                      <a:r>
                        <a:rPr sz="1100" b="0">
                          <a:solidFill>
                            <a:srgbClr val="4B4B4B"/>
                          </a:solidFill>
                          <a:latin typeface="Arial"/>
                        </a:rPr>
                        <a:t>A new disbursement type for claims payments needs the request of Claims and its accounting rule: both owners confirm the delta.</a:t>
                      </a:r>
                    </a:p>
                  </a:txBody>
                  <a:tcPr marL="73152" marR="73152" marT="36576" marB="36576">
                    <a:solidFill>
                      <a:srgbClr val="E5F5FF"/>
                    </a:solidFill>
                  </a:tcPr>
                </a:tc>
              </a:tr>
              <a:tr h="365760">
                <a:tc>
                  <a:txBody>
                    <a:bodyPr/>
                    <a:lstStyle/>
                    <a:p>
                      <a:r>
                        <a:rPr sz="1100" b="0">
                          <a:solidFill>
                            <a:srgbClr val="4B4B4B"/>
                          </a:solidFill>
                          <a:latin typeface="Arial"/>
                        </a:rPr>
                        <a:t>Other BRDs change Accounting and Disbursement</a:t>
                      </a:r>
                    </a:p>
                  </a:txBody>
                  <a:tcPr marL="73152" marR="73152" marT="36576" marB="36576">
                    <a:solidFill>
                      <a:srgbClr val="FFFFFF"/>
                    </a:solidFill>
                  </a:tcPr>
                </a:tc>
                <a:tc>
                  <a:txBody>
                    <a:bodyPr/>
                    <a:lstStyle/>
                    <a:p>
                      <a:r>
                        <a:rPr sz="1100" b="0">
                          <a:solidFill>
                            <a:srgbClr val="4B4B4B"/>
                          </a:solidFill>
                          <a:latin typeface="Arial"/>
                        </a:rPr>
                        <a:t>Operations changes the remittance schedule columns: the remittance voucher and its documents are re-issued and signed as a delta.</a:t>
                      </a:r>
                    </a:p>
                  </a:txBody>
                  <a:tcPr marL="73152" marR="73152" marT="36576" marB="36576">
                    <a:solidFill>
                      <a:srgbClr val="FFFFFF"/>
                    </a:solidFill>
                  </a:tcPr>
                </a:tc>
              </a:tr>
              <a:tr h="365760">
                <a:tc>
                  <a:txBody>
                    <a:bodyPr/>
                    <a:lstStyle/>
                    <a:p>
                      <a:r>
                        <a:rPr sz="1100" b="0">
                          <a:solidFill>
                            <a:srgbClr val="4B4B4B"/>
                          </a:solidFill>
                          <a:latin typeface="Arial"/>
                        </a:rPr>
                        <a:t>BDOI data still to give</a:t>
                      </a:r>
                    </a:p>
                  </a:txBody>
                  <a:tcPr marL="73152" marR="73152" marT="36576" marB="36576">
                    <a:solidFill>
                      <a:srgbClr val="E5F5FF"/>
                    </a:solidFill>
                  </a:tcPr>
                </a:tc>
                <a:tc>
                  <a:txBody>
                    <a:bodyPr/>
                    <a:lstStyle/>
                    <a:p>
                      <a:r>
                        <a:rPr sz="1100" b="0">
                          <a:solidFill>
                            <a:srgbClr val="4B4B4B"/>
                          </a:solidFill>
                          <a:latin typeface="Arial"/>
                        </a:rPr>
                        <a:t>BDOI gives the layout of a GARD schedule: the schedule definition is changed on Account Schedules and the report is issued with it.</a:t>
                      </a:r>
                    </a:p>
                  </a:txBody>
                  <a:tcPr marL="73152" marR="73152" marT="36576" marB="36576">
                    <a:solidFill>
                      <a:srgbClr val="E5F5FF"/>
                    </a:solidFill>
                  </a:tcPr>
                </a:tc>
              </a:tr>
              <a:tr h="365760">
                <a:tc>
                  <a:txBody>
                    <a:bodyPr/>
                    <a:lstStyle/>
                    <a:p>
                      <a:r>
                        <a:rPr sz="1100" b="0">
                          <a:solidFill>
                            <a:srgbClr val="4B4B4B"/>
                          </a:solidFill>
                          <a:latin typeface="Arial"/>
                        </a:rPr>
                        <a:t>Role matrix to confirm</a:t>
                      </a:r>
                    </a:p>
                  </a:txBody>
                  <a:tcPr marL="73152" marR="73152" marT="36576" marB="36576">
                    <a:solidFill>
                      <a:srgbClr val="FFFFFF"/>
                    </a:solidFill>
                  </a:tcPr>
                </a:tc>
                <a:tc>
                  <a:txBody>
                    <a:bodyPr/>
                    <a:lstStyle/>
                    <a:p>
                      <a:r>
                        <a:rPr sz="1100" b="0">
                          <a:solidFill>
                            <a:srgbClr val="4B4B4B"/>
                          </a:solidFill>
                          <a:latin typeface="Arial"/>
                        </a:rPr>
                        <a:t>BDOI confirms that the GL Officer reconciles the bank accounts: the permission is added to the role.</a:t>
                      </a:r>
                    </a:p>
                  </a:txBody>
                  <a:tcPr marL="73152" marR="73152" marT="36576" marB="36576">
                    <a:solidFill>
                      <a:srgbClr val="FFFFFF"/>
                    </a:solidFill>
                  </a:tcPr>
                </a:tc>
              </a:tr>
              <a:tr h="365760">
                <a:tc>
                  <a:txBody>
                    <a:bodyPr/>
                    <a:lstStyle/>
                    <a:p>
                      <a:r>
                        <a:rPr sz="1100" b="0">
                          <a:solidFill>
                            <a:srgbClr val="4B4B4B"/>
                          </a:solidFill>
                          <a:latin typeface="Arial"/>
                        </a:rPr>
                        <a:t>Integrations pending BDOI IT specifications</a:t>
                      </a:r>
                    </a:p>
                  </a:txBody>
                  <a:tcPr marL="73152" marR="73152" marT="36576" marB="36576">
                    <a:solidFill>
                      <a:srgbClr val="E5F5FF"/>
                    </a:solidFill>
                  </a:tcPr>
                </a:tc>
                <a:tc>
                  <a:txBody>
                    <a:bodyPr/>
                    <a:lstStyle/>
                    <a:p>
                      <a:r>
                        <a:rPr sz="1100" b="0">
                          <a:solidFill>
                            <a:srgbClr val="4B4B4B"/>
                          </a:solidFill>
                          <a:latin typeface="Arial"/>
                        </a:rPr>
                        <a:t>The DCTF is downloaded from the end of day and forwarded to TPD until the transfer is agreed.</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A check goes stale after 180 days until BDOI confirms the period; the answer is a parameter value.</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a:t>
            </a:r>
          </a:p>
          <a:p>
            <a:pPr>
              <a:spcAft>
                <a:spcPts val="600"/>
              </a:spcAft>
            </a:pPr>
            <a:r>
              <a:rPr sz="1200">
                <a:solidFill>
                  <a:srgbClr val="004EA8"/>
                </a:solidFill>
                <a:latin typeface="Arial"/>
              </a:rPr>
              <a:t>•  </a:t>
            </a:r>
            <a:r>
              <a:rPr sz="1200">
                <a:solidFill>
                  <a:srgbClr val="4B4B4B"/>
                </a:solidFill>
                <a:latin typeface="Arial"/>
              </a:rPr>
              <a:t>The BRD-2 Operations walkthroughs are held (the remittance batches, refunds and cashiering validations are the input of Disbursement and ACSL).</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v2.1,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every signatory of the Who signs what matrix: prepared, input, reviewed and approved as on the BRD-5 approval sheets; the Head of Comptrollership approves the whole set.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the chart of accounts and its mapping, the accounting entries of every transaction, the cost-centre rules and the employees, the report and schedule layouts, the payees, the bank accounts and check series, the bank file and form layouts, the service-fee rates and recipients, the SOA layouts of the insurers, the lists of values, users and roles</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Migration mapping of the opening balances, the open items and the payees signed (BRD-13)</a:t>
            </a:r>
          </a:p>
          <a:p>
            <a:pPr lvl="1">
              <a:spcAft>
                <a:spcPts val="600"/>
              </a:spcAft>
            </a:pPr>
            <a:r>
              <a:rPr sz="1400">
                <a:solidFill>
                  <a:srgbClr val="656565"/>
                </a:solidFill>
                <a:latin typeface="Arial"/>
              </a:rPr>
              <a:t>–  </a:t>
            </a:r>
            <a:r>
              <a:rPr sz="1400">
                <a:solidFill>
                  <a:srgbClr val="4B4B4B"/>
                </a:solidFill>
                <a:latin typeface="Arial"/>
              </a:rPr>
              <a:t>After sign-off the content is frozen as signed and the approved deltas are scheduled.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Ronald Allan E. De Leon, VP, Head - Comptrollership</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Approvers</a:t>
                      </a:r>
                    </a:p>
                  </a:txBody>
                  <a:tcPr marL="73152" marR="73152" marT="36576" marB="36576">
                    <a:solidFill>
                      <a:srgbClr val="E5F5FF"/>
                    </a:solidFill>
                  </a:tcPr>
                </a:tc>
                <a:tc>
                  <a:txBody>
                    <a:bodyPr/>
                    <a:lstStyle/>
                    <a:p>
                      <a:r>
                        <a:rPr sz="1000" b="0">
                          <a:solidFill>
                            <a:srgbClr val="4B4B4B"/>
                          </a:solidFill>
                          <a:latin typeface="Arial"/>
                        </a:rPr>
                        <a:t>Iris S. Marquez (FRBS and ACSL), Rodrigo R. Dela Cruz (Disbursement), Perjelyn Joy R. Gutierrez (Comptrollership and Operations), Shellah Marie C. Miranda (Marketing, Processing and Collections), Roderick L. Lim (Institutional Banking, SM and BDO Accounts)</a:t>
                      </a:r>
                    </a:p>
                  </a:txBody>
                  <a:tcPr marL="73152" marR="73152" marT="36576" marB="36576">
                    <a:solidFill>
                      <a:srgbClr val="E5F5FF"/>
                    </a:solidFill>
                  </a:tcPr>
                </a:tc>
                <a:tc>
                  <a:txBody>
                    <a:bodyPr/>
                    <a:lstStyle/>
                    <a:p>
                      <a:r>
                        <a:rPr sz="1000" b="0">
                          <a:solidFill>
                            <a:srgbClr val="4B4B4B"/>
                          </a:solidFill>
                          <a:latin typeface="Arial"/>
                        </a:rPr>
                        <a:t>Approve the screens and rules of their units</a:t>
                      </a:r>
                    </a:p>
                  </a:txBody>
                  <a:tcPr marL="73152" marR="73152" marT="36576" marB="36576">
                    <a:solidFill>
                      <a:srgbClr val="E5F5FF"/>
                    </a:solidFill>
                  </a:tcPr>
                </a:tc>
              </a:tr>
              <a:tr h="365760">
                <a:tc>
                  <a:txBody>
                    <a:bodyPr/>
                    <a:lstStyle/>
                    <a:p>
                      <a:r>
                        <a:rPr sz="1000" b="0">
                          <a:solidFill>
                            <a:srgbClr val="4B4B4B"/>
                          </a:solidFill>
                          <a:latin typeface="Arial"/>
                        </a:rPr>
                        <a:t>Reviewers</a:t>
                      </a:r>
                    </a:p>
                  </a:txBody>
                  <a:tcPr marL="73152" marR="73152" marT="36576" marB="36576">
                    <a:solidFill>
                      <a:srgbClr val="FFFFFF"/>
                    </a:solidFill>
                  </a:tcPr>
                </a:tc>
                <a:tc>
                  <a:txBody>
                    <a:bodyPr/>
                    <a:lstStyle/>
                    <a:p>
                      <a:r>
                        <a:rPr sz="1000" b="0">
                          <a:solidFill>
                            <a:srgbClr val="4B4B4B"/>
                          </a:solidFill>
                          <a:latin typeface="Arial"/>
                        </a:rPr>
                        <a:t>Freddie A. Atanque and Jennifer T. Lugtu (ACSL); Rhommel Mark Galler (MBS); Ma. Fides Rivera, Ruby Evangelista and Darryl Castillo (MBS input)</a:t>
                      </a:r>
                    </a:p>
                  </a:txBody>
                  <a:tcPr marL="73152" marR="73152" marT="36576" marB="36576">
                    <a:solidFill>
                      <a:srgbClr val="FFFFFF"/>
                    </a:solidFill>
                  </a:tcPr>
                </a:tc>
                <a:tc>
                  <a:txBody>
                    <a:bodyPr/>
                    <a:lstStyle/>
                    <a:p>
                      <a:r>
                        <a:rPr sz="1000" b="0">
                          <a:solidFill>
                            <a:srgbClr val="4B4B4B"/>
                          </a:solidFill>
                          <a:latin typeface="Arial"/>
                        </a:rPr>
                        <a:t>Review their screens and rows; raise comments</a:t>
                      </a:r>
                    </a:p>
                  </a:txBody>
                  <a:tcPr marL="73152" marR="73152" marT="36576" marB="36576">
                    <a:solidFill>
                      <a:srgbClr val="FFFFFF"/>
                    </a:solidFill>
                  </a:tcPr>
                </a:tc>
              </a:tr>
              <a:tr h="365760">
                <a:tc>
                  <a:txBody>
                    <a:bodyPr/>
                    <a:lstStyle/>
                    <a:p>
                      <a:r>
                        <a:rPr sz="1000" b="0">
                          <a:solidFill>
                            <a:srgbClr val="4B4B4B"/>
                          </a:solidFill>
                          <a:latin typeface="Arial"/>
                        </a:rPr>
                        <a:t>BDOI IT</a:t>
                      </a:r>
                    </a:p>
                  </a:txBody>
                  <a:tcPr marL="73152" marR="73152" marT="36576" marB="36576">
                    <a:solidFill>
                      <a:srgbClr val="E5F5FF"/>
                    </a:solidFill>
                  </a:tcPr>
                </a:tc>
                <a:tc>
                  <a:txBody>
                    <a:bodyPr/>
                    <a:lstStyle/>
                    <a:p>
                      <a:r>
                        <a:rPr sz="1000" b="0">
                          <a:solidFill>
                            <a:srgbClr val="4B4B4B"/>
                          </a:solidFill>
                          <a:latin typeface="Arial"/>
                        </a:rPr>
                        <a:t>Information Technology Group (Carmela A. Morfe, Yonille D. Guy, Abegail R. Panghulan, Nelda R. Ranchez)</a:t>
                      </a:r>
                    </a:p>
                  </a:txBody>
                  <a:tcPr marL="73152" marR="73152" marT="36576" marB="36576">
                    <a:solidFill>
                      <a:srgbClr val="E5F5FF"/>
                    </a:solidFill>
                  </a:tcPr>
                </a:tc>
                <a:tc>
                  <a:txBody>
                    <a:bodyPr/>
                    <a:lstStyle/>
                    <a:p>
                      <a:r>
                        <a:rPr sz="1000" b="0">
                          <a:solidFill>
                            <a:srgbClr val="4B4B4B"/>
                          </a:solidFill>
                          <a:latin typeface="Arial"/>
                        </a:rPr>
                        <a:t>Reviews the scheduled runs, files, access and the Technical Specification</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Dan Ace R. Cauton, Program Manager, and Roda Lyn D. Gallardo, Zean C. Ibay and Jane Tagle, Business Analysts, ESG-BPS</a:t>
                      </a:r>
                    </a:p>
                  </a:txBody>
                  <a:tcPr marL="73152" marR="73152" marT="36576" marB="36576">
                    <a:solidFill>
                      <a:srgbClr val="FFFFFF"/>
                    </a:solidFill>
                  </a:tcPr>
                </a:tc>
                <a:tc>
                  <a:txBody>
                    <a:bodyPr/>
                    <a:lstStyle/>
                    <a:p>
                      <a:r>
                        <a:rPr sz="1000" b="0">
                          <a:solidFill>
                            <a:srgbClr val="4B4B4B"/>
                          </a:solidFill>
                          <a:latin typeface="Arial"/>
                        </a:rPr>
                        <a:t>Traceability to the BRD;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BRD-5 Accounting Disbursement ACSL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Wed 25-Nov-2026</a:t>
            </a:r>
          </a:p>
          <a:p>
            <a:pPr>
              <a:spcAft>
                <a:spcPts val="600"/>
              </a:spcAft>
            </a:pPr>
            <a:r>
              <a:rPr sz="1600">
                <a:solidFill>
                  <a:srgbClr val="004EA8"/>
                </a:solidFill>
                <a:latin typeface="Arial"/>
              </a:rPr>
              <a:t>•  </a:t>
            </a:r>
            <a:r>
              <a:rPr sz="1600">
                <a:solidFill>
                  <a:srgbClr val="4B4B4B"/>
                </a:solidFill>
                <a:latin typeface="Arial"/>
              </a:rPr>
              <a:t>Workbooks returned by Mon 14-Dec-2026; Q&amp;A on Wed 16-Dec-2026; sign-off on Wed 23-Dec-2026</a:t>
            </a:r>
          </a:p>
          <a:p>
            <a:pPr>
              <a:spcAft>
                <a:spcPts val="600"/>
              </a:spcAft>
            </a:pPr>
            <a:r>
              <a:rPr sz="1600">
                <a:solidFill>
                  <a:srgbClr val="004EA8"/>
                </a:solidFill>
                <a:latin typeface="Arial"/>
              </a:rPr>
              <a:t>•  </a:t>
            </a:r>
            <a:r>
              <a:rPr sz="1600">
                <a:solidFill>
                  <a:srgbClr val="4B4B4B"/>
                </a:solidFill>
                <a:latin typeface="Arial"/>
              </a:rPr>
              <a:t>BRD-13 Data Migration follows (opening balances, open items and payees), then BRD-7 and BRD-8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BRD-5 Accounting Disbursement ACSL</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