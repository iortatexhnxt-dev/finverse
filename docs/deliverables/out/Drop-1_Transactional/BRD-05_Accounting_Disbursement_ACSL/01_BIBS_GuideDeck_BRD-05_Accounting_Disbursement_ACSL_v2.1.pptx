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guides the business units through the BRD-5 Accounting Disbursement ACSL sign-off pack, release set v2.1. It explains what the pack is, how to read it, the steps up to sign-off and what happens after. It is presented at the kick-off and stays in the pack as file 01.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that the pack shows the screens, fields, rules and messages the business is asked to confirm.</a:t>
            </a:r>
          </a:p>
          <a:p>
            <a:r>
              <a:t>Signing means: this is what we get; the look, feel, fields, rules, messages and navigation are frozen.</a:t>
            </a:r>
          </a:p>
          <a:p>
            <a:r>
              <a:t>Data on the screenshots is seed data of the SIT environment; names and numbers are fictitious.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files are numbered in reading order so they sort that way in the BRD folder. 00 Start Here is the short version of this deck; 02 FRS and 03 workbook carry the same rows; 04 and 05 are the test plan traced to the screens; 07 to 09 are the UX screen documents for the BDOI UX Design team, taken from the same screens.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files are numbered in reading order so they sort that way in the BRD folder. 00 Start Here is the short version of this deck; 02 FRS and 03 workbook carry the same rows; 04 and 05 are the test plan traced to the screens; 07 to 09 are the UX screen documents for the BDOI UX Design team, taken from the same screens.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Nobody needs to read the whole FRS. Each role starts with its chapters and its sheets of the workbook; the walkthroughs in chapter 14 are the fastest way to see the whole process.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Pack issued: Day 0 (Thu 8-Oct-2026); sessions scheduled after the BRD-4 Collections walkthroughs.</a:t>
            </a:r>
          </a:p>
          <a:p>
            <a:r>
              <a:t>2. Kick-off and screen walkthrough on SIT: 5 sessions, 25-Nov to 1-Dec-2026.</a:t>
            </a:r>
          </a:p>
          <a:p>
            <a:r>
              <a:t>3. Review with the workbook: 10 working days after the walkthroughs, until Mon 14-Dec-2026.</a:t>
            </a:r>
          </a:p>
          <a:p>
            <a:r>
              <a:t>4. Comments consolidated and a Q&amp;A session: 2 working days, Q&amp;A on Wed 16-Dec-2026.</a:t>
            </a:r>
          </a:p>
          <a:p>
            <a:r>
              <a:t>5. One revision cycle (v2.2): 2 working days, v2.2 on Fri 18-Dec-2026; check by the reviewers until Tue 22-Dec-2026.</a:t>
            </a:r>
          </a:p>
          <a:p>
            <a:r>
              <a:t>6. Sign-off meeting and signature: Wed 23-Dec-2026.</a:t>
            </a:r>
          </a:p>
          <a:p>
            <a:r>
              <a:t>7. Content freeze: From Mon 28-Dec-2026.</a:t>
            </a:r>
          </a:p>
          <a:p>
            <a:r>
              <a:t>8. Traceability into SIT and UAT: SIT Jan - Jul 2027; UAT Aug - Dec 2027.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responsible, A accountable, C consulted, I informed. The durations are indicative; the dates are those of the Start Here guide.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responsible, A accountable, C consulted, I informed. The durations are indicative; the dates are those of the Start Here guide.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 holds business content only: screens, fields, rules, messages, notifications, documents, walkthroughs and reports. Business users sign the business content; BDOI IT reviews the interfaces, the user access and the Technical Specification, a separate document that holds the technical content; the Program Manager of Business Project Services reviews the traceability and the completeness; the Product Owner approves the whole set; iorta TechNXT prepares it.</a:t>
            </a:r>
          </a:p>
          <a:p>
            <a:r>
              <a:t>The roles are those of the BRD approval sheet (BRD-5 approval sheets: main BRD p.141-142 (Prepared, Input Provided, Reviewed, Approved by), Addendum 1 p.39-40 and the Workshop Addendum p.15-16).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 holds business content only: screens, fields, rules, messages, notifications, documents, walkthroughs and reports. Business users sign the business content; BDOI IT reviews the interfaces, the user access and the Technical Specification, a separate document that holds the technical content; the Program Manager of Business Project Services reviews the traceability and the completeness; the Product Owner approves the whole set; iorta TechNXT prepares it.</a:t>
            </a:r>
          </a:p>
          <a:p>
            <a:r>
              <a:t>The roles are those of the BRD approval sheet (BRD-5 approval sheets: main BRD p.141-142 (Prepared, Input Provided, Reviewed, Approved by), Addendum 1 p.39-40 and the Workshop Addendum p.15-16).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certificate sheet of the workbook lists the same signatories in the same order: prepared by, input provided by, reviewed by, approved by, as on the BRD approval sheet. A role the set adds to the approval sheet is marked there.</a:t>
            </a:r>
          </a:p>
          <a:p>
            <a:r>
              <a:t>iorta TechNXT project team: Project Manager, Business Analysis, test lead: Added for this set (author of the FRS set).</a:t>
            </a:r>
          </a:p>
          <a:p>
            <a:r>
              <a:t>Business Analysts, Enterprise Services Group - Business Project Services (BPS) (Roda Lyn D. Gallardo; Zean C. Ibay and Jane Tagle for the Workshop Addendum): Prepared by (p.141, p.39, p.15).</a:t>
            </a:r>
          </a:p>
          <a:p>
            <a:r>
              <a:t>Marketing Business Services and System Support (MBS Team) (Ma. Fides Rivera; Ruby Evangelista and Darryl Castillo for the Workshop Addendum): Input Provided by (p.141, p.39, p.15).</a:t>
            </a:r>
          </a:p>
          <a:p>
            <a:r>
              <a:t>Program Manager, Enterprise Services Group - Business Project Services (BPS) (Dan Ace R. Cauton): Reviewed by (p.141, p.39, p.16).</a:t>
            </a:r>
          </a:p>
          <a:p>
            <a:r>
              <a:t>Product Owners - Comptrollership - ACSL (Freddie A. Atanque, Jennifer T. Lugtu): Reviewed by (p.141, p.40); Input Provided by (p.15).</a:t>
            </a:r>
          </a:p>
          <a:p>
            <a:r>
              <a:t>BDOI Information Technology Group (Carmela A. Morfe, Yonille D. Guy, Abegail R. Panghulan, Nelda R. Ranchez): Reviewed by (p.39).</a:t>
            </a:r>
          </a:p>
          <a:p>
            <a:r>
              <a:t>Marketing Business Services and System Support (Rhommel Mark Galler): Reviewed by (p.16).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certificate sheet of the workbook lists the same signatories in the same order: prepared by, input provided by, reviewed by, approved by, as on the BRD approval sheet. A role the set adds to the approval sheet is marked there.</a:t>
            </a:r>
          </a:p>
          <a:p>
            <a:r>
              <a:t>Product Owner - Comptrollership - Disbursement (Rodrigo R. Dela Cruz): Approved by (p.141, p.40); Input Provided by (p.15).</a:t>
            </a:r>
          </a:p>
          <a:p>
            <a:r>
              <a:t>Product Owner - Comptrollership - FRBS and ACSL (Iris S. Marquez): Approved by (p.141, p.40); Input Provided by (p.15).</a:t>
            </a:r>
          </a:p>
          <a:p>
            <a:r>
              <a:t>Product Owner - Comptrollership and Operations (Perjelyn Joy R. Gutierrez): Approved by (p.142).</a:t>
            </a:r>
          </a:p>
          <a:p>
            <a:r>
              <a:t>Product Owner - Marketing, Processing and Collections, AVP (Shellah Marie C. Miranda): Approved by (p.142, p.40, p.16).</a:t>
            </a:r>
          </a:p>
          <a:p>
            <a:r>
              <a:t>Head - Comptrollership, VP (Ronald Allan E. De Leon): Approved by (p.142, p.40, p.16).</a:t>
            </a:r>
          </a:p>
          <a:p>
            <a:r>
              <a:t>Head - Institutional Banking, SM and BDO Accounts, FVP (Roderick L. Lim; Head - Retail Marketing on the Workshop Addendum): Approved by (p.142, p.40, p.16).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 column is the numbered marker on the screenshot of the FRS, or the column number of a load template. The drop-down columns accept only the listed values. The Comments log, Meeting minutes and Version history sheets are kept by the project team; the Sign-off certificate is signed at the end.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persona sees only the menu entries of its role; the full menu of each persona is in FRS chapter 12 and on the Menu by persona sheet of the workbook.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Screenshots of the SIT environment with seed data; every screen of the module is in FRS chapter 13.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rules the business units ask about most. Each rule is stated with its FR on the screen where it applies.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contract is part of the signed set. A change to anything in this contract is raised in the Change Management Register and assessed with the owners of the other BRD: Disbursement pays what Operations, Marketing and Comptrollership request and reports the payment back, and ACSL corrects the postings of every module, so a change of a disbursement type, a request status or an accounting rule changes what the other BRDs send or receive and is signed by both owners as a delta.</a:t>
            </a:r>
          </a:p>
          <a:p>
            <a:r>
              <a:t>IC-01 Every BIBS module (New Business, Operations, Collections, Claims, Renewal) (In): The business events that post to the ledger (bookings, receipts, remittances, adjustments, commission, vouchers, corrections) with their amounts by component</a:t>
            </a:r>
          </a:p>
          <a:p>
            <a:r>
              <a:t>IC-02 BRD-2 Operations (Remittance) (In): The remittance of an approved remittance batch to the insurer, with the CPC2 and the early-incentive service invoice, the deductions applied and the insurer's DTIP</a:t>
            </a:r>
          </a:p>
          <a:p>
            <a:r>
              <a:t>IC-03 BRD-2 Operations (Remittance, Cashiering, Adjustment) (Out): The status of each payment request (voucher created, approved, paid, returned, cancelled) and the regularisation of a cancelled approved voucher (the remittance restored, the refund put back)</a:t>
            </a:r>
          </a:p>
          <a:p>
            <a:r>
              <a:t>IC-04 BRD-2 Operations (Cashiering) (Out): The validation of the refund of a cancelled policy and the reversal of a payment application asked by ACSL</a:t>
            </a:r>
          </a:p>
          <a:p>
            <a:r>
              <a:t>IC-05 BRD-2 Operations (Remittance Deductions) (Out): The deduction of an AR insurer's refund from the next remittance of the insurer, confirmed by the ACSL Team Leader on the insurer's confirmation</a:t>
            </a:r>
          </a:p>
          <a:p>
            <a:r>
              <a:t>IC-06 BRD-2 Operations (invoice ledger) (In): The invoices with their family (root invoice), components, payments and statuses, read by the SOA reconciliation, the cases and the corrections</a:t>
            </a:r>
          </a:p>
          <a:p>
            <a:r>
              <a:t>IC-07 BRD-1 New Business (clients) (In / Out): The client of a refund and its CA / SA account; the account approved on a refund is written back to the client record</a:t>
            </a:r>
          </a:p>
          <a:p>
            <a:r>
              <a:t>IC-08 BRD-1 New Business (booking) (In): The root invoice of each booking, endorsement and cancellation, and the service invoices of the early incentive</a:t>
            </a:r>
          </a:p>
          <a:p>
            <a:r>
              <a:t>IC-09 BRD-11 User Access Maintenance and BRD-1 (lists of values) (In): The users, roles and permissions of the BRD-5 personas; the lists of values (payee classes, disbursement types, reasons, categories)</a:t>
            </a:r>
          </a:p>
          <a:p>
            <a:r>
              <a:t>IC-10 BDO bank channels (TPD / ACA, branches, BDO Business Online Banking) (Out / In): The DCTF, the ATD, MC / DD, credit ticket and TT forms and the checks; back from the bank the credited accounts, the negotiated checks and the online banking approvals</a:t>
            </a:r>
          </a:p>
          <a:p>
            <a:r>
              <a:t>IC-11 Insurers (In): The statements of account of each insurer, and the BIR 2307 certificates on commission and incentives</a:t>
            </a:r>
          </a:p>
          <a:p>
            <a:r>
              <a:t>IC-12 BDO Unibank (GARD) and the BIR (Out): The GARD statements and schedules of the report pack; the BIR returns, alphalists and books of accounts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ways to handle a case: an in-scope clarification (no change to the signed set, answered in the comments log); a change request with mandays in the Change Management Register; a delta sign-off of the affected pages only.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examples to agree the handling of a case during the review.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sign-off meeting starts when the exit criteria are met; the set is done when the certificate is signed and the content of the set is frozen.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sign-off the content is frozen as signed and the approved deltas are scheduled.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in a signed set changes without a request in the register.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a:t>
            </a:r>
          </a:p>
          <a:p>
            <a:r>
              <a:t>Kick-off and first SIT walkthrough on Wed 25-Nov-2026</a:t>
            </a:r>
          </a:p>
          <a:p>
            <a:r>
              <a:t>Workbooks returned by Mon 14-Dec-2026; Q&amp;A on Wed 16-Dec-2026; sign-off on Wed 23-Dec-2026</a:t>
            </a:r>
          </a:p>
          <a:p>
            <a:r>
              <a:t>BRD-13 Data Migration follows (opening balances, open items and payees), then BRD-7 and BRD-8</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other BRD sets follow the same pack, guide and steps.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ient-logo.png"/>
          <p:cNvPicPr>
            <a:picLocks noChangeAspect="1"/>
          </p:cNvPicPr>
          <p:nvPr/>
        </p:nvPicPr>
        <p:blipFill>
          <a:blip r:embed="rId2"/>
          <a:stretch>
            <a:fillRect/>
          </a:stretch>
        </p:blipFill>
        <p:spPr>
          <a:xfrm>
            <a:off x="548640" y="548640"/>
            <a:ext cx="2926080" cy="596053"/>
          </a:xfrm>
          <a:prstGeom prst="rect">
            <a:avLst/>
          </a:prstGeom>
        </p:spPr>
      </p:pic>
      <p:sp>
        <p:nvSpPr>
          <p:cNvPr id="3" name="TextBox 2"/>
          <p:cNvSpPr txBox="1"/>
          <p:nvPr/>
        </p:nvSpPr>
        <p:spPr>
          <a:xfrm>
            <a:off x="548640" y="2194560"/>
            <a:ext cx="10058400" cy="1280160"/>
          </a:xfrm>
          <a:prstGeom prst="rect">
            <a:avLst/>
          </a:prstGeom>
          <a:noFill/>
        </p:spPr>
        <p:txBody>
          <a:bodyPr wrap="square" anchor="b" lIns="45720" rIns="45720">
            <a:spAutoFit/>
          </a:bodyPr>
          <a:lstStyle/>
          <a:p>
            <a:r>
              <a:rPr sz="4000" b="1" i="0">
                <a:solidFill>
                  <a:srgbClr val="004EA8"/>
                </a:solidFill>
                <a:latin typeface="Arial"/>
              </a:rPr>
              <a:t>Sign-off Pack Guide: BRD-5 Accounting Disbursement ACSL</a:t>
            </a:r>
          </a:p>
        </p:txBody>
      </p:sp>
      <p:sp>
        <p:nvSpPr>
          <p:cNvPr id="4" name="Rectangle 3"/>
          <p:cNvSpPr/>
          <p:nvPr/>
        </p:nvSpPr>
        <p:spPr>
          <a:xfrm>
            <a:off x="548640" y="3611880"/>
            <a:ext cx="201168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794760"/>
            <a:ext cx="10058400" cy="548640"/>
          </a:xfrm>
          <a:prstGeom prst="rect">
            <a:avLst/>
          </a:prstGeom>
          <a:noFill/>
        </p:spPr>
        <p:txBody>
          <a:bodyPr wrap="square" anchor="t" lIns="45720" rIns="45720">
            <a:spAutoFit/>
          </a:bodyPr>
          <a:lstStyle/>
          <a:p>
            <a:r>
              <a:rPr sz="2000" b="0" i="0">
                <a:solidFill>
                  <a:srgbClr val="2E2E2E"/>
                </a:solidFill>
                <a:latin typeface="Arial"/>
              </a:rPr>
              <a:t>BRD-5 Accounting Disbursement ACSL business sign-off pack, release set v2.1</a:t>
            </a:r>
          </a:p>
        </p:txBody>
      </p:sp>
      <p:sp>
        <p:nvSpPr>
          <p:cNvPr id="6" name="TextBox 5"/>
          <p:cNvSpPr txBox="1"/>
          <p:nvPr/>
        </p:nvSpPr>
        <p:spPr>
          <a:xfrm>
            <a:off x="548640" y="4343400"/>
            <a:ext cx="10058400" cy="457200"/>
          </a:xfrm>
          <a:prstGeom prst="rect">
            <a:avLst/>
          </a:prstGeom>
          <a:noFill/>
        </p:spPr>
        <p:txBody>
          <a:bodyPr wrap="square" anchor="t" lIns="45720" rIns="45720">
            <a:spAutoFit/>
          </a:bodyPr>
          <a:lstStyle/>
          <a:p>
            <a:r>
              <a:rPr sz="1600" b="0" i="0">
                <a:solidFill>
                  <a:srgbClr val="656565"/>
                </a:solidFill>
                <a:latin typeface="Arial"/>
              </a:rPr>
              <a:t>BIBS – BDOI Broker System</a:t>
            </a:r>
          </a:p>
        </p:txBody>
      </p:sp>
      <p:sp>
        <p:nvSpPr>
          <p:cNvPr id="7" name="TextBox 6"/>
          <p:cNvSpPr txBox="1"/>
          <p:nvPr/>
        </p:nvSpPr>
        <p:spPr>
          <a:xfrm>
            <a:off x="548640" y="5943600"/>
            <a:ext cx="8229600" cy="365760"/>
          </a:xfrm>
          <a:prstGeom prst="rect">
            <a:avLst/>
          </a:prstGeom>
          <a:noFill/>
        </p:spPr>
        <p:txBody>
          <a:bodyPr wrap="square" anchor="t" lIns="45720" rIns="45720">
            <a:spAutoFit/>
          </a:bodyPr>
          <a:lstStyle/>
          <a:p>
            <a:r>
              <a:rPr sz="1100" b="0" i="0">
                <a:solidFill>
                  <a:srgbClr val="656565"/>
                </a:solidFill>
                <a:latin typeface="Arial"/>
              </a:rPr>
              <a:t>BDO Insurance and Reinsurance Brokers, Inc. | Version 2.1 | 8 October 2026 | Confidential</a:t>
            </a:r>
          </a:p>
        </p:txBody>
      </p:sp>
      <p:sp>
        <p:nvSpPr>
          <p:cNvPr id="8" name="TextBox 7"/>
          <p:cNvSpPr txBox="1"/>
          <p:nvPr/>
        </p:nvSpPr>
        <p:spPr>
          <a:xfrm>
            <a:off x="8351215" y="5897880"/>
            <a:ext cx="1828800" cy="365760"/>
          </a:xfrm>
          <a:prstGeom prst="rect">
            <a:avLst/>
          </a:prstGeom>
          <a:noFill/>
        </p:spPr>
        <p:txBody>
          <a:bodyPr wrap="square" anchor="ctr" lIns="45720" rIns="45720">
            <a:spAutoFit/>
          </a:bodyPr>
          <a:lstStyle/>
          <a:p>
            <a:pPr algn="r"/>
            <a:r>
              <a:rPr sz="1000" b="0" i="0">
                <a:solidFill>
                  <a:srgbClr val="656565"/>
                </a:solidFill>
                <a:latin typeface="Arial"/>
              </a:rPr>
              <a:t>Prepared by</a:t>
            </a:r>
          </a:p>
        </p:txBody>
      </p:sp>
      <p:pic>
        <p:nvPicPr>
          <p:cNvPr id="9" name="Picture 8" descr="iorta-technxt.png"/>
          <p:cNvPicPr>
            <a:picLocks noChangeAspect="1"/>
          </p:cNvPicPr>
          <p:nvPr/>
        </p:nvPicPr>
        <p:blipFill>
          <a:blip r:embed="rId3"/>
          <a:stretch>
            <a:fillRect/>
          </a:stretch>
        </p:blipFill>
        <p:spPr>
          <a:xfrm>
            <a:off x="10271455" y="5806440"/>
            <a:ext cx="1371600" cy="40421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Purpose of the pack and what sign-off means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800">
                <a:solidFill>
                  <a:srgbClr val="004EA8"/>
                </a:solidFill>
                <a:latin typeface="Arial"/>
              </a:rPr>
              <a:t>•  </a:t>
            </a:r>
            <a:r>
              <a:rPr sz="1800">
                <a:solidFill>
                  <a:srgbClr val="4B4B4B"/>
                </a:solidFill>
                <a:latin typeface="Arial"/>
              </a:rPr>
              <a:t>The pack shows the proposed Accounting Disbursement ACSL of BIBS, screen by screen, so each business unit confirms what it will get</a:t>
            </a:r>
          </a:p>
          <a:p>
            <a:pPr lvl="1">
              <a:spcAft>
                <a:spcPts val="600"/>
              </a:spcAft>
            </a:pPr>
            <a:r>
              <a:rPr sz="1600">
                <a:solidFill>
                  <a:srgbClr val="656565"/>
                </a:solidFill>
                <a:latin typeface="Arial"/>
              </a:rPr>
              <a:t>–  </a:t>
            </a:r>
            <a:r>
              <a:rPr sz="1600">
                <a:solidFill>
                  <a:srgbClr val="4B4B4B"/>
                </a:solidFill>
                <a:latin typeface="Arial"/>
              </a:rPr>
              <a:t>Content: 51 screens, 293 fields, 98 business rules, 378 messages</a:t>
            </a:r>
          </a:p>
          <a:p>
            <a:pPr lvl="1">
              <a:spcAft>
                <a:spcPts val="600"/>
              </a:spcAft>
            </a:pPr>
            <a:r>
              <a:rPr sz="1600">
                <a:solidFill>
                  <a:srgbClr val="656565"/>
                </a:solidFill>
                <a:latin typeface="Arial"/>
              </a:rPr>
              <a:t>–  </a:t>
            </a:r>
            <a:r>
              <a:rPr sz="1600">
                <a:solidFill>
                  <a:srgbClr val="4B4B4B"/>
                </a:solidFill>
                <a:latin typeface="Arial"/>
              </a:rPr>
              <a:t>Every screen with numbered fields, the navigation per persona, three end-to-end walkthroughs</a:t>
            </a:r>
          </a:p>
          <a:p>
            <a:pPr>
              <a:spcAft>
                <a:spcPts val="600"/>
              </a:spcAft>
            </a:pPr>
            <a:r>
              <a:rPr sz="1800">
                <a:solidFill>
                  <a:srgbClr val="004EA8"/>
                </a:solidFill>
                <a:latin typeface="Arial"/>
              </a:rPr>
              <a:t>•  </a:t>
            </a:r>
            <a:r>
              <a:rPr sz="1800">
                <a:solidFill>
                  <a:srgbClr val="4B4B4B"/>
                </a:solidFill>
                <a:latin typeface="Arial"/>
              </a:rPr>
              <a:t>Signing freezes the content, the screens and the navigation of the module</a:t>
            </a:r>
          </a:p>
          <a:p>
            <a:pPr lvl="1">
              <a:spcAft>
                <a:spcPts val="600"/>
              </a:spcAft>
            </a:pPr>
            <a:r>
              <a:rPr sz="1600">
                <a:solidFill>
                  <a:srgbClr val="656565"/>
                </a:solidFill>
                <a:latin typeface="Arial"/>
              </a:rPr>
              <a:t>–  </a:t>
            </a:r>
            <a:r>
              <a:rPr sz="1600">
                <a:solidFill>
                  <a:srgbClr val="4B4B4B"/>
                </a:solidFill>
                <a:latin typeface="Arial"/>
              </a:rPr>
              <a:t>After sign-off a change goes through the Change Management Register with its mandays</a:t>
            </a:r>
          </a:p>
          <a:p>
            <a:pPr lvl="1">
              <a:spcAft>
                <a:spcPts val="600"/>
              </a:spcAft>
            </a:pPr>
            <a:r>
              <a:rPr sz="1600">
                <a:solidFill>
                  <a:srgbClr val="656565"/>
                </a:solidFill>
                <a:latin typeface="Arial"/>
              </a:rPr>
              <a:t>–  </a:t>
            </a:r>
            <a:r>
              <a:rPr sz="1600">
                <a:solidFill>
                  <a:srgbClr val="4B4B4B"/>
                </a:solidFill>
                <a:latin typeface="Arial"/>
              </a:rPr>
              <a:t>Configuration values marked default (SLA hours, thresholds, list entries, templates) stay open</a:t>
            </a:r>
          </a:p>
          <a:p>
            <a:pPr>
              <a:spcAft>
                <a:spcPts val="600"/>
              </a:spcAft>
            </a:pPr>
            <a:r>
              <a:rPr sz="1800">
                <a:solidFill>
                  <a:srgbClr val="004EA8"/>
                </a:solidFill>
                <a:latin typeface="Arial"/>
              </a:rPr>
              <a:t>•  </a:t>
            </a:r>
            <a:r>
              <a:rPr sz="1800">
                <a:solidFill>
                  <a:srgbClr val="4B4B4B"/>
                </a:solidFill>
                <a:latin typeface="Arial"/>
              </a:rPr>
              <a:t>The screenshots use fictitious seed data only, in the BDO theme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The pack at a glance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a:t>
            </a:r>
          </a:p>
        </p:txBody>
      </p:sp>
      <p:graphicFrame>
        <p:nvGraphicFramePr>
          <p:cNvPr id="9" name="Table 8"/>
          <p:cNvGraphicFramePr>
            <a:graphicFrameLocks noGrp="1"/>
          </p:cNvGraphicFramePr>
          <p:nvPr/>
        </p:nvGraphicFramePr>
        <p:xfrm>
          <a:off x="548640" y="1371600"/>
          <a:ext cx="11094413" cy="2194560"/>
        </p:xfrm>
        <a:graphic>
          <a:graphicData uri="http://schemas.openxmlformats.org/drawingml/2006/table">
            <a:tbl>
              <a:tblPr firstRow="1" bandRow="1">
                <a:tableStyleId>{5C22544A-7EE6-4342-B048-85BDC9FD1C3A}</a:tableStyleId>
              </a:tblPr>
              <a:tblGrid>
                <a:gridCol w="3025749"/>
                <a:gridCol w="4370527"/>
                <a:gridCol w="2185263"/>
                <a:gridCol w="1512874"/>
              </a:tblGrid>
              <a:tr h="365760">
                <a:tc>
                  <a:txBody>
                    <a:bodyPr/>
                    <a:lstStyle/>
                    <a:p>
                      <a:r>
                        <a:rPr sz="1000" b="1">
                          <a:solidFill>
                            <a:srgbClr val="FFFFFF"/>
                          </a:solidFill>
                          <a:latin typeface="Arial"/>
                        </a:rPr>
                        <a:t>File</a:t>
                      </a:r>
                    </a:p>
                  </a:txBody>
                  <a:tcPr marL="73152" marR="73152" marT="36576" marB="36576">
                    <a:solidFill>
                      <a:srgbClr val="004EA8"/>
                    </a:solidFill>
                  </a:tcPr>
                </a:tc>
                <a:tc>
                  <a:txBody>
                    <a:bodyPr/>
                    <a:lstStyle/>
                    <a:p>
                      <a:r>
                        <a:rPr sz="1000" b="1">
                          <a:solidFill>
                            <a:srgbClr val="FFFFFF"/>
                          </a:solidFill>
                          <a:latin typeface="Arial"/>
                        </a:rPr>
                        <a:t>What it is for</a:t>
                      </a:r>
                    </a:p>
                  </a:txBody>
                  <a:tcPr marL="73152" marR="73152" marT="36576" marB="36576">
                    <a:solidFill>
                      <a:srgbClr val="004EA8"/>
                    </a:solidFill>
                  </a:tcPr>
                </a:tc>
                <a:tc>
                  <a:txBody>
                    <a:bodyPr/>
                    <a:lstStyle/>
                    <a:p>
                      <a:r>
                        <a:rPr sz="1000" b="1">
                          <a:solidFill>
                            <a:srgbClr val="FFFFFF"/>
                          </a:solidFill>
                          <a:latin typeface="Arial"/>
                        </a:rPr>
                        <a:t>Who reads it</a:t>
                      </a:r>
                    </a:p>
                  </a:txBody>
                  <a:tcPr marL="73152" marR="73152" marT="36576" marB="36576">
                    <a:solidFill>
                      <a:srgbClr val="004EA8"/>
                    </a:solidFill>
                  </a:tcPr>
                </a:tc>
                <a:tc>
                  <a:txBody>
                    <a:bodyPr/>
                    <a:lstStyle/>
                    <a:p>
                      <a:r>
                        <a:rPr sz="1000" b="1">
                          <a:solidFill>
                            <a:srgbClr val="FFFFFF"/>
                          </a:solidFill>
                          <a:latin typeface="Arial"/>
                        </a:rPr>
                        <a:t>When</a:t>
                      </a:r>
                    </a:p>
                  </a:txBody>
                  <a:tcPr marL="73152" marR="73152" marT="36576" marB="36576">
                    <a:solidFill>
                      <a:srgbClr val="004EA8"/>
                    </a:solidFill>
                  </a:tcPr>
                </a:tc>
              </a:tr>
              <a:tr h="365760">
                <a:tc>
                  <a:txBody>
                    <a:bodyPr/>
                    <a:lstStyle/>
                    <a:p>
                      <a:r>
                        <a:rPr sz="1000" b="0">
                          <a:solidFill>
                            <a:srgbClr val="4B4B4B"/>
                          </a:solidFill>
                          <a:latin typeface="Arial"/>
                        </a:rPr>
                        <a:t>00_BIBS_StartHere_BRD-05_Accounting_Disbursement_ACSL_v2.1.docx</a:t>
                      </a:r>
                    </a:p>
                  </a:txBody>
                  <a:tcPr marL="73152" marR="73152" marT="36576" marB="36576">
                    <a:solidFill>
                      <a:srgbClr val="FFFFFF"/>
                    </a:solidFill>
                  </a:tcPr>
                </a:tc>
                <a:tc>
                  <a:txBody>
                    <a:bodyPr/>
                    <a:lstStyle/>
                    <a:p>
                      <a:r>
                        <a:rPr sz="1000" b="0">
                          <a:solidFill>
                            <a:srgbClr val="4B4B4B"/>
                          </a:solidFill>
                          <a:latin typeface="Arial"/>
                        </a:rPr>
                        <a:t>Start Here: the map of the pack, who reads what, who signs what, the steps and the dates</a:t>
                      </a:r>
                    </a:p>
                  </a:txBody>
                  <a:tcPr marL="73152" marR="73152" marT="36576" marB="36576">
                    <a:solidFill>
                      <a:srgbClr val="FFFFFF"/>
                    </a:solidFill>
                  </a:tcPr>
                </a:tc>
                <a:tc>
                  <a:txBody>
                    <a:bodyPr/>
                    <a:lstStyle/>
                    <a:p>
                      <a:r>
                        <a:rPr sz="1000" b="0">
                          <a:solidFill>
                            <a:srgbClr val="4B4B4B"/>
                          </a:solidFill>
                          <a:latin typeface="Arial"/>
                        </a:rPr>
                        <a:t>Everyone</a:t>
                      </a:r>
                    </a:p>
                  </a:txBody>
                  <a:tcPr marL="73152" marR="73152" marT="36576" marB="36576">
                    <a:solidFill>
                      <a:srgbClr val="FFFFFF"/>
                    </a:solidFill>
                  </a:tcPr>
                </a:tc>
                <a:tc>
                  <a:txBody>
                    <a:bodyPr/>
                    <a:lstStyle/>
                    <a:p>
                      <a:r>
                        <a:rPr sz="1000" b="0">
                          <a:solidFill>
                            <a:srgbClr val="4B4B4B"/>
                          </a:solidFill>
                          <a:latin typeface="Arial"/>
                        </a:rPr>
                        <a:t>First, on issue</a:t>
                      </a:r>
                    </a:p>
                  </a:txBody>
                  <a:tcPr marL="73152" marR="73152" marT="36576" marB="36576">
                    <a:solidFill>
                      <a:srgbClr val="FFFFFF"/>
                    </a:solidFill>
                  </a:tcPr>
                </a:tc>
              </a:tr>
              <a:tr h="365760">
                <a:tc>
                  <a:txBody>
                    <a:bodyPr/>
                    <a:lstStyle/>
                    <a:p>
                      <a:r>
                        <a:rPr sz="1000" b="0">
                          <a:solidFill>
                            <a:srgbClr val="4B4B4B"/>
                          </a:solidFill>
                          <a:latin typeface="Arial"/>
                        </a:rPr>
                        <a:t>01_BIBS_GuideDeck_BRD-05_Accounting_Disbursement_ACSL_v2.1.pptx</a:t>
                      </a:r>
                    </a:p>
                  </a:txBody>
                  <a:tcPr marL="73152" marR="73152" marT="36576" marB="36576">
                    <a:solidFill>
                      <a:srgbClr val="E5F5FF"/>
                    </a:solidFill>
                  </a:tcPr>
                </a:tc>
                <a:tc>
                  <a:txBody>
                    <a:bodyPr/>
                    <a:lstStyle/>
                    <a:p>
                      <a:r>
                        <a:rPr sz="1000" b="0">
                          <a:solidFill>
                            <a:srgbClr val="4B4B4B"/>
                          </a:solidFill>
                          <a:latin typeface="Arial"/>
                        </a:rPr>
                        <a:t>Sign-off Pack Guide: purpose, approach, the module at a glance, caveats and impacts on other modules, entry and exit criteria, change control</a:t>
                      </a:r>
                    </a:p>
                  </a:txBody>
                  <a:tcPr marL="73152" marR="73152" marT="36576" marB="36576">
                    <a:solidFill>
                      <a:srgbClr val="E5F5FF"/>
                    </a:solidFill>
                  </a:tcPr>
                </a:tc>
                <a:tc>
                  <a:txBody>
                    <a:bodyPr/>
                    <a:lstStyle/>
                    <a:p>
                      <a:r>
                        <a:rPr sz="1000" b="0">
                          <a:solidFill>
                            <a:srgbClr val="4B4B4B"/>
                          </a:solidFill>
                          <a:latin typeface="Arial"/>
                        </a:rPr>
                        <a:t>Head of Comptrollership, the product owners of FRBS, Disbursement, ACSL and Marketing; presented at the kick-off</a:t>
                      </a:r>
                    </a:p>
                  </a:txBody>
                  <a:tcPr marL="73152" marR="73152" marT="36576" marB="36576">
                    <a:solidFill>
                      <a:srgbClr val="E5F5FF"/>
                    </a:solidFill>
                  </a:tcPr>
                </a:tc>
                <a:tc>
                  <a:txBody>
                    <a:bodyPr/>
                    <a:lstStyle/>
                    <a:p>
                      <a:r>
                        <a:rPr sz="1000" b="0">
                          <a:solidFill>
                            <a:srgbClr val="4B4B4B"/>
                          </a:solidFill>
                          <a:latin typeface="Arial"/>
                        </a:rPr>
                        <a:t>Kick-off session</a:t>
                      </a:r>
                    </a:p>
                  </a:txBody>
                  <a:tcPr marL="73152" marR="73152" marT="36576" marB="36576">
                    <a:solidFill>
                      <a:srgbClr val="E5F5FF"/>
                    </a:solidFill>
                  </a:tcPr>
                </a:tc>
              </a:tr>
              <a:tr h="365760">
                <a:tc>
                  <a:txBody>
                    <a:bodyPr/>
                    <a:lstStyle/>
                    <a:p>
                      <a:r>
                        <a:rPr sz="1000" b="0">
                          <a:solidFill>
                            <a:srgbClr val="4B4B4B"/>
                          </a:solidFill>
                          <a:latin typeface="Arial"/>
                        </a:rPr>
                        <a:t>02_BIBS_FRS_BRD-05_Accounting_Disbursement_ACSL_v2.1.docx</a:t>
                      </a:r>
                    </a:p>
                  </a:txBody>
                  <a:tcPr marL="73152" marR="73152" marT="36576" marB="36576">
                    <a:solidFill>
                      <a:srgbClr val="FFFFFF"/>
                    </a:solidFill>
                  </a:tcPr>
                </a:tc>
                <a:tc>
                  <a:txBody>
                    <a:bodyPr/>
                    <a:lstStyle/>
                    <a:p>
                      <a:r>
                        <a:rPr sz="1000" b="0">
                          <a:solidFill>
                            <a:srgbClr val="4B4B4B"/>
                          </a:solidFill>
                          <a:latin typeface="Arial"/>
                        </a:rPr>
                        <a:t>Functional Requirements Specification v2.1: requirements of the two former volumes in one document, re-based on the BRD with the minutes of 4-May-2026, with a user-story view and a storyboard index, navigation, 51 screen specifications with screenshots, five walkthroughs, messages, notifications, documents, upload templates, cross-BRD contract</a:t>
                      </a:r>
                    </a:p>
                  </a:txBody>
                  <a:tcPr marL="73152" marR="73152" marT="36576" marB="36576">
                    <a:solidFill>
                      <a:srgbClr val="FFFFFF"/>
                    </a:solidFill>
                  </a:tcPr>
                </a:tc>
                <a:tc>
                  <a:txBody>
                    <a:bodyPr/>
                    <a:lstStyle/>
                    <a:p>
                      <a:r>
                        <a:rPr sz="1000" b="0">
                          <a:solidFill>
                            <a:srgbClr val="4B4B4B"/>
                          </a:solidFill>
                          <a:latin typeface="Arial"/>
                        </a:rPr>
                        <a:t>The GL team, Disbursement, ACSL and the Marketing requesters for their sections; Operations and BDOI IT for their chapters</a:t>
                      </a:r>
                    </a:p>
                  </a:txBody>
                  <a:tcPr marL="73152" marR="73152" marT="36576" marB="36576">
                    <a:solidFill>
                      <a:srgbClr val="FFFFFF"/>
                    </a:solidFill>
                  </a:tcPr>
                </a:tc>
                <a:tc>
                  <a:txBody>
                    <a:bodyPr/>
                    <a:lstStyle/>
                    <a:p>
                      <a:r>
                        <a:rPr sz="1000" b="0">
                          <a:solidFill>
                            <a:srgbClr val="4B4B4B"/>
                          </a:solidFill>
                          <a:latin typeface="Arial"/>
                        </a:rPr>
                        <a:t>During the review, with the SIT walkthroughs</a:t>
                      </a:r>
                    </a:p>
                  </a:txBody>
                  <a:tcPr marL="73152" marR="73152" marT="36576" marB="36576">
                    <a:solidFill>
                      <a:srgbClr val="FFFFFF"/>
                    </a:solidFill>
                  </a:tcPr>
                </a:tc>
              </a:tr>
              <a:tr h="365760">
                <a:tc>
                  <a:txBody>
                    <a:bodyPr/>
                    <a:lstStyle/>
                    <a:p>
                      <a:r>
                        <a:rPr sz="1000" b="0">
                          <a:solidFill>
                            <a:srgbClr val="4B4B4B"/>
                          </a:solidFill>
                          <a:latin typeface="Arial"/>
                        </a:rPr>
                        <a:t>03_BIBS_Signoff_BRD-05_Accounting_Disbursement_ACSL_v2.1.xlsx</a:t>
                      </a:r>
                    </a:p>
                  </a:txBody>
                  <a:tcPr marL="73152" marR="73152" marT="36576" marB="36576">
                    <a:solidFill>
                      <a:srgbClr val="E5F5FF"/>
                    </a:solidFill>
                  </a:tcPr>
                </a:tc>
                <a:tc>
                  <a:txBody>
                    <a:bodyPr/>
                    <a:lstStyle/>
                    <a:p>
                      <a:r>
                        <a:rPr sz="1000" b="0">
                          <a:solidFill>
                            <a:srgbClr val="4B4B4B"/>
                          </a:solidFill>
                          <a:latin typeface="Arial"/>
                        </a:rPr>
                        <a:t>Sign-off workbook: one row per screen, field, rule and message with the BU review columns; comments log, meeting minutes, version history, sign-off certificate</a:t>
                      </a:r>
                    </a:p>
                  </a:txBody>
                  <a:tcPr marL="73152" marR="73152" marT="36576" marB="36576">
                    <a:solidFill>
                      <a:srgbClr val="E5F5FF"/>
                    </a:solidFill>
                  </a:tcPr>
                </a:tc>
                <a:tc>
                  <a:txBody>
                    <a:bodyPr/>
                    <a:lstStyle/>
                    <a:p>
                      <a:r>
                        <a:rPr sz="1000" b="0">
                          <a:solidFill>
                            <a:srgbClr val="4B4B4B"/>
                          </a:solidFill>
                          <a:latin typeface="Arial"/>
                        </a:rPr>
                        <a:t>Every reviewer; the approvers sign it</a:t>
                      </a:r>
                    </a:p>
                  </a:txBody>
                  <a:tcPr marL="73152" marR="73152" marT="36576" marB="36576">
                    <a:solidFill>
                      <a:srgbClr val="E5F5FF"/>
                    </a:solidFill>
                  </a:tcPr>
                </a:tc>
                <a:tc>
                  <a:txBody>
                    <a:bodyPr/>
                    <a:lstStyle/>
                    <a:p>
                      <a:r>
                        <a:rPr sz="1000" b="0">
                          <a:solidFill>
                            <a:srgbClr val="4B4B4B"/>
                          </a:solidFill>
                          <a:latin typeface="Arial"/>
                        </a:rPr>
                        <a:t>During the review and at sign-off</a:t>
                      </a:r>
                    </a:p>
                  </a:txBody>
                  <a:tcPr marL="73152" marR="73152" marT="36576" marB="36576">
                    <a:solidFill>
                      <a:srgbClr val="E5F5FF"/>
                    </a:solidFill>
                  </a:tcPr>
                </a:tc>
              </a:tr>
              <a:tr h="365760">
                <a:tc>
                  <a:txBody>
                    <a:bodyPr/>
                    <a:lstStyle/>
                    <a:p>
                      <a:r>
                        <a:rPr sz="1000" b="0">
                          <a:solidFill>
                            <a:srgbClr val="4B4B4B"/>
                          </a:solidFill>
                          <a:latin typeface="Arial"/>
                        </a:rPr>
                        <a:t>04_BIBS_TestPlan_BRD-05_Accounting_Disbursement_ACSL_v2.1.xlsx</a:t>
                      </a:r>
                    </a:p>
                  </a:txBody>
                  <a:tcPr marL="73152" marR="73152" marT="36576" marB="36576">
                    <a:solidFill>
                      <a:srgbClr val="FFFFFF"/>
                    </a:solidFill>
                  </a:tcPr>
                </a:tc>
                <a:tc>
                  <a:txBody>
                    <a:bodyPr/>
                    <a:lstStyle/>
                    <a:p>
                      <a:r>
                        <a:rPr sz="1000" b="0">
                          <a:solidFill>
                            <a:srgbClr val="4B4B4B"/>
                          </a:solidFill>
                          <a:latin typeface="Arial"/>
                        </a:rPr>
                        <a:t>Test plan workbook: the test cases of both former volumes traced to the FRs and to the screens, including one screen case and one message case per screen</a:t>
                      </a:r>
                    </a:p>
                  </a:txBody>
                  <a:tcPr marL="73152" marR="73152" marT="36576" marB="36576">
                    <a:solidFill>
                      <a:srgbClr val="FFFFFF"/>
                    </a:solidFill>
                  </a:tcPr>
                </a:tc>
                <a:tc>
                  <a:txBody>
                    <a:bodyPr/>
                    <a:lstStyle/>
                    <a:p>
                      <a:r>
                        <a:rPr sz="1000" b="0">
                          <a:solidFill>
                            <a:srgbClr val="4B4B4B"/>
                          </a:solidFill>
                          <a:latin typeface="Arial"/>
                        </a:rPr>
                        <a:t>Business users who will run UAT; BDOI IT</a:t>
                      </a:r>
                    </a:p>
                  </a:txBody>
                  <a:tcPr marL="73152" marR="73152" marT="36576" marB="36576">
                    <a:solidFill>
                      <a:srgbClr val="FFFFFF"/>
                    </a:solidFill>
                  </a:tcPr>
                </a:tc>
                <a:tc>
                  <a:txBody>
                    <a:bodyPr/>
                    <a:lstStyle/>
                    <a:p>
                      <a:r>
                        <a:rPr sz="1000" b="0">
                          <a:solidFill>
                            <a:srgbClr val="4B4B4B"/>
                          </a:solidFill>
                          <a:latin typeface="Arial"/>
                        </a:rPr>
                        <a:t>After the screens; used again in SIT and UAT</a:t>
                      </a:r>
                    </a:p>
                  </a:txBody>
                  <a:tcPr marL="73152" marR="73152" marT="36576" marB="36576">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The pack at a glance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a:t>
            </a:r>
          </a:p>
        </p:txBody>
      </p:sp>
      <p:graphicFrame>
        <p:nvGraphicFramePr>
          <p:cNvPr id="9" name="Table 8"/>
          <p:cNvGraphicFramePr>
            <a:graphicFrameLocks noGrp="1"/>
          </p:cNvGraphicFramePr>
          <p:nvPr/>
        </p:nvGraphicFramePr>
        <p:xfrm>
          <a:off x="548640" y="1371600"/>
          <a:ext cx="11094413" cy="1828800"/>
        </p:xfrm>
        <a:graphic>
          <a:graphicData uri="http://schemas.openxmlformats.org/drawingml/2006/table">
            <a:tbl>
              <a:tblPr firstRow="1" bandRow="1">
                <a:tableStyleId>{5C22544A-7EE6-4342-B048-85BDC9FD1C3A}</a:tableStyleId>
              </a:tblPr>
              <a:tblGrid>
                <a:gridCol w="3025749"/>
                <a:gridCol w="4370527"/>
                <a:gridCol w="2185263"/>
                <a:gridCol w="1512874"/>
              </a:tblGrid>
              <a:tr h="365760">
                <a:tc>
                  <a:txBody>
                    <a:bodyPr/>
                    <a:lstStyle/>
                    <a:p>
                      <a:r>
                        <a:rPr sz="1000" b="1">
                          <a:solidFill>
                            <a:srgbClr val="FFFFFF"/>
                          </a:solidFill>
                          <a:latin typeface="Arial"/>
                        </a:rPr>
                        <a:t>File</a:t>
                      </a:r>
                    </a:p>
                  </a:txBody>
                  <a:tcPr marL="73152" marR="73152" marT="36576" marB="36576">
                    <a:solidFill>
                      <a:srgbClr val="004EA8"/>
                    </a:solidFill>
                  </a:tcPr>
                </a:tc>
                <a:tc>
                  <a:txBody>
                    <a:bodyPr/>
                    <a:lstStyle/>
                    <a:p>
                      <a:r>
                        <a:rPr sz="1000" b="1">
                          <a:solidFill>
                            <a:srgbClr val="FFFFFF"/>
                          </a:solidFill>
                          <a:latin typeface="Arial"/>
                        </a:rPr>
                        <a:t>What it is for</a:t>
                      </a:r>
                    </a:p>
                  </a:txBody>
                  <a:tcPr marL="73152" marR="73152" marT="36576" marB="36576">
                    <a:solidFill>
                      <a:srgbClr val="004EA8"/>
                    </a:solidFill>
                  </a:tcPr>
                </a:tc>
                <a:tc>
                  <a:txBody>
                    <a:bodyPr/>
                    <a:lstStyle/>
                    <a:p>
                      <a:r>
                        <a:rPr sz="1000" b="1">
                          <a:solidFill>
                            <a:srgbClr val="FFFFFF"/>
                          </a:solidFill>
                          <a:latin typeface="Arial"/>
                        </a:rPr>
                        <a:t>Who reads it</a:t>
                      </a:r>
                    </a:p>
                  </a:txBody>
                  <a:tcPr marL="73152" marR="73152" marT="36576" marB="36576">
                    <a:solidFill>
                      <a:srgbClr val="004EA8"/>
                    </a:solidFill>
                  </a:tcPr>
                </a:tc>
                <a:tc>
                  <a:txBody>
                    <a:bodyPr/>
                    <a:lstStyle/>
                    <a:p>
                      <a:r>
                        <a:rPr sz="1000" b="1">
                          <a:solidFill>
                            <a:srgbClr val="FFFFFF"/>
                          </a:solidFill>
                          <a:latin typeface="Arial"/>
                        </a:rPr>
                        <a:t>When</a:t>
                      </a:r>
                    </a:p>
                  </a:txBody>
                  <a:tcPr marL="73152" marR="73152" marT="36576" marB="36576">
                    <a:solidFill>
                      <a:srgbClr val="004EA8"/>
                    </a:solidFill>
                  </a:tcPr>
                </a:tc>
              </a:tr>
              <a:tr h="365760">
                <a:tc>
                  <a:txBody>
                    <a:bodyPr/>
                    <a:lstStyle/>
                    <a:p>
                      <a:r>
                        <a:rPr sz="1000" b="0">
                          <a:solidFill>
                            <a:srgbClr val="4B4B4B"/>
                          </a:solidFill>
                          <a:latin typeface="Arial"/>
                        </a:rPr>
                        <a:t>05_BIBS_TestPlan_BRD-05_Accounting_Disbursement_ACSL_Summary_v2.1.docx</a:t>
                      </a:r>
                    </a:p>
                  </a:txBody>
                  <a:tcPr marL="73152" marR="73152" marT="36576" marB="36576">
                    <a:solidFill>
                      <a:srgbClr val="FFFFFF"/>
                    </a:solidFill>
                  </a:tcPr>
                </a:tc>
                <a:tc>
                  <a:txBody>
                    <a:bodyPr/>
                    <a:lstStyle/>
                    <a:p>
                      <a:r>
                        <a:rPr sz="1000" b="0">
                          <a:solidFill>
                            <a:srgbClr val="4B4B4B"/>
                          </a:solidFill>
                          <a:latin typeface="Arial"/>
                        </a:rPr>
                        <a:t>Test plan summary: scope, approach, coverage and the cases by area</a:t>
                      </a:r>
                    </a:p>
                  </a:txBody>
                  <a:tcPr marL="73152" marR="73152" marT="36576" marB="36576">
                    <a:solidFill>
                      <a:srgbClr val="FFFFFF"/>
                    </a:solidFill>
                  </a:tcPr>
                </a:tc>
                <a:tc>
                  <a:txBody>
                    <a:bodyPr/>
                    <a:lstStyle/>
                    <a:p>
                      <a:r>
                        <a:rPr sz="1000" b="0">
                          <a:solidFill>
                            <a:srgbClr val="4B4B4B"/>
                          </a:solidFill>
                          <a:latin typeface="Arial"/>
                        </a:rPr>
                        <a:t>Product owners, BDOI IT</a:t>
                      </a:r>
                    </a:p>
                  </a:txBody>
                  <a:tcPr marL="73152" marR="73152" marT="36576" marB="36576">
                    <a:solidFill>
                      <a:srgbClr val="FFFFFF"/>
                    </a:solidFill>
                  </a:tcPr>
                </a:tc>
                <a:tc>
                  <a:txBody>
                    <a:bodyPr/>
                    <a:lstStyle/>
                    <a:p>
                      <a:r>
                        <a:rPr sz="1000" b="0">
                          <a:solidFill>
                            <a:srgbClr val="4B4B4B"/>
                          </a:solidFill>
                          <a:latin typeface="Arial"/>
                        </a:rPr>
                        <a:t>Before sign-off</a:t>
                      </a:r>
                    </a:p>
                  </a:txBody>
                  <a:tcPr marL="73152" marR="73152" marT="36576" marB="36576">
                    <a:solidFill>
                      <a:srgbClr val="FFFFFF"/>
                    </a:solidFill>
                  </a:tcPr>
                </a:tc>
              </a:tr>
              <a:tr h="365760">
                <a:tc>
                  <a:txBody>
                    <a:bodyPr/>
                    <a:lstStyle/>
                    <a:p>
                      <a:r>
                        <a:rPr sz="1000" b="0">
                          <a:solidFill>
                            <a:srgbClr val="4B4B4B"/>
                          </a:solidFill>
                          <a:latin typeface="Arial"/>
                        </a:rPr>
                        <a:t>07_BIBS_UXDeck_BRD-05_Accounting_Disbursement_ACSL_v2.1.pptx</a:t>
                      </a:r>
                    </a:p>
                  </a:txBody>
                  <a:tcPr marL="73152" marR="73152" marT="36576" marB="36576">
                    <a:solidFill>
                      <a:srgbClr val="E5F5FF"/>
                    </a:solidFill>
                  </a:tcPr>
                </a:tc>
                <a:tc>
                  <a:txBody>
                    <a:bodyPr/>
                    <a:lstStyle/>
                    <a:p>
                      <a:r>
                        <a:rPr sz="1000" b="0">
                          <a:solidFill>
                            <a:srgbClr val="4B4B4B"/>
                          </a:solidFill>
                          <a:latin typeface="Arial"/>
                        </a:rPr>
                        <a:t>UX Screen Deck for the BDOI UX Design team: design foundation, navigation and personas, every walkthrough step by step and every screen with all its states</a:t>
                      </a:r>
                    </a:p>
                  </a:txBody>
                  <a:tcPr marL="73152" marR="73152" marT="36576" marB="36576">
                    <a:solidFill>
                      <a:srgbClr val="E5F5FF"/>
                    </a:solidFill>
                  </a:tcPr>
                </a:tc>
                <a:tc>
                  <a:txBody>
                    <a:bodyPr/>
                    <a:lstStyle/>
                    <a:p>
                      <a:r>
                        <a:rPr sz="1000" b="0">
                          <a:solidFill>
                            <a:srgbClr val="4B4B4B"/>
                          </a:solidFill>
                          <a:latin typeface="Arial"/>
                        </a:rPr>
                        <a:t>BDOI UX Design team</a:t>
                      </a:r>
                    </a:p>
                  </a:txBody>
                  <a:tcPr marL="73152" marR="73152" marT="36576" marB="36576">
                    <a:solidFill>
                      <a:srgbClr val="E5F5FF"/>
                    </a:solidFill>
                  </a:tcPr>
                </a:tc>
                <a:tc>
                  <a:txBody>
                    <a:bodyPr/>
                    <a:lstStyle/>
                    <a:p>
                      <a:r>
                        <a:rPr sz="1000" b="0">
                          <a:solidFill>
                            <a:srgbClr val="4B4B4B"/>
                          </a:solidFill>
                          <a:latin typeface="Arial"/>
                        </a:rPr>
                        <a:t>From the issue, in parallel with the review; re-issued with each version of the set</a:t>
                      </a:r>
                    </a:p>
                  </a:txBody>
                  <a:tcPr marL="73152" marR="73152" marT="36576" marB="36576">
                    <a:solidFill>
                      <a:srgbClr val="E5F5FF"/>
                    </a:solidFill>
                  </a:tcPr>
                </a:tc>
              </a:tr>
              <a:tr h="365760">
                <a:tc>
                  <a:txBody>
                    <a:bodyPr/>
                    <a:lstStyle/>
                    <a:p>
                      <a:r>
                        <a:rPr sz="1000" b="0">
                          <a:solidFill>
                            <a:srgbClr val="4B4B4B"/>
                          </a:solidFill>
                          <a:latin typeface="Arial"/>
                        </a:rPr>
                        <a:t>08_BIBS_UXScreens_BRD-05_Accounting_Disbursement_ACSL_v2.1.xlsx</a:t>
                      </a:r>
                    </a:p>
                  </a:txBody>
                  <a:tcPr marL="73152" marR="73152" marT="36576" marB="36576">
                    <a:solidFill>
                      <a:srgbClr val="FFFFFF"/>
                    </a:solidFill>
                  </a:tcPr>
                </a:tc>
                <a:tc>
                  <a:txBody>
                    <a:bodyPr/>
                    <a:lstStyle/>
                    <a:p>
                      <a:r>
                        <a:rPr sz="1000" b="0">
                          <a:solidFill>
                            <a:srgbClr val="4B4B4B"/>
                          </a:solidFill>
                          <a:latin typeface="Arial"/>
                        </a:rPr>
                        <a:t>UX screen register: one row per screen image with the screen, personas, walkthrough and step, state, FRS section and requirements, UXD status and comments, and the Changed in this issue flag</a:t>
                      </a:r>
                    </a:p>
                  </a:txBody>
                  <a:tcPr marL="73152" marR="73152" marT="36576" marB="36576">
                    <a:solidFill>
                      <a:srgbClr val="FFFFFF"/>
                    </a:solidFill>
                  </a:tcPr>
                </a:tc>
                <a:tc>
                  <a:txBody>
                    <a:bodyPr/>
                    <a:lstStyle/>
                    <a:p>
                      <a:r>
                        <a:rPr sz="1000" b="0">
                          <a:solidFill>
                            <a:srgbClr val="4B4B4B"/>
                          </a:solidFill>
                          <a:latin typeface="Arial"/>
                        </a:rPr>
                        <a:t>BDOI UX Design team</a:t>
                      </a:r>
                    </a:p>
                  </a:txBody>
                  <a:tcPr marL="73152" marR="73152" marT="36576" marB="36576">
                    <a:solidFill>
                      <a:srgbClr val="FFFFFF"/>
                    </a:solidFill>
                  </a:tcPr>
                </a:tc>
                <a:tc>
                  <a:txBody>
                    <a:bodyPr/>
                    <a:lstStyle/>
                    <a:p>
                      <a:r>
                        <a:rPr sz="1000" b="0">
                          <a:solidFill>
                            <a:srgbClr val="4B4B4B"/>
                          </a:solidFill>
                          <a:latin typeface="Arial"/>
                        </a:rPr>
                        <a:t>Kept by the UX Design team; the changed rows are flagged at each issue</a:t>
                      </a:r>
                    </a:p>
                  </a:txBody>
                  <a:tcPr marL="73152" marR="73152" marT="36576" marB="36576">
                    <a:solidFill>
                      <a:srgbClr val="FFFFFF"/>
                    </a:solidFill>
                  </a:tcPr>
                </a:tc>
              </a:tr>
              <a:tr h="365760">
                <a:tc>
                  <a:txBody>
                    <a:bodyPr/>
                    <a:lstStyle/>
                    <a:p>
                      <a:r>
                        <a:rPr sz="1000" b="0">
                          <a:solidFill>
                            <a:srgbClr val="4B4B4B"/>
                          </a:solidFill>
                          <a:latin typeface="Arial"/>
                        </a:rPr>
                        <a:t>09_BIBS_UXScreens_BRD-05_Accounting_Disbursement_ACSL_v2.1.zip</a:t>
                      </a:r>
                    </a:p>
                  </a:txBody>
                  <a:tcPr marL="73152" marR="73152" marT="36576" marB="36576">
                    <a:solidFill>
                      <a:srgbClr val="E5F5FF"/>
                    </a:solidFill>
                  </a:tcPr>
                </a:tc>
                <a:tc>
                  <a:txBody>
                    <a:bodyPr/>
                    <a:lstStyle/>
                    <a:p>
                      <a:r>
                        <a:rPr sz="1000" b="0">
                          <a:solidFill>
                            <a:srgbClr val="4B4B4B"/>
                          </a:solidFill>
                          <a:latin typeface="Arial"/>
                        </a:rPr>
                        <a:t>Image package: every screen image at twice the screen resolution (PNG), the component crops and the register as CSV</a:t>
                      </a:r>
                    </a:p>
                  </a:txBody>
                  <a:tcPr marL="73152" marR="73152" marT="36576" marB="36576">
                    <a:solidFill>
                      <a:srgbClr val="E5F5FF"/>
                    </a:solidFill>
                  </a:tcPr>
                </a:tc>
                <a:tc>
                  <a:txBody>
                    <a:bodyPr/>
                    <a:lstStyle/>
                    <a:p>
                      <a:r>
                        <a:rPr sz="1000" b="0">
                          <a:solidFill>
                            <a:srgbClr val="4B4B4B"/>
                          </a:solidFill>
                          <a:latin typeface="Arial"/>
                        </a:rPr>
                        <a:t>BDOI UX Design team</a:t>
                      </a:r>
                    </a:p>
                  </a:txBody>
                  <a:tcPr marL="73152" marR="73152" marT="36576" marB="36576">
                    <a:solidFill>
                      <a:srgbClr val="E5F5FF"/>
                    </a:solidFill>
                  </a:tcPr>
                </a:tc>
                <a:tc>
                  <a:txBody>
                    <a:bodyPr/>
                    <a:lstStyle/>
                    <a:p>
                      <a:r>
                        <a:rPr sz="1000" b="0">
                          <a:solidFill>
                            <a:srgbClr val="4B4B4B"/>
                          </a:solidFill>
                          <a:latin typeface="Arial"/>
                        </a:rPr>
                        <a:t>Imported into the design tool at each issue</a:t>
                      </a:r>
                    </a:p>
                  </a:txBody>
                  <a:tcPr marL="73152" marR="73152" marT="36576" marB="36576">
                    <a:solidFill>
                      <a:srgbClr val="E5F5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Where to start: reading order per role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a:t>
            </a:r>
          </a:p>
        </p:txBody>
      </p:sp>
      <p:graphicFrame>
        <p:nvGraphicFramePr>
          <p:cNvPr id="9" name="Table 8"/>
          <p:cNvGraphicFramePr>
            <a:graphicFrameLocks noGrp="1"/>
          </p:cNvGraphicFramePr>
          <p:nvPr/>
        </p:nvGraphicFramePr>
        <p:xfrm>
          <a:off x="548640" y="1371600"/>
          <a:ext cx="11094414" cy="4023360"/>
        </p:xfrm>
        <a:graphic>
          <a:graphicData uri="http://schemas.openxmlformats.org/drawingml/2006/table">
            <a:tbl>
              <a:tblPr firstRow="1" bandRow="1">
                <a:tableStyleId>{5C22544A-7EE6-4342-B048-85BDC9FD1C3A}</a:tableStyleId>
              </a:tblPr>
              <a:tblGrid>
                <a:gridCol w="2383923"/>
                <a:gridCol w="8710491"/>
              </a:tblGrid>
              <a:tr h="365760">
                <a:tc>
                  <a:txBody>
                    <a:bodyPr/>
                    <a:lstStyle/>
                    <a:p>
                      <a:r>
                        <a:rPr sz="1100" b="1">
                          <a:solidFill>
                            <a:srgbClr val="FFFFFF"/>
                          </a:solidFill>
                          <a:latin typeface="Arial"/>
                        </a:rPr>
                        <a:t>Role</a:t>
                      </a:r>
                    </a:p>
                  </a:txBody>
                  <a:tcPr marL="73152" marR="73152" marT="36576" marB="36576">
                    <a:solidFill>
                      <a:srgbClr val="004EA8"/>
                    </a:solidFill>
                  </a:tcPr>
                </a:tc>
                <a:tc>
                  <a:txBody>
                    <a:bodyPr/>
                    <a:lstStyle/>
                    <a:p>
                      <a:r>
                        <a:rPr sz="1100" b="1">
                          <a:solidFill>
                            <a:srgbClr val="FFFFFF"/>
                          </a:solidFill>
                          <a:latin typeface="Arial"/>
                        </a:rPr>
                        <a:t>Read, in this order</a:t>
                      </a:r>
                    </a:p>
                  </a:txBody>
                  <a:tcPr marL="73152" marR="73152" marT="36576" marB="36576">
                    <a:solidFill>
                      <a:srgbClr val="004EA8"/>
                    </a:solidFill>
                  </a:tcPr>
                </a:tc>
              </a:tr>
              <a:tr h="365760">
                <a:tc>
                  <a:txBody>
                    <a:bodyPr/>
                    <a:lstStyle/>
                    <a:p>
                      <a:r>
                        <a:rPr sz="1100" b="0">
                          <a:solidFill>
                            <a:srgbClr val="4B4B4B"/>
                          </a:solidFill>
                          <a:latin typeface="Arial"/>
                        </a:rPr>
                        <a:t>Approvers (Head of Comptrollership; product owners of FRBS and ACSL, Disbursement, Comptrollership and Operations, Marketing)</a:t>
                      </a:r>
                    </a:p>
                  </a:txBody>
                  <a:tcPr marL="73152" marR="73152" marT="36576" marB="36576">
                    <a:solidFill>
                      <a:srgbClr val="FFFFFF"/>
                    </a:solidFill>
                  </a:tcPr>
                </a:tc>
                <a:tc>
                  <a:txBody>
                    <a:bodyPr/>
                    <a:lstStyle/>
                    <a:p>
                      <a:r>
                        <a:rPr sz="1100" b="0">
                          <a:solidFill>
                            <a:srgbClr val="4B4B4B"/>
                          </a:solidFill>
                          <a:latin typeface="Arial"/>
                        </a:rPr>
                        <a:t>00 Start Here; 01 Guide deck; FRS chapters 1-3 (context and personas), 14 (walkthroughs), 20 (sign-off) and 21 (proposed rules for confirmation); workbook Sign-off certificate</a:t>
                      </a:r>
                    </a:p>
                  </a:txBody>
                  <a:tcPr marL="73152" marR="73152" marT="36576" marB="36576">
                    <a:solidFill>
                      <a:srgbClr val="FFFFFF"/>
                    </a:solidFill>
                  </a:tcPr>
                </a:tc>
              </a:tr>
              <a:tr h="365760">
                <a:tc>
                  <a:txBody>
                    <a:bodyPr/>
                    <a:lstStyle/>
                    <a:p>
                      <a:r>
                        <a:rPr sz="1100" b="0">
                          <a:solidFill>
                            <a:srgbClr val="4B4B4B"/>
                          </a:solidFill>
                          <a:latin typeface="Arial"/>
                        </a:rPr>
                        <a:t>GL team (GL Officers, GL Team Lead, GL Section Head)</a:t>
                      </a:r>
                    </a:p>
                  </a:txBody>
                  <a:tcPr marL="73152" marR="73152" marT="36576" marB="36576">
                    <a:solidFill>
                      <a:srgbClr val="E5F5FF"/>
                    </a:solidFill>
                  </a:tcPr>
                </a:tc>
                <a:tc>
                  <a:txBody>
                    <a:bodyPr/>
                    <a:lstStyle/>
                    <a:p>
                      <a:r>
                        <a:rPr sz="1100" b="0">
                          <a:solidFill>
                            <a:srgbClr val="4B4B4B"/>
                          </a:solidFill>
                          <a:latin typeface="Arial"/>
                        </a:rPr>
                        <a:t>FRS sections 4.1 to 4.10; the screens SCR-AC-01 to 24 of chapter 13; walkthroughs A and D; messages in chapter 15; configuration in chapter 9</a:t>
                      </a:r>
                    </a:p>
                  </a:txBody>
                  <a:tcPr marL="73152" marR="73152" marT="36576" marB="36576">
                    <a:solidFill>
                      <a:srgbClr val="E5F5FF"/>
                    </a:solidFill>
                  </a:tcPr>
                </a:tc>
              </a:tr>
              <a:tr h="365760">
                <a:tc>
                  <a:txBody>
                    <a:bodyPr/>
                    <a:lstStyle/>
                    <a:p>
                      <a:r>
                        <a:rPr sz="1100" b="0">
                          <a:solidFill>
                            <a:srgbClr val="4B4B4B"/>
                          </a:solidFill>
                          <a:latin typeface="Arial"/>
                        </a:rPr>
                        <a:t>Disbursement (Processors, Team Leaders, Approvers)</a:t>
                      </a:r>
                    </a:p>
                  </a:txBody>
                  <a:tcPr marL="73152" marR="73152" marT="36576" marB="36576">
                    <a:solidFill>
                      <a:srgbClr val="FFFFFF"/>
                    </a:solidFill>
                  </a:tcPr>
                </a:tc>
                <a:tc>
                  <a:txBody>
                    <a:bodyPr/>
                    <a:lstStyle/>
                    <a:p>
                      <a:r>
                        <a:rPr sz="1100" b="0">
                          <a:solidFill>
                            <a:srgbClr val="4B4B4B"/>
                          </a:solidFill>
                          <a:latin typeface="Arial"/>
                        </a:rPr>
                        <a:t>FRS section 4.11; the screens SCR-AC-25 to 38; walkthroughs B and E; the documents DO-01 to DO-03 and DO-05 in chapter 17; the upload templates in chapter 18</a:t>
                      </a:r>
                    </a:p>
                  </a:txBody>
                  <a:tcPr marL="73152" marR="73152" marT="36576" marB="36576">
                    <a:solidFill>
                      <a:srgbClr val="FFFFFF"/>
                    </a:solidFill>
                  </a:tcPr>
                </a:tc>
              </a:tr>
              <a:tr h="365760">
                <a:tc>
                  <a:txBody>
                    <a:bodyPr/>
                    <a:lstStyle/>
                    <a:p>
                      <a:r>
                        <a:rPr sz="1100" b="0">
                          <a:solidFill>
                            <a:srgbClr val="4B4B4B"/>
                          </a:solidFill>
                          <a:latin typeface="Arial"/>
                        </a:rPr>
                        <a:t>Marketing (Processors, Reviewers, Approvers) and Human Resources</a:t>
                      </a:r>
                    </a:p>
                  </a:txBody>
                  <a:tcPr marL="73152" marR="73152" marT="36576" marB="36576">
                    <a:solidFill>
                      <a:srgbClr val="E5F5FF"/>
                    </a:solidFill>
                  </a:tcPr>
                </a:tc>
                <a:tc>
                  <a:txBody>
                    <a:bodyPr/>
                    <a:lstStyle/>
                    <a:p>
                      <a:r>
                        <a:rPr sz="1100" b="0">
                          <a:solidFill>
                            <a:srgbClr val="4B4B4B"/>
                          </a:solidFill>
                          <a:latin typeface="Arial"/>
                        </a:rPr>
                        <a:t>FRS section 4.12; the screens SCR-AC-39 to 44; walkthrough B (steps 1 to 4 and 8) and E; the Refund Request Form DO-04</a:t>
                      </a:r>
                    </a:p>
                  </a:txBody>
                  <a:tcPr marL="73152" marR="73152" marT="36576" marB="36576">
                    <a:solidFill>
                      <a:srgbClr val="E5F5FF"/>
                    </a:solidFill>
                  </a:tcPr>
                </a:tc>
              </a:tr>
              <a:tr h="365760">
                <a:tc>
                  <a:txBody>
                    <a:bodyPr/>
                    <a:lstStyle/>
                    <a:p>
                      <a:r>
                        <a:rPr sz="1100" b="0">
                          <a:solidFill>
                            <a:srgbClr val="4B4B4B"/>
                          </a:solidFill>
                          <a:latin typeface="Arial"/>
                        </a:rPr>
                        <a:t>ACSL (Processors, Team Leader, Head)</a:t>
                      </a:r>
                    </a:p>
                  </a:txBody>
                  <a:tcPr marL="73152" marR="73152" marT="36576" marB="36576">
                    <a:solidFill>
                      <a:srgbClr val="FFFFFF"/>
                    </a:solidFill>
                  </a:tcPr>
                </a:tc>
                <a:tc>
                  <a:txBody>
                    <a:bodyPr/>
                    <a:lstStyle/>
                    <a:p>
                      <a:r>
                        <a:rPr sz="1100" b="0">
                          <a:solidFill>
                            <a:srgbClr val="4B4B4B"/>
                          </a:solidFill>
                          <a:latin typeface="Arial"/>
                        </a:rPr>
                        <a:t>FRS section 4.13; the screens SCR-AC-45 to 51; walkthrough C; the reconciliation report DO-06</a:t>
                      </a:r>
                    </a:p>
                  </a:txBody>
                  <a:tcPr marL="73152" marR="73152" marT="36576" marB="36576">
                    <a:solidFill>
                      <a:srgbClr val="FFFFFF"/>
                    </a:solidFill>
                  </a:tcPr>
                </a:tc>
              </a:tr>
              <a:tr h="365760">
                <a:tc>
                  <a:txBody>
                    <a:bodyPr/>
                    <a:lstStyle/>
                    <a:p>
                      <a:r>
                        <a:rPr sz="1100" b="0">
                          <a:solidFill>
                            <a:srgbClr val="4B4B4B"/>
                          </a:solidFill>
                          <a:latin typeface="Arial"/>
                        </a:rPr>
                        <a:t>Operations (Cashiering and Remittance, BRD-2)</a:t>
                      </a:r>
                    </a:p>
                  </a:txBody>
                  <a:tcPr marL="73152" marR="73152" marT="36576" marB="36576">
                    <a:solidFill>
                      <a:srgbClr val="E5F5FF"/>
                    </a:solidFill>
                  </a:tcPr>
                </a:tc>
                <a:tc>
                  <a:txBody>
                    <a:bodyPr/>
                    <a:lstStyle/>
                    <a:p>
                      <a:r>
                        <a:rPr sz="1100" b="0">
                          <a:solidFill>
                            <a:srgbClr val="4B4B4B"/>
                          </a:solidFill>
                          <a:latin typeface="Arial"/>
                        </a:rPr>
                        <a:t>The hand-offs of chapter 19 (remittance payments, refund validations, payment reversals, remittance deductions); walkthrough B; FRS sections 4.11 and 4.13</a:t>
                      </a:r>
                    </a:p>
                  </a:txBody>
                  <a:tcPr marL="73152" marR="73152" marT="36576" marB="36576">
                    <a:solidFill>
                      <a:srgbClr val="E5F5FF"/>
                    </a:solidFill>
                  </a:tcPr>
                </a:tc>
              </a:tr>
              <a:tr h="365760">
                <a:tc>
                  <a:txBody>
                    <a:bodyPr/>
                    <a:lstStyle/>
                    <a:p>
                      <a:r>
                        <a:rPr sz="1100" b="0">
                          <a:solidFill>
                            <a:srgbClr val="4B4B4B"/>
                          </a:solidFill>
                          <a:latin typeface="Arial"/>
                        </a:rPr>
                        <a:t>Business and System Administrators</a:t>
                      </a:r>
                    </a:p>
                  </a:txBody>
                  <a:tcPr marL="73152" marR="73152" marT="36576" marB="36576">
                    <a:solidFill>
                      <a:srgbClr val="FFFFFF"/>
                    </a:solidFill>
                  </a:tcPr>
                </a:tc>
                <a:tc>
                  <a:txBody>
                    <a:bodyPr/>
                    <a:lstStyle/>
                    <a:p>
                      <a:r>
                        <a:rPr sz="1100" b="0">
                          <a:solidFill>
                            <a:srgbClr val="4B4B4B"/>
                          </a:solidFill>
                          <a:latin typeface="Arial"/>
                        </a:rPr>
                        <a:t>FRS section 4.10 (administration) and configuration in chapter 9; the lists of values and access screens of the BRD-1 and BRD-11 sets; Menu by persona in chapter 12</a:t>
                      </a:r>
                    </a:p>
                  </a:txBody>
                  <a:tcPr marL="73152" marR="73152" marT="36576" marB="36576">
                    <a:solidFill>
                      <a:srgbClr val="FFFFFF"/>
                    </a:solidFill>
                  </a:tcPr>
                </a:tc>
              </a:tr>
              <a:tr h="365760">
                <a:tc>
                  <a:txBody>
                    <a:bodyPr/>
                    <a:lstStyle/>
                    <a:p>
                      <a:r>
                        <a:rPr sz="1100" b="0">
                          <a:solidFill>
                            <a:srgbClr val="4B4B4B"/>
                          </a:solidFill>
                          <a:latin typeface="Arial"/>
                        </a:rPr>
                        <a:t>BDOI IT</a:t>
                      </a:r>
                    </a:p>
                  </a:txBody>
                  <a:tcPr marL="73152" marR="73152" marT="36576" marB="36576">
                    <a:solidFill>
                      <a:srgbClr val="E5F5FF"/>
                    </a:solidFill>
                  </a:tcPr>
                </a:tc>
                <a:tc>
                  <a:txBody>
                    <a:bodyPr/>
                    <a:lstStyle/>
                    <a:p>
                      <a:r>
                        <a:rPr sz="1100" b="0">
                          <a:solidFill>
                            <a:srgbClr val="4B4B4B"/>
                          </a:solidFill>
                          <a:latin typeface="Arial"/>
                        </a:rPr>
                        <a:t>Interfaces and integration (chapter 7), non-functional requirements (chapter 8), configuration and jobs (chapter 9), cross-BRD contract (chapter 19), the bank files of chapter 17; the Technical Specification, reviewed by BDOI IT</a:t>
                      </a:r>
                    </a:p>
                  </a:txBody>
                  <a:tcPr marL="73152" marR="73152" marT="36576" marB="36576">
                    <a:solidFill>
                      <a:srgbClr val="E5F5FF"/>
                    </a:solidFill>
                  </a:tcPr>
                </a:tc>
              </a:tr>
              <a:tr h="365760">
                <a:tc>
                  <a:txBody>
                    <a:bodyPr/>
                    <a:lstStyle/>
                    <a:p>
                      <a:r>
                        <a:rPr sz="1100" b="0">
                          <a:solidFill>
                            <a:srgbClr val="4B4B4B"/>
                          </a:solidFill>
                          <a:latin typeface="Arial"/>
                        </a:rPr>
                        <a:t>BDOI UX Design team</a:t>
                      </a:r>
                    </a:p>
                  </a:txBody>
                  <a:tcPr marL="73152" marR="73152" marT="36576" marB="36576">
                    <a:solidFill>
                      <a:srgbClr val="FFFFFF"/>
                    </a:solidFill>
                  </a:tcPr>
                </a:tc>
                <a:tc>
                  <a:txBody>
                    <a:bodyPr/>
                    <a:lstStyle/>
                    <a:p>
                      <a:r>
                        <a:rPr sz="1100" b="0">
                          <a:solidFill>
                            <a:srgbClr val="4B4B4B"/>
                          </a:solidFill>
                          <a:latin typeface="Arial"/>
                        </a:rPr>
                        <a:t>07 UX Screen Deck: design foundation and navigation first, then the personas, walkthroughs and screens of the design work; 08 UX screen register (filter Changed in this issue at each new issue); 09 image package in the design tool</a:t>
                      </a:r>
                    </a:p>
                  </a:txBody>
                  <a:tcPr marL="73152" marR="73152" marT="36576" marB="36576">
                    <a:solidFill>
                      <a:srgbClr val="FFFFFF"/>
                    </a:solidFill>
                  </a:tcPr>
                </a:tc>
              </a:tr>
              <a:tr h="365760">
                <a:tc>
                  <a:txBody>
                    <a:bodyPr/>
                    <a:lstStyle/>
                    <a:p>
                      <a:r>
                        <a:rPr sz="1100" b="0">
                          <a:solidFill>
                            <a:srgbClr val="4B4B4B"/>
                          </a:solidFill>
                          <a:latin typeface="Arial"/>
                        </a:rPr>
                        <a:t>iorta TechNXT project team</a:t>
                      </a:r>
                    </a:p>
                  </a:txBody>
                  <a:tcPr marL="73152" marR="73152" marT="36576" marB="36576">
                    <a:solidFill>
                      <a:srgbClr val="E5F5FF"/>
                    </a:solidFill>
                  </a:tcPr>
                </a:tc>
                <a:tc>
                  <a:txBody>
                    <a:bodyPr/>
                    <a:lstStyle/>
                    <a:p>
                      <a:r>
                        <a:rPr sz="1100" b="0">
                          <a:solidFill>
                            <a:srgbClr val="4B4B4B"/>
                          </a:solidFill>
                          <a:latin typeface="Arial"/>
                        </a:rPr>
                        <a:t>All documents; keeps the comments log, the meeting minutes and the version history of the workbook, answers every comment and keeps the traceability to SIT and UAT</a:t>
                      </a:r>
                    </a:p>
                  </a:txBody>
                  <a:tcPr marL="73152" marR="73152" marT="36576" marB="36576">
                    <a:solidFill>
                      <a:srgbClr val="E5F5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Approach: from issue to closure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a:t>
            </a:r>
          </a:p>
        </p:txBody>
      </p:sp>
      <p:sp>
        <p:nvSpPr>
          <p:cNvPr id="9" name="Rounded Rectangle 8"/>
          <p:cNvSpPr/>
          <p:nvPr/>
        </p:nvSpPr>
        <p:spPr>
          <a:xfrm>
            <a:off x="548640"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1" name="TextBox 10"/>
          <p:cNvSpPr txBox="1"/>
          <p:nvPr/>
        </p:nvSpPr>
        <p:spPr>
          <a:xfrm>
            <a:off x="1115568" y="1490472"/>
            <a:ext cx="1824913" cy="502920"/>
          </a:xfrm>
          <a:prstGeom prst="rect">
            <a:avLst/>
          </a:prstGeom>
          <a:noFill/>
        </p:spPr>
        <p:txBody>
          <a:bodyPr wrap="square" anchor="ctr" lIns="45720" rIns="45720">
            <a:spAutoFit/>
          </a:bodyPr>
          <a:lstStyle/>
          <a:p>
            <a:r>
              <a:rPr sz="1300" b="1" i="0">
                <a:solidFill>
                  <a:srgbClr val="004EA8"/>
                </a:solidFill>
                <a:latin typeface="Arial"/>
              </a:rPr>
              <a:t>Pack issued</a:t>
            </a:r>
          </a:p>
        </p:txBody>
      </p:sp>
      <p:sp>
        <p:nvSpPr>
          <p:cNvPr id="12" name="TextBox 11"/>
          <p:cNvSpPr txBox="1"/>
          <p:nvPr/>
        </p:nvSpPr>
        <p:spPr>
          <a:xfrm>
            <a:off x="658368" y="2057400"/>
            <a:ext cx="2245537" cy="822960"/>
          </a:xfrm>
          <a:prstGeom prst="rect">
            <a:avLst/>
          </a:prstGeom>
          <a:noFill/>
        </p:spPr>
        <p:txBody>
          <a:bodyPr wrap="square" anchor="t" lIns="45720" rIns="45720">
            <a:spAutoFit/>
          </a:bodyPr>
          <a:lstStyle/>
          <a:p>
            <a:r>
              <a:rPr sz="1000" b="0" i="0">
                <a:solidFill>
                  <a:srgbClr val="4B4B4B"/>
                </a:solidFill>
                <a:latin typeface="Arial"/>
              </a:rPr>
              <a:t>Release set v2.1 in the BRD-05 folder; invitations to the sessions</a:t>
            </a:r>
          </a:p>
        </p:txBody>
      </p:sp>
      <p:sp>
        <p:nvSpPr>
          <p:cNvPr id="13" name="TextBox 12"/>
          <p:cNvSpPr txBox="1"/>
          <p:nvPr/>
        </p:nvSpPr>
        <p:spPr>
          <a:xfrm>
            <a:off x="658368" y="2971800"/>
            <a:ext cx="2245537" cy="384048"/>
          </a:xfrm>
          <a:prstGeom prst="rect">
            <a:avLst/>
          </a:prstGeom>
          <a:noFill/>
        </p:spPr>
        <p:txBody>
          <a:bodyPr wrap="square" anchor="t" lIns="45720" rIns="45720">
            <a:spAutoFit/>
          </a:bodyPr>
          <a:lstStyle/>
          <a:p>
            <a:r>
              <a:rPr sz="1000" b="1" i="0">
                <a:solidFill>
                  <a:srgbClr val="2E2E2E"/>
                </a:solidFill>
                <a:latin typeface="Arial"/>
              </a:rPr>
              <a:t>Day 0 (Thu 8-Oct-2026); sessions scheduled after the BRD-4 Collections walkthroughs</a:t>
            </a:r>
          </a:p>
        </p:txBody>
      </p:sp>
      <p:sp>
        <p:nvSpPr>
          <p:cNvPr id="14" name="Right Arrow 13"/>
          <p:cNvSpPr/>
          <p:nvPr/>
        </p:nvSpPr>
        <p:spPr>
          <a:xfrm>
            <a:off x="3077641"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25113"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4841"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7" name="TextBox 16"/>
          <p:cNvSpPr txBox="1"/>
          <p:nvPr/>
        </p:nvSpPr>
        <p:spPr>
          <a:xfrm>
            <a:off x="3992041" y="1490472"/>
            <a:ext cx="1824913" cy="502920"/>
          </a:xfrm>
          <a:prstGeom prst="rect">
            <a:avLst/>
          </a:prstGeom>
          <a:noFill/>
        </p:spPr>
        <p:txBody>
          <a:bodyPr wrap="square" anchor="ctr" lIns="45720" rIns="45720">
            <a:spAutoFit/>
          </a:bodyPr>
          <a:lstStyle/>
          <a:p>
            <a:r>
              <a:rPr sz="1300" b="1" i="0">
                <a:solidFill>
                  <a:srgbClr val="004EA8"/>
                </a:solidFill>
                <a:latin typeface="Arial"/>
              </a:rPr>
              <a:t>Kick-off and screen walkthrough on SIT</a:t>
            </a:r>
          </a:p>
        </p:txBody>
      </p:sp>
      <p:sp>
        <p:nvSpPr>
          <p:cNvPr id="18" name="TextBox 17"/>
          <p:cNvSpPr txBox="1"/>
          <p:nvPr/>
        </p:nvSpPr>
        <p:spPr>
          <a:xfrm>
            <a:off x="3534841" y="2057400"/>
            <a:ext cx="2245537" cy="822960"/>
          </a:xfrm>
          <a:prstGeom prst="rect">
            <a:avLst/>
          </a:prstGeom>
          <a:noFill/>
        </p:spPr>
        <p:txBody>
          <a:bodyPr wrap="square" anchor="t" lIns="45720" rIns="45720">
            <a:spAutoFit/>
          </a:bodyPr>
          <a:lstStyle/>
          <a:p>
            <a:r>
              <a:rPr sz="1000" b="0" i="0">
                <a:solidFill>
                  <a:srgbClr val="4B4B4B"/>
                </a:solidFill>
                <a:latin typeface="Arial"/>
              </a:rPr>
              <a:t>Screens shown live (general ledger and closing, reports and service fee, Disbursement, the Marketing requests, ACSL); first questions logged in the comments log; minutes</a:t>
            </a:r>
          </a:p>
        </p:txBody>
      </p:sp>
      <p:sp>
        <p:nvSpPr>
          <p:cNvPr id="19" name="TextBox 18"/>
          <p:cNvSpPr txBox="1"/>
          <p:nvPr/>
        </p:nvSpPr>
        <p:spPr>
          <a:xfrm>
            <a:off x="3534841" y="2971800"/>
            <a:ext cx="2245537" cy="384048"/>
          </a:xfrm>
          <a:prstGeom prst="rect">
            <a:avLst/>
          </a:prstGeom>
          <a:noFill/>
        </p:spPr>
        <p:txBody>
          <a:bodyPr wrap="square" anchor="t" lIns="45720" rIns="45720">
            <a:spAutoFit/>
          </a:bodyPr>
          <a:lstStyle/>
          <a:p>
            <a:r>
              <a:rPr sz="1000" b="1" i="0">
                <a:solidFill>
                  <a:srgbClr val="2E2E2E"/>
                </a:solidFill>
                <a:latin typeface="Arial"/>
              </a:rPr>
              <a:t>5 sessions, 25-Nov to 1-Dec-2026</a:t>
            </a:r>
          </a:p>
        </p:txBody>
      </p:sp>
      <p:sp>
        <p:nvSpPr>
          <p:cNvPr id="20" name="Right Arrow 19"/>
          <p:cNvSpPr/>
          <p:nvPr/>
        </p:nvSpPr>
        <p:spPr>
          <a:xfrm>
            <a:off x="5954115"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01587"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11315"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23" name="TextBox 22"/>
          <p:cNvSpPr txBox="1"/>
          <p:nvPr/>
        </p:nvSpPr>
        <p:spPr>
          <a:xfrm>
            <a:off x="6868515" y="1490472"/>
            <a:ext cx="1824913" cy="502920"/>
          </a:xfrm>
          <a:prstGeom prst="rect">
            <a:avLst/>
          </a:prstGeom>
          <a:noFill/>
        </p:spPr>
        <p:txBody>
          <a:bodyPr wrap="square" anchor="ctr" lIns="45720" rIns="45720">
            <a:spAutoFit/>
          </a:bodyPr>
          <a:lstStyle/>
          <a:p>
            <a:r>
              <a:rPr sz="1300" b="1" i="0">
                <a:solidFill>
                  <a:srgbClr val="004EA8"/>
                </a:solidFill>
                <a:latin typeface="Arial"/>
              </a:rPr>
              <a:t>Review with the workbook</a:t>
            </a:r>
          </a:p>
        </p:txBody>
      </p:sp>
      <p:sp>
        <p:nvSpPr>
          <p:cNvPr id="24" name="TextBox 23"/>
          <p:cNvSpPr txBox="1"/>
          <p:nvPr/>
        </p:nvSpPr>
        <p:spPr>
          <a:xfrm>
            <a:off x="6411315" y="2057400"/>
            <a:ext cx="2245537" cy="822960"/>
          </a:xfrm>
          <a:prstGeom prst="rect">
            <a:avLst/>
          </a:prstGeom>
          <a:noFill/>
        </p:spPr>
        <p:txBody>
          <a:bodyPr wrap="square" anchor="t" lIns="45720" rIns="45720">
            <a:spAutoFit/>
          </a:bodyPr>
          <a:lstStyle/>
          <a:p>
            <a:r>
              <a:rPr sz="1000" b="0" i="0">
                <a:solidFill>
                  <a:srgbClr val="4B4B4B"/>
                </a:solidFill>
                <a:latin typeface="Arial"/>
              </a:rPr>
              <a:t>Every row marked Accept, Change requested or Comment; comments log entries</a:t>
            </a:r>
          </a:p>
        </p:txBody>
      </p:sp>
      <p:sp>
        <p:nvSpPr>
          <p:cNvPr id="25" name="TextBox 24"/>
          <p:cNvSpPr txBox="1"/>
          <p:nvPr/>
        </p:nvSpPr>
        <p:spPr>
          <a:xfrm>
            <a:off x="6411315" y="2971800"/>
            <a:ext cx="2245537" cy="384048"/>
          </a:xfrm>
          <a:prstGeom prst="rect">
            <a:avLst/>
          </a:prstGeom>
          <a:noFill/>
        </p:spPr>
        <p:txBody>
          <a:bodyPr wrap="square" anchor="t" lIns="45720" rIns="45720">
            <a:spAutoFit/>
          </a:bodyPr>
          <a:lstStyle/>
          <a:p>
            <a:r>
              <a:rPr sz="1000" b="1" i="0">
                <a:solidFill>
                  <a:srgbClr val="2E2E2E"/>
                </a:solidFill>
                <a:latin typeface="Arial"/>
              </a:rPr>
              <a:t>10 working days after the walkthroughs, until Mon 14-Dec-2026</a:t>
            </a:r>
          </a:p>
        </p:txBody>
      </p:sp>
      <p:sp>
        <p:nvSpPr>
          <p:cNvPr id="26" name="Right Arrow 25"/>
          <p:cNvSpPr/>
          <p:nvPr/>
        </p:nvSpPr>
        <p:spPr>
          <a:xfrm>
            <a:off x="8830589"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178061"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287789"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29" name="TextBox 28"/>
          <p:cNvSpPr txBox="1"/>
          <p:nvPr/>
        </p:nvSpPr>
        <p:spPr>
          <a:xfrm>
            <a:off x="9744989" y="1490472"/>
            <a:ext cx="1824913" cy="502920"/>
          </a:xfrm>
          <a:prstGeom prst="rect">
            <a:avLst/>
          </a:prstGeom>
          <a:noFill/>
        </p:spPr>
        <p:txBody>
          <a:bodyPr wrap="square" anchor="ctr" lIns="45720" rIns="45720">
            <a:spAutoFit/>
          </a:bodyPr>
          <a:lstStyle/>
          <a:p>
            <a:r>
              <a:rPr sz="1300" b="1" i="0">
                <a:solidFill>
                  <a:srgbClr val="004EA8"/>
                </a:solidFill>
                <a:latin typeface="Arial"/>
              </a:rPr>
              <a:t>Comments consolidated and a Q&amp;A session</a:t>
            </a:r>
          </a:p>
        </p:txBody>
      </p:sp>
      <p:sp>
        <p:nvSpPr>
          <p:cNvPr id="30" name="TextBox 29"/>
          <p:cNvSpPr txBox="1"/>
          <p:nvPr/>
        </p:nvSpPr>
        <p:spPr>
          <a:xfrm>
            <a:off x="9287789" y="2057400"/>
            <a:ext cx="2245537" cy="822960"/>
          </a:xfrm>
          <a:prstGeom prst="rect">
            <a:avLst/>
          </a:prstGeom>
          <a:noFill/>
        </p:spPr>
        <p:txBody>
          <a:bodyPr wrap="square" anchor="t" lIns="45720" rIns="45720">
            <a:spAutoFit/>
          </a:bodyPr>
          <a:lstStyle/>
          <a:p>
            <a:r>
              <a:rPr sz="1000" b="0" i="0">
                <a:solidFill>
                  <a:srgbClr val="4B4B4B"/>
                </a:solidFill>
                <a:latin typeface="Arial"/>
              </a:rPr>
              <a:t>One consolidated comments log, each item typed (clarification, correction, change request) and answered; Q&amp;A minutes</a:t>
            </a:r>
          </a:p>
        </p:txBody>
      </p:sp>
      <p:sp>
        <p:nvSpPr>
          <p:cNvPr id="31" name="TextBox 30"/>
          <p:cNvSpPr txBox="1"/>
          <p:nvPr/>
        </p:nvSpPr>
        <p:spPr>
          <a:xfrm>
            <a:off x="9287789" y="2971800"/>
            <a:ext cx="2245537" cy="384048"/>
          </a:xfrm>
          <a:prstGeom prst="rect">
            <a:avLst/>
          </a:prstGeom>
          <a:noFill/>
        </p:spPr>
        <p:txBody>
          <a:bodyPr wrap="square" anchor="t" lIns="45720" rIns="45720">
            <a:spAutoFit/>
          </a:bodyPr>
          <a:lstStyle/>
          <a:p>
            <a:r>
              <a:rPr sz="1000" b="1" i="0">
                <a:solidFill>
                  <a:srgbClr val="2E2E2E"/>
                </a:solidFill>
                <a:latin typeface="Arial"/>
              </a:rPr>
              <a:t>2 working days, Q&amp;A on Wed 16-Dec-2026</a:t>
            </a:r>
          </a:p>
        </p:txBody>
      </p:sp>
      <p:sp>
        <p:nvSpPr>
          <p:cNvPr id="32" name="Rounded Rectangle 31"/>
          <p:cNvSpPr/>
          <p:nvPr/>
        </p:nvSpPr>
        <p:spPr>
          <a:xfrm>
            <a:off x="548640"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58368"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34" name="TextBox 33"/>
          <p:cNvSpPr txBox="1"/>
          <p:nvPr/>
        </p:nvSpPr>
        <p:spPr>
          <a:xfrm>
            <a:off x="1115568" y="3913632"/>
            <a:ext cx="1824913" cy="502920"/>
          </a:xfrm>
          <a:prstGeom prst="rect">
            <a:avLst/>
          </a:prstGeom>
          <a:noFill/>
        </p:spPr>
        <p:txBody>
          <a:bodyPr wrap="square" anchor="ctr" lIns="45720" rIns="45720">
            <a:spAutoFit/>
          </a:bodyPr>
          <a:lstStyle/>
          <a:p>
            <a:r>
              <a:rPr sz="1300" b="1" i="0">
                <a:solidFill>
                  <a:srgbClr val="004EA8"/>
                </a:solidFill>
                <a:latin typeface="Arial"/>
              </a:rPr>
              <a:t>One revision cycle (v2.2)</a:t>
            </a:r>
          </a:p>
        </p:txBody>
      </p:sp>
      <p:sp>
        <p:nvSpPr>
          <p:cNvPr id="35" name="TextBox 34"/>
          <p:cNvSpPr txBox="1"/>
          <p:nvPr/>
        </p:nvSpPr>
        <p:spPr>
          <a:xfrm>
            <a:off x="658368" y="4480560"/>
            <a:ext cx="2245537" cy="822960"/>
          </a:xfrm>
          <a:prstGeom prst="rect">
            <a:avLst/>
          </a:prstGeom>
          <a:noFill/>
        </p:spPr>
        <p:txBody>
          <a:bodyPr wrap="square" anchor="t" lIns="45720" rIns="45720">
            <a:spAutoFit/>
          </a:bodyPr>
          <a:lstStyle/>
          <a:p>
            <a:r>
              <a:rPr sz="1000" b="0" i="0">
                <a:solidFill>
                  <a:srgbClr val="4B4B4B"/>
                </a:solidFill>
                <a:latin typeface="Arial"/>
              </a:rPr>
              <a:t>Release set v2.2 with the changed rows marked; change requests raised for the rest</a:t>
            </a:r>
          </a:p>
        </p:txBody>
      </p:sp>
      <p:sp>
        <p:nvSpPr>
          <p:cNvPr id="36" name="TextBox 35"/>
          <p:cNvSpPr txBox="1"/>
          <p:nvPr/>
        </p:nvSpPr>
        <p:spPr>
          <a:xfrm>
            <a:off x="658368" y="5394960"/>
            <a:ext cx="2245537" cy="384048"/>
          </a:xfrm>
          <a:prstGeom prst="rect">
            <a:avLst/>
          </a:prstGeom>
          <a:noFill/>
        </p:spPr>
        <p:txBody>
          <a:bodyPr wrap="square" anchor="t" lIns="45720" rIns="45720">
            <a:spAutoFit/>
          </a:bodyPr>
          <a:lstStyle/>
          <a:p>
            <a:r>
              <a:rPr sz="1000" b="1" i="0">
                <a:solidFill>
                  <a:srgbClr val="2E2E2E"/>
                </a:solidFill>
                <a:latin typeface="Arial"/>
              </a:rPr>
              <a:t>2 working days, v2.2 on Fri 18-Dec-2026; check by the reviewers until Tue 22-Dec-2026</a:t>
            </a:r>
          </a:p>
        </p:txBody>
      </p:sp>
      <p:sp>
        <p:nvSpPr>
          <p:cNvPr id="37" name="Right Arrow 36"/>
          <p:cNvSpPr/>
          <p:nvPr/>
        </p:nvSpPr>
        <p:spPr>
          <a:xfrm>
            <a:off x="3077641" y="471830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425113"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534841"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40" name="TextBox 39"/>
          <p:cNvSpPr txBox="1"/>
          <p:nvPr/>
        </p:nvSpPr>
        <p:spPr>
          <a:xfrm>
            <a:off x="3992041" y="3913632"/>
            <a:ext cx="1824913" cy="502920"/>
          </a:xfrm>
          <a:prstGeom prst="rect">
            <a:avLst/>
          </a:prstGeom>
          <a:noFill/>
        </p:spPr>
        <p:txBody>
          <a:bodyPr wrap="square" anchor="ctr" lIns="45720" rIns="45720">
            <a:spAutoFit/>
          </a:bodyPr>
          <a:lstStyle/>
          <a:p>
            <a:r>
              <a:rPr sz="1300" b="1" i="0">
                <a:solidFill>
                  <a:srgbClr val="004EA8"/>
                </a:solidFill>
                <a:latin typeface="Arial"/>
              </a:rPr>
              <a:t>Sign-off meeting and signature</a:t>
            </a:r>
          </a:p>
        </p:txBody>
      </p:sp>
      <p:sp>
        <p:nvSpPr>
          <p:cNvPr id="41" name="TextBox 40"/>
          <p:cNvSpPr txBox="1"/>
          <p:nvPr/>
        </p:nvSpPr>
        <p:spPr>
          <a:xfrm>
            <a:off x="3534841" y="4480560"/>
            <a:ext cx="2245537" cy="822960"/>
          </a:xfrm>
          <a:prstGeom prst="rect">
            <a:avLst/>
          </a:prstGeom>
          <a:noFill/>
        </p:spPr>
        <p:txBody>
          <a:bodyPr wrap="square" anchor="t" lIns="45720" rIns="45720">
            <a:spAutoFit/>
          </a:bodyPr>
          <a:lstStyle/>
          <a:p>
            <a:r>
              <a:rPr sz="1000" b="0" i="0">
                <a:solidFill>
                  <a:srgbClr val="4B4B4B"/>
                </a:solidFill>
                <a:latin typeface="Arial"/>
              </a:rPr>
              <a:t>Signed sign-off certificate; minutes; open items accepted as assumptions or change requests</a:t>
            </a:r>
          </a:p>
        </p:txBody>
      </p:sp>
      <p:sp>
        <p:nvSpPr>
          <p:cNvPr id="42" name="TextBox 41"/>
          <p:cNvSpPr txBox="1"/>
          <p:nvPr/>
        </p:nvSpPr>
        <p:spPr>
          <a:xfrm>
            <a:off x="3534841" y="5394960"/>
            <a:ext cx="2245537" cy="384048"/>
          </a:xfrm>
          <a:prstGeom prst="rect">
            <a:avLst/>
          </a:prstGeom>
          <a:noFill/>
        </p:spPr>
        <p:txBody>
          <a:bodyPr wrap="square" anchor="t" lIns="45720" rIns="45720">
            <a:spAutoFit/>
          </a:bodyPr>
          <a:lstStyle/>
          <a:p>
            <a:r>
              <a:rPr sz="1000" b="1" i="0">
                <a:solidFill>
                  <a:srgbClr val="2E2E2E"/>
                </a:solidFill>
                <a:latin typeface="Arial"/>
              </a:rPr>
              <a:t>Wed 23-Dec-2026</a:t>
            </a:r>
          </a:p>
        </p:txBody>
      </p:sp>
      <p:sp>
        <p:nvSpPr>
          <p:cNvPr id="43" name="Right Arrow 42"/>
          <p:cNvSpPr/>
          <p:nvPr/>
        </p:nvSpPr>
        <p:spPr>
          <a:xfrm>
            <a:off x="5954115" y="471830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301587"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411315"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46" name="TextBox 45"/>
          <p:cNvSpPr txBox="1"/>
          <p:nvPr/>
        </p:nvSpPr>
        <p:spPr>
          <a:xfrm>
            <a:off x="6868515" y="3913632"/>
            <a:ext cx="1824913" cy="502920"/>
          </a:xfrm>
          <a:prstGeom prst="rect">
            <a:avLst/>
          </a:prstGeom>
          <a:noFill/>
        </p:spPr>
        <p:txBody>
          <a:bodyPr wrap="square" anchor="ctr" lIns="45720" rIns="45720">
            <a:spAutoFit/>
          </a:bodyPr>
          <a:lstStyle/>
          <a:p>
            <a:r>
              <a:rPr sz="1300" b="1" i="0">
                <a:solidFill>
                  <a:srgbClr val="004EA8"/>
                </a:solidFill>
                <a:latin typeface="Arial"/>
              </a:rPr>
              <a:t>Content freeze</a:t>
            </a:r>
          </a:p>
        </p:txBody>
      </p:sp>
      <p:sp>
        <p:nvSpPr>
          <p:cNvPr id="47" name="TextBox 46"/>
          <p:cNvSpPr txBox="1"/>
          <p:nvPr/>
        </p:nvSpPr>
        <p:spPr>
          <a:xfrm>
            <a:off x="6411315" y="4480560"/>
            <a:ext cx="2245537" cy="822960"/>
          </a:xfrm>
          <a:prstGeom prst="rect">
            <a:avLst/>
          </a:prstGeom>
          <a:noFill/>
        </p:spPr>
        <p:txBody>
          <a:bodyPr wrap="square" anchor="t" lIns="45720" rIns="45720">
            <a:spAutoFit/>
          </a:bodyPr>
          <a:lstStyle/>
          <a:p>
            <a:r>
              <a:rPr sz="1000" b="0" i="0">
                <a:solidFill>
                  <a:srgbClr val="4B4B4B"/>
                </a:solidFill>
                <a:latin typeface="Arial"/>
              </a:rPr>
              <a:t>Content frozen as signed; approved deltas scheduled in the Change Management Register</a:t>
            </a:r>
          </a:p>
        </p:txBody>
      </p:sp>
      <p:sp>
        <p:nvSpPr>
          <p:cNvPr id="48" name="TextBox 47"/>
          <p:cNvSpPr txBox="1"/>
          <p:nvPr/>
        </p:nvSpPr>
        <p:spPr>
          <a:xfrm>
            <a:off x="6411315" y="5394960"/>
            <a:ext cx="2245537" cy="384048"/>
          </a:xfrm>
          <a:prstGeom prst="rect">
            <a:avLst/>
          </a:prstGeom>
          <a:noFill/>
        </p:spPr>
        <p:txBody>
          <a:bodyPr wrap="square" anchor="t" lIns="45720" rIns="45720">
            <a:spAutoFit/>
          </a:bodyPr>
          <a:lstStyle/>
          <a:p>
            <a:r>
              <a:rPr sz="1000" b="1" i="0">
                <a:solidFill>
                  <a:srgbClr val="2E2E2E"/>
                </a:solidFill>
                <a:latin typeface="Arial"/>
              </a:rPr>
              <a:t>From Mon 28-Dec-2026</a:t>
            </a:r>
          </a:p>
        </p:txBody>
      </p:sp>
      <p:sp>
        <p:nvSpPr>
          <p:cNvPr id="49" name="Right Arrow 48"/>
          <p:cNvSpPr/>
          <p:nvPr/>
        </p:nvSpPr>
        <p:spPr>
          <a:xfrm>
            <a:off x="8830589" y="471830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9178061"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9287789"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52" name="TextBox 51"/>
          <p:cNvSpPr txBox="1"/>
          <p:nvPr/>
        </p:nvSpPr>
        <p:spPr>
          <a:xfrm>
            <a:off x="9744989" y="3913632"/>
            <a:ext cx="1824913" cy="502920"/>
          </a:xfrm>
          <a:prstGeom prst="rect">
            <a:avLst/>
          </a:prstGeom>
          <a:noFill/>
        </p:spPr>
        <p:txBody>
          <a:bodyPr wrap="square" anchor="ctr" lIns="45720" rIns="45720">
            <a:spAutoFit/>
          </a:bodyPr>
          <a:lstStyle/>
          <a:p>
            <a:r>
              <a:rPr sz="1300" b="1" i="0">
                <a:solidFill>
                  <a:srgbClr val="004EA8"/>
                </a:solidFill>
                <a:latin typeface="Arial"/>
              </a:rPr>
              <a:t>Traceability into SIT and UAT</a:t>
            </a:r>
          </a:p>
        </p:txBody>
      </p:sp>
      <p:sp>
        <p:nvSpPr>
          <p:cNvPr id="53" name="TextBox 52"/>
          <p:cNvSpPr txBox="1"/>
          <p:nvPr/>
        </p:nvSpPr>
        <p:spPr>
          <a:xfrm>
            <a:off x="9287789" y="4480560"/>
            <a:ext cx="2245537" cy="822960"/>
          </a:xfrm>
          <a:prstGeom prst="rect">
            <a:avLst/>
          </a:prstGeom>
          <a:noFill/>
        </p:spPr>
        <p:txBody>
          <a:bodyPr wrap="square" anchor="t" lIns="45720" rIns="45720">
            <a:spAutoFit/>
          </a:bodyPr>
          <a:lstStyle/>
          <a:p>
            <a:r>
              <a:rPr sz="1000" b="0" i="0">
                <a:solidFill>
                  <a:srgbClr val="4B4B4B"/>
                </a:solidFill>
                <a:latin typeface="Arial"/>
              </a:rPr>
              <a:t>SIT and UAT runs traced to the signed screens, rules and messages; results against each row</a:t>
            </a:r>
          </a:p>
        </p:txBody>
      </p:sp>
      <p:sp>
        <p:nvSpPr>
          <p:cNvPr id="54" name="TextBox 53"/>
          <p:cNvSpPr txBox="1"/>
          <p:nvPr/>
        </p:nvSpPr>
        <p:spPr>
          <a:xfrm>
            <a:off x="9287789" y="5394960"/>
            <a:ext cx="2245537" cy="384048"/>
          </a:xfrm>
          <a:prstGeom prst="rect">
            <a:avLst/>
          </a:prstGeom>
          <a:noFill/>
        </p:spPr>
        <p:txBody>
          <a:bodyPr wrap="square" anchor="t" lIns="45720" rIns="45720">
            <a:spAutoFit/>
          </a:bodyPr>
          <a:lstStyle/>
          <a:p>
            <a:r>
              <a:rPr sz="1000" b="1" i="0">
                <a:solidFill>
                  <a:srgbClr val="2E2E2E"/>
                </a:solidFill>
                <a:latin typeface="Arial"/>
              </a:rPr>
              <a:t>SIT Jan - Jul 2027; UAT Aug - Dec 2027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Steps in detail (1 of 2): who, inputs, outputs, duration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a:t>
            </a:r>
          </a:p>
        </p:txBody>
      </p:sp>
      <p:graphicFrame>
        <p:nvGraphicFramePr>
          <p:cNvPr id="9" name="Table 8"/>
          <p:cNvGraphicFramePr>
            <a:graphicFrameLocks noGrp="1"/>
          </p:cNvGraphicFramePr>
          <p:nvPr/>
        </p:nvGraphicFramePr>
        <p:xfrm>
          <a:off x="548640" y="1371600"/>
          <a:ext cx="11094412" cy="1828800"/>
        </p:xfrm>
        <a:graphic>
          <a:graphicData uri="http://schemas.openxmlformats.org/drawingml/2006/table">
            <a:tbl>
              <a:tblPr firstRow="1" bandRow="1">
                <a:tableStyleId>{5C22544A-7EE6-4342-B048-85BDC9FD1C3A}</a:tableStyleId>
              </a:tblPr>
              <a:tblGrid>
                <a:gridCol w="1807978"/>
                <a:gridCol w="2794148"/>
                <a:gridCol w="2301063"/>
                <a:gridCol w="2629787"/>
                <a:gridCol w="1561436"/>
              </a:tblGrid>
              <a:tr h="365760">
                <a:tc>
                  <a:txBody>
                    <a:bodyPr/>
                    <a:lstStyle/>
                    <a:p>
                      <a:r>
                        <a:rPr sz="1000" b="1">
                          <a:solidFill>
                            <a:srgbClr val="FFFFFF"/>
                          </a:solidFill>
                          <a:latin typeface="Arial"/>
                        </a:rPr>
                        <a:t>Step</a:t>
                      </a:r>
                    </a:p>
                  </a:txBody>
                  <a:tcPr marL="73152" marR="73152" marT="36576" marB="36576">
                    <a:solidFill>
                      <a:srgbClr val="004EA8"/>
                    </a:solidFill>
                  </a:tcPr>
                </a:tc>
                <a:tc>
                  <a:txBody>
                    <a:bodyPr/>
                    <a:lstStyle/>
                    <a:p>
                      <a:r>
                        <a:rPr sz="1000" b="1">
                          <a:solidFill>
                            <a:srgbClr val="FFFFFF"/>
                          </a:solidFill>
                          <a:latin typeface="Arial"/>
                        </a:rPr>
                        <a:t>Who (R, A, C, I)</a:t>
                      </a:r>
                    </a:p>
                  </a:txBody>
                  <a:tcPr marL="73152" marR="73152" marT="36576" marB="36576">
                    <a:solidFill>
                      <a:srgbClr val="004EA8"/>
                    </a:solidFill>
                  </a:tcPr>
                </a:tc>
                <a:tc>
                  <a:txBody>
                    <a:bodyPr/>
                    <a:lstStyle/>
                    <a:p>
                      <a:r>
                        <a:rPr sz="1000" b="1">
                          <a:solidFill>
                            <a:srgbClr val="FFFFFF"/>
                          </a:solidFill>
                          <a:latin typeface="Arial"/>
                        </a:rPr>
                        <a:t>Inputs</a:t>
                      </a:r>
                    </a:p>
                  </a:txBody>
                  <a:tcPr marL="73152" marR="73152" marT="36576" marB="36576">
                    <a:solidFill>
                      <a:srgbClr val="004EA8"/>
                    </a:solidFill>
                  </a:tcPr>
                </a:tc>
                <a:tc>
                  <a:txBody>
                    <a:bodyPr/>
                    <a:lstStyle/>
                    <a:p>
                      <a:r>
                        <a:rPr sz="1000" b="1">
                          <a:solidFill>
                            <a:srgbClr val="FFFFFF"/>
                          </a:solidFill>
                          <a:latin typeface="Arial"/>
                        </a:rPr>
                        <a:t>Outputs</a:t>
                      </a:r>
                    </a:p>
                  </a:txBody>
                  <a:tcPr marL="73152" marR="73152" marT="36576" marB="36576">
                    <a:solidFill>
                      <a:srgbClr val="004EA8"/>
                    </a:solidFill>
                  </a:tcPr>
                </a:tc>
                <a:tc>
                  <a:txBody>
                    <a:bodyPr/>
                    <a:lstStyle/>
                    <a:p>
                      <a:r>
                        <a:rPr sz="1000" b="1">
                          <a:solidFill>
                            <a:srgbClr val="FFFFFF"/>
                          </a:solidFill>
                          <a:latin typeface="Arial"/>
                        </a:rPr>
                        <a:t>Duration</a:t>
                      </a:r>
                    </a:p>
                  </a:txBody>
                  <a:tcPr marL="73152" marR="73152" marT="36576" marB="36576">
                    <a:solidFill>
                      <a:srgbClr val="004EA8"/>
                    </a:solidFill>
                  </a:tcPr>
                </a:tc>
              </a:tr>
              <a:tr h="365760">
                <a:tc>
                  <a:txBody>
                    <a:bodyPr/>
                    <a:lstStyle/>
                    <a:p>
                      <a:r>
                        <a:rPr sz="1000" b="0">
                          <a:solidFill>
                            <a:srgbClr val="4B4B4B"/>
                          </a:solidFill>
                          <a:latin typeface="Arial"/>
                        </a:rPr>
                        <a:t>1. Pack issued</a:t>
                      </a:r>
                    </a:p>
                  </a:txBody>
                  <a:tcPr marL="73152" marR="73152" marT="36576" marB="36576">
                    <a:solidFill>
                      <a:srgbClr val="FFFFFF"/>
                    </a:solidFill>
                  </a:tcPr>
                </a:tc>
                <a:tc>
                  <a:txBody>
                    <a:bodyPr/>
                    <a:lstStyle/>
                    <a:p>
                      <a:r>
                        <a:rPr sz="1000" b="0">
                          <a:solidFill>
                            <a:srgbClr val="4B4B4B"/>
                          </a:solidFill>
                          <a:latin typeface="Arial"/>
                        </a:rPr>
                        <a:t>R: iorta TechNXT Project Manager; A: iorta TechNXT delivery lead; I: all reviewers</a:t>
                      </a:r>
                    </a:p>
                  </a:txBody>
                  <a:tcPr marL="73152" marR="73152" marT="36576" marB="36576">
                    <a:solidFill>
                      <a:srgbClr val="FFFFFF"/>
                    </a:solidFill>
                  </a:tcPr>
                </a:tc>
                <a:tc>
                  <a:txBody>
                    <a:bodyPr/>
                    <a:lstStyle/>
                    <a:p>
                      <a:r>
                        <a:rPr sz="1000" b="0">
                          <a:solidFill>
                            <a:srgbClr val="4B4B4B"/>
                          </a:solidFill>
                          <a:latin typeface="Arial"/>
                        </a:rPr>
                        <a:t>FRS v2.1, workbook, test plan, guide and deck</a:t>
                      </a:r>
                    </a:p>
                  </a:txBody>
                  <a:tcPr marL="73152" marR="73152" marT="36576" marB="36576">
                    <a:solidFill>
                      <a:srgbClr val="FFFFFF"/>
                    </a:solidFill>
                  </a:tcPr>
                </a:tc>
                <a:tc>
                  <a:txBody>
                    <a:bodyPr/>
                    <a:lstStyle/>
                    <a:p>
                      <a:r>
                        <a:rPr sz="1000" b="0">
                          <a:solidFill>
                            <a:srgbClr val="4B4B4B"/>
                          </a:solidFill>
                          <a:latin typeface="Arial"/>
                        </a:rPr>
                        <a:t>Release set v2.1 in the BRD-05 folder; invitations to the sessions</a:t>
                      </a:r>
                    </a:p>
                  </a:txBody>
                  <a:tcPr marL="73152" marR="73152" marT="36576" marB="36576">
                    <a:solidFill>
                      <a:srgbClr val="FFFFFF"/>
                    </a:solidFill>
                  </a:tcPr>
                </a:tc>
                <a:tc>
                  <a:txBody>
                    <a:bodyPr/>
                    <a:lstStyle/>
                    <a:p>
                      <a:r>
                        <a:rPr sz="1000" b="0">
                          <a:solidFill>
                            <a:srgbClr val="4B4B4B"/>
                          </a:solidFill>
                          <a:latin typeface="Arial"/>
                        </a:rPr>
                        <a:t>Day 0 (Thu 8-Oct-2026); sessions scheduled after the BRD-4 Collections walkthroughs</a:t>
                      </a:r>
                    </a:p>
                  </a:txBody>
                  <a:tcPr marL="73152" marR="73152" marT="36576" marB="36576">
                    <a:solidFill>
                      <a:srgbClr val="FFFFFF"/>
                    </a:solidFill>
                  </a:tcPr>
                </a:tc>
              </a:tr>
              <a:tr h="365760">
                <a:tc>
                  <a:txBody>
                    <a:bodyPr/>
                    <a:lstStyle/>
                    <a:p>
                      <a:r>
                        <a:rPr sz="1000" b="0">
                          <a:solidFill>
                            <a:srgbClr val="4B4B4B"/>
                          </a:solidFill>
                          <a:latin typeface="Arial"/>
                        </a:rPr>
                        <a:t>2. Kick-off and screen walkthrough on SIT</a:t>
                      </a:r>
                    </a:p>
                  </a:txBody>
                  <a:tcPr marL="73152" marR="73152" marT="36576" marB="36576">
                    <a:solidFill>
                      <a:srgbClr val="E5F5FF"/>
                    </a:solidFill>
                  </a:tcPr>
                </a:tc>
                <a:tc>
                  <a:txBody>
                    <a:bodyPr/>
                    <a:lstStyle/>
                    <a:p>
                      <a:r>
                        <a:rPr sz="1000" b="0">
                          <a:solidFill>
                            <a:srgbClr val="4B4B4B"/>
                          </a:solidFill>
                          <a:latin typeface="Arial"/>
                        </a:rPr>
                        <a:t>R: iorta TechNXT Business Analysis; A: Head of Comptrollership; C: product owners of FRBS, ACSL, Disbursement and Marketing; I: Operations, BDOI IT</a:t>
                      </a:r>
                    </a:p>
                  </a:txBody>
                  <a:tcPr marL="73152" marR="73152" marT="36576" marB="36576">
                    <a:solidFill>
                      <a:srgbClr val="E5F5FF"/>
                    </a:solidFill>
                  </a:tcPr>
                </a:tc>
                <a:tc>
                  <a:txBody>
                    <a:bodyPr/>
                    <a:lstStyle/>
                    <a:p>
                      <a:r>
                        <a:rPr sz="1000" b="0">
                          <a:solidFill>
                            <a:srgbClr val="4B4B4B"/>
                          </a:solidFill>
                          <a:latin typeface="Arial"/>
                        </a:rPr>
                        <a:t>Guide deck; SIT users with seed data; walkthroughs A to E</a:t>
                      </a:r>
                    </a:p>
                  </a:txBody>
                  <a:tcPr marL="73152" marR="73152" marT="36576" marB="36576">
                    <a:solidFill>
                      <a:srgbClr val="E5F5FF"/>
                    </a:solidFill>
                  </a:tcPr>
                </a:tc>
                <a:tc>
                  <a:txBody>
                    <a:bodyPr/>
                    <a:lstStyle/>
                    <a:p>
                      <a:r>
                        <a:rPr sz="1000" b="0">
                          <a:solidFill>
                            <a:srgbClr val="4B4B4B"/>
                          </a:solidFill>
                          <a:latin typeface="Arial"/>
                        </a:rPr>
                        <a:t>Screens shown live (general ledger and closing, reports and service fee, Disbursement, the Marketing requests, ACSL); first questions logged in the comments log; minutes</a:t>
                      </a:r>
                    </a:p>
                  </a:txBody>
                  <a:tcPr marL="73152" marR="73152" marT="36576" marB="36576">
                    <a:solidFill>
                      <a:srgbClr val="E5F5FF"/>
                    </a:solidFill>
                  </a:tcPr>
                </a:tc>
                <a:tc>
                  <a:txBody>
                    <a:bodyPr/>
                    <a:lstStyle/>
                    <a:p>
                      <a:r>
                        <a:rPr sz="1000" b="0">
                          <a:solidFill>
                            <a:srgbClr val="4B4B4B"/>
                          </a:solidFill>
                          <a:latin typeface="Arial"/>
                        </a:rPr>
                        <a:t>5 sessions, 25-Nov to 1-Dec-2026</a:t>
                      </a:r>
                    </a:p>
                  </a:txBody>
                  <a:tcPr marL="73152" marR="73152" marT="36576" marB="36576">
                    <a:solidFill>
                      <a:srgbClr val="E5F5FF"/>
                    </a:solidFill>
                  </a:tcPr>
                </a:tc>
              </a:tr>
              <a:tr h="365760">
                <a:tc>
                  <a:txBody>
                    <a:bodyPr/>
                    <a:lstStyle/>
                    <a:p>
                      <a:r>
                        <a:rPr sz="1000" b="0">
                          <a:solidFill>
                            <a:srgbClr val="4B4B4B"/>
                          </a:solidFill>
                          <a:latin typeface="Arial"/>
                        </a:rPr>
                        <a:t>3. Review with the workbook</a:t>
                      </a:r>
                    </a:p>
                  </a:txBody>
                  <a:tcPr marL="73152" marR="73152" marT="36576" marB="36576">
                    <a:solidFill>
                      <a:srgbClr val="FFFFFF"/>
                    </a:solidFill>
                  </a:tcPr>
                </a:tc>
                <a:tc>
                  <a:txBody>
                    <a:bodyPr/>
                    <a:lstStyle/>
                    <a:p>
                      <a:r>
                        <a:rPr sz="1000" b="0">
                          <a:solidFill>
                            <a:srgbClr val="4B4B4B"/>
                          </a:solidFill>
                          <a:latin typeface="Arial"/>
                        </a:rPr>
                        <a:t>R: GL team, Disbursement, ACSL and Marketing reviewers; A: the product owners; C: iorta TechNXT (questions)</a:t>
                      </a:r>
                    </a:p>
                  </a:txBody>
                  <a:tcPr marL="73152" marR="73152" marT="36576" marB="36576">
                    <a:solidFill>
                      <a:srgbClr val="FFFFFF"/>
                    </a:solidFill>
                  </a:tcPr>
                </a:tc>
                <a:tc>
                  <a:txBody>
                    <a:bodyPr/>
                    <a:lstStyle/>
                    <a:p>
                      <a:r>
                        <a:rPr sz="1000" b="0">
                          <a:solidFill>
                            <a:srgbClr val="4B4B4B"/>
                          </a:solidFill>
                          <a:latin typeface="Arial"/>
                        </a:rPr>
                        <a:t>FRS chapters of the area; workbook sheets with the BU review columns</a:t>
                      </a:r>
                    </a:p>
                  </a:txBody>
                  <a:tcPr marL="73152" marR="73152" marT="36576" marB="36576">
                    <a:solidFill>
                      <a:srgbClr val="FFFFFF"/>
                    </a:solidFill>
                  </a:tcPr>
                </a:tc>
                <a:tc>
                  <a:txBody>
                    <a:bodyPr/>
                    <a:lstStyle/>
                    <a:p>
                      <a:r>
                        <a:rPr sz="1000" b="0">
                          <a:solidFill>
                            <a:srgbClr val="4B4B4B"/>
                          </a:solidFill>
                          <a:latin typeface="Arial"/>
                        </a:rPr>
                        <a:t>Every row marked Accept, Change requested or Comment; comments log entries</a:t>
                      </a:r>
                    </a:p>
                  </a:txBody>
                  <a:tcPr marL="73152" marR="73152" marT="36576" marB="36576">
                    <a:solidFill>
                      <a:srgbClr val="FFFFFF"/>
                    </a:solidFill>
                  </a:tcPr>
                </a:tc>
                <a:tc>
                  <a:txBody>
                    <a:bodyPr/>
                    <a:lstStyle/>
                    <a:p>
                      <a:r>
                        <a:rPr sz="1000" b="0">
                          <a:solidFill>
                            <a:srgbClr val="4B4B4B"/>
                          </a:solidFill>
                          <a:latin typeface="Arial"/>
                        </a:rPr>
                        <a:t>10 working days after the walkthroughs, until Mon 14-Dec-2026</a:t>
                      </a:r>
                    </a:p>
                  </a:txBody>
                  <a:tcPr marL="73152" marR="73152" marT="36576" marB="36576">
                    <a:solidFill>
                      <a:srgbClr val="FFFFFF"/>
                    </a:solidFill>
                  </a:tcPr>
                </a:tc>
              </a:tr>
              <a:tr h="365760">
                <a:tc>
                  <a:txBody>
                    <a:bodyPr/>
                    <a:lstStyle/>
                    <a:p>
                      <a:r>
                        <a:rPr sz="1000" b="0">
                          <a:solidFill>
                            <a:srgbClr val="4B4B4B"/>
                          </a:solidFill>
                          <a:latin typeface="Arial"/>
                        </a:rPr>
                        <a:t>4. Comments consolidated and a Q&amp;A session</a:t>
                      </a:r>
                    </a:p>
                  </a:txBody>
                  <a:tcPr marL="73152" marR="73152" marT="36576" marB="36576">
                    <a:solidFill>
                      <a:srgbClr val="E5F5FF"/>
                    </a:solidFill>
                  </a:tcPr>
                </a:tc>
                <a:tc>
                  <a:txBody>
                    <a:bodyPr/>
                    <a:lstStyle/>
                    <a:p>
                      <a:r>
                        <a:rPr sz="1000" b="0">
                          <a:solidFill>
                            <a:srgbClr val="4B4B4B"/>
                          </a:solidFill>
                          <a:latin typeface="Arial"/>
                        </a:rPr>
                        <a:t>R: iorta TechNXT Project Manager and Business Analysis; A: Head of Comptrollership; C: reviewers</a:t>
                      </a:r>
                    </a:p>
                  </a:txBody>
                  <a:tcPr marL="73152" marR="73152" marT="36576" marB="36576">
                    <a:solidFill>
                      <a:srgbClr val="E5F5FF"/>
                    </a:solidFill>
                  </a:tcPr>
                </a:tc>
                <a:tc>
                  <a:txBody>
                    <a:bodyPr/>
                    <a:lstStyle/>
                    <a:p>
                      <a:r>
                        <a:rPr sz="1000" b="0">
                          <a:solidFill>
                            <a:srgbClr val="4B4B4B"/>
                          </a:solidFill>
                          <a:latin typeface="Arial"/>
                        </a:rPr>
                        <a:t>Returned workbooks</a:t>
                      </a:r>
                    </a:p>
                  </a:txBody>
                  <a:tcPr marL="73152" marR="73152" marT="36576" marB="36576">
                    <a:solidFill>
                      <a:srgbClr val="E5F5FF"/>
                    </a:solidFill>
                  </a:tcPr>
                </a:tc>
                <a:tc>
                  <a:txBody>
                    <a:bodyPr/>
                    <a:lstStyle/>
                    <a:p>
                      <a:r>
                        <a:rPr sz="1000" b="0">
                          <a:solidFill>
                            <a:srgbClr val="4B4B4B"/>
                          </a:solidFill>
                          <a:latin typeface="Arial"/>
                        </a:rPr>
                        <a:t>One consolidated comments log, each item typed (clarification, correction, change request) and answered; Q&amp;A minutes</a:t>
                      </a:r>
                    </a:p>
                  </a:txBody>
                  <a:tcPr marL="73152" marR="73152" marT="36576" marB="36576">
                    <a:solidFill>
                      <a:srgbClr val="E5F5FF"/>
                    </a:solidFill>
                  </a:tcPr>
                </a:tc>
                <a:tc>
                  <a:txBody>
                    <a:bodyPr/>
                    <a:lstStyle/>
                    <a:p>
                      <a:r>
                        <a:rPr sz="1000" b="0">
                          <a:solidFill>
                            <a:srgbClr val="4B4B4B"/>
                          </a:solidFill>
                          <a:latin typeface="Arial"/>
                        </a:rPr>
                        <a:t>2 working days, Q&amp;A on Wed 16-Dec-2026</a:t>
                      </a:r>
                    </a:p>
                  </a:txBody>
                  <a:tcPr marL="73152" marR="73152" marT="36576" marB="36576">
                    <a:solidFill>
                      <a:srgbClr val="E5F5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Steps in detail (2 of 2): who, inputs, outputs, duration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a:t>
            </a:r>
          </a:p>
        </p:txBody>
      </p:sp>
      <p:graphicFrame>
        <p:nvGraphicFramePr>
          <p:cNvPr id="9" name="Table 8"/>
          <p:cNvGraphicFramePr>
            <a:graphicFrameLocks noGrp="1"/>
          </p:cNvGraphicFramePr>
          <p:nvPr/>
        </p:nvGraphicFramePr>
        <p:xfrm>
          <a:off x="548640" y="1371600"/>
          <a:ext cx="11094412" cy="1828800"/>
        </p:xfrm>
        <a:graphic>
          <a:graphicData uri="http://schemas.openxmlformats.org/drawingml/2006/table">
            <a:tbl>
              <a:tblPr firstRow="1" bandRow="1">
                <a:tableStyleId>{5C22544A-7EE6-4342-B048-85BDC9FD1C3A}</a:tableStyleId>
              </a:tblPr>
              <a:tblGrid>
                <a:gridCol w="1807978"/>
                <a:gridCol w="2794148"/>
                <a:gridCol w="2301063"/>
                <a:gridCol w="2629787"/>
                <a:gridCol w="1561436"/>
              </a:tblGrid>
              <a:tr h="365760">
                <a:tc>
                  <a:txBody>
                    <a:bodyPr/>
                    <a:lstStyle/>
                    <a:p>
                      <a:r>
                        <a:rPr sz="1000" b="1">
                          <a:solidFill>
                            <a:srgbClr val="FFFFFF"/>
                          </a:solidFill>
                          <a:latin typeface="Arial"/>
                        </a:rPr>
                        <a:t>Step</a:t>
                      </a:r>
                    </a:p>
                  </a:txBody>
                  <a:tcPr marL="73152" marR="73152" marT="36576" marB="36576">
                    <a:solidFill>
                      <a:srgbClr val="004EA8"/>
                    </a:solidFill>
                  </a:tcPr>
                </a:tc>
                <a:tc>
                  <a:txBody>
                    <a:bodyPr/>
                    <a:lstStyle/>
                    <a:p>
                      <a:r>
                        <a:rPr sz="1000" b="1">
                          <a:solidFill>
                            <a:srgbClr val="FFFFFF"/>
                          </a:solidFill>
                          <a:latin typeface="Arial"/>
                        </a:rPr>
                        <a:t>Who (R, A, C, I)</a:t>
                      </a:r>
                    </a:p>
                  </a:txBody>
                  <a:tcPr marL="73152" marR="73152" marT="36576" marB="36576">
                    <a:solidFill>
                      <a:srgbClr val="004EA8"/>
                    </a:solidFill>
                  </a:tcPr>
                </a:tc>
                <a:tc>
                  <a:txBody>
                    <a:bodyPr/>
                    <a:lstStyle/>
                    <a:p>
                      <a:r>
                        <a:rPr sz="1000" b="1">
                          <a:solidFill>
                            <a:srgbClr val="FFFFFF"/>
                          </a:solidFill>
                          <a:latin typeface="Arial"/>
                        </a:rPr>
                        <a:t>Inputs</a:t>
                      </a:r>
                    </a:p>
                  </a:txBody>
                  <a:tcPr marL="73152" marR="73152" marT="36576" marB="36576">
                    <a:solidFill>
                      <a:srgbClr val="004EA8"/>
                    </a:solidFill>
                  </a:tcPr>
                </a:tc>
                <a:tc>
                  <a:txBody>
                    <a:bodyPr/>
                    <a:lstStyle/>
                    <a:p>
                      <a:r>
                        <a:rPr sz="1000" b="1">
                          <a:solidFill>
                            <a:srgbClr val="FFFFFF"/>
                          </a:solidFill>
                          <a:latin typeface="Arial"/>
                        </a:rPr>
                        <a:t>Outputs</a:t>
                      </a:r>
                    </a:p>
                  </a:txBody>
                  <a:tcPr marL="73152" marR="73152" marT="36576" marB="36576">
                    <a:solidFill>
                      <a:srgbClr val="004EA8"/>
                    </a:solidFill>
                  </a:tcPr>
                </a:tc>
                <a:tc>
                  <a:txBody>
                    <a:bodyPr/>
                    <a:lstStyle/>
                    <a:p>
                      <a:r>
                        <a:rPr sz="1000" b="1">
                          <a:solidFill>
                            <a:srgbClr val="FFFFFF"/>
                          </a:solidFill>
                          <a:latin typeface="Arial"/>
                        </a:rPr>
                        <a:t>Duration</a:t>
                      </a:r>
                    </a:p>
                  </a:txBody>
                  <a:tcPr marL="73152" marR="73152" marT="36576" marB="36576">
                    <a:solidFill>
                      <a:srgbClr val="004EA8"/>
                    </a:solidFill>
                  </a:tcPr>
                </a:tc>
              </a:tr>
              <a:tr h="365760">
                <a:tc>
                  <a:txBody>
                    <a:bodyPr/>
                    <a:lstStyle/>
                    <a:p>
                      <a:r>
                        <a:rPr sz="1000" b="0">
                          <a:solidFill>
                            <a:srgbClr val="4B4B4B"/>
                          </a:solidFill>
                          <a:latin typeface="Arial"/>
                        </a:rPr>
                        <a:t>5. One revision cycle (v2.2)</a:t>
                      </a:r>
                    </a:p>
                  </a:txBody>
                  <a:tcPr marL="73152" marR="73152" marT="36576" marB="36576">
                    <a:solidFill>
                      <a:srgbClr val="FFFFFF"/>
                    </a:solidFill>
                  </a:tcPr>
                </a:tc>
                <a:tc>
                  <a:txBody>
                    <a:bodyPr/>
                    <a:lstStyle/>
                    <a:p>
                      <a:r>
                        <a:rPr sz="1000" b="0">
                          <a:solidFill>
                            <a:srgbClr val="4B4B4B"/>
                          </a:solidFill>
                          <a:latin typeface="Arial"/>
                        </a:rPr>
                        <a:t>R: iorta TechNXT Business Analysis; A: iorta TechNXT delivery lead; C: reviewers who raised the items</a:t>
                      </a:r>
                    </a:p>
                  </a:txBody>
                  <a:tcPr marL="73152" marR="73152" marT="36576" marB="36576">
                    <a:solidFill>
                      <a:srgbClr val="FFFFFF"/>
                    </a:solidFill>
                  </a:tcPr>
                </a:tc>
                <a:tc>
                  <a:txBody>
                    <a:bodyPr/>
                    <a:lstStyle/>
                    <a:p>
                      <a:r>
                        <a:rPr sz="1000" b="0">
                          <a:solidFill>
                            <a:srgbClr val="4B4B4B"/>
                          </a:solidFill>
                          <a:latin typeface="Arial"/>
                        </a:rPr>
                        <a:t>Agreed clarifications and corrections</a:t>
                      </a:r>
                    </a:p>
                  </a:txBody>
                  <a:tcPr marL="73152" marR="73152" marT="36576" marB="36576">
                    <a:solidFill>
                      <a:srgbClr val="FFFFFF"/>
                    </a:solidFill>
                  </a:tcPr>
                </a:tc>
                <a:tc>
                  <a:txBody>
                    <a:bodyPr/>
                    <a:lstStyle/>
                    <a:p>
                      <a:r>
                        <a:rPr sz="1000" b="0">
                          <a:solidFill>
                            <a:srgbClr val="4B4B4B"/>
                          </a:solidFill>
                          <a:latin typeface="Arial"/>
                        </a:rPr>
                        <a:t>Release set v2.2 with the changed rows marked; change requests raised for the rest</a:t>
                      </a:r>
                    </a:p>
                  </a:txBody>
                  <a:tcPr marL="73152" marR="73152" marT="36576" marB="36576">
                    <a:solidFill>
                      <a:srgbClr val="FFFFFF"/>
                    </a:solidFill>
                  </a:tcPr>
                </a:tc>
                <a:tc>
                  <a:txBody>
                    <a:bodyPr/>
                    <a:lstStyle/>
                    <a:p>
                      <a:r>
                        <a:rPr sz="1000" b="0">
                          <a:solidFill>
                            <a:srgbClr val="4B4B4B"/>
                          </a:solidFill>
                          <a:latin typeface="Arial"/>
                        </a:rPr>
                        <a:t>2 working days, v2.2 on Fri 18-Dec-2026; check by the reviewers until Tue 22-Dec-2026</a:t>
                      </a:r>
                    </a:p>
                  </a:txBody>
                  <a:tcPr marL="73152" marR="73152" marT="36576" marB="36576">
                    <a:solidFill>
                      <a:srgbClr val="FFFFFF"/>
                    </a:solidFill>
                  </a:tcPr>
                </a:tc>
              </a:tr>
              <a:tr h="365760">
                <a:tc>
                  <a:txBody>
                    <a:bodyPr/>
                    <a:lstStyle/>
                    <a:p>
                      <a:r>
                        <a:rPr sz="1000" b="0">
                          <a:solidFill>
                            <a:srgbClr val="4B4B4B"/>
                          </a:solidFill>
                          <a:latin typeface="Arial"/>
                        </a:rPr>
                        <a:t>6. Sign-off meeting and signature</a:t>
                      </a:r>
                    </a:p>
                  </a:txBody>
                  <a:tcPr marL="73152" marR="73152" marT="36576" marB="36576">
                    <a:solidFill>
                      <a:srgbClr val="E5F5FF"/>
                    </a:solidFill>
                  </a:tcPr>
                </a:tc>
                <a:tc>
                  <a:txBody>
                    <a:bodyPr/>
                    <a:lstStyle/>
                    <a:p>
                      <a:r>
                        <a:rPr sz="1000" b="0">
                          <a:solidFill>
                            <a:srgbClr val="4B4B4B"/>
                          </a:solidFill>
                          <a:latin typeface="Arial"/>
                        </a:rPr>
                        <a:t>R: iorta TechNXT Project Manager; A: Head of Comptrollership; C: the product owners, BDOI IT, Business Project Services</a:t>
                      </a:r>
                    </a:p>
                  </a:txBody>
                  <a:tcPr marL="73152" marR="73152" marT="36576" marB="36576">
                    <a:solidFill>
                      <a:srgbClr val="E5F5FF"/>
                    </a:solidFill>
                  </a:tcPr>
                </a:tc>
                <a:tc>
                  <a:txBody>
                    <a:bodyPr/>
                    <a:lstStyle/>
                    <a:p>
                      <a:r>
                        <a:rPr sz="1000" b="0">
                          <a:solidFill>
                            <a:srgbClr val="4B4B4B"/>
                          </a:solidFill>
                          <a:latin typeface="Arial"/>
                        </a:rPr>
                        <a:t>v2.2 (or v2.1 when no revision is needed); open items with their decision</a:t>
                      </a:r>
                    </a:p>
                  </a:txBody>
                  <a:tcPr marL="73152" marR="73152" marT="36576" marB="36576">
                    <a:solidFill>
                      <a:srgbClr val="E5F5FF"/>
                    </a:solidFill>
                  </a:tcPr>
                </a:tc>
                <a:tc>
                  <a:txBody>
                    <a:bodyPr/>
                    <a:lstStyle/>
                    <a:p>
                      <a:r>
                        <a:rPr sz="1000" b="0">
                          <a:solidFill>
                            <a:srgbClr val="4B4B4B"/>
                          </a:solidFill>
                          <a:latin typeface="Arial"/>
                        </a:rPr>
                        <a:t>Signed sign-off certificate; minutes; open items accepted as assumptions or change requests</a:t>
                      </a:r>
                    </a:p>
                  </a:txBody>
                  <a:tcPr marL="73152" marR="73152" marT="36576" marB="36576">
                    <a:solidFill>
                      <a:srgbClr val="E5F5FF"/>
                    </a:solidFill>
                  </a:tcPr>
                </a:tc>
                <a:tc>
                  <a:txBody>
                    <a:bodyPr/>
                    <a:lstStyle/>
                    <a:p>
                      <a:r>
                        <a:rPr sz="1000" b="0">
                          <a:solidFill>
                            <a:srgbClr val="4B4B4B"/>
                          </a:solidFill>
                          <a:latin typeface="Arial"/>
                        </a:rPr>
                        <a:t>Wed 23-Dec-2026</a:t>
                      </a:r>
                    </a:p>
                  </a:txBody>
                  <a:tcPr marL="73152" marR="73152" marT="36576" marB="36576">
                    <a:solidFill>
                      <a:srgbClr val="E5F5FF"/>
                    </a:solidFill>
                  </a:tcPr>
                </a:tc>
              </a:tr>
              <a:tr h="365760">
                <a:tc>
                  <a:txBody>
                    <a:bodyPr/>
                    <a:lstStyle/>
                    <a:p>
                      <a:r>
                        <a:rPr sz="1000" b="0">
                          <a:solidFill>
                            <a:srgbClr val="4B4B4B"/>
                          </a:solidFill>
                          <a:latin typeface="Arial"/>
                        </a:rPr>
                        <a:t>7. Content freeze</a:t>
                      </a:r>
                    </a:p>
                  </a:txBody>
                  <a:tcPr marL="73152" marR="73152" marT="36576" marB="36576">
                    <a:solidFill>
                      <a:srgbClr val="FFFFFF"/>
                    </a:solidFill>
                  </a:tcPr>
                </a:tc>
                <a:tc>
                  <a:txBody>
                    <a:bodyPr/>
                    <a:lstStyle/>
                    <a:p>
                      <a:r>
                        <a:rPr sz="1000" b="0">
                          <a:solidFill>
                            <a:srgbClr val="4B4B4B"/>
                          </a:solidFill>
                          <a:latin typeface="Arial"/>
                        </a:rPr>
                        <a:t>R: iorta TechNXT delivery lead; A: Head of Comptrollership; I: BDOI IT, other BRD owners</a:t>
                      </a:r>
                    </a:p>
                  </a:txBody>
                  <a:tcPr marL="73152" marR="73152" marT="36576" marB="36576">
                    <a:solidFill>
                      <a:srgbClr val="FFFFFF"/>
                    </a:solidFill>
                  </a:tcPr>
                </a:tc>
                <a:tc>
                  <a:txBody>
                    <a:bodyPr/>
                    <a:lstStyle/>
                    <a:p>
                      <a:r>
                        <a:rPr sz="1000" b="0">
                          <a:solidFill>
                            <a:srgbClr val="4B4B4B"/>
                          </a:solidFill>
                          <a:latin typeface="Arial"/>
                        </a:rPr>
                        <a:t>Signed set; change requests with mandays</a:t>
                      </a:r>
                    </a:p>
                  </a:txBody>
                  <a:tcPr marL="73152" marR="73152" marT="36576" marB="36576">
                    <a:solidFill>
                      <a:srgbClr val="FFFFFF"/>
                    </a:solidFill>
                  </a:tcPr>
                </a:tc>
                <a:tc>
                  <a:txBody>
                    <a:bodyPr/>
                    <a:lstStyle/>
                    <a:p>
                      <a:r>
                        <a:rPr sz="1000" b="0">
                          <a:solidFill>
                            <a:srgbClr val="4B4B4B"/>
                          </a:solidFill>
                          <a:latin typeface="Arial"/>
                        </a:rPr>
                        <a:t>Content frozen as signed; approved deltas scheduled in the Change Management Register</a:t>
                      </a:r>
                    </a:p>
                  </a:txBody>
                  <a:tcPr marL="73152" marR="73152" marT="36576" marB="36576">
                    <a:solidFill>
                      <a:srgbClr val="FFFFFF"/>
                    </a:solidFill>
                  </a:tcPr>
                </a:tc>
                <a:tc>
                  <a:txBody>
                    <a:bodyPr/>
                    <a:lstStyle/>
                    <a:p>
                      <a:r>
                        <a:rPr sz="1000" b="0">
                          <a:solidFill>
                            <a:srgbClr val="4B4B4B"/>
                          </a:solidFill>
                          <a:latin typeface="Arial"/>
                        </a:rPr>
                        <a:t>From Mon 28-Dec-2026</a:t>
                      </a:r>
                    </a:p>
                  </a:txBody>
                  <a:tcPr marL="73152" marR="73152" marT="36576" marB="36576">
                    <a:solidFill>
                      <a:srgbClr val="FFFFFF"/>
                    </a:solidFill>
                  </a:tcPr>
                </a:tc>
              </a:tr>
              <a:tr h="365760">
                <a:tc>
                  <a:txBody>
                    <a:bodyPr/>
                    <a:lstStyle/>
                    <a:p>
                      <a:r>
                        <a:rPr sz="1000" b="0">
                          <a:solidFill>
                            <a:srgbClr val="4B4B4B"/>
                          </a:solidFill>
                          <a:latin typeface="Arial"/>
                        </a:rPr>
                        <a:t>8. Traceability into SIT and UAT</a:t>
                      </a:r>
                    </a:p>
                  </a:txBody>
                  <a:tcPr marL="73152" marR="73152" marT="36576" marB="36576">
                    <a:solidFill>
                      <a:srgbClr val="E5F5FF"/>
                    </a:solidFill>
                  </a:tcPr>
                </a:tc>
                <a:tc>
                  <a:txBody>
                    <a:bodyPr/>
                    <a:lstStyle/>
                    <a:p>
                      <a:r>
                        <a:rPr sz="1000" b="0">
                          <a:solidFill>
                            <a:srgbClr val="4B4B4B"/>
                          </a:solidFill>
                          <a:latin typeface="Arial"/>
                        </a:rPr>
                        <a:t>R: iorta TechNXT test lead; A: Head of Comptrollership; C: business users</a:t>
                      </a:r>
                    </a:p>
                  </a:txBody>
                  <a:tcPr marL="73152" marR="73152" marT="36576" marB="36576">
                    <a:solidFill>
                      <a:srgbClr val="E5F5FF"/>
                    </a:solidFill>
                  </a:tcPr>
                </a:tc>
                <a:tc>
                  <a:txBody>
                    <a:bodyPr/>
                    <a:lstStyle/>
                    <a:p>
                      <a:r>
                        <a:rPr sz="1000" b="0">
                          <a:solidFill>
                            <a:srgbClr val="4B4B4B"/>
                          </a:solidFill>
                          <a:latin typeface="Arial"/>
                        </a:rPr>
                        <a:t>Signed FRS rows and test plan</a:t>
                      </a:r>
                    </a:p>
                  </a:txBody>
                  <a:tcPr marL="73152" marR="73152" marT="36576" marB="36576">
                    <a:solidFill>
                      <a:srgbClr val="E5F5FF"/>
                    </a:solidFill>
                  </a:tcPr>
                </a:tc>
                <a:tc>
                  <a:txBody>
                    <a:bodyPr/>
                    <a:lstStyle/>
                    <a:p>
                      <a:r>
                        <a:rPr sz="1000" b="0">
                          <a:solidFill>
                            <a:srgbClr val="4B4B4B"/>
                          </a:solidFill>
                          <a:latin typeface="Arial"/>
                        </a:rPr>
                        <a:t>SIT and UAT runs traced to the signed screens, rules and messages; results against each row</a:t>
                      </a:r>
                    </a:p>
                  </a:txBody>
                  <a:tcPr marL="73152" marR="73152" marT="36576" marB="36576">
                    <a:solidFill>
                      <a:srgbClr val="E5F5FF"/>
                    </a:solidFill>
                  </a:tcPr>
                </a:tc>
                <a:tc>
                  <a:txBody>
                    <a:bodyPr/>
                    <a:lstStyle/>
                    <a:p>
                      <a:r>
                        <a:rPr sz="1000" b="0">
                          <a:solidFill>
                            <a:srgbClr val="4B4B4B"/>
                          </a:solidFill>
                          <a:latin typeface="Arial"/>
                        </a:rPr>
                        <a:t>SIT Jan - Jul 2027; UAT Aug - Dec 2027</a:t>
                      </a:r>
                    </a:p>
                  </a:txBody>
                  <a:tcPr marL="73152" marR="73152" marT="36576" marB="36576">
                    <a:solidFill>
                      <a:srgbClr val="E5F5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signs what: parts of the set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a:t>
            </a:r>
          </a:p>
        </p:txBody>
      </p:sp>
      <p:graphicFrame>
        <p:nvGraphicFramePr>
          <p:cNvPr id="9" name="Table 8"/>
          <p:cNvGraphicFramePr>
            <a:graphicFrameLocks noGrp="1"/>
          </p:cNvGraphicFramePr>
          <p:nvPr/>
        </p:nvGraphicFramePr>
        <p:xfrm>
          <a:off x="548640" y="1371600"/>
          <a:ext cx="11094412" cy="2926080"/>
        </p:xfrm>
        <a:graphic>
          <a:graphicData uri="http://schemas.openxmlformats.org/drawingml/2006/table">
            <a:tbl>
              <a:tblPr firstRow="1" bandRow="1">
                <a:tableStyleId>{5C22544A-7EE6-4342-B048-85BDC9FD1C3A}</a:tableStyleId>
              </a:tblPr>
              <a:tblGrid>
                <a:gridCol w="3522036"/>
                <a:gridCol w="1496865"/>
                <a:gridCol w="2025170"/>
                <a:gridCol w="1937120"/>
                <a:gridCol w="2113221"/>
              </a:tblGrid>
              <a:tr h="365760">
                <a:tc>
                  <a:txBody>
                    <a:bodyPr/>
                    <a:lstStyle/>
                    <a:p>
                      <a:r>
                        <a:rPr sz="900" b="1">
                          <a:solidFill>
                            <a:srgbClr val="FFFFFF"/>
                          </a:solidFill>
                          <a:latin typeface="Arial"/>
                        </a:rPr>
                        <a:t>Part of the set</a:t>
                      </a:r>
                    </a:p>
                  </a:txBody>
                  <a:tcPr marL="73152" marR="73152" marT="36576" marB="36576">
                    <a:solidFill>
                      <a:srgbClr val="004EA8"/>
                    </a:solidFill>
                  </a:tcPr>
                </a:tc>
                <a:tc>
                  <a:txBody>
                    <a:bodyPr/>
                    <a:lstStyle/>
                    <a:p>
                      <a:r>
                        <a:rPr sz="900" b="1">
                          <a:solidFill>
                            <a:srgbClr val="FFFFFF"/>
                          </a:solidFill>
                          <a:latin typeface="Arial"/>
                        </a:rPr>
                        <a:t>Prepares</a:t>
                      </a:r>
                    </a:p>
                  </a:txBody>
                  <a:tcPr marL="73152" marR="73152" marT="36576" marB="36576">
                    <a:solidFill>
                      <a:srgbClr val="004EA8"/>
                    </a:solidFill>
                  </a:tcPr>
                </a:tc>
                <a:tc>
                  <a:txBody>
                    <a:bodyPr/>
                    <a:lstStyle/>
                    <a:p>
                      <a:r>
                        <a:rPr sz="900" b="1">
                          <a:solidFill>
                            <a:srgbClr val="FFFFFF"/>
                          </a:solidFill>
                          <a:latin typeface="Arial"/>
                        </a:rPr>
                        <a:t>Provides input</a:t>
                      </a:r>
                    </a:p>
                  </a:txBody>
                  <a:tcPr marL="73152" marR="73152" marT="36576" marB="36576">
                    <a:solidFill>
                      <a:srgbClr val="004EA8"/>
                    </a:solidFill>
                  </a:tcPr>
                </a:tc>
                <a:tc>
                  <a:txBody>
                    <a:bodyPr/>
                    <a:lstStyle/>
                    <a:p>
                      <a:r>
                        <a:rPr sz="900" b="1">
                          <a:solidFill>
                            <a:srgbClr val="FFFFFF"/>
                          </a:solidFill>
                          <a:latin typeface="Arial"/>
                        </a:rPr>
                        <a:t>Reviews</a:t>
                      </a:r>
                    </a:p>
                  </a:txBody>
                  <a:tcPr marL="73152" marR="73152" marT="36576" marB="36576">
                    <a:solidFill>
                      <a:srgbClr val="004EA8"/>
                    </a:solidFill>
                  </a:tcPr>
                </a:tc>
                <a:tc>
                  <a:txBody>
                    <a:bodyPr/>
                    <a:lstStyle/>
                    <a:p>
                      <a:r>
                        <a:rPr sz="900" b="1">
                          <a:solidFill>
                            <a:srgbClr val="FFFFFF"/>
                          </a:solidFill>
                          <a:latin typeface="Arial"/>
                        </a:rPr>
                        <a:t>Approves</a:t>
                      </a:r>
                    </a:p>
                  </a:txBody>
                  <a:tcPr marL="73152" marR="73152" marT="36576" marB="36576">
                    <a:solidFill>
                      <a:srgbClr val="004EA8"/>
                    </a:solidFill>
                  </a:tcPr>
                </a:tc>
              </a:tr>
              <a:tr h="365760">
                <a:tc>
                  <a:txBody>
                    <a:bodyPr/>
                    <a:lstStyle/>
                    <a:p>
                      <a:r>
                        <a:rPr sz="900" b="0">
                          <a:solidFill>
                            <a:srgbClr val="4B4B4B"/>
                          </a:solidFill>
                          <a:latin typeface="Arial"/>
                        </a:rPr>
                        <a:t>General ledger, closing, bank reconciliation and report screens (FRS sections 4.1-4.10, screens SCR-AC-01 to 24)</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BA (BPS)</a:t>
                      </a:r>
                    </a:p>
                  </a:txBody>
                  <a:tcPr marL="73152" marR="73152" marT="36576" marB="36576">
                    <a:solidFill>
                      <a:srgbClr val="FFFFFF"/>
                    </a:solidFill>
                  </a:tcPr>
                </a:tc>
                <a:tc>
                  <a:txBody>
                    <a:bodyPr/>
                    <a:lstStyle/>
                    <a:p>
                      <a:r>
                        <a:rPr sz="900" b="0">
                          <a:solidFill>
                            <a:srgbClr val="4B4B4B"/>
                          </a:solidFill>
                          <a:latin typeface="Arial"/>
                        </a:rPr>
                        <a:t>Program Manager (BPS), ACSL product owners</a:t>
                      </a:r>
                    </a:p>
                  </a:txBody>
                  <a:tcPr marL="73152" marR="73152" marT="36576" marB="36576">
                    <a:solidFill>
                      <a:srgbClr val="FFFFFF"/>
                    </a:solidFill>
                  </a:tcPr>
                </a:tc>
                <a:tc>
                  <a:txBody>
                    <a:bodyPr/>
                    <a:lstStyle/>
                    <a:p>
                      <a:r>
                        <a:rPr sz="900" b="0">
                          <a:solidFill>
                            <a:srgbClr val="4B4B4B"/>
                          </a:solidFill>
                          <a:latin typeface="Arial"/>
                        </a:rPr>
                        <a:t>FRBS and ACSL PO, Head - Comptrollership</a:t>
                      </a:r>
                    </a:p>
                  </a:txBody>
                  <a:tcPr marL="73152" marR="73152" marT="36576" marB="36576">
                    <a:solidFill>
                      <a:srgbClr val="FFFFFF"/>
                    </a:solidFill>
                  </a:tcPr>
                </a:tc>
              </a:tr>
              <a:tr h="365760">
                <a:tc>
                  <a:txBody>
                    <a:bodyPr/>
                    <a:lstStyle/>
                    <a:p>
                      <a:r>
                        <a:rPr sz="900" b="0">
                          <a:solidFill>
                            <a:srgbClr val="4B4B4B"/>
                          </a:solidFill>
                          <a:latin typeface="Arial"/>
                        </a:rPr>
                        <a:t>Disbursement screens, fields, documents and bank files (FRS section 4.11, screens SCR-AC-25 to 38)</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BA (BPS)</a:t>
                      </a:r>
                    </a:p>
                  </a:txBody>
                  <a:tcPr marL="73152" marR="73152" marT="36576" marB="36576">
                    <a:solidFill>
                      <a:srgbClr val="E5F5FF"/>
                    </a:solidFill>
                  </a:tcPr>
                </a:tc>
                <a:tc>
                  <a:txBody>
                    <a:bodyPr/>
                    <a:lstStyle/>
                    <a:p>
                      <a:r>
                        <a:rPr sz="900" b="0">
                          <a:solidFill>
                            <a:srgbClr val="4B4B4B"/>
                          </a:solidFill>
                          <a:latin typeface="Arial"/>
                        </a:rPr>
                        <a:t>Program Manager (BPS), BDOI IT</a:t>
                      </a:r>
                    </a:p>
                  </a:txBody>
                  <a:tcPr marL="73152" marR="73152" marT="36576" marB="36576">
                    <a:solidFill>
                      <a:srgbClr val="E5F5FF"/>
                    </a:solidFill>
                  </a:tcPr>
                </a:tc>
                <a:tc>
                  <a:txBody>
                    <a:bodyPr/>
                    <a:lstStyle/>
                    <a:p>
                      <a:r>
                        <a:rPr sz="900" b="0">
                          <a:solidFill>
                            <a:srgbClr val="4B4B4B"/>
                          </a:solidFill>
                          <a:latin typeface="Arial"/>
                        </a:rPr>
                        <a:t>Disbursement PO, Head - Comptrollership</a:t>
                      </a:r>
                    </a:p>
                  </a:txBody>
                  <a:tcPr marL="73152" marR="73152" marT="36576" marB="36576">
                    <a:solidFill>
                      <a:srgbClr val="E5F5FF"/>
                    </a:solidFill>
                  </a:tcPr>
                </a:tc>
              </a:tr>
              <a:tr h="365760">
                <a:tc>
                  <a:txBody>
                    <a:bodyPr/>
                    <a:lstStyle/>
                    <a:p>
                      <a:r>
                        <a:rPr sz="900" b="0">
                          <a:solidFill>
                            <a:srgbClr val="4B4B4B"/>
                          </a:solidFill>
                          <a:latin typeface="Arial"/>
                        </a:rPr>
                        <a:t>Marketing refund and cash-advance requests (FRS section 4.12, screens SCR-AC-39 to 44)</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MBS input</a:t>
                      </a:r>
                    </a:p>
                  </a:txBody>
                  <a:tcPr marL="73152" marR="73152" marT="36576" marB="36576">
                    <a:solidFill>
                      <a:srgbClr val="FFFFFF"/>
                    </a:solidFill>
                  </a:tcPr>
                </a:tc>
                <a:tc>
                  <a:txBody>
                    <a:bodyPr/>
                    <a:lstStyle/>
                    <a:p>
                      <a:r>
                        <a:rPr sz="900" b="0">
                          <a:solidFill>
                            <a:srgbClr val="4B4B4B"/>
                          </a:solidFill>
                          <a:latin typeface="Arial"/>
                        </a:rPr>
                        <a:t>Program Manager (BPS), MBS review</a:t>
                      </a:r>
                    </a:p>
                  </a:txBody>
                  <a:tcPr marL="73152" marR="73152" marT="36576" marB="36576">
                    <a:solidFill>
                      <a:srgbClr val="FFFFFF"/>
                    </a:solidFill>
                  </a:tcPr>
                </a:tc>
                <a:tc>
                  <a:txBody>
                    <a:bodyPr/>
                    <a:lstStyle/>
                    <a:p>
                      <a:r>
                        <a:rPr sz="900" b="0">
                          <a:solidFill>
                            <a:srgbClr val="4B4B4B"/>
                          </a:solidFill>
                          <a:latin typeface="Arial"/>
                        </a:rPr>
                        <a:t>Product Owner (Marketing), Marketing head</a:t>
                      </a:r>
                    </a:p>
                  </a:txBody>
                  <a:tcPr marL="73152" marR="73152" marT="36576" marB="36576">
                    <a:solidFill>
                      <a:srgbClr val="FFFFFF"/>
                    </a:solidFill>
                  </a:tcPr>
                </a:tc>
              </a:tr>
              <a:tr h="365760">
                <a:tc>
                  <a:txBody>
                    <a:bodyPr/>
                    <a:lstStyle/>
                    <a:p>
                      <a:r>
                        <a:rPr sz="900" b="0">
                          <a:solidFill>
                            <a:srgbClr val="4B4B4B"/>
                          </a:solidFill>
                          <a:latin typeface="Arial"/>
                        </a:rPr>
                        <a:t>ACSL screens, reconciliations, cases and corrections (FRS section 4.13, screens SCR-AC-45 to 51)</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BA (BPS)</a:t>
                      </a:r>
                    </a:p>
                  </a:txBody>
                  <a:tcPr marL="73152" marR="73152" marT="36576" marB="36576">
                    <a:solidFill>
                      <a:srgbClr val="E5F5FF"/>
                    </a:solidFill>
                  </a:tcPr>
                </a:tc>
                <a:tc>
                  <a:txBody>
                    <a:bodyPr/>
                    <a:lstStyle/>
                    <a:p>
                      <a:r>
                        <a:rPr sz="900" b="0">
                          <a:solidFill>
                            <a:srgbClr val="4B4B4B"/>
                          </a:solidFill>
                          <a:latin typeface="Arial"/>
                        </a:rPr>
                        <a:t>Program Manager (BPS), ACSL product owners</a:t>
                      </a:r>
                    </a:p>
                  </a:txBody>
                  <a:tcPr marL="73152" marR="73152" marT="36576" marB="36576">
                    <a:solidFill>
                      <a:srgbClr val="E5F5FF"/>
                    </a:solidFill>
                  </a:tcPr>
                </a:tc>
                <a:tc>
                  <a:txBody>
                    <a:bodyPr/>
                    <a:lstStyle/>
                    <a:p>
                      <a:r>
                        <a:rPr sz="900" b="0">
                          <a:solidFill>
                            <a:srgbClr val="4B4B4B"/>
                          </a:solidFill>
                          <a:latin typeface="Arial"/>
                        </a:rPr>
                        <a:t>FRBS and ACSL PO, Head - Comptrollership</a:t>
                      </a:r>
                    </a:p>
                  </a:txBody>
                  <a:tcPr marL="73152" marR="73152" marT="36576" marB="36576">
                    <a:solidFill>
                      <a:srgbClr val="E5F5FF"/>
                    </a:solidFill>
                  </a:tcPr>
                </a:tc>
              </a:tr>
              <a:tr h="365760">
                <a:tc>
                  <a:txBody>
                    <a:bodyPr/>
                    <a:lstStyle/>
                    <a:p>
                      <a:r>
                        <a:rPr sz="900" b="0">
                          <a:solidFill>
                            <a:srgbClr val="4B4B4B"/>
                          </a:solidFill>
                          <a:latin typeface="Arial"/>
                        </a:rPr>
                        <a:t>Business rules, validations and the accounting entries</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BA (BPS), MBS input</a:t>
                      </a:r>
                    </a:p>
                  </a:txBody>
                  <a:tcPr marL="73152" marR="73152" marT="36576" marB="36576">
                    <a:solidFill>
                      <a:srgbClr val="FFFFFF"/>
                    </a:solidFill>
                  </a:tcPr>
                </a:tc>
                <a:tc>
                  <a:txBody>
                    <a:bodyPr/>
                    <a:lstStyle/>
                    <a:p>
                      <a:r>
                        <a:rPr sz="900" b="0">
                          <a:solidFill>
                            <a:srgbClr val="4B4B4B"/>
                          </a:solidFill>
                          <a:latin typeface="Arial"/>
                        </a:rPr>
                        <a:t>Program Manager (BPS), ACSL product owners</a:t>
                      </a:r>
                    </a:p>
                  </a:txBody>
                  <a:tcPr marL="73152" marR="73152" marT="36576" marB="36576">
                    <a:solidFill>
                      <a:srgbClr val="FFFFFF"/>
                    </a:solidFill>
                  </a:tcPr>
                </a:tc>
                <a:tc>
                  <a:txBody>
                    <a:bodyPr/>
                    <a:lstStyle/>
                    <a:p>
                      <a:r>
                        <a:rPr sz="900" b="0">
                          <a:solidFill>
                            <a:srgbClr val="4B4B4B"/>
                          </a:solidFill>
                          <a:latin typeface="Arial"/>
                        </a:rPr>
                        <a:t>Head - Comptrollership, FRBS and ACSL PO, Disbursement PO</a:t>
                      </a:r>
                    </a:p>
                  </a:txBody>
                  <a:tcPr marL="73152" marR="73152" marT="36576" marB="36576">
                    <a:solidFill>
                      <a:srgbClr val="FFFFFF"/>
                    </a:solidFill>
                  </a:tcPr>
                </a:tc>
              </a:tr>
              <a:tr h="365760">
                <a:tc>
                  <a:txBody>
                    <a:bodyPr/>
                    <a:lstStyle/>
                    <a:p>
                      <a:r>
                        <a:rPr sz="900" b="0">
                          <a:solidFill>
                            <a:srgbClr val="4B4B4B"/>
                          </a:solidFill>
                          <a:latin typeface="Arial"/>
                        </a:rPr>
                        <a:t>Messages and notifications</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MBS input</a:t>
                      </a:r>
                    </a:p>
                  </a:txBody>
                  <a:tcPr marL="73152" marR="73152" marT="36576" marB="36576">
                    <a:solidFill>
                      <a:srgbClr val="E5F5FF"/>
                    </a:solidFill>
                  </a:tcPr>
                </a:tc>
                <a:tc>
                  <a:txBody>
                    <a:bodyPr/>
                    <a:lstStyle/>
                    <a:p>
                      <a:r>
                        <a:rPr sz="900" b="0">
                          <a:solidFill>
                            <a:srgbClr val="4B4B4B"/>
                          </a:solidFill>
                          <a:latin typeface="Arial"/>
                        </a:rPr>
                        <a:t>Program Manager (BPS)</a:t>
                      </a:r>
                    </a:p>
                  </a:txBody>
                  <a:tcPr marL="73152" marR="73152" marT="36576" marB="36576">
                    <a:solidFill>
                      <a:srgbClr val="E5F5FF"/>
                    </a:solidFill>
                  </a:tcPr>
                </a:tc>
                <a:tc>
                  <a:txBody>
                    <a:bodyPr/>
                    <a:lstStyle/>
                    <a:p>
                      <a:r>
                        <a:rPr sz="900" b="0">
                          <a:solidFill>
                            <a:srgbClr val="4B4B4B"/>
                          </a:solidFill>
                          <a:latin typeface="Arial"/>
                        </a:rPr>
                        <a:t>Head - Comptrollership</a:t>
                      </a:r>
                    </a:p>
                  </a:txBody>
                  <a:tcPr marL="73152" marR="73152" marT="36576" marB="36576">
                    <a:solidFill>
                      <a:srgbClr val="E5F5FF"/>
                    </a:solidFill>
                  </a:tcPr>
                </a:tc>
              </a:tr>
              <a:tr h="365760">
                <a:tc>
                  <a:txBody>
                    <a:bodyPr/>
                    <a:lstStyle/>
                    <a:p>
                      <a:r>
                        <a:rPr sz="900" b="0">
                          <a:solidFill>
                            <a:srgbClr val="4B4B4B"/>
                          </a:solidFill>
                          <a:latin typeface="Arial"/>
                        </a:rPr>
                        <a:t>Hand-offs with Operations (remittance payments, refund validations, payment reversals, remittance deductions)</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BA (BPS)</a:t>
                      </a:r>
                    </a:p>
                  </a:txBody>
                  <a:tcPr marL="73152" marR="73152" marT="36576" marB="36576">
                    <a:solidFill>
                      <a:srgbClr val="FFFFFF"/>
                    </a:solidFill>
                  </a:tcPr>
                </a:tc>
                <a:tc>
                  <a:txBody>
                    <a:bodyPr/>
                    <a:lstStyle/>
                    <a:p>
                      <a:r>
                        <a:rPr sz="900" b="0">
                          <a:solidFill>
                            <a:srgbClr val="4B4B4B"/>
                          </a:solidFill>
                          <a:latin typeface="Arial"/>
                        </a:rPr>
                        <a:t>Program Manager (BPS), ACSL product owners</a:t>
                      </a:r>
                    </a:p>
                  </a:txBody>
                  <a:tcPr marL="73152" marR="73152" marT="36576" marB="36576">
                    <a:solidFill>
                      <a:srgbClr val="FFFFFF"/>
                    </a:solidFill>
                  </a:tcPr>
                </a:tc>
                <a:tc>
                  <a:txBody>
                    <a:bodyPr/>
                    <a:lstStyle/>
                    <a:p>
                      <a:r>
                        <a:rPr sz="900" b="0">
                          <a:solidFill>
                            <a:srgbClr val="4B4B4B"/>
                          </a:solidFill>
                          <a:latin typeface="Arial"/>
                        </a:rPr>
                        <a:t>Comptrollership and Operations PO, Head - Comptrollership</a:t>
                      </a:r>
                    </a:p>
                  </a:txBody>
                  <a:tcPr marL="73152" marR="73152" marT="36576" marB="36576">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signs what: parts of the set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a:t>
            </a:r>
          </a:p>
        </p:txBody>
      </p:sp>
      <p:graphicFrame>
        <p:nvGraphicFramePr>
          <p:cNvPr id="9" name="Table 8"/>
          <p:cNvGraphicFramePr>
            <a:graphicFrameLocks noGrp="1"/>
          </p:cNvGraphicFramePr>
          <p:nvPr/>
        </p:nvGraphicFramePr>
        <p:xfrm>
          <a:off x="548640" y="1371600"/>
          <a:ext cx="11094412" cy="2560320"/>
        </p:xfrm>
        <a:graphic>
          <a:graphicData uri="http://schemas.openxmlformats.org/drawingml/2006/table">
            <a:tbl>
              <a:tblPr firstRow="1" bandRow="1">
                <a:tableStyleId>{5C22544A-7EE6-4342-B048-85BDC9FD1C3A}</a:tableStyleId>
              </a:tblPr>
              <a:tblGrid>
                <a:gridCol w="3522036"/>
                <a:gridCol w="1496865"/>
                <a:gridCol w="2025170"/>
                <a:gridCol w="1937120"/>
                <a:gridCol w="2113221"/>
              </a:tblGrid>
              <a:tr h="365760">
                <a:tc>
                  <a:txBody>
                    <a:bodyPr/>
                    <a:lstStyle/>
                    <a:p>
                      <a:r>
                        <a:rPr sz="900" b="1">
                          <a:solidFill>
                            <a:srgbClr val="FFFFFF"/>
                          </a:solidFill>
                          <a:latin typeface="Arial"/>
                        </a:rPr>
                        <a:t>Part of the set</a:t>
                      </a:r>
                    </a:p>
                  </a:txBody>
                  <a:tcPr marL="73152" marR="73152" marT="36576" marB="36576">
                    <a:solidFill>
                      <a:srgbClr val="004EA8"/>
                    </a:solidFill>
                  </a:tcPr>
                </a:tc>
                <a:tc>
                  <a:txBody>
                    <a:bodyPr/>
                    <a:lstStyle/>
                    <a:p>
                      <a:r>
                        <a:rPr sz="900" b="1">
                          <a:solidFill>
                            <a:srgbClr val="FFFFFF"/>
                          </a:solidFill>
                          <a:latin typeface="Arial"/>
                        </a:rPr>
                        <a:t>Prepares</a:t>
                      </a:r>
                    </a:p>
                  </a:txBody>
                  <a:tcPr marL="73152" marR="73152" marT="36576" marB="36576">
                    <a:solidFill>
                      <a:srgbClr val="004EA8"/>
                    </a:solidFill>
                  </a:tcPr>
                </a:tc>
                <a:tc>
                  <a:txBody>
                    <a:bodyPr/>
                    <a:lstStyle/>
                    <a:p>
                      <a:r>
                        <a:rPr sz="900" b="1">
                          <a:solidFill>
                            <a:srgbClr val="FFFFFF"/>
                          </a:solidFill>
                          <a:latin typeface="Arial"/>
                        </a:rPr>
                        <a:t>Provides input</a:t>
                      </a:r>
                    </a:p>
                  </a:txBody>
                  <a:tcPr marL="73152" marR="73152" marT="36576" marB="36576">
                    <a:solidFill>
                      <a:srgbClr val="004EA8"/>
                    </a:solidFill>
                  </a:tcPr>
                </a:tc>
                <a:tc>
                  <a:txBody>
                    <a:bodyPr/>
                    <a:lstStyle/>
                    <a:p>
                      <a:r>
                        <a:rPr sz="900" b="1">
                          <a:solidFill>
                            <a:srgbClr val="FFFFFF"/>
                          </a:solidFill>
                          <a:latin typeface="Arial"/>
                        </a:rPr>
                        <a:t>Reviews</a:t>
                      </a:r>
                    </a:p>
                  </a:txBody>
                  <a:tcPr marL="73152" marR="73152" marT="36576" marB="36576">
                    <a:solidFill>
                      <a:srgbClr val="004EA8"/>
                    </a:solidFill>
                  </a:tcPr>
                </a:tc>
                <a:tc>
                  <a:txBody>
                    <a:bodyPr/>
                    <a:lstStyle/>
                    <a:p>
                      <a:r>
                        <a:rPr sz="900" b="1">
                          <a:solidFill>
                            <a:srgbClr val="FFFFFF"/>
                          </a:solidFill>
                          <a:latin typeface="Arial"/>
                        </a:rPr>
                        <a:t>Approves</a:t>
                      </a:r>
                    </a:p>
                  </a:txBody>
                  <a:tcPr marL="73152" marR="73152" marT="36576" marB="36576">
                    <a:solidFill>
                      <a:srgbClr val="004EA8"/>
                    </a:solidFill>
                  </a:tcPr>
                </a:tc>
              </a:tr>
              <a:tr h="365760">
                <a:tc>
                  <a:txBody>
                    <a:bodyPr/>
                    <a:lstStyle/>
                    <a:p>
                      <a:r>
                        <a:rPr sz="900" b="0">
                          <a:solidFill>
                            <a:srgbClr val="4B4B4B"/>
                          </a:solidFill>
                          <a:latin typeface="Arial"/>
                        </a:rPr>
                        <a:t>Walkthroughs (end-to-end, screen by screen)</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MBS input</a:t>
                      </a:r>
                    </a:p>
                  </a:txBody>
                  <a:tcPr marL="73152" marR="73152" marT="36576" marB="36576">
                    <a:solidFill>
                      <a:srgbClr val="FFFFFF"/>
                    </a:solidFill>
                  </a:tcPr>
                </a:tc>
                <a:tc>
                  <a:txBody>
                    <a:bodyPr/>
                    <a:lstStyle/>
                    <a:p>
                      <a:r>
                        <a:rPr sz="900" b="0">
                          <a:solidFill>
                            <a:srgbClr val="4B4B4B"/>
                          </a:solidFill>
                          <a:latin typeface="Arial"/>
                        </a:rPr>
                        <a:t>Program Manager (BPS)</a:t>
                      </a:r>
                    </a:p>
                  </a:txBody>
                  <a:tcPr marL="73152" marR="73152" marT="36576" marB="36576">
                    <a:solidFill>
                      <a:srgbClr val="FFFFFF"/>
                    </a:solidFill>
                  </a:tcPr>
                </a:tc>
                <a:tc>
                  <a:txBody>
                    <a:bodyPr/>
                    <a:lstStyle/>
                    <a:p>
                      <a:r>
                        <a:rPr sz="900" b="0">
                          <a:solidFill>
                            <a:srgbClr val="4B4B4B"/>
                          </a:solidFill>
                          <a:latin typeface="Arial"/>
                        </a:rPr>
                        <a:t>Head - Comptrollership</a:t>
                      </a:r>
                    </a:p>
                  </a:txBody>
                  <a:tcPr marL="73152" marR="73152" marT="36576" marB="36576">
                    <a:solidFill>
                      <a:srgbClr val="FFFFFF"/>
                    </a:solidFill>
                  </a:tcPr>
                </a:tc>
              </a:tr>
              <a:tr h="365760">
                <a:tc>
                  <a:txBody>
                    <a:bodyPr/>
                    <a:lstStyle/>
                    <a:p>
                      <a:r>
                        <a:rPr sz="900" b="0">
                          <a:solidFill>
                            <a:srgbClr val="4B4B4B"/>
                          </a:solidFill>
                          <a:latin typeface="Arial"/>
                        </a:rPr>
                        <a:t>Proposed business rules and clarifications for confirmation</a:t>
                      </a:r>
                    </a:p>
                  </a:txBody>
                  <a:tcPr marL="73152" marR="73152" marT="36576" marB="36576">
                    <a:solidFill>
                      <a:srgbClr val="E5F5FF"/>
                    </a:solidFill>
                  </a:tcPr>
                </a:tc>
                <a:tc>
                  <a:txBody>
                    <a:bodyPr/>
                    <a:lstStyle/>
                    <a:p>
                      <a:r>
                        <a:rPr sz="900" b="0">
                          <a:solidFill>
                            <a:srgbClr val="4B4B4B"/>
                          </a:solidFill>
                          <a:latin typeface="Arial"/>
                        </a:rPr>
                        <a:t>iorta TechNXT, BA (BPS)</a:t>
                      </a:r>
                    </a:p>
                  </a:txBody>
                  <a:tcPr marL="73152" marR="73152" marT="36576" marB="36576">
                    <a:solidFill>
                      <a:srgbClr val="E5F5FF"/>
                    </a:solidFill>
                  </a:tcPr>
                </a:tc>
                <a:tc>
                  <a:txBody>
                    <a:bodyPr/>
                    <a:lstStyle/>
                    <a:p>
                      <a:r>
                        <a:rPr sz="900" b="0">
                          <a:solidFill>
                            <a:srgbClr val="4B4B4B"/>
                          </a:solidFill>
                          <a:latin typeface="Arial"/>
                        </a:rPr>
                        <a:t>MBS input</a:t>
                      </a:r>
                    </a:p>
                  </a:txBody>
                  <a:tcPr marL="73152" marR="73152" marT="36576" marB="36576">
                    <a:solidFill>
                      <a:srgbClr val="E5F5FF"/>
                    </a:solidFill>
                  </a:tcPr>
                </a:tc>
                <a:tc>
                  <a:txBody>
                    <a:bodyPr/>
                    <a:lstStyle/>
                    <a:p>
                      <a:r>
                        <a:rPr sz="900" b="0">
                          <a:solidFill>
                            <a:srgbClr val="4B4B4B"/>
                          </a:solidFill>
                          <a:latin typeface="Arial"/>
                        </a:rPr>
                        <a:t>Program Manager (BPS), ACSL product owners</a:t>
                      </a:r>
                    </a:p>
                  </a:txBody>
                  <a:tcPr marL="73152" marR="73152" marT="36576" marB="36576">
                    <a:solidFill>
                      <a:srgbClr val="E5F5FF"/>
                    </a:solidFill>
                  </a:tcPr>
                </a:tc>
                <a:tc>
                  <a:txBody>
                    <a:bodyPr/>
                    <a:lstStyle/>
                    <a:p>
                      <a:r>
                        <a:rPr sz="900" b="0">
                          <a:solidFill>
                            <a:srgbClr val="4B4B4B"/>
                          </a:solidFill>
                          <a:latin typeface="Arial"/>
                        </a:rPr>
                        <a:t>Head - Comptrollership, FRBS and ACSL PO, Disbursement PO, Product Owner (Marketing)</a:t>
                      </a:r>
                    </a:p>
                  </a:txBody>
                  <a:tcPr marL="73152" marR="73152" marT="36576" marB="36576">
                    <a:solidFill>
                      <a:srgbClr val="E5F5FF"/>
                    </a:solidFill>
                  </a:tcPr>
                </a:tc>
              </a:tr>
              <a:tr h="365760">
                <a:tc>
                  <a:txBody>
                    <a:bodyPr/>
                    <a:lstStyle/>
                    <a:p>
                      <a:r>
                        <a:rPr sz="900" b="0">
                          <a:solidFill>
                            <a:srgbClr val="4B4B4B"/>
                          </a:solidFill>
                          <a:latin typeface="Arial"/>
                        </a:rPr>
                        <a:t>Scheduled runs and files, bank files and forms, user access and menus by persona</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MBS input</a:t>
                      </a:r>
                    </a:p>
                  </a:txBody>
                  <a:tcPr marL="73152" marR="73152" marT="36576" marB="36576">
                    <a:solidFill>
                      <a:srgbClr val="FFFFFF"/>
                    </a:solidFill>
                  </a:tcPr>
                </a:tc>
                <a:tc>
                  <a:txBody>
                    <a:bodyPr/>
                    <a:lstStyle/>
                    <a:p>
                      <a:r>
                        <a:rPr sz="900" b="0">
                          <a:solidFill>
                            <a:srgbClr val="4B4B4B"/>
                          </a:solidFill>
                          <a:latin typeface="Arial"/>
                        </a:rPr>
                        <a:t>BDOI IT, Program Manager (BPS)</a:t>
                      </a:r>
                    </a:p>
                  </a:txBody>
                  <a:tcPr marL="73152" marR="73152" marT="36576" marB="36576">
                    <a:solidFill>
                      <a:srgbClr val="FFFFFF"/>
                    </a:solidFill>
                  </a:tcPr>
                </a:tc>
                <a:tc>
                  <a:txBody>
                    <a:bodyPr/>
                    <a:lstStyle/>
                    <a:p>
                      <a:r>
                        <a:rPr sz="900" b="0">
                          <a:solidFill>
                            <a:srgbClr val="4B4B4B"/>
                          </a:solidFill>
                          <a:latin typeface="Arial"/>
                        </a:rPr>
                        <a:t>Head - Comptrollership</a:t>
                      </a:r>
                    </a:p>
                  </a:txBody>
                  <a:tcPr marL="73152" marR="73152" marT="36576" marB="36576">
                    <a:solidFill>
                      <a:srgbClr val="FFFFFF"/>
                    </a:solidFill>
                  </a:tcPr>
                </a:tc>
              </a:tr>
              <a:tr h="365760">
                <a:tc>
                  <a:txBody>
                    <a:bodyPr/>
                    <a:lstStyle/>
                    <a:p>
                      <a:r>
                        <a:rPr sz="900" b="0">
                          <a:solidFill>
                            <a:srgbClr val="4B4B4B"/>
                          </a:solidFill>
                          <a:latin typeface="Arial"/>
                        </a:rPr>
                        <a:t>Test plan (04 workbook, 05 summary)</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MBS input</a:t>
                      </a:r>
                    </a:p>
                  </a:txBody>
                  <a:tcPr marL="73152" marR="73152" marT="36576" marB="36576">
                    <a:solidFill>
                      <a:srgbClr val="E5F5FF"/>
                    </a:solidFill>
                  </a:tcPr>
                </a:tc>
                <a:tc>
                  <a:txBody>
                    <a:bodyPr/>
                    <a:lstStyle/>
                    <a:p>
                      <a:r>
                        <a:rPr sz="900" b="0">
                          <a:solidFill>
                            <a:srgbClr val="4B4B4B"/>
                          </a:solidFill>
                          <a:latin typeface="Arial"/>
                        </a:rPr>
                        <a:t>Program Manager (BPS), BDOI IT</a:t>
                      </a:r>
                    </a:p>
                  </a:txBody>
                  <a:tcPr marL="73152" marR="73152" marT="36576" marB="36576">
                    <a:solidFill>
                      <a:srgbClr val="E5F5FF"/>
                    </a:solidFill>
                  </a:tcPr>
                </a:tc>
                <a:tc>
                  <a:txBody>
                    <a:bodyPr/>
                    <a:lstStyle/>
                    <a:p>
                      <a:r>
                        <a:rPr sz="900" b="0">
                          <a:solidFill>
                            <a:srgbClr val="4B4B4B"/>
                          </a:solidFill>
                          <a:latin typeface="Arial"/>
                        </a:rPr>
                        <a:t>Head - Comptrollership</a:t>
                      </a:r>
                    </a:p>
                  </a:txBody>
                  <a:tcPr marL="73152" marR="73152" marT="36576" marB="36576">
                    <a:solidFill>
                      <a:srgbClr val="E5F5FF"/>
                    </a:solidFill>
                  </a:tcPr>
                </a:tc>
              </a:tr>
              <a:tr h="365760">
                <a:tc>
                  <a:txBody>
                    <a:bodyPr/>
                    <a:lstStyle/>
                    <a:p>
                      <a:r>
                        <a:rPr sz="900" b="0">
                          <a:solidFill>
                            <a:srgbClr val="4B4B4B"/>
                          </a:solidFill>
                          <a:latin typeface="Arial"/>
                        </a:rPr>
                        <a:t>UX screen deck, UX screen register and image package (07 to 09, for the BDOI UX Design team; the screens as specified in this set)</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MBS input</a:t>
                      </a:r>
                    </a:p>
                  </a:txBody>
                  <a:tcPr marL="73152" marR="73152" marT="36576" marB="36576">
                    <a:solidFill>
                      <a:srgbClr val="FFFFFF"/>
                    </a:solidFill>
                  </a:tcPr>
                </a:tc>
                <a:tc>
                  <a:txBody>
                    <a:bodyPr/>
                    <a:lstStyle/>
                    <a:p>
                      <a:r>
                        <a:rPr sz="900" b="0">
                          <a:solidFill>
                            <a:srgbClr val="4B4B4B"/>
                          </a:solidFill>
                          <a:latin typeface="Arial"/>
                        </a:rPr>
                        <a:t>Program Manager (BPS)</a:t>
                      </a:r>
                    </a:p>
                  </a:txBody>
                  <a:tcPr marL="73152" marR="73152" marT="36576" marB="36576">
                    <a:solidFill>
                      <a:srgbClr val="FFFFFF"/>
                    </a:solidFill>
                  </a:tcPr>
                </a:tc>
                <a:tc>
                  <a:txBody>
                    <a:bodyPr/>
                    <a:lstStyle/>
                    <a:p>
                      <a:r>
                        <a:rPr sz="900" b="0">
                          <a:solidFill>
                            <a:srgbClr val="4B4B4B"/>
                          </a:solidFill>
                          <a:latin typeface="Arial"/>
                        </a:rPr>
                        <a:t>Head - Comptrollership</a:t>
                      </a:r>
                    </a:p>
                  </a:txBody>
                  <a:tcPr marL="73152" marR="73152" marT="36576" marB="36576">
                    <a:solidFill>
                      <a:srgbClr val="FFFFFF"/>
                    </a:solidFill>
                  </a:tcPr>
                </a:tc>
              </a:tr>
              <a:tr h="365760">
                <a:tc>
                  <a:txBody>
                    <a:bodyPr/>
                    <a:lstStyle/>
                    <a:p>
                      <a:r>
                        <a:rPr sz="900" b="0">
                          <a:solidFill>
                            <a:srgbClr val="4B4B4B"/>
                          </a:solidFill>
                          <a:latin typeface="Arial"/>
                        </a:rPr>
                        <a:t>Technical Specification (separate document, not part of the business sign-off)</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BDOI IT</a:t>
                      </a:r>
                    </a:p>
                  </a:txBody>
                  <a:tcPr marL="73152" marR="73152" marT="36576" marB="36576">
                    <a:solidFill>
                      <a:srgbClr val="E5F5FF"/>
                    </a:solidFill>
                  </a:tcPr>
                </a:tc>
                <a:tc>
                  <a:txBody>
                    <a:bodyPr/>
                    <a:lstStyle/>
                    <a:p>
                      <a:r>
                        <a:rPr sz="900" b="0">
                          <a:solidFill>
                            <a:srgbClr val="4B4B4B"/>
                          </a:solidFill>
                          <a:latin typeface="Arial"/>
                        </a:rPr>
                        <a:t>BDOI IT</a:t>
                      </a:r>
                    </a:p>
                  </a:txBody>
                  <a:tcPr marL="73152" marR="73152" marT="36576" marB="36576">
                    <a:solidFill>
                      <a:srgbClr val="E5F5FF"/>
                    </a:solidFill>
                  </a:tcPr>
                </a:tc>
                <a:tc>
                  <a:txBody>
                    <a:bodyPr/>
                    <a:lstStyle/>
                    <a:p>
                      <a:r>
                        <a:rPr sz="900" b="0">
                          <a:solidFill>
                            <a:srgbClr val="4B4B4B"/>
                          </a:solidFill>
                          <a:latin typeface="Arial"/>
                        </a:rPr>
                        <a:t>BDOI IT</a:t>
                      </a:r>
                    </a:p>
                  </a:txBody>
                  <a:tcPr marL="73152" marR="73152" marT="36576" marB="36576">
                    <a:solidFill>
                      <a:srgbClr val="E5F5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signs what: signatories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a:t>
            </a:r>
          </a:p>
        </p:txBody>
      </p:sp>
      <p:graphicFrame>
        <p:nvGraphicFramePr>
          <p:cNvPr id="9" name="Table 8"/>
          <p:cNvGraphicFramePr>
            <a:graphicFrameLocks noGrp="1"/>
          </p:cNvGraphicFramePr>
          <p:nvPr/>
        </p:nvGraphicFramePr>
        <p:xfrm>
          <a:off x="548640" y="1371600"/>
          <a:ext cx="11094413" cy="2926080"/>
        </p:xfrm>
        <a:graphic>
          <a:graphicData uri="http://schemas.openxmlformats.org/drawingml/2006/table">
            <a:tbl>
              <a:tblPr firstRow="1" bandRow="1">
                <a:tableStyleId>{5C22544A-7EE6-4342-B048-85BDC9FD1C3A}</a:tableStyleId>
              </a:tblPr>
              <a:tblGrid>
                <a:gridCol w="1672967"/>
                <a:gridCol w="4050341"/>
                <a:gridCol w="5371105"/>
              </a:tblGrid>
              <a:tr h="365760">
                <a:tc>
                  <a:txBody>
                    <a:bodyPr/>
                    <a:lstStyle/>
                    <a:p>
                      <a:r>
                        <a:rPr sz="900" b="1">
                          <a:solidFill>
                            <a:srgbClr val="FFFFFF"/>
                          </a:solidFill>
                          <a:latin typeface="Arial"/>
                        </a:rPr>
                        <a:t>Capacity</a:t>
                      </a:r>
                    </a:p>
                  </a:txBody>
                  <a:tcPr marL="73152" marR="73152" marT="36576" marB="36576">
                    <a:solidFill>
                      <a:srgbClr val="004EA8"/>
                    </a:solidFill>
                  </a:tcPr>
                </a:tc>
                <a:tc>
                  <a:txBody>
                    <a:bodyPr/>
                    <a:lstStyle/>
                    <a:p>
                      <a:r>
                        <a:rPr sz="900" b="1">
                          <a:solidFill>
                            <a:srgbClr val="FFFFFF"/>
                          </a:solidFill>
                          <a:latin typeface="Arial"/>
                        </a:rPr>
                        <a:t>Role</a:t>
                      </a:r>
                    </a:p>
                  </a:txBody>
                  <a:tcPr marL="73152" marR="73152" marT="36576" marB="36576">
                    <a:solidFill>
                      <a:srgbClr val="004EA8"/>
                    </a:solidFill>
                  </a:tcPr>
                </a:tc>
                <a:tc>
                  <a:txBody>
                    <a:bodyPr/>
                    <a:lstStyle/>
                    <a:p>
                      <a:r>
                        <a:rPr sz="900" b="1">
                          <a:solidFill>
                            <a:srgbClr val="FFFFFF"/>
                          </a:solidFill>
                          <a:latin typeface="Arial"/>
                        </a:rPr>
                        <a:t>Confirms by signing</a:t>
                      </a:r>
                    </a:p>
                  </a:txBody>
                  <a:tcPr marL="73152" marR="73152" marT="36576" marB="36576">
                    <a:solidFill>
                      <a:srgbClr val="004EA8"/>
                    </a:solidFill>
                  </a:tcPr>
                </a:tc>
              </a:tr>
              <a:tr h="365760">
                <a:tc>
                  <a:txBody>
                    <a:bodyPr/>
                    <a:lstStyle/>
                    <a:p>
                      <a:r>
                        <a:rPr sz="900" b="0">
                          <a:solidFill>
                            <a:srgbClr val="4B4B4B"/>
                          </a:solidFill>
                          <a:latin typeface="Arial"/>
                        </a:rPr>
                        <a:t>Prepared by</a:t>
                      </a:r>
                    </a:p>
                  </a:txBody>
                  <a:tcPr marL="73152" marR="73152" marT="36576" marB="36576">
                    <a:solidFill>
                      <a:srgbClr val="FFFFFF"/>
                    </a:solidFill>
                  </a:tcPr>
                </a:tc>
                <a:tc>
                  <a:txBody>
                    <a:bodyPr/>
                    <a:lstStyle/>
                    <a:p>
                      <a:r>
                        <a:rPr sz="900" b="0">
                          <a:solidFill>
                            <a:srgbClr val="4B4B4B"/>
                          </a:solidFill>
                          <a:latin typeface="Arial"/>
                        </a:rPr>
                        <a:t>iorta TechNXT project team: Project Manager, Business Analysis, test lead (iorta TechNXT)</a:t>
                      </a:r>
                    </a:p>
                  </a:txBody>
                  <a:tcPr marL="73152" marR="73152" marT="36576" marB="36576">
                    <a:solidFill>
                      <a:srgbClr val="FFFFFF"/>
                    </a:solidFill>
                  </a:tcPr>
                </a:tc>
                <a:tc>
                  <a:txBody>
                    <a:bodyPr/>
                    <a:lstStyle/>
                    <a:p>
                      <a:r>
                        <a:rPr sz="900" b="0">
                          <a:solidFill>
                            <a:srgbClr val="4B4B4B"/>
                          </a:solidFill>
                          <a:latin typeface="Arial"/>
                        </a:rPr>
                        <a:t>The set is complete and consistent as issued, traced to the BRD and to the screens; every comment is answered in the comments log</a:t>
                      </a:r>
                    </a:p>
                  </a:txBody>
                  <a:tcPr marL="73152" marR="73152" marT="36576" marB="36576">
                    <a:solidFill>
                      <a:srgbClr val="FFFFFF"/>
                    </a:solidFill>
                  </a:tcPr>
                </a:tc>
              </a:tr>
              <a:tr h="365760">
                <a:tc>
                  <a:txBody>
                    <a:bodyPr/>
                    <a:lstStyle/>
                    <a:p>
                      <a:r>
                        <a:rPr sz="900" b="0">
                          <a:solidFill>
                            <a:srgbClr val="4B4B4B"/>
                          </a:solidFill>
                          <a:latin typeface="Arial"/>
                        </a:rPr>
                        <a:t>Prepared by</a:t>
                      </a:r>
                    </a:p>
                  </a:txBody>
                  <a:tcPr marL="73152" marR="73152" marT="36576" marB="36576">
                    <a:solidFill>
                      <a:srgbClr val="E5F5FF"/>
                    </a:solidFill>
                  </a:tcPr>
                </a:tc>
                <a:tc>
                  <a:txBody>
                    <a:bodyPr/>
                    <a:lstStyle/>
                    <a:p>
                      <a:r>
                        <a:rPr sz="900" b="0">
                          <a:solidFill>
                            <a:srgbClr val="4B4B4B"/>
                          </a:solidFill>
                          <a:latin typeface="Arial"/>
                        </a:rPr>
                        <a:t>Business Analysts, Enterprise Services Group - Business Project Services (BPS) (Roda Lyn D. Gallardo; Zean C. Ibay and Jane Tagle for the Workshop Addendum) (BDO Unibank ESG)</a:t>
                      </a:r>
                    </a:p>
                  </a:txBody>
                  <a:tcPr marL="73152" marR="73152" marT="36576" marB="36576">
                    <a:solidFill>
                      <a:srgbClr val="E5F5FF"/>
                    </a:solidFill>
                  </a:tcPr>
                </a:tc>
                <a:tc>
                  <a:txBody>
                    <a:bodyPr/>
                    <a:lstStyle/>
                    <a:p>
                      <a:r>
                        <a:rPr sz="900" b="0">
                          <a:solidFill>
                            <a:srgbClr val="4B4B4B"/>
                          </a:solidFill>
                          <a:latin typeface="Arial"/>
                        </a:rPr>
                        <a:t>The set states the BRD requirements as written; every departure is listed in the proposed rules and clarifications</a:t>
                      </a:r>
                    </a:p>
                  </a:txBody>
                  <a:tcPr marL="73152" marR="73152" marT="36576" marB="36576">
                    <a:solidFill>
                      <a:srgbClr val="E5F5FF"/>
                    </a:solidFill>
                  </a:tcPr>
                </a:tc>
              </a:tr>
              <a:tr h="365760">
                <a:tc>
                  <a:txBody>
                    <a:bodyPr/>
                    <a:lstStyle/>
                    <a:p>
                      <a:r>
                        <a:rPr sz="900" b="0">
                          <a:solidFill>
                            <a:srgbClr val="4B4B4B"/>
                          </a:solidFill>
                          <a:latin typeface="Arial"/>
                        </a:rPr>
                        <a:t>Input provided by</a:t>
                      </a:r>
                    </a:p>
                  </a:txBody>
                  <a:tcPr marL="73152" marR="73152" marT="36576" marB="36576">
                    <a:solidFill>
                      <a:srgbClr val="FFFFFF"/>
                    </a:solidFill>
                  </a:tcPr>
                </a:tc>
                <a:tc>
                  <a:txBody>
                    <a:bodyPr/>
                    <a:lstStyle/>
                    <a:p>
                      <a:r>
                        <a:rPr sz="900" b="0">
                          <a:solidFill>
                            <a:srgbClr val="4B4B4B"/>
                          </a:solidFill>
                          <a:latin typeface="Arial"/>
                        </a:rPr>
                        <a:t>Marketing Business Services and System Support (MBS Team) (Ma. Fides Rivera; Ruby Evangelista and Darryl Castillo for the Workshop Addendum) (BDOI)</a:t>
                      </a:r>
                    </a:p>
                  </a:txBody>
                  <a:tcPr marL="73152" marR="73152" marT="36576" marB="36576">
                    <a:solidFill>
                      <a:srgbClr val="FFFFFF"/>
                    </a:solidFill>
                  </a:tcPr>
                </a:tc>
                <a:tc>
                  <a:txBody>
                    <a:bodyPr/>
                    <a:lstStyle/>
                    <a:p>
                      <a:r>
                        <a:rPr sz="900" b="0">
                          <a:solidFill>
                            <a:srgbClr val="4B4B4B"/>
                          </a:solidFill>
                          <a:latin typeface="Arial"/>
                        </a:rPr>
                        <a:t>The non-functional requirements and the Marketing refund and cash-advance request screens, fields, rules and messages match the business input</a:t>
                      </a:r>
                    </a:p>
                  </a:txBody>
                  <a:tcPr marL="73152" marR="73152" marT="36576" marB="36576">
                    <a:solidFill>
                      <a:srgbClr val="FFFFFF"/>
                    </a:solidFill>
                  </a:tcPr>
                </a:tc>
              </a:tr>
              <a:tr h="365760">
                <a:tc>
                  <a:txBody>
                    <a:bodyPr/>
                    <a:lstStyle/>
                    <a:p>
                      <a:r>
                        <a:rPr sz="900" b="0">
                          <a:solidFill>
                            <a:srgbClr val="4B4B4B"/>
                          </a:solidFill>
                          <a:latin typeface="Arial"/>
                        </a:rPr>
                        <a:t>Reviewed by</a:t>
                      </a:r>
                    </a:p>
                  </a:txBody>
                  <a:tcPr marL="73152" marR="73152" marT="36576" marB="36576">
                    <a:solidFill>
                      <a:srgbClr val="E5F5FF"/>
                    </a:solidFill>
                  </a:tcPr>
                </a:tc>
                <a:tc>
                  <a:txBody>
                    <a:bodyPr/>
                    <a:lstStyle/>
                    <a:p>
                      <a:r>
                        <a:rPr sz="900" b="0">
                          <a:solidFill>
                            <a:srgbClr val="4B4B4B"/>
                          </a:solidFill>
                          <a:latin typeface="Arial"/>
                        </a:rPr>
                        <a:t>Program Manager, Enterprise Services Group - Business Project Services (BPS) (Dan Ace R. Cauton) (BDO Unibank ESG)</a:t>
                      </a:r>
                    </a:p>
                  </a:txBody>
                  <a:tcPr marL="73152" marR="73152" marT="36576" marB="36576">
                    <a:solidFill>
                      <a:srgbClr val="E5F5FF"/>
                    </a:solidFill>
                  </a:tcPr>
                </a:tc>
                <a:tc>
                  <a:txBody>
                    <a:bodyPr/>
                    <a:lstStyle/>
                    <a:p>
                      <a:r>
                        <a:rPr sz="900" b="0">
                          <a:solidFill>
                            <a:srgbClr val="4B4B4B"/>
                          </a:solidFill>
                          <a:latin typeface="Arial"/>
                        </a:rPr>
                        <a:t>Traceability of every BRD requirement to the set and completeness of the set</a:t>
                      </a:r>
                    </a:p>
                  </a:txBody>
                  <a:tcPr marL="73152" marR="73152" marT="36576" marB="36576">
                    <a:solidFill>
                      <a:srgbClr val="E5F5FF"/>
                    </a:solidFill>
                  </a:tcPr>
                </a:tc>
              </a:tr>
              <a:tr h="365760">
                <a:tc>
                  <a:txBody>
                    <a:bodyPr/>
                    <a:lstStyle/>
                    <a:p>
                      <a:r>
                        <a:rPr sz="900" b="0">
                          <a:solidFill>
                            <a:srgbClr val="4B4B4B"/>
                          </a:solidFill>
                          <a:latin typeface="Arial"/>
                        </a:rPr>
                        <a:t>Reviewed by</a:t>
                      </a:r>
                    </a:p>
                  </a:txBody>
                  <a:tcPr marL="73152" marR="73152" marT="36576" marB="36576">
                    <a:solidFill>
                      <a:srgbClr val="FFFFFF"/>
                    </a:solidFill>
                  </a:tcPr>
                </a:tc>
                <a:tc>
                  <a:txBody>
                    <a:bodyPr/>
                    <a:lstStyle/>
                    <a:p>
                      <a:r>
                        <a:rPr sz="900" b="0">
                          <a:solidFill>
                            <a:srgbClr val="4B4B4B"/>
                          </a:solidFill>
                          <a:latin typeface="Arial"/>
                        </a:rPr>
                        <a:t>Product Owners - Comptrollership - ACSL (Freddie A. Atanque, Jennifer T. Lugtu) (BDOI)</a:t>
                      </a:r>
                    </a:p>
                  </a:txBody>
                  <a:tcPr marL="73152" marR="73152" marT="36576" marB="36576">
                    <a:solidFill>
                      <a:srgbClr val="FFFFFF"/>
                    </a:solidFill>
                  </a:tcPr>
                </a:tc>
                <a:tc>
                  <a:txBody>
                    <a:bodyPr/>
                    <a:lstStyle/>
                    <a:p>
                      <a:r>
                        <a:rPr sz="900" b="0">
                          <a:solidFill>
                            <a:srgbClr val="4B4B4B"/>
                          </a:solidFill>
                          <a:latin typeface="Arial"/>
                        </a:rPr>
                        <a:t>The ACSL screens, the reconciliations, cases, corrections and remittance deductions, and the accounting entries they post</a:t>
                      </a:r>
                    </a:p>
                  </a:txBody>
                  <a:tcPr marL="73152" marR="73152" marT="36576" marB="36576">
                    <a:solidFill>
                      <a:srgbClr val="FFFFFF"/>
                    </a:solidFill>
                  </a:tcPr>
                </a:tc>
              </a:tr>
              <a:tr h="365760">
                <a:tc>
                  <a:txBody>
                    <a:bodyPr/>
                    <a:lstStyle/>
                    <a:p>
                      <a:r>
                        <a:rPr sz="900" b="0">
                          <a:solidFill>
                            <a:srgbClr val="4B4B4B"/>
                          </a:solidFill>
                          <a:latin typeface="Arial"/>
                        </a:rPr>
                        <a:t>Reviewed by</a:t>
                      </a:r>
                    </a:p>
                  </a:txBody>
                  <a:tcPr marL="73152" marR="73152" marT="36576" marB="36576">
                    <a:solidFill>
                      <a:srgbClr val="E5F5FF"/>
                    </a:solidFill>
                  </a:tcPr>
                </a:tc>
                <a:tc>
                  <a:txBody>
                    <a:bodyPr/>
                    <a:lstStyle/>
                    <a:p>
                      <a:r>
                        <a:rPr sz="900" b="0">
                          <a:solidFill>
                            <a:srgbClr val="4B4B4B"/>
                          </a:solidFill>
                          <a:latin typeface="Arial"/>
                        </a:rPr>
                        <a:t>BDOI Information Technology Group (Carmela A. Morfe, Yonille D. Guy, Abegail R. Panghulan, Nelda R. Ranchez) (BDOI)</a:t>
                      </a:r>
                    </a:p>
                  </a:txBody>
                  <a:tcPr marL="73152" marR="73152" marT="36576" marB="36576">
                    <a:solidFill>
                      <a:srgbClr val="E5F5FF"/>
                    </a:solidFill>
                  </a:tcPr>
                </a:tc>
                <a:tc>
                  <a:txBody>
                    <a:bodyPr/>
                    <a:lstStyle/>
                    <a:p>
                      <a:r>
                        <a:rPr sz="900" b="0">
                          <a:solidFill>
                            <a:srgbClr val="4B4B4B"/>
                          </a:solidFill>
                          <a:latin typeface="Arial"/>
                        </a:rPr>
                        <a:t>Scheduled runs and files, the bank files and forms, user access and menus, the hand-offs inside BIBS and the Technical Specification (a separate document); not the business screens</a:t>
                      </a:r>
                    </a:p>
                  </a:txBody>
                  <a:tcPr marL="73152" marR="73152" marT="36576" marB="36576">
                    <a:solidFill>
                      <a:srgbClr val="E5F5FF"/>
                    </a:solidFill>
                  </a:tcPr>
                </a:tc>
              </a:tr>
              <a:tr h="365760">
                <a:tc>
                  <a:txBody>
                    <a:bodyPr/>
                    <a:lstStyle/>
                    <a:p>
                      <a:r>
                        <a:rPr sz="900" b="0">
                          <a:solidFill>
                            <a:srgbClr val="4B4B4B"/>
                          </a:solidFill>
                          <a:latin typeface="Arial"/>
                        </a:rPr>
                        <a:t>Reviewed by</a:t>
                      </a:r>
                    </a:p>
                  </a:txBody>
                  <a:tcPr marL="73152" marR="73152" marT="36576" marB="36576">
                    <a:solidFill>
                      <a:srgbClr val="FFFFFF"/>
                    </a:solidFill>
                  </a:tcPr>
                </a:tc>
                <a:tc>
                  <a:txBody>
                    <a:bodyPr/>
                    <a:lstStyle/>
                    <a:p>
                      <a:r>
                        <a:rPr sz="900" b="0">
                          <a:solidFill>
                            <a:srgbClr val="4B4B4B"/>
                          </a:solidFill>
                          <a:latin typeface="Arial"/>
                        </a:rPr>
                        <a:t>Marketing Business Services and System Support (Rhommel Mark Galler) (BDOI)</a:t>
                      </a:r>
                    </a:p>
                  </a:txBody>
                  <a:tcPr marL="73152" marR="73152" marT="36576" marB="36576">
                    <a:solidFill>
                      <a:srgbClr val="FFFFFF"/>
                    </a:solidFill>
                  </a:tcPr>
                </a:tc>
                <a:tc>
                  <a:txBody>
                    <a:bodyPr/>
                    <a:lstStyle/>
                    <a:p>
                      <a:r>
                        <a:rPr sz="900" b="0">
                          <a:solidFill>
                            <a:srgbClr val="4B4B4B"/>
                          </a:solidFill>
                          <a:latin typeface="Arial"/>
                        </a:rPr>
                        <a:t>The Workshop Addendum functions for Marketing: the cost centres of the payments and the incentives</a:t>
                      </a:r>
                    </a:p>
                  </a:txBody>
                  <a:tcPr marL="73152" marR="73152" marT="36576" marB="36576">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signs what: signatories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a:t>
            </a:r>
          </a:p>
        </p:txBody>
      </p:sp>
      <p:graphicFrame>
        <p:nvGraphicFramePr>
          <p:cNvPr id="9" name="Table 8"/>
          <p:cNvGraphicFramePr>
            <a:graphicFrameLocks noGrp="1"/>
          </p:cNvGraphicFramePr>
          <p:nvPr/>
        </p:nvGraphicFramePr>
        <p:xfrm>
          <a:off x="548640" y="1371600"/>
          <a:ext cx="11094413" cy="2560320"/>
        </p:xfrm>
        <a:graphic>
          <a:graphicData uri="http://schemas.openxmlformats.org/drawingml/2006/table">
            <a:tbl>
              <a:tblPr firstRow="1" bandRow="1">
                <a:tableStyleId>{5C22544A-7EE6-4342-B048-85BDC9FD1C3A}</a:tableStyleId>
              </a:tblPr>
              <a:tblGrid>
                <a:gridCol w="1672967"/>
                <a:gridCol w="4050341"/>
                <a:gridCol w="5371105"/>
              </a:tblGrid>
              <a:tr h="365760">
                <a:tc>
                  <a:txBody>
                    <a:bodyPr/>
                    <a:lstStyle/>
                    <a:p>
                      <a:r>
                        <a:rPr sz="900" b="1">
                          <a:solidFill>
                            <a:srgbClr val="FFFFFF"/>
                          </a:solidFill>
                          <a:latin typeface="Arial"/>
                        </a:rPr>
                        <a:t>Capacity</a:t>
                      </a:r>
                    </a:p>
                  </a:txBody>
                  <a:tcPr marL="73152" marR="73152" marT="36576" marB="36576">
                    <a:solidFill>
                      <a:srgbClr val="004EA8"/>
                    </a:solidFill>
                  </a:tcPr>
                </a:tc>
                <a:tc>
                  <a:txBody>
                    <a:bodyPr/>
                    <a:lstStyle/>
                    <a:p>
                      <a:r>
                        <a:rPr sz="900" b="1">
                          <a:solidFill>
                            <a:srgbClr val="FFFFFF"/>
                          </a:solidFill>
                          <a:latin typeface="Arial"/>
                        </a:rPr>
                        <a:t>Role</a:t>
                      </a:r>
                    </a:p>
                  </a:txBody>
                  <a:tcPr marL="73152" marR="73152" marT="36576" marB="36576">
                    <a:solidFill>
                      <a:srgbClr val="004EA8"/>
                    </a:solidFill>
                  </a:tcPr>
                </a:tc>
                <a:tc>
                  <a:txBody>
                    <a:bodyPr/>
                    <a:lstStyle/>
                    <a:p>
                      <a:r>
                        <a:rPr sz="900" b="1">
                          <a:solidFill>
                            <a:srgbClr val="FFFFFF"/>
                          </a:solidFill>
                          <a:latin typeface="Arial"/>
                        </a:rPr>
                        <a:t>Confirms by signing</a:t>
                      </a:r>
                    </a:p>
                  </a:txBody>
                  <a:tcPr marL="73152" marR="73152" marT="36576" marB="36576">
                    <a:solidFill>
                      <a:srgbClr val="004EA8"/>
                    </a:solidFill>
                  </a:tcPr>
                </a:tc>
              </a:tr>
              <a:tr h="365760">
                <a:tc>
                  <a:txBody>
                    <a:bodyPr/>
                    <a:lstStyle/>
                    <a:p>
                      <a:r>
                        <a:rPr sz="900" b="0">
                          <a:solidFill>
                            <a:srgbClr val="4B4B4B"/>
                          </a:solidFill>
                          <a:latin typeface="Arial"/>
                        </a:rPr>
                        <a:t>Approved by</a:t>
                      </a:r>
                    </a:p>
                  </a:txBody>
                  <a:tcPr marL="73152" marR="73152" marT="36576" marB="36576">
                    <a:solidFill>
                      <a:srgbClr val="FFFFFF"/>
                    </a:solidFill>
                  </a:tcPr>
                </a:tc>
                <a:tc>
                  <a:txBody>
                    <a:bodyPr/>
                    <a:lstStyle/>
                    <a:p>
                      <a:r>
                        <a:rPr sz="900" b="0">
                          <a:solidFill>
                            <a:srgbClr val="4B4B4B"/>
                          </a:solidFill>
                          <a:latin typeface="Arial"/>
                        </a:rPr>
                        <a:t>Product Owner - Comptrollership - Disbursement (Rodrigo R. Dela Cruz) (BDOI)</a:t>
                      </a:r>
                    </a:p>
                  </a:txBody>
                  <a:tcPr marL="73152" marR="73152" marT="36576" marB="36576">
                    <a:solidFill>
                      <a:srgbClr val="FFFFFF"/>
                    </a:solidFill>
                  </a:tcPr>
                </a:tc>
                <a:tc>
                  <a:txBody>
                    <a:bodyPr/>
                    <a:lstStyle/>
                    <a:p>
                      <a:r>
                        <a:rPr sz="900" b="0">
                          <a:solidFill>
                            <a:srgbClr val="4B4B4B"/>
                          </a:solidFill>
                          <a:latin typeface="Arial"/>
                        </a:rPr>
                        <a:t>The Disbursement screens, fields, rules, messages, documents and bank files</a:t>
                      </a:r>
                    </a:p>
                  </a:txBody>
                  <a:tcPr marL="73152" marR="73152" marT="36576" marB="36576">
                    <a:solidFill>
                      <a:srgbClr val="FFFFFF"/>
                    </a:solidFill>
                  </a:tcPr>
                </a:tc>
              </a:tr>
              <a:tr h="365760">
                <a:tc>
                  <a:txBody>
                    <a:bodyPr/>
                    <a:lstStyle/>
                    <a:p>
                      <a:r>
                        <a:rPr sz="900" b="0">
                          <a:solidFill>
                            <a:srgbClr val="4B4B4B"/>
                          </a:solidFill>
                          <a:latin typeface="Arial"/>
                        </a:rPr>
                        <a:t>Approved by</a:t>
                      </a:r>
                    </a:p>
                  </a:txBody>
                  <a:tcPr marL="73152" marR="73152" marT="36576" marB="36576">
                    <a:solidFill>
                      <a:srgbClr val="E5F5FF"/>
                    </a:solidFill>
                  </a:tcPr>
                </a:tc>
                <a:tc>
                  <a:txBody>
                    <a:bodyPr/>
                    <a:lstStyle/>
                    <a:p>
                      <a:r>
                        <a:rPr sz="900" b="0">
                          <a:solidFill>
                            <a:srgbClr val="4B4B4B"/>
                          </a:solidFill>
                          <a:latin typeface="Arial"/>
                        </a:rPr>
                        <a:t>Product Owner - Comptrollership - FRBS and ACSL (Iris S. Marquez) (BDOI)</a:t>
                      </a:r>
                    </a:p>
                  </a:txBody>
                  <a:tcPr marL="73152" marR="73152" marT="36576" marB="36576">
                    <a:solidFill>
                      <a:srgbClr val="E5F5FF"/>
                    </a:solidFill>
                  </a:tcPr>
                </a:tc>
                <a:tc>
                  <a:txBody>
                    <a:bodyPr/>
                    <a:lstStyle/>
                    <a:p>
                      <a:r>
                        <a:rPr sz="900" b="0">
                          <a:solidFill>
                            <a:srgbClr val="4B4B4B"/>
                          </a:solidFill>
                          <a:latin typeface="Arial"/>
                        </a:rPr>
                        <a:t>The general ledger, closing, bank reconciliation, report pack, service fee and ACSL screens, rules and messages</a:t>
                      </a:r>
                    </a:p>
                  </a:txBody>
                  <a:tcPr marL="73152" marR="73152" marT="36576" marB="36576">
                    <a:solidFill>
                      <a:srgbClr val="E5F5FF"/>
                    </a:solidFill>
                  </a:tcPr>
                </a:tc>
              </a:tr>
              <a:tr h="365760">
                <a:tc>
                  <a:txBody>
                    <a:bodyPr/>
                    <a:lstStyle/>
                    <a:p>
                      <a:r>
                        <a:rPr sz="900" b="0">
                          <a:solidFill>
                            <a:srgbClr val="4B4B4B"/>
                          </a:solidFill>
                          <a:latin typeface="Arial"/>
                        </a:rPr>
                        <a:t>Approved by</a:t>
                      </a:r>
                    </a:p>
                  </a:txBody>
                  <a:tcPr marL="73152" marR="73152" marT="36576" marB="36576">
                    <a:solidFill>
                      <a:srgbClr val="FFFFFF"/>
                    </a:solidFill>
                  </a:tcPr>
                </a:tc>
                <a:tc>
                  <a:txBody>
                    <a:bodyPr/>
                    <a:lstStyle/>
                    <a:p>
                      <a:r>
                        <a:rPr sz="900" b="0">
                          <a:solidFill>
                            <a:srgbClr val="4B4B4B"/>
                          </a:solidFill>
                          <a:latin typeface="Arial"/>
                        </a:rPr>
                        <a:t>Product Owner - Comptrollership and Operations (Perjelyn Joy R. Gutierrez) (BDOI)</a:t>
                      </a:r>
                    </a:p>
                  </a:txBody>
                  <a:tcPr marL="73152" marR="73152" marT="36576" marB="36576">
                    <a:solidFill>
                      <a:srgbClr val="FFFFFF"/>
                    </a:solidFill>
                  </a:tcPr>
                </a:tc>
                <a:tc>
                  <a:txBody>
                    <a:bodyPr/>
                    <a:lstStyle/>
                    <a:p>
                      <a:r>
                        <a:rPr sz="900" b="0">
                          <a:solidFill>
                            <a:srgbClr val="4B4B4B"/>
                          </a:solidFill>
                          <a:latin typeface="Arial"/>
                        </a:rPr>
                        <a:t>The hand-offs with Operations: remittance payments, refund validations, payment reversals, remittance deductions and the regularisation of cancelled vouchers</a:t>
                      </a:r>
                    </a:p>
                  </a:txBody>
                  <a:tcPr marL="73152" marR="73152" marT="36576" marB="36576">
                    <a:solidFill>
                      <a:srgbClr val="FFFFFF"/>
                    </a:solidFill>
                  </a:tcPr>
                </a:tc>
              </a:tr>
              <a:tr h="365760">
                <a:tc>
                  <a:txBody>
                    <a:bodyPr/>
                    <a:lstStyle/>
                    <a:p>
                      <a:r>
                        <a:rPr sz="900" b="0">
                          <a:solidFill>
                            <a:srgbClr val="4B4B4B"/>
                          </a:solidFill>
                          <a:latin typeface="Arial"/>
                        </a:rPr>
                        <a:t>Approved by</a:t>
                      </a:r>
                    </a:p>
                  </a:txBody>
                  <a:tcPr marL="73152" marR="73152" marT="36576" marB="36576">
                    <a:solidFill>
                      <a:srgbClr val="E5F5FF"/>
                    </a:solidFill>
                  </a:tcPr>
                </a:tc>
                <a:tc>
                  <a:txBody>
                    <a:bodyPr/>
                    <a:lstStyle/>
                    <a:p>
                      <a:r>
                        <a:rPr sz="900" b="0">
                          <a:solidFill>
                            <a:srgbClr val="4B4B4B"/>
                          </a:solidFill>
                          <a:latin typeface="Arial"/>
                        </a:rPr>
                        <a:t>Product Owner - Marketing, Processing and Collections, AVP (Shellah Marie C. Miranda) (BDOI)</a:t>
                      </a:r>
                    </a:p>
                  </a:txBody>
                  <a:tcPr marL="73152" marR="73152" marT="36576" marB="36576">
                    <a:solidFill>
                      <a:srgbClr val="E5F5FF"/>
                    </a:solidFill>
                  </a:tcPr>
                </a:tc>
                <a:tc>
                  <a:txBody>
                    <a:bodyPr/>
                    <a:lstStyle/>
                    <a:p>
                      <a:r>
                        <a:rPr sz="900" b="0">
                          <a:solidFill>
                            <a:srgbClr val="4B4B4B"/>
                          </a:solidFill>
                          <a:latin typeface="Arial"/>
                        </a:rPr>
                        <a:t>The Marketing refund, cash-advance and check-cancellation requests</a:t>
                      </a:r>
                    </a:p>
                  </a:txBody>
                  <a:tcPr marL="73152" marR="73152" marT="36576" marB="36576">
                    <a:solidFill>
                      <a:srgbClr val="E5F5FF"/>
                    </a:solidFill>
                  </a:tcPr>
                </a:tc>
              </a:tr>
              <a:tr h="365760">
                <a:tc>
                  <a:txBody>
                    <a:bodyPr/>
                    <a:lstStyle/>
                    <a:p>
                      <a:r>
                        <a:rPr sz="900" b="0">
                          <a:solidFill>
                            <a:srgbClr val="4B4B4B"/>
                          </a:solidFill>
                          <a:latin typeface="Arial"/>
                        </a:rPr>
                        <a:t>Approved by</a:t>
                      </a:r>
                    </a:p>
                  </a:txBody>
                  <a:tcPr marL="73152" marR="73152" marT="36576" marB="36576">
                    <a:solidFill>
                      <a:srgbClr val="FFFFFF"/>
                    </a:solidFill>
                  </a:tcPr>
                </a:tc>
                <a:tc>
                  <a:txBody>
                    <a:bodyPr/>
                    <a:lstStyle/>
                    <a:p>
                      <a:r>
                        <a:rPr sz="900" b="0">
                          <a:solidFill>
                            <a:srgbClr val="4B4B4B"/>
                          </a:solidFill>
                          <a:latin typeface="Arial"/>
                        </a:rPr>
                        <a:t>Head - Comptrollership, VP (Ronald Allan E. De Leon) (BDOI)</a:t>
                      </a:r>
                    </a:p>
                  </a:txBody>
                  <a:tcPr marL="73152" marR="73152" marT="36576" marB="36576">
                    <a:solidFill>
                      <a:srgbClr val="FFFFFF"/>
                    </a:solidFill>
                  </a:tcPr>
                </a:tc>
                <a:tc>
                  <a:txBody>
                    <a:bodyPr/>
                    <a:lstStyle/>
                    <a:p>
                      <a:r>
                        <a:rPr sz="900" b="0">
                          <a:solidFill>
                            <a:srgbClr val="4B4B4B"/>
                          </a:solidFill>
                          <a:latin typeface="Arial"/>
                        </a:rPr>
                        <a:t>Owns the set for Comptrollership and approves all of its contents</a:t>
                      </a:r>
                    </a:p>
                  </a:txBody>
                  <a:tcPr marL="73152" marR="73152" marT="36576" marB="36576">
                    <a:solidFill>
                      <a:srgbClr val="FFFFFF"/>
                    </a:solidFill>
                  </a:tcPr>
                </a:tc>
              </a:tr>
              <a:tr h="365760">
                <a:tc>
                  <a:txBody>
                    <a:bodyPr/>
                    <a:lstStyle/>
                    <a:p>
                      <a:r>
                        <a:rPr sz="900" b="0">
                          <a:solidFill>
                            <a:srgbClr val="4B4B4B"/>
                          </a:solidFill>
                          <a:latin typeface="Arial"/>
                        </a:rPr>
                        <a:t>Approved by</a:t>
                      </a:r>
                    </a:p>
                  </a:txBody>
                  <a:tcPr marL="73152" marR="73152" marT="36576" marB="36576">
                    <a:solidFill>
                      <a:srgbClr val="E5F5FF"/>
                    </a:solidFill>
                  </a:tcPr>
                </a:tc>
                <a:tc>
                  <a:txBody>
                    <a:bodyPr/>
                    <a:lstStyle/>
                    <a:p>
                      <a:r>
                        <a:rPr sz="900" b="0">
                          <a:solidFill>
                            <a:srgbClr val="4B4B4B"/>
                          </a:solidFill>
                          <a:latin typeface="Arial"/>
                        </a:rPr>
                        <a:t>Head - Institutional Banking, SM and BDO Accounts, FVP (Roderick L. Lim; Head - Retail Marketing on the Workshop Addendum) (BDOI)</a:t>
                      </a:r>
                    </a:p>
                  </a:txBody>
                  <a:tcPr marL="73152" marR="73152" marT="36576" marB="36576">
                    <a:solidFill>
                      <a:srgbClr val="E5F5FF"/>
                    </a:solidFill>
                  </a:tcPr>
                </a:tc>
                <a:tc>
                  <a:txBody>
                    <a:bodyPr/>
                    <a:lstStyle/>
                    <a:p>
                      <a:r>
                        <a:rPr sz="900" b="0">
                          <a:solidFill>
                            <a:srgbClr val="4B4B4B"/>
                          </a:solidFill>
                          <a:latin typeface="Arial"/>
                        </a:rPr>
                        <a:t>The Marketing requests and the service fee of the referrers</a:t>
                      </a:r>
                    </a:p>
                  </a:txBody>
                  <a:tcPr marL="73152" marR="73152" marT="36576" marB="36576">
                    <a:solidFill>
                      <a:srgbClr val="E5F5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How to fill in the sign-off workbook</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a:t>
            </a:r>
          </a:p>
        </p:txBody>
      </p:sp>
      <p:pic>
        <p:nvPicPr>
          <p:cNvPr id="9" name="Picture 8" descr="signoff-workbook-field-register.png"/>
          <p:cNvPicPr>
            <a:picLocks noChangeAspect="1"/>
          </p:cNvPicPr>
          <p:nvPr/>
        </p:nvPicPr>
        <p:blipFill>
          <a:blip r:embed="rId3"/>
          <a:stretch>
            <a:fillRect/>
          </a:stretch>
        </p:blipFill>
        <p:spPr>
          <a:xfrm>
            <a:off x="548640" y="1325880"/>
            <a:ext cx="7498079" cy="1726531"/>
          </a:xfrm>
          <a:prstGeom prst="rect">
            <a:avLst/>
          </a:prstGeom>
          <a:ln w="9525">
            <a:solidFill>
              <a:srgbClr val="C2C2C1"/>
            </a:solidFill>
          </a:ln>
        </p:spPr>
      </p:pic>
      <p:sp>
        <p:nvSpPr>
          <p:cNvPr id="10" name="TextBox 9"/>
          <p:cNvSpPr txBox="1"/>
          <p:nvPr/>
        </p:nvSpPr>
        <p:spPr>
          <a:xfrm>
            <a:off x="548640" y="5852160"/>
            <a:ext cx="7498079" cy="320040"/>
          </a:xfrm>
          <a:prstGeom prst="rect">
            <a:avLst/>
          </a:prstGeom>
          <a:noFill/>
        </p:spPr>
        <p:txBody>
          <a:bodyPr wrap="square" anchor="t" lIns="45720" rIns="45720">
            <a:spAutoFit/>
          </a:bodyPr>
          <a:lstStyle/>
          <a:p>
            <a:pPr algn="ctr"/>
            <a:r>
              <a:rPr sz="1100" b="0" i="1">
                <a:solidFill>
                  <a:srgbClr val="656565"/>
                </a:solidFill>
                <a:latin typeface="Arial"/>
              </a:rPr>
              <a:t>Field register sheet of the sign-off workbook</a:t>
            </a:r>
          </a:p>
        </p:txBody>
      </p:sp>
      <p:sp>
        <p:nvSpPr>
          <p:cNvPr id="11" name="Rectangle 10"/>
          <p:cNvSpPr/>
          <p:nvPr/>
        </p:nvSpPr>
        <p:spPr>
          <a:xfrm>
            <a:off x="8321039" y="1325880"/>
            <a:ext cx="3322016" cy="48463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21039" y="1325880"/>
            <a:ext cx="50800" cy="48463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58199" y="1417320"/>
            <a:ext cx="3093416" cy="4480560"/>
          </a:xfrm>
          <a:prstGeom prst="rect">
            <a:avLst/>
          </a:prstGeom>
          <a:noFill/>
        </p:spPr>
        <p:txBody>
          <a:bodyPr wrap="square">
            <a:spAutoFit/>
          </a:bodyPr>
          <a:lstStyle/>
          <a:p>
            <a:pPr>
              <a:spcAft>
                <a:spcPts val="600"/>
              </a:spcAft>
            </a:pPr>
            <a:r>
              <a:rPr sz="1300">
                <a:solidFill>
                  <a:srgbClr val="004EA8"/>
                </a:solidFill>
                <a:latin typeface="Arial"/>
              </a:rPr>
              <a:t>•  </a:t>
            </a:r>
            <a:r>
              <a:rPr sz="1300">
                <a:solidFill>
                  <a:srgbClr val="4B4B4B"/>
                </a:solidFill>
                <a:latin typeface="Arial"/>
              </a:rPr>
              <a:t>Review the rows of your area on Screen standards, Screen catalogue, Field register, Business rules, Messages</a:t>
            </a:r>
          </a:p>
          <a:p>
            <a:pPr>
              <a:spcAft>
                <a:spcPts val="600"/>
              </a:spcAft>
            </a:pPr>
            <a:r>
              <a:rPr sz="1300">
                <a:solidFill>
                  <a:srgbClr val="004EA8"/>
                </a:solidFill>
                <a:latin typeface="Arial"/>
              </a:rPr>
              <a:t>•  </a:t>
            </a:r>
            <a:r>
              <a:rPr sz="1300">
                <a:solidFill>
                  <a:srgbClr val="4B4B4B"/>
                </a:solidFill>
                <a:latin typeface="Arial"/>
              </a:rPr>
              <a:t>BU review: Accept, Change requested or Comment</a:t>
            </a:r>
          </a:p>
          <a:p>
            <a:pPr>
              <a:spcAft>
                <a:spcPts val="600"/>
              </a:spcAft>
            </a:pPr>
            <a:r>
              <a:rPr sz="1300">
                <a:solidFill>
                  <a:srgbClr val="004EA8"/>
                </a:solidFill>
                <a:latin typeface="Arial"/>
              </a:rPr>
              <a:t>•  </a:t>
            </a:r>
            <a:r>
              <a:rPr sz="1300">
                <a:solidFill>
                  <a:srgbClr val="4B4B4B"/>
                </a:solidFill>
                <a:latin typeface="Arial"/>
              </a:rPr>
              <a:t>BU comment: the change asked for</a:t>
            </a:r>
          </a:p>
          <a:p>
            <a:pPr>
              <a:spcAft>
                <a:spcPts val="600"/>
              </a:spcAft>
            </a:pPr>
            <a:r>
              <a:rPr sz="1300">
                <a:solidFill>
                  <a:srgbClr val="004EA8"/>
                </a:solidFill>
                <a:latin typeface="Arial"/>
              </a:rPr>
              <a:t>•  </a:t>
            </a:r>
            <a:r>
              <a:rPr sz="1300">
                <a:solidFill>
                  <a:srgbClr val="4B4B4B"/>
                </a:solidFill>
                <a:latin typeface="Arial"/>
              </a:rPr>
              <a:t>Reviewer and Review date</a:t>
            </a:r>
          </a:p>
          <a:p>
            <a:pPr>
              <a:spcAft>
                <a:spcPts val="600"/>
              </a:spcAft>
            </a:pPr>
            <a:r>
              <a:rPr sz="1300">
                <a:solidFill>
                  <a:srgbClr val="004EA8"/>
                </a:solidFill>
                <a:latin typeface="Arial"/>
              </a:rPr>
              <a:t>•  </a:t>
            </a:r>
            <a:r>
              <a:rPr sz="1300">
                <a:solidFill>
                  <a:srgbClr val="4B4B4B"/>
                </a:solidFill>
                <a:latin typeface="Arial"/>
              </a:rPr>
              <a:t>Questions go to the Comments log</a:t>
            </a:r>
          </a:p>
          <a:p>
            <a:pPr>
              <a:spcAft>
                <a:spcPts val="600"/>
              </a:spcAft>
            </a:pPr>
            <a:r>
              <a:rPr sz="1300">
                <a:solidFill>
                  <a:srgbClr val="004EA8"/>
                </a:solidFill>
                <a:latin typeface="Arial"/>
              </a:rPr>
              <a:t>•  </a:t>
            </a:r>
            <a:r>
              <a:rPr sz="1300">
                <a:solidFill>
                  <a:srgbClr val="4B4B4B"/>
                </a:solidFill>
                <a:latin typeface="Arial"/>
              </a:rPr>
              <a:t>Leave the other columns unchanged; one workbook per unit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Accounting Disbursement ACSL at a glance: personas and menus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a:t>
            </a:r>
          </a:p>
        </p:txBody>
      </p:sp>
      <p:graphicFrame>
        <p:nvGraphicFramePr>
          <p:cNvPr id="9" name="Table 8"/>
          <p:cNvGraphicFramePr>
            <a:graphicFrameLocks noGrp="1"/>
          </p:cNvGraphicFramePr>
          <p:nvPr/>
        </p:nvGraphicFramePr>
        <p:xfrm>
          <a:off x="548640" y="1371600"/>
          <a:ext cx="11094413" cy="7315200"/>
        </p:xfrm>
        <a:graphic>
          <a:graphicData uri="http://schemas.openxmlformats.org/drawingml/2006/table">
            <a:tbl>
              <a:tblPr firstRow="1" bandRow="1">
                <a:tableStyleId>{5C22544A-7EE6-4342-B048-85BDC9FD1C3A}</a:tableStyleId>
              </a:tblPr>
              <a:tblGrid>
                <a:gridCol w="2641527"/>
                <a:gridCol w="1144661"/>
                <a:gridCol w="968560"/>
                <a:gridCol w="6339665"/>
              </a:tblGrid>
              <a:tr h="365760">
                <a:tc>
                  <a:txBody>
                    <a:bodyPr/>
                    <a:lstStyle/>
                    <a:p>
                      <a:r>
                        <a:rPr sz="1000" b="1">
                          <a:solidFill>
                            <a:srgbClr val="FFFFFF"/>
                          </a:solidFill>
                          <a:latin typeface="Arial"/>
                        </a:rPr>
                        <a:t>Persona</a:t>
                      </a:r>
                    </a:p>
                  </a:txBody>
                  <a:tcPr marL="73152" marR="73152" marT="36576" marB="36576">
                    <a:solidFill>
                      <a:srgbClr val="004EA8"/>
                    </a:solidFill>
                  </a:tcPr>
                </a:tc>
                <a:tc>
                  <a:txBody>
                    <a:bodyPr/>
                    <a:lstStyle/>
                    <a:p>
                      <a:r>
                        <a:rPr sz="1000" b="1">
                          <a:solidFill>
                            <a:srgbClr val="FFFFFF"/>
                          </a:solidFill>
                          <a:latin typeface="Arial"/>
                        </a:rPr>
                        <a:t>SIT user</a:t>
                      </a:r>
                    </a:p>
                  </a:txBody>
                  <a:tcPr marL="73152" marR="73152" marT="36576" marB="36576">
                    <a:solidFill>
                      <a:srgbClr val="004EA8"/>
                    </a:solidFill>
                  </a:tcPr>
                </a:tc>
                <a:tc>
                  <a:txBody>
                    <a:bodyPr/>
                    <a:lstStyle/>
                    <a:p>
                      <a:r>
                        <a:rPr sz="1000" b="1">
                          <a:solidFill>
                            <a:srgbClr val="FFFFFF"/>
                          </a:solidFill>
                          <a:latin typeface="Arial"/>
                        </a:rPr>
                        <a:t>Screens</a:t>
                      </a:r>
                    </a:p>
                  </a:txBody>
                  <a:tcPr marL="73152" marR="73152" marT="36576" marB="36576">
                    <a:solidFill>
                      <a:srgbClr val="004EA8"/>
                    </a:solidFill>
                  </a:tcPr>
                </a:tc>
                <a:tc>
                  <a:txBody>
                    <a:bodyPr/>
                    <a:lstStyle/>
                    <a:p>
                      <a:r>
                        <a:rPr sz="1000" b="1">
                          <a:solidFill>
                            <a:srgbClr val="FFFFFF"/>
                          </a:solidFill>
                          <a:latin typeface="Arial"/>
                        </a:rPr>
                        <a:t>Menu sections</a:t>
                      </a:r>
                    </a:p>
                  </a:txBody>
                  <a:tcPr marL="73152" marR="73152" marT="36576" marB="36576">
                    <a:solidFill>
                      <a:srgbClr val="004EA8"/>
                    </a:solidFill>
                  </a:tcPr>
                </a:tc>
              </a:tr>
              <a:tr h="365760">
                <a:tc>
                  <a:txBody>
                    <a:bodyPr/>
                    <a:lstStyle/>
                    <a:p>
                      <a:r>
                        <a:rPr sz="1000" b="0">
                          <a:solidFill>
                            <a:srgbClr val="4B4B4B"/>
                          </a:solidFill>
                          <a:latin typeface="Arial"/>
                        </a:rPr>
                        <a:t>GL Officer (FRBS)</a:t>
                      </a:r>
                    </a:p>
                  </a:txBody>
                  <a:tcPr marL="73152" marR="73152" marT="36576" marB="36576">
                    <a:solidFill>
                      <a:srgbClr val="FFFFFF"/>
                    </a:solidFill>
                  </a:tcPr>
                </a:tc>
                <a:tc>
                  <a:txBody>
                    <a:bodyPr/>
                    <a:lstStyle/>
                    <a:p>
                      <a:r>
                        <a:rPr sz="1000" b="0">
                          <a:solidFill>
                            <a:srgbClr val="4B4B4B"/>
                          </a:solidFill>
                          <a:latin typeface="Arial"/>
                        </a:rPr>
                        <a:t>glofficer</a:t>
                      </a:r>
                    </a:p>
                  </a:txBody>
                  <a:tcPr marL="73152" marR="73152" marT="36576" marB="36576">
                    <a:solidFill>
                      <a:srgbClr val="FFFFFF"/>
                    </a:solidFill>
                  </a:tcPr>
                </a:tc>
                <a:tc>
                  <a:txBody>
                    <a:bodyPr/>
                    <a:lstStyle/>
                    <a:p>
                      <a:r>
                        <a:rPr sz="1000" b="0">
                          <a:solidFill>
                            <a:srgbClr val="4B4B4B"/>
                          </a:solidFill>
                          <a:latin typeface="Arial"/>
                        </a:rPr>
                        <a:t>46</a:t>
                      </a:r>
                    </a:p>
                  </a:txBody>
                  <a:tcPr marL="73152" marR="73152" marT="36576" marB="36576">
                    <a:solidFill>
                      <a:srgbClr val="FFFFFF"/>
                    </a:solidFill>
                  </a:tcPr>
                </a:tc>
                <a:tc>
                  <a:txBody>
                    <a:bodyPr/>
                    <a:lstStyle/>
                    <a:p>
                      <a:r>
                        <a:rPr sz="1000" b="0">
                          <a:solidFill>
                            <a:srgbClr val="4B4B4B"/>
                          </a:solidFill>
                          <a:latin typeface="Arial"/>
                        </a:rPr>
                        <a:t>Accounting Reports, General Ledger, Receivables &amp; Banking, Payables &amp; Cash, Assets &amp; Investments, Planning &amp; Closing, Tax &amp; Statutory, Accounting Engine</a:t>
                      </a:r>
                    </a:p>
                  </a:txBody>
                  <a:tcPr marL="73152" marR="73152" marT="36576" marB="36576">
                    <a:solidFill>
                      <a:srgbClr val="FFFFFF"/>
                    </a:solidFill>
                  </a:tcPr>
                </a:tc>
              </a:tr>
              <a:tr h="365760">
                <a:tc>
                  <a:txBody>
                    <a:bodyPr/>
                    <a:lstStyle/>
                    <a:p>
                      <a:r>
                        <a:rPr sz="1000" b="0">
                          <a:solidFill>
                            <a:srgbClr val="4B4B4B"/>
                          </a:solidFill>
                          <a:latin typeface="Arial"/>
                        </a:rPr>
                        <a:t>GL Team Lead</a:t>
                      </a:r>
                    </a:p>
                  </a:txBody>
                  <a:tcPr marL="73152" marR="73152" marT="36576" marB="36576">
                    <a:solidFill>
                      <a:srgbClr val="E5F5FF"/>
                    </a:solidFill>
                  </a:tcPr>
                </a:tc>
                <a:tc>
                  <a:txBody>
                    <a:bodyPr/>
                    <a:lstStyle/>
                    <a:p>
                      <a:r>
                        <a:rPr sz="1000" b="0">
                          <a:solidFill>
                            <a:srgbClr val="4B4B4B"/>
                          </a:solidFill>
                          <a:latin typeface="Arial"/>
                        </a:rPr>
                        <a:t>gltl</a:t>
                      </a:r>
                    </a:p>
                  </a:txBody>
                  <a:tcPr marL="73152" marR="73152" marT="36576" marB="36576">
                    <a:solidFill>
                      <a:srgbClr val="E5F5FF"/>
                    </a:solidFill>
                  </a:tcPr>
                </a:tc>
                <a:tc>
                  <a:txBody>
                    <a:bodyPr/>
                    <a:lstStyle/>
                    <a:p>
                      <a:r>
                        <a:rPr sz="1000" b="0">
                          <a:solidFill>
                            <a:srgbClr val="4B4B4B"/>
                          </a:solidFill>
                          <a:latin typeface="Arial"/>
                        </a:rPr>
                        <a:t>50</a:t>
                      </a:r>
                    </a:p>
                  </a:txBody>
                  <a:tcPr marL="73152" marR="73152" marT="36576" marB="36576">
                    <a:solidFill>
                      <a:srgbClr val="E5F5FF"/>
                    </a:solidFill>
                  </a:tcPr>
                </a:tc>
                <a:tc>
                  <a:txBody>
                    <a:bodyPr/>
                    <a:lstStyle/>
                    <a:p>
                      <a:r>
                        <a:rPr sz="1000" b="0">
                          <a:solidFill>
                            <a:srgbClr val="4B4B4B"/>
                          </a:solidFill>
                          <a:latin typeface="Arial"/>
                        </a:rPr>
                        <a:t>Accounting Reports, General Ledger, Receivables &amp; Banking, Payables &amp; Cash, Assets &amp; Investments, Planning &amp; Closing, Tax &amp; Statutory, Accounting Engine</a:t>
                      </a:r>
                    </a:p>
                  </a:txBody>
                  <a:tcPr marL="73152" marR="73152" marT="36576" marB="36576">
                    <a:solidFill>
                      <a:srgbClr val="E5F5FF"/>
                    </a:solidFill>
                  </a:tcPr>
                </a:tc>
              </a:tr>
              <a:tr h="365760">
                <a:tc>
                  <a:txBody>
                    <a:bodyPr/>
                    <a:lstStyle/>
                    <a:p>
                      <a:r>
                        <a:rPr sz="1000" b="0">
                          <a:solidFill>
                            <a:srgbClr val="4B4B4B"/>
                          </a:solidFill>
                          <a:latin typeface="Arial"/>
                        </a:rPr>
                        <a:t>GL Section Head</a:t>
                      </a:r>
                    </a:p>
                  </a:txBody>
                  <a:tcPr marL="73152" marR="73152" marT="36576" marB="36576">
                    <a:solidFill>
                      <a:srgbClr val="FFFFFF"/>
                    </a:solidFill>
                  </a:tcPr>
                </a:tc>
                <a:tc>
                  <a:txBody>
                    <a:bodyPr/>
                    <a:lstStyle/>
                    <a:p>
                      <a:r>
                        <a:rPr sz="1000" b="0">
                          <a:solidFill>
                            <a:srgbClr val="4B4B4B"/>
                          </a:solidFill>
                          <a:latin typeface="Arial"/>
                        </a:rPr>
                        <a:t>glhead</a:t>
                      </a:r>
                    </a:p>
                  </a:txBody>
                  <a:tcPr marL="73152" marR="73152" marT="36576" marB="36576">
                    <a:solidFill>
                      <a:srgbClr val="FFFFFF"/>
                    </a:solidFill>
                  </a:tcPr>
                </a:tc>
                <a:tc>
                  <a:txBody>
                    <a:bodyPr/>
                    <a:lstStyle/>
                    <a:p>
                      <a:r>
                        <a:rPr sz="1000" b="0">
                          <a:solidFill>
                            <a:srgbClr val="4B4B4B"/>
                          </a:solidFill>
                          <a:latin typeface="Arial"/>
                        </a:rPr>
                        <a:t>47</a:t>
                      </a:r>
                    </a:p>
                  </a:txBody>
                  <a:tcPr marL="73152" marR="73152" marT="36576" marB="36576">
                    <a:solidFill>
                      <a:srgbClr val="FFFFFF"/>
                    </a:solidFill>
                  </a:tcPr>
                </a:tc>
                <a:tc>
                  <a:txBody>
                    <a:bodyPr/>
                    <a:lstStyle/>
                    <a:p>
                      <a:r>
                        <a:rPr sz="1000" b="0">
                          <a:solidFill>
                            <a:srgbClr val="4B4B4B"/>
                          </a:solidFill>
                          <a:latin typeface="Arial"/>
                        </a:rPr>
                        <a:t>Accounting Reports, General Ledger, Receivables &amp; Banking, Payables &amp; Cash, Assets &amp; Investments, Planning &amp; Closing, Tax &amp; Statutory, Accounting Engine</a:t>
                      </a:r>
                    </a:p>
                  </a:txBody>
                  <a:tcPr marL="73152" marR="73152" marT="36576" marB="36576">
                    <a:solidFill>
                      <a:srgbClr val="FFFFFF"/>
                    </a:solidFill>
                  </a:tcPr>
                </a:tc>
              </a:tr>
              <a:tr h="365760">
                <a:tc>
                  <a:txBody>
                    <a:bodyPr/>
                    <a:lstStyle/>
                    <a:p>
                      <a:r>
                        <a:rPr sz="1000" b="0">
                          <a:solidFill>
                            <a:srgbClr val="4B4B4B"/>
                          </a:solidFill>
                          <a:latin typeface="Arial"/>
                        </a:rPr>
                        <a:t>Accountant (bank reconciliation)</a:t>
                      </a:r>
                    </a:p>
                  </a:txBody>
                  <a:tcPr marL="73152" marR="73152" marT="36576" marB="36576">
                    <a:solidFill>
                      <a:srgbClr val="E5F5FF"/>
                    </a:solidFill>
                  </a:tcPr>
                </a:tc>
                <a:tc>
                  <a:txBody>
                    <a:bodyPr/>
                    <a:lstStyle/>
                    <a:p>
                      <a:r>
                        <a:rPr sz="1000" b="0">
                          <a:solidFill>
                            <a:srgbClr val="4B4B4B"/>
                          </a:solidFill>
                          <a:latin typeface="Arial"/>
                        </a:rPr>
                        <a:t>accountant</a:t>
                      </a:r>
                    </a:p>
                  </a:txBody>
                  <a:tcPr marL="73152" marR="73152" marT="36576" marB="36576">
                    <a:solidFill>
                      <a:srgbClr val="E5F5FF"/>
                    </a:solidFill>
                  </a:tcPr>
                </a:tc>
                <a:tc>
                  <a:txBody>
                    <a:bodyPr/>
                    <a:lstStyle/>
                    <a:p>
                      <a:r>
                        <a:rPr sz="1000" b="0">
                          <a:solidFill>
                            <a:srgbClr val="4B4B4B"/>
                          </a:solidFill>
                          <a:latin typeface="Arial"/>
                        </a:rPr>
                        <a:t>47</a:t>
                      </a:r>
                    </a:p>
                  </a:txBody>
                  <a:tcPr marL="73152" marR="73152" marT="36576" marB="36576">
                    <a:solidFill>
                      <a:srgbClr val="E5F5FF"/>
                    </a:solidFill>
                  </a:tcPr>
                </a:tc>
                <a:tc>
                  <a:txBody>
                    <a:bodyPr/>
                    <a:lstStyle/>
                    <a:p>
                      <a:r>
                        <a:rPr sz="1000" b="0">
                          <a:solidFill>
                            <a:srgbClr val="4B4B4B"/>
                          </a:solidFill>
                          <a:latin typeface="Arial"/>
                        </a:rPr>
                        <a:t>Accounting Reports, General Ledger, Receivables &amp; Banking, Payables &amp; Cash, Assets &amp; Investments, Planning &amp; Closing, Tax &amp; Statutory, Accounting Engine</a:t>
                      </a:r>
                    </a:p>
                  </a:txBody>
                  <a:tcPr marL="73152" marR="73152" marT="36576" marB="36576">
                    <a:solidFill>
                      <a:srgbClr val="E5F5FF"/>
                    </a:solidFill>
                  </a:tcPr>
                </a:tc>
              </a:tr>
              <a:tr h="365760">
                <a:tc>
                  <a:txBody>
                    <a:bodyPr/>
                    <a:lstStyle/>
                    <a:p>
                      <a:r>
                        <a:rPr sz="1000" b="0">
                          <a:solidFill>
                            <a:srgbClr val="4B4B4B"/>
                          </a:solidFill>
                          <a:latin typeface="Arial"/>
                        </a:rPr>
                        <a:t>Comptrollership administrator (masters and rules)</a:t>
                      </a:r>
                    </a:p>
                  </a:txBody>
                  <a:tcPr marL="73152" marR="73152" marT="36576" marB="36576">
                    <a:solidFill>
                      <a:srgbClr val="FFFFFF"/>
                    </a:solidFill>
                  </a:tcPr>
                </a:tc>
                <a:tc>
                  <a:txBody>
                    <a:bodyPr/>
                    <a:lstStyle/>
                    <a:p>
                      <a:r>
                        <a:rPr sz="1000" b="0">
                          <a:solidFill>
                            <a:srgbClr val="4B4B4B"/>
                          </a:solidFill>
                          <a:latin typeface="Arial"/>
                        </a:rPr>
                        <a:t>fmanager</a:t>
                      </a:r>
                    </a:p>
                  </a:txBody>
                  <a:tcPr marL="73152" marR="73152" marT="36576" marB="36576">
                    <a:solidFill>
                      <a:srgbClr val="FFFFFF"/>
                    </a:solidFill>
                  </a:tcPr>
                </a:tc>
                <a:tc>
                  <a:txBody>
                    <a:bodyPr/>
                    <a:lstStyle/>
                    <a:p>
                      <a:r>
                        <a:rPr sz="1000" b="0">
                          <a:solidFill>
                            <a:srgbClr val="4B4B4B"/>
                          </a:solidFill>
                          <a:latin typeface="Arial"/>
                        </a:rPr>
                        <a:t>43</a:t>
                      </a:r>
                    </a:p>
                  </a:txBody>
                  <a:tcPr marL="73152" marR="73152" marT="36576" marB="36576">
                    <a:solidFill>
                      <a:srgbClr val="FFFFFF"/>
                    </a:solidFill>
                  </a:tcPr>
                </a:tc>
                <a:tc>
                  <a:txBody>
                    <a:bodyPr/>
                    <a:lstStyle/>
                    <a:p>
                      <a:r>
                        <a:rPr sz="1000" b="0">
                          <a:solidFill>
                            <a:srgbClr val="4B4B4B"/>
                          </a:solidFill>
                          <a:latin typeface="Arial"/>
                        </a:rPr>
                        <a:t>Refund &amp; Cash Advance Requests, Accounting Reports, General Ledger, Receivables &amp; Banking, Payables &amp; Cash, Assets &amp; Investments, Planning &amp; Closing, Tax &amp; Statutory, Accounting Engine</a:t>
                      </a:r>
                    </a:p>
                  </a:txBody>
                  <a:tcPr marL="73152" marR="73152" marT="36576" marB="36576">
                    <a:solidFill>
                      <a:srgbClr val="FFFFFF"/>
                    </a:solidFill>
                  </a:tcPr>
                </a:tc>
              </a:tr>
              <a:tr h="365760">
                <a:tc>
                  <a:txBody>
                    <a:bodyPr/>
                    <a:lstStyle/>
                    <a:p>
                      <a:r>
                        <a:rPr sz="1000" b="0">
                          <a:solidFill>
                            <a:srgbClr val="4B4B4B"/>
                          </a:solidFill>
                          <a:latin typeface="Arial"/>
                        </a:rPr>
                        <a:t>Disbursement Processor</a:t>
                      </a:r>
                    </a:p>
                  </a:txBody>
                  <a:tcPr marL="73152" marR="73152" marT="36576" marB="36576">
                    <a:solidFill>
                      <a:srgbClr val="E5F5FF"/>
                    </a:solidFill>
                  </a:tcPr>
                </a:tc>
                <a:tc>
                  <a:txBody>
                    <a:bodyPr/>
                    <a:lstStyle/>
                    <a:p>
                      <a:r>
                        <a:rPr sz="1000" b="0">
                          <a:solidFill>
                            <a:srgbClr val="4B4B4B"/>
                          </a:solidFill>
                          <a:latin typeface="Arial"/>
                        </a:rPr>
                        <a:t>disb</a:t>
                      </a:r>
                    </a:p>
                  </a:txBody>
                  <a:tcPr marL="73152" marR="73152" marT="36576" marB="36576">
                    <a:solidFill>
                      <a:srgbClr val="E5F5FF"/>
                    </a:solidFill>
                  </a:tcPr>
                </a:tc>
                <a:tc>
                  <a:txBody>
                    <a:bodyPr/>
                    <a:lstStyle/>
                    <a:p>
                      <a:r>
                        <a:rPr sz="1000" b="0">
                          <a:solidFill>
                            <a:srgbClr val="4B4B4B"/>
                          </a:solidFill>
                          <a:latin typeface="Arial"/>
                        </a:rPr>
                        <a:t>20</a:t>
                      </a:r>
                    </a:p>
                  </a:txBody>
                  <a:tcPr marL="73152" marR="73152" marT="36576" marB="36576">
                    <a:solidFill>
                      <a:srgbClr val="E5F5FF"/>
                    </a:solidFill>
                  </a:tcPr>
                </a:tc>
                <a:tc>
                  <a:txBody>
                    <a:bodyPr/>
                    <a:lstStyle/>
                    <a:p>
                      <a:r>
                        <a:rPr sz="1000" b="0">
                          <a:solidFill>
                            <a:srgbClr val="4B4B4B"/>
                          </a:solidFill>
                          <a:latin typeface="Arial"/>
                        </a:rPr>
                        <a:t>Disbursement, Tax &amp; Statutory</a:t>
                      </a:r>
                    </a:p>
                  </a:txBody>
                  <a:tcPr marL="73152" marR="73152" marT="36576" marB="36576">
                    <a:solidFill>
                      <a:srgbClr val="E5F5FF"/>
                    </a:solidFill>
                  </a:tcPr>
                </a:tc>
              </a:tr>
              <a:tr h="365760">
                <a:tc>
                  <a:txBody>
                    <a:bodyPr/>
                    <a:lstStyle/>
                    <a:p>
                      <a:r>
                        <a:rPr sz="1000" b="0">
                          <a:solidFill>
                            <a:srgbClr val="4B4B4B"/>
                          </a:solidFill>
                          <a:latin typeface="Arial"/>
                        </a:rPr>
                        <a:t>Disbursement Team Leader</a:t>
                      </a:r>
                    </a:p>
                  </a:txBody>
                  <a:tcPr marL="73152" marR="73152" marT="36576" marB="36576">
                    <a:solidFill>
                      <a:srgbClr val="FFFFFF"/>
                    </a:solidFill>
                  </a:tcPr>
                </a:tc>
                <a:tc>
                  <a:txBody>
                    <a:bodyPr/>
                    <a:lstStyle/>
                    <a:p>
                      <a:r>
                        <a:rPr sz="1000" b="0">
                          <a:solidFill>
                            <a:srgbClr val="4B4B4B"/>
                          </a:solidFill>
                          <a:latin typeface="Arial"/>
                        </a:rPr>
                        <a:t>disbtl</a:t>
                      </a:r>
                    </a:p>
                  </a:txBody>
                  <a:tcPr marL="73152" marR="73152" marT="36576" marB="36576">
                    <a:solidFill>
                      <a:srgbClr val="FFFFFF"/>
                    </a:solidFill>
                  </a:tcPr>
                </a:tc>
                <a:tc>
                  <a:txBody>
                    <a:bodyPr/>
                    <a:lstStyle/>
                    <a:p>
                      <a:r>
                        <a:rPr sz="1000" b="0">
                          <a:solidFill>
                            <a:srgbClr val="4B4B4B"/>
                          </a:solidFill>
                          <a:latin typeface="Arial"/>
                        </a:rPr>
                        <a:t>20</a:t>
                      </a:r>
                    </a:p>
                  </a:txBody>
                  <a:tcPr marL="73152" marR="73152" marT="36576" marB="36576">
                    <a:solidFill>
                      <a:srgbClr val="FFFFFF"/>
                    </a:solidFill>
                  </a:tcPr>
                </a:tc>
                <a:tc>
                  <a:txBody>
                    <a:bodyPr/>
                    <a:lstStyle/>
                    <a:p>
                      <a:r>
                        <a:rPr sz="1000" b="0">
                          <a:solidFill>
                            <a:srgbClr val="4B4B4B"/>
                          </a:solidFill>
                          <a:latin typeface="Arial"/>
                        </a:rPr>
                        <a:t>Disbursement, Tax &amp; Statutory</a:t>
                      </a:r>
                    </a:p>
                  </a:txBody>
                  <a:tcPr marL="73152" marR="73152" marT="36576" marB="36576">
                    <a:solidFill>
                      <a:srgbClr val="FFFFFF"/>
                    </a:solidFill>
                  </a:tcPr>
                </a:tc>
              </a:tr>
              <a:tr h="365760">
                <a:tc>
                  <a:txBody>
                    <a:bodyPr/>
                    <a:lstStyle/>
                    <a:p>
                      <a:r>
                        <a:rPr sz="1000" b="0">
                          <a:solidFill>
                            <a:srgbClr val="4B4B4B"/>
                          </a:solidFill>
                          <a:latin typeface="Arial"/>
                        </a:rPr>
                        <a:t>Disbursement Approver</a:t>
                      </a:r>
                    </a:p>
                  </a:txBody>
                  <a:tcPr marL="73152" marR="73152" marT="36576" marB="36576">
                    <a:solidFill>
                      <a:srgbClr val="E5F5FF"/>
                    </a:solidFill>
                  </a:tcPr>
                </a:tc>
                <a:tc>
                  <a:txBody>
                    <a:bodyPr/>
                    <a:lstStyle/>
                    <a:p>
                      <a:r>
                        <a:rPr sz="1000" b="0">
                          <a:solidFill>
                            <a:srgbClr val="4B4B4B"/>
                          </a:solidFill>
                          <a:latin typeface="Arial"/>
                        </a:rPr>
                        <a:t>disbappr</a:t>
                      </a:r>
                    </a:p>
                  </a:txBody>
                  <a:tcPr marL="73152" marR="73152" marT="36576" marB="36576">
                    <a:solidFill>
                      <a:srgbClr val="E5F5FF"/>
                    </a:solidFill>
                  </a:tcPr>
                </a:tc>
                <a:tc>
                  <a:txBody>
                    <a:bodyPr/>
                    <a:lstStyle/>
                    <a:p>
                      <a:r>
                        <a:rPr sz="1000" b="0">
                          <a:solidFill>
                            <a:srgbClr val="4B4B4B"/>
                          </a:solidFill>
                          <a:latin typeface="Arial"/>
                        </a:rPr>
                        <a:t>20</a:t>
                      </a:r>
                    </a:p>
                  </a:txBody>
                  <a:tcPr marL="73152" marR="73152" marT="36576" marB="36576">
                    <a:solidFill>
                      <a:srgbClr val="E5F5FF"/>
                    </a:solidFill>
                  </a:tcPr>
                </a:tc>
                <a:tc>
                  <a:txBody>
                    <a:bodyPr/>
                    <a:lstStyle/>
                    <a:p>
                      <a:r>
                        <a:rPr sz="1000" b="0">
                          <a:solidFill>
                            <a:srgbClr val="4B4B4B"/>
                          </a:solidFill>
                          <a:latin typeface="Arial"/>
                        </a:rPr>
                        <a:t>Disbursement, Accounting Reports, General Ledger, Payables &amp; Cash, Assets &amp; Investments, Accounting Engine</a:t>
                      </a:r>
                    </a:p>
                  </a:txBody>
                  <a:tcPr marL="73152" marR="73152" marT="36576" marB="36576">
                    <a:solidFill>
                      <a:srgbClr val="E5F5FF"/>
                    </a:solidFill>
                  </a:tcPr>
                </a:tc>
              </a:tr>
              <a:tr h="365760">
                <a:tc>
                  <a:txBody>
                    <a:bodyPr/>
                    <a:lstStyle/>
                    <a:p>
                      <a:r>
                        <a:rPr sz="1000" b="0">
                          <a:solidFill>
                            <a:srgbClr val="4B4B4B"/>
                          </a:solidFill>
                          <a:latin typeface="Arial"/>
                        </a:rPr>
                        <a:t>Marketing Processor (AO)</a:t>
                      </a:r>
                    </a:p>
                  </a:txBody>
                  <a:tcPr marL="73152" marR="73152" marT="36576" marB="36576">
                    <a:solidFill>
                      <a:srgbClr val="FFFFFF"/>
                    </a:solidFill>
                  </a:tcPr>
                </a:tc>
                <a:tc>
                  <a:txBody>
                    <a:bodyPr/>
                    <a:lstStyle/>
                    <a:p>
                      <a:r>
                        <a:rPr sz="1000" b="0">
                          <a:solidFill>
                            <a:srgbClr val="4B4B4B"/>
                          </a:solidFill>
                          <a:latin typeface="Arial"/>
                        </a:rPr>
                        <a:t>mktao</a:t>
                      </a:r>
                    </a:p>
                  </a:txBody>
                  <a:tcPr marL="73152" marR="73152" marT="36576" marB="36576">
                    <a:solidFill>
                      <a:srgbClr val="FFFFFF"/>
                    </a:solidFill>
                  </a:tcPr>
                </a:tc>
                <a:tc>
                  <a:txBody>
                    <a:bodyPr/>
                    <a:lstStyle/>
                    <a:p>
                      <a:r>
                        <a:rPr sz="1000" b="0">
                          <a:solidFill>
                            <a:srgbClr val="4B4B4B"/>
                          </a:solidFill>
                          <a:latin typeface="Arial"/>
                        </a:rPr>
                        <a:t>4</a:t>
                      </a:r>
                    </a:p>
                  </a:txBody>
                  <a:tcPr marL="73152" marR="73152" marT="36576" marB="36576">
                    <a:solidFill>
                      <a:srgbClr val="FFFFFF"/>
                    </a:solidFill>
                  </a:tcPr>
                </a:tc>
                <a:tc>
                  <a:txBody>
                    <a:bodyPr/>
                    <a:lstStyle/>
                    <a:p>
                      <a:r>
                        <a:rPr sz="1000" b="0">
                          <a:solidFill>
                            <a:srgbClr val="4B4B4B"/>
                          </a:solidFill>
                          <a:latin typeface="Arial"/>
                        </a:rPr>
                        <a:t>Refund &amp; Cash Advance Requests</a:t>
                      </a:r>
                    </a:p>
                  </a:txBody>
                  <a:tcPr marL="73152" marR="73152" marT="36576" marB="36576">
                    <a:solidFill>
                      <a:srgbClr val="FFFFFF"/>
                    </a:solidFill>
                  </a:tcPr>
                </a:tc>
              </a:tr>
              <a:tr h="365760">
                <a:tc>
                  <a:txBody>
                    <a:bodyPr/>
                    <a:lstStyle/>
                    <a:p>
                      <a:r>
                        <a:rPr sz="1000" b="0">
                          <a:solidFill>
                            <a:srgbClr val="4B4B4B"/>
                          </a:solidFill>
                          <a:latin typeface="Arial"/>
                        </a:rPr>
                        <a:t>Marketing Reviewer</a:t>
                      </a:r>
                    </a:p>
                  </a:txBody>
                  <a:tcPr marL="73152" marR="73152" marT="36576" marB="36576">
                    <a:solidFill>
                      <a:srgbClr val="E5F5FF"/>
                    </a:solidFill>
                  </a:tcPr>
                </a:tc>
                <a:tc>
                  <a:txBody>
                    <a:bodyPr/>
                    <a:lstStyle/>
                    <a:p>
                      <a:r>
                        <a:rPr sz="1000" b="0">
                          <a:solidFill>
                            <a:srgbClr val="4B4B4B"/>
                          </a:solidFill>
                          <a:latin typeface="Arial"/>
                        </a:rPr>
                        <a:t>mktrev</a:t>
                      </a:r>
                    </a:p>
                  </a:txBody>
                  <a:tcPr marL="73152" marR="73152" marT="36576" marB="36576">
                    <a:solidFill>
                      <a:srgbClr val="E5F5FF"/>
                    </a:solidFill>
                  </a:tcPr>
                </a:tc>
                <a:tc>
                  <a:txBody>
                    <a:bodyPr/>
                    <a:lstStyle/>
                    <a:p>
                      <a:r>
                        <a:rPr sz="1000" b="0">
                          <a:solidFill>
                            <a:srgbClr val="4B4B4B"/>
                          </a:solidFill>
                          <a:latin typeface="Arial"/>
                        </a:rPr>
                        <a:t>5</a:t>
                      </a:r>
                    </a:p>
                  </a:txBody>
                  <a:tcPr marL="73152" marR="73152" marT="36576" marB="36576">
                    <a:solidFill>
                      <a:srgbClr val="E5F5FF"/>
                    </a:solidFill>
                  </a:tcPr>
                </a:tc>
                <a:tc>
                  <a:txBody>
                    <a:bodyPr/>
                    <a:lstStyle/>
                    <a:p>
                      <a:r>
                        <a:rPr sz="1000" b="0">
                          <a:solidFill>
                            <a:srgbClr val="4B4B4B"/>
                          </a:solidFill>
                          <a:latin typeface="Arial"/>
                        </a:rPr>
                        <a:t>Refund &amp; Cash Advance Requests</a:t>
                      </a:r>
                    </a:p>
                  </a:txBody>
                  <a:tcPr marL="73152" marR="73152" marT="36576" marB="36576">
                    <a:solidFill>
                      <a:srgbClr val="E5F5FF"/>
                    </a:solidFill>
                  </a:tcPr>
                </a:tc>
              </a:tr>
              <a:tr h="365760">
                <a:tc>
                  <a:txBody>
                    <a:bodyPr/>
                    <a:lstStyle/>
                    <a:p>
                      <a:r>
                        <a:rPr sz="1000" b="0">
                          <a:solidFill>
                            <a:srgbClr val="4B4B4B"/>
                          </a:solidFill>
                          <a:latin typeface="Arial"/>
                        </a:rPr>
                        <a:t>Marketing Approver</a:t>
                      </a:r>
                    </a:p>
                  </a:txBody>
                  <a:tcPr marL="73152" marR="73152" marT="36576" marB="36576">
                    <a:solidFill>
                      <a:srgbClr val="FFFFFF"/>
                    </a:solidFill>
                  </a:tcPr>
                </a:tc>
                <a:tc>
                  <a:txBody>
                    <a:bodyPr/>
                    <a:lstStyle/>
                    <a:p>
                      <a:r>
                        <a:rPr sz="1000" b="0">
                          <a:solidFill>
                            <a:srgbClr val="4B4B4B"/>
                          </a:solidFill>
                          <a:latin typeface="Arial"/>
                        </a:rPr>
                        <a:t>mktappr</a:t>
                      </a:r>
                    </a:p>
                  </a:txBody>
                  <a:tcPr marL="73152" marR="73152" marT="36576" marB="36576">
                    <a:solidFill>
                      <a:srgbClr val="FFFFFF"/>
                    </a:solidFill>
                  </a:tcPr>
                </a:tc>
                <a:tc>
                  <a:txBody>
                    <a:bodyPr/>
                    <a:lstStyle/>
                    <a:p>
                      <a:r>
                        <a:rPr sz="1000" b="0">
                          <a:solidFill>
                            <a:srgbClr val="4B4B4B"/>
                          </a:solidFill>
                          <a:latin typeface="Arial"/>
                        </a:rPr>
                        <a:t>1</a:t>
                      </a:r>
                    </a:p>
                  </a:txBody>
                  <a:tcPr marL="73152" marR="73152" marT="36576" marB="36576">
                    <a:solidFill>
                      <a:srgbClr val="FFFFFF"/>
                    </a:solidFill>
                  </a:tcPr>
                </a:tc>
                <a:tc>
                  <a:txBody>
                    <a:bodyPr/>
                    <a:lstStyle/>
                    <a:p>
                      <a:r>
                        <a:rPr sz="1000" b="0">
                          <a:solidFill>
                            <a:srgbClr val="4B4B4B"/>
                          </a:solidFill>
                          <a:latin typeface="Arial"/>
                        </a:rPr>
                        <a:t>Refund &amp; Cash Advance Requests</a:t>
                      </a:r>
                    </a:p>
                  </a:txBody>
                  <a:tcPr marL="73152" marR="73152" marT="36576" marB="36576">
                    <a:solidFill>
                      <a:srgbClr val="FFFFFF"/>
                    </a:solidFill>
                  </a:tcPr>
                </a:tc>
              </a:tr>
              <a:tr h="365760">
                <a:tc>
                  <a:txBody>
                    <a:bodyPr/>
                    <a:lstStyle/>
                    <a:p>
                      <a:r>
                        <a:rPr sz="1000" b="0">
                          <a:solidFill>
                            <a:srgbClr val="4B4B4B"/>
                          </a:solidFill>
                          <a:latin typeface="Arial"/>
                        </a:rPr>
                        <a:t>Human Resources Approver</a:t>
                      </a:r>
                    </a:p>
                  </a:txBody>
                  <a:tcPr marL="73152" marR="73152" marT="36576" marB="36576">
                    <a:solidFill>
                      <a:srgbClr val="E5F5FF"/>
                    </a:solidFill>
                  </a:tcPr>
                </a:tc>
                <a:tc>
                  <a:txBody>
                    <a:bodyPr/>
                    <a:lstStyle/>
                    <a:p>
                      <a:r>
                        <a:rPr sz="1000" b="0">
                          <a:solidFill>
                            <a:srgbClr val="4B4B4B"/>
                          </a:solidFill>
                          <a:latin typeface="Arial"/>
                        </a:rPr>
                        <a:t>hrappr</a:t>
                      </a:r>
                    </a:p>
                  </a:txBody>
                  <a:tcPr marL="73152" marR="73152" marT="36576" marB="36576">
                    <a:solidFill>
                      <a:srgbClr val="E5F5FF"/>
                    </a:solidFill>
                  </a:tcPr>
                </a:tc>
                <a:tc>
                  <a:txBody>
                    <a:bodyPr/>
                    <a:lstStyle/>
                    <a:p>
                      <a:r>
                        <a:rPr sz="1000" b="0">
                          <a:solidFill>
                            <a:srgbClr val="4B4B4B"/>
                          </a:solidFill>
                          <a:latin typeface="Arial"/>
                        </a:rPr>
                        <a:t>1</a:t>
                      </a:r>
                    </a:p>
                  </a:txBody>
                  <a:tcPr marL="73152" marR="73152" marT="36576" marB="36576">
                    <a:solidFill>
                      <a:srgbClr val="E5F5FF"/>
                    </a:solidFill>
                  </a:tcPr>
                </a:tc>
                <a:tc>
                  <a:txBody>
                    <a:bodyPr/>
                    <a:lstStyle/>
                    <a:p>
                      <a:r>
                        <a:rPr sz="1000" b="0">
                          <a:solidFill>
                            <a:srgbClr val="4B4B4B"/>
                          </a:solidFill>
                          <a:latin typeface="Arial"/>
                        </a:rPr>
                        <a:t>Refund &amp; Cash Advance Requests</a:t>
                      </a:r>
                    </a:p>
                  </a:txBody>
                  <a:tcPr marL="73152" marR="73152" marT="36576" marB="36576">
                    <a:solidFill>
                      <a:srgbClr val="E5F5FF"/>
                    </a:solidFill>
                  </a:tcPr>
                </a:tc>
              </a:tr>
              <a:tr h="365760">
                <a:tc>
                  <a:txBody>
                    <a:bodyPr/>
                    <a:lstStyle/>
                    <a:p>
                      <a:r>
                        <a:rPr sz="1000" b="0">
                          <a:solidFill>
                            <a:srgbClr val="4B4B4B"/>
                          </a:solidFill>
                          <a:latin typeface="Arial"/>
                        </a:rPr>
                        <a:t>ACSL Processor</a:t>
                      </a:r>
                    </a:p>
                  </a:txBody>
                  <a:tcPr marL="73152" marR="73152" marT="36576" marB="36576">
                    <a:solidFill>
                      <a:srgbClr val="FFFFFF"/>
                    </a:solidFill>
                  </a:tcPr>
                </a:tc>
                <a:tc>
                  <a:txBody>
                    <a:bodyPr/>
                    <a:lstStyle/>
                    <a:p>
                      <a:r>
                        <a:rPr sz="1000" b="0">
                          <a:solidFill>
                            <a:srgbClr val="4B4B4B"/>
                          </a:solidFill>
                          <a:latin typeface="Arial"/>
                        </a:rPr>
                        <a:t>acsl</a:t>
                      </a:r>
                    </a:p>
                  </a:txBody>
                  <a:tcPr marL="73152" marR="73152" marT="36576" marB="36576">
                    <a:solidFill>
                      <a:srgbClr val="FFFFFF"/>
                    </a:solidFill>
                  </a:tcPr>
                </a:tc>
                <a:tc>
                  <a:txBody>
                    <a:bodyPr/>
                    <a:lstStyle/>
                    <a:p>
                      <a:r>
                        <a:rPr sz="1000" b="0">
                          <a:solidFill>
                            <a:srgbClr val="4B4B4B"/>
                          </a:solidFill>
                          <a:latin typeface="Arial"/>
                        </a:rPr>
                        <a:t>16</a:t>
                      </a:r>
                    </a:p>
                  </a:txBody>
                  <a:tcPr marL="73152" marR="73152" marT="36576" marB="36576">
                    <a:solidFill>
                      <a:srgbClr val="FFFFFF"/>
                    </a:solidFill>
                  </a:tcPr>
                </a:tc>
                <a:tc>
                  <a:txBody>
                    <a:bodyPr/>
                    <a:lstStyle/>
                    <a:p>
                      <a:r>
                        <a:rPr sz="1000" b="0">
                          <a:solidFill>
                            <a:srgbClr val="4B4B4B"/>
                          </a:solidFill>
                          <a:latin typeface="Arial"/>
                        </a:rPr>
                        <a:t>ACSL, General Ledger, Receivables &amp; Banking, Payables &amp; Cash, Accounting Engine</a:t>
                      </a:r>
                    </a:p>
                  </a:txBody>
                  <a:tcPr marL="73152" marR="73152" marT="36576" marB="36576">
                    <a:solidFill>
                      <a:srgbClr val="FFFFFF"/>
                    </a:solidFill>
                  </a:tcPr>
                </a:tc>
              </a:tr>
              <a:tr h="365760">
                <a:tc>
                  <a:txBody>
                    <a:bodyPr/>
                    <a:lstStyle/>
                    <a:p>
                      <a:r>
                        <a:rPr sz="1000" b="0">
                          <a:solidFill>
                            <a:srgbClr val="4B4B4B"/>
                          </a:solidFill>
                          <a:latin typeface="Arial"/>
                        </a:rPr>
                        <a:t>ACSL Team Leader</a:t>
                      </a:r>
                    </a:p>
                  </a:txBody>
                  <a:tcPr marL="73152" marR="73152" marT="36576" marB="36576">
                    <a:solidFill>
                      <a:srgbClr val="E5F5FF"/>
                    </a:solidFill>
                  </a:tcPr>
                </a:tc>
                <a:tc>
                  <a:txBody>
                    <a:bodyPr/>
                    <a:lstStyle/>
                    <a:p>
                      <a:r>
                        <a:rPr sz="1000" b="0">
                          <a:solidFill>
                            <a:srgbClr val="4B4B4B"/>
                          </a:solidFill>
                          <a:latin typeface="Arial"/>
                        </a:rPr>
                        <a:t>acsltl</a:t>
                      </a:r>
                    </a:p>
                  </a:txBody>
                  <a:tcPr marL="73152" marR="73152" marT="36576" marB="36576">
                    <a:solidFill>
                      <a:srgbClr val="E5F5FF"/>
                    </a:solidFill>
                  </a:tcPr>
                </a:tc>
                <a:tc>
                  <a:txBody>
                    <a:bodyPr/>
                    <a:lstStyle/>
                    <a:p>
                      <a:r>
                        <a:rPr sz="1000" b="0">
                          <a:solidFill>
                            <a:srgbClr val="4B4B4B"/>
                          </a:solidFill>
                          <a:latin typeface="Arial"/>
                        </a:rPr>
                        <a:t>16</a:t>
                      </a:r>
                    </a:p>
                  </a:txBody>
                  <a:tcPr marL="73152" marR="73152" marT="36576" marB="36576">
                    <a:solidFill>
                      <a:srgbClr val="E5F5FF"/>
                    </a:solidFill>
                  </a:tcPr>
                </a:tc>
                <a:tc>
                  <a:txBody>
                    <a:bodyPr/>
                    <a:lstStyle/>
                    <a:p>
                      <a:r>
                        <a:rPr sz="1000" b="0">
                          <a:solidFill>
                            <a:srgbClr val="4B4B4B"/>
                          </a:solidFill>
                          <a:latin typeface="Arial"/>
                        </a:rPr>
                        <a:t>ACSL, General Ledger, Receivables &amp; Banking, Payables &amp; Cash, Accounting Engine</a:t>
                      </a:r>
                    </a:p>
                  </a:txBody>
                  <a:tcPr marL="73152" marR="73152" marT="36576" marB="36576">
                    <a:solidFill>
                      <a:srgbClr val="E5F5FF"/>
                    </a:solidFill>
                  </a:tcPr>
                </a:tc>
              </a:tr>
              <a:tr h="365760">
                <a:tc>
                  <a:txBody>
                    <a:bodyPr/>
                    <a:lstStyle/>
                    <a:p>
                      <a:r>
                        <a:rPr sz="1000" b="0">
                          <a:solidFill>
                            <a:srgbClr val="4B4B4B"/>
                          </a:solidFill>
                          <a:latin typeface="Arial"/>
                        </a:rPr>
                        <a:t>ACSL Head (approver)</a:t>
                      </a:r>
                    </a:p>
                  </a:txBody>
                  <a:tcPr marL="73152" marR="73152" marT="36576" marB="36576">
                    <a:solidFill>
                      <a:srgbClr val="FFFFFF"/>
                    </a:solidFill>
                  </a:tcPr>
                </a:tc>
                <a:tc>
                  <a:txBody>
                    <a:bodyPr/>
                    <a:lstStyle/>
                    <a:p>
                      <a:r>
                        <a:rPr sz="1000" b="0">
                          <a:solidFill>
                            <a:srgbClr val="4B4B4B"/>
                          </a:solidFill>
                          <a:latin typeface="Arial"/>
                        </a:rPr>
                        <a:t>acslhead</a:t>
                      </a:r>
                    </a:p>
                  </a:txBody>
                  <a:tcPr marL="73152" marR="73152" marT="36576" marB="36576">
                    <a:solidFill>
                      <a:srgbClr val="FFFFFF"/>
                    </a:solidFill>
                  </a:tcPr>
                </a:tc>
                <a:tc>
                  <a:txBody>
                    <a:bodyPr/>
                    <a:lstStyle/>
                    <a:p>
                      <a:r>
                        <a:rPr sz="1000" b="0">
                          <a:solidFill>
                            <a:srgbClr val="4B4B4B"/>
                          </a:solidFill>
                          <a:latin typeface="Arial"/>
                        </a:rPr>
                        <a:t>16</a:t>
                      </a:r>
                    </a:p>
                  </a:txBody>
                  <a:tcPr marL="73152" marR="73152" marT="36576" marB="36576">
                    <a:solidFill>
                      <a:srgbClr val="FFFFFF"/>
                    </a:solidFill>
                  </a:tcPr>
                </a:tc>
                <a:tc>
                  <a:txBody>
                    <a:bodyPr/>
                    <a:lstStyle/>
                    <a:p>
                      <a:r>
                        <a:rPr sz="1000" b="0">
                          <a:solidFill>
                            <a:srgbClr val="4B4B4B"/>
                          </a:solidFill>
                          <a:latin typeface="Arial"/>
                        </a:rPr>
                        <a:t>ACSL, General Ledger, Receivables &amp; Banking, Payables &amp; Cash, Accounting Engine</a:t>
                      </a:r>
                    </a:p>
                  </a:txBody>
                  <a:tcPr marL="73152" marR="73152" marT="36576" marB="36576">
                    <a:solidFill>
                      <a:srgbClr val="FFFFFF"/>
                    </a:solidFill>
                  </a:tcPr>
                </a:tc>
              </a:tr>
              <a:tr h="365760">
                <a:tc>
                  <a:txBody>
                    <a:bodyPr/>
                    <a:lstStyle/>
                    <a:p>
                      <a:r>
                        <a:rPr sz="1000" b="0">
                          <a:solidFill>
                            <a:srgbClr val="4B4B4B"/>
                          </a:solidFill>
                          <a:latin typeface="Arial"/>
                        </a:rPr>
                        <a:t>Comptrollership (read access)</a:t>
                      </a:r>
                    </a:p>
                  </a:txBody>
                  <a:tcPr marL="73152" marR="73152" marT="36576" marB="36576">
                    <a:solidFill>
                      <a:srgbClr val="E5F5FF"/>
                    </a:solidFill>
                  </a:tcPr>
                </a:tc>
                <a:tc>
                  <a:txBody>
                    <a:bodyPr/>
                    <a:lstStyle/>
                    <a:p>
                      <a:r>
                        <a:rPr sz="1000" b="0">
                          <a:solidFill>
                            <a:srgbClr val="4B4B4B"/>
                          </a:solidFill>
                          <a:latin typeface="Arial"/>
                        </a:rPr>
                        <a:t>comptrol</a:t>
                      </a:r>
                    </a:p>
                  </a:txBody>
                  <a:tcPr marL="73152" marR="73152" marT="36576" marB="36576">
                    <a:solidFill>
                      <a:srgbClr val="E5F5FF"/>
                    </a:solidFill>
                  </a:tcPr>
                </a:tc>
                <a:tc>
                  <a:txBody>
                    <a:bodyPr/>
                    <a:lstStyle/>
                    <a:p>
                      <a:r>
                        <a:rPr sz="1000" b="0">
                          <a:solidFill>
                            <a:srgbClr val="4B4B4B"/>
                          </a:solidFill>
                          <a:latin typeface="Arial"/>
                        </a:rPr>
                        <a:t>26</a:t>
                      </a:r>
                    </a:p>
                  </a:txBody>
                  <a:tcPr marL="73152" marR="73152" marT="36576" marB="36576">
                    <a:solidFill>
                      <a:srgbClr val="E5F5FF"/>
                    </a:solidFill>
                  </a:tcPr>
                </a:tc>
                <a:tc>
                  <a:txBody>
                    <a:bodyPr/>
                    <a:lstStyle/>
                    <a:p>
                      <a:r>
                        <a:rPr sz="1000" b="0">
                          <a:solidFill>
                            <a:srgbClr val="4B4B4B"/>
                          </a:solidFill>
                          <a:latin typeface="Arial"/>
                        </a:rPr>
                        <a:t>Disbursement, ACSL, Accounting Reports, General Ledger, Receivables &amp; Banking, Payables &amp; Cash, Accounting Engine</a:t>
                      </a:r>
                    </a:p>
                  </a:txBody>
                  <a:tcPr marL="73152" marR="73152" marT="36576" marB="36576">
                    <a:solidFill>
                      <a:srgbClr val="E5F5FF"/>
                    </a:solidFill>
                  </a:tcPr>
                </a:tc>
              </a:tr>
              <a:tr h="365760">
                <a:tc>
                  <a:txBody>
                    <a:bodyPr/>
                    <a:lstStyle/>
                    <a:p>
                      <a:r>
                        <a:rPr sz="1000" b="0">
                          <a:solidFill>
                            <a:srgbClr val="4B4B4B"/>
                          </a:solidFill>
                          <a:latin typeface="Arial"/>
                        </a:rPr>
                        <a:t>Business Administrator</a:t>
                      </a:r>
                    </a:p>
                  </a:txBody>
                  <a:tcPr marL="73152" marR="73152" marT="36576" marB="36576">
                    <a:solidFill>
                      <a:srgbClr val="FFFFFF"/>
                    </a:solidFill>
                  </a:tcPr>
                </a:tc>
                <a:tc>
                  <a:txBody>
                    <a:bodyPr/>
                    <a:lstStyle/>
                    <a:p>
                      <a:r>
                        <a:rPr sz="1000" b="0">
                          <a:solidFill>
                            <a:srgbClr val="4B4B4B"/>
                          </a:solidFill>
                          <a:latin typeface="Arial"/>
                        </a:rPr>
                        <a:t>badmin</a:t>
                      </a:r>
                    </a:p>
                  </a:txBody>
                  <a:tcPr marL="73152" marR="73152" marT="36576" marB="36576">
                    <a:solidFill>
                      <a:srgbClr val="FFFFFF"/>
                    </a:solidFill>
                  </a:tcPr>
                </a:tc>
                <a:tc>
                  <a:txBody>
                    <a:bodyPr/>
                    <a:lstStyle/>
                    <a:p>
                      <a:r>
                        <a:rPr sz="1000" b="0">
                          <a:solidFill>
                            <a:srgbClr val="4B4B4B"/>
                          </a:solidFill>
                          <a:latin typeface="Arial"/>
                        </a:rPr>
                        <a:t>14</a:t>
                      </a:r>
                    </a:p>
                  </a:txBody>
                  <a:tcPr marL="73152" marR="73152" marT="36576" marB="36576">
                    <a:solidFill>
                      <a:srgbClr val="FFFFFF"/>
                    </a:solidFill>
                  </a:tcPr>
                </a:tc>
                <a:tc>
                  <a:txBody>
                    <a:bodyPr/>
                    <a:lstStyle/>
                    <a:p>
                      <a:r>
                        <a:rPr sz="1000" b="0">
                          <a:solidFill>
                            <a:srgbClr val="4B4B4B"/>
                          </a:solidFill>
                          <a:latin typeface="Arial"/>
                        </a:rPr>
                        <a:t>Accounting Reports, General Ledger, Payables &amp; Cash, Assets &amp; Investments, Accounting Engine</a:t>
                      </a:r>
                    </a:p>
                  </a:txBody>
                  <a:tcPr marL="73152" marR="73152" marT="36576" marB="36576">
                    <a:solidFill>
                      <a:srgbClr val="FFFFFF"/>
                    </a:solidFill>
                  </a:tcPr>
                </a:tc>
              </a:tr>
              <a:tr h="365760">
                <a:tc>
                  <a:txBody>
                    <a:bodyPr/>
                    <a:lstStyle/>
                    <a:p>
                      <a:r>
                        <a:rPr sz="1000" b="0">
                          <a:solidFill>
                            <a:srgbClr val="4B4B4B"/>
                          </a:solidFill>
                          <a:latin typeface="Arial"/>
                        </a:rPr>
                        <a:t>System Administrator</a:t>
                      </a:r>
                    </a:p>
                  </a:txBody>
                  <a:tcPr marL="73152" marR="73152" marT="36576" marB="36576">
                    <a:solidFill>
                      <a:srgbClr val="E5F5FF"/>
                    </a:solidFill>
                  </a:tcPr>
                </a:tc>
                <a:tc>
                  <a:txBody>
                    <a:bodyPr/>
                    <a:lstStyle/>
                    <a:p>
                      <a:r>
                        <a:rPr sz="1000" b="0">
                          <a:solidFill>
                            <a:srgbClr val="4B4B4B"/>
                          </a:solidFill>
                          <a:latin typeface="Arial"/>
                        </a:rPr>
                        <a:t>admin</a:t>
                      </a:r>
                    </a:p>
                  </a:txBody>
                  <a:tcPr marL="73152" marR="73152" marT="36576" marB="36576">
                    <a:solidFill>
                      <a:srgbClr val="E5F5FF"/>
                    </a:solidFill>
                  </a:tcPr>
                </a:tc>
                <a:tc>
                  <a:txBody>
                    <a:bodyPr/>
                    <a:lstStyle/>
                    <a:p>
                      <a:r>
                        <a:rPr sz="1000" b="0">
                          <a:solidFill>
                            <a:srgbClr val="4B4B4B"/>
                          </a:solidFill>
                          <a:latin typeface="Arial"/>
                        </a:rPr>
                        <a:t>28</a:t>
                      </a:r>
                    </a:p>
                  </a:txBody>
                  <a:tcPr marL="73152" marR="73152" marT="36576" marB="36576">
                    <a:solidFill>
                      <a:srgbClr val="E5F5FF"/>
                    </a:solidFill>
                  </a:tcPr>
                </a:tc>
                <a:tc>
                  <a:txBody>
                    <a:bodyPr/>
                    <a:lstStyle/>
                    <a:p>
                      <a:r>
                        <a:rPr sz="1000" b="0">
                          <a:solidFill>
                            <a:srgbClr val="4B4B4B"/>
                          </a:solidFill>
                          <a:latin typeface="Arial"/>
                        </a:rPr>
                        <a:t>Disbursement, Refund &amp; Cash Advance Requests, ACSL, Accounting Reports, General Ledger, Payables &amp; Cash, Assets &amp; Investments, Accounting Engine</a:t>
                      </a:r>
                    </a:p>
                  </a:txBody>
                  <a:tcPr marL="73152" marR="73152" marT="36576" marB="36576">
                    <a:solidFill>
                      <a:srgbClr val="E5F5FF"/>
                    </a:solidFill>
                  </a:tcPr>
                </a:tc>
              </a:tr>
              <a:tr h="365760">
                <a:tc>
                  <a:txBody>
                    <a:bodyPr/>
                    <a:lstStyle/>
                    <a:p>
                      <a:r>
                        <a:rPr sz="1000" b="0">
                          <a:solidFill>
                            <a:srgbClr val="4B4B4B"/>
                          </a:solidFill>
                          <a:latin typeface="Arial"/>
                        </a:rPr>
                        <a:t>Auditor</a:t>
                      </a:r>
                    </a:p>
                  </a:txBody>
                  <a:tcPr marL="73152" marR="73152" marT="36576" marB="36576">
                    <a:solidFill>
                      <a:srgbClr val="FFFFFF"/>
                    </a:solidFill>
                  </a:tcPr>
                </a:tc>
                <a:tc>
                  <a:txBody>
                    <a:bodyPr/>
                    <a:lstStyle/>
                    <a:p>
                      <a:r>
                        <a:rPr sz="1000" b="0">
                          <a:solidFill>
                            <a:srgbClr val="4B4B4B"/>
                          </a:solidFill>
                          <a:latin typeface="Arial"/>
                        </a:rPr>
                        <a:t>auditor</a:t>
                      </a:r>
                    </a:p>
                  </a:txBody>
                  <a:tcPr marL="73152" marR="73152" marT="36576" marB="36576">
                    <a:solidFill>
                      <a:srgbClr val="FFFFFF"/>
                    </a:solidFill>
                  </a:tcPr>
                </a:tc>
                <a:tc>
                  <a:txBody>
                    <a:bodyPr/>
                    <a:lstStyle/>
                    <a:p>
                      <a:r>
                        <a:rPr sz="1000" b="0">
                          <a:solidFill>
                            <a:srgbClr val="4B4B4B"/>
                          </a:solidFill>
                          <a:latin typeface="Arial"/>
                        </a:rPr>
                        <a:t>55</a:t>
                      </a:r>
                    </a:p>
                  </a:txBody>
                  <a:tcPr marL="73152" marR="73152" marT="36576" marB="36576">
                    <a:solidFill>
                      <a:srgbClr val="FFFFFF"/>
                    </a:solidFill>
                  </a:tcPr>
                </a:tc>
                <a:tc>
                  <a:txBody>
                    <a:bodyPr/>
                    <a:lstStyle/>
                    <a:p>
                      <a:r>
                        <a:rPr sz="1000" b="0">
                          <a:solidFill>
                            <a:srgbClr val="4B4B4B"/>
                          </a:solidFill>
                          <a:latin typeface="Arial"/>
                        </a:rPr>
                        <a:t>Disbursement, Refund &amp; Cash Advance Requests, ACSL, Accounting Reports, General Ledger, Receivables &amp; Banking, Payables &amp; Cash, Assets &amp; Investments, Planning &amp; Closing, Tax &amp; Statutory, Accounting Engine</a:t>
                      </a:r>
                    </a:p>
                  </a:txBody>
                  <a:tcPr marL="73152" marR="73152" marT="36576" marB="36576">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Accounting Disbursement ACSL at a glance: key screens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a:t>
            </a:r>
          </a:p>
        </p:txBody>
      </p:sp>
      <p:pic>
        <p:nvPicPr>
          <p:cNvPr id="9" name="Picture 8" descr="wt-a-03.png"/>
          <p:cNvPicPr>
            <a:picLocks noChangeAspect="1"/>
          </p:cNvPicPr>
          <p:nvPr/>
        </p:nvPicPr>
        <p:blipFill>
          <a:blip r:embed="rId3"/>
          <a:stretch>
            <a:fillRect/>
          </a:stretch>
        </p:blipFill>
        <p:spPr>
          <a:xfrm>
            <a:off x="1620011" y="1325880"/>
            <a:ext cx="3267305" cy="1874520"/>
          </a:xfrm>
          <a:prstGeom prst="rect">
            <a:avLst/>
          </a:prstGeom>
          <a:ln w="9525">
            <a:solidFill>
              <a:srgbClr val="C2C2C1"/>
            </a:solidFill>
          </a:ln>
        </p:spPr>
      </p:pic>
      <p:sp>
        <p:nvSpPr>
          <p:cNvPr id="10" name="TextBox 9"/>
          <p:cNvSpPr txBox="1"/>
          <p:nvPr/>
        </p:nvSpPr>
        <p:spPr>
          <a:xfrm>
            <a:off x="548640" y="3200400"/>
            <a:ext cx="5410047" cy="274320"/>
          </a:xfrm>
          <a:prstGeom prst="rect">
            <a:avLst/>
          </a:prstGeom>
          <a:noFill/>
        </p:spPr>
        <p:txBody>
          <a:bodyPr wrap="square" anchor="t" lIns="45720" rIns="45720">
            <a:spAutoFit/>
          </a:bodyPr>
          <a:lstStyle/>
          <a:p>
            <a:pPr algn="ctr"/>
            <a:r>
              <a:rPr sz="1100" b="0" i="1">
                <a:solidFill>
                  <a:srgbClr val="656565"/>
                </a:solidFill>
                <a:latin typeface="Arial"/>
              </a:rPr>
              <a:t>Journals: the accrual posted from the list of the journals assigned</a:t>
            </a:r>
          </a:p>
        </p:txBody>
      </p:sp>
      <p:pic>
        <p:nvPicPr>
          <p:cNvPr id="11" name="Picture 10" descr="wt-b-06.png"/>
          <p:cNvPicPr>
            <a:picLocks noChangeAspect="1"/>
          </p:cNvPicPr>
          <p:nvPr/>
        </p:nvPicPr>
        <p:blipFill>
          <a:blip r:embed="rId4"/>
          <a:stretch>
            <a:fillRect/>
          </a:stretch>
        </p:blipFill>
        <p:spPr>
          <a:xfrm>
            <a:off x="7643719" y="1325880"/>
            <a:ext cx="2588622" cy="1874520"/>
          </a:xfrm>
          <a:prstGeom prst="rect">
            <a:avLst/>
          </a:prstGeom>
          <a:ln w="9525">
            <a:solidFill>
              <a:srgbClr val="C2C2C1"/>
            </a:solidFill>
          </a:ln>
        </p:spPr>
      </p:pic>
      <p:sp>
        <p:nvSpPr>
          <p:cNvPr id="12" name="TextBox 11"/>
          <p:cNvSpPr txBox="1"/>
          <p:nvPr/>
        </p:nvSpPr>
        <p:spPr>
          <a:xfrm>
            <a:off x="6233007" y="3200400"/>
            <a:ext cx="5410047" cy="274320"/>
          </a:xfrm>
          <a:prstGeom prst="rect">
            <a:avLst/>
          </a:prstGeom>
          <a:noFill/>
        </p:spPr>
        <p:txBody>
          <a:bodyPr wrap="square" anchor="t" lIns="45720" rIns="45720">
            <a:spAutoFit/>
          </a:bodyPr>
          <a:lstStyle/>
          <a:p>
            <a:pPr algn="ctr"/>
            <a:r>
              <a:rPr sz="1100" b="0" i="1">
                <a:solidFill>
                  <a:srgbClr val="656565"/>
                </a:solidFill>
                <a:latin typeface="Arial"/>
              </a:rPr>
              <a:t>A refund voucher routed to the approver with its entry</a:t>
            </a:r>
          </a:p>
        </p:txBody>
      </p:sp>
      <p:pic>
        <p:nvPicPr>
          <p:cNvPr id="13" name="Picture 12" descr="wt-c-02.png"/>
          <p:cNvPicPr>
            <a:picLocks noChangeAspect="1"/>
          </p:cNvPicPr>
          <p:nvPr/>
        </p:nvPicPr>
        <p:blipFill>
          <a:blip r:embed="rId5"/>
          <a:stretch>
            <a:fillRect/>
          </a:stretch>
        </p:blipFill>
        <p:spPr>
          <a:xfrm>
            <a:off x="1894539" y="3566160"/>
            <a:ext cx="2718248" cy="1874520"/>
          </a:xfrm>
          <a:prstGeom prst="rect">
            <a:avLst/>
          </a:prstGeom>
          <a:ln w="9525">
            <a:solidFill>
              <a:srgbClr val="C2C2C1"/>
            </a:solidFill>
          </a:ln>
        </p:spPr>
      </p:pic>
      <p:sp>
        <p:nvSpPr>
          <p:cNvPr id="14" name="TextBox 13"/>
          <p:cNvSpPr txBox="1"/>
          <p:nvPr/>
        </p:nvSpPr>
        <p:spPr>
          <a:xfrm>
            <a:off x="548640" y="5440680"/>
            <a:ext cx="5410047" cy="274320"/>
          </a:xfrm>
          <a:prstGeom prst="rect">
            <a:avLst/>
          </a:prstGeom>
          <a:noFill/>
        </p:spPr>
        <p:txBody>
          <a:bodyPr wrap="square" anchor="t" lIns="45720" rIns="45720">
            <a:spAutoFit/>
          </a:bodyPr>
          <a:lstStyle/>
          <a:p>
            <a:pPr algn="ctr"/>
            <a:r>
              <a:rPr sz="1100" b="0" i="1">
                <a:solidFill>
                  <a:srgbClr val="656565"/>
                </a:solidFill>
                <a:latin typeface="Arial"/>
              </a:rPr>
              <a:t>An insurer statement reconciled line by line with the books</a:t>
            </a:r>
          </a:p>
        </p:txBody>
      </p:sp>
      <p:pic>
        <p:nvPicPr>
          <p:cNvPr id="15" name="Picture 14" descr="wt-c-07.png"/>
          <p:cNvPicPr>
            <a:picLocks noChangeAspect="1"/>
          </p:cNvPicPr>
          <p:nvPr/>
        </p:nvPicPr>
        <p:blipFill>
          <a:blip r:embed="rId6"/>
          <a:stretch>
            <a:fillRect/>
          </a:stretch>
        </p:blipFill>
        <p:spPr>
          <a:xfrm>
            <a:off x="8298965" y="3566160"/>
            <a:ext cx="1278131" cy="1874520"/>
          </a:xfrm>
          <a:prstGeom prst="rect">
            <a:avLst/>
          </a:prstGeom>
          <a:ln w="9525">
            <a:solidFill>
              <a:srgbClr val="C2C2C1"/>
            </a:solidFill>
          </a:ln>
        </p:spPr>
      </p:pic>
      <p:sp>
        <p:nvSpPr>
          <p:cNvPr id="16" name="TextBox 15"/>
          <p:cNvSpPr txBox="1"/>
          <p:nvPr/>
        </p:nvSpPr>
        <p:spPr>
          <a:xfrm>
            <a:off x="6233007" y="5440680"/>
            <a:ext cx="5410047" cy="274320"/>
          </a:xfrm>
          <a:prstGeom prst="rect">
            <a:avLst/>
          </a:prstGeom>
          <a:noFill/>
        </p:spPr>
        <p:txBody>
          <a:bodyPr wrap="square" anchor="t" lIns="45720" rIns="45720">
            <a:spAutoFit/>
          </a:bodyPr>
          <a:lstStyle/>
          <a:p>
            <a:pPr algn="ctr"/>
            <a:r>
              <a:rPr sz="1100" b="0" i="1">
                <a:solidFill>
                  <a:srgbClr val="656565"/>
                </a:solidFill>
                <a:latin typeface="Arial"/>
              </a:rPr>
              <a:t>A correction entry with the reversal and the re-post of a wrong line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Key business rules and validations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400">
                <a:solidFill>
                  <a:srgbClr val="004EA8"/>
                </a:solidFill>
                <a:latin typeface="Arial"/>
              </a:rPr>
              <a:t>•  </a:t>
            </a:r>
            <a:r>
              <a:rPr sz="1400">
                <a:solidFill>
                  <a:srgbClr val="4B4B4B"/>
                </a:solidFill>
                <a:latin typeface="Arial"/>
              </a:rPr>
              <a:t>Every amount posts through the accounting rules of its business event; a journal posts only when it balances, and posted entries are reversed, never changed.</a:t>
            </a:r>
          </a:p>
          <a:p>
            <a:pPr>
              <a:spcAft>
                <a:spcPts val="600"/>
              </a:spcAft>
            </a:pPr>
            <a:r>
              <a:rPr sz="1400">
                <a:solidFill>
                  <a:srgbClr val="004EA8"/>
                </a:solidFill>
                <a:latin typeface="Arial"/>
              </a:rPr>
              <a:t>•  </a:t>
            </a:r>
            <a:r>
              <a:rPr sz="1400">
                <a:solidFill>
                  <a:srgbClr val="4B4B4B"/>
                </a:solidFill>
                <a:latin typeface="Arial"/>
              </a:rPr>
              <a:t>Four eyes everywhere: journals, vouchers, payees, bank accounts, fundings, corrections and service-fee runs are approved by another user than their maker; a funding needs a verifier and two approvers.</a:t>
            </a:r>
          </a:p>
          <a:p>
            <a:pPr>
              <a:spcAft>
                <a:spcPts val="600"/>
              </a:spcAft>
            </a:pPr>
            <a:r>
              <a:rPr sz="1400">
                <a:solidFill>
                  <a:srgbClr val="004EA8"/>
                </a:solidFill>
                <a:latin typeface="Arial"/>
              </a:rPr>
              <a:t>•  </a:t>
            </a:r>
            <a:r>
              <a:rPr sz="1400">
                <a:solidFill>
                  <a:srgbClr val="4B4B4B"/>
                </a:solidFill>
                <a:latin typeface="Arial"/>
              </a:rPr>
              <a:t>Accruals reverse themselves on their reversal date; the broking books close at month end and the GL month closes on the date the GL Team Lead schedules.</a:t>
            </a:r>
          </a:p>
          <a:p>
            <a:pPr>
              <a:spcAft>
                <a:spcPts val="600"/>
              </a:spcAft>
            </a:pPr>
            <a:r>
              <a:rPr sz="1400">
                <a:solidFill>
                  <a:srgbClr val="004EA8"/>
                </a:solidFill>
                <a:latin typeface="Arial"/>
              </a:rPr>
              <a:t>•  </a:t>
            </a:r>
            <a:r>
              <a:rPr sz="1400">
                <a:solidFill>
                  <a:srgbClr val="4B4B4B"/>
                </a:solidFill>
                <a:latin typeface="Arial"/>
              </a:rPr>
              <a:t>Disbursement pays what the units request: each request becomes a voucher with its proforma entry; refunds and remittances go straight to the approver; approval posts the entry and issues the instrument of the mode.</a:t>
            </a:r>
          </a:p>
          <a:p>
            <a:pPr>
              <a:spcAft>
                <a:spcPts val="600"/>
              </a:spcAft>
            </a:pPr>
            <a:r>
              <a:rPr sz="1400">
                <a:solidFill>
                  <a:srgbClr val="004EA8"/>
                </a:solidFill>
                <a:latin typeface="Arial"/>
              </a:rPr>
              <a:t>•  </a:t>
            </a:r>
            <a:r>
              <a:rPr sz="1400">
                <a:solidFill>
                  <a:srgbClr val="4B4B4B"/>
                </a:solidFill>
                <a:latin typeface="Arial"/>
              </a:rPr>
              <a:t>A cancelled approved voucher is reversed and its request goes back to its source to be regularised; an approved voucher counts as unregularised until its OR / AR is tagged.</a:t>
            </a:r>
          </a:p>
          <a:p>
            <a:pPr>
              <a:spcAft>
                <a:spcPts val="600"/>
              </a:spcAft>
            </a:pPr>
            <a:r>
              <a:rPr sz="1400">
                <a:solidFill>
                  <a:srgbClr val="004EA8"/>
                </a:solidFill>
                <a:latin typeface="Arial"/>
              </a:rPr>
              <a:t>•  </a:t>
            </a:r>
            <a:r>
              <a:rPr sz="1400">
                <a:solidFill>
                  <a:srgbClr val="4B4B4B"/>
                </a:solidFill>
                <a:latin typeface="Arial"/>
              </a:rPr>
              <a:t>Marketing refunds and cash advances are reviewed and approved in BIBS (cash advances also by HR) and reach Disbursement on approval; an AR is refunded once.</a:t>
            </a:r>
          </a:p>
          <a:p>
            <a:pPr>
              <a:spcAft>
                <a:spcPts val="600"/>
              </a:spcAft>
            </a:pPr>
            <a:r>
              <a:rPr sz="1400">
                <a:solidFill>
                  <a:srgbClr val="004EA8"/>
                </a:solidFill>
                <a:latin typeface="Arial"/>
              </a:rPr>
              <a:t>•  </a:t>
            </a:r>
            <a:r>
              <a:rPr sz="1400">
                <a:solidFill>
                  <a:srgbClr val="4B4B4B"/>
                </a:solidFill>
                <a:latin typeface="Arial"/>
              </a:rPr>
              <a:t>ACSL reconciles the insurer statements and the GL with the sub-ledgers, investigates cases and corrects wrong postings with a preparer, a reviewer and an approver.</a:t>
            </a:r>
          </a:p>
          <a:p>
            <a:pPr lvl="1">
              <a:spcAft>
                <a:spcPts val="600"/>
              </a:spcAft>
            </a:pPr>
            <a:r>
              <a:rPr sz="1200">
                <a:solidFill>
                  <a:srgbClr val="656565"/>
                </a:solidFill>
                <a:latin typeface="Arial"/>
              </a:rPr>
              <a:t>–  </a:t>
            </a:r>
            <a:r>
              <a:rPr sz="1200">
                <a:solidFill>
                  <a:srgbClr val="4B4B4B"/>
                </a:solidFill>
                <a:latin typeface="Arial"/>
              </a:rPr>
              <a:t>Full list: FRS chapter 13 per screen, 98 rules on the Business rules sheet and 378 messages in FRS chapter 15 and on the Messages sheet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Cross-module dependencies and impacts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a:t>
            </a:r>
          </a:p>
        </p:txBody>
      </p:sp>
      <p:pic>
        <p:nvPicPr>
          <p:cNvPr id="9" name="Picture 8" descr="brd05_contract_map.png"/>
          <p:cNvPicPr>
            <a:picLocks noChangeAspect="1"/>
          </p:cNvPicPr>
          <p:nvPr/>
        </p:nvPicPr>
        <p:blipFill>
          <a:blip r:embed="rId3"/>
          <a:stretch>
            <a:fillRect/>
          </a:stretch>
        </p:blipFill>
        <p:spPr>
          <a:xfrm>
            <a:off x="548640" y="1325880"/>
            <a:ext cx="11094415" cy="3735606"/>
          </a:xfrm>
          <a:prstGeom prst="rect">
            <a:avLst/>
          </a:prstGeom>
          <a:ln w="9525">
            <a:solidFill>
              <a:srgbClr val="C2C2C1"/>
            </a:solidFill>
          </a:ln>
        </p:spPr>
      </p:pic>
      <p:sp>
        <p:nvSpPr>
          <p:cNvPr id="10" name="TextBox 9"/>
          <p:cNvSpPr txBox="1"/>
          <p:nvPr/>
        </p:nvSpPr>
        <p:spPr>
          <a:xfrm>
            <a:off x="548640" y="5852160"/>
            <a:ext cx="11094415" cy="320040"/>
          </a:xfrm>
          <a:prstGeom prst="rect">
            <a:avLst/>
          </a:prstGeom>
          <a:noFill/>
        </p:spPr>
        <p:txBody>
          <a:bodyPr wrap="square" anchor="t" lIns="45720" rIns="45720">
            <a:spAutoFit/>
          </a:bodyPr>
          <a:lstStyle/>
          <a:p>
            <a:pPr algn="ctr"/>
            <a:r>
              <a:rPr sz="1100" b="0" i="1">
                <a:solidFill>
                  <a:srgbClr val="656565"/>
                </a:solidFill>
                <a:latin typeface="Arial"/>
              </a:rPr>
              <a:t>What Accounting Disbursement ACSL takes from and hands to the other BRDs and systems (FRS chapter 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Caveats and possibilities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a:t>
            </a:r>
          </a:p>
        </p:txBody>
      </p:sp>
      <p:graphicFrame>
        <p:nvGraphicFramePr>
          <p:cNvPr id="9" name="Table 8"/>
          <p:cNvGraphicFramePr>
            <a:graphicFrameLocks noGrp="1"/>
          </p:cNvGraphicFramePr>
          <p:nvPr/>
        </p:nvGraphicFramePr>
        <p:xfrm>
          <a:off x="548640" y="1371600"/>
          <a:ext cx="11094414" cy="2926080"/>
        </p:xfrm>
        <a:graphic>
          <a:graphicData uri="http://schemas.openxmlformats.org/drawingml/2006/table">
            <a:tbl>
              <a:tblPr firstRow="1" bandRow="1">
                <a:tableStyleId>{5C22544A-7EE6-4342-B048-85BDC9FD1C3A}</a:tableStyleId>
              </a:tblPr>
              <a:tblGrid>
                <a:gridCol w="1937120"/>
                <a:gridCol w="4578647"/>
                <a:gridCol w="4578647"/>
              </a:tblGrid>
              <a:tr h="365760">
                <a:tc>
                  <a:txBody>
                    <a:bodyPr/>
                    <a:lstStyle/>
                    <a:p>
                      <a:r>
                        <a:rPr sz="1000" b="1">
                          <a:solidFill>
                            <a:srgbClr val="FFFFFF"/>
                          </a:solidFill>
                          <a:latin typeface="Arial"/>
                        </a:rPr>
                        <a:t>Topic</a:t>
                      </a:r>
                    </a:p>
                  </a:txBody>
                  <a:tcPr marL="73152" marR="73152" marT="36576" marB="36576">
                    <a:solidFill>
                      <a:srgbClr val="004EA8"/>
                    </a:solidFill>
                  </a:tcPr>
                </a:tc>
                <a:tc>
                  <a:txBody>
                    <a:bodyPr/>
                    <a:lstStyle/>
                    <a:p>
                      <a:r>
                        <a:rPr sz="1000" b="1">
                          <a:solidFill>
                            <a:srgbClr val="FFFFFF"/>
                          </a:solidFill>
                          <a:latin typeface="Arial"/>
                        </a:rPr>
                        <a:t>What can happen</a:t>
                      </a:r>
                    </a:p>
                  </a:txBody>
                  <a:tcPr marL="73152" marR="73152" marT="36576" marB="36576">
                    <a:solidFill>
                      <a:srgbClr val="004EA8"/>
                    </a:solidFill>
                  </a:tcPr>
                </a:tc>
                <a:tc>
                  <a:txBody>
                    <a:bodyPr/>
                    <a:lstStyle/>
                    <a:p>
                      <a:r>
                        <a:rPr sz="1000" b="1">
                          <a:solidFill>
                            <a:srgbClr val="FFFFFF"/>
                          </a:solidFill>
                          <a:latin typeface="Arial"/>
                        </a:rPr>
                        <a:t>How it is handled</a:t>
                      </a:r>
                    </a:p>
                  </a:txBody>
                  <a:tcPr marL="73152" marR="73152" marT="36576" marB="36576">
                    <a:solidFill>
                      <a:srgbClr val="004EA8"/>
                    </a:solidFill>
                  </a:tcPr>
                </a:tc>
              </a:tr>
              <a:tr h="365760">
                <a:tc>
                  <a:txBody>
                    <a:bodyPr/>
                    <a:lstStyle/>
                    <a:p>
                      <a:r>
                        <a:rPr sz="1000" b="0">
                          <a:solidFill>
                            <a:srgbClr val="4B4B4B"/>
                          </a:solidFill>
                          <a:latin typeface="Arial"/>
                        </a:rPr>
                        <a:t>Additional requirements</a:t>
                      </a:r>
                    </a:p>
                  </a:txBody>
                  <a:tcPr marL="73152" marR="73152" marT="36576" marB="36576">
                    <a:solidFill>
                      <a:srgbClr val="FFFFFF"/>
                    </a:solidFill>
                  </a:tcPr>
                </a:tc>
                <a:tc>
                  <a:txBody>
                    <a:bodyPr/>
                    <a:lstStyle/>
                    <a:p>
                      <a:r>
                        <a:rPr sz="1000" b="0">
                          <a:solidFill>
                            <a:srgbClr val="4B4B4B"/>
                          </a:solidFill>
                          <a:latin typeface="Arial"/>
                        </a:rPr>
                        <a:t>New needs can surface during the review, SIT or UAT.</a:t>
                      </a:r>
                    </a:p>
                  </a:txBody>
                  <a:tcPr marL="73152" marR="73152" marT="36576" marB="36576">
                    <a:solidFill>
                      <a:srgbClr val="FFFFFF"/>
                    </a:solidFill>
                  </a:tcPr>
                </a:tc>
                <a:tc>
                  <a:txBody>
                    <a:bodyPr/>
                    <a:lstStyle/>
                    <a:p>
                      <a:r>
                        <a:rPr sz="1000" b="0">
                          <a:solidFill>
                            <a:srgbClr val="4B4B4B"/>
                          </a:solidFill>
                          <a:latin typeface="Arial"/>
                        </a:rPr>
                        <a:t>In-scope clarification when the signed text already covers it; otherwise a change request with mandays.</a:t>
                      </a:r>
                    </a:p>
                  </a:txBody>
                  <a:tcPr marL="73152" marR="73152" marT="36576" marB="36576">
                    <a:solidFill>
                      <a:srgbClr val="FFFFFF"/>
                    </a:solidFill>
                  </a:tcPr>
                </a:tc>
              </a:tr>
              <a:tr h="365760">
                <a:tc>
                  <a:txBody>
                    <a:bodyPr/>
                    <a:lstStyle/>
                    <a:p>
                      <a:r>
                        <a:rPr sz="1000" b="0">
                          <a:solidFill>
                            <a:srgbClr val="4B4B4B"/>
                          </a:solidFill>
                          <a:latin typeface="Arial"/>
                        </a:rPr>
                        <a:t>Impacts on other modules</a:t>
                      </a:r>
                    </a:p>
                  </a:txBody>
                  <a:tcPr marL="73152" marR="73152" marT="36576" marB="36576">
                    <a:solidFill>
                      <a:srgbClr val="E5F5FF"/>
                    </a:solidFill>
                  </a:tcPr>
                </a:tc>
                <a:tc>
                  <a:txBody>
                    <a:bodyPr/>
                    <a:lstStyle/>
                    <a:p>
                      <a:r>
                        <a:rPr sz="1000" b="0">
                          <a:solidFill>
                            <a:srgbClr val="4B4B4B"/>
                          </a:solidFill>
                          <a:latin typeface="Arial"/>
                        </a:rPr>
                        <a:t>Disbursement pays the remittances, refunds and commission refunds of Operations and the Marketing requests; ACSL corrects the postings of every module; every module posts through the accounting rules.</a:t>
                      </a:r>
                    </a:p>
                  </a:txBody>
                  <a:tcPr marL="73152" marR="73152" marT="36576" marB="36576">
                    <a:solidFill>
                      <a:srgbClr val="E5F5FF"/>
                    </a:solidFill>
                  </a:tcPr>
                </a:tc>
                <a:tc>
                  <a:txBody>
                    <a:bodyPr/>
                    <a:lstStyle/>
                    <a:p>
                      <a:r>
                        <a:rPr sz="1000" b="0">
                          <a:solidFill>
                            <a:srgbClr val="4B4B4B"/>
                          </a:solidFill>
                          <a:latin typeface="Arial"/>
                        </a:rPr>
                        <a:t>Each change is assessed against the cross-BRD contract (FRS chapter 19); when it touches another set, a delta sign-off of the affected pages of both sets.</a:t>
                      </a:r>
                    </a:p>
                  </a:txBody>
                  <a:tcPr marL="73152" marR="73152" marT="36576" marB="36576">
                    <a:solidFill>
                      <a:srgbClr val="E5F5FF"/>
                    </a:solidFill>
                  </a:tcPr>
                </a:tc>
              </a:tr>
              <a:tr h="365760">
                <a:tc>
                  <a:txBody>
                    <a:bodyPr/>
                    <a:lstStyle/>
                    <a:p>
                      <a:r>
                        <a:rPr sz="1000" b="0">
                          <a:solidFill>
                            <a:srgbClr val="4B4B4B"/>
                          </a:solidFill>
                          <a:latin typeface="Arial"/>
                        </a:rPr>
                        <a:t>Other BRDs change Accounting and Disbursement</a:t>
                      </a:r>
                    </a:p>
                  </a:txBody>
                  <a:tcPr marL="73152" marR="73152" marT="36576" marB="36576">
                    <a:solidFill>
                      <a:srgbClr val="FFFFFF"/>
                    </a:solidFill>
                  </a:tcPr>
                </a:tc>
                <a:tc>
                  <a:txBody>
                    <a:bodyPr/>
                    <a:lstStyle/>
                    <a:p>
                      <a:r>
                        <a:rPr sz="1000" b="0">
                          <a:solidFill>
                            <a:srgbClr val="4B4B4B"/>
                          </a:solidFill>
                          <a:latin typeface="Arial"/>
                        </a:rPr>
                        <a:t>Operations (remittance batches, cashiering validations, remittance deductions), New Business (clients, booking, root invoices), User Access (roles) and Data Migration (opening balances, payees) change what this set shows.</a:t>
                      </a:r>
                    </a:p>
                  </a:txBody>
                  <a:tcPr marL="73152" marR="73152" marT="36576" marB="36576">
                    <a:solidFill>
                      <a:srgbClr val="FFFFFF"/>
                    </a:solidFill>
                  </a:tcPr>
                </a:tc>
                <a:tc>
                  <a:txBody>
                    <a:bodyPr/>
                    <a:lstStyle/>
                    <a:p>
                      <a:r>
                        <a:rPr sz="1000" b="0">
                          <a:solidFill>
                            <a:srgbClr val="4B4B4B"/>
                          </a:solidFill>
                          <a:latin typeface="Arial"/>
                        </a:rPr>
                        <a:t>The change is raised against the other BRD and assessed against the contract; when it touches this set, a delta sign-off of the affected pages only.</a:t>
                      </a:r>
                    </a:p>
                  </a:txBody>
                  <a:tcPr marL="73152" marR="73152" marT="36576" marB="36576">
                    <a:solidFill>
                      <a:srgbClr val="FFFFFF"/>
                    </a:solidFill>
                  </a:tcPr>
                </a:tc>
              </a:tr>
              <a:tr h="365760">
                <a:tc>
                  <a:txBody>
                    <a:bodyPr/>
                    <a:lstStyle/>
                    <a:p>
                      <a:r>
                        <a:rPr sz="1000" b="0">
                          <a:solidFill>
                            <a:srgbClr val="4B4B4B"/>
                          </a:solidFill>
                          <a:latin typeface="Arial"/>
                        </a:rPr>
                        <a:t>BDOI data still to give</a:t>
                      </a:r>
                    </a:p>
                  </a:txBody>
                  <a:tcPr marL="73152" marR="73152" marT="36576" marB="36576">
                    <a:solidFill>
                      <a:srgbClr val="E5F5FF"/>
                    </a:solidFill>
                  </a:tcPr>
                </a:tc>
                <a:tc>
                  <a:txBody>
                    <a:bodyPr/>
                    <a:lstStyle/>
                    <a:p>
                      <a:r>
                        <a:rPr sz="1000" b="0">
                          <a:solidFill>
                            <a:srgbClr val="4B4B4B"/>
                          </a:solidFill>
                          <a:latin typeface="Arial"/>
                        </a:rPr>
                        <a:t>The chart of accounts, the accounting entries of the transactions, the report layouts, the bank file layouts, the check and form layouts and several rates are BDOI data not given yet (AQ01-AQ31).</a:t>
                      </a:r>
                    </a:p>
                  </a:txBody>
                  <a:tcPr marL="73152" marR="73152" marT="36576" marB="36576">
                    <a:solidFill>
                      <a:srgbClr val="E5F5FF"/>
                    </a:solidFill>
                  </a:tcPr>
                </a:tc>
                <a:tc>
                  <a:txBody>
                    <a:bodyPr/>
                    <a:lstStyle/>
                    <a:p>
                      <a:r>
                        <a:rPr sz="1000" b="0">
                          <a:solidFill>
                            <a:srgbClr val="4B4B4B"/>
                          </a:solidFill>
                          <a:latin typeface="Arial"/>
                        </a:rPr>
                        <a:t>BIBS holds them as configuration with provisional values; the answer is loaded as configuration, without a change request.</a:t>
                      </a:r>
                    </a:p>
                  </a:txBody>
                  <a:tcPr marL="73152" marR="73152" marT="36576" marB="36576">
                    <a:solidFill>
                      <a:srgbClr val="E5F5FF"/>
                    </a:solidFill>
                  </a:tcPr>
                </a:tc>
              </a:tr>
              <a:tr h="365760">
                <a:tc>
                  <a:txBody>
                    <a:bodyPr/>
                    <a:lstStyle/>
                    <a:p>
                      <a:r>
                        <a:rPr sz="1000" b="0">
                          <a:solidFill>
                            <a:srgbClr val="4B4B4B"/>
                          </a:solidFill>
                          <a:latin typeface="Arial"/>
                        </a:rPr>
                        <a:t>Role matrix to confirm</a:t>
                      </a:r>
                    </a:p>
                  </a:txBody>
                  <a:tcPr marL="73152" marR="73152" marT="36576" marB="36576">
                    <a:solidFill>
                      <a:srgbClr val="FFFFFF"/>
                    </a:solidFill>
                  </a:tcPr>
                </a:tc>
                <a:tc>
                  <a:txBody>
                    <a:bodyPr/>
                    <a:lstStyle/>
                    <a:p>
                      <a:r>
                        <a:rPr sz="1000" b="0">
                          <a:solidFill>
                            <a:srgbClr val="4B4B4B"/>
                          </a:solidFill>
                          <a:latin typeface="Arial"/>
                        </a:rPr>
                        <a:t>The grants follow the role matrices read from the scanned pages; the bank reconciliation is held today by the Accountant and Finance Manager roles (AQ28, CLR-AC-15).</a:t>
                      </a:r>
                    </a:p>
                  </a:txBody>
                  <a:tcPr marL="73152" marR="73152" marT="36576" marB="36576">
                    <a:solidFill>
                      <a:srgbClr val="FFFFFF"/>
                    </a:solidFill>
                  </a:tcPr>
                </a:tc>
                <a:tc>
                  <a:txBody>
                    <a:bodyPr/>
                    <a:lstStyle/>
                    <a:p>
                      <a:r>
                        <a:rPr sz="1000" b="0">
                          <a:solidFill>
                            <a:srgbClr val="4B4B4B"/>
                          </a:solidFill>
                          <a:latin typeface="Arial"/>
                        </a:rPr>
                        <a:t>BDOI confirms the matrix; a change of a grant is applied through an access request, without a change to the screens.</a:t>
                      </a:r>
                    </a:p>
                  </a:txBody>
                  <a:tcPr marL="73152" marR="73152" marT="36576" marB="36576">
                    <a:solidFill>
                      <a:srgbClr val="FFFFFF"/>
                    </a:solidFill>
                  </a:tcPr>
                </a:tc>
              </a:tr>
              <a:tr h="365760">
                <a:tc>
                  <a:txBody>
                    <a:bodyPr/>
                    <a:lstStyle/>
                    <a:p>
                      <a:r>
                        <a:rPr sz="1000" b="0">
                          <a:solidFill>
                            <a:srgbClr val="4B4B4B"/>
                          </a:solidFill>
                          <a:latin typeface="Arial"/>
                        </a:rPr>
                        <a:t>Integrations pending BDOI IT specifications</a:t>
                      </a:r>
                    </a:p>
                  </a:txBody>
                  <a:tcPr marL="73152" marR="73152" marT="36576" marB="36576">
                    <a:solidFill>
                      <a:srgbClr val="E5F5FF"/>
                    </a:solidFill>
                  </a:tcPr>
                </a:tc>
                <a:tc>
                  <a:txBody>
                    <a:bodyPr/>
                    <a:lstStyle/>
                    <a:p>
                      <a:r>
                        <a:rPr sz="1000" b="0">
                          <a:solidFill>
                            <a:srgbClr val="4B4B4B"/>
                          </a:solidFill>
                          <a:latin typeface="Arial"/>
                        </a:rPr>
                        <a:t>The DCTF to TPD, BDO Business Online Banking, the e-filing of the BIR forms and the GARD transmission depend on BDOI IT and the bank (AQ09, AQ07, AQ31).</a:t>
                      </a:r>
                    </a:p>
                  </a:txBody>
                  <a:tcPr marL="73152" marR="73152" marT="36576" marB="36576">
                    <a:solidFill>
                      <a:srgbClr val="E5F5FF"/>
                    </a:solidFill>
                  </a:tcPr>
                </a:tc>
                <a:tc>
                  <a:txBody>
                    <a:bodyPr/>
                    <a:lstStyle/>
                    <a:p>
                      <a:r>
                        <a:rPr sz="1000" b="0">
                          <a:solidFill>
                            <a:srgbClr val="4B4B4B"/>
                          </a:solidFill>
                          <a:latin typeface="Arial"/>
                        </a:rPr>
                        <a:t>Files are produced and uploaded by the users until the transfers are specified; an automatic transfer is then a change request. The technical detail is in the Technical Specification, reviewed by BDOI IT.</a:t>
                      </a:r>
                    </a:p>
                  </a:txBody>
                  <a:tcPr marL="73152" marR="73152" marT="36576" marB="36576">
                    <a:solidFill>
                      <a:srgbClr val="E5F5FF"/>
                    </a:solidFill>
                  </a:tcPr>
                </a:tc>
              </a:tr>
              <a:tr h="365760">
                <a:tc>
                  <a:txBody>
                    <a:bodyPr/>
                    <a:lstStyle/>
                    <a:p>
                      <a:r>
                        <a:rPr sz="1000" b="0">
                          <a:solidFill>
                            <a:srgbClr val="4B4B4B"/>
                          </a:solidFill>
                          <a:latin typeface="Arial"/>
                        </a:rPr>
                        <a:t>Open questions and assumptions</a:t>
                      </a:r>
                    </a:p>
                  </a:txBody>
                  <a:tcPr marL="73152" marR="73152" marT="36576" marB="36576">
                    <a:solidFill>
                      <a:srgbClr val="FFFFFF"/>
                    </a:solidFill>
                  </a:tcPr>
                </a:tc>
                <a:tc>
                  <a:txBody>
                    <a:bodyPr/>
                    <a:lstStyle/>
                    <a:p>
                      <a:r>
                        <a:rPr sz="1000" b="0">
                          <a:solidFill>
                            <a:srgbClr val="4B4B4B"/>
                          </a:solidFill>
                          <a:latin typeface="Arial"/>
                        </a:rPr>
                        <a:t>Open questions of FRS section 10.3 follow the assumptions of section 10.1; chapter 21 lists the proposed rules and clarifications for confirmation.</a:t>
                      </a:r>
                    </a:p>
                  </a:txBody>
                  <a:tcPr marL="73152" marR="73152" marT="36576" marB="36576">
                    <a:solidFill>
                      <a:srgbClr val="FFFFFF"/>
                    </a:solidFill>
                  </a:tcPr>
                </a:tc>
                <a:tc>
                  <a:txBody>
                    <a:bodyPr/>
                    <a:lstStyle/>
                    <a:p>
                      <a:r>
                        <a:rPr sz="1000" b="0">
                          <a:solidFill>
                            <a:srgbClr val="4B4B4B"/>
                          </a:solidFill>
                          <a:latin typeface="Arial"/>
                        </a:rPr>
                        <a:t>Answered as configuration where possible (lists of values, parameters, templates, rules); otherwise a change request; the assumption stands until then.</a:t>
                      </a:r>
                    </a:p>
                  </a:txBody>
                  <a:tcPr marL="73152" marR="73152" marT="36576" marB="36576">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Caveats: worked examples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a:t>
            </a:r>
          </a:p>
        </p:txBody>
      </p:sp>
      <p:graphicFrame>
        <p:nvGraphicFramePr>
          <p:cNvPr id="9" name="Table 8"/>
          <p:cNvGraphicFramePr>
            <a:graphicFrameLocks noGrp="1"/>
          </p:cNvGraphicFramePr>
          <p:nvPr/>
        </p:nvGraphicFramePr>
        <p:xfrm>
          <a:off x="548640" y="1371600"/>
          <a:ext cx="11094414" cy="2926080"/>
        </p:xfrm>
        <a:graphic>
          <a:graphicData uri="http://schemas.openxmlformats.org/drawingml/2006/table">
            <a:tbl>
              <a:tblPr firstRow="1" bandRow="1">
                <a:tableStyleId>{5C22544A-7EE6-4342-B048-85BDC9FD1C3A}</a:tableStyleId>
              </a:tblPr>
              <a:tblGrid>
                <a:gridCol w="2113221"/>
                <a:gridCol w="8981193"/>
              </a:tblGrid>
              <a:tr h="365760">
                <a:tc>
                  <a:txBody>
                    <a:bodyPr/>
                    <a:lstStyle/>
                    <a:p>
                      <a:r>
                        <a:rPr sz="1100" b="1">
                          <a:solidFill>
                            <a:srgbClr val="FFFFFF"/>
                          </a:solidFill>
                          <a:latin typeface="Arial"/>
                        </a:rPr>
                        <a:t>Topic</a:t>
                      </a:r>
                    </a:p>
                  </a:txBody>
                  <a:tcPr marL="73152" marR="73152" marT="36576" marB="36576">
                    <a:solidFill>
                      <a:srgbClr val="004EA8"/>
                    </a:solidFill>
                  </a:tcPr>
                </a:tc>
                <a:tc>
                  <a:txBody>
                    <a:bodyPr/>
                    <a:lstStyle/>
                    <a:p>
                      <a:r>
                        <a:rPr sz="1100" b="1">
                          <a:solidFill>
                            <a:srgbClr val="FFFFFF"/>
                          </a:solidFill>
                          <a:latin typeface="Arial"/>
                        </a:rPr>
                        <a:t>Example and how it is handled</a:t>
                      </a:r>
                    </a:p>
                  </a:txBody>
                  <a:tcPr marL="73152" marR="73152" marT="36576" marB="36576">
                    <a:solidFill>
                      <a:srgbClr val="004EA8"/>
                    </a:solidFill>
                  </a:tcPr>
                </a:tc>
              </a:tr>
              <a:tr h="365760">
                <a:tc>
                  <a:txBody>
                    <a:bodyPr/>
                    <a:lstStyle/>
                    <a:p>
                      <a:r>
                        <a:rPr sz="1100" b="0">
                          <a:solidFill>
                            <a:srgbClr val="4B4B4B"/>
                          </a:solidFill>
                          <a:latin typeface="Arial"/>
                        </a:rPr>
                        <a:t>Additional requirements</a:t>
                      </a:r>
                    </a:p>
                  </a:txBody>
                  <a:tcPr marL="73152" marR="73152" marT="36576" marB="36576">
                    <a:solidFill>
                      <a:srgbClr val="FFFFFF"/>
                    </a:solidFill>
                  </a:tcPr>
                </a:tc>
                <a:tc>
                  <a:txBody>
                    <a:bodyPr/>
                    <a:lstStyle/>
                    <a:p>
                      <a:r>
                        <a:rPr sz="1100" b="0">
                          <a:solidFill>
                            <a:srgbClr val="4B4B4B"/>
                          </a:solidFill>
                          <a:latin typeface="Arial"/>
                        </a:rPr>
                        <a:t>A reviewer asks for the cost centre on the Disbursement Workbench list: a new column, so a change request; asking which vouchers count as unregularised is a clarification.</a:t>
                      </a:r>
                    </a:p>
                  </a:txBody>
                  <a:tcPr marL="73152" marR="73152" marT="36576" marB="36576">
                    <a:solidFill>
                      <a:srgbClr val="FFFFFF"/>
                    </a:solidFill>
                  </a:tcPr>
                </a:tc>
              </a:tr>
              <a:tr h="365760">
                <a:tc>
                  <a:txBody>
                    <a:bodyPr/>
                    <a:lstStyle/>
                    <a:p>
                      <a:r>
                        <a:rPr sz="1100" b="0">
                          <a:solidFill>
                            <a:srgbClr val="4B4B4B"/>
                          </a:solidFill>
                          <a:latin typeface="Arial"/>
                        </a:rPr>
                        <a:t>Impacts on other modules</a:t>
                      </a:r>
                    </a:p>
                  </a:txBody>
                  <a:tcPr marL="73152" marR="73152" marT="36576" marB="36576">
                    <a:solidFill>
                      <a:srgbClr val="E5F5FF"/>
                    </a:solidFill>
                  </a:tcPr>
                </a:tc>
                <a:tc>
                  <a:txBody>
                    <a:bodyPr/>
                    <a:lstStyle/>
                    <a:p>
                      <a:r>
                        <a:rPr sz="1100" b="0">
                          <a:solidFill>
                            <a:srgbClr val="4B4B4B"/>
                          </a:solidFill>
                          <a:latin typeface="Arial"/>
                        </a:rPr>
                        <a:t>A new disbursement type for claims payments needs the request of Claims and its accounting rule: both owners confirm the delta.</a:t>
                      </a:r>
                    </a:p>
                  </a:txBody>
                  <a:tcPr marL="73152" marR="73152" marT="36576" marB="36576">
                    <a:solidFill>
                      <a:srgbClr val="E5F5FF"/>
                    </a:solidFill>
                  </a:tcPr>
                </a:tc>
              </a:tr>
              <a:tr h="365760">
                <a:tc>
                  <a:txBody>
                    <a:bodyPr/>
                    <a:lstStyle/>
                    <a:p>
                      <a:r>
                        <a:rPr sz="1100" b="0">
                          <a:solidFill>
                            <a:srgbClr val="4B4B4B"/>
                          </a:solidFill>
                          <a:latin typeface="Arial"/>
                        </a:rPr>
                        <a:t>Other BRDs change Accounting and Disbursement</a:t>
                      </a:r>
                    </a:p>
                  </a:txBody>
                  <a:tcPr marL="73152" marR="73152" marT="36576" marB="36576">
                    <a:solidFill>
                      <a:srgbClr val="FFFFFF"/>
                    </a:solidFill>
                  </a:tcPr>
                </a:tc>
                <a:tc>
                  <a:txBody>
                    <a:bodyPr/>
                    <a:lstStyle/>
                    <a:p>
                      <a:r>
                        <a:rPr sz="1100" b="0">
                          <a:solidFill>
                            <a:srgbClr val="4B4B4B"/>
                          </a:solidFill>
                          <a:latin typeface="Arial"/>
                        </a:rPr>
                        <a:t>Operations changes the remittance schedule columns: the remittance voucher and its documents are re-issued and signed as a delta.</a:t>
                      </a:r>
                    </a:p>
                  </a:txBody>
                  <a:tcPr marL="73152" marR="73152" marT="36576" marB="36576">
                    <a:solidFill>
                      <a:srgbClr val="FFFFFF"/>
                    </a:solidFill>
                  </a:tcPr>
                </a:tc>
              </a:tr>
              <a:tr h="365760">
                <a:tc>
                  <a:txBody>
                    <a:bodyPr/>
                    <a:lstStyle/>
                    <a:p>
                      <a:r>
                        <a:rPr sz="1100" b="0">
                          <a:solidFill>
                            <a:srgbClr val="4B4B4B"/>
                          </a:solidFill>
                          <a:latin typeface="Arial"/>
                        </a:rPr>
                        <a:t>BDOI data still to give</a:t>
                      </a:r>
                    </a:p>
                  </a:txBody>
                  <a:tcPr marL="73152" marR="73152" marT="36576" marB="36576">
                    <a:solidFill>
                      <a:srgbClr val="E5F5FF"/>
                    </a:solidFill>
                  </a:tcPr>
                </a:tc>
                <a:tc>
                  <a:txBody>
                    <a:bodyPr/>
                    <a:lstStyle/>
                    <a:p>
                      <a:r>
                        <a:rPr sz="1100" b="0">
                          <a:solidFill>
                            <a:srgbClr val="4B4B4B"/>
                          </a:solidFill>
                          <a:latin typeface="Arial"/>
                        </a:rPr>
                        <a:t>BDOI gives the layout of a GARD schedule: the schedule definition is changed on Account Schedules and the report is issued with it.</a:t>
                      </a:r>
                    </a:p>
                  </a:txBody>
                  <a:tcPr marL="73152" marR="73152" marT="36576" marB="36576">
                    <a:solidFill>
                      <a:srgbClr val="E5F5FF"/>
                    </a:solidFill>
                  </a:tcPr>
                </a:tc>
              </a:tr>
              <a:tr h="365760">
                <a:tc>
                  <a:txBody>
                    <a:bodyPr/>
                    <a:lstStyle/>
                    <a:p>
                      <a:r>
                        <a:rPr sz="1100" b="0">
                          <a:solidFill>
                            <a:srgbClr val="4B4B4B"/>
                          </a:solidFill>
                          <a:latin typeface="Arial"/>
                        </a:rPr>
                        <a:t>Role matrix to confirm</a:t>
                      </a:r>
                    </a:p>
                  </a:txBody>
                  <a:tcPr marL="73152" marR="73152" marT="36576" marB="36576">
                    <a:solidFill>
                      <a:srgbClr val="FFFFFF"/>
                    </a:solidFill>
                  </a:tcPr>
                </a:tc>
                <a:tc>
                  <a:txBody>
                    <a:bodyPr/>
                    <a:lstStyle/>
                    <a:p>
                      <a:r>
                        <a:rPr sz="1100" b="0">
                          <a:solidFill>
                            <a:srgbClr val="4B4B4B"/>
                          </a:solidFill>
                          <a:latin typeface="Arial"/>
                        </a:rPr>
                        <a:t>BDOI confirms that the GL Officer reconciles the bank accounts: the permission is added to the role.</a:t>
                      </a:r>
                    </a:p>
                  </a:txBody>
                  <a:tcPr marL="73152" marR="73152" marT="36576" marB="36576">
                    <a:solidFill>
                      <a:srgbClr val="FFFFFF"/>
                    </a:solidFill>
                  </a:tcPr>
                </a:tc>
              </a:tr>
              <a:tr h="365760">
                <a:tc>
                  <a:txBody>
                    <a:bodyPr/>
                    <a:lstStyle/>
                    <a:p>
                      <a:r>
                        <a:rPr sz="1100" b="0">
                          <a:solidFill>
                            <a:srgbClr val="4B4B4B"/>
                          </a:solidFill>
                          <a:latin typeface="Arial"/>
                        </a:rPr>
                        <a:t>Integrations pending BDOI IT specifications</a:t>
                      </a:r>
                    </a:p>
                  </a:txBody>
                  <a:tcPr marL="73152" marR="73152" marT="36576" marB="36576">
                    <a:solidFill>
                      <a:srgbClr val="E5F5FF"/>
                    </a:solidFill>
                  </a:tcPr>
                </a:tc>
                <a:tc>
                  <a:txBody>
                    <a:bodyPr/>
                    <a:lstStyle/>
                    <a:p>
                      <a:r>
                        <a:rPr sz="1100" b="0">
                          <a:solidFill>
                            <a:srgbClr val="4B4B4B"/>
                          </a:solidFill>
                          <a:latin typeface="Arial"/>
                        </a:rPr>
                        <a:t>The DCTF is downloaded from the end of day and forwarded to TPD until the transfer is agreed.</a:t>
                      </a:r>
                    </a:p>
                  </a:txBody>
                  <a:tcPr marL="73152" marR="73152" marT="36576" marB="36576">
                    <a:solidFill>
                      <a:srgbClr val="E5F5FF"/>
                    </a:solidFill>
                  </a:tcPr>
                </a:tc>
              </a:tr>
              <a:tr h="365760">
                <a:tc>
                  <a:txBody>
                    <a:bodyPr/>
                    <a:lstStyle/>
                    <a:p>
                      <a:r>
                        <a:rPr sz="1100" b="0">
                          <a:solidFill>
                            <a:srgbClr val="4B4B4B"/>
                          </a:solidFill>
                          <a:latin typeface="Arial"/>
                        </a:rPr>
                        <a:t>Open questions and assumptions</a:t>
                      </a:r>
                    </a:p>
                  </a:txBody>
                  <a:tcPr marL="73152" marR="73152" marT="36576" marB="36576">
                    <a:solidFill>
                      <a:srgbClr val="FFFFFF"/>
                    </a:solidFill>
                  </a:tcPr>
                </a:tc>
                <a:tc>
                  <a:txBody>
                    <a:bodyPr/>
                    <a:lstStyle/>
                    <a:p>
                      <a:r>
                        <a:rPr sz="1100" b="0">
                          <a:solidFill>
                            <a:srgbClr val="4B4B4B"/>
                          </a:solidFill>
                          <a:latin typeface="Arial"/>
                        </a:rPr>
                        <a:t>A check goes stale after 180 days until BDOI confirms the period; the answer is a parameter value.</a:t>
                      </a:r>
                    </a:p>
                  </a:txBody>
                  <a:tcPr marL="73152" marR="73152" marT="36576" marB="36576">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Entry and exit criteria, definition of done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a:t>
            </a:r>
          </a:p>
        </p:txBody>
      </p:sp>
      <p:sp>
        <p:nvSpPr>
          <p:cNvPr id="9" name="Rectangle 8"/>
          <p:cNvSpPr/>
          <p:nvPr/>
        </p:nvSpPr>
        <p:spPr>
          <a:xfrm>
            <a:off x="548640"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325880"/>
            <a:ext cx="3515258" cy="457200"/>
          </a:xfrm>
          <a:prstGeom prst="rect">
            <a:avLst/>
          </a:prstGeom>
          <a:noFill/>
        </p:spPr>
        <p:txBody>
          <a:bodyPr wrap="square" anchor="ctr" lIns="45720" rIns="45720">
            <a:spAutoFit/>
          </a:bodyPr>
          <a:lstStyle/>
          <a:p>
            <a:r>
              <a:rPr sz="1500" b="1" i="0">
                <a:solidFill>
                  <a:srgbClr val="FFFFFF"/>
                </a:solidFill>
                <a:latin typeface="Arial"/>
              </a:rPr>
              <a:t>Entry</a:t>
            </a:r>
          </a:p>
        </p:txBody>
      </p:sp>
      <p:sp>
        <p:nvSpPr>
          <p:cNvPr id="11" name="Rectangle 10"/>
          <p:cNvSpPr/>
          <p:nvPr/>
        </p:nvSpPr>
        <p:spPr>
          <a:xfrm>
            <a:off x="548640"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Every screenshot of the set is taken on the SIT environment with seed data.</a:t>
            </a:r>
          </a:p>
          <a:p>
            <a:pPr>
              <a:spcAft>
                <a:spcPts val="600"/>
              </a:spcAft>
            </a:pPr>
            <a:r>
              <a:rPr sz="1200">
                <a:solidFill>
                  <a:srgbClr val="004EA8"/>
                </a:solidFill>
                <a:latin typeface="Arial"/>
              </a:rPr>
              <a:t>•  </a:t>
            </a:r>
            <a:r>
              <a:rPr sz="1200">
                <a:solidFill>
                  <a:srgbClr val="4B4B4B"/>
                </a:solidFill>
                <a:latin typeface="Arial"/>
              </a:rPr>
              <a:t>Reviewers have their SIT users and the walkthrough sessions are held.</a:t>
            </a:r>
          </a:p>
          <a:p>
            <a:pPr>
              <a:spcAft>
                <a:spcPts val="600"/>
              </a:spcAft>
            </a:pPr>
            <a:r>
              <a:rPr sz="1200">
                <a:solidFill>
                  <a:srgbClr val="004EA8"/>
                </a:solidFill>
                <a:latin typeface="Arial"/>
              </a:rPr>
              <a:t>•  </a:t>
            </a:r>
            <a:r>
              <a:rPr sz="1200">
                <a:solidFill>
                  <a:srgbClr val="4B4B4B"/>
                </a:solidFill>
                <a:latin typeface="Arial"/>
              </a:rPr>
              <a:t>The test plan is traced to the FRS and to the screens.</a:t>
            </a:r>
          </a:p>
          <a:p>
            <a:pPr>
              <a:spcAft>
                <a:spcPts val="600"/>
              </a:spcAft>
            </a:pPr>
            <a:r>
              <a:rPr sz="1200">
                <a:solidFill>
                  <a:srgbClr val="004EA8"/>
                </a:solidFill>
                <a:latin typeface="Arial"/>
              </a:rPr>
              <a:t>•  </a:t>
            </a:r>
            <a:r>
              <a:rPr sz="1200">
                <a:solidFill>
                  <a:srgbClr val="4B4B4B"/>
                </a:solidFill>
                <a:latin typeface="Arial"/>
              </a:rPr>
              <a:t>The BRD-2 Operations walkthroughs are held (the remittance batches, refunds and cashiering validations are the input of Disbursement and ACSL).</a:t>
            </a:r>
          </a:p>
        </p:txBody>
      </p:sp>
      <p:sp>
        <p:nvSpPr>
          <p:cNvPr id="13" name="Rectangle 12"/>
          <p:cNvSpPr/>
          <p:nvPr/>
        </p:nvSpPr>
        <p:spPr>
          <a:xfrm>
            <a:off x="4338218"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9658" y="1325880"/>
            <a:ext cx="3515258" cy="457200"/>
          </a:xfrm>
          <a:prstGeom prst="rect">
            <a:avLst/>
          </a:prstGeom>
          <a:noFill/>
        </p:spPr>
        <p:txBody>
          <a:bodyPr wrap="square" anchor="ctr" lIns="45720" rIns="45720">
            <a:spAutoFit/>
          </a:bodyPr>
          <a:lstStyle/>
          <a:p>
            <a:r>
              <a:rPr sz="1500" b="1" i="0">
                <a:solidFill>
                  <a:srgbClr val="FFFFFF"/>
                </a:solidFill>
                <a:latin typeface="Arial"/>
              </a:rPr>
              <a:t>Exit</a:t>
            </a:r>
          </a:p>
        </p:txBody>
      </p:sp>
      <p:sp>
        <p:nvSpPr>
          <p:cNvPr id="15" name="Rectangle 14"/>
          <p:cNvSpPr/>
          <p:nvPr/>
        </p:nvSpPr>
        <p:spPr>
          <a:xfrm>
            <a:off x="4338218"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9658"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Every row of the workbook reviewed by its unit (Accept, Change requested or Comment).</a:t>
            </a:r>
          </a:p>
          <a:p>
            <a:pPr>
              <a:spcAft>
                <a:spcPts val="600"/>
              </a:spcAft>
            </a:pPr>
            <a:r>
              <a:rPr sz="1200">
                <a:solidFill>
                  <a:srgbClr val="004EA8"/>
                </a:solidFill>
                <a:latin typeface="Arial"/>
              </a:rPr>
              <a:t>•  </a:t>
            </a:r>
            <a:r>
              <a:rPr sz="1200">
                <a:solidFill>
                  <a:srgbClr val="4B4B4B"/>
                </a:solidFill>
                <a:latin typeface="Arial"/>
              </a:rPr>
              <a:t>Every comments log item closed: answered, corrected in v2.2, or raised as a change request.</a:t>
            </a:r>
          </a:p>
          <a:p>
            <a:pPr>
              <a:spcAft>
                <a:spcPts val="600"/>
              </a:spcAft>
            </a:pPr>
            <a:r>
              <a:rPr sz="1200">
                <a:solidFill>
                  <a:srgbClr val="004EA8"/>
                </a:solidFill>
                <a:latin typeface="Arial"/>
              </a:rPr>
              <a:t>•  </a:t>
            </a:r>
            <a:r>
              <a:rPr sz="1200">
                <a:solidFill>
                  <a:srgbClr val="4B4B4B"/>
                </a:solidFill>
                <a:latin typeface="Arial"/>
              </a:rPr>
              <a:t>Open questions closed or accepted as assumptions.</a:t>
            </a:r>
          </a:p>
          <a:p>
            <a:pPr>
              <a:spcAft>
                <a:spcPts val="600"/>
              </a:spcAft>
            </a:pPr>
            <a:r>
              <a:rPr sz="1200">
                <a:solidFill>
                  <a:srgbClr val="004EA8"/>
                </a:solidFill>
                <a:latin typeface="Arial"/>
              </a:rPr>
              <a:t>•  </a:t>
            </a:r>
            <a:r>
              <a:rPr sz="1200">
                <a:solidFill>
                  <a:srgbClr val="4B4B4B"/>
                </a:solidFill>
                <a:latin typeface="Arial"/>
              </a:rPr>
              <a:t>The sign-off certificate signed by every signatory of the Who signs what matrix: prepared, input, reviewed and approved as on the BRD-5 approval sheets; the Head of Comptrollership approves the whole set.</a:t>
            </a:r>
          </a:p>
        </p:txBody>
      </p:sp>
      <p:sp>
        <p:nvSpPr>
          <p:cNvPr id="17" name="Rectangle 16"/>
          <p:cNvSpPr/>
          <p:nvPr/>
        </p:nvSpPr>
        <p:spPr>
          <a:xfrm>
            <a:off x="8127796"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9236" y="1325880"/>
            <a:ext cx="3515258" cy="457200"/>
          </a:xfrm>
          <a:prstGeom prst="rect">
            <a:avLst/>
          </a:prstGeom>
          <a:noFill/>
        </p:spPr>
        <p:txBody>
          <a:bodyPr wrap="square" anchor="ctr" lIns="45720" rIns="45720">
            <a:spAutoFit/>
          </a:bodyPr>
          <a:lstStyle/>
          <a:p>
            <a:r>
              <a:rPr sz="1500" b="1" i="0">
                <a:solidFill>
                  <a:srgbClr val="FFFFFF"/>
                </a:solidFill>
                <a:latin typeface="Arial"/>
              </a:rPr>
              <a:t>Done</a:t>
            </a:r>
          </a:p>
        </p:txBody>
      </p:sp>
      <p:sp>
        <p:nvSpPr>
          <p:cNvPr id="19" name="Rectangle 18"/>
          <p:cNvSpPr/>
          <p:nvPr/>
        </p:nvSpPr>
        <p:spPr>
          <a:xfrm>
            <a:off x="8127796"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9236"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Signed certificate filed with the set; version history updated.</a:t>
            </a:r>
          </a:p>
          <a:p>
            <a:pPr>
              <a:spcAft>
                <a:spcPts val="600"/>
              </a:spcAft>
            </a:pPr>
            <a:r>
              <a:rPr sz="1200">
                <a:solidFill>
                  <a:srgbClr val="004EA8"/>
                </a:solidFill>
                <a:latin typeface="Arial"/>
              </a:rPr>
              <a:t>•  </a:t>
            </a:r>
            <a:r>
              <a:rPr sz="1200">
                <a:solidFill>
                  <a:srgbClr val="4B4B4B"/>
                </a:solidFill>
                <a:latin typeface="Arial"/>
              </a:rPr>
              <a:t>Content frozen as signed; deltas listed in the Change Management Register with mandays.</a:t>
            </a:r>
          </a:p>
          <a:p>
            <a:pPr>
              <a:spcAft>
                <a:spcPts val="600"/>
              </a:spcAft>
            </a:pPr>
            <a:r>
              <a:rPr sz="1200">
                <a:solidFill>
                  <a:srgbClr val="004EA8"/>
                </a:solidFill>
                <a:latin typeface="Arial"/>
              </a:rPr>
              <a:t>•  </a:t>
            </a:r>
            <a:r>
              <a:rPr sz="1200">
                <a:solidFill>
                  <a:srgbClr val="4B4B4B"/>
                </a:solidFill>
                <a:latin typeface="Arial"/>
              </a:rPr>
              <a:t>Test plan agreed for SIT and UAT.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After sign-off: readiness checklist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  Signed FRS, sign-off workbook and screens</a:t>
            </a:r>
          </a:p>
          <a:p>
            <a:pPr>
              <a:spcAft>
                <a:spcPts val="600"/>
              </a:spcAft>
            </a:pPr>
            <a:r>
              <a:rPr sz="1600">
                <a:solidFill>
                  <a:srgbClr val="004EA8"/>
                </a:solidFill>
                <a:latin typeface="Arial"/>
              </a:rPr>
              <a:t>•  </a:t>
            </a:r>
            <a:r>
              <a:rPr sz="1600">
                <a:solidFill>
                  <a:srgbClr val="4B4B4B"/>
                </a:solidFill>
                <a:latin typeface="Arial"/>
              </a:rPr>
              <a:t>☐  Open questions closed or accepted as assumptions</a:t>
            </a:r>
          </a:p>
          <a:p>
            <a:pPr>
              <a:spcAft>
                <a:spcPts val="600"/>
              </a:spcAft>
            </a:pPr>
            <a:r>
              <a:rPr sz="1600">
                <a:solidFill>
                  <a:srgbClr val="004EA8"/>
                </a:solidFill>
                <a:latin typeface="Arial"/>
              </a:rPr>
              <a:t>•  </a:t>
            </a:r>
            <a:r>
              <a:rPr sz="1600">
                <a:solidFill>
                  <a:srgbClr val="4B4B4B"/>
                </a:solidFill>
                <a:latin typeface="Arial"/>
              </a:rPr>
              <a:t>☐  Configuration inputs from the business: the chart of accounts and its mapping, the accounting entries of every transaction, the cost-centre rules and the employees, the report and schedule layouts, the payees, the bank accounts and check series, the bank file and form layouts, the service-fee rates and recipients, the SOA layouts of the insurers, the lists of values, users and roles</a:t>
            </a:r>
          </a:p>
          <a:p>
            <a:pPr>
              <a:spcAft>
                <a:spcPts val="600"/>
              </a:spcAft>
            </a:pPr>
            <a:r>
              <a:rPr sz="1600">
                <a:solidFill>
                  <a:srgbClr val="004EA8"/>
                </a:solidFill>
                <a:latin typeface="Arial"/>
              </a:rPr>
              <a:t>•  </a:t>
            </a:r>
            <a:r>
              <a:rPr sz="1600">
                <a:solidFill>
                  <a:srgbClr val="4B4B4B"/>
                </a:solidFill>
                <a:latin typeface="Arial"/>
              </a:rPr>
              <a:t>☐  Agreed test plan</a:t>
            </a:r>
          </a:p>
          <a:p>
            <a:pPr>
              <a:spcAft>
                <a:spcPts val="600"/>
              </a:spcAft>
            </a:pPr>
            <a:r>
              <a:rPr sz="1600">
                <a:solidFill>
                  <a:srgbClr val="004EA8"/>
                </a:solidFill>
                <a:latin typeface="Arial"/>
              </a:rPr>
              <a:t>•  </a:t>
            </a:r>
            <a:r>
              <a:rPr sz="1600">
                <a:solidFill>
                  <a:srgbClr val="4B4B4B"/>
                </a:solidFill>
                <a:latin typeface="Arial"/>
              </a:rPr>
              <a:t>☐  Migration mapping of the opening balances, the open items and the payees signed (BRD-13)</a:t>
            </a:r>
          </a:p>
          <a:p>
            <a:pPr lvl="1">
              <a:spcAft>
                <a:spcPts val="600"/>
              </a:spcAft>
            </a:pPr>
            <a:r>
              <a:rPr sz="1400">
                <a:solidFill>
                  <a:srgbClr val="656565"/>
                </a:solidFill>
                <a:latin typeface="Arial"/>
              </a:rPr>
              <a:t>–  </a:t>
            </a:r>
            <a:r>
              <a:rPr sz="1400">
                <a:solidFill>
                  <a:srgbClr val="4B4B4B"/>
                </a:solidFill>
                <a:latin typeface="Arial"/>
              </a:rPr>
              <a:t>After sign-off the content is frozen as signed and the approved deltas are scheduled.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Change control after sign-off</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800">
                <a:solidFill>
                  <a:srgbClr val="004EA8"/>
                </a:solidFill>
                <a:latin typeface="Arial"/>
              </a:rPr>
              <a:t>•  </a:t>
            </a:r>
            <a:r>
              <a:rPr sz="1800">
                <a:solidFill>
                  <a:srgbClr val="4B4B4B"/>
                </a:solidFill>
                <a:latin typeface="Arial"/>
              </a:rPr>
              <a:t>A change to anything frozen is raised in the Change Management Register</a:t>
            </a:r>
          </a:p>
          <a:p>
            <a:pPr lvl="1">
              <a:spcAft>
                <a:spcPts val="600"/>
              </a:spcAft>
            </a:pPr>
            <a:r>
              <a:rPr sz="1600">
                <a:solidFill>
                  <a:srgbClr val="656565"/>
                </a:solidFill>
                <a:latin typeface="Arial"/>
              </a:rPr>
              <a:t>–  </a:t>
            </a:r>
            <a:r>
              <a:rPr sz="1600">
                <a:solidFill>
                  <a:srgbClr val="4B4B4B"/>
                </a:solidFill>
                <a:latin typeface="Arial"/>
              </a:rPr>
              <a:t>The screen, field, rule or message concerned, the reason and the priority</a:t>
            </a:r>
          </a:p>
          <a:p>
            <a:pPr>
              <a:spcAft>
                <a:spcPts val="600"/>
              </a:spcAft>
            </a:pPr>
            <a:r>
              <a:rPr sz="1800">
                <a:solidFill>
                  <a:srgbClr val="004EA8"/>
                </a:solidFill>
                <a:latin typeface="Arial"/>
              </a:rPr>
              <a:t>•  </a:t>
            </a:r>
            <a:r>
              <a:rPr sz="1800">
                <a:solidFill>
                  <a:srgbClr val="4B4B4B"/>
                </a:solidFill>
                <a:latin typeface="Arial"/>
              </a:rPr>
              <a:t>The project team assesses the mandays and the effect on the other BRDs through the cross-BRD contract</a:t>
            </a:r>
          </a:p>
          <a:p>
            <a:pPr>
              <a:spcAft>
                <a:spcPts val="600"/>
              </a:spcAft>
            </a:pPr>
            <a:r>
              <a:rPr sz="1800">
                <a:solidFill>
                  <a:srgbClr val="004EA8"/>
                </a:solidFill>
                <a:latin typeface="Arial"/>
              </a:rPr>
              <a:t>•  </a:t>
            </a:r>
            <a:r>
              <a:rPr sz="1800">
                <a:solidFill>
                  <a:srgbClr val="4B4B4B"/>
                </a:solidFill>
                <a:latin typeface="Arial"/>
              </a:rPr>
              <a:t>The owners of every BRD concerned approve it</a:t>
            </a:r>
          </a:p>
          <a:p>
            <a:pPr>
              <a:spcAft>
                <a:spcPts val="600"/>
              </a:spcAft>
            </a:pPr>
            <a:r>
              <a:rPr sz="1800">
                <a:solidFill>
                  <a:srgbClr val="004EA8"/>
                </a:solidFill>
                <a:latin typeface="Arial"/>
              </a:rPr>
              <a:t>•  </a:t>
            </a:r>
            <a:r>
              <a:rPr sz="1800">
                <a:solidFill>
                  <a:srgbClr val="4B4B4B"/>
                </a:solidFill>
                <a:latin typeface="Arial"/>
              </a:rPr>
              <a:t>Delivered as a new version of the set (v2.1, v2.2...) with the changed pages signed again (delta sign-off)</a:t>
            </a:r>
          </a:p>
          <a:p>
            <a:pPr>
              <a:spcAft>
                <a:spcPts val="600"/>
              </a:spcAft>
            </a:pPr>
            <a:r>
              <a:rPr sz="1800">
                <a:solidFill>
                  <a:srgbClr val="004EA8"/>
                </a:solidFill>
                <a:latin typeface="Arial"/>
              </a:rPr>
              <a:t>•  </a:t>
            </a:r>
            <a:r>
              <a:rPr sz="1800">
                <a:solidFill>
                  <a:srgbClr val="4B4B4B"/>
                </a:solidFill>
                <a:latin typeface="Arial"/>
              </a:rPr>
              <a:t>Configuration values marked default change in BIBS without a change request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Governance, contacts and next steps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a:t>
            </a:r>
          </a:p>
        </p:txBody>
      </p:sp>
      <p:graphicFrame>
        <p:nvGraphicFramePr>
          <p:cNvPr id="9" name="Table 8"/>
          <p:cNvGraphicFramePr>
            <a:graphicFrameLocks noGrp="1"/>
          </p:cNvGraphicFramePr>
          <p:nvPr/>
        </p:nvGraphicFramePr>
        <p:xfrm>
          <a:off x="548640" y="1371600"/>
          <a:ext cx="11094414" cy="2560320"/>
        </p:xfrm>
        <a:graphic>
          <a:graphicData uri="http://schemas.openxmlformats.org/drawingml/2006/table">
            <a:tbl>
              <a:tblPr firstRow="1" bandRow="1">
                <a:tableStyleId>{5C22544A-7EE6-4342-B048-85BDC9FD1C3A}</a:tableStyleId>
              </a:tblPr>
              <a:tblGrid>
                <a:gridCol w="2641527"/>
                <a:gridCol w="3698138"/>
                <a:gridCol w="4754749"/>
              </a:tblGrid>
              <a:tr h="365760">
                <a:tc>
                  <a:txBody>
                    <a:bodyPr/>
                    <a:lstStyle/>
                    <a:p>
                      <a:r>
                        <a:rPr sz="1000" b="1">
                          <a:solidFill>
                            <a:srgbClr val="FFFFFF"/>
                          </a:solidFill>
                          <a:latin typeface="Arial"/>
                        </a:rPr>
                        <a:t>Role</a:t>
                      </a:r>
                    </a:p>
                  </a:txBody>
                  <a:tcPr marL="73152" marR="73152" marT="36576" marB="36576">
                    <a:solidFill>
                      <a:srgbClr val="004EA8"/>
                    </a:solidFill>
                  </a:tcPr>
                </a:tc>
                <a:tc>
                  <a:txBody>
                    <a:bodyPr/>
                    <a:lstStyle/>
                    <a:p>
                      <a:r>
                        <a:rPr sz="1000" b="1">
                          <a:solidFill>
                            <a:srgbClr val="FFFFFF"/>
                          </a:solidFill>
                          <a:latin typeface="Arial"/>
                        </a:rPr>
                        <a:t>Who</a:t>
                      </a:r>
                    </a:p>
                  </a:txBody>
                  <a:tcPr marL="73152" marR="73152" marT="36576" marB="36576">
                    <a:solidFill>
                      <a:srgbClr val="004EA8"/>
                    </a:solidFill>
                  </a:tcPr>
                </a:tc>
                <a:tc>
                  <a:txBody>
                    <a:bodyPr/>
                    <a:lstStyle/>
                    <a:p>
                      <a:r>
                        <a:rPr sz="1000" b="1">
                          <a:solidFill>
                            <a:srgbClr val="FFFFFF"/>
                          </a:solidFill>
                          <a:latin typeface="Arial"/>
                        </a:rPr>
                        <a:t>Does</a:t>
                      </a:r>
                    </a:p>
                  </a:txBody>
                  <a:tcPr marL="73152" marR="73152" marT="36576" marB="36576">
                    <a:solidFill>
                      <a:srgbClr val="004EA8"/>
                    </a:solidFill>
                  </a:tcPr>
                </a:tc>
              </a:tr>
              <a:tr h="365760">
                <a:tc>
                  <a:txBody>
                    <a:bodyPr/>
                    <a:lstStyle/>
                    <a:p>
                      <a:r>
                        <a:rPr sz="1000" b="0">
                          <a:solidFill>
                            <a:srgbClr val="4B4B4B"/>
                          </a:solidFill>
                          <a:latin typeface="Arial"/>
                        </a:rPr>
                        <a:t>Business owner and approver</a:t>
                      </a:r>
                    </a:p>
                  </a:txBody>
                  <a:tcPr marL="73152" marR="73152" marT="36576" marB="36576">
                    <a:solidFill>
                      <a:srgbClr val="FFFFFF"/>
                    </a:solidFill>
                  </a:tcPr>
                </a:tc>
                <a:tc>
                  <a:txBody>
                    <a:bodyPr/>
                    <a:lstStyle/>
                    <a:p>
                      <a:r>
                        <a:rPr sz="1000" b="0">
                          <a:solidFill>
                            <a:srgbClr val="4B4B4B"/>
                          </a:solidFill>
                          <a:latin typeface="Arial"/>
                        </a:rPr>
                        <a:t>Ronald Allan E. De Leon, VP, Head - Comptrollership</a:t>
                      </a:r>
                    </a:p>
                  </a:txBody>
                  <a:tcPr marL="73152" marR="73152" marT="36576" marB="36576">
                    <a:solidFill>
                      <a:srgbClr val="FFFFFF"/>
                    </a:solidFill>
                  </a:tcPr>
                </a:tc>
                <a:tc>
                  <a:txBody>
                    <a:bodyPr/>
                    <a:lstStyle/>
                    <a:p>
                      <a:r>
                        <a:rPr sz="1000" b="0">
                          <a:solidFill>
                            <a:srgbClr val="4B4B4B"/>
                          </a:solidFill>
                          <a:latin typeface="Arial"/>
                        </a:rPr>
                        <a:t>Accountable for the sign-off; chairs the sign-off meeting</a:t>
                      </a:r>
                    </a:p>
                  </a:txBody>
                  <a:tcPr marL="73152" marR="73152" marT="36576" marB="36576">
                    <a:solidFill>
                      <a:srgbClr val="FFFFFF"/>
                    </a:solidFill>
                  </a:tcPr>
                </a:tc>
              </a:tr>
              <a:tr h="365760">
                <a:tc>
                  <a:txBody>
                    <a:bodyPr/>
                    <a:lstStyle/>
                    <a:p>
                      <a:r>
                        <a:rPr sz="1000" b="0">
                          <a:solidFill>
                            <a:srgbClr val="4B4B4B"/>
                          </a:solidFill>
                          <a:latin typeface="Arial"/>
                        </a:rPr>
                        <a:t>Approvers</a:t>
                      </a:r>
                    </a:p>
                  </a:txBody>
                  <a:tcPr marL="73152" marR="73152" marT="36576" marB="36576">
                    <a:solidFill>
                      <a:srgbClr val="E5F5FF"/>
                    </a:solidFill>
                  </a:tcPr>
                </a:tc>
                <a:tc>
                  <a:txBody>
                    <a:bodyPr/>
                    <a:lstStyle/>
                    <a:p>
                      <a:r>
                        <a:rPr sz="1000" b="0">
                          <a:solidFill>
                            <a:srgbClr val="4B4B4B"/>
                          </a:solidFill>
                          <a:latin typeface="Arial"/>
                        </a:rPr>
                        <a:t>Iris S. Marquez (FRBS and ACSL), Rodrigo R. Dela Cruz (Disbursement), Perjelyn Joy R. Gutierrez (Comptrollership and Operations), Shellah Marie C. Miranda (Marketing, Processing and Collections), Roderick L. Lim (Institutional Banking, SM and BDO Accounts)</a:t>
                      </a:r>
                    </a:p>
                  </a:txBody>
                  <a:tcPr marL="73152" marR="73152" marT="36576" marB="36576">
                    <a:solidFill>
                      <a:srgbClr val="E5F5FF"/>
                    </a:solidFill>
                  </a:tcPr>
                </a:tc>
                <a:tc>
                  <a:txBody>
                    <a:bodyPr/>
                    <a:lstStyle/>
                    <a:p>
                      <a:r>
                        <a:rPr sz="1000" b="0">
                          <a:solidFill>
                            <a:srgbClr val="4B4B4B"/>
                          </a:solidFill>
                          <a:latin typeface="Arial"/>
                        </a:rPr>
                        <a:t>Approve the screens and rules of their units</a:t>
                      </a:r>
                    </a:p>
                  </a:txBody>
                  <a:tcPr marL="73152" marR="73152" marT="36576" marB="36576">
                    <a:solidFill>
                      <a:srgbClr val="E5F5FF"/>
                    </a:solidFill>
                  </a:tcPr>
                </a:tc>
              </a:tr>
              <a:tr h="365760">
                <a:tc>
                  <a:txBody>
                    <a:bodyPr/>
                    <a:lstStyle/>
                    <a:p>
                      <a:r>
                        <a:rPr sz="1000" b="0">
                          <a:solidFill>
                            <a:srgbClr val="4B4B4B"/>
                          </a:solidFill>
                          <a:latin typeface="Arial"/>
                        </a:rPr>
                        <a:t>Reviewers</a:t>
                      </a:r>
                    </a:p>
                  </a:txBody>
                  <a:tcPr marL="73152" marR="73152" marT="36576" marB="36576">
                    <a:solidFill>
                      <a:srgbClr val="FFFFFF"/>
                    </a:solidFill>
                  </a:tcPr>
                </a:tc>
                <a:tc>
                  <a:txBody>
                    <a:bodyPr/>
                    <a:lstStyle/>
                    <a:p>
                      <a:r>
                        <a:rPr sz="1000" b="0">
                          <a:solidFill>
                            <a:srgbClr val="4B4B4B"/>
                          </a:solidFill>
                          <a:latin typeface="Arial"/>
                        </a:rPr>
                        <a:t>Freddie A. Atanque and Jennifer T. Lugtu (ACSL); Rhommel Mark Galler (MBS); Ma. Fides Rivera, Ruby Evangelista and Darryl Castillo (MBS input)</a:t>
                      </a:r>
                    </a:p>
                  </a:txBody>
                  <a:tcPr marL="73152" marR="73152" marT="36576" marB="36576">
                    <a:solidFill>
                      <a:srgbClr val="FFFFFF"/>
                    </a:solidFill>
                  </a:tcPr>
                </a:tc>
                <a:tc>
                  <a:txBody>
                    <a:bodyPr/>
                    <a:lstStyle/>
                    <a:p>
                      <a:r>
                        <a:rPr sz="1000" b="0">
                          <a:solidFill>
                            <a:srgbClr val="4B4B4B"/>
                          </a:solidFill>
                          <a:latin typeface="Arial"/>
                        </a:rPr>
                        <a:t>Review their screens and rows; raise comments</a:t>
                      </a:r>
                    </a:p>
                  </a:txBody>
                  <a:tcPr marL="73152" marR="73152" marT="36576" marB="36576">
                    <a:solidFill>
                      <a:srgbClr val="FFFFFF"/>
                    </a:solidFill>
                  </a:tcPr>
                </a:tc>
              </a:tr>
              <a:tr h="365760">
                <a:tc>
                  <a:txBody>
                    <a:bodyPr/>
                    <a:lstStyle/>
                    <a:p>
                      <a:r>
                        <a:rPr sz="1000" b="0">
                          <a:solidFill>
                            <a:srgbClr val="4B4B4B"/>
                          </a:solidFill>
                          <a:latin typeface="Arial"/>
                        </a:rPr>
                        <a:t>BDOI IT</a:t>
                      </a:r>
                    </a:p>
                  </a:txBody>
                  <a:tcPr marL="73152" marR="73152" marT="36576" marB="36576">
                    <a:solidFill>
                      <a:srgbClr val="E5F5FF"/>
                    </a:solidFill>
                  </a:tcPr>
                </a:tc>
                <a:tc>
                  <a:txBody>
                    <a:bodyPr/>
                    <a:lstStyle/>
                    <a:p>
                      <a:r>
                        <a:rPr sz="1000" b="0">
                          <a:solidFill>
                            <a:srgbClr val="4B4B4B"/>
                          </a:solidFill>
                          <a:latin typeface="Arial"/>
                        </a:rPr>
                        <a:t>Information Technology Group (Carmela A. Morfe, Yonille D. Guy, Abegail R. Panghulan, Nelda R. Ranchez)</a:t>
                      </a:r>
                    </a:p>
                  </a:txBody>
                  <a:tcPr marL="73152" marR="73152" marT="36576" marB="36576">
                    <a:solidFill>
                      <a:srgbClr val="E5F5FF"/>
                    </a:solidFill>
                  </a:tcPr>
                </a:tc>
                <a:tc>
                  <a:txBody>
                    <a:bodyPr/>
                    <a:lstStyle/>
                    <a:p>
                      <a:r>
                        <a:rPr sz="1000" b="0">
                          <a:solidFill>
                            <a:srgbClr val="4B4B4B"/>
                          </a:solidFill>
                          <a:latin typeface="Arial"/>
                        </a:rPr>
                        <a:t>Reviews the scheduled runs, files, access and the Technical Specification</a:t>
                      </a:r>
                    </a:p>
                  </a:txBody>
                  <a:tcPr marL="73152" marR="73152" marT="36576" marB="36576">
                    <a:solidFill>
                      <a:srgbClr val="E5F5FF"/>
                    </a:solidFill>
                  </a:tcPr>
                </a:tc>
              </a:tr>
              <a:tr h="365760">
                <a:tc>
                  <a:txBody>
                    <a:bodyPr/>
                    <a:lstStyle/>
                    <a:p>
                      <a:r>
                        <a:rPr sz="1000" b="0">
                          <a:solidFill>
                            <a:srgbClr val="4B4B4B"/>
                          </a:solidFill>
                          <a:latin typeface="Arial"/>
                        </a:rPr>
                        <a:t>BRD owner</a:t>
                      </a:r>
                    </a:p>
                  </a:txBody>
                  <a:tcPr marL="73152" marR="73152" marT="36576" marB="36576">
                    <a:solidFill>
                      <a:srgbClr val="FFFFFF"/>
                    </a:solidFill>
                  </a:tcPr>
                </a:tc>
                <a:tc>
                  <a:txBody>
                    <a:bodyPr/>
                    <a:lstStyle/>
                    <a:p>
                      <a:r>
                        <a:rPr sz="1000" b="0">
                          <a:solidFill>
                            <a:srgbClr val="4B4B4B"/>
                          </a:solidFill>
                          <a:latin typeface="Arial"/>
                        </a:rPr>
                        <a:t>Dan Ace R. Cauton, Program Manager, and Roda Lyn D. Gallardo, Zean C. Ibay and Jane Tagle, Business Analysts, ESG-BPS</a:t>
                      </a:r>
                    </a:p>
                  </a:txBody>
                  <a:tcPr marL="73152" marR="73152" marT="36576" marB="36576">
                    <a:solidFill>
                      <a:srgbClr val="FFFFFF"/>
                    </a:solidFill>
                  </a:tcPr>
                </a:tc>
                <a:tc>
                  <a:txBody>
                    <a:bodyPr/>
                    <a:lstStyle/>
                    <a:p>
                      <a:r>
                        <a:rPr sz="1000" b="0">
                          <a:solidFill>
                            <a:srgbClr val="4B4B4B"/>
                          </a:solidFill>
                          <a:latin typeface="Arial"/>
                        </a:rPr>
                        <a:t>Traceability to the BRD; sign-off coordination</a:t>
                      </a:r>
                    </a:p>
                  </a:txBody>
                  <a:tcPr marL="73152" marR="73152" marT="36576" marB="36576">
                    <a:solidFill>
                      <a:srgbClr val="FFFFFF"/>
                    </a:solidFill>
                  </a:tcPr>
                </a:tc>
              </a:tr>
              <a:tr h="365760">
                <a:tc>
                  <a:txBody>
                    <a:bodyPr/>
                    <a:lstStyle/>
                    <a:p>
                      <a:r>
                        <a:rPr sz="1000" b="0">
                          <a:solidFill>
                            <a:srgbClr val="4B4B4B"/>
                          </a:solidFill>
                          <a:latin typeface="Arial"/>
                        </a:rPr>
                        <a:t>Delivery</a:t>
                      </a:r>
                    </a:p>
                  </a:txBody>
                  <a:tcPr marL="73152" marR="73152" marT="36576" marB="36576">
                    <a:solidFill>
                      <a:srgbClr val="E5F5FF"/>
                    </a:solidFill>
                  </a:tcPr>
                </a:tc>
                <a:tc>
                  <a:txBody>
                    <a:bodyPr/>
                    <a:lstStyle/>
                    <a:p>
                      <a:r>
                        <a:rPr sz="1000" b="0">
                          <a:solidFill>
                            <a:srgbClr val="4B4B4B"/>
                          </a:solidFill>
                          <a:latin typeface="Arial"/>
                        </a:rPr>
                        <a:t>iorta TechNXT Project Manager, Business Analysis, test lead</a:t>
                      </a:r>
                    </a:p>
                  </a:txBody>
                  <a:tcPr marL="73152" marR="73152" marT="36576" marB="36576">
                    <a:solidFill>
                      <a:srgbClr val="E5F5FF"/>
                    </a:solidFill>
                  </a:tcPr>
                </a:tc>
                <a:tc>
                  <a:txBody>
                    <a:bodyPr/>
                    <a:lstStyle/>
                    <a:p>
                      <a:r>
                        <a:rPr sz="1000" b="0">
                          <a:solidFill>
                            <a:srgbClr val="4B4B4B"/>
                          </a:solidFill>
                          <a:latin typeface="Arial"/>
                        </a:rPr>
                        <a:t>Sessions, answers, comments log, revisions, change requests</a:t>
                      </a:r>
                    </a:p>
                  </a:txBody>
                  <a:tcPr marL="73152" marR="73152" marT="36576" marB="36576">
                    <a:solidFill>
                      <a:srgbClr val="E5F5F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Next steps and the release order of the other BRD sets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Kick-off and first SIT walkthrough on Wed 25-Nov-2026</a:t>
            </a:r>
          </a:p>
          <a:p>
            <a:pPr>
              <a:spcAft>
                <a:spcPts val="600"/>
              </a:spcAft>
            </a:pPr>
            <a:r>
              <a:rPr sz="1600">
                <a:solidFill>
                  <a:srgbClr val="004EA8"/>
                </a:solidFill>
                <a:latin typeface="Arial"/>
              </a:rPr>
              <a:t>•  </a:t>
            </a:r>
            <a:r>
              <a:rPr sz="1600">
                <a:solidFill>
                  <a:srgbClr val="4B4B4B"/>
                </a:solidFill>
                <a:latin typeface="Arial"/>
              </a:rPr>
              <a:t>Workbooks returned by Mon 14-Dec-2026; Q&amp;A on Wed 16-Dec-2026; sign-off on Wed 23-Dec-2026</a:t>
            </a:r>
          </a:p>
          <a:p>
            <a:pPr>
              <a:spcAft>
                <a:spcPts val="600"/>
              </a:spcAft>
            </a:pPr>
            <a:r>
              <a:rPr sz="1600">
                <a:solidFill>
                  <a:srgbClr val="004EA8"/>
                </a:solidFill>
                <a:latin typeface="Arial"/>
              </a:rPr>
              <a:t>•  </a:t>
            </a:r>
            <a:r>
              <a:rPr sz="1600">
                <a:solidFill>
                  <a:srgbClr val="4B4B4B"/>
                </a:solidFill>
                <a:latin typeface="Arial"/>
              </a:rPr>
              <a:t>BRD-13 Data Migration follows (opening balances, open items and payees), then BRD-7 and BRD-8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Sign-off Pack Guide BRD-5 Accounting Disbursement ACSL</dc:title>
  <dc:subject>BIBS – BDOI Broker System</dc:subject>
  <dc:creator>iorta TechNXT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