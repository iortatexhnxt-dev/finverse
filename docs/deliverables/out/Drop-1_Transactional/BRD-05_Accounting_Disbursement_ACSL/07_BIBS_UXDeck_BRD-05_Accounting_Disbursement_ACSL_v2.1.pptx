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xml" ContentType="application/vnd.openxmlformats-officedocument.presentationml.notesSlide+xml"/>
  <Override PartName="/ppt/notesSlides/notesSlide470.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 id="876" r:id="rId628"/>
    <p:sldId id="877" r:id="rId629"/>
    <p:sldId id="878" r:id="rId630"/>
    <p:sldId id="879" r:id="rId631"/>
    <p:sldId id="880" r:id="rId632"/>
    <p:sldId id="881" r:id="rId633"/>
    <p:sldId id="882" r:id="rId634"/>
    <p:sldId id="883" r:id="rId635"/>
    <p:sldId id="884" r:id="rId636"/>
    <p:sldId id="885" r:id="rId637"/>
    <p:sldId id="886" r:id="rId638"/>
    <p:sldId id="887" r:id="rId639"/>
    <p:sldId id="888" r:id="rId640"/>
    <p:sldId id="889" r:id="rId6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 Id="rId628" Type="http://schemas.openxmlformats.org/officeDocument/2006/relationships/slide" Target="slides/slide621.xml"/><Relationship Id="rId629" Type="http://schemas.openxmlformats.org/officeDocument/2006/relationships/slide" Target="slides/slide622.xml"/><Relationship Id="rId630" Type="http://schemas.openxmlformats.org/officeDocument/2006/relationships/slide" Target="slides/slide623.xml"/><Relationship Id="rId631" Type="http://schemas.openxmlformats.org/officeDocument/2006/relationships/slide" Target="slides/slide624.xml"/><Relationship Id="rId632" Type="http://schemas.openxmlformats.org/officeDocument/2006/relationships/slide" Target="slides/slide625.xml"/><Relationship Id="rId633" Type="http://schemas.openxmlformats.org/officeDocument/2006/relationships/slide" Target="slides/slide626.xml"/><Relationship Id="rId634" Type="http://schemas.openxmlformats.org/officeDocument/2006/relationships/slide" Target="slides/slide627.xml"/><Relationship Id="rId635" Type="http://schemas.openxmlformats.org/officeDocument/2006/relationships/slide" Target="slides/slide628.xml"/><Relationship Id="rId636" Type="http://schemas.openxmlformats.org/officeDocument/2006/relationships/slide" Target="slides/slide629.xml"/><Relationship Id="rId637" Type="http://schemas.openxmlformats.org/officeDocument/2006/relationships/slide" Target="slides/slide630.xml"/><Relationship Id="rId638" Type="http://schemas.openxmlformats.org/officeDocument/2006/relationships/slide" Target="slides/slide631.xml"/><Relationship Id="rId639" Type="http://schemas.openxmlformats.org/officeDocument/2006/relationships/slide" Target="slides/slide632.xml"/><Relationship Id="rId640" Type="http://schemas.openxmlformats.org/officeDocument/2006/relationships/slide" Target="slides/slide633.xml"/><Relationship Id="rId641" Type="http://schemas.openxmlformats.org/officeDocument/2006/relationships/slide" Target="slides/slide6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9.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9.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4.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6.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4.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5.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6.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8.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9.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0.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4.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6.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7.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9.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0.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1.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4.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5.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6.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0.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1.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2.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3.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BRD-5 Accounting Disbursement ACSL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(BRD-5 approval sheets: main BRD p.141-142 (Prepared, Input Provided, Reviewed, Approved by), Addendum 1 p.39-40 and the Workshop Addendum p.15-16);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(BRD-5 approval sheets: main BRD p.141-142 (Prepared, Input Provided, Reviewed, Approved by), Addendum 1 p.39-40 and the Workshop Addendum p.15-16);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NAV-AC-01_menu.png.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NAV-AC-02_menu.png.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NAV-AC-02_menu.png.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BRD-2: 7;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BRD-2: 7;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NAV-AC-07_menu.png.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menu entries in all; entries of the other BRDs: BRD-1: 6; BRD-2: 7;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menu entries in all; entries of the other BRDs: BRD-1: 6; BRD-2: 7;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NAV-AC-08_menu.png.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menu entries in all; entries of the other BRDs: BRD-1: 9; BRD-2: 5;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menu entries in all; entries of the other BRDs: BRD-1: 9; BRD-2: 5;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NAV-AC-09_menu.png.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NAV-AC-10_menu.png.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NAV-AC-11_menu.png.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NAV-AC-12_menu.png.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menu entries in all; entries of the other BRDs: BRD-1: 3;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NAV-AC-13_menu.png.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NAV-AC-13_menu.png.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NAV-AC-14_menu.png.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NAV-AC-14_menu.png.</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NAV-AC-15_menu.png.</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NAV-AC-15_menu.png.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menu entries in all; entries of the other BRDs: BRD-1: 5;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NAV-AC-16_menu.png.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NAV-AC-16_menu.png.</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BRD-3: 10; BRD-4: 11;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BRD-4: 12;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BRD-4: 12;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Officer (FRBS). Menu and landing page: NAV-AC-01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Team Lead. Menu and landing page: NAV-AC-02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Section Head. Menu and landing page: NAV-AC-03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Accountant (bank reconciliation). Menu and landing page: NAV-AC-04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administrator (masters and rules). Menu and landing page: NAV-AC-05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Processor. Menu and landing page: NAV-AC-06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Team Leader. Menu and landing page: NAV-AC-07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Approver. Menu and landing page: NAV-AC-08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Processor (AO). Menu and landing page: NAV-AC-09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Reviewer. Menu and landing page: NAV-AC-10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Approver. Menu and landing page: NAV-AC-11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Resources Approver. Menu and landing page: NAV-AC-12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Processor. Menu and landing page: NAV-AC-13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Team Leader. Menu and landing page: NAV-AC-14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Head (approver). Menu and landing page: NAV-AC-15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(read access). Menu and landing page: NAV-AC-16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NAV-AC-17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NAV-AC-18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NAV-AC-19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On the reversal date the automatic reversal posts the mirror of the accrual and the voucher shows Reversed.; The accrual is in the trial balance and the schedules of the report pack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Officer (FRBS): Enters an accrual on New Journal (value date today, Reverse on the first day of next month, a debit to the expense with its cost centre and a credit to accrued expenses), clicks Save &amp; Submit and confirms</a:t>
            </a:r>
          </a:p>
          <a:p>
            <a:r>
              <a:t>2. GL Team Lead: Selects the voucher on Journals, clicks Assign and chooses the GL Section Head</a:t>
            </a:r>
          </a:p>
          <a:p>
            <a:r>
              <a:t>3. GL Section Head: Chooses Assigned to me, selects the voucher, clicks Post Selected and confirms</a:t>
            </a:r>
          </a:p>
          <a:p>
            <a:r>
              <a:t>4. GL Section Head: Opens the journal</a:t>
            </a:r>
          </a:p>
          <a:p>
            <a:r>
              <a:t>5. GL Officer (FRBS): Opens Account Inquiry for the expense account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SCR-AC-02_wt-a-step-01.png.</a:t>
            </a:r>
          </a:p>
          <a:p>
            <a:r>
              <a:t>Persona does: Enters an accrual on New Journal (value date today, Reverse on the first day of next month, a debit to the expense with its cost centre and a credit to accrued expenses), clicks Save &amp; Submit and confirms</a:t>
            </a:r>
          </a:p>
          <a:p>
            <a:r>
              <a:t>System does: Submitted</a:t>
            </a:r>
          </a:p>
          <a:p>
            <a:r>
              <a:t>Shown: The journal with its batch number, Pending Approval, the lines and the automatic reversal date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SCR-AC-01_wt-a-step-02.png.</a:t>
            </a:r>
          </a:p>
          <a:p>
            <a:r>
              <a:t>Persona does: Selects the voucher on Journals, clicks Assign and chooses the GL Section Head</a:t>
            </a:r>
          </a:p>
          <a:p>
            <a:r>
              <a:t>System does: Assigned</a:t>
            </a:r>
          </a:p>
          <a:p>
            <a:r>
              <a:t>Shown: Message: 1 journal(s) assigned; Assigned To shows her name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SCR-AC-01_wt-a-step-03.png.</a:t>
            </a:r>
          </a:p>
          <a:p>
            <a:r>
              <a:t>Persona does: Chooses Assigned to me, selects the voucher, clicks Post Selected and confirms</a:t>
            </a:r>
          </a:p>
          <a:p>
            <a:r>
              <a:t>System does: Posted</a:t>
            </a:r>
          </a:p>
          <a:p>
            <a:r>
              <a:t>Shown: Message: 1 of 1 journal(s) posted; the voucher is Posted</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SCR-AC-03_wt-a-step-04.png.</a:t>
            </a:r>
          </a:p>
          <a:p>
            <a:r>
              <a:t>Persona does: Opens the journal</a:t>
            </a:r>
          </a:p>
          <a:p>
            <a:r>
              <a:t>System does: In the ledger</a:t>
            </a:r>
          </a:p>
          <a:p>
            <a:r>
              <a:t>Shown: The posted voucher with Input by, Submitted by and Authorized by, and Automatic reversal on the first day of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SCR-AC-04_wt-a-step-05.png.</a:t>
            </a:r>
          </a:p>
          <a:p>
            <a:r>
              <a:t>Persona does: Opens Account Inquiry for the expense account of the month</a:t>
            </a:r>
          </a:p>
          <a:p>
            <a:r>
              <a:t>System does: Reported</a:t>
            </a:r>
          </a:p>
          <a:p>
            <a:r>
              <a:t>Shown: The accrual among the posted lines, with the running balance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end of day of the date puts the credit in the Direct Credit Transaction File and e-mails the payment confirmation to the client.; The client's account is recorded on the client record for the next refund.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Processor (AO): Fills in New Refund Request (segment, reference, purpose, credit to the client's account) with one account to refund (AR number, client, assured, amount, reason Overpayment) and clicks Save Request</a:t>
            </a:r>
          </a:p>
          <a:p>
            <a:r>
              <a:t>2. Marketing Processor (AO): Clicks Submit for Review and confirms</a:t>
            </a:r>
          </a:p>
          <a:p>
            <a:r>
              <a:t>3. Marketing Reviewer: Opens the request and clicks Endorse for Approval</a:t>
            </a:r>
          </a:p>
          <a:p>
            <a:r>
              <a:t>4. Marketing Approver: Clicks Approve and Send</a:t>
            </a:r>
          </a:p>
          <a:p>
            <a:r>
              <a:t>5. Disbursement Processor: Opens For Approval on the Disbursement Workbench</a:t>
            </a:r>
          </a:p>
          <a:p>
            <a:r>
              <a:t>6. Disbursement Processor: Opens the voucher</a:t>
            </a:r>
          </a:p>
          <a:p>
            <a:r>
              <a:t>7. Disbursement Approver: Clicks Approve and Post and confirms</a:t>
            </a:r>
          </a:p>
          <a:p>
            <a:r>
              <a:t>8. Marketing Processor (AO): Opens the Disbursement tab of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SCR-AC-40_wt-b-step-01.png.</a:t>
            </a:r>
          </a:p>
          <a:p>
            <a:r>
              <a:t>Persona does: Fills in New Refund Request (segment, reference, purpose, credit to the client's account) with one account to refund (AR number, client, assured, amount, reason Overpayment) and clicks Save Request</a:t>
            </a:r>
          </a:p>
          <a:p>
            <a:r>
              <a:t>System does: Draft</a:t>
            </a:r>
          </a:p>
          <a:p>
            <a:r>
              <a:t>Shown: Message: &lt;request&gt; saved; the request opens in Draft with its account to refund</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SCR-AC-43_wt-b-step-02.png.</a:t>
            </a:r>
          </a:p>
          <a:p>
            <a:r>
              <a:t>Persona does: Clicks Submit for Review and confirms</a:t>
            </a:r>
          </a:p>
          <a:p>
            <a:r>
              <a:t>System does: For review</a:t>
            </a:r>
          </a:p>
          <a:p>
            <a:r>
              <a:t>Shown: The request For Review in the workflow header</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SCR-AC-43_wt-b-step-03.png.</a:t>
            </a:r>
          </a:p>
          <a:p>
            <a:r>
              <a:t>Persona does: Opens the request and clicks Endorse for Approval</a:t>
            </a:r>
          </a:p>
          <a:p>
            <a:r>
              <a:t>System does: For approval</a:t>
            </a:r>
          </a:p>
          <a:p>
            <a:r>
              <a:t>Shown: The request For Approval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SCR-AC-43_wt-b-step-04.png.</a:t>
            </a:r>
          </a:p>
          <a:p>
            <a:r>
              <a:t>Persona does: Clicks Approve and Send</a:t>
            </a:r>
          </a:p>
          <a:p>
            <a:r>
              <a:t>System does: Sent to Disbursement</a:t>
            </a:r>
          </a:p>
          <a:p>
            <a:r>
              <a:t>Shown: The request With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SCR-AC-25_wt-b-step-05.png.</a:t>
            </a:r>
          </a:p>
          <a:p>
            <a:r>
              <a:t>Persona does: Opens For Approval on the Disbursement Workbench</a:t>
            </a:r>
          </a:p>
          <a:p>
            <a:r>
              <a:t>System does: Voucher created</a:t>
            </a:r>
          </a:p>
          <a:p>
            <a:r>
              <a:t>Shown: The voucher of the refund, created automatically from the request with the client as payee and routed straight to the approver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SCR-AC-27_wt-b-step-06.png.</a:t>
            </a:r>
          </a:p>
          <a:p>
            <a:r>
              <a:t>Persona does: Opens the voucher</a:t>
            </a:r>
          </a:p>
          <a:p>
            <a:r>
              <a:t>System does: For approval</a:t>
            </a:r>
          </a:p>
          <a:p>
            <a:r>
              <a:t>Shown: The voucher For Approval: the client as payee, credit to account, the paying account, the net amount and the history that shows the automatic routing</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SCR-AC-27_wt-b-step-07.png.</a:t>
            </a:r>
          </a:p>
          <a:p>
            <a:r>
              <a:t>Persona does: Clicks Approve and Post and confirms</a:t>
            </a:r>
          </a:p>
          <a:p>
            <a:r>
              <a:t>System does: Approved</a:t>
            </a:r>
          </a:p>
          <a:p>
            <a:r>
              <a:t>Shown: The voucher Approved; the journal posted and the credit to account issued</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SCR-AC-43_wt-b-step-08.png.</a:t>
            </a:r>
          </a:p>
          <a:p>
            <a:r>
              <a:t>Persona does: Opens the Disbursement tab of the request</a:t>
            </a:r>
          </a:p>
          <a:p>
            <a:r>
              <a:t>System does: Followed</a:t>
            </a:r>
          </a:p>
          <a:p>
            <a:r>
              <a:t>Shown: The voucher number and its status in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correction journal reverses the wrong line and posts it to the right account; the invoice ledger is corrected with it.; The next GL-SL reconciliation shows the control account in agreement.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ACSL Processor: Clicks Upload SOA, chooses the insurer, the period and the statement file, and clicks Upload and Reconcile</a:t>
            </a:r>
          </a:p>
          <a:p>
            <a:r>
              <a:t>2. ACSL Processor: Opens the upload</a:t>
            </a:r>
          </a:p>
          <a:p>
            <a:r>
              <a:t>3. ACSL Team Leader: Clicks Open a Case: investigation of the invoice with a variance</a:t>
            </a:r>
          </a:p>
          <a:p>
            <a:r>
              <a:t>4. ACSL Team Leader: Opens the case and assigns it to the ACSL Processor</a:t>
            </a:r>
          </a:p>
          <a:p>
            <a:r>
              <a:t>5. ACSL Processor: Clicks Start Investigation, records the findings and clicks Raise Correction (posting to a wrong GL account)</a:t>
            </a:r>
          </a:p>
          <a:p>
            <a:r>
              <a:t>6. ACSL Team Leader: Assigns the correction to the ACSL Processor as its preparer</a:t>
            </a:r>
          </a:p>
          <a:p>
            <a:r>
              <a:t>7. ACSL Processor: Picks the wrong line among the posted lines of the invoice family, clicks Correct with the right account, saves the lines and clicks Submit for Review</a:t>
            </a:r>
          </a:p>
          <a:p>
            <a:r>
              <a:t>8. ACSL Team Leader: Clicks Endorse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ACSL Head (approver): Clicks Approve and Post and confirms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SCR-AC-49_wt-c-step-01.png.</a:t>
            </a:r>
          </a:p>
          <a:p>
            <a:r>
              <a:t>Persona does: Clicks Upload SOA, chooses the insurer, the period and the statement file, and clicks Upload and Reconcile</a:t>
            </a:r>
          </a:p>
          <a:p>
            <a:r>
              <a:t>System does: Reconciled</a:t>
            </a:r>
          </a:p>
          <a:p>
            <a:r>
              <a:t>Shown: Message: &lt;upload&gt;: n of n rows loaded; the upload is listed with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SCR-AC-50_wt-c-step-02.png.</a:t>
            </a:r>
          </a:p>
          <a:p>
            <a:r>
              <a:t>Persona does: Opens the upload</a:t>
            </a:r>
          </a:p>
          <a:p>
            <a:r>
              <a:t>System does: Variances known</a:t>
            </a:r>
          </a:p>
          <a:p>
            <a:r>
              <a:t>Shown: The counts per result and the lines with their premium and balance variances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SCR-AC-45_wt-c-step-03.png.</a:t>
            </a:r>
          </a:p>
          <a:p>
            <a:r>
              <a:t>Persona does: Clicks Open a Case: investigation of the invoice with a variance</a:t>
            </a:r>
          </a:p>
          <a:p>
            <a:r>
              <a:t>System does: Case opened</a:t>
            </a:r>
          </a:p>
          <a:p>
            <a:r>
              <a:t>Shown: Message: &lt;case&gt; opened; the case is Received</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SCR-AC-46_wt-c-step-04.png.</a:t>
            </a:r>
          </a:p>
          <a:p>
            <a:r>
              <a:t>Persona does: Opens the case and assigns it to the ACSL Processor</a:t>
            </a:r>
          </a:p>
          <a:p>
            <a:r>
              <a:t>System does: Assigned</a:t>
            </a:r>
          </a:p>
          <a:p>
            <a:r>
              <a:t>Shown: The case Assigned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SCR-AC-46_wt-c-step-05.png.</a:t>
            </a:r>
          </a:p>
          <a:p>
            <a:r>
              <a:t>Persona does: Clicks Start Investigation, records the findings and clicks Raise Correction (posting to a wrong GL account)</a:t>
            </a:r>
          </a:p>
          <a:p>
            <a:r>
              <a:t>System does: Correction raised</a:t>
            </a:r>
          </a:p>
          <a:p>
            <a:r>
              <a:t>Shown: The correction entry opens, raised from the case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At the scheduled time the checklist runs and the month closes, or the alert Scheduled close failed lists the blocking items.; The revaluation reverses on the first day of the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Section Head: Enters the month-end rate of USD for the previous month on Monthly revaluation rates and clicks Save Rate</a:t>
            </a:r>
          </a:p>
          <a:p>
            <a:r>
              <a:t>2. GL Team Lead: Chooses the previous month, checks the preview and clicks Post revaluation</a:t>
            </a:r>
          </a:p>
          <a:p>
            <a:r>
              <a:t>3. GL Team Lead: Clicks Schedule Close for the previous month at the proposed date and time</a:t>
            </a:r>
          </a:p>
          <a:p>
            <a:r>
              <a:t>4. GL Team Lead: Opens Broking Books Cut-Off</a:t>
            </a:r>
          </a:p>
          <a:p>
            <a:r>
              <a:t>5. GL Officer (FRBS): Opens the service-fee run of the month and tags a line Released with the date the recipient was credited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SCR-AC-08_wt-d-step-01.png.</a:t>
            </a:r>
          </a:p>
          <a:p>
            <a:r>
              <a:t>Persona does: Enters the month-end rate of USD for the previous month on Monthly revaluation rates and clicks Save Rate</a:t>
            </a:r>
          </a:p>
          <a:p>
            <a:r>
              <a:t>System does: Rate in force</a:t>
            </a:r>
          </a:p>
          <a:p>
            <a:r>
              <a:t>Shown: The rate listed with the month end and her name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SCR-AC-13_wt-d-step-02.png.</a:t>
            </a:r>
          </a:p>
          <a:p>
            <a:r>
              <a:t>Persona does: Chooses the previous month, checks the preview and clicks Post revaluation</a:t>
            </a:r>
          </a:p>
          <a:p>
            <a:r>
              <a:t>System does: Revalued</a:t>
            </a:r>
          </a:p>
          <a:p>
            <a:r>
              <a:t>Shown: The revaluation run of the month with its journal and its reversal</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SCR-AC-11_wt-d-step-03.png.</a:t>
            </a:r>
          </a:p>
          <a:p>
            <a:r>
              <a:t>Persona does: Clicks Schedule Close for the previous month at the proposed date and time</a:t>
            </a:r>
          </a:p>
          <a:p>
            <a:r>
              <a:t>System does: Close scheduled</a:t>
            </a:r>
          </a:p>
          <a:p>
            <a:r>
              <a:t>Shown: Message: the close of the month scheduled; listed as Scheduled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SCR-AC-11_wt-d-step-04.png.</a:t>
            </a:r>
          </a:p>
          <a:p>
            <a:r>
              <a:t>Persona does: Opens Broking Books Cut-Off</a:t>
            </a:r>
          </a:p>
          <a:p>
            <a:r>
              <a:t>System does: Cut-off checked</a:t>
            </a:r>
          </a:p>
          <a:p>
            <a:r>
              <a:t>Shown: The broking books of each period with who closed them and when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SCR-AC-22_wt-d-step-05.png.</a:t>
            </a:r>
          </a:p>
          <a:p>
            <a:r>
              <a:t>Persona does: Opens the service-fee run of the month and tags a line Released with the date the recipient was credited</a:t>
            </a:r>
          </a:p>
          <a:p>
            <a:r>
              <a:t>System does: Released</a:t>
            </a:r>
          </a:p>
          <a:p>
            <a:r>
              <a:t>Shown: The line Released with its date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controls of the set, each with what the user sees: a voucher that does not balance, an AR refunded twice, an insurer statement uploaded twice and a payment request for a payee that is not maintained.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Officer (FRBS): Enters a voucher whose debit and credit differ</a:t>
            </a:r>
          </a:p>
          <a:p>
            <a:r>
              <a:t>2. Marketing Processor (AO): Raises a refund with the AR of the refund of walkthrough B</a:t>
            </a:r>
          </a:p>
          <a:p>
            <a:r>
              <a:t>3. ACSL Processor: Uploads the statement of walkthrough C again</a:t>
            </a:r>
          </a:p>
          <a:p>
            <a:r>
              <a:t>4. Disbursement Processor: Encodes a payment request for a payee code that is not maintained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SCR-AC-02_wt-e-step-01.png.</a:t>
            </a:r>
          </a:p>
          <a:p>
            <a:r>
              <a:t>Persona does: Enters a voucher whose debit and credit differ</a:t>
            </a:r>
          </a:p>
          <a:p>
            <a:r>
              <a:t>System does: Refused</a:t>
            </a:r>
          </a:p>
          <a:p>
            <a:r>
              <a:t>Shown: Under the lines: Difference with the amount; Save &amp; Submit is not offered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SCR-AC-40_wt-e-step-02.png.</a:t>
            </a:r>
          </a:p>
          <a:p>
            <a:r>
              <a:t>Persona does: Raises a refund with the AR of the refund of walkthrough B</a:t>
            </a:r>
          </a:p>
          <a:p>
            <a:r>
              <a:t>System does: Refused</a:t>
            </a:r>
          </a:p>
          <a:p>
            <a:r>
              <a:t>Shown: The refusal: the AR is already refunded by the request named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SCR-AC-49_wt-e-step-03.png.</a:t>
            </a:r>
          </a:p>
          <a:p>
            <a:r>
              <a:t>Persona does: Uploads the statement of walkthrough C again</a:t>
            </a:r>
          </a:p>
          <a:p>
            <a:r>
              <a:t>System does: Refused</a:t>
            </a:r>
          </a:p>
          <a:p>
            <a:r>
              <a:t>Shown: The refusal: the file was already uploaded for the insurer as the upload named</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SCR-AC-25_wt-e-step-04.png.</a:t>
            </a:r>
          </a:p>
          <a:p>
            <a:r>
              <a:t>Persona does: Encodes a payment request for a payee code that is not maintained</a:t>
            </a:r>
          </a:p>
          <a:p>
            <a:r>
              <a:t>System does: Waiting for payee</a:t>
            </a:r>
          </a:p>
          <a:p>
            <a:r>
              <a:t>Shown: The request on the No Payee tab, waiting for its payee; a payee request is raised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SCR-AC-01: SCR-AC-01_list.png, SCR-AC-01_assign.png, SCR-AC-01_post.png, SCR-AC-01_wt-a-step-02.png, SCR-AC-01_wt-a-step-03.png, SCR-AC-01_empty.png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SCR-AC-01_assign.png;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SCR-AC-01_post.png; FRS section 13.1.1.</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SCR-AC-01_empty.png; FRS section 13.1.1.</a:t>
            </a:r>
          </a:p>
          <a:p>
            <a:r>
              <a:t>Personas: GL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SCR-AC-01_empty.png; FRS section 13.1.1.</a:t>
            </a:r>
          </a:p>
          <a:p>
            <a:r>
              <a:t>Personas: GL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SCR-AC-02: SCR-AC-02_filled.png, SCR-AC-02_confirm.png, SCR-AC-02_error.png, SCR-AC-02_wt-a-step-01.png, SCR-AC-02_wt-e-step-01.png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SCR-AC-02_confirm.png;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SCR-AC-03: SCR-AC-03_posted.png, SCR-AC-03_pending.png, SCR-AC-03_reverse.png, SCR-AC-03_wt-a-step-04.png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SCR-AC-03_reverse.png;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SCR-AC-03_pending.png;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SCR-AC-03_pending.png;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SCR-AC-04: SCR-AC-04_statement.png, SCR-AC-04_wt-a-step-05.png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SCR-AC-04_statement.png; FRS section 13.1.4.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SCR-AC-04_statement.png; FRS section 13.1.4.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SCR-AC-05: SCR-AC-05_statement.png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SCR-AC-06: SCR-AC-06_list.png, SCR-AC-06_form.png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SCR-AC-06_form.png;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SCR-AC-06_form.png;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SCR-AC-07: SCR-AC-07_upload.png, SCR-AC-07_numbering.png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SCR-AC-07_upload.png;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SCR-AC-07_upload.png;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SCR-AC-07_numbering.png;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SCR-AC-08: SCR-AC-08_rates.png, SCR-AC-08_wt-d-step-01.png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SCR-AC-09: SCR-AC-09_list.png, SCR-AC-09_form.png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SCR-AC-09_list.png; FRS section 13.1.9.</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SCR-AC-09_form.png; FRS section 13.1.9.</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SCR-AC-10: SCR-AC-10_list.png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SCR-AC-10_list.png; FRS section 13.2.1.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SCR-AC-10_list.png; FRS section 13.2.1.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SCR-AC-11: SCR-AC-11_close.png, SCR-AC-11_schedule.png, SCR-AC-11_books.png, SCR-AC-11_wt-d-step-03.png, SCR-AC-11_wt-d-step-04.png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SCR-AC-11_close.png;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SCR-AC-11_schedule.png;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SCR-AC-11_books.png;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SCR-AC-11_books.png;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SCR-AC-12: SCR-AC-12_period.png, SCR-AC-12_year.png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SCR-AC-12_period.png;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SCR-AC-12_period.png;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SCR-AC-12_year.png;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SCR-AC-12_year.png;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SCR-AC-13: SCR-AC-13_preview.png, SCR-AC-13_wt-d-step-02.png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SCR-AC-14: SCR-AC-14_list.png, SCR-AC-14_form.png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SCR-AC-14_list.png;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SCR-AC-14_form.png;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SCR-AC-14_form.png;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SCR-AC-15: SCR-AC-15_list.png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SCR-AC-15_list.png; FRS section 13.2.6.</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SCR-AC-16: SCR-AC-16_match.png, SCR-AC-16_brs.png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SCR-AC-17: SCR-AC-17_list.png, SCR-AC-17_batch.png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SCR-AC-17_batch.png;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SCR-AC-17_batch.png;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SCR-AC-18: SCR-AC-18_params.png, SCR-AC-18_result.png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SCR-AC-18_params.png;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SCR-AC-19: SCR-AC-19_pack.png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SCR-AC-20: SCR-AC-20_run.png, SCR-AC-20_definitions.png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SCR-AC-21: SCR-AC-21_list.png, SCR-AC-21_compute.png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SCR-AC-21_list.png; FRS section 13.3.5.</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SCR-AC-21_compute.png; FRS section 13.3.5.</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SCR-AC-22: SCR-AC-22_run.png, SCR-AC-22_invoices.png, SCR-AC-22_wt-d-step-05.png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SCR-AC-23: SCR-AC-23_rates.png, SCR-AC-23_new-rate.png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SCR-AC-23_rates.png;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SCR-AC-23_rates.png;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SCR-AC-23_new-rate.png;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SCR-AC-24: SCR-AC-24_outputs.png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SCR-AC-25: SCR-AC-25_requests.png, SCR-AC-25_request.png, SCR-AC-25_approval.png, SCR-AC-25_wt-b-step-05.png, SCR-AC-25_wt-e-step-04.png, SCR-AC-25_auditor.png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SCR-AC-25_requests.png; FRS section 13.4.1.</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SCR-AC-25_request.png; FRS section 13.4.1.</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SCR-AC-25_auditor.png; FRS section 13.4.1.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SCR-AC-25_approval.png; FRS section 13.4.1.</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SCR-AC-26: SCR-AC-26_filled.png, SCR-AC-26_error.png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SCR-AC-26_filled.png;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SCR-AC-26_error.png;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SCR-AC-26_error.png;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SCR-AC-27: SCR-AC-27_details.png, SCR-AC-27_entry.png, SCR-AC-27_instrument.png, SCR-AC-27_tags.png, SCR-AC-27_approve.png, SCR-AC-27_wt-b-step-06.png, SCR-AC-27_wt-b-step-07.png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SCR-AC-27_entry.png;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SCR-AC-27_approve.png; FRS section 13.4.3.</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SCR-AC-27_instrument.png;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SCR-AC-27_instrument.png;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SCR-AC-27_tags.png;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SCR-AC-28: SCR-AC-28_list.png, SCR-AC-28_requests.png, SCR-AC-28_actions.png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SCR-AC-28_list.png; FRS section 13.4.4.</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SCR-AC-28_requests.png; FRS section 13.4.4.</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SCR-AC-28_actions.png; FRS section 13.4.4.</a:t>
            </a:r>
          </a:p>
          <a:p>
            <a:r>
              <a:t>Personas: Disbursement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SCR-AC-29: SCR-AC-29_payee.png, SCR-AC-29_new.png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SCR-AC-29_new.png;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SCR-AC-29_new.png;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SCR-AC-30: SCR-AC-30_upload.png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SCR-AC-30_upload.png; FRS section 13.4.6.</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SCR-AC-30_upload.png; FRS section 13.4.6.</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SCR-AC-31: SCR-AC-31_runs.png, SCR-AC-31_run.png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SCR-AC-31_runs.png; FRS section 13.4.7.</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SCR-AC-31_run.png; FRS section 13.4.7.</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SCR-AC-32: SCR-AC-32_list.png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SCR-AC-32_list.png; FRS section 13.4.8.</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SCR-AC-33: SCR-AC-33_approved.png, SCR-AC-33_new.png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SCR-AC-33_new.png;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SCR-AC-34: SCR-AC-34_banks.png, SCR-AC-34_series.png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SCR-AC-34_banks.png; FRS section 13.4.10.</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SCR-AC-34_series.png; FRS section 13.4.10.</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SCR-AC-35: SCR-AC-35_list.png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SCR-AC-35_list.png; FRS section 13.4.11.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SCR-AC-36: SCR-AC-36_list.png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SCR-AC-36_list.png; FRS section 13.4.12.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SCR-AC-37: SCR-AC-37_list.png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SCR-AC-38: SCR-AC-38_list.png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SCR-AC-38_list.png; FRS section 13.4.14.</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SCR-AC-38_list.png; FRS section 13.4.14.</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SCR-AC-39: SCR-AC-39_list.png, SCR-AC-39_approve.png, SCR-AC-39_filters.png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SCR-AC-39_list.png; FRS section 13.5.1.</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SCR-AC-39_filters.png; FRS section 13.5.1.</a:t>
            </a:r>
          </a:p>
          <a:p>
            <a:r>
              <a:t>Personas: Marketing Reviewer.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SCR-AC-39_filters.png; FRS section 13.5.1.</a:t>
            </a:r>
          </a:p>
          <a:p>
            <a:r>
              <a:t>Personas: Marketing Reviewer.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SCR-AC-39_approve.png; FRS section 13.5.1.</a:t>
            </a:r>
          </a:p>
          <a:p>
            <a:r>
              <a:t>Personas: Marketing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SCR-AC-40: SCR-AC-40_filled.png, SCR-AC-40_error.png, SCR-AC-40_wt-b-step-01.png, SCR-AC-40_wt-e-step-02.png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SCR-AC-41: SCR-AC-41_filled.png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SCR-AC-41_filled.png; FRS section 13.5.3.</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SCR-AC-42: SCR-AC-42_form.png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SCR-AC-42_form.png; FRS section 13.5.4.</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SCR-AC-43: SCR-AC-43_details.png, SCR-AC-43_disbursement.png, SCR-AC-43_assign.png, SCR-AC-43_wt-b-step-02.png, SCR-AC-43_wt-b-step-03.png, SCR-AC-43_wt-b-step-04.png, SCR-AC-43_wt-b-step-08.png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SCR-AC-43_assign.png; FRS section 13.5.5.</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SCR-AC-43_disbursement.png;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SCR-AC-44: SCR-AC-44_list.png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SCR-AC-44_list.png; FRS section 13.5.6.</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SCR-AC-45: SCR-AC-45_list.png, SCR-AC-45_new.png, SCR-AC-45_wt-c-step-03.png, SCR-AC-45_empty.png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SCR-AC-45_list.png;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SCR-AC-45_new.png;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SCR-AC-45_new.png;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SCR-AC-45_empty.png; FRS section 13.6.1.</a:t>
            </a:r>
          </a:p>
          <a:p>
            <a:r>
              <a:t>Personas: ACSL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SCR-AC-46: SCR-AC-46_case.png, SCR-AC-46_family.png, SCR-AC-46_wt-c-step-04.png, SCR-AC-46_wt-c-step-05.png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SCR-AC-46_family.png;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SCR-AC-47: SCR-AC-47_list.png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SCR-AC-47_list.png; FRS section 13.6.3.</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SCR-AC-48: SCR-AC-48_draft.png, SCR-AC-48_posted.png, SCR-AC-48_wt-c-step-06.png, SCR-AC-48_wt-c-step-07.png, SCR-AC-48_wt-c-step-08.png, SCR-AC-48_wt-c-step-09.png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SCR-AC-49: SCR-AC-49_list.png, SCR-AC-49_upload.png, SCR-AC-49_wt-c-step-01.png, SCR-AC-49_wt-e-step-03.png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SCR-AC-49_list.png; FRS section 13.6.5.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SCR-AC-49_upload.png; FRS section 13.6.5.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SCR-AC-50: SCR-AC-50_results.png, SCR-AC-50_log.png, SCR-AC-50_wt-c-step-02.png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SCR-AC-50_results.png;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SCR-AC-50_results.png;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SCR-AC-50_log.png;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SCR-AC-50_log.png;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SCR-AC-51: SCR-AC-51_runs.png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Disbursement Voucher, DV number and date – from the voucher; Payee: name, code, address and TIN – from the payee master; Payment: disbursement type, mode of payment, paying account, value date, gross, withholding tax and net amount, purpose – from the voucher terms; Accounting entry: the lines with account, cost centre, debit and credit – from the entry of the voucher; Prepared, checked and approved by: the names of the processor, the team leader and the approver – from the voucher workflow</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Bank and account: the BDOIR account to debit and the branch – from the paying account; Payment: payee, amount in figures and words, value date and reference – from the voucher and its instrument; Signatories of BDOI – from the approver of the voucher</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Header: the company account and the business date – from the paying account and the run; Detail line per credit to account: payee account number, payee name, amount and reference – from the vouchers paid by credit to account</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Request: segment, request date, reference, requesting unit and purpose – from the request; Lines: item, AR number, client number, assured or client name, amount, reason of refund, branch or unit, categories A and B – from the accounts to refund; Total and the account name or check name – from the request; Requested, reviewed and approved by – from the request workflow</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Payee: name, TIN and address – from the payee; Payor: BDOI, its TIN and address – from the company; Income payments: the ATC, the income and the tax withheld per month of the quarter – from the withholding tax of the payments</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Statement: insurer, period and upload number – from the upload; Lines: invoice, policy, assured, result, the premium and balance of the statement and of the books and their variances, the remittance – from the reconciliation run</a:t>
            </a:r>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9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notesSlide" Target="../notesSlides/notesSlide9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notesSlide" Target="../notesSlides/notes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notesSlide" Target="../notesSlides/notesSlide9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notesSlide" Target="../notesSlides/notesSlide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notesSlide" Target="../notesSlides/notesSlide10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0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0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notesSlide" Target="../notesSlides/notesSlide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image" Target="../media/image140.png"/><Relationship Id="rId5" Type="http://schemas.openxmlformats.org/officeDocument/2006/relationships/image" Target="../media/image141.png"/><Relationship Id="rId6" Type="http://schemas.openxmlformats.org/officeDocument/2006/relationships/image" Target="../media/image142.png"/><Relationship Id="rId7" Type="http://schemas.openxmlformats.org/officeDocument/2006/relationships/notesSlide" Target="../notesSlides/notes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image" Target="../media/image151.png"/><Relationship Id="rId7" Type="http://schemas.openxmlformats.org/officeDocument/2006/relationships/notesSlide" Target="../notesSlides/notesSlide1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notesSlide" Target="../notesSlides/notesSlide11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image" Target="../media/image157.png"/><Relationship Id="rId5" Type="http://schemas.openxmlformats.org/officeDocument/2006/relationships/image" Target="../media/image158.png"/><Relationship Id="rId6" Type="http://schemas.openxmlformats.org/officeDocument/2006/relationships/image" Target="../media/image159.png"/><Relationship Id="rId7"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4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5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5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5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6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6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6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6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68.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69.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0.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7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7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7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7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7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7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8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8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8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8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8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8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8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8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90.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19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19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19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19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19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19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19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0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0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04.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05.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0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0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0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09.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1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1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1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1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1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0.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2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2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2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28.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2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5.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3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3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0.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1.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45.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4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48.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49.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3.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4.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5.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5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59.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0.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3.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4.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5.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68.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69.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0.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3.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4.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5.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6.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78.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79.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0.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1.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3.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4.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5.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6.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88.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89.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0.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1.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3.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4.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295.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296.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29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298.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300.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1.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0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0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04.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05.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06.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08.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09.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0.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1.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1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13.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14.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15.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16.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1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8.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19.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20.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21.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2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24.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25.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26.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2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30.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31.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3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3.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34.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35.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36.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8.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39.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40.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41.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4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43.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44.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45.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46.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4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49.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5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5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53.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54.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55.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56.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5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8.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59.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60.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1.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6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63.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4.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65.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6.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6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68.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69.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70.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1.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7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73.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4.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75.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6.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7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8.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79.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80.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81.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83.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84.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5.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86.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38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388.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389.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0.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1.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39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393.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394.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395.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396.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39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8.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399.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0.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01.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3.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04.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05.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06.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0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08.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09.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0.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11.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3.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14.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15.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16.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1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8.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9.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20.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21.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2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23.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24.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5.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26.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8.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29.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30.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31.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3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33.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34.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35.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1.png"/><Relationship Id="rId4" Type="http://schemas.openxmlformats.org/officeDocument/2006/relationships/notesSlide" Target="../notesSlides/notesSlide436.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2.png"/><Relationship Id="rId4" Type="http://schemas.openxmlformats.org/officeDocument/2006/relationships/notesSlide" Target="../notesSlides/notesSlide43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8.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9.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3.png"/><Relationship Id="rId4" Type="http://schemas.openxmlformats.org/officeDocument/2006/relationships/notesSlide" Target="../notesSlides/notesSlide440.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4.png"/><Relationship Id="rId4" Type="http://schemas.openxmlformats.org/officeDocument/2006/relationships/notesSlide" Target="../notesSlides/notesSlide441.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3.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5.png"/><Relationship Id="rId4" Type="http://schemas.openxmlformats.org/officeDocument/2006/relationships/notesSlide" Target="../notesSlides/notesSlide444.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6.png"/><Relationship Id="rId4" Type="http://schemas.openxmlformats.org/officeDocument/2006/relationships/notesSlide" Target="../notesSlides/notesSlide445.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7.png"/><Relationship Id="rId4" Type="http://schemas.openxmlformats.org/officeDocument/2006/relationships/notesSlide" Target="../notesSlides/notesSlide446.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8.png"/><Relationship Id="rId4" Type="http://schemas.openxmlformats.org/officeDocument/2006/relationships/notesSlide" Target="../notesSlides/notesSlide44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8.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9.png"/><Relationship Id="rId4" Type="http://schemas.openxmlformats.org/officeDocument/2006/relationships/notesSlide" Target="../notesSlides/notesSlide449.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0.png"/><Relationship Id="rId4" Type="http://schemas.openxmlformats.org/officeDocument/2006/relationships/notesSlide" Target="../notesSlides/notesSlide450.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1.png"/><Relationship Id="rId4" Type="http://schemas.openxmlformats.org/officeDocument/2006/relationships/notesSlide" Target="../notesSlides/notesSlide451.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2.png"/><Relationship Id="rId4" Type="http://schemas.openxmlformats.org/officeDocument/2006/relationships/notesSlide" Target="../notesSlides/notesSlide45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3.png"/><Relationship Id="rId4" Type="http://schemas.openxmlformats.org/officeDocument/2006/relationships/notesSlide" Target="../notesSlides/notesSlide453.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4.png"/><Relationship Id="rId4" Type="http://schemas.openxmlformats.org/officeDocument/2006/relationships/notesSlide" Target="../notesSlides/notesSlide454.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5.png"/><Relationship Id="rId4" Type="http://schemas.openxmlformats.org/officeDocument/2006/relationships/notesSlide" Target="../notesSlides/notesSlide455.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6.png"/><Relationship Id="rId4" Type="http://schemas.openxmlformats.org/officeDocument/2006/relationships/notesSlide" Target="../notesSlides/notesSlide456.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7.png"/><Relationship Id="rId4" Type="http://schemas.openxmlformats.org/officeDocument/2006/relationships/notesSlide" Target="../notesSlides/notesSlide45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8.png"/><Relationship Id="rId4" Type="http://schemas.openxmlformats.org/officeDocument/2006/relationships/notesSlide" Target="../notesSlides/notesSlide458.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9.png"/><Relationship Id="rId4" Type="http://schemas.openxmlformats.org/officeDocument/2006/relationships/notesSlide" Target="../notesSlides/notesSlide459.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0.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1.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3.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4.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5.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6.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8.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9.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BRD-5 Accounting Disbursement ACSL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BRD-5 Accounting Disbursement ACSL: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BRD-5 Accounting Disbursement ACSL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51 screens, 172 screen images, 104 screen states, 19 personas, 5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426720">
                <a:tc>
                  <a:txBody>
                    <a:bodyPr/>
                    <a:lstStyle/>
                    <a:p>
                      <a:r>
                        <a:rPr sz="1100" b="0">
                          <a:solidFill>
                            <a:srgbClr val="4B4B4B"/>
                          </a:solidFill>
                          <a:latin typeface="Arial"/>
                        </a:rPr>
                        <a:t>CHG-AC-2.1-01</a:t>
                      </a:r>
                    </a:p>
                  </a:txBody>
                  <a:tcPr marL="54864" marR="54864" marT="27432" marB="27432">
                    <a:solidFill>
                      <a:srgbClr val="FFFFFF"/>
                    </a:solidFill>
                  </a:tcPr>
                </a:tc>
                <a:tc>
                  <a:txBody>
                    <a:bodyPr/>
                    <a:lstStyle/>
                    <a:p>
                      <a:r>
                        <a:rPr sz="1100" b="0">
                          <a:solidFill>
                            <a:srgbClr val="4B4B4B"/>
                          </a:solidFill>
                          <a:latin typeface="Arial"/>
                        </a:rPr>
                        <a:t>The CPC2 incentive report lists only the remitted lines whose booked transaction carries the CPC2 incentive tag (minutes of 4 May 2026)</a:t>
                      </a:r>
                    </a:p>
                  </a:txBody>
                  <a:tcPr marL="54864" marR="54864" marT="27432" marB="27432">
                    <a:solidFill>
                      <a:srgbClr val="FFFFFF"/>
                    </a:solidFill>
                  </a:tcPr>
                </a:tc>
                <a:tc>
                  <a:txBody>
                    <a:bodyPr/>
                    <a:lstStyle/>
                    <a:p>
                      <a:r>
                        <a:rPr sz="1100" b="0">
                          <a:solidFill>
                            <a:srgbClr val="4B4B4B"/>
                          </a:solidFill>
                          <a:latin typeface="Arial"/>
                        </a:rPr>
                        <a:t>SCR-AC-38</a:t>
                      </a:r>
                    </a:p>
                  </a:txBody>
                  <a:tcPr marL="54864" marR="54864" marT="27432" marB="27432">
                    <a:solidFill>
                      <a:srgbClr val="FFFFFF"/>
                    </a:solidFill>
                  </a:tcPr>
                </a:tc>
                <a:tc>
                  <a:txBody>
                    <a:bodyPr/>
                    <a:lstStyle/>
                    <a:p>
                      <a:r>
                        <a:rPr sz="1100" b="0">
                          <a:solidFill>
                            <a:srgbClr val="4B4B4B"/>
                          </a:solidFill>
                          <a:latin typeface="Arial"/>
                        </a:rPr>
                        <a:t>1</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89204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50292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Analysts, Enterprise Services Group - Business Project Services (BPS) (Roda Lyn D. Gallardo; Zean C. Ibay and Jane Tagle for the Workshop Addendum)</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50292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(MBS Team) (Ma. Fides Rivera; Ruby Evangelista and Darryl Castillo for the Workshop Addendum)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non-functional requirements and the Marketing refund and cash-advance request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Program Manager, Enterprise Services Group - Business Project Services (BPS) (Dan Ace R. Cauton)</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Product Owners - Comptrollership - ACSL (Freddie A. Atanque, Jennifer T. Lugtu)</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ACSL screens, the reconciliations, cases, corrections and remittance deductions, and the accounting entries they post</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(Carmela A. Morfe, Yonille D. Guy, Abegail R. Panghulan, Nelda R. Ranchez)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Scheduled runs and files, the bank files and forms, user access and menus, the hand-offs inside BIBS and the Technical Specification (a separate document); not the business screens</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(Rhommel Mark Galler)</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Workshop Addendum functions for Marketing: the cost centres of the payments and the incentives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 Disbursement (Rodrigo R. Dela Cruz)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Disbursement screens, fields, rules, messages, documents and bank files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Comptrollership - FRBS and ACSL (Iris S. Marquez)</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general ledger, closing, bank reconciliation, report pack, service fee and ACSL screens, rules and messages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and Operations (Perjelyn Joy R. Gutierrez)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hand-offs with Operations: remittance payments, refund validations, payment reversals, remittance deductions and the regularisation of cancelled vouchers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Marketing, Processing and Collections, AVP (Shellah Marie C. Miranda)</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Marketing refund, cash-advance and check-cancellation requests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Comptrollership, VP (Ronald Allan E. De Leon)</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for Comptrollership and approves all of its contents</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96012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Institutional Banking, SM and BDO Accounts, FVP (Roderick L. Lim; Head - Retail Marketing on the Workshop Addendum)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Marketing requests and the service fee of the referrers</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7853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Entry Edited on a disbursement voucher)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lines of an accounting entry: Side, Account, Party, Cost Centre, Amount);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For Approval, Sent for Payment);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34747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5486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 exchange rates with six decimals.</a:t>
                      </a:r>
                    </a:p>
                  </a:txBody>
                  <a:tcPr marL="54864" marR="54864" marT="27432" marB="27432">
                    <a:solidFill>
                      <a:srgbClr val="FFFFFF"/>
                    </a:solidFill>
                  </a:tcPr>
                </a:tc>
              </a:tr>
              <a:tr h="548640">
                <a:tc>
                  <a:txBody>
                    <a:bodyPr/>
                    <a:lstStyle/>
                    <a:p>
                      <a:r>
                        <a:rPr sz="1000" b="1">
                          <a:solidFill>
                            <a:srgbClr val="4B4B4B"/>
                          </a:solidFill>
                          <a:latin typeface="Arial"/>
                        </a:rPr>
                        <a:t>Period cell</a:t>
                      </a:r>
                    </a:p>
                  </a:txBody>
                  <a:tcPr marL="54864" marR="54864" marT="27432" marB="27432">
                    <a:solidFill>
                      <a:srgbClr val="E5F5FF"/>
                    </a:solidFill>
                  </a:tcPr>
                </a:tc>
                <a:tc>
                  <a:txBody>
                    <a:bodyPr/>
                    <a:lstStyle/>
                    <a:p>
                      <a:r>
                        <a:rPr sz="1000" b="0">
                          <a:solidFill>
                            <a:srgbClr val="4B4B4B"/>
                          </a:solidFill>
                          <a:latin typeface="Arial"/>
                        </a:rPr>
                        <a:t>A period (period of cover, a statement period, the fully paid period of a service-fee run, an effective period) is shown in lists on two lines, the start date and "to" the end date, each date kept whole; an open end reads "to open". In a sentence or a label and value grid it is one line: "01-Sep-2026 to 30-Sep-2026".</a:t>
                      </a:r>
                    </a:p>
                  </a:txBody>
                  <a:tcPr marL="54864" marR="54864" marT="27432" marB="27432">
                    <a:solidFill>
                      <a:srgbClr val="E5F5FF"/>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The page GL Officer (FRBS)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624244"/>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3493103"/>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New Journal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 vs Actual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Types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Accounting Rules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Rule Simulator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The page GL Team Lead sees after sign-in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58915"/>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Every group of the menu open (part 1 of 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19589"/>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563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Every group of the menu open (part 2 of 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New Journal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Cheques &amp; Deposits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PDC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Receivables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FX Revaluation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Period-End &amp; Year-End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GL Close &amp; Cut-Off</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Types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Accounting Rules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Rule Simulator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The page GL Section Head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684918"/>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Every group of the menu open (part 1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615576"/>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87977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Every group of the menu open (part 2 of 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 vs Actual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FX Revaluation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Period-End &amp; Year-End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GL Close &amp; Cut-Off</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Accountant (bank reconciliation):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The page Accountant (bank reconciliation)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7.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1 of 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9.png"/>
          <p:cNvPicPr>
            <a:picLocks noChangeAspect="1"/>
          </p:cNvPicPr>
          <p:nvPr/>
        </p:nvPicPr>
        <p:blipFill>
          <a:blip r:embed="rId4"/>
          <a:stretch>
            <a:fillRect/>
          </a:stretch>
        </p:blipFill>
        <p:spPr>
          <a:xfrm>
            <a:off x="3519906" y="1261872"/>
            <a:ext cx="2461641" cy="4671917"/>
          </a:xfrm>
          <a:prstGeom prst="rect">
            <a:avLst/>
          </a:prstGeom>
          <a:ln w="9525">
            <a:solidFill>
              <a:srgbClr val="C2C2C1"/>
            </a:solidFill>
          </a:ln>
        </p:spPr>
      </p:pic>
      <p:pic>
        <p:nvPicPr>
          <p:cNvPr id="12" name="Picture 11" descr="slice-0003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1.png"/>
          <p:cNvPicPr>
            <a:picLocks noChangeAspect="1"/>
          </p:cNvPicPr>
          <p:nvPr/>
        </p:nvPicPr>
        <p:blipFill>
          <a:blip r:embed="rId6"/>
          <a:stretch>
            <a:fillRect/>
          </a:stretch>
        </p:blipFill>
        <p:spPr>
          <a:xfrm>
            <a:off x="8900388" y="1261872"/>
            <a:ext cx="2461641" cy="468925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2 of 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4865027" y="1261872"/>
            <a:ext cx="2461641" cy="19199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3 of 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New Journal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Account Inquiry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Party Statement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New Receipt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Bank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Bank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The page Comptrollership administrator (masters and rules) sees after sign-in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3.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3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6.png"/>
          <p:cNvPicPr>
            <a:picLocks noChangeAspect="1"/>
          </p:cNvPicPr>
          <p:nvPr/>
        </p:nvPicPr>
        <p:blipFill>
          <a:blip r:embed="rId6"/>
          <a:stretch>
            <a:fillRect/>
          </a:stretch>
        </p:blipFill>
        <p:spPr>
          <a:xfrm>
            <a:off x="8900388" y="1261872"/>
            <a:ext cx="2461641" cy="471525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1 of 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8.png"/>
          <p:cNvPicPr>
            <a:picLocks noChangeAspect="1"/>
          </p:cNvPicPr>
          <p:nvPr/>
        </p:nvPicPr>
        <p:blipFill>
          <a:blip r:embed="rId4"/>
          <a:stretch>
            <a:fillRect/>
          </a:stretch>
        </p:blipFill>
        <p:spPr>
          <a:xfrm>
            <a:off x="3519906" y="1261872"/>
            <a:ext cx="2461641" cy="4637246"/>
          </a:xfrm>
          <a:prstGeom prst="rect">
            <a:avLst/>
          </a:prstGeom>
          <a:ln w="9525">
            <a:solidFill>
              <a:srgbClr val="C2C2C1"/>
            </a:solidFill>
          </a:ln>
        </p:spPr>
      </p:pic>
      <p:pic>
        <p:nvPicPr>
          <p:cNvPr id="12" name="Picture 11" descr="slice-0003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0.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2 of 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463724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3 of 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4865027" y="1261872"/>
            <a:ext cx="2461641" cy="5243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4 of 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Liquidation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The page Disbursement Processor sees after sign-in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7.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4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9.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Every group of the menu open (part 1 of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0.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51.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Every group of the menu open (part 2 of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Processor: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Uploads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End of Day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Account Funding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Bank Accounts and Checks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Processor: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NAV-AC-07 The page Disbursement Team Leader sees after sign-in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Team Leader: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3.png"/>
          <p:cNvPicPr>
            <a:picLocks noChangeAspect="1"/>
          </p:cNvPicPr>
          <p:nvPr/>
        </p:nvPicPr>
        <p:blipFill>
          <a:blip r:embed="rId4"/>
          <a:stretch>
            <a:fillRect/>
          </a:stretch>
        </p:blipFill>
        <p:spPr>
          <a:xfrm>
            <a:off x="3519906" y="1261872"/>
            <a:ext cx="2461641" cy="4624244"/>
          </a:xfrm>
          <a:prstGeom prst="rect">
            <a:avLst/>
          </a:prstGeom>
          <a:ln w="9525">
            <a:solidFill>
              <a:srgbClr val="C2C2C1"/>
            </a:solidFill>
          </a:ln>
        </p:spPr>
      </p:pic>
      <p:pic>
        <p:nvPicPr>
          <p:cNvPr id="12" name="Picture 11" descr="slice-0005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5.png"/>
          <p:cNvPicPr>
            <a:picLocks noChangeAspect="1"/>
          </p:cNvPicPr>
          <p:nvPr/>
        </p:nvPicPr>
        <p:blipFill>
          <a:blip r:embed="rId6"/>
          <a:stretch>
            <a:fillRect/>
          </a:stretch>
        </p:blipFill>
        <p:spPr>
          <a:xfrm>
            <a:off x="8900388" y="1261872"/>
            <a:ext cx="2461641" cy="390482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NAV-AC-07 Every group of the menu open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Team Leader: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Uploads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End of Day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Account Funding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Bank Accounts and Checks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Team Leader: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The page Disbursement Approver sees after sign-in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7.png"/>
          <p:cNvPicPr>
            <a:picLocks noChangeAspect="1"/>
          </p:cNvPicPr>
          <p:nvPr/>
        </p:nvPicPr>
        <p:blipFill>
          <a:blip r:embed="rId4"/>
          <a:stretch>
            <a:fillRect/>
          </a:stretch>
        </p:blipFill>
        <p:spPr>
          <a:xfrm>
            <a:off x="3519906" y="1261872"/>
            <a:ext cx="2461641" cy="4710922"/>
          </a:xfrm>
          <a:prstGeom prst="rect">
            <a:avLst/>
          </a:prstGeom>
          <a:ln w="9525">
            <a:solidFill>
              <a:srgbClr val="C2C2C1"/>
            </a:solidFill>
          </a:ln>
        </p:spPr>
      </p:pic>
      <p:pic>
        <p:nvPicPr>
          <p:cNvPr id="12" name="Picture 11" descr="slice-0005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9.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Every group of the menu open (part 1 of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0.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61.png"/>
          <p:cNvPicPr>
            <a:picLocks noChangeAspect="1"/>
          </p:cNvPicPr>
          <p:nvPr/>
        </p:nvPicPr>
        <p:blipFill>
          <a:blip r:embed="rId4"/>
          <a:stretch>
            <a:fillRect/>
          </a:stretch>
        </p:blipFill>
        <p:spPr>
          <a:xfrm>
            <a:off x="6210147" y="1261872"/>
            <a:ext cx="2461641" cy="267400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Every group of the menu open (part 2 of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Approver: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Approver: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Processor (AO):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NAV-AC-09 The page Marketing Processor (AO) sees after sign-in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Processor (AO):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2.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3.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64.png"/>
          <p:cNvPicPr>
            <a:picLocks noChangeAspect="1"/>
          </p:cNvPicPr>
          <p:nvPr/>
        </p:nvPicPr>
        <p:blipFill>
          <a:blip r:embed="rId5"/>
          <a:stretch>
            <a:fillRect/>
          </a:stretch>
        </p:blipFill>
        <p:spPr>
          <a:xfrm>
            <a:off x="7555268" y="1261872"/>
            <a:ext cx="2461641" cy="138684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NAV-AC-09 Every group of the menu open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Processor (AO):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New Refund Request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New Cash Advance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Cancel a Check</a:t>
                      </a:r>
                    </a:p>
                  </a:txBody>
                  <a:tcPr marL="54864" marR="54864" marT="27432" marB="27432">
                    <a:solidFill>
                      <a:srgbClr val="E5F5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Reviewer: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NAV-AC-10 The page Marketing Reviewer sees after sign-in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Reviewer: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67.png"/>
          <p:cNvPicPr>
            <a:picLocks noChangeAspect="1"/>
          </p:cNvPicPr>
          <p:nvPr/>
        </p:nvPicPr>
        <p:blipFill>
          <a:blip r:embed="rId5"/>
          <a:stretch>
            <a:fillRect/>
          </a:stretch>
        </p:blipFill>
        <p:spPr>
          <a:xfrm>
            <a:off x="7555268" y="1261872"/>
            <a:ext cx="2461641" cy="173355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NAV-AC-10 Every group of the menu open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Reviewer: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New Refund Request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New Cash Advance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Cancel a Check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Liquidation Accounts</a:t>
                      </a:r>
                    </a:p>
                  </a:txBody>
                  <a:tcPr marL="54864" marR="54864" marT="27432" marB="27432">
                    <a:solidFill>
                      <a:srgbClr val="FFFFF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NAV-AC-11 The page Marketing Approver sees after sign-in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8.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9.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70.png"/>
          <p:cNvPicPr>
            <a:picLocks noChangeAspect="1"/>
          </p:cNvPicPr>
          <p:nvPr/>
        </p:nvPicPr>
        <p:blipFill>
          <a:blip r:embed="rId5"/>
          <a:stretch>
            <a:fillRect/>
          </a:stretch>
        </p:blipFill>
        <p:spPr>
          <a:xfrm>
            <a:off x="7555268" y="1261872"/>
            <a:ext cx="2461641" cy="34671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NAV-AC-11 Every group of the menu open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Human Resources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NAV-AC-12 The page Human Resources Approver sees after sign-in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Human Resources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NAV-AC-12 Every group of the menu open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Human Resources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The page ACSL Processor sees after sign-in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4.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6.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Every group of the menu open (part 1 of 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7.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Every group of the menu open (part 2 of 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The page ACSL Team Leader sees after sign-in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4.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6.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Every group of the menu open (part 1 of 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7.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Every group of the menu open (part 2 of 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Team Leader: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The page ACSL Head (approver) sees after sign-in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4.png"/>
          <p:cNvPicPr>
            <a:picLocks noChangeAspect="1"/>
          </p:cNvPicPr>
          <p:nvPr/>
        </p:nvPicPr>
        <p:blipFill>
          <a:blip r:embed="rId4"/>
          <a:stretch>
            <a:fillRect/>
          </a:stretch>
        </p:blipFill>
        <p:spPr>
          <a:xfrm>
            <a:off x="3519906" y="1261872"/>
            <a:ext cx="2461641" cy="4684918"/>
          </a:xfrm>
          <a:prstGeom prst="rect">
            <a:avLst/>
          </a:prstGeom>
          <a:ln w="9525">
            <a:solidFill>
              <a:srgbClr val="C2C2C1"/>
            </a:solidFill>
          </a:ln>
        </p:spPr>
      </p:pic>
      <p:pic>
        <p:nvPicPr>
          <p:cNvPr id="12" name="Picture 11" descr="slice-0008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6.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Every group of the menu open (part 1 of 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7.png"/>
          <p:cNvPicPr>
            <a:picLocks noChangeAspect="1"/>
          </p:cNvPicPr>
          <p:nvPr/>
        </p:nvPicPr>
        <p:blipFill>
          <a:blip r:embed="rId3"/>
          <a:stretch>
            <a:fillRect/>
          </a:stretch>
        </p:blipFill>
        <p:spPr>
          <a:xfrm>
            <a:off x="4865027" y="1261872"/>
            <a:ext cx="2461641" cy="23706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Every group of the menu open (part 2 of 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Head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The page Comptrollership (read access) sees after sign-in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8.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89.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9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1.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Every group of the menu open (part 1 of 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4.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95.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Every group of the menu open (part 2 of 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(read access):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(read access):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The page Business Administrator sees after sign-in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1 of 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0.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101.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10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3.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2 of 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4.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3 of 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Business Administrator: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The page System Administrator sees after sign-in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10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0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1 of 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10.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11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1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2 of 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1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1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15.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116.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3 of 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ACSL Cases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Correction Entries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Insurer SOA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GL-SL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Report Pack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Runs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Rates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The page Auditor sees after sign-in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17.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11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19.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12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1 of 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2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2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24.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2 of 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26.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12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2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3 of 4)</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3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31.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132.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4 of 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ACSL Cases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Correction Entries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Insurer SOA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GL-SL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Report Pack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Runs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Rates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Account Inquiry</a:t>
                      </a:r>
                    </a:p>
                  </a:txBody>
                  <a:tcPr marL="54864" marR="54864" marT="27432" marB="27432">
                    <a:solidFill>
                      <a:srgbClr val="E5F5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Party Statement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Cheques &amp; Deposits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PDC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Receivables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Officer (FRBS)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GL Officer of FRBS who prepares the manual entries, runs the report pack and the BIR forms and follows the service fee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Prepares manual entries; monitors the service fee; runs and exports the report pack and government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5; WT-D steps 5; WT-E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SCR-AC-02 New Journal and Edit Journal</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SCR-AC-19 Report Pack</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SCR-AC-21 Service Fee Runs</a:t>
            </a:r>
          </a:p>
          <a:p>
            <a:pPr>
              <a:spcAft>
                <a:spcPts val="600"/>
              </a:spcAft>
            </a:pPr>
            <a:r>
              <a:rPr sz="900">
                <a:solidFill>
                  <a:srgbClr val="004EA8"/>
                </a:solidFill>
                <a:latin typeface="Arial"/>
              </a:rPr>
              <a:t>•  </a:t>
            </a:r>
            <a:r>
              <a:rPr sz="900">
                <a:solidFill>
                  <a:srgbClr val="4B4B4B"/>
                </a:solidFill>
                <a:latin typeface="Arial"/>
              </a:rPr>
              <a:t>SCR-AC-22 Service Fee Run</a:t>
            </a:r>
          </a:p>
          <a:p>
            <a:pPr>
              <a:spcAft>
                <a:spcPts val="600"/>
              </a:spcAft>
            </a:pPr>
            <a:r>
              <a:rPr sz="900">
                <a:solidFill>
                  <a:srgbClr val="004EA8"/>
                </a:solidFill>
                <a:latin typeface="Arial"/>
              </a:rPr>
              <a:t>•  </a:t>
            </a:r>
            <a:r>
              <a:rPr sz="900">
                <a:solidFill>
                  <a:srgbClr val="4B4B4B"/>
                </a:solidFill>
                <a:latin typeface="Arial"/>
              </a:rPr>
              <a:t>SCR-AC-23 Service Fee Rates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Team Lead who assigns and posts the entries, keeps the chart, closes the month and the year and approves the service fee</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and posts entries; schedules and runs the month-end and year-end closes; maintains and uploads the chart; approves the service fee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WT-D steps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SCR-AC-02 New Journal and Edit Journal</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SCR-AC-07 Chart Upload</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SCR-AC-11 GL Close &amp; Cut-Off</a:t>
            </a:r>
          </a:p>
          <a:p>
            <a:pPr>
              <a:spcAft>
                <a:spcPts val="600"/>
              </a:spcAft>
            </a:pPr>
            <a:r>
              <a:rPr sz="800">
                <a:solidFill>
                  <a:srgbClr val="004EA8"/>
                </a:solidFill>
                <a:latin typeface="Arial"/>
              </a:rPr>
              <a:t>•  </a:t>
            </a:r>
            <a:r>
              <a:rPr sz="800">
                <a:solidFill>
                  <a:srgbClr val="4B4B4B"/>
                </a:solidFill>
                <a:latin typeface="Arial"/>
              </a:rPr>
              <a:t>SCR-AC-12 Period-End &amp; Year-End</a:t>
            </a:r>
          </a:p>
          <a:p>
            <a:pPr>
              <a:spcAft>
                <a:spcPts val="600"/>
              </a:spcAft>
            </a:pPr>
            <a:r>
              <a:rPr sz="800">
                <a:solidFill>
                  <a:srgbClr val="004EA8"/>
                </a:solidFill>
                <a:latin typeface="Arial"/>
              </a:rPr>
              <a:t>•  </a:t>
            </a:r>
            <a:r>
              <a:rPr sz="800">
                <a:solidFill>
                  <a:srgbClr val="4B4B4B"/>
                </a:solidFill>
                <a:latin typeface="Arial"/>
              </a:rPr>
              <a:t>SCR-AC-13 FX Revaluation</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SCR-AC-24 BIR Forms &amp; Books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SCR-AC-36 Certificates Received</a:t>
            </a:r>
          </a:p>
          <a:p>
            <a:pPr>
              <a:spcAft>
                <a:spcPts val="600"/>
              </a:spcAft>
            </a:pPr>
            <a:r>
              <a:rPr sz="800">
                <a:solidFill>
                  <a:srgbClr val="004EA8"/>
                </a:solidFill>
                <a:latin typeface="Arial"/>
              </a:rPr>
              <a:t>•  </a:t>
            </a:r>
            <a:r>
              <a:rPr sz="800">
                <a:solidFill>
                  <a:srgbClr val="4B4B4B"/>
                </a:solidFill>
                <a:latin typeface="Arial"/>
              </a:rPr>
              <a:t>SCR-AC-37 BIR Form 2307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Section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Section Head who enters the monthly revaluation rate, authorises the chart and posts and reverses entries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TL, plus the monthly revaluation rate, authorisation of masters and reversal of journals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4; WT-D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SCR-AC-11 GL Close &amp; Cut-Off</a:t>
            </a:r>
          </a:p>
          <a:p>
            <a:pPr>
              <a:spcAft>
                <a:spcPts val="600"/>
              </a:spcAft>
            </a:pPr>
            <a:r>
              <a:rPr sz="900">
                <a:solidFill>
                  <a:srgbClr val="004EA8"/>
                </a:solidFill>
                <a:latin typeface="Arial"/>
              </a:rPr>
              <a:t>•  </a:t>
            </a:r>
            <a:r>
              <a:rPr sz="900">
                <a:solidFill>
                  <a:srgbClr val="4B4B4B"/>
                </a:solidFill>
                <a:latin typeface="Arial"/>
              </a:rPr>
              <a:t>SCR-AC-12 Period-End &amp; Year-End</a:t>
            </a:r>
          </a:p>
          <a:p>
            <a:pPr>
              <a:spcAft>
                <a:spcPts val="600"/>
              </a:spcAft>
            </a:pPr>
            <a:r>
              <a:rPr sz="900">
                <a:solidFill>
                  <a:srgbClr val="004EA8"/>
                </a:solidFill>
                <a:latin typeface="Arial"/>
              </a:rPr>
              <a:t>•  </a:t>
            </a:r>
            <a:r>
              <a:rPr sz="900">
                <a:solidFill>
                  <a:srgbClr val="4B4B4B"/>
                </a:solidFill>
                <a:latin typeface="Arial"/>
              </a:rPr>
              <a:t>SCR-AC-13 FX Revaluation</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SCR-AC-19 Report Pack</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SCR-AC-21 Service Fee Runs</a:t>
            </a:r>
          </a:p>
          <a:p>
            <a:pPr>
              <a:spcAft>
                <a:spcPts val="600"/>
              </a:spcAft>
            </a:pPr>
            <a:r>
              <a:rPr sz="900">
                <a:solidFill>
                  <a:srgbClr val="004EA8"/>
                </a:solidFill>
                <a:latin typeface="Arial"/>
              </a:rPr>
              <a:t>•  </a:t>
            </a:r>
            <a:r>
              <a:rPr sz="900">
                <a:solidFill>
                  <a:srgbClr val="4B4B4B"/>
                </a:solidFill>
                <a:latin typeface="Arial"/>
              </a:rPr>
              <a:t>SCR-AC-22 Service Fee Run</a:t>
            </a:r>
          </a:p>
          <a:p>
            <a:pPr>
              <a:spcAft>
                <a:spcPts val="600"/>
              </a:spcAft>
            </a:pPr>
            <a:r>
              <a:rPr sz="900">
                <a:solidFill>
                  <a:srgbClr val="004EA8"/>
                </a:solidFill>
                <a:latin typeface="Arial"/>
              </a:rPr>
              <a:t>•  </a:t>
            </a:r>
            <a:r>
              <a:rPr sz="900">
                <a:solidFill>
                  <a:srgbClr val="4B4B4B"/>
                </a:solidFill>
                <a:latin typeface="Arial"/>
              </a:rPr>
              <a:t>SCR-AC-23 Service Fee Rates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Accountant (bank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accountant who imports the bank statements and reconciles the bank accounts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Imports the statements of the bank accounts, matches the bank lines with the book entries and prepares the bank reconciliation statement of the month</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SCR-AC-02 New Journal and Edit Journal</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SCR-AC-14 Bank Statement Layouts</a:t>
            </a:r>
          </a:p>
          <a:p>
            <a:pPr>
              <a:spcAft>
                <a:spcPts val="600"/>
              </a:spcAft>
            </a:pPr>
            <a:r>
              <a:rPr sz="900">
                <a:solidFill>
                  <a:srgbClr val="004EA8"/>
                </a:solidFill>
                <a:latin typeface="Arial"/>
              </a:rPr>
              <a:t>•  </a:t>
            </a:r>
            <a:r>
              <a:rPr sz="900">
                <a:solidFill>
                  <a:srgbClr val="4B4B4B"/>
                </a:solidFill>
                <a:latin typeface="Arial"/>
              </a:rPr>
              <a:t>SCR-AC-15 Bank Statements</a:t>
            </a:r>
          </a:p>
          <a:p>
            <a:pPr>
              <a:spcAft>
                <a:spcPts val="600"/>
              </a:spcAft>
            </a:pPr>
            <a:r>
              <a:rPr sz="900">
                <a:solidFill>
                  <a:srgbClr val="004EA8"/>
                </a:solidFill>
                <a:latin typeface="Arial"/>
              </a:rPr>
              <a:t>•  </a:t>
            </a:r>
            <a:r>
              <a:rPr sz="900">
                <a:solidFill>
                  <a:srgbClr val="4B4B4B"/>
                </a:solidFill>
                <a:latin typeface="Arial"/>
              </a:rPr>
              <a:t>SCR-AC-16 Bank Reconciliation</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Comptrollership administrator (masters and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administrator who keeps the accounting and cost-centre rules, the employees and the liquidation accounts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Employee and cost-centre master; liquidation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SCR-AC-44 Liquidation Accounts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Processor who encodes and uploads requests, prepares the vouchers, follows the instruments and tags the receipts and certificates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Encodes and uploads requests, processes DVs, tags instruments, OR / AR and CWT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5, 6; WT-E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SCR-AC-26 Encode Payment Request</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SCR-AC-30 Disbursement Uploads</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Disbursement Team Leader who reviews the vouchers, keeps the payees, runs the end of day and requests and verifies the fundings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processor, plus review, payee maintenance, funding request and verification, end of day, status-edit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SCR-AC-26 Encode Payment Request</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SCR-AC-30 Disbursement Uploads</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Approver who approves the vouchers, authorises the payees and bank accounts and approves the fundings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rejects and cancels approved DVs; authorises payees; approves funding; maintains bank accounts and check series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Processor (AO)</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raises the refund, cash-advance and check-cancellation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refund, cash-advance and check-cancellation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1, 2, 8; WT-E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SCR-AC-40 New Refund Request</a:t>
            </a:r>
          </a:p>
          <a:p>
            <a:pPr>
              <a:spcAft>
                <a:spcPts val="600"/>
              </a:spcAft>
            </a:pPr>
            <a:r>
              <a:rPr sz="1100">
                <a:solidFill>
                  <a:srgbClr val="004EA8"/>
                </a:solidFill>
                <a:latin typeface="Arial"/>
              </a:rPr>
              <a:t>•  </a:t>
            </a:r>
            <a:r>
              <a:rPr sz="1100">
                <a:solidFill>
                  <a:srgbClr val="4B4B4B"/>
                </a:solidFill>
                <a:latin typeface="Arial"/>
              </a:rPr>
              <a:t>SCR-AC-41 New Cash Advance</a:t>
            </a:r>
          </a:p>
          <a:p>
            <a:pPr>
              <a:spcAft>
                <a:spcPts val="600"/>
              </a:spcAft>
            </a:pPr>
            <a:r>
              <a:rPr sz="1100">
                <a:solidFill>
                  <a:srgbClr val="004EA8"/>
                </a:solidFill>
                <a:latin typeface="Arial"/>
              </a:rPr>
              <a:t>•  </a:t>
            </a:r>
            <a:r>
              <a:rPr sz="1100">
                <a:solidFill>
                  <a:srgbClr val="4B4B4B"/>
                </a:solidFill>
                <a:latin typeface="Arial"/>
              </a:rPr>
              <a:t>SCR-AC-42 Cancel a Check</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Reviewer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reviewer who assigns, validates and endorses the requests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reviews and endorses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SCR-AC-40 New Refund Request</a:t>
            </a:r>
          </a:p>
          <a:p>
            <a:pPr>
              <a:spcAft>
                <a:spcPts val="600"/>
              </a:spcAft>
            </a:pPr>
            <a:r>
              <a:rPr sz="1100">
                <a:solidFill>
                  <a:srgbClr val="004EA8"/>
                </a:solidFill>
                <a:latin typeface="Arial"/>
              </a:rPr>
              <a:t>•  </a:t>
            </a:r>
            <a:r>
              <a:rPr sz="1100">
                <a:solidFill>
                  <a:srgbClr val="4B4B4B"/>
                </a:solidFill>
                <a:latin typeface="Arial"/>
              </a:rPr>
              <a:t>SCR-AC-41 New Cash Advance</a:t>
            </a:r>
          </a:p>
          <a:p>
            <a:pPr>
              <a:spcAft>
                <a:spcPts val="600"/>
              </a:spcAft>
            </a:pPr>
            <a:r>
              <a:rPr sz="1100">
                <a:solidFill>
                  <a:srgbClr val="004EA8"/>
                </a:solidFill>
                <a:latin typeface="Arial"/>
              </a:rPr>
              <a:t>•  </a:t>
            </a:r>
            <a:r>
              <a:rPr sz="1100">
                <a:solidFill>
                  <a:srgbClr val="4B4B4B"/>
                </a:solidFill>
                <a:latin typeface="Arial"/>
              </a:rPr>
              <a:t>SCR-AC-42 Cancel a Check</a:t>
            </a:r>
          </a:p>
          <a:p>
            <a:pPr>
              <a:spcAft>
                <a:spcPts val="600"/>
              </a:spcAft>
            </a:pPr>
            <a:r>
              <a:rPr sz="1100">
                <a:solidFill>
                  <a:srgbClr val="004EA8"/>
                </a:solidFill>
                <a:latin typeface="Arial"/>
              </a:rPr>
              <a:t>•  </a:t>
            </a:r>
            <a:r>
              <a:rPr sz="1100">
                <a:solidFill>
                  <a:srgbClr val="4B4B4B"/>
                </a:solidFill>
                <a:latin typeface="Arial"/>
              </a:rPr>
              <a:t>SCR-AC-43 Request</a:t>
            </a:r>
          </a:p>
          <a:p>
            <a:pPr>
              <a:spcAft>
                <a:spcPts val="600"/>
              </a:spcAft>
            </a:pPr>
            <a:r>
              <a:rPr sz="1100">
                <a:solidFill>
                  <a:srgbClr val="004EA8"/>
                </a:solidFill>
                <a:latin typeface="Arial"/>
              </a:rPr>
              <a:t>•  </a:t>
            </a:r>
            <a:r>
              <a:rPr sz="1100">
                <a:solidFill>
                  <a:srgbClr val="4B4B4B"/>
                </a:solidFill>
                <a:latin typeface="Arial"/>
              </a:rPr>
              <a:t>SCR-AC-44 Liquidation Accounts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approver who approves the requests and sends them to Disbursement</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Human Resources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Human Resources approver of the employee cash advances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cash advances after Marketing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ACSL processor who uploads the insurer statements, investigates the cases and prepares the corrections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Uploads SOAs, investigates, applies refunds, requests reversals, prepares corrections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5, 7; WT-E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Team Leader who assigns the cases and corrections, endorses the corrections and confirms the remittance deductions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cases and corrections, reviews corrections, confirms remittance deductions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3, 4, 6, 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Head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Head who approves the corrections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corrections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(read access)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with read access to the journals, Disbursement and ACSL</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journals, reports and closing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who keeps the lists of values and the employees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lists of values; requests user and role changes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SCR-AC-06 Chart of Accounts</a:t>
            </a:r>
          </a:p>
          <a:p>
            <a:pPr>
              <a:spcAft>
                <a:spcPts val="600"/>
              </a:spcAft>
            </a:pPr>
            <a:r>
              <a:rPr sz="1100">
                <a:solidFill>
                  <a:srgbClr val="004EA8"/>
                </a:solidFill>
                <a:latin typeface="Arial"/>
              </a:rPr>
              <a:t>•  </a:t>
            </a:r>
            <a:r>
              <a:rPr sz="1100">
                <a:solidFill>
                  <a:srgbClr val="4B4B4B"/>
                </a:solidFill>
                <a:latin typeface="Arial"/>
              </a:rPr>
              <a:t>SCR-AC-08 Currencies &amp; Rates</a:t>
            </a:r>
          </a:p>
          <a:p>
            <a:pPr>
              <a:spcAft>
                <a:spcPts val="600"/>
              </a:spcAft>
            </a:pPr>
            <a:r>
              <a:rPr sz="1100">
                <a:solidFill>
                  <a:srgbClr val="004EA8"/>
                </a:solidFill>
                <a:latin typeface="Arial"/>
              </a:rPr>
              <a:t>•  </a:t>
            </a:r>
            <a:r>
              <a:rPr sz="1100">
                <a:solidFill>
                  <a:srgbClr val="4B4B4B"/>
                </a:solidFill>
                <a:latin typeface="Arial"/>
              </a:rPr>
              <a:t>SCR-AC-09 Cost-Centre Rules</a:t>
            </a:r>
          </a:p>
          <a:p>
            <a:pPr>
              <a:spcAft>
                <a:spcPts val="600"/>
              </a:spcAft>
            </a:pPr>
            <a:r>
              <a:rPr sz="1100">
                <a:solidFill>
                  <a:srgbClr val="004EA8"/>
                </a:solidFill>
                <a:latin typeface="Arial"/>
              </a:rPr>
              <a:t>•  </a:t>
            </a:r>
            <a:r>
              <a:rPr sz="1100">
                <a:solidFill>
                  <a:srgbClr val="4B4B4B"/>
                </a:solidFill>
                <a:latin typeface="Arial"/>
              </a:rPr>
              <a:t>SCR-AC-10 Financial Periods</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SCR-AC-20 Account Schedules</a:t>
            </a:r>
          </a:p>
          <a:p>
            <a:pPr>
              <a:spcAft>
                <a:spcPts val="600"/>
              </a:spcAft>
            </a:pPr>
            <a:r>
              <a:rPr sz="1100">
                <a:solidFill>
                  <a:srgbClr val="004EA8"/>
                </a:solidFill>
                <a:latin typeface="Arial"/>
              </a:rPr>
              <a:t>•  </a:t>
            </a:r>
            <a:r>
              <a:rPr sz="1100">
                <a:solidFill>
                  <a:srgbClr val="4B4B4B"/>
                </a:solidFill>
                <a:latin typeface="Arial"/>
              </a:rPr>
              <a:t>SCR-AC-35 Employees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Manages users and role profiles through approved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SCR-AC-39 Requests Home</a:t>
            </a:r>
          </a:p>
          <a:p>
            <a:pPr>
              <a:spcAft>
                <a:spcPts val="600"/>
              </a:spcAft>
            </a:pPr>
            <a:r>
              <a:rPr sz="800">
                <a:solidFill>
                  <a:srgbClr val="004EA8"/>
                </a:solidFill>
                <a:latin typeface="Arial"/>
              </a:rPr>
              <a:t>•  </a:t>
            </a:r>
            <a:r>
              <a:rPr sz="800">
                <a:solidFill>
                  <a:srgbClr val="4B4B4B"/>
                </a:solidFill>
                <a:latin typeface="Arial"/>
              </a:rPr>
              <a:t>SCR-AC-43 Request</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the ledger, the reports and the records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journals, reports and closing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SCR-AC-24 BIR Forms &amp; Books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SCR-AC-36 Certificates Received</a:t>
            </a:r>
          </a:p>
          <a:p>
            <a:pPr>
              <a:spcAft>
                <a:spcPts val="600"/>
              </a:spcAft>
            </a:pPr>
            <a:r>
              <a:rPr sz="800">
                <a:solidFill>
                  <a:srgbClr val="004EA8"/>
                </a:solidFill>
                <a:latin typeface="Arial"/>
              </a:rPr>
              <a:t>•  </a:t>
            </a:r>
            <a:r>
              <a:rPr sz="800">
                <a:solidFill>
                  <a:srgbClr val="4B4B4B"/>
                </a:solidFill>
                <a:latin typeface="Arial"/>
              </a:rPr>
              <a:t>SCR-AC-37 BIR Form 2307</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SCR-AC-39 Requests Home</a:t>
            </a:r>
          </a:p>
          <a:p>
            <a:pPr>
              <a:spcAft>
                <a:spcPts val="600"/>
              </a:spcAft>
            </a:pPr>
            <a:r>
              <a:rPr sz="800">
                <a:solidFill>
                  <a:srgbClr val="004EA8"/>
                </a:solidFill>
                <a:latin typeface="Arial"/>
              </a:rPr>
              <a:t>•  </a:t>
            </a:r>
            <a:r>
              <a:rPr sz="800">
                <a:solidFill>
                  <a:srgbClr val="4B4B4B"/>
                </a:solidFill>
                <a:latin typeface="Arial"/>
              </a:rPr>
              <a:t>SCR-AC-43 Request</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manual accrual from the voucher to its posting and automatic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manual accrual from the voucher to its posting and automatic reversal</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GL Officer accrues an expense of the month with a voucher that reverses itself on the first day of the next month. The GL Team Lead assigns it to the GL Section Head, who posts it from the list of the journals assigned to her; the posted voucher shows its audit and its reversal date, and the expense is in the account.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seed chart of accounts of the company (accrued expenses and an expense account with its cost centre); the open periods of the current year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Officer (FRBS), GL Team Lead, GL Section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GL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GL Section Head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Journal and Edit Journal</a:t>
            </a:r>
          </a:p>
        </p:txBody>
      </p:sp>
      <p:sp>
        <p:nvSpPr>
          <p:cNvPr id="19" name="Rounded Rectangle 18"/>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Journals</a:t>
            </a:r>
          </a:p>
        </p:txBody>
      </p:sp>
      <p:sp>
        <p:nvSpPr>
          <p:cNvPr id="20" name="Rounded Rectangle 19"/>
          <p:cNvSpPr/>
          <p:nvPr/>
        </p:nvSpPr>
        <p:spPr>
          <a:xfrm>
            <a:off x="6156838"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Journals</a:t>
            </a:r>
          </a:p>
        </p:txBody>
      </p:sp>
      <p:sp>
        <p:nvSpPr>
          <p:cNvPr id="21" name="Rounded Rectangle 20"/>
          <p:cNvSpPr/>
          <p:nvPr/>
        </p:nvSpPr>
        <p:spPr>
          <a:xfrm>
            <a:off x="8019105"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Journal</a:t>
            </a:r>
          </a:p>
        </p:txBody>
      </p:sp>
      <p:sp>
        <p:nvSpPr>
          <p:cNvPr id="22" name="Rounded Rectangle 21"/>
          <p:cNvSpPr/>
          <p:nvPr/>
        </p:nvSpPr>
        <p:spPr>
          <a:xfrm>
            <a:off x="9881372"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Account Inquiry</a:t>
            </a:r>
          </a:p>
        </p:txBody>
      </p:sp>
      <p:cxnSp>
        <p:nvCxnSpPr>
          <p:cNvPr id="23" name="Connector 22"/>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5567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7937"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680204"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5: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GL Officer (FRBS): Enters an accrual on New Journal (value date today, Reverse on the first day of next month, a debit to the expense with its cost centre and a credit to accrued expenses), clicks Save &amp; Submit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journal with its batch number, Pending Approval, the lines and the automatic reversal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GL Team Lead on Journals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5: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2.png"/>
          <p:cNvPicPr>
            <a:picLocks noChangeAspect="1"/>
          </p:cNvPicPr>
          <p:nvPr/>
        </p:nvPicPr>
        <p:blipFill>
          <a:blip r:embed="rId3"/>
          <a:stretch>
            <a:fillRect/>
          </a:stretch>
        </p:blipFill>
        <p:spPr>
          <a:xfrm>
            <a:off x="548640" y="1261872"/>
            <a:ext cx="7665415" cy="46840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Selects the voucher on Journals, clicks Assign and chooses the GL Section Head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journal(s) assigned; Assigned To shows her name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GL Section Head on Journals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5: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3.png"/>
          <p:cNvPicPr>
            <a:picLocks noChangeAspect="1"/>
          </p:cNvPicPr>
          <p:nvPr/>
        </p:nvPicPr>
        <p:blipFill>
          <a:blip r:embed="rId3"/>
          <a:stretch>
            <a:fillRect/>
          </a:stretch>
        </p:blipFill>
        <p:spPr>
          <a:xfrm>
            <a:off x="548640" y="1261872"/>
            <a:ext cx="7665415" cy="439780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Chooses Assigned to me, selects the voucher, clicks Post Selected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of 1 journal(s) posted; the voucher is Posted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GL Section Head on Journal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5: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04.png"/>
          <p:cNvPicPr>
            <a:picLocks noChangeAspect="1"/>
          </p:cNvPicPr>
          <p:nvPr/>
        </p:nvPicPr>
        <p:blipFill>
          <a:blip r:embed="rId3"/>
          <a:stretch>
            <a:fillRect/>
          </a:stretch>
        </p:blipFill>
        <p:spPr>
          <a:xfrm>
            <a:off x="548640" y="1261872"/>
            <a:ext cx="7665415" cy="184160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Opens the journal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ledger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posted voucher with Input by, Submitted by and Authorized by, and Automatic reversal on the first day of next month</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GL Officer (FRBS) on Account Inquiry</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5: Account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05.png"/>
          <p:cNvPicPr>
            <a:picLocks noChangeAspect="1"/>
          </p:cNvPicPr>
          <p:nvPr/>
        </p:nvPicPr>
        <p:blipFill>
          <a:blip r:embed="rId3"/>
          <a:stretch>
            <a:fillRect/>
          </a:stretch>
        </p:blipFill>
        <p:spPr>
          <a:xfrm>
            <a:off x="548640" y="1261872"/>
            <a:ext cx="7665415" cy="387896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Opens Account Inquiry for the expense account of the month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Reported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accrual among the posted lines, with the running balance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client refund from the Refund Request Form to the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client refund from the Refund Request Form to the payment</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client overpaid an account. The Marketing Processor raises the Refund Request Form with the AR of the payment, to be credited to the client's account; the Marketing Reviewer endorses it and the Marketing Approver approves it, which sends it to Disbursement. BIBS creates the voucher of the refund at once and routes it straight to the Disbursement Approver; the approver approves it, the entry posts and the credit to the account is issued. Marketing follows the payment on the request.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client CL-2026-000001 maintained as a payee of Disbursement with a credit-to-account account; an AR of the cashiering seed</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Processor (AO), Marketing Reviewer, Marketing Approver, Disbursement Processor, Disbursement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8 steps, 5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Processor (AO)</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Reviewer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Marketing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Disbursement Processor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Disbursement Approver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Refund Request</a:t>
            </a:r>
          </a:p>
        </p:txBody>
      </p:sp>
      <p:sp>
        <p:nvSpPr>
          <p:cNvPr id="25" name="Rounded Rectangle 24"/>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Request</a:t>
            </a:r>
          </a:p>
        </p:txBody>
      </p:sp>
      <p:sp>
        <p:nvSpPr>
          <p:cNvPr id="26" name="Rounded Rectangle 25"/>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Request</a:t>
            </a:r>
          </a:p>
        </p:txBody>
      </p:sp>
      <p:sp>
        <p:nvSpPr>
          <p:cNvPr id="27" name="Rounded Rectangle 26"/>
          <p:cNvSpPr/>
          <p:nvPr/>
        </p:nvSpPr>
        <p:spPr>
          <a:xfrm>
            <a:off x="5924052"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Request</a:t>
            </a:r>
          </a:p>
        </p:txBody>
      </p:sp>
      <p:sp>
        <p:nvSpPr>
          <p:cNvPr id="28" name="Rounded Rectangle 27"/>
          <p:cNvSpPr/>
          <p:nvPr/>
        </p:nvSpPr>
        <p:spPr>
          <a:xfrm>
            <a:off x="6228432"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9" name="Rounded Rectangle 28"/>
          <p:cNvSpPr/>
          <p:nvPr/>
        </p:nvSpPr>
        <p:spPr>
          <a:xfrm>
            <a:off x="7087968"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Disbursement Workbench</a:t>
            </a:r>
          </a:p>
        </p:txBody>
      </p:sp>
      <p:sp>
        <p:nvSpPr>
          <p:cNvPr id="30" name="Rounded Rectangle 29"/>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Disbursement Voucher</a:t>
            </a:r>
          </a:p>
        </p:txBody>
      </p:sp>
      <p:sp>
        <p:nvSpPr>
          <p:cNvPr id="31" name="Rounded Rectangle 30"/>
          <p:cNvSpPr/>
          <p:nvPr/>
        </p:nvSpPr>
        <p:spPr>
          <a:xfrm>
            <a:off x="9415800" y="487375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Disbursement Voucher</a:t>
            </a:r>
          </a:p>
        </p:txBody>
      </p:sp>
      <p:sp>
        <p:nvSpPr>
          <p:cNvPr id="32" name="Rounded Rectangle 31"/>
          <p:cNvSpPr/>
          <p:nvPr/>
        </p:nvSpPr>
        <p:spPr>
          <a:xfrm>
            <a:off x="9720180" y="47823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3" name="Rounded Rectangle 32"/>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Request</a:t>
            </a:r>
          </a:p>
        </p:txBody>
      </p:sp>
      <p:cxnSp>
        <p:nvCxnSpPr>
          <p:cNvPr id="34" name="Connector 3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288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886800"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0716"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14632"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378548" y="1741932"/>
            <a:ext cx="201168" cy="347472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8: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Processor (AO): Fills in New Refund Request (segment, reference, purpose, credit to the client's account) with one account to refund (AR number, client, assured, amount, reason Overpayment) and clicks Save Request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&lt;request&gt; saved; the request opens in Draft with its account to refund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Processor (AO) on Request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Clicks Submit for Review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For Review in the workflow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Reviewer on Request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Reviewer: Opens the request and clicks Endorse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For Approval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Approver on Request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Approver: Clicks Approve and Send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Disbursement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With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Disbursement Processor on Disbursement Workbench</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8: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5.png"/>
          <p:cNvPicPr>
            <a:picLocks noChangeAspect="1"/>
          </p:cNvPicPr>
          <p:nvPr/>
        </p:nvPicPr>
        <p:blipFill>
          <a:blip r:embed="rId3"/>
          <a:stretch>
            <a:fillRect/>
          </a:stretch>
        </p:blipFill>
        <p:spPr>
          <a:xfrm>
            <a:off x="548640" y="1261872"/>
            <a:ext cx="7665415" cy="459264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Opens For Approval on the Disbursement Workbench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Voucher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of the refund, created automatically from the request with the client as payee and routed straight to the approver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Disbursement Processor on Disbursement Voucher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8: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6.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Opens the voucher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For Approval: the client as payee, credit to account, the paying account, the net amount and the history that shows the automatic routing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Disbursement Approver on Disbursement Voucher</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8: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Approver: Clicks Approve and Post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Approved; the journal posted and the credit to account issued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Processor (AO) on Request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b-08.png"/>
          <p:cNvPicPr>
            <a:picLocks noChangeAspect="1"/>
          </p:cNvPicPr>
          <p:nvPr/>
        </p:nvPicPr>
        <p:blipFill>
          <a:blip r:embed="rId3"/>
          <a:stretch>
            <a:fillRect/>
          </a:stretch>
        </p:blipFill>
        <p:spPr>
          <a:xfrm>
            <a:off x="548640" y="1261872"/>
            <a:ext cx="7665415" cy="348247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Opens the Disbursement tab of the request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Followed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number and its status in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An insurer's statement of account reconciled and a wrong posting corrected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An insurer's statement of account reconciled and a wrong posting corrected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ACSL Processor uploads an insurer's statement of account; BIBS reconciles every line with the books. A line shows a variance, so the ACSL Team Leader opens a case on the invoice and assigns it. The processor records the findings and raises a correction entry; the correction is prepared by the processor, endorsed by the team leader and approved by the ACSL Head, which posts it.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booked invoices of the insurer in the Operations invoice ledger; the statement file prepared from the standard layout with lines of the insurer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ACSL Processor, ACSL Team Leader, ACSL Head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6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ACSL Processor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ACSL Team Leader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Insurer SOA Reconciliation</a:t>
            </a:r>
          </a:p>
        </p:txBody>
      </p:sp>
      <p:sp>
        <p:nvSpPr>
          <p:cNvPr id="16" name="Rounded Rectangle 15"/>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Insurer SOA</a:t>
            </a:r>
          </a:p>
        </p:txBody>
      </p:sp>
      <p:sp>
        <p:nvSpPr>
          <p:cNvPr id="17" name="Rounded Rectangle 16"/>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ACSL Cases</a:t>
            </a:r>
          </a:p>
        </p:txBody>
      </p:sp>
      <p:sp>
        <p:nvSpPr>
          <p:cNvPr id="18" name="Rounded Rectangle 17"/>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ACSL Case</a:t>
            </a:r>
          </a:p>
        </p:txBody>
      </p:sp>
      <p:sp>
        <p:nvSpPr>
          <p:cNvPr id="19" name="Rounded Rectangle 18"/>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ACSL Case</a:t>
            </a:r>
          </a:p>
        </p:txBody>
      </p:sp>
      <p:sp>
        <p:nvSpPr>
          <p:cNvPr id="20" name="Rounded Rectangle 19"/>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Correction Entry</a:t>
            </a:r>
          </a:p>
        </p:txBody>
      </p:sp>
      <p:sp>
        <p:nvSpPr>
          <p:cNvPr id="21" name="Rounded Rectangle 20"/>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Correction Entry</a:t>
            </a:r>
          </a:p>
        </p:txBody>
      </p:sp>
      <p:sp>
        <p:nvSpPr>
          <p:cNvPr id="22" name="Rounded Rectangle 21"/>
          <p:cNvSpPr/>
          <p:nvPr/>
        </p:nvSpPr>
        <p:spPr>
          <a:xfrm>
            <a:off x="1057971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Correction Entry</a:t>
            </a:r>
          </a:p>
        </p:txBody>
      </p:sp>
      <p:cxnSp>
        <p:nvCxnSpPr>
          <p:cNvPr id="23" name="Connector 22"/>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88680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21463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37854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ACSL Head (approver)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Correction Entry</a:t>
            </a:r>
          </a:p>
        </p:txBody>
      </p:sp>
      <p:sp>
        <p:nvSpPr>
          <p:cNvPr id="13" name="Rounded Rectangle 12"/>
          <p:cNvSpPr/>
          <p:nvPr/>
        </p:nvSpPr>
        <p:spPr>
          <a:xfrm>
            <a:off x="10884103"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14" name="TextBox 1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9: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1.png"/>
          <p:cNvPicPr>
            <a:picLocks noChangeAspect="1"/>
          </p:cNvPicPr>
          <p:nvPr/>
        </p:nvPicPr>
        <p:blipFill>
          <a:blip r:embed="rId3"/>
          <a:stretch>
            <a:fillRect/>
          </a:stretch>
        </p:blipFill>
        <p:spPr>
          <a:xfrm>
            <a:off x="548640" y="1261872"/>
            <a:ext cx="7665415" cy="27648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Clicks Upload SOA, chooses the insurer, the period and the statement file, and clicks Upload and Reconcile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Reconciled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&lt;upload&gt;: n of n rows loaded; the upload is listed with its results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ACSL Processor on Insurer SOA</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9: Insurer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2.png"/>
          <p:cNvPicPr>
            <a:picLocks noChangeAspect="1"/>
          </p:cNvPicPr>
          <p:nvPr/>
        </p:nvPicPr>
        <p:blipFill>
          <a:blip r:embed="rId3"/>
          <a:stretch>
            <a:fillRect/>
          </a:stretch>
        </p:blipFill>
        <p:spPr>
          <a:xfrm>
            <a:off x="947072" y="1261872"/>
            <a:ext cx="6868550"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SCR-AC-50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Opens the upload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Variances known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counts per result and the lines with their premium and balance variances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ACSL Team Leader on ACSL Cases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9: ACSL Cases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Clicks Open a Case: investigation of the invoice with a variance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Case opened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&lt;case&gt; opened; the case is Received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ACSL Team Leader on ACSL Case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9: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Opens the case and assigns it to the ACSL Processor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case Assigned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ACSL Processor on ACSL Case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9: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Clicks Start Investigation, records the findings and clicks Raise Correction (posting to a wrong GL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Correction raised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entry opens, raised from the case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ACSL Team Leader on Correction Entry</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3.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Assigns the correction to the ACSL Processor as its preparer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in Draft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ACSL Processor on Correction Entry</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4.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5.png"/>
          <p:cNvPicPr>
            <a:picLocks noChangeAspect="1"/>
          </p:cNvPicPr>
          <p:nvPr/>
        </p:nvPicPr>
        <p:blipFill>
          <a:blip r:embed="rId3"/>
          <a:stretch>
            <a:fillRect/>
          </a:stretch>
        </p:blipFill>
        <p:spPr>
          <a:xfrm>
            <a:off x="548640" y="1261872"/>
            <a:ext cx="7665415" cy="177197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6.png"/>
          <p:cNvPicPr>
            <a:picLocks noChangeAspect="1"/>
          </p:cNvPicPr>
          <p:nvPr/>
        </p:nvPicPr>
        <p:blipFill>
          <a:blip r:embed="rId3"/>
          <a:stretch>
            <a:fillRect/>
          </a:stretch>
        </p:blipFill>
        <p:spPr>
          <a:xfrm>
            <a:off x="548640" y="1261872"/>
            <a:ext cx="7665415" cy="472525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Picks the wrong line among the posted lines of the invoice family, clicks Correct with the right account, saves the lines and clicks Submit for 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For Review with its reversal and re-post lines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ACSL Team Leader on Correction Entry</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7.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8.png"/>
          <p:cNvPicPr>
            <a:picLocks noChangeAspect="1"/>
          </p:cNvPicPr>
          <p:nvPr/>
        </p:nvPicPr>
        <p:blipFill>
          <a:blip r:embed="rId3"/>
          <a:stretch>
            <a:fillRect/>
          </a:stretch>
        </p:blipFill>
        <p:spPr>
          <a:xfrm>
            <a:off x="548640" y="1261872"/>
            <a:ext cx="7665415" cy="17818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9.png"/>
          <p:cNvPicPr>
            <a:picLocks noChangeAspect="1"/>
          </p:cNvPicPr>
          <p:nvPr/>
        </p:nvPicPr>
        <p:blipFill>
          <a:blip r:embed="rId3"/>
          <a:stretch>
            <a:fillRect/>
          </a:stretch>
        </p:blipFill>
        <p:spPr>
          <a:xfrm>
            <a:off x="548640" y="1261872"/>
            <a:ext cx="7665415" cy="472525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Clicks Endorse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ACSL Head (approver) on Correction Entry</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0.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1.png"/>
          <p:cNvPicPr>
            <a:picLocks noChangeAspect="1"/>
          </p:cNvPicPr>
          <p:nvPr/>
        </p:nvPicPr>
        <p:blipFill>
          <a:blip r:embed="rId3"/>
          <a:stretch>
            <a:fillRect/>
          </a:stretch>
        </p:blipFill>
        <p:spPr>
          <a:xfrm>
            <a:off x="548640" y="1261872"/>
            <a:ext cx="7665415" cy="17818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2.png"/>
          <p:cNvPicPr>
            <a:picLocks noChangeAspect="1"/>
          </p:cNvPicPr>
          <p:nvPr/>
        </p:nvPicPr>
        <p:blipFill>
          <a:blip r:embed="rId3"/>
          <a:stretch>
            <a:fillRect/>
          </a:stretch>
        </p:blipFill>
        <p:spPr>
          <a:xfrm>
            <a:off x="548640" y="1261872"/>
            <a:ext cx="7665415" cy="45939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Head (approver): Clicks Approve and Post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Posted with its journal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3.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4.png"/>
          <p:cNvPicPr>
            <a:picLocks noChangeAspect="1"/>
          </p:cNvPicPr>
          <p:nvPr/>
        </p:nvPicPr>
        <p:blipFill>
          <a:blip r:embed="rId3"/>
          <a:stretch>
            <a:fillRect/>
          </a:stretch>
        </p:blipFill>
        <p:spPr>
          <a:xfrm>
            <a:off x="548640" y="1261872"/>
            <a:ext cx="7665415" cy="191307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Month end: the revaluation rate, the revaluation, the GL close and the service fee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Month end: the revaluation rate, the revaluation, the GL close and the service fee</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At the month end the GL Section Head enters the month-end rate of the US dollar; the GL Team Lead revalues the foreign-currency balances, schedules the close of the month and checks the cut-off of the broking books. The GL Officer tags the payout of the service fee released to its recipient.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foreign-currency accounts of the seed chart; the service-fee run of the month computed and approved by the seed GL team</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Section Head, GL Team Lead, GL Officer (FRBS)</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Section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GL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Currencies &amp; Rates</a:t>
            </a:r>
          </a:p>
        </p:txBody>
      </p:sp>
      <p:sp>
        <p:nvSpPr>
          <p:cNvPr id="19" name="Rounded Rectangle 18"/>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FX Revaluation</a:t>
            </a:r>
          </a:p>
        </p:txBody>
      </p:sp>
      <p:sp>
        <p:nvSpPr>
          <p:cNvPr id="20" name="Rounded Rectangle 19"/>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GL Close &amp; Cut-Off</a:t>
            </a:r>
          </a:p>
        </p:txBody>
      </p:sp>
      <p:sp>
        <p:nvSpPr>
          <p:cNvPr id="21" name="Rounded Rectangle 20"/>
          <p:cNvSpPr/>
          <p:nvPr/>
        </p:nvSpPr>
        <p:spPr>
          <a:xfrm>
            <a:off x="8019105"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GL Close &amp; Cut-Off</a:t>
            </a:r>
          </a:p>
        </p:txBody>
      </p:sp>
      <p:sp>
        <p:nvSpPr>
          <p:cNvPr id="22" name="Rounded Rectangle 21"/>
          <p:cNvSpPr/>
          <p:nvPr/>
        </p:nvSpPr>
        <p:spPr>
          <a:xfrm>
            <a:off x="9881372"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Service Fee Run</a:t>
            </a:r>
          </a:p>
        </p:txBody>
      </p:sp>
      <p:cxnSp>
        <p:nvCxnSpPr>
          <p:cNvPr id="23" name="Connector 22"/>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55670"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7937"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8020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Currencies &amp;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Enters the month-end rate of USD for the previous month on Monthly revaluation rates and clicks Save 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Rate in force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listed with the month end and her name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GL Team Lead on FX Revaluation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5: FX Revaluation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Chooses the previous month, checks the preview and clicks Post revaluation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Revalued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revaluation run of the month with its journal and its reversal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GL Team Lead on GL Close &amp; Cut-Off</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3 of 5: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3.png"/>
          <p:cNvPicPr>
            <a:picLocks noChangeAspect="1"/>
          </p:cNvPicPr>
          <p:nvPr/>
        </p:nvPicPr>
        <p:blipFill>
          <a:blip r:embed="rId3"/>
          <a:stretch>
            <a:fillRect/>
          </a:stretch>
        </p:blipFill>
        <p:spPr>
          <a:xfrm>
            <a:off x="548640" y="1261872"/>
            <a:ext cx="7665415" cy="41411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Clicks Schedule Close for the previous month at the proposed date and time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Close scheduled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the close of the month scheduled; listed as Scheduled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GL Team Lead on GL Close &amp; Cut-Off</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5: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4.png"/>
          <p:cNvPicPr>
            <a:picLocks noChangeAspect="1"/>
          </p:cNvPicPr>
          <p:nvPr/>
        </p:nvPicPr>
        <p:blipFill>
          <a:blip r:embed="rId3"/>
          <a:stretch>
            <a:fillRect/>
          </a:stretch>
        </p:blipFill>
        <p:spPr>
          <a:xfrm>
            <a:off x="633430" y="1261872"/>
            <a:ext cx="749583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Opens Broking Books Cut-Off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Cut-off checked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broking books of each period with who closed them and when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GL Officer (FRBS) on Service Fee Run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5 of 5: Service Fee Run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Opens the service-fee run of the month and tags a line Released with the date the recipient was credited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Released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line Released with its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WT-E Controls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Four controls of the set, each with what the user sees: a voucher that does not balance, an AR refunded twice, an insurer statement uploaded twice and a payment request for a payee that is not maintained.</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refund of walkthrough B; the statement uploaded in walkthrough C</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Officer (FRBS), Marketing Processor (AO), ACSL Processor, Disbursement Processor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14.5</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Processor (AO)</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ACSL Processor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Disbursement Processor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Journal and Edit Journal</a:t>
            </a:r>
          </a:p>
        </p:txBody>
      </p:sp>
      <p:sp>
        <p:nvSpPr>
          <p:cNvPr id="22" name="Rounded Rectangle 21"/>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Refund Request</a:t>
            </a:r>
          </a:p>
        </p:txBody>
      </p:sp>
      <p:sp>
        <p:nvSpPr>
          <p:cNvPr id="23" name="Rounded Rectangle 22"/>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Insurer SOA Reconciliation</a:t>
            </a:r>
          </a:p>
        </p:txBody>
      </p:sp>
      <p:sp>
        <p:nvSpPr>
          <p:cNvPr id="24" name="Rounded Rectangle 23"/>
          <p:cNvSpPr/>
          <p:nvPr/>
        </p:nvSpPr>
        <p:spPr>
          <a:xfrm>
            <a:off x="9415803" y="400507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Disbursement Workbench</a:t>
            </a:r>
          </a:p>
        </p:txBody>
      </p:sp>
      <p:cxnSp>
        <p:nvCxnSpPr>
          <p:cNvPr id="25" name="Connector 24"/>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14635"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1 of 4: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1.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Enters a voucher whose debit and credit differ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lines: Difference with the amount; Save &amp; Submit is not offered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Processor (AO) on New Refund Request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2 of 4: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2.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Raises a refund with the AR of the refund of walkthrough 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AR is already refunded by the request named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ACSL Processor on Insurer SOA Reconciliation</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3 of 4: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3.png"/>
          <p:cNvPicPr>
            <a:picLocks noChangeAspect="1"/>
          </p:cNvPicPr>
          <p:nvPr/>
        </p:nvPicPr>
        <p:blipFill>
          <a:blip r:embed="rId3"/>
          <a:stretch>
            <a:fillRect/>
          </a:stretch>
        </p:blipFill>
        <p:spPr>
          <a:xfrm>
            <a:off x="862417" y="1261872"/>
            <a:ext cx="7037860"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Uploads the statement of walkthrough C again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file was already uploaded for the insurer as the upload named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Disbursement Processor on Disbursement Workbench</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4 of 4: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e-04.png"/>
          <p:cNvPicPr>
            <a:picLocks noChangeAspect="1"/>
          </p:cNvPicPr>
          <p:nvPr/>
        </p:nvPicPr>
        <p:blipFill>
          <a:blip r:embed="rId3"/>
          <a:stretch>
            <a:fillRect/>
          </a:stretch>
        </p:blipFill>
        <p:spPr>
          <a:xfrm>
            <a:off x="548640" y="1261872"/>
            <a:ext cx="7665415" cy="459264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Encodes a payment request for a payee code that is not maintained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Waiting for payee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on the No Payee tab, waiting for its payee; a payee request is raised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journal vouchers of the company: search by status, batch number, value dates, inputter and assignment; follow the approval status of each voucher; assign the submitted vouchers to the user who will post them and post several vouchers at once. The GL Team Lead and the Section Head work the vouchers "Assigned to me".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Journals</a:t>
                      </a:r>
                    </a:p>
                    <a:p>
                      <a:r>
                        <a:rPr sz="950" b="0">
                          <a:solidFill>
                            <a:srgbClr val="4B4B4B"/>
                          </a:solidFill>
                          <a:latin typeface="Arial"/>
                        </a:rPr>
                        <a:t>Journal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FR-AC-031, FR-AC-033, FR-AC-036</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finds the vouchers waiting, assigns them and posts them, one or several at a time.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1" cy="42214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Draft, Pending approval, Posted, Rejected, Cancelled, Reversed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Batch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Batch number or its start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value date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To on or after From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Inputter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User ID of the maker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Equal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Assignment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entries or Assigned to 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Batch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Batch number of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journal matches these filters</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Value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Manual journal, Adjustment, Accrual, Reversal or the journal of a business event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Narration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Narration of the voucher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Inputter / Assigned To / Authorizer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 of the maker, the assignee and the user who posted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Total debit,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Draft, Pending Approval, Posted, Rejected, Cancelled, 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Assign journal(s) dialog</a:t>
                      </a:r>
                    </a:p>
                  </a:txBody>
                  <a:tcPr marL="54864" marR="54864" marT="27432" marB="27432">
                    <a:solidFill>
                      <a:srgbClr val="FFFFFF"/>
                    </a:solidFill>
                  </a:tcPr>
                </a:tc>
                <a:tc>
                  <a:txBody>
                    <a:bodyPr/>
                    <a:lstStyle/>
                    <a:p>
                      <a:r>
                        <a:rPr sz="850" b="0">
                          <a:solidFill>
                            <a:srgbClr val="4B4B4B"/>
                          </a:solidFill>
                          <a:latin typeface="Arial"/>
                        </a:rPr>
                        <a:t>Assign to</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users who may post journals, or No one (clear the assignment)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the submitter of the voucher</a:t>
                      </a:r>
                    </a:p>
                  </a:txBody>
                  <a:tcPr marL="54864" marR="54864" marT="27432" marB="27432">
                    <a:solidFill>
                      <a:srgbClr val="FFFFFF"/>
                    </a:solidFill>
                  </a:tcPr>
                </a:tc>
                <a:tc>
                  <a:txBody>
                    <a:bodyPr/>
                    <a:lstStyle/>
                    <a:p>
                      <a:r>
                        <a:rPr sz="850" b="0">
                          <a:solidFill>
                            <a:srgbClr val="4B4B4B"/>
                          </a:solidFill>
                          <a:latin typeface="Arial"/>
                        </a:rPr>
                        <a:t>A journal is never assigned to its submitter</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Post selected journals dialog</a:t>
                      </a:r>
                    </a:p>
                  </a:txBody>
                  <a:tcPr marL="54864" marR="54864" marT="27432" marB="27432">
                    <a:solidFill>
                      <a:srgbClr val="E5F5FF"/>
                    </a:solidFill>
                  </a:tcPr>
                </a:tc>
                <a:tc>
                  <a:txBody>
                    <a:bodyPr/>
                    <a:lstStyle/>
                    <a:p>
                      <a:r>
                        <a:rPr sz="850" b="0">
                          <a:solidFill>
                            <a:srgbClr val="4B4B4B"/>
                          </a:solidFill>
                          <a:latin typeface="Arial"/>
                        </a:rPr>
                        <a:t>Journals to post, Total debit, Selected but not pending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Counts and the total of the selected pending vouchers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Journal</a:t>
                      </a:r>
                    </a:p>
                  </a:txBody>
                  <a:tcPr marL="54864" marR="54864" marT="27432" marB="27432">
                    <a:solidFill>
                      <a:srgbClr val="FFFFFF"/>
                    </a:solidFill>
                  </a:tcPr>
                </a:tc>
                <a:tc>
                  <a:txBody>
                    <a:bodyPr/>
                    <a:lstStyle/>
                    <a:p>
                      <a:r>
                        <a:rPr sz="850" b="0">
                          <a:solidFill>
                            <a:srgbClr val="4B4B4B"/>
                          </a:solidFill>
                          <a:latin typeface="Arial"/>
                        </a:rPr>
                        <a:t>GL Officer, GL Team Lead (journal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Journal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 (n)</a:t>
                      </a:r>
                    </a:p>
                  </a:txBody>
                  <a:tcPr marL="54864" marR="54864" marT="27432" marB="27432">
                    <a:solidFill>
                      <a:srgbClr val="E5F5FF"/>
                    </a:solidFill>
                  </a:tcPr>
                </a:tc>
                <a:tc>
                  <a:txBody>
                    <a:bodyPr/>
                    <a:lstStyle/>
                    <a:p>
                      <a:r>
                        <a:rPr sz="850" b="0">
                          <a:solidFill>
                            <a:srgbClr val="4B4B4B"/>
                          </a:solidFill>
                          <a:latin typeface="Arial"/>
                        </a:rPr>
                        <a:t>GL Team Lead, GL Section Head (journal assign)</a:t>
                      </a:r>
                    </a:p>
                  </a:txBody>
                  <a:tcPr marL="54864" marR="54864" marT="27432" marB="27432">
                    <a:solidFill>
                      <a:srgbClr val="E5F5FF"/>
                    </a:solidFill>
                  </a:tcPr>
                </a:tc>
                <a:tc>
                  <a:txBody>
                    <a:bodyPr/>
                    <a:lstStyle/>
                    <a:p>
                      <a:r>
                        <a:rPr sz="850" b="0">
                          <a:solidFill>
                            <a:srgbClr val="4B4B4B"/>
                          </a:solidFill>
                          <a:latin typeface="Arial"/>
                        </a:rPr>
                        <a:t>Vouchers selected</a:t>
                      </a:r>
                    </a:p>
                  </a:txBody>
                  <a:tcPr marL="54864" marR="54864" marT="27432" marB="27432">
                    <a:solidFill>
                      <a:srgbClr val="E5F5FF"/>
                    </a:solidFill>
                  </a:tcPr>
                </a:tc>
                <a:tc>
                  <a:txBody>
                    <a:bodyPr/>
                    <a:lstStyle/>
                    <a:p>
                      <a:r>
                        <a:rPr sz="850" b="0">
                          <a:solidFill>
                            <a:srgbClr val="4B4B4B"/>
                          </a:solidFill>
                          <a:latin typeface="Arial"/>
                        </a:rPr>
                        <a:t>Assigns the selected vouchers to the user chosen, or clears the assignment</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Post Selected (n)</a:t>
                      </a:r>
                    </a:p>
                  </a:txBody>
                  <a:tcPr marL="54864" marR="54864" marT="27432" marB="27432">
                    <a:solidFill>
                      <a:srgbClr val="FFFFFF"/>
                    </a:solidFill>
                  </a:tcPr>
                </a:tc>
                <a:tc>
                  <a:txBody>
                    <a:bodyPr/>
                    <a:lstStyle/>
                    <a:p>
                      <a:r>
                        <a:rPr sz="850" b="0">
                          <a:solidFill>
                            <a:srgbClr val="4B4B4B"/>
                          </a:solidFill>
                          <a:latin typeface="Arial"/>
                        </a:rPr>
                        <a:t>GL Team Lead, GL Section Head (journal authorize)</a:t>
                      </a:r>
                    </a:p>
                  </a:txBody>
                  <a:tcPr marL="54864" marR="54864" marT="27432" marB="27432">
                    <a:solidFill>
                      <a:srgbClr val="FFFFFF"/>
                    </a:solidFill>
                  </a:tcPr>
                </a:tc>
                <a:tc>
                  <a:txBody>
                    <a:bodyPr/>
                    <a:lstStyle/>
                    <a:p>
                      <a:r>
                        <a:rPr sz="850" b="0">
                          <a:solidFill>
                            <a:srgbClr val="4B4B4B"/>
                          </a:solidFill>
                          <a:latin typeface="Arial"/>
                        </a:rPr>
                        <a:t>Pending vouchers selected</a:t>
                      </a:r>
                    </a:p>
                  </a:txBody>
                  <a:tcPr marL="54864" marR="54864" marT="27432" marB="27432">
                    <a:solidFill>
                      <a:srgbClr val="FFFFFF"/>
                    </a:solidFill>
                  </a:tcPr>
                </a:tc>
                <a:tc>
                  <a:txBody>
                    <a:bodyPr/>
                    <a:lstStyle/>
                    <a:p>
                      <a:r>
                        <a:rPr sz="850" b="0">
                          <a:solidFill>
                            <a:srgbClr val="4B4B4B"/>
                          </a:solidFill>
                          <a:latin typeface="Arial"/>
                        </a:rPr>
                        <a:t>Posts each selected voucher on its own after the confirmation; the vouchers that cannot be posted are listed under Not posted with the reason</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user who reads journals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journal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is never posted by the user who submitted it, and never assigned to its submitter (FR-AC-031, FR-AC-036).</a:t>
                      </a:r>
                    </a:p>
                  </a:txBody>
                  <a:tcPr marL="54864" marR="54864" marT="27432" marB="27432">
                    <a:solidFill>
                      <a:srgbClr val="FFFFFF"/>
                    </a:solidFill>
                  </a:tcPr>
                </a:tc>
              </a:tr>
              <a:tr h="243840">
                <a:tc>
                  <a:txBody>
                    <a:bodyPr/>
                    <a:lstStyle/>
                    <a:p>
                      <a:r>
                        <a:rPr sz="1000" b="0">
                          <a:solidFill>
                            <a:srgbClr val="4B4B4B"/>
                          </a:solidFill>
                          <a:latin typeface="Arial"/>
                        </a:rPr>
                        <a:t>Posting several vouchers at once posts each on its own; a voucher refused by a check stays pending with its reason (FR-AC-036).</a:t>
                      </a:r>
                    </a:p>
                  </a:txBody>
                  <a:tcPr marL="54864" marR="54864" marT="27432" marB="27432">
                    <a:solidFill>
                      <a:srgbClr val="E5F5FF"/>
                    </a:solidFill>
                  </a:tcPr>
                </a:tc>
              </a:tr>
              <a:tr h="243840">
                <a:tc>
                  <a:txBody>
                    <a:bodyPr/>
                    <a:lstStyle/>
                    <a:p>
                      <a:r>
                        <a:rPr sz="1000" b="0">
                          <a:solidFill>
                            <a:srgbClr val="4B4B4B"/>
                          </a:solidFill>
                          <a:latin typeface="Arial"/>
                        </a:rPr>
                        <a:t>The vouchers of the business events (vouchers, receipts, remittances, corrections, accruals) are listed with their source; only manual vouchers are edited (FR-AC-030).</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Selects the voucher on Journals, clicks Assign and chooses the GL Section Head</a:t>
                      </a:r>
                    </a:p>
                  </a:txBody>
                  <a:tcPr marL="54864" marR="54864" marT="27432" marB="27432">
                    <a:solidFill>
                      <a:srgbClr val="FFFFFF"/>
                    </a:solidFill>
                  </a:tcPr>
                </a:tc>
                <a:tc>
                  <a:txBody>
                    <a:bodyPr/>
                    <a:lstStyle/>
                    <a:p>
                      <a:r>
                        <a:rPr sz="900" b="0">
                          <a:solidFill>
                            <a:srgbClr val="4B4B4B"/>
                          </a:solidFill>
                          <a:latin typeface="Arial"/>
                        </a:rPr>
                        <a:t>SCR-AC-01_wt-a-step-02.png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3</a:t>
                      </a:r>
                    </a:p>
                  </a:txBody>
                  <a:tcPr marL="54864" marR="54864" marT="27432" marB="27432">
                    <a:solidFill>
                      <a:srgbClr val="E5F5FF"/>
                    </a:solidFill>
                  </a:tcPr>
                </a:tc>
                <a:tc>
                  <a:txBody>
                    <a:bodyPr/>
                    <a:lstStyle/>
                    <a:p>
                      <a:r>
                        <a:rPr sz="900" b="0">
                          <a:solidFill>
                            <a:srgbClr val="4B4B4B"/>
                          </a:solidFill>
                          <a:latin typeface="Arial"/>
                        </a:rPr>
                        <a:t>Chooses Assigned to me, selects the voucher, clicks Post Selected and confirms</a:t>
                      </a:r>
                    </a:p>
                  </a:txBody>
                  <a:tcPr marL="54864" marR="54864" marT="27432" marB="27432">
                    <a:solidFill>
                      <a:srgbClr val="E5F5FF"/>
                    </a:solidFill>
                  </a:tcPr>
                </a:tc>
                <a:tc>
                  <a:txBody>
                    <a:bodyPr/>
                    <a:lstStyle/>
                    <a:p>
                      <a:r>
                        <a:rPr sz="900" b="0">
                          <a:solidFill>
                            <a:srgbClr val="4B4B4B"/>
                          </a:solidFill>
                          <a:latin typeface="Arial"/>
                        </a:rPr>
                        <a:t>SCR-AC-01_wt-a-step-03.png</a:t>
                      </a:r>
                    </a:p>
                  </a:txBody>
                  <a:tcPr marL="54864" marR="54864" marT="27432" marB="27432">
                    <a:solidFill>
                      <a:srgbClr val="E5F5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39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1 of 4)</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6593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2 of 4)</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39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3 of 4)</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3469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4 of 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1-02-assig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journal(s): the submitted voucher assigned to the user who will post it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01-03-post.png"/>
          <p:cNvPicPr>
            <a:picLocks noChangeAspect="1"/>
          </p:cNvPicPr>
          <p:nvPr/>
        </p:nvPicPr>
        <p:blipFill>
          <a:blip r:embed="rId3"/>
          <a:stretch>
            <a:fillRect/>
          </a:stretch>
        </p:blipFill>
        <p:spPr>
          <a:xfrm>
            <a:off x="548640" y="1261872"/>
            <a:ext cx="11094415" cy="37176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 selected journals: the count, the total debit and the vouchers that are not pending</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9.png"/>
          <p:cNvPicPr>
            <a:picLocks noChangeAspect="1"/>
          </p:cNvPicPr>
          <p:nvPr/>
        </p:nvPicPr>
        <p:blipFill>
          <a:blip r:embed="rId3"/>
          <a:stretch>
            <a:fillRect/>
          </a:stretch>
        </p:blipFill>
        <p:spPr>
          <a:xfrm>
            <a:off x="548640" y="1261872"/>
            <a:ext cx="11094415" cy="43612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journal (part 1 of 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0.png"/>
          <p:cNvPicPr>
            <a:picLocks noChangeAspect="1"/>
          </p:cNvPicPr>
          <p:nvPr/>
        </p:nvPicPr>
        <p:blipFill>
          <a:blip r:embed="rId3"/>
          <a:stretch>
            <a:fillRect/>
          </a:stretch>
        </p:blipFill>
        <p:spPr>
          <a:xfrm>
            <a:off x="548640" y="1261872"/>
            <a:ext cx="11094415" cy="2486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journal (part 2 of 2)</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manual voucher of the GL team: the voucher header (journal type, branch, value date, currency, the reversal date of an accrual, reference and narration) and its Dr / Cr lines with the account (by code or short code), the cost centre and the line of business. The voucher is saved as a draft or submitted for posting after the confirmation of its totals.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Accountant (bank reconciliation)</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New Journal</a:t>
                      </a:r>
                    </a:p>
                    <a:p>
                      <a:r>
                        <a:rPr sz="950" b="0">
                          <a:solidFill>
                            <a:srgbClr val="4B4B4B"/>
                          </a:solidFill>
                          <a:latin typeface="Arial"/>
                        </a:rPr>
                        <a:t>Journals › New Journal</a:t>
                      </a:r>
                    </a:p>
                    <a:p>
                      <a:r>
                        <a:rPr sz="950" b="0">
                          <a:solidFill>
                            <a:srgbClr val="4B4B4B"/>
                          </a:solidFill>
                          <a:latin typeface="Arial"/>
                        </a:rPr>
                        <a:t>Journal › Edit (a draft or returned voucher of the maker)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FR-AC-014, FR-AC-032, FR-AC-033, FR-AC-034, FR-AC-035, FR-AC-037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saved, or submitted for posting by another user.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1" cy="377950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Journal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Manual journal, Adjustment or Accrual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Branches of the company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Value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in an open period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Period open</a:t>
                      </a:r>
                    </a:p>
                  </a:txBody>
                  <a:tcPr marL="54864" marR="54864" marT="27432" marB="27432">
                    <a:solidFill>
                      <a:srgbClr val="FFFFFF"/>
                    </a:solidFill>
                  </a:tcPr>
                </a:tc>
                <a:tc>
                  <a:txBody>
                    <a:bodyPr/>
                    <a:lstStyle/>
                    <a:p>
                      <a:r>
                        <a:rPr sz="850" b="0">
                          <a:solidFill>
                            <a:srgbClr val="4B4B4B"/>
                          </a:solidFill>
                          <a:latin typeface="Arial"/>
                        </a:rPr>
                        <a:t>The period of the value date is not open</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Currency</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Currency of the voucher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Reverse on</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accruals only, after the value date</a:t>
                      </a:r>
                    </a:p>
                  </a:txBody>
                  <a:tcPr marL="54864" marR="54864" marT="27432" marB="27432">
                    <a:solidFill>
                      <a:srgbClr val="FFFFFF"/>
                    </a:solidFill>
                  </a:tcPr>
                </a:tc>
                <a:tc>
                  <a:txBody>
                    <a:bodyPr/>
                    <a:lstStyle/>
                    <a:p>
                      <a:r>
                        <a:rPr sz="850" b="0">
                          <a:solidFill>
                            <a:srgbClr val="4B4B4B"/>
                          </a:solidFill>
                          <a:latin typeface="Arial"/>
                        </a:rPr>
                        <a:t>Cond.: accrual</a:t>
                      </a:r>
                    </a:p>
                  </a:txBody>
                  <a:tcPr marL="54864" marR="54864" marT="27432" marB="27432">
                    <a:solidFill>
                      <a:srgbClr val="FFFFFF"/>
                    </a:solidFill>
                  </a:tcPr>
                </a:tc>
                <a:tc>
                  <a:txBody>
                    <a:bodyPr/>
                    <a:lstStyle/>
                    <a:p>
                      <a:r>
                        <a:rPr sz="850" b="0">
                          <a:solidFill>
                            <a:srgbClr val="4B4B4B"/>
                          </a:solidFill>
                          <a:latin typeface="Arial"/>
                        </a:rPr>
                        <a:t>After the value date</a:t>
                      </a:r>
                    </a:p>
                  </a:txBody>
                  <a:tcPr marL="54864" marR="54864" marT="27432" marB="27432">
                    <a:solidFill>
                      <a:srgbClr val="FFFFFF"/>
                    </a:solidFill>
                  </a:tcPr>
                </a:tc>
                <a:tc>
                  <a:txBody>
                    <a:bodyPr/>
                    <a:lstStyle/>
                    <a:p>
                      <a:r>
                        <a:rPr sz="850" b="0">
                          <a:solidFill>
                            <a:srgbClr val="4B4B4B"/>
                          </a:solidFill>
                          <a:latin typeface="Arial"/>
                        </a:rPr>
                        <a:t>The reversal date must be after the value date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Narration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narration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Account</a:t>
                      </a:r>
                    </a:p>
                  </a:txBody>
                  <a:tcPr marL="54864" marR="54864" marT="27432" marB="27432">
                    <a:solidFill>
                      <a:srgbClr val="E5F5FF"/>
                    </a:solidFill>
                  </a:tcPr>
                </a:tc>
                <a:tc>
                  <a:txBody>
                    <a:bodyPr/>
                    <a:lstStyle/>
                    <a:p>
                      <a:r>
                        <a:rPr sz="850" b="0">
                          <a:solidFill>
                            <a:srgbClr val="4B4B4B"/>
                          </a:solidFill>
                          <a:latin typeface="Arial"/>
                        </a:rPr>
                        <a:t>Text with list</a:t>
                      </a:r>
                    </a:p>
                  </a:txBody>
                  <a:tcPr marL="54864" marR="54864" marT="27432" marB="27432">
                    <a:solidFill>
                      <a:srgbClr val="E5F5FF"/>
                    </a:solidFill>
                  </a:tcPr>
                </a:tc>
                <a:tc>
                  <a:txBody>
                    <a:bodyPr/>
                    <a:lstStyle/>
                    <a:p>
                      <a:r>
                        <a:rPr sz="850" b="0">
                          <a:solidFill>
                            <a:srgbClr val="4B4B4B"/>
                          </a:solidFill>
                          <a:latin typeface="Arial"/>
                        </a:rPr>
                        <a:t>Account code or short code; the name shows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postable, manual posting allowed, not frozen</a:t>
                      </a:r>
                    </a:p>
                  </a:txBody>
                  <a:tcPr marL="54864" marR="54864" marT="27432" marB="27432">
                    <a:solidFill>
                      <a:srgbClr val="E5F5FF"/>
                    </a:solidFill>
                  </a:tcPr>
                </a:tc>
                <a:tc>
                  <a:txBody>
                    <a:bodyPr/>
                    <a:lstStyle/>
                    <a:p>
                      <a:r>
                        <a:rPr sz="850" b="0">
                          <a:solidFill>
                            <a:srgbClr val="4B4B4B"/>
                          </a:solidFill>
                          <a:latin typeface="Arial"/>
                        </a:rPr>
                        <a:t>The account does not allow manual posting</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Dr / Cr / Amount</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Debit or Credit; amount above zero, two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Amounts must be greater than zero</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Cost centre / Line of business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Mandatory for the accounts that require them</a:t>
                      </a:r>
                    </a:p>
                  </a:txBody>
                  <a:tcPr marL="54864" marR="54864" marT="27432" marB="27432">
                    <a:solidFill>
                      <a:srgbClr val="E5F5FF"/>
                    </a:solidFill>
                  </a:tcPr>
                </a:tc>
                <a:tc>
                  <a:txBody>
                    <a:bodyPr/>
                    <a:lstStyle/>
                    <a:p>
                      <a:r>
                        <a:rPr sz="850" b="0">
                          <a:solidFill>
                            <a:srgbClr val="4B4B4B"/>
                          </a:solidFill>
                          <a:latin typeface="Arial"/>
                        </a:rPr>
                        <a:t>Cond.: account</a:t>
                      </a:r>
                    </a:p>
                  </a:txBody>
                  <a:tcPr marL="54864" marR="54864" marT="27432" marB="27432">
                    <a:solidFill>
                      <a:srgbClr val="E5F5FF"/>
                    </a:solidFill>
                  </a:tcPr>
                </a:tc>
                <a:tc>
                  <a:txBody>
                    <a:bodyPr/>
                    <a:lstStyle/>
                    <a:p>
                      <a:r>
                        <a:rPr sz="850" b="0">
                          <a:solidFill>
                            <a:srgbClr val="4B4B4B"/>
                          </a:solidFill>
                          <a:latin typeface="Arial"/>
                        </a:rPr>
                        <a:t>Present when the account requires it</a:t>
                      </a:r>
                    </a:p>
                  </a:txBody>
                  <a:tcPr marL="54864" marR="54864" marT="27432" marB="27432">
                    <a:solidFill>
                      <a:srgbClr val="E5F5FF"/>
                    </a:solidFill>
                  </a:tcPr>
                </a:tc>
                <a:tc>
                  <a:txBody>
                    <a:bodyPr/>
                    <a:lstStyle/>
                    <a:p>
                      <a:r>
                        <a:rPr sz="850" b="0">
                          <a:solidFill>
                            <a:srgbClr val="4B4B4B"/>
                          </a:solidFill>
                          <a:latin typeface="Arial"/>
                        </a:rPr>
                        <a:t>Cost centre is required for this account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Reference / Narration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Line reference and narration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Balance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Balanced, or Difference with the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Total debit equals total credit</a:t>
                      </a:r>
                    </a:p>
                  </a:txBody>
                  <a:tcPr marL="54864" marR="54864" marT="27432" marB="27432">
                    <a:solidFill>
                      <a:srgbClr val="E5F5FF"/>
                    </a:solidFill>
                  </a:tcPr>
                </a:tc>
                <a:tc>
                  <a:txBody>
                    <a:bodyPr/>
                    <a:lstStyle/>
                    <a:p>
                      <a:r>
                        <a:rPr sz="850" b="0">
                          <a:solidFill>
                            <a:srgbClr val="4B4B4B"/>
                          </a:solidFill>
                          <a:latin typeface="Arial"/>
                        </a:rPr>
                        <a:t>Difference &lt;amount&gt;</a:t>
                      </a:r>
                    </a:p>
                  </a:txBody>
                  <a:tcPr marL="54864" marR="54864" marT="27432" marB="27432">
                    <a:solidFill>
                      <a:srgbClr val="E5F5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Debit / Add Credit / [Remove]</a:t>
                      </a:r>
                    </a:p>
                  </a:txBody>
                  <a:tcPr marL="54864" marR="54864" marT="27432" marB="27432">
                    <a:solidFill>
                      <a:srgbClr val="FFFFFF"/>
                    </a:solidFill>
                  </a:tcPr>
                </a:tc>
                <a:tc>
                  <a:txBody>
                    <a:bodyPr/>
                    <a:lstStyle/>
                    <a:p>
                      <a:r>
                        <a:rPr sz="850" b="0">
                          <a:solidFill>
                            <a:srgbClr val="4B4B4B"/>
                          </a:solidFill>
                          <a:latin typeface="Arial"/>
                        </a:rPr>
                        <a:t>Maker</a:t>
                      </a:r>
                    </a:p>
                  </a:txBody>
                  <a:tcPr marL="54864" marR="54864" marT="27432" marB="27432">
                    <a:solidFill>
                      <a:srgbClr val="FFFFFF"/>
                    </a:solidFill>
                  </a:tcPr>
                </a:tc>
                <a:tc>
                  <a:txBody>
                    <a:bodyPr/>
                    <a:lstStyle/>
                    <a:p>
                      <a:r>
                        <a:rPr sz="850" b="0">
                          <a:solidFill>
                            <a:srgbClr val="4B4B4B"/>
                          </a:solidFill>
                          <a:latin typeface="Arial"/>
                        </a:rPr>
                        <a:t>Draft or returned voucher</a:t>
                      </a:r>
                    </a:p>
                  </a:txBody>
                  <a:tcPr marL="54864" marR="54864" marT="27432" marB="27432">
                    <a:solidFill>
                      <a:srgbClr val="FFFFFF"/>
                    </a:solidFill>
                  </a:tcPr>
                </a:tc>
                <a:tc>
                  <a:txBody>
                    <a:bodyPr/>
                    <a:lstStyle/>
                    <a:p>
                      <a:r>
                        <a:rPr sz="850" b="0">
                          <a:solidFill>
                            <a:srgbClr val="4B4B4B"/>
                          </a:solidFill>
                          <a:latin typeface="Arial"/>
                        </a:rPr>
                        <a:t>Adds a debit or a credit line, or removes a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Maker (journal create)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the voucher as a draft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Save &amp; Submit</a:t>
                      </a:r>
                    </a:p>
                  </a:txBody>
                  <a:tcPr marL="54864" marR="54864" marT="27432" marB="27432">
                    <a:solidFill>
                      <a:srgbClr val="FFFFFF"/>
                    </a:solidFill>
                  </a:tcPr>
                </a:tc>
                <a:tc>
                  <a:txBody>
                    <a:bodyPr/>
                    <a:lstStyle/>
                    <a:p>
                      <a:r>
                        <a:rPr sz="850" b="0">
                          <a:solidFill>
                            <a:srgbClr val="4B4B4B"/>
                          </a:solidFill>
                          <a:latin typeface="Arial"/>
                        </a:rPr>
                        <a:t>Maker (journal create)</a:t>
                      </a:r>
                    </a:p>
                  </a:txBody>
                  <a:tcPr marL="54864" marR="54864" marT="27432" marB="27432">
                    <a:solidFill>
                      <a:srgbClr val="FFFFFF"/>
                    </a:solidFill>
                  </a:tcPr>
                </a:tc>
                <a:tc>
                  <a:txBody>
                    <a:bodyPr/>
                    <a:lstStyle/>
                    <a:p>
                      <a:r>
                        <a:rPr sz="850" b="0">
                          <a:solidFill>
                            <a:srgbClr val="4B4B4B"/>
                          </a:solidFill>
                          <a:latin typeface="Arial"/>
                        </a:rPr>
                        <a:t>The voucher balances</a:t>
                      </a:r>
                    </a:p>
                  </a:txBody>
                  <a:tcPr marL="54864" marR="54864" marT="27432" marB="27432">
                    <a:solidFill>
                      <a:srgbClr val="FFFFFF"/>
                    </a:solidFill>
                  </a:tcPr>
                </a:tc>
                <a:tc>
                  <a:txBody>
                    <a:bodyPr/>
                    <a:lstStyle/>
                    <a:p>
                      <a:r>
                        <a:rPr sz="850" b="0">
                          <a:solidFill>
                            <a:srgbClr val="4B4B4B"/>
                          </a:solidFill>
                          <a:latin typeface="Arial"/>
                        </a:rPr>
                        <a:t>Opens Submit journal for posting with the totals; Submit sends it for posting</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Cancel</a:t>
                      </a:r>
                    </a:p>
                  </a:txBody>
                  <a:tcPr marL="54864" marR="54864" marT="27432" marB="27432">
                    <a:solidFill>
                      <a:srgbClr val="E5F5FF"/>
                    </a:solidFill>
                  </a:tcPr>
                </a:tc>
                <a:tc>
                  <a:txBody>
                    <a:bodyPr/>
                    <a:lstStyle/>
                    <a:p>
                      <a:r>
                        <a:rPr sz="850" b="0">
                          <a:solidFill>
                            <a:srgbClr val="4B4B4B"/>
                          </a:solidFill>
                          <a:latin typeface="Arial"/>
                        </a:rPr>
                        <a:t>Maker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Leaves the form without saving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posts only when the debits equal the credits; amounts are above zero with two decimals (FR-AC-034).</a:t>
                      </a:r>
                    </a:p>
                  </a:txBody>
                  <a:tcPr marL="54864" marR="54864" marT="27432" marB="27432">
                    <a:solidFill>
                      <a:srgbClr val="FFFFFF"/>
                    </a:solidFill>
                  </a:tcPr>
                </a:tc>
              </a:tr>
              <a:tr h="243840">
                <a:tc>
                  <a:txBody>
                    <a:bodyPr/>
                    <a:lstStyle/>
                    <a:p>
                      <a:r>
                        <a:rPr sz="1000" b="0">
                          <a:solidFill>
                            <a:srgbClr val="4B4B4B"/>
                          </a:solidFill>
                          <a:latin typeface="Arial"/>
                        </a:rPr>
                        <a:t>An account is entered by its code or its short code; frozen accounts and accounts closed to manual posting are refused (FR-AC-014, FR-AC-034).</a:t>
                      </a:r>
                    </a:p>
                  </a:txBody>
                  <a:tcPr marL="54864" marR="54864" marT="27432" marB="27432">
                    <a:solidFill>
                      <a:srgbClr val="E5F5FF"/>
                    </a:solidFill>
                  </a:tcPr>
                </a:tc>
              </a:tr>
              <a:tr h="243840">
                <a:tc>
                  <a:txBody>
                    <a:bodyPr/>
                    <a:lstStyle/>
                    <a:p>
                      <a:r>
                        <a:rPr sz="1000" b="0">
                          <a:solidFill>
                            <a:srgbClr val="4B4B4B"/>
                          </a:solidFill>
                          <a:latin typeface="Arial"/>
                        </a:rPr>
                        <a:t>An accrual carries its reversal date; on that date the posted voucher is reversed automatically in the GL (FR-AC-033).</a:t>
                      </a:r>
                    </a:p>
                  </a:txBody>
                  <a:tcPr marL="54864" marR="54864" marT="27432" marB="27432">
                    <a:solidFill>
                      <a:srgbClr val="FFFFFF"/>
                    </a:solidFill>
                  </a:tcPr>
                </a:tc>
              </a:tr>
              <a:tr h="243840">
                <a:tc>
                  <a:txBody>
                    <a:bodyPr/>
                    <a:lstStyle/>
                    <a:p>
                      <a:r>
                        <a:rPr sz="1000" b="0">
                          <a:solidFill>
                            <a:srgbClr val="4B4B4B"/>
                          </a:solidFill>
                          <a:latin typeface="Arial"/>
                        </a:rPr>
                        <a:t>The cost centre is mandatory for the accounts that require it; the cost-centre rules propose it for the vouchers of the business events (FR-AC-054).</a:t>
                      </a:r>
                    </a:p>
                  </a:txBody>
                  <a:tcPr marL="54864" marR="54864" marT="27432" marB="27432">
                    <a:solidFill>
                      <a:srgbClr val="E5F5FF"/>
                    </a:solidFill>
                  </a:tcPr>
                </a:tc>
              </a:tr>
              <a:tr h="243840">
                <a:tc>
                  <a:txBody>
                    <a:bodyPr/>
                    <a:lstStyle/>
                    <a:p>
                      <a:r>
                        <a:rPr sz="1000" b="0">
                          <a:solidFill>
                            <a:srgbClr val="4B4B4B"/>
                          </a:solidFill>
                          <a:latin typeface="Arial"/>
                        </a:rPr>
                        <a:t>A posting that makes a block account negative is refused; a warn account shows the warning to the maker and the checker (FR-AC-034).</a:t>
                      </a:r>
                    </a:p>
                  </a:txBody>
                  <a:tcPr marL="54864" marR="54864" marT="27432" marB="27432">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3" cy="9601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1</a:t>
                      </a:r>
                    </a:p>
                  </a:txBody>
                  <a:tcPr marL="54864" marR="54864" marT="27432" marB="27432">
                    <a:solidFill>
                      <a:srgbClr val="FFFFFF"/>
                    </a:solidFill>
                  </a:tcPr>
                </a:tc>
                <a:tc>
                  <a:txBody>
                    <a:bodyPr/>
                    <a:lstStyle/>
                    <a:p>
                      <a:r>
                        <a:rPr sz="900" b="0">
                          <a:solidFill>
                            <a:srgbClr val="4B4B4B"/>
                          </a:solidFill>
                          <a:latin typeface="Arial"/>
                        </a:rPr>
                        <a:t>Enters a voucher whose debit and credit differ</a:t>
                      </a:r>
                    </a:p>
                  </a:txBody>
                  <a:tcPr marL="54864" marR="54864" marT="27432" marB="27432">
                    <a:solidFill>
                      <a:srgbClr val="FFFFFF"/>
                    </a:solidFill>
                  </a:tcPr>
                </a:tc>
                <a:tc>
                  <a:txBody>
                    <a:bodyPr/>
                    <a:lstStyle/>
                    <a:p>
                      <a:r>
                        <a:rPr sz="900" b="0">
                          <a:solidFill>
                            <a:srgbClr val="4B4B4B"/>
                          </a:solidFill>
                          <a:latin typeface="Arial"/>
                        </a:rPr>
                        <a:t>SCR-AC-02_wt-e-step-01.png</a:t>
                      </a:r>
                    </a:p>
                  </a:txBody>
                  <a:tcPr marL="54864" marR="54864" marT="27432" marB="27432">
                    <a:solidFill>
                      <a:srgbClr val="FFFFFF"/>
                    </a:solidFill>
                  </a:tcPr>
                </a:tc>
              </a:tr>
              <a:tr h="50292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Enters an accrual on New Journal (value date today, Reverse on the first day of next month, a debit to the expense with its cost centre and a credit to accrued expenses), clicks Save &amp; Submit and confirms</a:t>
                      </a:r>
                    </a:p>
                  </a:txBody>
                  <a:tcPr marL="54864" marR="54864" marT="27432" marB="27432">
                    <a:solidFill>
                      <a:srgbClr val="E5F5FF"/>
                    </a:solidFill>
                  </a:tcPr>
                </a:tc>
                <a:tc>
                  <a:txBody>
                    <a:bodyPr/>
                    <a:lstStyle/>
                    <a:p>
                      <a:r>
                        <a:rPr sz="900" b="0">
                          <a:solidFill>
                            <a:srgbClr val="4B4B4B"/>
                          </a:solidFill>
                          <a:latin typeface="Arial"/>
                        </a:rPr>
                        <a:t>SCR-AC-02_wt-a-step-01.png</a:t>
                      </a:r>
                    </a:p>
                  </a:txBody>
                  <a:tcPr marL="54864" marR="54864" marT="27432" marB="27432">
                    <a:solidFill>
                      <a:srgbClr val="E5F5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1.png"/>
          <p:cNvPicPr>
            <a:picLocks noChangeAspect="1"/>
          </p:cNvPicPr>
          <p:nvPr/>
        </p:nvPicPr>
        <p:blipFill>
          <a:blip r:embed="rId3"/>
          <a:stretch>
            <a:fillRect/>
          </a:stretch>
        </p:blipFill>
        <p:spPr>
          <a:xfrm>
            <a:off x="548640" y="1261872"/>
            <a:ext cx="11094415" cy="386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1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2.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2 of 3)</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3.png"/>
          <p:cNvPicPr>
            <a:picLocks noChangeAspect="1"/>
          </p:cNvPicPr>
          <p:nvPr/>
        </p:nvPicPr>
        <p:blipFill>
          <a:blip r:embed="rId3"/>
          <a:stretch>
            <a:fillRect/>
          </a:stretch>
        </p:blipFill>
        <p:spPr>
          <a:xfrm>
            <a:off x="548640" y="1261872"/>
            <a:ext cx="11094415" cy="164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3 of 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4.png"/>
          <p:cNvPicPr>
            <a:picLocks noChangeAspect="1"/>
          </p:cNvPicPr>
          <p:nvPr/>
        </p:nvPicPr>
        <p:blipFill>
          <a:blip r:embed="rId3"/>
          <a:stretch>
            <a:fillRect/>
          </a:stretch>
        </p:blipFill>
        <p:spPr>
          <a:xfrm>
            <a:off x="548640" y="1261872"/>
            <a:ext cx="11094415" cy="386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1 of 3)</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5.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2 of 3)</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6.png"/>
          <p:cNvPicPr>
            <a:picLocks noChangeAspect="1"/>
          </p:cNvPicPr>
          <p:nvPr/>
        </p:nvPicPr>
        <p:blipFill>
          <a:blip r:embed="rId3"/>
          <a:stretch>
            <a:fillRect/>
          </a:stretch>
        </p:blipFill>
        <p:spPr>
          <a:xfrm>
            <a:off x="548640" y="1261872"/>
            <a:ext cx="11094415" cy="164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3 of 3)</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02-02-confirm.png"/>
          <p:cNvPicPr>
            <a:picLocks noChangeAspect="1"/>
          </p:cNvPicPr>
          <p:nvPr/>
        </p:nvPicPr>
        <p:blipFill>
          <a:blip r:embed="rId3"/>
          <a:stretch>
            <a:fillRect/>
          </a:stretch>
        </p:blipFill>
        <p:spPr>
          <a:xfrm>
            <a:off x="548640" y="1261872"/>
            <a:ext cx="11094415" cy="43722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 journal for posting: the value date, the reversal date, the lines and the totals to confirm</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journal voucher: its type, value date, totals and source; the lines with account, cost centre, line of business, currency, debit and credit; the audit of the input, submission, authorisation and posting with the assignment and the automatic reversal date; and the actions the user may take on it now.</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Journals › Journal</a:t>
                      </a:r>
                    </a:p>
                    <a:p>
                      <a:r>
                        <a:rPr sz="950" b="0">
                          <a:solidFill>
                            <a:srgbClr val="4B4B4B"/>
                          </a:solidFill>
                          <a:latin typeface="Arial"/>
                        </a:rPr>
                        <a:t>Journals › open a row</a:t>
                      </a:r>
                    </a:p>
                    <a:p>
                      <a:r>
                        <a:rPr sz="950" b="0">
                          <a:solidFill>
                            <a:srgbClr val="4B4B4B"/>
                          </a:solidFill>
                          <a:latin typeface="Arial"/>
                        </a:rPr>
                        <a:t>Correction Entry › the posted journal</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FR-AC-031, FR-AC-035, FR-AC-036, FR-AC-037, FR-AS-024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posted, returned or reversed, with its audit.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Type / Value date / Total debit / credit / Source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Journal type; dd-MMM-yyyy; two decimals; Manual entry or the business event with its 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 / Account / Cost Centre / LOB / Ccy / Debit / Credit / Narration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line, the account with its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Audit</a:t>
                      </a:r>
                    </a:p>
                  </a:txBody>
                  <a:tcPr marL="54864" marR="54864" marT="27432" marB="27432">
                    <a:solidFill>
                      <a:srgbClr val="FFFFFF"/>
                    </a:solidFill>
                  </a:tcPr>
                </a:tc>
                <a:tc>
                  <a:txBody>
                    <a:bodyPr/>
                    <a:lstStyle/>
                    <a:p>
                      <a:r>
                        <a:rPr sz="850" b="0">
                          <a:solidFill>
                            <a:srgbClr val="4B4B4B"/>
                          </a:solidFill>
                          <a:latin typeface="Arial"/>
                        </a:rPr>
                        <a:t>Input by / Submitted by / Authorized by / Posted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with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Audit</a:t>
                      </a:r>
                    </a:p>
                  </a:txBody>
                  <a:tcPr marL="54864" marR="54864" marT="27432" marB="27432">
                    <a:solidFill>
                      <a:srgbClr val="E5F5FF"/>
                    </a:solidFill>
                  </a:tcPr>
                </a:tc>
                <a:tc>
                  <a:txBody>
                    <a:bodyPr/>
                    <a:lstStyle/>
                    <a:p>
                      <a:r>
                        <a:rPr sz="850" b="0">
                          <a:solidFill>
                            <a:srgbClr val="4B4B4B"/>
                          </a:solidFill>
                          <a:latin typeface="Arial"/>
                        </a:rPr>
                        <a:t>Assigned to / Automatic reversal on / Returned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 of the assignee and of the assigner; reversal date; the reason of a return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Return journal to its maker dialog</a:t>
                      </a:r>
                    </a:p>
                  </a:txBody>
                  <a:tcPr marL="54864" marR="54864" marT="27432" marB="27432">
                    <a:solidFill>
                      <a:srgbClr val="FFFFFF"/>
                    </a:solidFill>
                  </a:tcPr>
                </a:tc>
                <a:tc>
                  <a:txBody>
                    <a:bodyPr/>
                    <a:lstStyle/>
                    <a:p>
                      <a:r>
                        <a:rPr sz="850" b="0">
                          <a:solidFill>
                            <a:srgbClr val="4B4B4B"/>
                          </a:solidFill>
                          <a:latin typeface="Arial"/>
                        </a:rPr>
                        <a:t>Reason / 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reason of the return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Reverse journal dialog</a:t>
                      </a:r>
                    </a:p>
                  </a:txBody>
                  <a:tcPr marL="54864" marR="54864" marT="27432" marB="27432">
                    <a:solidFill>
                      <a:srgbClr val="E5F5FF"/>
                    </a:solidFill>
                  </a:tcPr>
                </a:tc>
                <a:tc>
                  <a:txBody>
                    <a:bodyPr/>
                    <a:lstStyle/>
                    <a:p>
                      <a:r>
                        <a:rPr sz="850" b="0">
                          <a:solidFill>
                            <a:srgbClr val="4B4B4B"/>
                          </a:solidFill>
                          <a:latin typeface="Arial"/>
                        </a:rPr>
                        <a:t>Reversal value date / Reason / remarks</a:t>
                      </a:r>
                    </a:p>
                  </a:txBody>
                  <a:tcPr marL="54864" marR="54864" marT="27432" marB="27432">
                    <a:solidFill>
                      <a:srgbClr val="E5F5FF"/>
                    </a:solidFill>
                  </a:tcPr>
                </a:tc>
                <a:tc>
                  <a:txBody>
                    <a:bodyPr/>
                    <a:lstStyle/>
                    <a:p>
                      <a:r>
                        <a:rPr sz="850" b="0">
                          <a:solidFill>
                            <a:srgbClr val="4B4B4B"/>
                          </a:solidFill>
                          <a:latin typeface="Arial"/>
                        </a:rPr>
                        <a:t>Date, text area</a:t>
                      </a:r>
                    </a:p>
                  </a:txBody>
                  <a:tcPr marL="54864" marR="54864" marT="27432" marB="27432">
                    <a:solidFill>
                      <a:srgbClr val="E5F5FF"/>
                    </a:solidFill>
                  </a:tcPr>
                </a:tc>
                <a:tc>
                  <a:txBody>
                    <a:bodyPr/>
                    <a:lstStyle/>
                    <a:p>
                      <a:r>
                        <a:rPr sz="850" b="0">
                          <a:solidFill>
                            <a:srgbClr val="4B4B4B"/>
                          </a:solidFill>
                          <a:latin typeface="Arial"/>
                        </a:rPr>
                        <a:t>dd-MMM-yyyy in an open period; the reason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Period open</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 Submit / Cancel Voucher</a:t>
                      </a:r>
                    </a:p>
                  </a:txBody>
                  <a:tcPr marL="54864" marR="54864" marT="27432" marB="27432">
                    <a:solidFill>
                      <a:srgbClr val="FFFFFF"/>
                    </a:solidFill>
                  </a:tcPr>
                </a:tc>
                <a:tc>
                  <a:txBody>
                    <a:bodyPr/>
                    <a:lstStyle/>
                    <a:p>
                      <a:r>
                        <a:rPr sz="850" b="0">
                          <a:solidFill>
                            <a:srgbClr val="4B4B4B"/>
                          </a:solidFill>
                          <a:latin typeface="Arial"/>
                        </a:rPr>
                        <a:t>Maker</a:t>
                      </a:r>
                    </a:p>
                  </a:txBody>
                  <a:tcPr marL="54864" marR="54864" marT="27432" marB="27432">
                    <a:solidFill>
                      <a:srgbClr val="FFFFFF"/>
                    </a:solidFill>
                  </a:tcPr>
                </a:tc>
                <a:tc>
                  <a:txBody>
                    <a:bodyPr/>
                    <a:lstStyle/>
                    <a:p>
                      <a:r>
                        <a:rPr sz="850" b="0">
                          <a:solidFill>
                            <a:srgbClr val="4B4B4B"/>
                          </a:solidFill>
                          <a:latin typeface="Arial"/>
                        </a:rPr>
                        <a:t>Draft or returned voucher</a:t>
                      </a:r>
                    </a:p>
                  </a:txBody>
                  <a:tcPr marL="54864" marR="54864" marT="27432" marB="27432">
                    <a:solidFill>
                      <a:srgbClr val="FFFFFF"/>
                    </a:solidFill>
                  </a:tcPr>
                </a:tc>
                <a:tc>
                  <a:txBody>
                    <a:bodyPr/>
                    <a:lstStyle/>
                    <a:p>
                      <a:r>
                        <a:rPr sz="850" b="0">
                          <a:solidFill>
                            <a:srgbClr val="4B4B4B"/>
                          </a:solidFill>
                          <a:latin typeface="Arial"/>
                        </a:rPr>
                        <a:t>Edits, submits (with the confirmation of the totals) or cancels the voucher</a:t>
                      </a:r>
                    </a:p>
                  </a:txBody>
                  <a:tcPr marL="54864" marR="54864" marT="27432" marB="27432">
                    <a:solidFill>
                      <a:srgbClr val="FFFFFF"/>
                    </a:solidFill>
                  </a:tcPr>
                </a:tc>
                <a:tc>
                  <a:txBody>
                    <a:bodyPr/>
                    <a:lstStyle/>
                    <a:p>
                      <a:r>
                        <a:rPr sz="850" b="0">
                          <a:solidFill>
                            <a:srgbClr val="4B4B4B"/>
                          </a:solidFill>
                          <a:latin typeface="Arial"/>
                        </a:rPr>
                        <a:t>Pending Approval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 &amp; Post</a:t>
                      </a:r>
                    </a:p>
                  </a:txBody>
                  <a:tcPr marL="54864" marR="54864" marT="27432" marB="27432">
                    <a:solidFill>
                      <a:srgbClr val="E5F5FF"/>
                    </a:solidFill>
                  </a:tcPr>
                </a:tc>
                <a:tc>
                  <a:txBody>
                    <a:bodyPr/>
                    <a:lstStyle/>
                    <a:p>
                      <a:r>
                        <a:rPr sz="850" b="0">
                          <a:solidFill>
                            <a:srgbClr val="4B4B4B"/>
                          </a:solidFill>
                          <a:latin typeface="Arial"/>
                        </a:rPr>
                        <a:t>GL Team Lead, GL Section Head (journal authorize)</a:t>
                      </a:r>
                    </a:p>
                  </a:txBody>
                  <a:tcPr marL="54864" marR="54864" marT="27432" marB="27432">
                    <a:solidFill>
                      <a:srgbClr val="E5F5FF"/>
                    </a:solidFill>
                  </a:tcPr>
                </a:tc>
                <a:tc>
                  <a:txBody>
                    <a:bodyPr/>
                    <a:lstStyle/>
                    <a:p>
                      <a:r>
                        <a:rPr sz="850" b="0">
                          <a:solidFill>
                            <a:srgbClr val="4B4B4B"/>
                          </a:solidFill>
                          <a:latin typeface="Arial"/>
                        </a:rPr>
                        <a:t>Pending approval and the user is not the submitter</a:t>
                      </a:r>
                    </a:p>
                  </a:txBody>
                  <a:tcPr marL="54864" marR="54864" marT="27432" marB="27432">
                    <a:solidFill>
                      <a:srgbClr val="E5F5FF"/>
                    </a:solidFill>
                  </a:tcPr>
                </a:tc>
                <a:tc>
                  <a:txBody>
                    <a:bodyPr/>
                    <a:lstStyle/>
                    <a:p>
                      <a:r>
                        <a:rPr sz="850" b="0">
                          <a:solidFill>
                            <a:srgbClr val="4B4B4B"/>
                          </a:solidFill>
                          <a:latin typeface="Arial"/>
                        </a:rPr>
                        <a:t>Posts the voucher after the confirmation</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Maker</a:t>
                      </a:r>
                    </a:p>
                  </a:txBody>
                  <a:tcPr marL="54864" marR="54864" marT="27432" marB="27432">
                    <a:solidFill>
                      <a:srgbClr val="FFFFFF"/>
                    </a:solidFill>
                  </a:tcPr>
                </a:tc>
                <a:tc>
                  <a:txBody>
                    <a:bodyPr/>
                    <a:lstStyle/>
                    <a:p>
                      <a:r>
                        <a:rPr sz="850" b="0">
                          <a:solidFill>
                            <a:srgbClr val="4B4B4B"/>
                          </a:solidFill>
                          <a:latin typeface="Arial"/>
                        </a:rPr>
                        <a:t>GL Team Lead, GL Section Head (journal authorize)</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Returns the voucher with the reason</a:t>
                      </a:r>
                    </a:p>
                  </a:txBody>
                  <a:tcPr marL="54864" marR="54864" marT="27432" marB="27432">
                    <a:solidFill>
                      <a:srgbClr val="FFFFFF"/>
                    </a:solidFill>
                  </a:tcPr>
                </a:tc>
                <a:tc>
                  <a:txBody>
                    <a:bodyPr/>
                    <a:lstStyle/>
                    <a:p>
                      <a:r>
                        <a:rPr sz="850" b="0">
                          <a:solidFill>
                            <a:srgbClr val="4B4B4B"/>
                          </a:solidFill>
                          <a:latin typeface="Arial"/>
                        </a:rPr>
                        <a:t>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Reverse</a:t>
                      </a:r>
                    </a:p>
                  </a:txBody>
                  <a:tcPr marL="54864" marR="54864" marT="27432" marB="27432">
                    <a:solidFill>
                      <a:srgbClr val="E5F5FF"/>
                    </a:solidFill>
                  </a:tcPr>
                </a:tc>
                <a:tc>
                  <a:txBody>
                    <a:bodyPr/>
                    <a:lstStyle/>
                    <a:p>
                      <a:r>
                        <a:rPr sz="850" b="0">
                          <a:solidFill>
                            <a:srgbClr val="4B4B4B"/>
                          </a:solidFill>
                          <a:latin typeface="Arial"/>
                        </a:rPr>
                        <a:t>GL Section Head (journal reverse)</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Posts a linked reversal at the date given</a:t>
                      </a:r>
                    </a:p>
                  </a:txBody>
                  <a:tcPr marL="54864" marR="54864" marT="27432" marB="27432">
                    <a:solidFill>
                      <a:srgbClr val="E5F5FF"/>
                    </a:solidFill>
                  </a:tcPr>
                </a:tc>
                <a:tc>
                  <a:txBody>
                    <a:bodyPr/>
                    <a:lstStyle/>
                    <a:p>
                      <a:r>
                        <a:rPr sz="850" b="0">
                          <a:solidFill>
                            <a:srgbClr val="4B4B4B"/>
                          </a:solidFill>
                          <a:latin typeface="Arial"/>
                        </a:rPr>
                        <a:t>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Copy</a:t>
                      </a:r>
                    </a:p>
                  </a:txBody>
                  <a:tcPr marL="54864" marR="54864" marT="27432" marB="27432">
                    <a:solidFill>
                      <a:srgbClr val="FFFFFF"/>
                    </a:solidFill>
                  </a:tcPr>
                </a:tc>
                <a:tc>
                  <a:txBody>
                    <a:bodyPr/>
                    <a:lstStyle/>
                    <a:p>
                      <a:r>
                        <a:rPr sz="850" b="0">
                          <a:solidFill>
                            <a:srgbClr val="4B4B4B"/>
                          </a:solidFill>
                          <a:latin typeface="Arial"/>
                        </a:rPr>
                        <a:t>Maker (journal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 new draft with the same lines at today's date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posted voucher is never changed; it is reversed by a linked voucher (FR-AC-037).</a:t>
                      </a:r>
                    </a:p>
                  </a:txBody>
                  <a:tcPr marL="54864" marR="54864" marT="27432" marB="27432">
                    <a:solidFill>
                      <a:srgbClr val="FFFFFF"/>
                    </a:solidFill>
                  </a:tcPr>
                </a:tc>
              </a:tr>
              <a:tr h="243840">
                <a:tc>
                  <a:txBody>
                    <a:bodyPr/>
                    <a:lstStyle/>
                    <a:p>
                      <a:r>
                        <a:rPr sz="1000" b="0">
                          <a:solidFill>
                            <a:srgbClr val="4B4B4B"/>
                          </a:solidFill>
                          <a:latin typeface="Arial"/>
                        </a:rPr>
                        <a:t>The submitter may not post or return the own voucher (FR-AC-036).</a:t>
                      </a:r>
                    </a:p>
                  </a:txBody>
                  <a:tcPr marL="54864" marR="54864" marT="27432" marB="27432">
                    <a:solidFill>
                      <a:srgbClr val="E5F5FF"/>
                    </a:solidFill>
                  </a:tcPr>
                </a:tc>
              </a:tr>
              <a:tr h="243840">
                <a:tc>
                  <a:txBody>
                    <a:bodyPr/>
                    <a:lstStyle/>
                    <a:p>
                      <a:r>
                        <a:rPr sz="1000" b="0">
                          <a:solidFill>
                            <a:srgbClr val="4B4B4B"/>
                          </a:solidFill>
                          <a:latin typeface="Arial"/>
                        </a:rPr>
                        <a:t>A returned voucher goes back to its maker with the remarks; the maker edits and submits it again (FR-AC-036).</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Opens the journal</a:t>
                      </a:r>
                    </a:p>
                  </a:txBody>
                  <a:tcPr marL="54864" marR="54864" marT="27432" marB="27432">
                    <a:solidFill>
                      <a:srgbClr val="FFFFFF"/>
                    </a:solidFill>
                  </a:tcPr>
                </a:tc>
                <a:tc>
                  <a:txBody>
                    <a:bodyPr/>
                    <a:lstStyle/>
                    <a:p>
                      <a:r>
                        <a:rPr sz="900" b="0">
                          <a:solidFill>
                            <a:srgbClr val="4B4B4B"/>
                          </a:solidFill>
                          <a:latin typeface="Arial"/>
                        </a:rPr>
                        <a:t>SCR-AC-03_wt-a-step-04.png</a:t>
                      </a:r>
                    </a:p>
                  </a:txBody>
                  <a:tcPr marL="54864" marR="54864" marT="27432" marB="27432">
                    <a:solidFill>
                      <a:srgbClr val="FFFF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3-03-reverse.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Reverse journal: the reversal value date and the reason</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1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2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9.png"/>
          <p:cNvPicPr>
            <a:picLocks noChangeAspect="1"/>
          </p:cNvPicPr>
          <p:nvPr/>
        </p:nvPicPr>
        <p:blipFill>
          <a:blip r:embed="rId3"/>
          <a:stretch>
            <a:fillRect/>
          </a:stretch>
        </p:blipFill>
        <p:spPr>
          <a:xfrm>
            <a:off x="548640" y="1261872"/>
            <a:ext cx="11094415" cy="9564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3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journal pending approval as the poster sees it, with Authorize &amp; Post and Return to Maker (part 1 of 2)</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1.png"/>
          <p:cNvPicPr>
            <a:picLocks noChangeAspect="1"/>
          </p:cNvPicPr>
          <p:nvPr/>
        </p:nvPicPr>
        <p:blipFill>
          <a:blip r:embed="rId3"/>
          <a:stretch>
            <a:fillRect/>
          </a:stretch>
        </p:blipFill>
        <p:spPr>
          <a:xfrm>
            <a:off x="548640" y="1261872"/>
            <a:ext cx="11094415" cy="45812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journal pending approval as the poster sees it, with Authorize &amp; Post and Return to Maker (part 2 of 2)</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Account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 of one GL account for a range of value dates: the opening balance, the total debits and credits, the closing balance and every posted line with its batch, type, narration, reference and running balance.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Account Inquiry</a:t>
                      </a:r>
                    </a:p>
                    <a:p>
                      <a:r>
                        <a:rPr sz="950" b="0">
                          <a:solidFill>
                            <a:srgbClr val="4B4B4B"/>
                          </a:solidFill>
                          <a:latin typeface="Arial"/>
                        </a:rPr>
                        <a:t>Journal › posted lines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balance and the movements of an account.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Account</a:t>
                      </a:r>
                    </a:p>
                  </a:txBody>
                  <a:tcPr marL="54864" marR="54864" marT="27432" marB="27432">
                    <a:solidFill>
                      <a:srgbClr val="FFFFFF"/>
                    </a:solidFill>
                  </a:tcPr>
                </a:tc>
                <a:tc>
                  <a:txBody>
                    <a:bodyPr/>
                    <a:lstStyle/>
                    <a:p>
                      <a:r>
                        <a:rPr sz="850" b="0">
                          <a:solidFill>
                            <a:srgbClr val="4B4B4B"/>
                          </a:solidFill>
                          <a:latin typeface="Arial"/>
                        </a:rPr>
                        <a:t>Text with list</a:t>
                      </a:r>
                    </a:p>
                  </a:txBody>
                  <a:tcPr marL="54864" marR="54864" marT="27432" marB="27432">
                    <a:solidFill>
                      <a:srgbClr val="FFFFFF"/>
                    </a:solidFill>
                  </a:tcPr>
                </a:tc>
                <a:tc>
                  <a:txBody>
                    <a:bodyPr/>
                    <a:lstStyle/>
                    <a:p>
                      <a:r>
                        <a:rPr sz="850" b="0">
                          <a:solidFill>
                            <a:srgbClr val="4B4B4B"/>
                          </a:solidFill>
                          <a:latin typeface="Arial"/>
                        </a:rPr>
                        <a:t>Account code or short code; the name shows under the field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account of the chart</a:t>
                      </a:r>
                    </a:p>
                  </a:txBody>
                  <a:tcPr marL="54864" marR="54864" marT="27432" marB="27432">
                    <a:solidFill>
                      <a:srgbClr val="FFFFFF"/>
                    </a:solidFill>
                  </a:tcPr>
                </a:tc>
                <a:tc>
                  <a:txBody>
                    <a:bodyPr/>
                    <a:lstStyle/>
                    <a:p>
                      <a:r>
                        <a:rPr sz="850" b="0">
                          <a:solidFill>
                            <a:srgbClr val="4B4B4B"/>
                          </a:solidFill>
                          <a:latin typeface="Arial"/>
                        </a:rPr>
                        <a:t>Enter the account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From /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The end date is before the start date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Opening balance / Total debits / Total credits / Closing balance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Date / Batch / Type / Narration / Reference / Debit / Credit / Balance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posted line, oldest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posting in the range</a:t>
                      </a:r>
                    </a:p>
                  </a:txBody>
                  <a:tcPr marL="54864" marR="54864" marT="27432" marB="27432">
                    <a:solidFill>
                      <a:srgbClr val="E5F5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Every user who reads journals</a:t>
                      </a:r>
                    </a:p>
                  </a:txBody>
                  <a:tcPr marL="54864" marR="54864" marT="27432" marB="27432">
                    <a:solidFill>
                      <a:srgbClr val="FFFFFF"/>
                    </a:solidFill>
                  </a:tcPr>
                </a:tc>
                <a:tc>
                  <a:txBody>
                    <a:bodyPr/>
                    <a:lstStyle/>
                    <a:p>
                      <a:r>
                        <a:rPr sz="850" b="0">
                          <a:solidFill>
                            <a:srgbClr val="4B4B4B"/>
                          </a:solidFill>
                          <a:latin typeface="Arial"/>
                        </a:rPr>
                        <a:t>An account entered</a:t>
                      </a:r>
                    </a:p>
                  </a:txBody>
                  <a:tcPr marL="54864" marR="54864" marT="27432" marB="27432">
                    <a:solidFill>
                      <a:srgbClr val="FFFFFF"/>
                    </a:solidFill>
                  </a:tcPr>
                </a:tc>
                <a:tc>
                  <a:txBody>
                    <a:bodyPr/>
                    <a:lstStyle/>
                    <a:p>
                      <a:r>
                        <a:rPr sz="850" b="0">
                          <a:solidFill>
                            <a:srgbClr val="4B4B4B"/>
                          </a:solidFill>
                          <a:latin typeface="Arial"/>
                        </a:rPr>
                        <a:t>Shows the statement of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posted lines are shown; the running balance starts from the opening balance of the range (FR-AC-030).</a:t>
                      </a:r>
                    </a:p>
                  </a:txBody>
                  <a:tcPr marL="54864" marR="54864" marT="27432" marB="27432">
                    <a:solidFill>
                      <a:srgbClr val="FFFF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Opens Account Inquiry for the expense account of the month</a:t>
                      </a:r>
                    </a:p>
                  </a:txBody>
                  <a:tcPr marL="54864" marR="54864" marT="27432" marB="27432">
                    <a:solidFill>
                      <a:srgbClr val="FFFFFF"/>
                    </a:solidFill>
                  </a:tcPr>
                </a:tc>
                <a:tc>
                  <a:txBody>
                    <a:bodyPr/>
                    <a:lstStyle/>
                    <a:p>
                      <a:r>
                        <a:rPr sz="900" b="0">
                          <a:solidFill>
                            <a:srgbClr val="4B4B4B"/>
                          </a:solidFill>
                          <a:latin typeface="Arial"/>
                        </a:rPr>
                        <a:t>SCR-AC-04_wt-a-step-05.png</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SCR-AC-04 Account Inquiry: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2.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Inquiry: the statement of a bank account with the balances and the posted lines (part 1 of 2)</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SCR-AC-04 Account Inquiry: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3.png"/>
          <p:cNvPicPr>
            <a:picLocks noChangeAspect="1"/>
          </p:cNvPicPr>
          <p:nvPr/>
        </p:nvPicPr>
        <p:blipFill>
          <a:blip r:embed="rId3"/>
          <a:stretch>
            <a:fillRect/>
          </a:stretch>
        </p:blipFill>
        <p:spPr>
          <a:xfrm>
            <a:off x="548640" y="1261872"/>
            <a:ext cx="11094415" cy="25631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Inquiry: the statement of a bank account with the balances and the posted lines (part 2 of 2)</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Party Statement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open items of a sub-ledger party (insurer, client, supplier, employee) with the receivable, payable and net balance, the overdue amount and the ageing by due date as of a date.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Party Statement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what a party owes or is owed and how old it is.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Find party (code or name)</a:t>
                      </a:r>
                    </a:p>
                  </a:txBody>
                  <a:tcPr marL="54864" marR="54864" marT="27432" marB="27432">
                    <a:solidFill>
                      <a:srgbClr val="FFFFFF"/>
                    </a:solidFill>
                  </a:tcPr>
                </a:tc>
                <a:tc>
                  <a:txBody>
                    <a:bodyPr/>
                    <a:lstStyle/>
                    <a:p>
                      <a:r>
                        <a:rPr sz="850" b="0">
                          <a:solidFill>
                            <a:srgbClr val="4B4B4B"/>
                          </a:solidFill>
                          <a:latin typeface="Arial"/>
                        </a:rPr>
                        <a:t>Text with list</a:t>
                      </a:r>
                    </a:p>
                  </a:txBody>
                  <a:tcPr marL="54864" marR="54864" marT="27432" marB="27432">
                    <a:solidFill>
                      <a:srgbClr val="FFFFFF"/>
                    </a:solidFill>
                  </a:tcPr>
                </a:tc>
                <a:tc>
                  <a:txBody>
                    <a:bodyPr/>
                    <a:lstStyle/>
                    <a:p>
                      <a:r>
                        <a:rPr sz="850" b="0">
                          <a:solidFill>
                            <a:srgbClr val="4B4B4B"/>
                          </a:solidFill>
                          <a:latin typeface="Arial"/>
                        </a:rPr>
                        <a:t>Two letters or more; the parties found by 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Party code / As of</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Party code; dd-MMM-yyyy</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Receivable / Payable / unallocated / Net balance / Overdue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 in the base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Ageing</a:t>
                      </a:r>
                    </a:p>
                  </a:txBody>
                  <a:tcPr marL="54864" marR="54864" marT="27432" marB="27432">
                    <a:solidFill>
                      <a:srgbClr val="E5F5FF"/>
                    </a:solidFill>
                  </a:tcPr>
                </a:tc>
                <a:tc>
                  <a:txBody>
                    <a:bodyPr/>
                    <a:lstStyle/>
                    <a:p>
                      <a:r>
                        <a:rPr sz="850" b="0">
                          <a:solidFill>
                            <a:srgbClr val="4B4B4B"/>
                          </a:solidFill>
                          <a:latin typeface="Arial"/>
                        </a:rPr>
                        <a:t>Ageing buckets</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Ageing by due date as of the date, in the base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Open items</a:t>
                      </a:r>
                    </a:p>
                  </a:txBody>
                  <a:tcPr marL="54864" marR="54864" marT="27432" marB="27432">
                    <a:solidFill>
                      <a:srgbClr val="FFFFFF"/>
                    </a:solidFill>
                  </a:tcPr>
                </a:tc>
                <a:tc>
                  <a:txBody>
                    <a:bodyPr/>
                    <a:lstStyle/>
                    <a:p>
                      <a:r>
                        <a:rPr sz="850" b="0">
                          <a:solidFill>
                            <a:srgbClr val="4B4B4B"/>
                          </a:solidFill>
                          <a:latin typeface="Arial"/>
                        </a:rPr>
                        <a:t>Doc Date / Type / Document / Due Date / Dr/Cr / Currency / Amount / Settled / Outstanding / Days Overdue / GL Batch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sub-ledger item of the party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open items</a:t>
                      </a:r>
                    </a:p>
                  </a:txBody>
                  <a:tcPr marL="54864" marR="54864" marT="27432" marB="27432">
                    <a:solidFill>
                      <a:srgbClr val="FFFF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Every user who reads journals</a:t>
                      </a:r>
                    </a:p>
                  </a:txBody>
                  <a:tcPr marL="54864" marR="54864" marT="27432" marB="27432">
                    <a:solidFill>
                      <a:srgbClr val="FFFFFF"/>
                    </a:solidFill>
                  </a:tcPr>
                </a:tc>
                <a:tc>
                  <a:txBody>
                    <a:bodyPr/>
                    <a:lstStyle/>
                    <a:p>
                      <a:r>
                        <a:rPr sz="850" b="0">
                          <a:solidFill>
                            <a:srgbClr val="4B4B4B"/>
                          </a:solidFill>
                          <a:latin typeface="Arial"/>
                        </a:rPr>
                        <a:t>A party chosen</a:t>
                      </a:r>
                    </a:p>
                  </a:txBody>
                  <a:tcPr marL="54864" marR="54864" marT="27432" marB="27432">
                    <a:solidFill>
                      <a:srgbClr val="FFFFFF"/>
                    </a:solidFill>
                  </a:tcPr>
                </a:tc>
                <a:tc>
                  <a:txBody>
                    <a:bodyPr/>
                    <a:lstStyle/>
                    <a:p>
                      <a:r>
                        <a:rPr sz="850" b="0">
                          <a:solidFill>
                            <a:srgbClr val="4B4B4B"/>
                          </a:solidFill>
                          <a:latin typeface="Arial"/>
                        </a:rPr>
                        <a:t>Shows the statement of the party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posting to a control account records its sub-ledger item for the party, so the party statement agrees with the GL (FR-AC-030).</a:t>
                      </a:r>
                    </a:p>
                  </a:txBody>
                  <a:tcPr marL="54864" marR="54864" marT="27432" marB="27432">
                    <a:solidFill>
                      <a:srgbClr val="FFFF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4.png"/>
          <p:cNvPicPr>
            <a:picLocks noChangeAspect="1"/>
          </p:cNvPicPr>
          <p:nvPr/>
        </p:nvPicPr>
        <p:blipFill>
          <a:blip r:embed="rId3"/>
          <a:stretch>
            <a:fillRect/>
          </a:stretch>
        </p:blipFill>
        <p:spPr>
          <a:xfrm>
            <a:off x="548640" y="1261872"/>
            <a:ext cx="11094415" cy="473503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1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5.png"/>
          <p:cNvPicPr>
            <a:picLocks noChangeAspect="1"/>
          </p:cNvPicPr>
          <p:nvPr/>
        </p:nvPicPr>
        <p:blipFill>
          <a:blip r:embed="rId3"/>
          <a:stretch>
            <a:fillRect/>
          </a:stretch>
        </p:blipFill>
        <p:spPr>
          <a:xfrm>
            <a:off x="548640" y="1261872"/>
            <a:ext cx="11094415" cy="47271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2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6.png"/>
          <p:cNvPicPr>
            <a:picLocks noChangeAspect="1"/>
          </p:cNvPicPr>
          <p:nvPr/>
        </p:nvPicPr>
        <p:blipFill>
          <a:blip r:embed="rId3"/>
          <a:stretch>
            <a:fillRect/>
          </a:stretch>
        </p:blipFill>
        <p:spPr>
          <a:xfrm>
            <a:off x="548640" y="1261872"/>
            <a:ext cx="11094415" cy="16953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3 of 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chart of accounts of the company as a tree of main, sub and micro accounts: code and name, class, tier, postable or heading, sub-ledger, statement line and status. The GL Team Lead adds and changes accounts, which the Section Head authorises; frozen accounts refuse postings.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Chart of Accounts</a:t>
                      </a:r>
                    </a:p>
                    <a:p>
                      <a:r>
                        <a:rPr sz="950" b="0">
                          <a:solidFill>
                            <a:srgbClr val="4B4B4B"/>
                          </a:solidFill>
                          <a:latin typeface="Arial"/>
                        </a:rPr>
                        <a:t>Chart Upload › the accounts created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FR-AC-011, FR-AC-013, FR-AC-014, FR-AC-055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chart is kept by the GL team with four eyes on every change.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code, name or short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code, name or short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Code and name, indented by tier; headings in bold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Class / Tier / Postable / Sub-ledger / Statement 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Asset, Liability, Equity, Income or Expense; Main, Sub or Micro; Yes or Heading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Frozen,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Account code / Account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 proposed from the numbering scheme of the parent when left blank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Short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Unique; typed instead of the code on journal lines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Class / Tier / Parent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Class; Main, Sub or Micro; the parent of a sub or micro account</a:t>
                      </a:r>
                    </a:p>
                  </a:txBody>
                  <a:tcPr marL="54864" marR="54864" marT="27432" marB="27432">
                    <a:solidFill>
                      <a:srgbClr val="FFFFFF"/>
                    </a:solidFill>
                  </a:tcPr>
                </a:tc>
                <a:tc>
                  <a:txBody>
                    <a:bodyPr/>
                    <a:lstStyle/>
                    <a:p>
                      <a:r>
                        <a:rPr sz="850" b="0">
                          <a:solidFill>
                            <a:srgbClr val="4B4B4B"/>
                          </a:solidFill>
                          <a:latin typeface="Arial"/>
                        </a:rPr>
                        <a:t>Y / Y / Cond.: not main</a:t>
                      </a:r>
                    </a:p>
                  </a:txBody>
                  <a:tcPr marL="54864" marR="54864" marT="27432" marB="27432">
                    <a:solidFill>
                      <a:srgbClr val="FFFFFF"/>
                    </a:solidFill>
                  </a:tcPr>
                </a:tc>
                <a:tc>
                  <a:txBody>
                    <a:bodyPr/>
                    <a:lstStyle/>
                    <a:p>
                      <a:r>
                        <a:rPr sz="850" b="0">
                          <a:solidFill>
                            <a:srgbClr val="4B4B4B"/>
                          </a:solidFill>
                          <a:latin typeface="Arial"/>
                        </a:rPr>
                        <a:t>Parent of the same class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Sub-ledger / Statement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Sub-ledger of a control account; line of the financial statements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Negative balance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Allow, Warn the maker and checker, or Block the posting</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Opened on / Allowed currencies</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dd-MMM-yyyy; comma separated, blank for all</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Posting controls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Manual posting allowed, Control account (sub-ledger), Cost centre mandatory, Line of business mandatory, FX revaluation, Reconcilable (nominal), Inter-branch account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Account</a:t>
                      </a:r>
                    </a:p>
                  </a:txBody>
                  <a:tcPr marL="54864" marR="54864" marT="27432" marB="27432">
                    <a:solidFill>
                      <a:srgbClr val="FFFFFF"/>
                    </a:solidFill>
                  </a:tcPr>
                </a:tc>
                <a:tc>
                  <a:txBody>
                    <a:bodyPr/>
                    <a:lstStyle/>
                    <a:p>
                      <a:r>
                        <a:rPr sz="850" b="0">
                          <a:solidFill>
                            <a:srgbClr val="4B4B4B"/>
                          </a:solidFill>
                          <a:latin typeface="Arial"/>
                        </a:rPr>
                        <a:t>GL Team Lead (master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form; saving sends the account for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GL Team Lead (master 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to change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GL Section Head (master authorize)</a:t>
                      </a:r>
                    </a:p>
                  </a:txBody>
                  <a:tcPr marL="54864" marR="54864" marT="27432" marB="27432">
                    <a:solidFill>
                      <a:srgbClr val="FFFFFF"/>
                    </a:solidFill>
                  </a:tcPr>
                </a:tc>
                <a:tc>
                  <a:txBody>
                    <a:bodyPr/>
                    <a:lstStyle/>
                    <a:p>
                      <a:r>
                        <a:rPr sz="850" b="0">
                          <a:solidFill>
                            <a:srgbClr val="4B4B4B"/>
                          </a:solidFill>
                          <a:latin typeface="Arial"/>
                        </a:rPr>
                        <a:t>Pending authorization and another user than the maker</a:t>
                      </a:r>
                    </a:p>
                  </a:txBody>
                  <a:tcPr marL="54864" marR="54864" marT="27432" marB="27432">
                    <a:solidFill>
                      <a:srgbClr val="FFFFFF"/>
                    </a:solidFill>
                  </a:tcPr>
                </a:tc>
                <a:tc>
                  <a:txBody>
                    <a:bodyPr/>
                    <a:lstStyle/>
                    <a:p>
                      <a:r>
                        <a:rPr sz="850" b="0">
                          <a:solidFill>
                            <a:srgbClr val="4B4B4B"/>
                          </a:solidFill>
                          <a:latin typeface="Arial"/>
                        </a:rPr>
                        <a:t>Activates the account</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Freeze / Unfreeze</a:t>
                      </a:r>
                    </a:p>
                  </a:txBody>
                  <a:tcPr marL="54864" marR="54864" marT="27432" marB="27432">
                    <a:solidFill>
                      <a:srgbClr val="E5F5FF"/>
                    </a:solidFill>
                  </a:tcPr>
                </a:tc>
                <a:tc>
                  <a:txBody>
                    <a:bodyPr/>
                    <a:lstStyle/>
                    <a:p>
                      <a:r>
                        <a:rPr sz="850" b="0">
                          <a:solidFill>
                            <a:srgbClr val="4B4B4B"/>
                          </a:solidFill>
                          <a:latin typeface="Arial"/>
                        </a:rPr>
                        <a:t>GL Section Head (master authorize)</a:t>
                      </a:r>
                    </a:p>
                  </a:txBody>
                  <a:tcPr marL="54864" marR="54864" marT="27432" marB="27432">
                    <a:solidFill>
                      <a:srgbClr val="E5F5FF"/>
                    </a:solidFill>
                  </a:tcPr>
                </a:tc>
                <a:tc>
                  <a:txBody>
                    <a:bodyPr/>
                    <a:lstStyle/>
                    <a:p>
                      <a:r>
                        <a:rPr sz="850" b="0">
                          <a:solidFill>
                            <a:srgbClr val="4B4B4B"/>
                          </a:solidFill>
                          <a:latin typeface="Arial"/>
                        </a:rPr>
                        <a:t>Active account</a:t>
                      </a:r>
                    </a:p>
                  </a:txBody>
                  <a:tcPr marL="54864" marR="54864" marT="27432" marB="27432">
                    <a:solidFill>
                      <a:srgbClr val="E5F5FF"/>
                    </a:solidFill>
                  </a:tcPr>
                </a:tc>
                <a:tc>
                  <a:txBody>
                    <a:bodyPr/>
                    <a:lstStyle/>
                    <a:p>
                      <a:r>
                        <a:rPr sz="850" b="0">
                          <a:solidFill>
                            <a:srgbClr val="4B4B4B"/>
                          </a:solidFill>
                          <a:latin typeface="Arial"/>
                        </a:rPr>
                        <a:t>Refuses or allows postings again; a freeze needs a reason</a:t>
                      </a:r>
                    </a:p>
                  </a:txBody>
                  <a:tcPr marL="54864" marR="54864" marT="27432" marB="27432">
                    <a:solidFill>
                      <a:srgbClr val="E5F5FF"/>
                    </a:solidFill>
                  </a:tcPr>
                </a:tc>
                <a:tc>
                  <a:txBody>
                    <a:bodyPr/>
                    <a:lstStyle/>
                    <a:p>
                      <a:r>
                        <a:rPr sz="850" b="0">
                          <a:solidFill>
                            <a:srgbClr val="4B4B4B"/>
                          </a:solidFill>
                          <a:latin typeface="Arial"/>
                        </a:rPr>
                        <a:t>Frozen or 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account becomes active only when another user than its maker authorises it (FR-AC-011).</a:t>
                      </a:r>
                    </a:p>
                  </a:txBody>
                  <a:tcPr marL="54864" marR="54864" marT="27432" marB="27432">
                    <a:solidFill>
                      <a:srgbClr val="FFFFFF"/>
                    </a:solidFill>
                  </a:tcPr>
                </a:tc>
              </a:tr>
              <a:tr h="243840">
                <a:tc>
                  <a:txBody>
                    <a:bodyPr/>
                    <a:lstStyle/>
                    <a:p>
                      <a:r>
                        <a:rPr sz="1000" b="0">
                          <a:solidFill>
                            <a:srgbClr val="4B4B4B"/>
                          </a:solidFill>
                          <a:latin typeface="Arial"/>
                        </a:rPr>
                        <a:t>A child account rolls up to its parent; a heading takes no posting (FR-AC-011, FR-AC-013).</a:t>
                      </a:r>
                    </a:p>
                  </a:txBody>
                  <a:tcPr marL="54864" marR="54864" marT="27432" marB="27432">
                    <a:solidFill>
                      <a:srgbClr val="E5F5FF"/>
                    </a:solidFill>
                  </a:tcPr>
                </a:tc>
              </a:tr>
              <a:tr h="243840">
                <a:tc>
                  <a:txBody>
                    <a:bodyPr/>
                    <a:lstStyle/>
                    <a:p>
                      <a:r>
                        <a:rPr sz="1000" b="0">
                          <a:solidFill>
                            <a:srgbClr val="4B4B4B"/>
                          </a:solidFill>
                          <a:latin typeface="Arial"/>
                        </a:rPr>
                        <a:t>Each account has its negative-balance policy: allow, warn or block (FR-AC-034).</a:t>
                      </a:r>
                    </a:p>
                  </a:txBody>
                  <a:tcPr marL="54864" marR="54864" marT="27432" marB="27432">
                    <a:solidFill>
                      <a:srgbClr val="FFFF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1 of 5)</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63383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2 of 5)</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6433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3 of 5)</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4 of 5)</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286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5 of 5)</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2.png"/>
          <p:cNvPicPr>
            <a:picLocks noChangeAspect="1"/>
          </p:cNvPicPr>
          <p:nvPr/>
        </p:nvPicPr>
        <p:blipFill>
          <a:blip r:embed="rId3"/>
          <a:stretch>
            <a:fillRect/>
          </a:stretch>
        </p:blipFill>
        <p:spPr>
          <a:xfrm>
            <a:off x="548640" y="1261872"/>
            <a:ext cx="11094415" cy="45768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GL account: code, name, short code, class, tier, parent, sub-ledger, negative balance and the posting controls (part 1 of 2)</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3.png"/>
          <p:cNvPicPr>
            <a:picLocks noChangeAspect="1"/>
          </p:cNvPicPr>
          <p:nvPr/>
        </p:nvPicPr>
        <p:blipFill>
          <a:blip r:embed="rId3"/>
          <a:stretch>
            <a:fillRect/>
          </a:stretch>
        </p:blipFill>
        <p:spPr>
          <a:xfrm>
            <a:off x="548640" y="1261872"/>
            <a:ext cx="11094415" cy="269469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GL account: code, name, short code, class, tier, parent, sub-ledger, negative balance and the posting controls (part 2 of 2)</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Loads parent and child accounts of the chart from the template in three steps (template, upload, review of every row), keeps the history of the uploads, and sets the numbering scheme that proposes the codes of the child accounts of a parent.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Chart Upload</a:t>
                      </a:r>
                    </a:p>
                    <a:p>
                      <a:r>
                        <a:rPr sz="950" b="0">
                          <a:solidFill>
                            <a:srgbClr val="4B4B4B"/>
                          </a:solidFill>
                          <a:latin typeface="Arial"/>
                        </a:rPr>
                        <a:t>Chart of Accounts › Chart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FR-AC-012, FR-AC-013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chart is loaded from the file and waits for authorisation.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1" cy="302512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Upload Chart / Numbering Schemes / Upload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Template</a:t>
                      </a:r>
                    </a:p>
                  </a:txBody>
                  <a:tcPr marL="54864" marR="54864" marT="27432" marB="27432">
                    <a:solidFill>
                      <a:srgbClr val="E5F5FF"/>
                    </a:solidFill>
                  </a:tcPr>
                </a:tc>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chart template (Excel)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Chart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Excel or CSV of the template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checked before anything is saved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3. Review</a:t>
                      </a:r>
                    </a:p>
                  </a:txBody>
                  <a:tcPr marL="54864" marR="54864" marT="27432" marB="27432">
                    <a:solidFill>
                      <a:srgbClr val="E5F5FF"/>
                    </a:solidFill>
                  </a:tcPr>
                </a:tc>
                <a:tc>
                  <a:txBody>
                    <a:bodyPr/>
                    <a:lstStyle/>
                    <a:p>
                      <a:r>
                        <a:rPr sz="850" b="0">
                          <a:solidFill>
                            <a:srgbClr val="4B4B4B"/>
                          </a:solidFill>
                          <a:latin typeface="Arial"/>
                        </a:rPr>
                        <a:t>Accounts / Valid / Invalid / Created / failed</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Counts of the rows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 / Status / Account Code / Account Name / Parent / Class / Level / Messages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account of the file, with its messages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Numbering schemes</a:t>
                      </a:r>
                    </a:p>
                  </a:txBody>
                  <a:tcPr marL="54864" marR="54864" marT="27432" marB="27432">
                    <a:solidFill>
                      <a:srgbClr val="E5F5FF"/>
                    </a:solidFill>
                  </a:tcPr>
                </a:tc>
                <a:tc>
                  <a:txBody>
                    <a:bodyPr/>
                    <a:lstStyle/>
                    <a:p>
                      <a:r>
                        <a:rPr sz="850" b="0">
                          <a:solidFill>
                            <a:srgbClr val="4B4B4B"/>
                          </a:solidFill>
                          <a:latin typeface="Arial"/>
                        </a:rPr>
                        <a:t>Parent Account / Separator / Digits / First Child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rule that proposes the codes under a parent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Numbering scheme form</a:t>
                      </a:r>
                    </a:p>
                  </a:txBody>
                  <a:tcPr marL="54864" marR="54864" marT="27432" marB="27432">
                    <a:solidFill>
                      <a:srgbClr val="FFFFFF"/>
                    </a:solidFill>
                  </a:tcPr>
                </a:tc>
                <a:tc>
                  <a:txBody>
                    <a:bodyPr/>
                    <a:lstStyle/>
                    <a:p>
                      <a:r>
                        <a:rPr sz="850" b="0">
                          <a:solidFill>
                            <a:srgbClr val="4B4B4B"/>
                          </a:solidFill>
                          <a:latin typeface="Arial"/>
                        </a:rPr>
                        <a:t>Parent account / Separator / Digits / Proposes codes</a:t>
                      </a:r>
                    </a:p>
                  </a:txBody>
                  <a:tcPr marL="54864" marR="54864" marT="27432" marB="27432">
                    <a:solidFill>
                      <a:srgbClr val="FFFFFF"/>
                    </a:solidFill>
                  </a:tcPr>
                </a:tc>
                <a:tc>
                  <a:txBody>
                    <a:bodyPr/>
                    <a:lstStyle/>
                    <a:p>
                      <a:r>
                        <a:rPr sz="850" b="0">
                          <a:solidFill>
                            <a:srgbClr val="4B4B4B"/>
                          </a:solidFill>
                          <a:latin typeface="Arial"/>
                        </a:rPr>
                        <a:t>Text, number, check box</a:t>
                      </a:r>
                    </a:p>
                  </a:txBody>
                  <a:tcPr marL="54864" marR="54864" marT="27432" marB="27432">
                    <a:solidFill>
                      <a:srgbClr val="FFFFFF"/>
                    </a:solidFill>
                  </a:tcPr>
                </a:tc>
                <a:tc>
                  <a:txBody>
                    <a:bodyPr/>
                    <a:lstStyle/>
                    <a:p>
                      <a:r>
                        <a:rPr sz="850" b="0">
                          <a:solidFill>
                            <a:srgbClr val="4B4B4B"/>
                          </a:solidFill>
                          <a:latin typeface="Arial"/>
                        </a:rPr>
                        <a:t>Parent code; separator or none; number of digits of the child part</a:t>
                      </a:r>
                    </a:p>
                  </a:txBody>
                  <a:tcPr marL="54864" marR="54864" marT="27432" marB="27432">
                    <a:solidFill>
                      <a:srgbClr val="FFFFFF"/>
                    </a:solidFill>
                  </a:tcPr>
                </a:tc>
                <a:tc>
                  <a:txBody>
                    <a:bodyPr/>
                    <a:lstStyle/>
                    <a:p>
                      <a:r>
                        <a:rPr sz="850" b="0">
                          <a:solidFill>
                            <a:srgbClr val="4B4B4B"/>
                          </a:solidFill>
                          <a:latin typeface="Arial"/>
                        </a:rPr>
                        <a:t>Y / N / Y / N</a:t>
                      </a:r>
                    </a:p>
                  </a:txBody>
                  <a:tcPr marL="54864" marR="54864" marT="27432" marB="27432">
                    <a:solidFill>
                      <a:srgbClr val="FFFFFF"/>
                    </a:solidFill>
                  </a:tcPr>
                </a:tc>
                <a:tc>
                  <a:txBody>
                    <a:bodyPr/>
                    <a:lstStyle/>
                    <a:p>
                      <a:r>
                        <a:rPr sz="850" b="0">
                          <a:solidFill>
                            <a:srgbClr val="4B4B4B"/>
                          </a:solidFill>
                          <a:latin typeface="Arial"/>
                        </a:rPr>
                        <a:t>Digits 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History</a:t>
                      </a:r>
                    </a:p>
                  </a:txBody>
                  <a:tcPr marL="54864" marR="54864" marT="27432" marB="27432">
                    <a:solidFill>
                      <a:srgbClr val="E5F5FF"/>
                    </a:solidFill>
                  </a:tcPr>
                </a:tc>
                <a:tc>
                  <a:txBody>
                    <a:bodyPr/>
                    <a:lstStyle/>
                    <a:p>
                      <a:r>
                        <a:rPr sz="850" b="0">
                          <a:solidFill>
                            <a:srgbClr val="4B4B4B"/>
                          </a:solidFill>
                          <a:latin typeface="Arial"/>
                        </a:rPr>
                        <a:t>Upload No. / File / Uploaded / By / Created / Rows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GL Team Lead (chart upload)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template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GL Team Lead (chart upload)</a:t>
                      </a:r>
                    </a:p>
                  </a:txBody>
                  <a:tcPr marL="54864" marR="54864" marT="27432" marB="27432">
                    <a:solidFill>
                      <a:srgbClr val="E5F5FF"/>
                    </a:solidFill>
                  </a:tcPr>
                </a:tc>
                <a:tc>
                  <a:txBody>
                    <a:bodyPr/>
                    <a:lstStyle/>
                    <a:p>
                      <a:r>
                        <a:rPr sz="850" b="0">
                          <a:solidFill>
                            <a:srgbClr val="4B4B4B"/>
                          </a:solidFill>
                          <a:latin typeface="Arial"/>
                        </a:rPr>
                        <a:t>A file chosen</a:t>
                      </a:r>
                    </a:p>
                  </a:txBody>
                  <a:tcPr marL="54864" marR="54864" marT="27432" marB="27432">
                    <a:solidFill>
                      <a:srgbClr val="E5F5FF"/>
                    </a:solidFill>
                  </a:tcPr>
                </a:tc>
                <a:tc>
                  <a:txBody>
                    <a:bodyPr/>
                    <a:lstStyle/>
                    <a:p>
                      <a:r>
                        <a:rPr sz="850" b="0">
                          <a:solidFill>
                            <a:srgbClr val="4B4B4B"/>
                          </a:solidFill>
                          <a:latin typeface="Arial"/>
                        </a:rPr>
                        <a:t>Reads and checks every row</a:t>
                      </a:r>
                    </a:p>
                  </a:txBody>
                  <a:tcPr marL="54864" marR="54864" marT="27432" marB="27432">
                    <a:solidFill>
                      <a:srgbClr val="E5F5FF"/>
                    </a:solidFill>
                  </a:tcPr>
                </a:tc>
                <a:tc>
                  <a:txBody>
                    <a:bodyPr/>
                    <a:lstStyle/>
                    <a:p>
                      <a:r>
                        <a:rPr sz="850" b="0">
                          <a:solidFill>
                            <a:srgbClr val="4B4B4B"/>
                          </a:solidFill>
                          <a:latin typeface="Arial"/>
                        </a:rPr>
                        <a:t>Validated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Create n Account(s)</a:t>
                      </a:r>
                    </a:p>
                  </a:txBody>
                  <a:tcPr marL="54864" marR="54864" marT="27432" marB="27432">
                    <a:solidFill>
                      <a:srgbClr val="FFFFFF"/>
                    </a:solidFill>
                  </a:tcPr>
                </a:tc>
                <a:tc>
                  <a:txBody>
                    <a:bodyPr/>
                    <a:lstStyle/>
                    <a:p>
                      <a:r>
                        <a:rPr sz="850" b="0">
                          <a:solidFill>
                            <a:srgbClr val="4B4B4B"/>
                          </a:solidFill>
                          <a:latin typeface="Arial"/>
                        </a:rPr>
                        <a:t>GL Team Lead (chart upload)</a:t>
                      </a:r>
                    </a:p>
                  </a:txBody>
                  <a:tcPr marL="54864" marR="54864" marT="27432" marB="27432">
                    <a:solidFill>
                      <a:srgbClr val="FFFFFF"/>
                    </a:solidFill>
                  </a:tcPr>
                </a:tc>
                <a:tc>
                  <a:txBody>
                    <a:bodyPr/>
                    <a:lstStyle/>
                    <a:p>
                      <a:r>
                        <a:rPr sz="850" b="0">
                          <a:solidFill>
                            <a:srgbClr val="4B4B4B"/>
                          </a:solidFill>
                          <a:latin typeface="Arial"/>
                        </a:rPr>
                        <a:t>Valid rows</a:t>
                      </a:r>
                    </a:p>
                  </a:txBody>
                  <a:tcPr marL="54864" marR="54864" marT="27432" marB="27432">
                    <a:solidFill>
                      <a:srgbClr val="FFFFFF"/>
                    </a:solidFill>
                  </a:tcPr>
                </a:tc>
                <a:tc>
                  <a:txBody>
                    <a:bodyPr/>
                    <a:lstStyle/>
                    <a:p>
                      <a:r>
                        <a:rPr sz="850" b="0">
                          <a:solidFill>
                            <a:srgbClr val="4B4B4B"/>
                          </a:solidFill>
                          <a:latin typeface="Arial"/>
                        </a:rPr>
                        <a:t>Creates the valid accounts,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Discard Upload</a:t>
                      </a:r>
                    </a:p>
                  </a:txBody>
                  <a:tcPr marL="54864" marR="54864" marT="27432" marB="27432">
                    <a:solidFill>
                      <a:srgbClr val="E5F5FF"/>
                    </a:solidFill>
                  </a:tcPr>
                </a:tc>
                <a:tc>
                  <a:txBody>
                    <a:bodyPr/>
                    <a:lstStyle/>
                    <a:p>
                      <a:r>
                        <a:rPr sz="850" b="0">
                          <a:solidFill>
                            <a:srgbClr val="4B4B4B"/>
                          </a:solidFill>
                          <a:latin typeface="Arial"/>
                        </a:rPr>
                        <a:t>GL Team Lead (chart upload)</a:t>
                      </a:r>
                    </a:p>
                  </a:txBody>
                  <a:tcPr marL="54864" marR="54864" marT="27432" marB="27432">
                    <a:solidFill>
                      <a:srgbClr val="E5F5FF"/>
                    </a:solidFill>
                  </a:tcPr>
                </a:tc>
                <a:tc>
                  <a:txBody>
                    <a:bodyPr/>
                    <a:lstStyle/>
                    <a:p>
                      <a:r>
                        <a:rPr sz="850" b="0">
                          <a:solidFill>
                            <a:srgbClr val="4B4B4B"/>
                          </a:solidFill>
                          <a:latin typeface="Arial"/>
                        </a:rPr>
                        <a:t>Before the accounts are created</a:t>
                      </a:r>
                    </a:p>
                  </a:txBody>
                  <a:tcPr marL="54864" marR="54864" marT="27432" marB="27432">
                    <a:solidFill>
                      <a:srgbClr val="E5F5FF"/>
                    </a:solidFill>
                  </a:tcPr>
                </a:tc>
                <a:tc>
                  <a:txBody>
                    <a:bodyPr/>
                    <a:lstStyle/>
                    <a:p>
                      <a:r>
                        <a:rPr sz="850" b="0">
                          <a:solidFill>
                            <a:srgbClr val="4B4B4B"/>
                          </a:solidFill>
                          <a:latin typeface="Arial"/>
                        </a:rPr>
                        <a:t>Discards the upload</a:t>
                      </a:r>
                    </a:p>
                  </a:txBody>
                  <a:tcPr marL="54864" marR="54864" marT="27432" marB="27432">
                    <a:solidFill>
                      <a:srgbClr val="E5F5FF"/>
                    </a:solidFill>
                  </a:tcPr>
                </a:tc>
                <a:tc>
                  <a:txBody>
                    <a:bodyPr/>
                    <a:lstStyle/>
                    <a:p>
                      <a:r>
                        <a:rPr sz="850" b="0">
                          <a:solidFill>
                            <a:srgbClr val="4B4B4B"/>
                          </a:solidFill>
                          <a:latin typeface="Arial"/>
                        </a:rPr>
                        <a:t>Discarded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row is checked before anything is saved; only the valid rows are created, each pending authorisation (FR-AC-012).</a:t>
                      </a:r>
                    </a:p>
                  </a:txBody>
                  <a:tcPr marL="54864" marR="54864" marT="27432" marB="27432">
                    <a:solidFill>
                      <a:srgbClr val="FFFFFF"/>
                    </a:solidFill>
                  </a:tcPr>
                </a:tc>
              </a:tr>
              <a:tr h="243840">
                <a:tc>
                  <a:txBody>
                    <a:bodyPr/>
                    <a:lstStyle/>
                    <a:p>
                      <a:r>
                        <a:rPr sz="1000" b="0">
                          <a:solidFill>
                            <a:srgbClr val="4B4B4B"/>
                          </a:solidFill>
                          <a:latin typeface="Arial"/>
                        </a:rPr>
                        <a:t>A parent must exist in the chart or earlier in the file; a child's code follows the numbering scheme of its parent when left blank (FR-AC-012, FR-AC-013).</a:t>
                      </a:r>
                    </a:p>
                  </a:txBody>
                  <a:tcPr marL="54864" marR="54864" marT="27432" marB="27432">
                    <a:solidFill>
                      <a:srgbClr val="E5F5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Upload &amp; Numbering: the template, the upload and the uploads before (part 1 of 2)</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18841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Upload &amp; Numbering: the template, the upload and the uploads before (part 2 of 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07-02-numbering.png"/>
          <p:cNvPicPr>
            <a:picLocks noChangeAspect="1"/>
          </p:cNvPicPr>
          <p:nvPr/>
        </p:nvPicPr>
        <p:blipFill>
          <a:blip r:embed="rId3"/>
          <a:stretch>
            <a:fillRect/>
          </a:stretch>
        </p:blipFill>
        <p:spPr>
          <a:xfrm>
            <a:off x="1293009" y="1261872"/>
            <a:ext cx="960567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Numbering Schemes: the separator and the digits of the child accounts of each parent</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currencies of the company and their exchange rates; the card Monthly revaluation rates where the GL Section Head enters the month-end rate of each foreign currency, used by the FX revaluation of the month and as the book rate of the next month.</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Currencies &amp; Rates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month-end rates are in place for the revaluation.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Monthly revaluation rates</a:t>
                      </a:r>
                    </a:p>
                  </a:txBody>
                  <a:tcPr marL="54864" marR="54864" marT="27432" marB="27432">
                    <a:solidFill>
                      <a:srgbClr val="FFFFFF"/>
                    </a:solidFill>
                  </a:tcPr>
                </a:tc>
                <a:tc>
                  <a:txBody>
                    <a:bodyPr/>
                    <a:lstStyle/>
                    <a:p>
                      <a:r>
                        <a:rPr sz="850" b="0">
                          <a:solidFill>
                            <a:srgbClr val="4B4B4B"/>
                          </a:solidFill>
                          <a:latin typeface="Arial"/>
                        </a:rPr>
                        <a:t>Month / Currency / Month-end rate</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Month; foreign currency; rate with up to six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Enter a rate above zero</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Monthly revaluation rates</a:t>
                      </a:r>
                    </a:p>
                  </a:txBody>
                  <a:tcPr marL="54864" marR="54864" marT="27432" marB="27432">
                    <a:solidFill>
                      <a:srgbClr val="E5F5FF"/>
                    </a:solidFill>
                  </a:tcPr>
                </a:tc>
                <a:tc>
                  <a:txBody>
                    <a:bodyPr/>
                    <a:lstStyle/>
                    <a:p>
                      <a:r>
                        <a:rPr sz="850" b="0">
                          <a:solidFill>
                            <a:srgbClr val="4B4B4B"/>
                          </a:solidFill>
                          <a:latin typeface="Arial"/>
                        </a:rPr>
                        <a:t>Month End / Currency / Rate / Entered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rates entered, newest first; the rate with six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Maintain rate</a:t>
                      </a:r>
                    </a:p>
                  </a:txBody>
                  <a:tcPr marL="54864" marR="54864" marT="27432" marB="27432">
                    <a:solidFill>
                      <a:srgbClr val="FFFFFF"/>
                    </a:solidFill>
                  </a:tcPr>
                </a:tc>
                <a:tc>
                  <a:txBody>
                    <a:bodyPr/>
                    <a:lstStyle/>
                    <a:p>
                      <a:r>
                        <a:rPr sz="850" b="0">
                          <a:solidFill>
                            <a:srgbClr val="4B4B4B"/>
                          </a:solidFill>
                          <a:latin typeface="Arial"/>
                        </a:rPr>
                        <a:t>Currency / Rate type / Effective date / Rate</a:t>
                      </a:r>
                    </a:p>
                  </a:txBody>
                  <a:tcPr marL="54864" marR="54864" marT="27432" marB="27432">
                    <a:solidFill>
                      <a:srgbClr val="FFFFFF"/>
                    </a:solidFill>
                  </a:tcPr>
                </a:tc>
                <a:tc>
                  <a:txBody>
                    <a:bodyPr/>
                    <a:lstStyle/>
                    <a:p>
                      <a:r>
                        <a:rPr sz="850" b="0">
                          <a:solidFill>
                            <a:srgbClr val="4B4B4B"/>
                          </a:solidFill>
                          <a:latin typeface="Arial"/>
                        </a:rPr>
                        <a:t>Drop-down, date, number</a:t>
                      </a:r>
                    </a:p>
                  </a:txBody>
                  <a:tcPr marL="54864" marR="54864" marT="27432" marB="27432">
                    <a:solidFill>
                      <a:srgbClr val="FFFFFF"/>
                    </a:solidFill>
                  </a:tcPr>
                </a:tc>
                <a:tc>
                  <a:txBody>
                    <a:bodyPr/>
                    <a:lstStyle/>
                    <a:p>
                      <a:r>
                        <a:rPr sz="850" b="0">
                          <a:solidFill>
                            <a:srgbClr val="4B4B4B"/>
                          </a:solidFill>
                          <a:latin typeface="Arial"/>
                        </a:rPr>
                        <a:t>Rate types Spot, Closing, Average, Budget, Book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Rates in force</a:t>
                      </a:r>
                    </a:p>
                  </a:txBody>
                  <a:tcPr marL="54864" marR="54864" marT="27432" marB="27432">
                    <a:solidFill>
                      <a:srgbClr val="E5F5FF"/>
                    </a:solidFill>
                  </a:tcPr>
                </a:tc>
                <a:tc>
                  <a:txBody>
                    <a:bodyPr/>
                    <a:lstStyle/>
                    <a:p>
                      <a:r>
                        <a:rPr sz="850" b="0">
                          <a:solidFill>
                            <a:srgbClr val="4B4B4B"/>
                          </a:solidFill>
                          <a:latin typeface="Arial"/>
                        </a:rPr>
                        <a:t>Currency / Type / Effective / Rate / Maintained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rates in force at the rate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Rate</a:t>
                      </a:r>
                    </a:p>
                  </a:txBody>
                  <a:tcPr marL="54864" marR="54864" marT="27432" marB="27432">
                    <a:solidFill>
                      <a:srgbClr val="FFFFFF"/>
                    </a:solidFill>
                  </a:tcPr>
                </a:tc>
                <a:tc>
                  <a:txBody>
                    <a:bodyPr/>
                    <a:lstStyle/>
                    <a:p>
                      <a:r>
                        <a:rPr sz="850" b="0">
                          <a:solidFill>
                            <a:srgbClr val="4B4B4B"/>
                          </a:solidFill>
                          <a:latin typeface="Arial"/>
                        </a:rPr>
                        <a:t>GL Section Head (revaluation rate maintain)</a:t>
                      </a:r>
                    </a:p>
                  </a:txBody>
                  <a:tcPr marL="54864" marR="54864" marT="27432" marB="27432">
                    <a:solidFill>
                      <a:srgbClr val="FFFFFF"/>
                    </a:solidFill>
                  </a:tcPr>
                </a:tc>
                <a:tc>
                  <a:txBody>
                    <a:bodyPr/>
                    <a:lstStyle/>
                    <a:p>
                      <a:r>
                        <a:rPr sz="850" b="0">
                          <a:solidFill>
                            <a:srgbClr val="4B4B4B"/>
                          </a:solidFill>
                          <a:latin typeface="Arial"/>
                        </a:rPr>
                        <a:t>Month, currency and rate entered</a:t>
                      </a:r>
                    </a:p>
                  </a:txBody>
                  <a:tcPr marL="54864" marR="54864" marT="27432" marB="27432">
                    <a:solidFill>
                      <a:srgbClr val="FFFFFF"/>
                    </a:solidFill>
                  </a:tcPr>
                </a:tc>
                <a:tc>
                  <a:txBody>
                    <a:bodyPr/>
                    <a:lstStyle/>
                    <a:p>
                      <a:r>
                        <a:rPr sz="850" b="0">
                          <a:solidFill>
                            <a:srgbClr val="4B4B4B"/>
                          </a:solidFill>
                          <a:latin typeface="Arial"/>
                        </a:rPr>
                        <a:t>Saves the month-end rate of the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Master maintain</a:t>
                      </a:r>
                    </a:p>
                  </a:txBody>
                  <a:tcPr marL="54864" marR="54864" marT="27432" marB="27432">
                    <a:solidFill>
                      <a:srgbClr val="E5F5FF"/>
                    </a:solidFill>
                  </a:tcPr>
                </a:tc>
                <a:tc>
                  <a:txBody>
                    <a:bodyPr/>
                    <a:lstStyle/>
                    <a:p>
                      <a:r>
                        <a:rPr sz="850" b="0">
                          <a:solidFill>
                            <a:srgbClr val="4B4B4B"/>
                          </a:solidFill>
                          <a:latin typeface="Arial"/>
                        </a:rPr>
                        <a:t>Rate entered</a:t>
                      </a:r>
                    </a:p>
                  </a:txBody>
                  <a:tcPr marL="54864" marR="54864" marT="27432" marB="27432">
                    <a:solidFill>
                      <a:srgbClr val="E5F5FF"/>
                    </a:solidFill>
                  </a:tcPr>
                </a:tc>
                <a:tc>
                  <a:txBody>
                    <a:bodyPr/>
                    <a:lstStyle/>
                    <a:p>
                      <a:r>
                        <a:rPr sz="850" b="0">
                          <a:solidFill>
                            <a:srgbClr val="4B4B4B"/>
                          </a:solidFill>
                          <a:latin typeface="Arial"/>
                        </a:rPr>
                        <a:t>Saves an exchange 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Only the GL Section Head enters the monthly revaluation rate; the rate of the month end is the closing rate of the FX revaluation and the book rate of the next month (FR-AC-010, FR-AC-043).</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Enters the month-end rate of USD for the previous month on Monthly revaluation rates and clicks Save Rate</a:t>
                      </a:r>
                    </a:p>
                  </a:txBody>
                  <a:tcPr marL="54864" marR="54864" marT="27432" marB="27432">
                    <a:solidFill>
                      <a:srgbClr val="FFFFFF"/>
                    </a:solidFill>
                  </a:tcPr>
                </a:tc>
                <a:tc>
                  <a:txBody>
                    <a:bodyPr/>
                    <a:lstStyle/>
                    <a:p>
                      <a:r>
                        <a:rPr sz="900" b="0">
                          <a:solidFill>
                            <a:srgbClr val="4B4B4B"/>
                          </a:solidFill>
                          <a:latin typeface="Arial"/>
                        </a:rPr>
                        <a:t>SCR-AC-08_wt-d-step-01.png</a:t>
                      </a:r>
                    </a:p>
                  </a:txBody>
                  <a:tcPr marL="54864" marR="54864" marT="27432" marB="27432">
                    <a:solidFill>
                      <a:srgbClr val="FFFF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1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2 of 4)</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3 of 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4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standard rules that give the journal lines of the business events their cost centre: by source module, event type, GL account and party, in the order of their priority. A line of an account that requires a cost centre and that no rule covers raises the alert Cost centre missing.</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Cost-Centre Rules</a:t>
                      </a:r>
                    </a:p>
                    <a:p>
                      <a:r>
                        <a:rPr sz="950" b="0">
                          <a:solidFill>
                            <a:srgbClr val="4B4B4B"/>
                          </a:solidFill>
                          <a:latin typeface="Arial"/>
                        </a:rPr>
                        <a:t>Journal › cost centre of a line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journal line that needs a cost centre gets one.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Priority / Applies To / Cost Centre / Description / Status / Maintained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priority first; the criteria in words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rule yet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Priority</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Unique; lower number wins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Source module / Event type / GL account / Party code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Each optional; blank matches any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Cost centre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cost centres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Description / Status</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Add Rule</a:t>
                      </a:r>
                    </a:p>
                  </a:txBody>
                  <a:tcPr marL="54864" marR="54864" marT="27432" marB="27432">
                    <a:solidFill>
                      <a:srgbClr val="FFFFFF"/>
                    </a:solidFill>
                  </a:tcPr>
                </a:tc>
                <a:tc>
                  <a:txBody>
                    <a:bodyPr/>
                    <a:lstStyle/>
                    <a:p>
                      <a:r>
                        <a:rPr sz="850" b="0">
                          <a:solidFill>
                            <a:srgbClr val="4B4B4B"/>
                          </a:solidFill>
                          <a:latin typeface="Arial"/>
                        </a:rPr>
                        <a:t>GL Team Lead (master maintain), Comptrollership administrator (accounting rule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rule to change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first active rule whose criteria match the line, by priority, gives the cost centre; a cost centre keyed on the line is kept (FR-AC-054).</a:t>
                      </a:r>
                    </a:p>
                  </a:txBody>
                  <a:tcPr marL="54864" marR="54864" marT="27432" marB="27432">
                    <a:solidFill>
                      <a:srgbClr val="FFFFFF"/>
                    </a:solidFill>
                  </a:tcPr>
                </a:tc>
              </a:tr>
              <a:tr h="243840">
                <a:tc>
                  <a:txBody>
                    <a:bodyPr/>
                    <a:lstStyle/>
                    <a:p>
                      <a:r>
                        <a:rPr sz="1000" b="0">
                          <a:solidFill>
                            <a:srgbClr val="4B4B4B"/>
                          </a:solidFill>
                          <a:latin typeface="Arial"/>
                        </a:rPr>
                        <a:t>A line of an account that requires a cost centre without one is refused and raises the alert Cost centre missing (FR-AC-054).</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09-01-list.png"/>
          <p:cNvPicPr>
            <a:picLocks noChangeAspect="1"/>
          </p:cNvPicPr>
          <p:nvPr/>
        </p:nvPicPr>
        <p:blipFill>
          <a:blip r:embed="rId3"/>
          <a:stretch>
            <a:fillRect/>
          </a:stretch>
        </p:blipFill>
        <p:spPr>
          <a:xfrm>
            <a:off x="548640" y="1261872"/>
            <a:ext cx="11094415" cy="2630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Cost-Centre Rules: priority, the criteria, the cost centre and the status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9-02-form.png"/>
          <p:cNvPicPr>
            <a:picLocks noChangeAspect="1"/>
          </p:cNvPicPr>
          <p:nvPr/>
        </p:nvPicPr>
        <p:blipFill>
          <a:blip r:embed="rId3"/>
          <a:stretch>
            <a:fillRect/>
          </a:stretch>
        </p:blipFill>
        <p:spPr>
          <a:xfrm>
            <a:off x="1723254" y="1261872"/>
            <a:ext cx="874518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cost-centre rule: priority, criteria and the cost centre</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fiscal years and their monthly periods with the status of each period (Future, Open, Closing, Closed, Reopened), the last change and its reason; only open periods accept normal postings. The GL Team Lead opens, closes and reopens a period with a reason and creates the next fiscal year.</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Financial Periods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controls which months accept postings.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Fiscal year</a:t>
                      </a:r>
                    </a:p>
                  </a:txBody>
                  <a:tcPr marL="54864" marR="54864" marT="27432" marB="27432">
                    <a:solidFill>
                      <a:srgbClr val="FFFFFF"/>
                    </a:solidFill>
                  </a:tcPr>
                </a:tc>
                <a:tc>
                  <a:txBody>
                    <a:bodyPr/>
                    <a:lstStyle/>
                    <a:p>
                      <a:r>
                        <a:rPr sz="850" b="0">
                          <a:solidFill>
                            <a:srgbClr val="4B4B4B"/>
                          </a:solidFill>
                          <a:latin typeface="Arial"/>
                        </a:rPr>
                        <a:t>Fiscal year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fiscal years of the company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Periods</a:t>
                      </a:r>
                    </a:p>
                  </a:txBody>
                  <a:tcPr marL="54864" marR="54864" marT="27432" marB="27432">
                    <a:solidFill>
                      <a:srgbClr val="E5F5FF"/>
                    </a:solidFill>
                  </a:tcPr>
                </a:tc>
                <a:tc>
                  <a:txBody>
                    <a:bodyPr/>
                    <a:lstStyle/>
                    <a:p>
                      <a:r>
                        <a:rPr sz="850" b="0">
                          <a:solidFill>
                            <a:srgbClr val="4B4B4B"/>
                          </a:solidFill>
                          <a:latin typeface="Arial"/>
                        </a:rPr>
                        <a:t>Period / From / To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name and its dates,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Periods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Future, Open, Closing, Closed, Reopened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Periods</a:t>
                      </a:r>
                    </a:p>
                  </a:txBody>
                  <a:tcPr marL="54864" marR="54864" marT="27432" marB="27432">
                    <a:solidFill>
                      <a:srgbClr val="E5F5FF"/>
                    </a:solidFill>
                  </a:tcPr>
                </a:tc>
                <a:tc>
                  <a:txBody>
                    <a:bodyPr/>
                    <a:lstStyle/>
                    <a:p>
                      <a:r>
                        <a:rPr sz="850" b="0">
                          <a:solidFill>
                            <a:srgbClr val="4B4B4B"/>
                          </a:solidFill>
                          <a:latin typeface="Arial"/>
                        </a:rPr>
                        <a:t>Last Change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user's name and the time of the last change; the reason given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Period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reason of the change; mandatory to reopen a period</a:t>
                      </a:r>
                    </a:p>
                  </a:txBody>
                  <a:tcPr marL="54864" marR="54864" marT="27432" marB="27432">
                    <a:solidFill>
                      <a:srgbClr val="FFFFFF"/>
                    </a:solidFill>
                  </a:tcPr>
                </a:tc>
                <a:tc>
                  <a:txBody>
                    <a:bodyPr/>
                    <a:lstStyle/>
                    <a:p>
                      <a:r>
                        <a:rPr sz="850" b="0">
                          <a:solidFill>
                            <a:srgbClr val="4B4B4B"/>
                          </a:solidFill>
                          <a:latin typeface="Arial"/>
                        </a:rPr>
                        <a:t>Cond.: reopen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Create Next Fiscal Year</a:t>
                      </a:r>
                    </a:p>
                  </a:txBody>
                  <a:tcPr marL="54864" marR="54864" marT="27432" marB="27432">
                    <a:solidFill>
                      <a:srgbClr val="FFFFFF"/>
                    </a:solidFill>
                  </a:tcPr>
                </a:tc>
                <a:tc>
                  <a:txBody>
                    <a:bodyPr/>
                    <a:lstStyle/>
                    <a:p>
                      <a:r>
                        <a:rPr sz="850" b="0">
                          <a:solidFill>
                            <a:srgbClr val="4B4B4B"/>
                          </a:solidFill>
                          <a:latin typeface="Arial"/>
                        </a:rPr>
                        <a:t>GL Team Lead (period manage)</a:t>
                      </a:r>
                    </a:p>
                  </a:txBody>
                  <a:tcPr marL="54864" marR="54864" marT="27432" marB="27432">
                    <a:solidFill>
                      <a:srgbClr val="FFFFFF"/>
                    </a:solidFill>
                  </a:tcPr>
                </a:tc>
                <a:tc>
                  <a:txBody>
                    <a:bodyPr/>
                    <a:lstStyle/>
                    <a:p>
                      <a:r>
                        <a:rPr sz="850" b="0">
                          <a:solidFill>
                            <a:srgbClr val="4B4B4B"/>
                          </a:solidFill>
                          <a:latin typeface="Arial"/>
                        </a:rPr>
                        <a:t>The last year exists</a:t>
                      </a:r>
                    </a:p>
                  </a:txBody>
                  <a:tcPr marL="54864" marR="54864" marT="27432" marB="27432">
                    <a:solidFill>
                      <a:srgbClr val="FFFFFF"/>
                    </a:solidFill>
                  </a:tcPr>
                </a:tc>
                <a:tc>
                  <a:txBody>
                    <a:bodyPr/>
                    <a:lstStyle/>
                    <a:p>
                      <a:r>
                        <a:rPr sz="850" b="0">
                          <a:solidFill>
                            <a:srgbClr val="4B4B4B"/>
                          </a:solidFill>
                          <a:latin typeface="Arial"/>
                        </a:rPr>
                        <a:t>Creates the next fiscal year with its periods in Future</a:t>
                      </a:r>
                    </a:p>
                  </a:txBody>
                  <a:tcPr marL="54864" marR="54864" marT="27432" marB="27432">
                    <a:solidFill>
                      <a:srgbClr val="FFFFFF"/>
                    </a:solidFill>
                  </a:tcPr>
                </a:tc>
                <a:tc>
                  <a:txBody>
                    <a:bodyPr/>
                    <a:lstStyle/>
                    <a:p>
                      <a:r>
                        <a:rPr sz="850" b="0">
                          <a:solidFill>
                            <a:srgbClr val="4B4B4B"/>
                          </a:solidFill>
                          <a:latin typeface="Arial"/>
                        </a:rPr>
                        <a:t>Future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Open / Start closing / Close / Back to open / Reopen / Close again</a:t>
                      </a:r>
                    </a:p>
                  </a:txBody>
                  <a:tcPr marL="54864" marR="54864" marT="27432" marB="27432">
                    <a:solidFill>
                      <a:srgbClr val="E5F5FF"/>
                    </a:solidFill>
                  </a:tcPr>
                </a:tc>
                <a:tc>
                  <a:txBody>
                    <a:bodyPr/>
                    <a:lstStyle/>
                    <a:p>
                      <a:r>
                        <a:rPr sz="850" b="0">
                          <a:solidFill>
                            <a:srgbClr val="4B4B4B"/>
                          </a:solidFill>
                          <a:latin typeface="Arial"/>
                        </a:rPr>
                        <a:t>GL Team Lead, GL Section Head (period manage)</a:t>
                      </a:r>
                    </a:p>
                  </a:txBody>
                  <a:tcPr marL="54864" marR="54864" marT="27432" marB="27432">
                    <a:solidFill>
                      <a:srgbClr val="E5F5FF"/>
                    </a:solidFill>
                  </a:tcPr>
                </a:tc>
                <a:tc>
                  <a:txBody>
                    <a:bodyPr/>
                    <a:lstStyle/>
                    <a:p>
                      <a:r>
                        <a:rPr sz="850" b="0">
                          <a:solidFill>
                            <a:srgbClr val="4B4B4B"/>
                          </a:solidFill>
                          <a:latin typeface="Arial"/>
                        </a:rPr>
                        <a:t>As the period's status allows</a:t>
                      </a:r>
                    </a:p>
                  </a:txBody>
                  <a:tcPr marL="54864" marR="54864" marT="27432" marB="27432">
                    <a:solidFill>
                      <a:srgbClr val="E5F5FF"/>
                    </a:solidFill>
                  </a:tcPr>
                </a:tc>
                <a:tc>
                  <a:txBody>
                    <a:bodyPr/>
                    <a:lstStyle/>
                    <a:p>
                      <a:r>
                        <a:rPr sz="850" b="0">
                          <a:solidFill>
                            <a:srgbClr val="4B4B4B"/>
                          </a:solidFill>
                          <a:latin typeface="Arial"/>
                        </a:rPr>
                        <a:t>Changes the status of the period after the confirmation</a:t>
                      </a:r>
                    </a:p>
                  </a:txBody>
                  <a:tcPr marL="54864" marR="54864" marT="27432" marB="27432">
                    <a:solidFill>
                      <a:srgbClr val="E5F5FF"/>
                    </a:solidFill>
                  </a:tcPr>
                </a:tc>
                <a:tc>
                  <a:txBody>
                    <a:bodyPr/>
                    <a:lstStyle/>
                    <a:p>
                      <a:r>
                        <a:rPr sz="850" b="0">
                          <a:solidFill>
                            <a:srgbClr val="4B4B4B"/>
                          </a:solidFill>
                          <a:latin typeface="Arial"/>
                        </a:rPr>
                        <a:t>Open, Closing, Closed or Reopened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open periods accept normal postings; a closed period of a closed fiscal year cannot be reopened (FR-AC-040, FR-AC-041).</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0.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Financial Periods: the periods of the fiscal year with their status, last change and reason (part 1 of 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1.png"/>
          <p:cNvPicPr>
            <a:picLocks noChangeAspect="1"/>
          </p:cNvPicPr>
          <p:nvPr/>
        </p:nvPicPr>
        <p:blipFill>
          <a:blip r:embed="rId3"/>
          <a:stretch>
            <a:fillRect/>
          </a:stretch>
        </p:blipFill>
        <p:spPr>
          <a:xfrm>
            <a:off x="548640" y="1261872"/>
            <a:ext cx="11094415" cy="40456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Financial Periods: the periods of the fiscal year with their status, last change and reason (part 2 of 2)</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month-end close of the GL books and the cut-off of the broking books. The GL Team Lead schedules the close of the previous month on a preferred date and time; the checklist runs at that time and closes the month or records why it failed. The broking books close by themselves on the last day of the month; the tab Broking Books Cut-Off shows each period's books with who closed or reopened them.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GL Close &amp; Cut-Off</a:t>
                      </a:r>
                    </a:p>
                    <a:p>
                      <a:r>
                        <a:rPr sz="950" b="0">
                          <a:solidFill>
                            <a:srgbClr val="4B4B4B"/>
                          </a:solidFill>
                          <a:latin typeface="Arial"/>
                        </a:rPr>
                        <a:t>Financial Periods › the period to close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previous month closes on the chosen date and the broking books are cut off on time.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Settings</a:t>
                      </a:r>
                    </a:p>
                  </a:txBody>
                  <a:tcPr marL="54864" marR="54864" marT="27432" marB="27432">
                    <a:solidFill>
                      <a:srgbClr val="FFFFFF"/>
                    </a:solidFill>
                  </a:tcPr>
                </a:tc>
                <a:tc>
                  <a:txBody>
                    <a:bodyPr/>
                    <a:lstStyle/>
                    <a:p>
                      <a:r>
                        <a:rPr sz="850" b="0">
                          <a:solidFill>
                            <a:srgbClr val="4B4B4B"/>
                          </a:solidFill>
                          <a:latin typeface="Arial"/>
                        </a:rPr>
                        <a:t>Close only the previous month / Broking books close (Manila) / Year-end close deadline / Scheduled closes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close parameters and the number of closes waiting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Month-End Close / Broking Books Cut-Off</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Scheduled and past closes</a:t>
                      </a:r>
                    </a:p>
                  </a:txBody>
                  <a:tcPr marL="54864" marR="54864" marT="27432" marB="27432">
                    <a:solidFill>
                      <a:srgbClr val="FFFFFF"/>
                    </a:solidFill>
                  </a:tcPr>
                </a:tc>
                <a:tc>
                  <a:txBody>
                    <a:bodyPr/>
                    <a:lstStyle/>
                    <a:p>
                      <a:r>
                        <a:rPr sz="850" b="0">
                          <a:solidFill>
                            <a:srgbClr val="4B4B4B"/>
                          </a:solidFill>
                          <a:latin typeface="Arial"/>
                        </a:rPr>
                        <a:t>Period / Scheduled For / Status / Run At / Outcome / Scheduled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Scheduled, Completed, Failed or Cancelled; dates and times dd-MMM-yyyy HH:mm; the name of the scheduler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Broking books by period</a:t>
                      </a:r>
                    </a:p>
                  </a:txBody>
                  <a:tcPr marL="54864" marR="54864" marT="27432" marB="27432">
                    <a:solidFill>
                      <a:srgbClr val="E5F5FF"/>
                    </a:solidFill>
                  </a:tcPr>
                </a:tc>
                <a:tc>
                  <a:txBody>
                    <a:bodyPr/>
                    <a:lstStyle/>
                    <a:p>
                      <a:r>
                        <a:rPr sz="850" b="0">
                          <a:solidFill>
                            <a:srgbClr val="4B4B4B"/>
                          </a:solidFill>
                          <a:latin typeface="Arial"/>
                        </a:rPr>
                        <a:t>Period / Books / Closed / Reopened / Note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Open or Closed; who closed or reopened them and when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Schedule month-end close dialog</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previous month by default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Previous month only, unless the parameter allows another</a:t>
                      </a:r>
                    </a:p>
                  </a:txBody>
                  <a:tcPr marL="54864" marR="54864" marT="27432" marB="27432">
                    <a:solidFill>
                      <a:srgbClr val="FFFFFF"/>
                    </a:solidFill>
                  </a:tcPr>
                </a:tc>
                <a:tc>
                  <a:txBody>
                    <a:bodyPr/>
                    <a:lstStyle/>
                    <a:p>
                      <a:r>
                        <a:rPr sz="850" b="0">
                          <a:solidFill>
                            <a:srgbClr val="4B4B4B"/>
                          </a:solidFill>
                          <a:latin typeface="Arial"/>
                        </a:rPr>
                        <a:t>Only the previous month can be closed</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Schedule month-end close dialog</a:t>
                      </a:r>
                    </a:p>
                  </a:txBody>
                  <a:tcPr marL="54864" marR="54864" marT="27432" marB="27432">
                    <a:solidFill>
                      <a:srgbClr val="E5F5FF"/>
                    </a:solidFill>
                  </a:tcPr>
                </a:tc>
                <a:tc>
                  <a:txBody>
                    <a:bodyPr/>
                    <a:lstStyle/>
                    <a:p>
                      <a:r>
                        <a:rPr sz="850" b="0">
                          <a:solidFill>
                            <a:srgbClr val="4B4B4B"/>
                          </a:solidFill>
                          <a:latin typeface="Arial"/>
                        </a:rPr>
                        <a:t>Close on</a:t>
                      </a:r>
                    </a:p>
                  </a:txBody>
                  <a:tcPr marL="54864" marR="54864" marT="27432" marB="27432">
                    <a:solidFill>
                      <a:srgbClr val="E5F5FF"/>
                    </a:solidFill>
                  </a:tcPr>
                </a:tc>
                <a:tc>
                  <a:txBody>
                    <a:bodyPr/>
                    <a:lstStyle/>
                    <a:p>
                      <a:r>
                        <a:rPr sz="850" b="0">
                          <a:solidFill>
                            <a:srgbClr val="4B4B4B"/>
                          </a:solidFill>
                          <a:latin typeface="Arial"/>
                        </a:rPr>
                        <a:t>Date and time</a:t>
                      </a:r>
                    </a:p>
                  </a:txBody>
                  <a:tcPr marL="54864" marR="54864" marT="27432" marB="27432">
                    <a:solidFill>
                      <a:srgbClr val="E5F5FF"/>
                    </a:solidFill>
                  </a:tcPr>
                </a:tc>
                <a:tc>
                  <a:txBody>
                    <a:bodyPr/>
                    <a:lstStyle/>
                    <a:p>
                      <a:r>
                        <a:rPr sz="850" b="0">
                          <a:solidFill>
                            <a:srgbClr val="4B4B4B"/>
                          </a:solidFill>
                          <a:latin typeface="Arial"/>
                        </a:rPr>
                        <a:t>dd-MMM-yyyy date and HH:mm time,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In the future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Close or reopen the broking books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Mandatory to reopen the books</a:t>
                      </a:r>
                    </a:p>
                  </a:txBody>
                  <a:tcPr marL="54864" marR="54864" marT="27432" marB="27432">
                    <a:solidFill>
                      <a:srgbClr val="FFFFFF"/>
                    </a:solidFill>
                  </a:tcPr>
                </a:tc>
                <a:tc>
                  <a:txBody>
                    <a:bodyPr/>
                    <a:lstStyle/>
                    <a:p>
                      <a:r>
                        <a:rPr sz="850" b="0">
                          <a:solidFill>
                            <a:srgbClr val="4B4B4B"/>
                          </a:solidFill>
                          <a:latin typeface="Arial"/>
                        </a:rPr>
                        <a:t>Cond.: reopen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Schedule Close</a:t>
                      </a:r>
                    </a:p>
                  </a:txBody>
                  <a:tcPr marL="54864" marR="54864" marT="27432" marB="27432">
                    <a:solidFill>
                      <a:srgbClr val="FFFFFF"/>
                    </a:solidFill>
                  </a:tcPr>
                </a:tc>
                <a:tc>
                  <a:txBody>
                    <a:bodyPr/>
                    <a:lstStyle/>
                    <a:p>
                      <a:r>
                        <a:rPr sz="850" b="0">
                          <a:solidFill>
                            <a:srgbClr val="4B4B4B"/>
                          </a:solidFill>
                          <a:latin typeface="Arial"/>
                        </a:rPr>
                        <a:t>GL Team Lead, GL Section Head (GL close schedule)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Schedules the close of the period; the job runs the checklist at that time</a:t>
                      </a:r>
                    </a:p>
                  </a:txBody>
                  <a:tcPr marL="54864" marR="54864" marT="27432" marB="27432">
                    <a:solidFill>
                      <a:srgbClr val="FFFFFF"/>
                    </a:solidFill>
                  </a:tcPr>
                </a:tc>
                <a:tc>
                  <a:txBody>
                    <a:bodyPr/>
                    <a:lstStyle/>
                    <a:p>
                      <a:r>
                        <a:rPr sz="850" b="0">
                          <a:solidFill>
                            <a:srgbClr val="4B4B4B"/>
                          </a:solidFill>
                          <a:latin typeface="Arial"/>
                        </a:rPr>
                        <a:t>Scheduled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Withdraw</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A scheduled close</a:t>
                      </a:r>
                    </a:p>
                  </a:txBody>
                  <a:tcPr marL="54864" marR="54864" marT="27432" marB="27432">
                    <a:solidFill>
                      <a:srgbClr val="E5F5FF"/>
                    </a:solidFill>
                  </a:tcPr>
                </a:tc>
                <a:tc>
                  <a:txBody>
                    <a:bodyPr/>
                    <a:lstStyle/>
                    <a:p>
                      <a:r>
                        <a:rPr sz="850" b="0">
                          <a:solidFill>
                            <a:srgbClr val="4B4B4B"/>
                          </a:solidFill>
                          <a:latin typeface="Arial"/>
                        </a:rPr>
                        <a:t>Withdraws the close before its time</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Close Broking Books / Reopen Books</a:t>
                      </a:r>
                    </a:p>
                  </a:txBody>
                  <a:tcPr marL="54864" marR="54864" marT="27432" marB="27432">
                    <a:solidFill>
                      <a:srgbClr val="FFFFFF"/>
                    </a:solidFill>
                  </a:tcPr>
                </a:tc>
                <a:tc>
                  <a:txBody>
                    <a:bodyPr/>
                    <a:lstStyle/>
                    <a:p>
                      <a:r>
                        <a:rPr sz="850" b="0">
                          <a:solidFill>
                            <a:srgbClr val="4B4B4B"/>
                          </a:solidFill>
                          <a:latin typeface="Arial"/>
                        </a:rPr>
                        <a:t>GL Team Lead, GL Section Head</a:t>
                      </a:r>
                    </a:p>
                  </a:txBody>
                  <a:tcPr marL="54864" marR="54864" marT="27432" marB="27432">
                    <a:solidFill>
                      <a:srgbClr val="FFFFFF"/>
                    </a:solidFill>
                  </a:tcPr>
                </a:tc>
                <a:tc>
                  <a:txBody>
                    <a:bodyPr/>
                    <a:lstStyle/>
                    <a:p>
                      <a:r>
                        <a:rPr sz="850" b="0">
                          <a:solidFill>
                            <a:srgbClr val="4B4B4B"/>
                          </a:solidFill>
                          <a:latin typeface="Arial"/>
                        </a:rPr>
                        <a:t>Books open, or closed</a:t>
                      </a:r>
                    </a:p>
                  </a:txBody>
                  <a:tcPr marL="54864" marR="54864" marT="27432" marB="27432">
                    <a:solidFill>
                      <a:srgbClr val="FFFFFF"/>
                    </a:solidFill>
                  </a:tcPr>
                </a:tc>
                <a:tc>
                  <a:txBody>
                    <a:bodyPr/>
                    <a:lstStyle/>
                    <a:p>
                      <a:r>
                        <a:rPr sz="850" b="0">
                          <a:solidFill>
                            <a:srgbClr val="4B4B4B"/>
                          </a:solidFill>
                          <a:latin typeface="Arial"/>
                        </a:rPr>
                        <a:t>Closes the broking books of a period now, or reopens them with the reason</a:t>
                      </a:r>
                    </a:p>
                  </a:txBody>
                  <a:tcPr marL="54864" marR="54864" marT="27432" marB="27432">
                    <a:solidFill>
                      <a:srgbClr val="FFFFFF"/>
                    </a:solidFill>
                  </a:tcPr>
                </a:tc>
                <a:tc>
                  <a:txBody>
                    <a:bodyPr/>
                    <a:lstStyle/>
                    <a:p>
                      <a:r>
                        <a:rPr sz="850" b="0">
                          <a:solidFill>
                            <a:srgbClr val="4B4B4B"/>
                          </a:solidFill>
                          <a:latin typeface="Arial"/>
                        </a:rPr>
                        <a:t>Closed or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previous month is closed by default; a close fails and records its blocking items when the checklist does not pass (FR-AC-040).</a:t>
                      </a:r>
                    </a:p>
                  </a:txBody>
                  <a:tcPr marL="54864" marR="54864" marT="27432" marB="27432">
                    <a:solidFill>
                      <a:srgbClr val="FFFFFF"/>
                    </a:solidFill>
                  </a:tcPr>
                </a:tc>
              </a:tr>
              <a:tr h="243840">
                <a:tc>
                  <a:txBody>
                    <a:bodyPr/>
                    <a:lstStyle/>
                    <a:p>
                      <a:r>
                        <a:rPr sz="1000" b="0">
                          <a:solidFill>
                            <a:srgbClr val="4B4B4B"/>
                          </a:solidFill>
                          <a:latin typeface="Arial"/>
                        </a:rPr>
                        <a:t>The broking books close at 23:00 Manila on the last day of the month; after the cut-off the broking modules post into the next month (FR-AC-042).</a:t>
                      </a:r>
                    </a:p>
                  </a:txBody>
                  <a:tcPr marL="54864" marR="54864" marT="27432" marB="27432">
                    <a:solidFill>
                      <a:srgbClr val="E5F5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Clicks Schedule Close for the previous month at the proposed date and time</a:t>
                      </a:r>
                    </a:p>
                  </a:txBody>
                  <a:tcPr marL="54864" marR="54864" marT="27432" marB="27432">
                    <a:solidFill>
                      <a:srgbClr val="FFFFFF"/>
                    </a:solidFill>
                  </a:tcPr>
                </a:tc>
                <a:tc>
                  <a:txBody>
                    <a:bodyPr/>
                    <a:lstStyle/>
                    <a:p>
                      <a:r>
                        <a:rPr sz="900" b="0">
                          <a:solidFill>
                            <a:srgbClr val="4B4B4B"/>
                          </a:solidFill>
                          <a:latin typeface="Arial"/>
                        </a:rPr>
                        <a:t>SCR-AC-11_wt-d-step-03.png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Opens Broking Books Cut-Off</a:t>
                      </a:r>
                    </a:p>
                  </a:txBody>
                  <a:tcPr marL="54864" marR="54864" marT="27432" marB="27432">
                    <a:solidFill>
                      <a:srgbClr val="E5F5FF"/>
                    </a:solidFill>
                  </a:tcPr>
                </a:tc>
                <a:tc>
                  <a:txBody>
                    <a:bodyPr/>
                    <a:lstStyle/>
                    <a:p>
                      <a:r>
                        <a:rPr sz="900" b="0">
                          <a:solidFill>
                            <a:srgbClr val="4B4B4B"/>
                          </a:solidFill>
                          <a:latin typeface="Arial"/>
                        </a:rPr>
                        <a:t>SCR-AC-11_wt-d-step-04.png</a:t>
                      </a:r>
                    </a:p>
                  </a:txBody>
                  <a:tcPr marL="54864" marR="54864" marT="27432" marB="27432">
                    <a:solidFill>
                      <a:srgbClr val="E5F5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1-01-close.png"/>
          <p:cNvPicPr>
            <a:picLocks noChangeAspect="1"/>
          </p:cNvPicPr>
          <p:nvPr/>
        </p:nvPicPr>
        <p:blipFill>
          <a:blip r:embed="rId3"/>
          <a:stretch>
            <a:fillRect/>
          </a:stretch>
        </p:blipFill>
        <p:spPr>
          <a:xfrm>
            <a:off x="1334629" y="1261872"/>
            <a:ext cx="952243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 Close &amp; Cut-Off: the close settings and the scheduled and past closes</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11-02-schedule.png"/>
          <p:cNvPicPr>
            <a:picLocks noChangeAspect="1"/>
          </p:cNvPicPr>
          <p:nvPr/>
        </p:nvPicPr>
        <p:blipFill>
          <a:blip r:embed="rId3"/>
          <a:stretch>
            <a:fillRect/>
          </a:stretch>
        </p:blipFill>
        <p:spPr>
          <a:xfrm>
            <a:off x="1654122" y="1261872"/>
            <a:ext cx="88834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Schedule month-end close: the period and the date and time of the close</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SCR-AC-11 GL Close &amp; Cut-Off: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Broking Books Cut-Off: the books of each period, closed and reopened (part 1 of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SCR-AC-11 GL Close &amp; Cut-Off: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3.png"/>
          <p:cNvPicPr>
            <a:picLocks noChangeAspect="1"/>
          </p:cNvPicPr>
          <p:nvPr/>
        </p:nvPicPr>
        <p:blipFill>
          <a:blip r:embed="rId3"/>
          <a:stretch>
            <a:fillRect/>
          </a:stretch>
        </p:blipFill>
        <p:spPr>
          <a:xfrm>
            <a:off x="548640" y="1261872"/>
            <a:ext cx="11094415" cy="22762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Broking Books Cut-Off: the books of each period, closed and reopened (part 2 of 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Period-End &amp; Year-End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closing controls of a period and of the fiscal year with their pass or fail result. The period tab shows the closing checklist of a month with Start Soft Close and Close Period; the year tab shows the pre-close checklist, the preview of the closing entries, Close Fiscal Year and, once closed, the post-close verification that the nominal accounts are zero.</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Period-End &amp; Year-End</a:t>
                      </a:r>
                    </a:p>
                    <a:p>
                      <a:r>
                        <a:rPr sz="950" b="0">
                          <a:solidFill>
                            <a:srgbClr val="4B4B4B"/>
                          </a:solidFill>
                          <a:latin typeface="Arial"/>
                        </a:rPr>
                        <a:t>GL Close &amp; Cut-Off › the checklist of a close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month and the year close with their controls passed and verified.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Selectors</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fiscal year and the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Closing checklist</a:t>
                      </a:r>
                    </a:p>
                  </a:txBody>
                  <a:tcPr marL="54864" marR="54864" marT="27432" marB="27432">
                    <a:solidFill>
                      <a:srgbClr val="E5F5FF"/>
                    </a:solidFill>
                  </a:tcPr>
                </a:tc>
                <a:tc>
                  <a:txBody>
                    <a:bodyPr/>
                    <a:lstStyle/>
                    <a:p>
                      <a:r>
                        <a:rPr sz="850" b="0">
                          <a:solidFill>
                            <a:srgbClr val="4B4B4B"/>
                          </a:solidFill>
                          <a:latin typeface="Arial"/>
                        </a:rPr>
                        <a:t>Result / Control / Detail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Pass, Fail or Warning; the control; what it found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Closing entries preview</a:t>
                      </a:r>
                    </a:p>
                  </a:txBody>
                  <a:tcPr marL="54864" marR="54864" marT="27432" marB="27432">
                    <a:solidFill>
                      <a:srgbClr val="FFFFFF"/>
                    </a:solidFill>
                  </a:tcPr>
                </a:tc>
                <a:tc>
                  <a:txBody>
                    <a:bodyPr/>
                    <a:lstStyle/>
                    <a:p>
                      <a:r>
                        <a:rPr sz="850" b="0">
                          <a:solidFill>
                            <a:srgbClr val="4B4B4B"/>
                          </a:solidFill>
                          <a:latin typeface="Arial"/>
                        </a:rPr>
                        <a:t>Branch / Account / Cost Centre / Line of Business / Balance (Dr +)</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nominal balances to close, with the net result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FY close</a:t>
                      </a:r>
                    </a:p>
                  </a:txBody>
                  <a:tcPr marL="54864" marR="54864" marT="27432" marB="27432">
                    <a:solidFill>
                      <a:srgbClr val="E5F5FF"/>
                    </a:solidFill>
                  </a:tcPr>
                </a:tc>
                <a:tc>
                  <a:txBody>
                    <a:bodyPr/>
                    <a:lstStyle/>
                    <a:p>
                      <a:r>
                        <a:rPr sz="850" b="0">
                          <a:solidFill>
                            <a:srgbClr val="4B4B4B"/>
                          </a:solidFill>
                          <a:latin typeface="Arial"/>
                        </a:rPr>
                        <a:t>Closed by / Closed on / Net result / Transferred to / Closing journals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 date and time, amount, the retained earnings account and the journals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Post-close verification</a:t>
                      </a:r>
                    </a:p>
                  </a:txBody>
                  <a:tcPr marL="54864" marR="54864" marT="27432" marB="27432">
                    <a:solidFill>
                      <a:srgbClr val="FFFFFF"/>
                    </a:solidFill>
                  </a:tcPr>
                </a:tc>
                <a:tc>
                  <a:txBody>
                    <a:bodyPr/>
                    <a:lstStyle/>
                    <a:p>
                      <a:r>
                        <a:rPr sz="850" b="0">
                          <a:solidFill>
                            <a:srgbClr val="4B4B4B"/>
                          </a:solidFill>
                          <a:latin typeface="Arial"/>
                        </a:rPr>
                        <a:t>Result / Control / Detail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Nominal accounts at zero after the close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Start Soft Close / Close Period</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The checklist passes</a:t>
                      </a:r>
                    </a:p>
                  </a:txBody>
                  <a:tcPr marL="54864" marR="54864" marT="27432" marB="27432">
                    <a:solidFill>
                      <a:srgbClr val="FFFFFF"/>
                    </a:solidFill>
                  </a:tcPr>
                </a:tc>
                <a:tc>
                  <a:txBody>
                    <a:bodyPr/>
                    <a:lstStyle/>
                    <a:p>
                      <a:r>
                        <a:rPr sz="850" b="0">
                          <a:solidFill>
                            <a:srgbClr val="4B4B4B"/>
                          </a:solidFill>
                          <a:latin typeface="Arial"/>
                        </a:rPr>
                        <a:t>Moves the period to Closing, then Closed</a:t>
                      </a:r>
                    </a:p>
                  </a:txBody>
                  <a:tcPr marL="54864" marR="54864" marT="27432" marB="27432">
                    <a:solidFill>
                      <a:srgbClr val="FFFFFF"/>
                    </a:solidFill>
                  </a:tcPr>
                </a:tc>
                <a:tc>
                  <a:txBody>
                    <a:bodyPr/>
                    <a:lstStyle/>
                    <a:p>
                      <a:r>
                        <a:rPr sz="850" b="0">
                          <a:solidFill>
                            <a:srgbClr val="4B4B4B"/>
                          </a:solidFill>
                          <a:latin typeface="Arial"/>
                        </a:rPr>
                        <a:t>Closing or 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FX Revaluation</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Revaluation pending</a:t>
                      </a:r>
                    </a:p>
                  </a:txBody>
                  <a:tcPr marL="54864" marR="54864" marT="27432" marB="27432">
                    <a:solidFill>
                      <a:srgbClr val="E5F5FF"/>
                    </a:solidFill>
                  </a:tcPr>
                </a:tc>
                <a:tc>
                  <a:txBody>
                    <a:bodyPr/>
                    <a:lstStyle/>
                    <a:p>
                      <a:r>
                        <a:rPr sz="850" b="0">
                          <a:solidFill>
                            <a:srgbClr val="4B4B4B"/>
                          </a:solidFill>
                          <a:latin typeface="Arial"/>
                        </a:rPr>
                        <a:t>Opens FX Revaluation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Close Fiscal Year</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Pre-close checklist passed</a:t>
                      </a:r>
                    </a:p>
                  </a:txBody>
                  <a:tcPr marL="54864" marR="54864" marT="27432" marB="27432">
                    <a:solidFill>
                      <a:srgbClr val="FFFFFF"/>
                    </a:solidFill>
                  </a:tcPr>
                </a:tc>
                <a:tc>
                  <a:txBody>
                    <a:bodyPr/>
                    <a:lstStyle/>
                    <a:p>
                      <a:r>
                        <a:rPr sz="850" b="0">
                          <a:solidFill>
                            <a:srgbClr val="4B4B4B"/>
                          </a:solidFill>
                          <a:latin typeface="Arial"/>
                        </a:rPr>
                        <a:t>Posts the closing entries to retained earnings after the confirmation</a:t>
                      </a:r>
                    </a:p>
                  </a:txBody>
                  <a:tcPr marL="54864" marR="54864" marT="27432" marB="27432">
                    <a:solidFill>
                      <a:srgbClr val="FFFFFF"/>
                    </a:solidFill>
                  </a:tcPr>
                </a:tc>
                <a:tc>
                  <a:txBody>
                    <a:bodyPr/>
                    <a:lstStyle/>
                    <a:p>
                      <a:r>
                        <a:rPr sz="850" b="0">
                          <a:solidFill>
                            <a:srgbClr val="4B4B4B"/>
                          </a:solidFill>
                          <a:latin typeface="Arial"/>
                        </a:rPr>
                        <a:t>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Verify Again</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Year closed</a:t>
                      </a:r>
                    </a:p>
                  </a:txBody>
                  <a:tcPr marL="54864" marR="54864" marT="27432" marB="27432">
                    <a:solidFill>
                      <a:srgbClr val="E5F5FF"/>
                    </a:solidFill>
                  </a:tcPr>
                </a:tc>
                <a:tc>
                  <a:txBody>
                    <a:bodyPr/>
                    <a:lstStyle/>
                    <a:p>
                      <a:r>
                        <a:rPr sz="850" b="0">
                          <a:solidFill>
                            <a:srgbClr val="4B4B4B"/>
                          </a:solidFill>
                          <a:latin typeface="Arial"/>
                        </a:rPr>
                        <a:t>Runs the post-close verification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year closes on or before the year-end deadline (15 April by default); a reminder alert is raised before it (FR-AC-041).</a:t>
                      </a:r>
                    </a:p>
                  </a:txBody>
                  <a:tcPr marL="54864" marR="54864" marT="27432" marB="27432">
                    <a:solidFill>
                      <a:srgbClr val="FFFFFF"/>
                    </a:solidFill>
                  </a:tcPr>
                </a:tc>
              </a:tr>
              <a:tr h="243840">
                <a:tc>
                  <a:txBody>
                    <a:bodyPr/>
                    <a:lstStyle/>
                    <a:p>
                      <a:r>
                        <a:rPr sz="1000" b="0">
                          <a:solidFill>
                            <a:srgbClr val="4B4B4B"/>
                          </a:solidFill>
                          <a:latin typeface="Arial"/>
                        </a:rPr>
                        <a:t>After the close, every nominal account of the year is verified to be zero (FR-AC-041).</a:t>
                      </a:r>
                    </a:p>
                  </a:txBody>
                  <a:tcPr marL="54864" marR="54864" marT="27432" marB="27432">
                    <a:solidFill>
                      <a:srgbClr val="E5F5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Period-End: the closing checklist of the month with the result of each control (part 1 of 2)</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5.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Period-End: the closing checklist of the month with the result of each control (part 2 of 2)</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6.png"/>
          <p:cNvPicPr>
            <a:picLocks noChangeAspect="1"/>
          </p:cNvPicPr>
          <p:nvPr/>
        </p:nvPicPr>
        <p:blipFill>
          <a:blip r:embed="rId3"/>
          <a:stretch>
            <a:fillRect/>
          </a:stretch>
        </p:blipFill>
        <p:spPr>
          <a:xfrm>
            <a:off x="548640" y="1261872"/>
            <a:ext cx="11094415" cy="42656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Year-End: the pre-close checklist and the closing entries preview (part 1 of 2)</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7.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Year-End: the pre-close checklist and the closing entries preview (part 2 of 2)</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Restates the foreign-currency balances of the revaluation accounts at the closing rate of the period: the preview of each balance with the booked and the revalued base amount and the gain or loss, the foreign-currency open items for information, the posting of the revaluation journals with their automatic reversal and the revaluation runs.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FX Revaluation</a:t>
                      </a:r>
                    </a:p>
                    <a:p>
                      <a:r>
                        <a:rPr sz="950" b="0">
                          <a:solidFill>
                            <a:srgbClr val="4B4B4B"/>
                          </a:solidFill>
                          <a:latin typeface="Arial"/>
                        </a:rPr>
                        <a:t>Currencies &amp; Rates › the revaluation rate of the month</a:t>
                      </a:r>
                    </a:p>
                    <a:p>
                      <a:r>
                        <a:rPr sz="950" b="0">
                          <a:solidFill>
                            <a:srgbClr val="4B4B4B"/>
                          </a:solidFill>
                          <a:latin typeface="Arial"/>
                        </a:rPr>
                        <a:t>Period-End &amp; Year-End › FX Revaluation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FR-AC-043, FR-AC-010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foreign-currency balances are restated at the month-end rate.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period to revalue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Period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Auto-reverse on the first day of the next period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Reverses the revaluation on the first day of the next period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Preview</a:t>
                      </a:r>
                    </a:p>
                  </a:txBody>
                  <a:tcPr marL="54864" marR="54864" marT="27432" marB="27432">
                    <a:solidFill>
                      <a:srgbClr val="FFFFFF"/>
                    </a:solidFill>
                  </a:tcPr>
                </a:tc>
                <a:tc>
                  <a:txBody>
                    <a:bodyPr/>
                    <a:lstStyle/>
                    <a:p>
                      <a:r>
                        <a:rPr sz="850" b="0">
                          <a:solidFill>
                            <a:srgbClr val="4B4B4B"/>
                          </a:solidFill>
                          <a:latin typeface="Arial"/>
                        </a:rPr>
                        <a:t>Revaluation date / Balances revalued / Net unrealized gain / FC open items</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Date and counts; amount in the base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closing rate for the date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GL balances (preview)</a:t>
                      </a:r>
                    </a:p>
                  </a:txBody>
                  <a:tcPr marL="54864" marR="54864" marT="27432" marB="27432">
                    <a:solidFill>
                      <a:srgbClr val="E5F5FF"/>
                    </a:solidFill>
                  </a:tcPr>
                </a:tc>
                <a:tc>
                  <a:txBody>
                    <a:bodyPr/>
                    <a:lstStyle/>
                    <a:p>
                      <a:r>
                        <a:rPr sz="850" b="0">
                          <a:solidFill>
                            <a:srgbClr val="4B4B4B"/>
                          </a:solidFill>
                          <a:latin typeface="Arial"/>
                        </a:rPr>
                        <a:t>Branch / Account / Ccy / FC Balance / Booked Base / Closing Rate / Revalued Base / Gain / (loss)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revaluation account and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Foreign currency open items</a:t>
                      </a:r>
                    </a:p>
                  </a:txBody>
                  <a:tcPr marL="54864" marR="54864" marT="27432" marB="27432">
                    <a:solidFill>
                      <a:srgbClr val="FFFFFF"/>
                    </a:solidFill>
                  </a:tcPr>
                </a:tc>
                <a:tc>
                  <a:txBody>
                    <a:bodyPr/>
                    <a:lstStyle/>
                    <a:p>
                      <a:r>
                        <a:rPr sz="850" b="0">
                          <a:solidFill>
                            <a:srgbClr val="4B4B4B"/>
                          </a:solidFill>
                          <a:latin typeface="Arial"/>
                        </a:rPr>
                        <a:t>Party / Document / Ccy / Outstanding / Booked Base / Revalued Base / Gain / (loss)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Information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Revaluation runs</a:t>
                      </a:r>
                    </a:p>
                  </a:txBody>
                  <a:tcPr marL="54864" marR="54864" marT="27432" marB="27432">
                    <a:solidFill>
                      <a:srgbClr val="E5F5FF"/>
                    </a:solidFill>
                  </a:tcPr>
                </a:tc>
                <a:tc>
                  <a:txBody>
                    <a:bodyPr/>
                    <a:lstStyle/>
                    <a:p>
                      <a:r>
                        <a:rPr sz="850" b="0">
                          <a:solidFill>
                            <a:srgbClr val="4B4B4B"/>
                          </a:solidFill>
                          <a:latin typeface="Arial"/>
                        </a:rPr>
                        <a:t>Period / Status / Journal / Reversal / Gain / Loss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runs of the company with the journal posted and its reversal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Post revaluation</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A closing rate exists and the period is not revalued</a:t>
                      </a:r>
                    </a:p>
                  </a:txBody>
                  <a:tcPr marL="54864" marR="54864" marT="27432" marB="27432">
                    <a:solidFill>
                      <a:srgbClr val="FFFFFF"/>
                    </a:solidFill>
                  </a:tcPr>
                </a:tc>
                <a:tc>
                  <a:txBody>
                    <a:bodyPr/>
                    <a:lstStyle/>
                    <a:p>
                      <a:r>
                        <a:rPr sz="850" b="0">
                          <a:solidFill>
                            <a:srgbClr val="4B4B4B"/>
                          </a:solidFill>
                          <a:latin typeface="Arial"/>
                        </a:rPr>
                        <a:t>Posts the revaluation journals of the period after the confirmation</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Every user who opens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revaluation register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Revaluation uses the closing rate of the month end entered by the GL Section Head; a period is revalued once (FR-AC-043).</a:t>
                      </a:r>
                    </a:p>
                  </a:txBody>
                  <a:tcPr marL="54864" marR="54864" marT="27432" marB="27432">
                    <a:solidFill>
                      <a:srgbClr val="FFFFFF"/>
                    </a:solidFill>
                  </a:tcPr>
                </a:tc>
              </a:tr>
              <a:tr h="243840">
                <a:tc>
                  <a:txBody>
                    <a:bodyPr/>
                    <a:lstStyle/>
                    <a:p>
                      <a:r>
                        <a:rPr sz="1000" b="0">
                          <a:solidFill>
                            <a:srgbClr val="4B4B4B"/>
                          </a:solidFill>
                          <a:latin typeface="Arial"/>
                        </a:rPr>
                        <a:t>The revaluation is reversed on the first day of the next period when Auto-reverse is ticked (FR-AC-043).</a:t>
                      </a:r>
                    </a:p>
                  </a:txBody>
                  <a:tcPr marL="54864" marR="54864" marT="27432" marB="27432">
                    <a:solidFill>
                      <a:srgbClr val="E5F5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Chooses the previous month, checks the preview and clicks Post revaluation</a:t>
                      </a:r>
                    </a:p>
                  </a:txBody>
                  <a:tcPr marL="54864" marR="54864" marT="27432" marB="27432">
                    <a:solidFill>
                      <a:srgbClr val="FFFFFF"/>
                    </a:solidFill>
                  </a:tcPr>
                </a:tc>
                <a:tc>
                  <a:txBody>
                    <a:bodyPr/>
                    <a:lstStyle/>
                    <a:p>
                      <a:r>
                        <a:rPr sz="900" b="0">
                          <a:solidFill>
                            <a:srgbClr val="4B4B4B"/>
                          </a:solidFill>
                          <a:latin typeface="Arial"/>
                        </a:rPr>
                        <a:t>SCR-AC-13_wt-d-step-02.png</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8.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1 of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2 of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3 of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Bank Statement Layouts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layout of each bank's statement file: the columns of the date, description, check or reference number, the signed amount or the withdrawals and deposits, and the running balance, with the date pattern; and the import of a statement file through its layout, matched at once.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Bank Statement Layouts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bank's files are read without manual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Bank Account / Layout / Date Column / Amounts / Cheque No. / Cheque Matching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layout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Layout form</a:t>
                      </a:r>
                    </a:p>
                  </a:txBody>
                  <a:tcPr marL="54864" marR="54864" marT="27432" marB="27432">
                    <a:solidFill>
                      <a:srgbClr val="E5F5FF"/>
                    </a:solidFill>
                  </a:tcPr>
                </a:tc>
                <a:tc>
                  <a:txBody>
                    <a:bodyPr/>
                    <a:lstStyle/>
                    <a:p>
                      <a:r>
                        <a:rPr sz="850" b="0">
                          <a:solidFill>
                            <a:srgbClr val="4B4B4B"/>
                          </a:solidFill>
                          <a:latin typeface="Arial"/>
                        </a:rPr>
                        <a:t>Bank account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GL bank accounts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One layout per account</a:t>
                      </a:r>
                    </a:p>
                  </a:txBody>
                  <a:tcPr marL="54864" marR="54864" marT="27432" marB="27432">
                    <a:solidFill>
                      <a:srgbClr val="E5F5FF"/>
                    </a:solidFill>
                  </a:tcPr>
                </a:tc>
                <a:tc>
                  <a:txBody>
                    <a:bodyPr/>
                    <a:lstStyle/>
                    <a:p>
                      <a:r>
                        <a:rPr sz="850" b="0">
                          <a:solidFill>
                            <a:srgbClr val="4B4B4B"/>
                          </a:solidFill>
                          <a:latin typeface="Arial"/>
                        </a:rPr>
                        <a:t>Select the bank account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Layout form</a:t>
                      </a:r>
                    </a:p>
                  </a:txBody>
                  <a:tcPr marL="54864" marR="54864" marT="27432" marB="27432">
                    <a:solidFill>
                      <a:srgbClr val="FFFFFF"/>
                    </a:solidFill>
                  </a:tcPr>
                </a:tc>
                <a:tc>
                  <a:txBody>
                    <a:bodyPr/>
                    <a:lstStyle/>
                    <a:p>
                      <a:r>
                        <a:rPr sz="850" b="0">
                          <a:solidFill>
                            <a:srgbClr val="4B4B4B"/>
                          </a:solidFill>
                          <a:latin typeface="Arial"/>
                        </a:rPr>
                        <a:t>Layout name / Date column / Date pattern / Description column / Cheque / reference column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Column names of the file; date pattern such as MM/dd/yyyy</a:t>
                      </a:r>
                    </a:p>
                  </a:txBody>
                  <a:tcPr marL="54864" marR="54864" marT="27432" marB="27432">
                    <a:solidFill>
                      <a:srgbClr val="FFFFFF"/>
                    </a:solidFill>
                  </a:tcPr>
                </a:tc>
                <a:tc>
                  <a:txBody>
                    <a:bodyPr/>
                    <a:lstStyle/>
                    <a:p>
                      <a:r>
                        <a:rPr sz="850" b="0">
                          <a:solidFill>
                            <a:srgbClr val="4B4B4B"/>
                          </a:solidFill>
                          <a:latin typeface="Arial"/>
                        </a:rPr>
                        <a:t>Y / Y / Y / N / N</a:t>
                      </a:r>
                    </a:p>
                  </a:txBody>
                  <a:tcPr marL="54864" marR="54864" marT="27432" marB="27432">
                    <a:solidFill>
                      <a:srgbClr val="FFFFFF"/>
                    </a:solidFill>
                  </a:tcPr>
                </a:tc>
                <a:tc>
                  <a:txBody>
                    <a:bodyPr/>
                    <a:lstStyle/>
                    <a:p>
                      <a:r>
                        <a:rPr sz="850" b="0">
                          <a:solidFill>
                            <a:srgbClr val="4B4B4B"/>
                          </a:solidFill>
                          <a:latin typeface="Arial"/>
                        </a:rPr>
                        <a:t>A valid date pattern</a:t>
                      </a:r>
                    </a:p>
                  </a:txBody>
                  <a:tcPr marL="54864" marR="54864" marT="27432" marB="27432">
                    <a:solidFill>
                      <a:srgbClr val="FFFFFF"/>
                    </a:solidFill>
                  </a:tcPr>
                </a:tc>
                <a:tc>
                  <a:txBody>
                    <a:bodyPr/>
                    <a:lstStyle/>
                    <a:p>
                      <a:r>
                        <a:rPr sz="850" b="0">
                          <a:solidFill>
                            <a:srgbClr val="4B4B4B"/>
                          </a:solidFill>
                          <a:latin typeface="Arial"/>
                        </a:rPr>
                        <a:t>Invalid date pattern &lt;pattern&gt;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Layout form</a:t>
                      </a:r>
                    </a:p>
                  </a:txBody>
                  <a:tcPr marL="54864" marR="54864" marT="27432" marB="27432">
                    <a:solidFill>
                      <a:srgbClr val="E5F5FF"/>
                    </a:solidFill>
                  </a:tcPr>
                </a:tc>
                <a:tc>
                  <a:txBody>
                    <a:bodyPr/>
                    <a:lstStyle/>
                    <a:p>
                      <a:r>
                        <a:rPr sz="850" b="0">
                          <a:solidFill>
                            <a:srgbClr val="4B4B4B"/>
                          </a:solidFill>
                          <a:latin typeface="Arial"/>
                        </a:rPr>
                        <a:t>Signed amount column / Withdrawals column / Deposits column / Running balance column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 signed amount, or both withdrawals and deposits</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Either a signed amount or both columns</a:t>
                      </a:r>
                    </a:p>
                  </a:txBody>
                  <a:tcPr marL="54864" marR="54864" marT="27432" marB="27432">
                    <a:solidFill>
                      <a:srgbClr val="E5F5FF"/>
                    </a:solidFill>
                  </a:tcPr>
                </a:tc>
                <a:tc>
                  <a:txBody>
                    <a:bodyPr/>
                    <a:lstStyle/>
                    <a:p>
                      <a:r>
                        <a:rPr sz="850" b="0">
                          <a:solidFill>
                            <a:srgbClr val="4B4B4B"/>
                          </a:solidFill>
                          <a:latin typeface="Arial"/>
                        </a:rPr>
                        <a:t>Map either a signed amount column or both debit and credit columns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Import bank statement dialog</a:t>
                      </a:r>
                    </a:p>
                  </a:txBody>
                  <a:tcPr marL="54864" marR="54864" marT="27432" marB="27432">
                    <a:solidFill>
                      <a:srgbClr val="FFFFFF"/>
                    </a:solidFill>
                  </a:tcPr>
                </a:tc>
                <a:tc>
                  <a:txBody>
                    <a:bodyPr/>
                    <a:lstStyle/>
                    <a:p>
                      <a:r>
                        <a:rPr sz="850" b="0">
                          <a:solidFill>
                            <a:srgbClr val="4B4B4B"/>
                          </a:solidFill>
                          <a:latin typeface="Arial"/>
                        </a:rPr>
                        <a:t>Bank account / Statement file</a:t>
                      </a:r>
                    </a:p>
                  </a:txBody>
                  <a:tcPr marL="54864" marR="54864" marT="27432" marB="27432">
                    <a:solidFill>
                      <a:srgbClr val="FFFFFF"/>
                    </a:solidFill>
                  </a:tcPr>
                </a:tc>
                <a:tc>
                  <a:txBody>
                    <a:bodyPr/>
                    <a:lstStyle/>
                    <a:p>
                      <a:r>
                        <a:rPr sz="850" b="0">
                          <a:solidFill>
                            <a:srgbClr val="4B4B4B"/>
                          </a:solidFill>
                          <a:latin typeface="Arial"/>
                        </a:rPr>
                        <a:t>Drop-down, file</a:t>
                      </a:r>
                    </a:p>
                  </a:txBody>
                  <a:tcPr marL="54864" marR="54864" marT="27432" marB="27432">
                    <a:solidFill>
                      <a:srgbClr val="FFFFFF"/>
                    </a:solidFill>
                  </a:tcPr>
                </a:tc>
                <a:tc>
                  <a:txBody>
                    <a:bodyPr/>
                    <a:lstStyle/>
                    <a:p>
                      <a:r>
                        <a:rPr sz="850" b="0">
                          <a:solidFill>
                            <a:srgbClr val="4B4B4B"/>
                          </a:solidFill>
                          <a:latin typeface="Arial"/>
                        </a:rPr>
                        <a:t>The layout's account; Excel, ODS or CSV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read with the layout</a:t>
                      </a:r>
                    </a:p>
                  </a:txBody>
                  <a:tcPr marL="54864" marR="54864" marT="27432" marB="27432">
                    <a:solidFill>
                      <a:srgbClr val="FFFFFF"/>
                    </a:solidFill>
                  </a:tcPr>
                </a:tc>
                <a:tc>
                  <a:txBody>
                    <a:bodyPr/>
                    <a:lstStyle/>
                    <a:p>
                      <a:r>
                        <a:rPr sz="850" b="0">
                          <a:solidFill>
                            <a:srgbClr val="4B4B4B"/>
                          </a:solidFill>
                          <a:latin typeface="Arial"/>
                        </a:rPr>
                        <a:t>Row &lt;n&gt; - invalid date / amount '&lt;value&gt;'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Layout / Save Layout</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layout of the bank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Import Statement / Import and Match</a:t>
                      </a:r>
                    </a:p>
                  </a:txBody>
                  <a:tcPr marL="54864" marR="54864" marT="27432" marB="27432">
                    <a:solidFill>
                      <a:srgbClr val="E5F5FF"/>
                    </a:solidFill>
                  </a:tcPr>
                </a:tc>
                <a:tc>
                  <a:txBody>
                    <a:bodyPr/>
                    <a:lstStyle/>
                    <a:p>
                      <a:r>
                        <a:rPr sz="850" b="0">
                          <a:solidFill>
                            <a:srgbClr val="4B4B4B"/>
                          </a:solidFill>
                          <a:latin typeface="Arial"/>
                        </a:rPr>
                        <a:t>Accountant (bank reconciliation)</a:t>
                      </a:r>
                    </a:p>
                  </a:txBody>
                  <a:tcPr marL="54864" marR="54864" marT="27432" marB="27432">
                    <a:solidFill>
                      <a:srgbClr val="E5F5FF"/>
                    </a:solidFill>
                  </a:tcPr>
                </a:tc>
                <a:tc>
                  <a:txBody>
                    <a:bodyPr/>
                    <a:lstStyle/>
                    <a:p>
                      <a:r>
                        <a:rPr sz="850" b="0">
                          <a:solidFill>
                            <a:srgbClr val="4B4B4B"/>
                          </a:solidFill>
                          <a:latin typeface="Arial"/>
                        </a:rPr>
                        <a:t>A layout exists</a:t>
                      </a:r>
                    </a:p>
                  </a:txBody>
                  <a:tcPr marL="54864" marR="54864" marT="27432" marB="27432">
                    <a:solidFill>
                      <a:srgbClr val="E5F5FF"/>
                    </a:solidFill>
                  </a:tcPr>
                </a:tc>
                <a:tc>
                  <a:txBody>
                    <a:bodyPr/>
                    <a:lstStyle/>
                    <a:p>
                      <a:r>
                        <a:rPr sz="850" b="0">
                          <a:solidFill>
                            <a:srgbClr val="4B4B4B"/>
                          </a:solidFill>
                          <a:latin typeface="Arial"/>
                        </a:rPr>
                        <a:t>Imports the bank file through the layout and runs the automatic matching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bank account has its layout; the first matching rule pairs a book entry and a bank line with the same check number and amount (FR-AC-050).</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Bank Statement Layouts: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4-01-list.png"/>
          <p:cNvPicPr>
            <a:picLocks noChangeAspect="1"/>
          </p:cNvPicPr>
          <p:nvPr/>
        </p:nvPicPr>
        <p:blipFill>
          <a:blip r:embed="rId3"/>
          <a:stretch>
            <a:fillRect/>
          </a:stretch>
        </p:blipFill>
        <p:spPr>
          <a:xfrm>
            <a:off x="548640" y="1261872"/>
            <a:ext cx="11094415" cy="40073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Statement Layouts: the layout of each bank account and its cheque matching</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SCR-AC-14 Bank Statement Layouts: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1.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layout: the bank account and the columns of its file (part 1 of 2)</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SCR-AC-14 Bank Statement Layouts: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2.png"/>
          <p:cNvPicPr>
            <a:picLocks noChangeAspect="1"/>
          </p:cNvPicPr>
          <p:nvPr/>
        </p:nvPicPr>
        <p:blipFill>
          <a:blip r:embed="rId3"/>
          <a:stretch>
            <a:fillRect/>
          </a:stretch>
        </p:blipFill>
        <p:spPr>
          <a:xfrm>
            <a:off x="548640" y="1261872"/>
            <a:ext cx="11094415" cy="22095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layout: the bank account and the columns of its file (part 2 of 2)</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Bank Statements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import of a bank statement (CSV) for a GL bank account, with its reference and opening balance, and the statements imported with their period, opening, debits, credits, closing and lines; the lines of a statement show whether they are reconciled.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Receivables &amp; Banking › Bank Statements</a:t>
                      </a:r>
                    </a:p>
                    <a:p>
                      <a:r>
                        <a:rPr sz="950" b="0">
                          <a:solidFill>
                            <a:srgbClr val="4B4B4B"/>
                          </a:solidFill>
                          <a:latin typeface="Arial"/>
                        </a:rPr>
                        <a:t>Bank Statement Layouts › Import Statement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statement is in BIBS for the reconciliation.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Import statement</a:t>
                      </a:r>
                    </a:p>
                  </a:txBody>
                  <a:tcPr marL="54864" marR="54864" marT="27432" marB="27432">
                    <a:solidFill>
                      <a:srgbClr val="FFFFFF"/>
                    </a:solidFill>
                  </a:tcPr>
                </a:tc>
                <a:tc>
                  <a:txBody>
                    <a:bodyPr/>
                    <a:lstStyle/>
                    <a:p>
                      <a:r>
                        <a:rPr sz="850" b="0">
                          <a:solidFill>
                            <a:srgbClr val="4B4B4B"/>
                          </a:solidFill>
                          <a:latin typeface="Arial"/>
                        </a:rPr>
                        <a:t>Bank account / CSV file</a:t>
                      </a:r>
                    </a:p>
                  </a:txBody>
                  <a:tcPr marL="54864" marR="54864" marT="27432" marB="27432">
                    <a:solidFill>
                      <a:srgbClr val="FFFFFF"/>
                    </a:solidFill>
                  </a:tcPr>
                </a:tc>
                <a:tc>
                  <a:txBody>
                    <a:bodyPr/>
                    <a:lstStyle/>
                    <a:p>
                      <a:r>
                        <a:rPr sz="850" b="0">
                          <a:solidFill>
                            <a:srgbClr val="4B4B4B"/>
                          </a:solidFill>
                          <a:latin typeface="Arial"/>
                        </a:rPr>
                        <a:t>Drop-down, file</a:t>
                      </a:r>
                    </a:p>
                  </a:txBody>
                  <a:tcPr marL="54864" marR="54864" marT="27432" marB="27432">
                    <a:solidFill>
                      <a:srgbClr val="FFFFFF"/>
                    </a:solidFill>
                  </a:tcPr>
                </a:tc>
                <a:tc>
                  <a:txBody>
                    <a:bodyPr/>
                    <a:lstStyle/>
                    <a:p>
                      <a:r>
                        <a:rPr sz="850" b="0">
                          <a:solidFill>
                            <a:srgbClr val="4B4B4B"/>
                          </a:solidFill>
                          <a:latin typeface="Arial"/>
                        </a:rPr>
                        <a:t>GL bank account; CSV of the statement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bank account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Import statement</a:t>
                      </a:r>
                    </a:p>
                  </a:txBody>
                  <a:tcPr marL="54864" marR="54864" marT="27432" marB="27432">
                    <a:solidFill>
                      <a:srgbClr val="E5F5FF"/>
                    </a:solidFill>
                  </a:tcPr>
                </a:tc>
                <a:tc>
                  <a:txBody>
                    <a:bodyPr/>
                    <a:lstStyle/>
                    <a:p>
                      <a:r>
                        <a:rPr sz="850" b="0">
                          <a:solidFill>
                            <a:srgbClr val="4B4B4B"/>
                          </a:solidFill>
                          <a:latin typeface="Arial"/>
                        </a:rPr>
                        <a:t>Statement reference / Opening balance</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Defaults to the file name; derived from the first line when blank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Imported statements</a:t>
                      </a:r>
                    </a:p>
                  </a:txBody>
                  <a:tcPr marL="54864" marR="54864" marT="27432" marB="27432">
                    <a:solidFill>
                      <a:srgbClr val="FFFFFF"/>
                    </a:solidFill>
                  </a:tcPr>
                </a:tc>
                <a:tc>
                  <a:txBody>
                    <a:bodyPr/>
                    <a:lstStyle/>
                    <a:p>
                      <a:r>
                        <a:rPr sz="850" b="0">
                          <a:solidFill>
                            <a:srgbClr val="4B4B4B"/>
                          </a:solidFill>
                          <a:latin typeface="Arial"/>
                        </a:rPr>
                        <a:t>Bank / Reference / From / To / Opening / Debits / Credits / Closing / Lines / Imported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Statement lines</a:t>
                      </a:r>
                    </a:p>
                  </a:txBody>
                  <a:tcPr marL="54864" marR="54864" marT="27432" marB="27432">
                    <a:solidFill>
                      <a:srgbClr val="E5F5FF"/>
                    </a:solidFill>
                  </a:tcPr>
                </a:tc>
                <a:tc>
                  <a:txBody>
                    <a:bodyPr/>
                    <a:lstStyle/>
                    <a:p>
                      <a:r>
                        <a:rPr sz="850" b="0">
                          <a:solidFill>
                            <a:srgbClr val="4B4B4B"/>
                          </a:solidFill>
                          <a:latin typeface="Arial"/>
                        </a:rPr>
                        <a:t># / Value Date / Description / Reference / Debit / Credit / Balance / Reconciled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lines of the statement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Import</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Account and file chosen</a:t>
                      </a:r>
                    </a:p>
                  </a:txBody>
                  <a:tcPr marL="54864" marR="54864" marT="27432" marB="27432">
                    <a:solidFill>
                      <a:srgbClr val="FFFFFF"/>
                    </a:solidFill>
                  </a:tcPr>
                </a:tc>
                <a:tc>
                  <a:txBody>
                    <a:bodyPr/>
                    <a:lstStyle/>
                    <a:p>
                      <a:r>
                        <a:rPr sz="850" b="0">
                          <a:solidFill>
                            <a:srgbClr val="4B4B4B"/>
                          </a:solidFill>
                          <a:latin typeface="Arial"/>
                        </a:rPr>
                        <a:t>Imports the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lines of the statement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statement file imported before is refused (FR-AC-050).</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Bank Statements: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5-01-list.png"/>
          <p:cNvPicPr>
            <a:picLocks noChangeAspect="1"/>
          </p:cNvPicPr>
          <p:nvPr/>
        </p:nvPicPr>
        <p:blipFill>
          <a:blip r:embed="rId3"/>
          <a:stretch>
            <a:fillRect/>
          </a:stretch>
        </p:blipFill>
        <p:spPr>
          <a:xfrm>
            <a:off x="1854700" y="1261872"/>
            <a:ext cx="848229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Statements: the import of a statement and the statements imported</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Bank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reconciliation of a bank account as of a statement date: the match workbench with the book entries and the bank lines not reconciled (automatic and manual matching, recent matches and unmatch), the reconciliation statement with the balance per book and per bank and the four groups of reconciling items, and the reconciliations finalised.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Receivables &amp; Banking › Bank Reconciliation</a:t>
                      </a:r>
                    </a:p>
                    <a:p>
                      <a:r>
                        <a:rPr sz="950" b="0">
                          <a:solidFill>
                            <a:srgbClr val="4B4B4B"/>
                          </a:solidFill>
                          <a:latin typeface="Arial"/>
                        </a:rPr>
                        <a:t>Bank Statements › the statement to reconcile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 FR-AC-051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account is reconciled and the differences are explained.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Bank account / Statement date (as of)</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GL bank account; 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Match workbench / Reconciliation statement / Reconciliations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Match workbench</a:t>
                      </a:r>
                    </a:p>
                  </a:txBody>
                  <a:tcPr marL="54864" marR="54864" marT="27432" marB="27432">
                    <a:solidFill>
                      <a:srgbClr val="FFFFFF"/>
                    </a:solidFill>
                  </a:tcPr>
                </a:tc>
                <a:tc>
                  <a:txBody>
                    <a:bodyPr/>
                    <a:lstStyle/>
                    <a:p>
                      <a:r>
                        <a:rPr sz="850" b="0">
                          <a:solidFill>
                            <a:srgbClr val="4B4B4B"/>
                          </a:solidFill>
                          <a:latin typeface="Arial"/>
                        </a:rPr>
                        <a:t>Date window (days)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Days around the date for the amount rules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Match workbench</a:t>
                      </a:r>
                    </a:p>
                  </a:txBody>
                  <a:tcPr marL="54864" marR="54864" marT="27432" marB="27432">
                    <a:solidFill>
                      <a:srgbClr val="E5F5FF"/>
                    </a:solidFill>
                  </a:tcPr>
                </a:tc>
                <a:tc>
                  <a:txBody>
                    <a:bodyPr/>
                    <a:lstStyle/>
                    <a:p>
                      <a:r>
                        <a:rPr sz="850" b="0">
                          <a:solidFill>
                            <a:srgbClr val="4B4B4B"/>
                          </a:solidFill>
                          <a:latin typeface="Arial"/>
                        </a:rPr>
                        <a:t>Book entries not reconciled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Select / Date / Reference / Narration / Debit / Credit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Match workbench</a:t>
                      </a:r>
                    </a:p>
                  </a:txBody>
                  <a:tcPr marL="54864" marR="54864" marT="27432" marB="27432">
                    <a:solidFill>
                      <a:srgbClr val="FFFFFF"/>
                    </a:solidFill>
                  </a:tcPr>
                </a:tc>
                <a:tc>
                  <a:txBody>
                    <a:bodyPr/>
                    <a:lstStyle/>
                    <a:p>
                      <a:r>
                        <a:rPr sz="850" b="0">
                          <a:solidFill>
                            <a:srgbClr val="4B4B4B"/>
                          </a:solidFill>
                          <a:latin typeface="Arial"/>
                        </a:rPr>
                        <a:t>Bank lines not reconciled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Select / Date / Reference / Description / Deposit / Withdrawal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Match workbench</a:t>
                      </a:r>
                    </a:p>
                  </a:txBody>
                  <a:tcPr marL="54864" marR="54864" marT="27432" marB="27432">
                    <a:solidFill>
                      <a:srgbClr val="E5F5FF"/>
                    </a:solidFill>
                  </a:tcPr>
                </a:tc>
                <a:tc>
                  <a:txBody>
                    <a:bodyPr/>
                    <a:lstStyle/>
                    <a:p>
                      <a:r>
                        <a:rPr sz="850" b="0">
                          <a:solidFill>
                            <a:srgbClr val="4B4B4B"/>
                          </a:solidFill>
                          <a:latin typeface="Arial"/>
                        </a:rPr>
                        <a:t>Recent matches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 / Method / Date / Amount / By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Reconciliation statement</a:t>
                      </a:r>
                    </a:p>
                  </a:txBody>
                  <a:tcPr marL="54864" marR="54864" marT="27432" marB="27432">
                    <a:solidFill>
                      <a:srgbClr val="FFFFFF"/>
                    </a:solidFill>
                  </a:tcPr>
                </a:tc>
                <a:tc>
                  <a:txBody>
                    <a:bodyPr/>
                    <a:lstStyle/>
                    <a:p>
                      <a:r>
                        <a:rPr sz="850" b="0">
                          <a:solidFill>
                            <a:srgbClr val="4B4B4B"/>
                          </a:solidFill>
                          <a:latin typeface="Arial"/>
                        </a:rPr>
                        <a:t>Balance as per book / Balance per bank (computed) / Balance per bank statement / Unexplained difference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Reconciliation statement</a:t>
                      </a:r>
                    </a:p>
                  </a:txBody>
                  <a:tcPr marL="54864" marR="54864" marT="27432" marB="27432">
                    <a:solidFill>
                      <a:srgbClr val="E5F5FF"/>
                    </a:solidFill>
                  </a:tcPr>
                </a:tc>
                <a:tc>
                  <a:txBody>
                    <a:bodyPr/>
                    <a:lstStyle/>
                    <a:p>
                      <a:r>
                        <a:rPr sz="850" b="0">
                          <a:solidFill>
                            <a:srgbClr val="4B4B4B"/>
                          </a:solidFill>
                          <a:latin typeface="Arial"/>
                        </a:rPr>
                        <a:t>Reconciling items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Book debits not accounted by bank, book credits not accounted by bank, bank debits and bank credits not accounted in book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Reconciliations</a:t>
                      </a:r>
                    </a:p>
                  </a:txBody>
                  <a:tcPr marL="54864" marR="54864" marT="27432" marB="27432">
                    <a:solidFill>
                      <a:srgbClr val="FFFFFF"/>
                    </a:solidFill>
                  </a:tcPr>
                </a:tc>
                <a:tc>
                  <a:txBody>
                    <a:bodyPr/>
                    <a:lstStyle/>
                    <a:p>
                      <a:r>
                        <a:rPr sz="850" b="0">
                          <a:solidFill>
                            <a:srgbClr val="4B4B4B"/>
                          </a:solidFill>
                          <a:latin typeface="Arial"/>
                        </a:rPr>
                        <a:t>Bank / As of / Book Balance / Statement Balance / Difference / Status / Finalized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reconciliation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Auto-match</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Lines not reconciled</a:t>
                      </a:r>
                    </a:p>
                  </a:txBody>
                  <a:tcPr marL="54864" marR="54864" marT="27432" marB="27432">
                    <a:solidFill>
                      <a:srgbClr val="FFFFFF"/>
                    </a:solidFill>
                  </a:tcPr>
                </a:tc>
                <a:tc>
                  <a:txBody>
                    <a:bodyPr/>
                    <a:lstStyle/>
                    <a:p>
                      <a:r>
                        <a:rPr sz="850" b="0">
                          <a:solidFill>
                            <a:srgbClr val="4B4B4B"/>
                          </a:solidFill>
                          <a:latin typeface="Arial"/>
                        </a:rPr>
                        <a:t>Runs the matching rules: check number and amount first, then amount within the date window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Match Selected</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Book entries and bank lines of the same total selected</a:t>
                      </a:r>
                    </a:p>
                  </a:txBody>
                  <a:tcPr marL="54864" marR="54864" marT="27432" marB="27432">
                    <a:solidFill>
                      <a:srgbClr val="E5F5FF"/>
                    </a:solidFill>
                  </a:tcPr>
                </a:tc>
                <a:tc>
                  <a:txBody>
                    <a:bodyPr/>
                    <a:lstStyle/>
                    <a:p>
                      <a:r>
                        <a:rPr sz="850" b="0">
                          <a:solidFill>
                            <a:srgbClr val="4B4B4B"/>
                          </a:solidFill>
                          <a:latin typeface="Arial"/>
                        </a:rPr>
                        <a:t>Matches them by hand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Unmatch</a:t>
                      </a:r>
                    </a:p>
                  </a:txBody>
                  <a:tcPr marL="54864" marR="54864" marT="27432" marB="27432">
                    <a:solidFill>
                      <a:srgbClr val="FFFFFF"/>
                    </a:solidFill>
                  </a:tcPr>
                </a:tc>
                <a:tc>
                  <a:txBody>
                    <a:bodyPr/>
                    <a:lstStyle/>
                    <a:p>
                      <a:r>
                        <a:rPr sz="850" b="0">
                          <a:solidFill>
                            <a:srgbClr val="4B4B4B"/>
                          </a:solidFill>
                          <a:latin typeface="Arial"/>
                        </a:rPr>
                        <a:t>Accountant</a:t>
                      </a:r>
                    </a:p>
                  </a:txBody>
                  <a:tcPr marL="54864" marR="54864" marT="27432" marB="27432">
                    <a:solidFill>
                      <a:srgbClr val="FFFFFF"/>
                    </a:solidFill>
                  </a:tcPr>
                </a:tc>
                <a:tc>
                  <a:txBody>
                    <a:bodyPr/>
                    <a:lstStyle/>
                    <a:p>
                      <a:r>
                        <a:rPr sz="850" b="0">
                          <a:solidFill>
                            <a:srgbClr val="4B4B4B"/>
                          </a:solidFill>
                          <a:latin typeface="Arial"/>
                        </a:rPr>
                        <a:t>A recent match</a:t>
                      </a:r>
                    </a:p>
                  </a:txBody>
                  <a:tcPr marL="54864" marR="54864" marT="27432" marB="27432">
                    <a:solidFill>
                      <a:srgbClr val="FFFFFF"/>
                    </a:solidFill>
                  </a:tcPr>
                </a:tc>
                <a:tc>
                  <a:txBody>
                    <a:bodyPr/>
                    <a:lstStyle/>
                    <a:p>
                      <a:r>
                        <a:rPr sz="850" b="0">
                          <a:solidFill>
                            <a:srgbClr val="4B4B4B"/>
                          </a:solidFill>
                          <a:latin typeface="Arial"/>
                        </a:rPr>
                        <a:t>Undoes the 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 Finalize</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Statement prepared</a:t>
                      </a:r>
                    </a:p>
                  </a:txBody>
                  <a:tcPr marL="54864" marR="54864" marT="27432" marB="27432">
                    <a:solidFill>
                      <a:srgbClr val="E5F5FF"/>
                    </a:solidFill>
                  </a:tcPr>
                </a:tc>
                <a:tc>
                  <a:txBody>
                    <a:bodyPr/>
                    <a:lstStyle/>
                    <a:p>
                      <a:r>
                        <a:rPr sz="850" b="0">
                          <a:solidFill>
                            <a:srgbClr val="4B4B4B"/>
                          </a:solidFill>
                          <a:latin typeface="Arial"/>
                        </a:rPr>
                        <a:t>Saves the reconciliation statement, then finalises it</a:t>
                      </a:r>
                    </a:p>
                  </a:txBody>
                  <a:tcPr marL="54864" marR="54864" marT="27432" marB="27432">
                    <a:solidFill>
                      <a:srgbClr val="E5F5FF"/>
                    </a:solidFill>
                  </a:tcPr>
                </a:tc>
                <a:tc>
                  <a:txBody>
                    <a:bodyPr/>
                    <a:lstStyle/>
                    <a:p>
                      <a:r>
                        <a:rPr sz="850" b="0">
                          <a:solidFill>
                            <a:srgbClr val="4B4B4B"/>
                          </a:solidFill>
                          <a:latin typeface="Arial"/>
                        </a:rPr>
                        <a:t>Finalized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first rule pairs a book entry and a bank line with the same check number and amount on any date; the other rules match on amount within the date window (FR-AC-050).</a:t>
                      </a:r>
                    </a:p>
                  </a:txBody>
                  <a:tcPr marL="54864" marR="54864" marT="27432" marB="27432">
                    <a:solidFill>
                      <a:srgbClr val="FFFFFF"/>
                    </a:solidFill>
                  </a:tcPr>
                </a:tc>
              </a:tr>
              <a:tr h="243840">
                <a:tc>
                  <a:txBody>
                    <a:bodyPr/>
                    <a:lstStyle/>
                    <a:p>
                      <a:r>
                        <a:rPr sz="1000" b="0">
                          <a:solidFill>
                            <a:srgbClr val="4B4B4B"/>
                          </a:solidFill>
                          <a:latin typeface="Arial"/>
                        </a:rPr>
                        <a:t>The unmatched items are listed on the reconciliation statement and in the unmatched report (FR-AC-051).</a:t>
                      </a:r>
                    </a:p>
                  </a:txBody>
                  <a:tcPr marL="54864" marR="54864" marT="27432" marB="27432">
                    <a:solidFill>
                      <a:srgbClr val="E5F5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3.png"/>
          <p:cNvPicPr>
            <a:picLocks noChangeAspect="1"/>
          </p:cNvPicPr>
          <p:nvPr/>
        </p:nvPicPr>
        <p:blipFill>
          <a:blip r:embed="rId3"/>
          <a:stretch>
            <a:fillRect/>
          </a:stretch>
        </p:blipFill>
        <p:spPr>
          <a:xfrm>
            <a:off x="548640" y="1261872"/>
            <a:ext cx="11094415" cy="47356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1 of 3)</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4.png"/>
          <p:cNvPicPr>
            <a:picLocks noChangeAspect="1"/>
          </p:cNvPicPr>
          <p:nvPr/>
        </p:nvPicPr>
        <p:blipFill>
          <a:blip r:embed="rId3"/>
          <a:stretch>
            <a:fillRect/>
          </a:stretch>
        </p:blipFill>
        <p:spPr>
          <a:xfrm>
            <a:off x="548640" y="1261872"/>
            <a:ext cx="11094415" cy="45918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2 of 3)</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5.png"/>
          <p:cNvPicPr>
            <a:picLocks noChangeAspect="1"/>
          </p:cNvPicPr>
          <p:nvPr/>
        </p:nvPicPr>
        <p:blipFill>
          <a:blip r:embed="rId3"/>
          <a:stretch>
            <a:fillRect/>
          </a:stretch>
        </p:blipFill>
        <p:spPr>
          <a:xfrm>
            <a:off x="548640" y="1261872"/>
            <a:ext cx="11094415" cy="39583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3 of 3)</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6.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1 of 4)</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2 of 4)</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3 of 4)</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9.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4 of 4)</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report the user may run, by category (Accounting, Disbursement, ACSL, Payment Requests, Operations and the other modules), with a search by title; Report Batch runs several reports at once with shared dates and one output, and My report batches lists the batches with their download.</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Disbursement Approver, Marketing Processor (AO), Marketing Reviewer, Marketing Approver, Human Resources Approver, ACSL Processor, ACSL Team Leader, ACSL Head (approver), Comptrollership (read access),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FR-AC-020, FR-AC-022, FR-AS-001, FR-DS-080, FR-PQ-012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 report and runs it, alone or with others.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1" cy="267460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reports by 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title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Categories</a:t>
                      </a:r>
                    </a:p>
                  </a:txBody>
                  <a:tcPr marL="54864" marR="54864" marT="27432" marB="27432">
                    <a:solidFill>
                      <a:srgbClr val="E5F5FF"/>
                    </a:solidFill>
                  </a:tcPr>
                </a:tc>
                <a:tc>
                  <a:txBody>
                    <a:bodyPr/>
                    <a:lstStyle/>
                    <a:p>
                      <a:r>
                        <a:rPr sz="850" b="0">
                          <a:solidFill>
                            <a:srgbClr val="4B4B4B"/>
                          </a:solidFill>
                          <a:latin typeface="Arial"/>
                        </a:rPr>
                        <a:t>Report title and description</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The reports of the category the user may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My report batches</a:t>
                      </a:r>
                    </a:p>
                  </a:txBody>
                  <a:tcPr marL="54864" marR="54864" marT="27432" marB="27432">
                    <a:solidFill>
                      <a:srgbClr val="FFFFFF"/>
                    </a:solidFill>
                  </a:tcPr>
                </a:tc>
                <a:tc>
                  <a:txBody>
                    <a:bodyPr/>
                    <a:lstStyle/>
                    <a:p>
                      <a:r>
                        <a:rPr sz="850" b="0">
                          <a:solidFill>
                            <a:srgbClr val="4B4B4B"/>
                          </a:solidFill>
                          <a:latin typeface="Arial"/>
                        </a:rPr>
                        <a:t>Batch No. / Run At / Output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date and time, output format, Queued, Running, Completed or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 batch dialog</a:t>
                      </a:r>
                    </a:p>
                  </a:txBody>
                  <a:tcPr marL="54864" marR="54864" marT="27432" marB="27432">
                    <a:solidFill>
                      <a:srgbClr val="E5F5FF"/>
                    </a:solidFill>
                  </a:tcPr>
                </a:tc>
                <a:tc>
                  <a:txBody>
                    <a:bodyPr/>
                    <a:lstStyle/>
                    <a:p>
                      <a:r>
                        <a:rPr sz="850" b="0">
                          <a:solidFill>
                            <a:srgbClr val="4B4B4B"/>
                          </a:solidFill>
                          <a:latin typeface="Arial"/>
                        </a:rPr>
                        <a:t>From / To / as of</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shared by the reports chosen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 batch dialog</a:t>
                      </a:r>
                    </a:p>
                  </a:txBody>
                  <a:tcPr marL="54864" marR="54864" marT="27432" marB="27432">
                    <a:solidFill>
                      <a:srgbClr val="FFFFFF"/>
                    </a:solidFill>
                  </a:tcPr>
                </a:tc>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One ZIP of the files, or one merged PDF</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Report batch dialog</a:t>
                      </a:r>
                    </a:p>
                  </a:txBody>
                  <a:tcPr marL="54864" marR="54864" marT="27432" marB="27432">
                    <a:solidFill>
                      <a:srgbClr val="E5F5FF"/>
                    </a:solidFill>
                  </a:tcPr>
                </a:tc>
                <a:tc>
                  <a:txBody>
                    <a:bodyPr/>
                    <a:lstStyle/>
                    <a:p>
                      <a:r>
                        <a:rPr sz="850" b="0">
                          <a:solidFill>
                            <a:srgbClr val="4B4B4B"/>
                          </a:solidFill>
                          <a:latin typeface="Arial"/>
                        </a:rPr>
                        <a:t>Search reports (n selected)</a:t>
                      </a:r>
                    </a:p>
                  </a:txBody>
                  <a:tcPr marL="54864" marR="54864" marT="27432" marB="27432">
                    <a:solidFill>
                      <a:srgbClr val="E5F5FF"/>
                    </a:solidFill>
                  </a:tcPr>
                </a:tc>
                <a:tc>
                  <a:txBody>
                    <a:bodyPr/>
                    <a:lstStyle/>
                    <a:p>
                      <a:r>
                        <a:rPr sz="850" b="0">
                          <a:solidFill>
                            <a:srgbClr val="4B4B4B"/>
                          </a:solidFill>
                          <a:latin typeface="Arial"/>
                        </a:rPr>
                        <a:t>Text, check boxes</a:t>
                      </a:r>
                    </a:p>
                  </a:txBody>
                  <a:tcPr marL="54864" marR="54864" marT="27432" marB="27432">
                    <a:solidFill>
                      <a:srgbClr val="E5F5FF"/>
                    </a:solidFill>
                  </a:tcPr>
                </a:tc>
                <a:tc>
                  <a:txBody>
                    <a:bodyPr/>
                    <a:lstStyle/>
                    <a:p>
                      <a:r>
                        <a:rPr sz="850" b="0">
                          <a:solidFill>
                            <a:srgbClr val="4B4B4B"/>
                          </a:solidFill>
                          <a:latin typeface="Arial"/>
                        </a:rPr>
                        <a:t>The reports to run together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Report batch dialog</a:t>
                      </a:r>
                    </a:p>
                  </a:txBody>
                  <a:tcPr marL="54864" marR="54864" marT="27432" marB="27432">
                    <a:solidFill>
                      <a:srgbClr val="FFFFFF"/>
                    </a:solidFill>
                  </a:tcPr>
                </a:tc>
                <a:tc>
                  <a:txBody>
                    <a:bodyPr/>
                    <a:lstStyle/>
                    <a:p>
                      <a:r>
                        <a:rPr sz="850" b="0">
                          <a:solidFill>
                            <a:srgbClr val="4B4B4B"/>
                          </a:solidFill>
                          <a:latin typeface="Arial"/>
                        </a:rPr>
                        <a:t>Report / Status / Rows /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outcome of each report of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Report title</a:t>
                      </a:r>
                    </a:p>
                  </a:txBody>
                  <a:tcPr marL="54864" marR="54864" marT="27432" marB="27432">
                    <a:solidFill>
                      <a:srgbClr val="FFFFFF"/>
                    </a:solidFill>
                  </a:tcPr>
                </a:tc>
                <a:tc>
                  <a:txBody>
                    <a:bodyPr/>
                    <a:lstStyle/>
                    <a:p>
                      <a:r>
                        <a:rPr sz="850" b="0">
                          <a:solidFill>
                            <a:srgbClr val="4B4B4B"/>
                          </a:solidFill>
                          <a:latin typeface="Arial"/>
                        </a:rPr>
                        <a:t>Every user who may run the report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Report Batch</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report batch; Run runs the reports in the background</a:t>
                      </a:r>
                    </a:p>
                  </a:txBody>
                  <a:tcPr marL="54864" marR="54864" marT="27432" marB="27432">
                    <a:solidFill>
                      <a:srgbClr val="E5F5FF"/>
                    </a:solidFill>
                  </a:tcPr>
                </a:tc>
                <a:tc>
                  <a:txBody>
                    <a:bodyPr/>
                    <a:lstStyle/>
                    <a:p>
                      <a:r>
                        <a:rPr sz="850" b="0">
                          <a:solidFill>
                            <a:srgbClr val="4B4B4B"/>
                          </a:solidFill>
                          <a:latin typeface="Arial"/>
                        </a:rPr>
                        <a:t>Queued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Report users</a:t>
                      </a:r>
                    </a:p>
                  </a:txBody>
                  <a:tcPr marL="54864" marR="54864" marT="27432" marB="27432">
                    <a:solidFill>
                      <a:srgbClr val="FFFFFF"/>
                    </a:solidFill>
                  </a:tcPr>
                </a:tc>
                <a:tc>
                  <a:txBody>
                    <a:bodyPr/>
                    <a:lstStyle/>
                    <a:p>
                      <a:r>
                        <a:rPr sz="850" b="0">
                          <a:solidFill>
                            <a:srgbClr val="4B4B4B"/>
                          </a:solidFill>
                          <a:latin typeface="Arial"/>
                        </a:rPr>
                        <a:t>A completed batch</a:t>
                      </a:r>
                    </a:p>
                  </a:txBody>
                  <a:tcPr marL="54864" marR="54864" marT="27432" marB="27432">
                    <a:solidFill>
                      <a:srgbClr val="FFFFFF"/>
                    </a:solidFill>
                  </a:tcPr>
                </a:tc>
                <a:tc>
                  <a:txBody>
                    <a:bodyPr/>
                    <a:lstStyle/>
                    <a:p>
                      <a:r>
                        <a:rPr sz="850" b="0">
                          <a:solidFill>
                            <a:srgbClr val="4B4B4B"/>
                          </a:solidFill>
                          <a:latin typeface="Arial"/>
                        </a:rPr>
                        <a:t>Downloads the batch output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user sees only the reports of the categories the role may run (FR-AC-020).</a:t>
                      </a:r>
                    </a:p>
                  </a:txBody>
                  <a:tcPr marL="54864" marR="54864" marT="27432" marB="27432">
                    <a:solidFill>
                      <a:srgbClr val="FFFFFF"/>
                    </a:solidFill>
                  </a:tcPr>
                </a:tc>
              </a:tr>
              <a:tr h="243840">
                <a:tc>
                  <a:txBody>
                    <a:bodyPr/>
                    <a:lstStyle/>
                    <a:p>
                      <a:r>
                        <a:rPr sz="1000" b="0">
                          <a:solidFill>
                            <a:srgbClr val="4B4B4B"/>
                          </a:solidFill>
                          <a:latin typeface="Arial"/>
                        </a:rPr>
                        <a:t>A batch runs each report on its own; a report that fails is listed with its reason and does not stop the others (FR-AC-022).</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1 of 4)</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2 of 4)</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3 of 4)</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3.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4 of 4)</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4.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batch: the reports chosen, the dates and the output (part 1 of 2)</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5.png"/>
          <p:cNvPicPr>
            <a:picLocks noChangeAspect="1"/>
          </p:cNvPicPr>
          <p:nvPr/>
        </p:nvPicPr>
        <p:blipFill>
          <a:blip r:embed="rId3"/>
          <a:stretch>
            <a:fillRect/>
          </a:stretch>
        </p:blipFill>
        <p:spPr>
          <a:xfrm>
            <a:off x="548640" y="1261872"/>
            <a:ext cx="11094415" cy="37059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batch: the reports chosen, the dates and the output (part 2 of 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report runner of one report: its parameters (dates, company, the criteria of the report), saved variants, the result on screen with a filter on every column, the print options and the export to Excel, PDF, ODS, CSV or XML.</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Disbursement Approver, Marketing Processor (AO), Marketing Reviewer, Marketing Approver, Human Resources Approver, ACSL Processor, ACSL Team Leader, ACSL Head (approver),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 › Report</a:t>
                      </a:r>
                    </a:p>
                    <a:p>
                      <a:r>
                        <a:rPr sz="950" b="0">
                          <a:solidFill>
                            <a:srgbClr val="4B4B4B"/>
                          </a:solidFill>
                          <a:latin typeface="Arial"/>
                        </a:rPr>
                        <a:t>Report Centre › a report</a:t>
                      </a:r>
                    </a:p>
                    <a:p>
                      <a:r>
                        <a:rPr sz="950" b="0">
                          <a:solidFill>
                            <a:srgbClr val="4B4B4B"/>
                          </a:solidFill>
                          <a:latin typeface="Arial"/>
                        </a:rPr>
                        <a:t>Report Pack, Disbursement Reports › a report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FR-AC-020, FR-AC-021, FR-AC-023, FR-AC-051, FR-AS-005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report is shown, filtered, printed or exported.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Report parameters</a:t>
                      </a:r>
                    </a:p>
                  </a:txBody>
                  <a:tcPr marL="54864" marR="54864" marT="27432" marB="27432">
                    <a:solidFill>
                      <a:srgbClr val="FFFFFF"/>
                    </a:solidFill>
                  </a:tcPr>
                </a:tc>
                <a:tc>
                  <a:txBody>
                    <a:bodyPr/>
                    <a:lstStyle/>
                    <a:p>
                      <a:r>
                        <a:rPr sz="850" b="0">
                          <a:solidFill>
                            <a:srgbClr val="4B4B4B"/>
                          </a:solidFill>
                          <a:latin typeface="Arial"/>
                        </a:rPr>
                        <a:t>Date, drop-down, text</a:t>
                      </a:r>
                    </a:p>
                  </a:txBody>
                  <a:tcPr marL="54864" marR="54864" marT="27432" marB="27432">
                    <a:solidFill>
                      <a:srgbClr val="FFFFFF"/>
                    </a:solidFill>
                  </a:tcPr>
                </a:tc>
                <a:tc>
                  <a:txBody>
                    <a:bodyPr/>
                    <a:lstStyle/>
                    <a:p>
                      <a:r>
                        <a:rPr sz="850" b="0">
                          <a:solidFill>
                            <a:srgbClr val="4B4B4B"/>
                          </a:solidFill>
                          <a:latin typeface="Arial"/>
                        </a:rPr>
                        <a:t>The parameters of the report: dates, company, branch, account, party, status</a:t>
                      </a:r>
                    </a:p>
                  </a:txBody>
                  <a:tcPr marL="54864" marR="54864" marT="27432" marB="27432">
                    <a:solidFill>
                      <a:srgbClr val="FFFFFF"/>
                    </a:solidFill>
                  </a:tcPr>
                </a:tc>
                <a:tc>
                  <a:txBody>
                    <a:bodyPr/>
                    <a:lstStyle/>
                    <a:p>
                      <a:r>
                        <a:rPr sz="850" b="0">
                          <a:solidFill>
                            <a:srgbClr val="4B4B4B"/>
                          </a:solidFill>
                          <a:latin typeface="Arial"/>
                        </a:rPr>
                        <a:t>Cond.: report</a:t>
                      </a:r>
                    </a:p>
                  </a:txBody>
                  <a:tcPr marL="54864" marR="54864" marT="27432" marB="27432">
                    <a:solidFill>
                      <a:srgbClr val="FFFFFF"/>
                    </a:solidFill>
                  </a:tcPr>
                </a:tc>
                <a:tc>
                  <a:txBody>
                    <a:bodyPr/>
                    <a:lstStyle/>
                    <a:p>
                      <a:r>
                        <a:rPr sz="850" b="0">
                          <a:solidFill>
                            <a:srgbClr val="4B4B4B"/>
                          </a:solidFill>
                          <a:latin typeface="Arial"/>
                        </a:rPr>
                        <a:t>Mandatory parameters filled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Saved Variant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variants saved by the user or shared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Report columns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columns of the report with a Filter field on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Export</a:t>
                      </a:r>
                    </a:p>
                  </a:txBody>
                  <a:tcPr marL="54864" marR="54864" marT="27432" marB="27432">
                    <a:solidFill>
                      <a:srgbClr val="E5F5FF"/>
                    </a:solidFill>
                  </a:tcPr>
                </a:tc>
                <a:tc>
                  <a:txBody>
                    <a:bodyPr/>
                    <a:lstStyle/>
                    <a:p>
                      <a:r>
                        <a:rPr sz="850" b="0">
                          <a:solidFill>
                            <a:srgbClr val="4B4B4B"/>
                          </a:solidFill>
                          <a:latin typeface="Arial"/>
                        </a:rPr>
                        <a:t>Paper / Orientation / Width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A4, Letter or Legal; Automatic (by width), Portrait or Landscape; Fit to page width or Natural column widths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Save Report Variant dialog</a:t>
                      </a:r>
                    </a:p>
                  </a:txBody>
                  <a:tcPr marL="54864" marR="54864" marT="27432" marB="27432">
                    <a:solidFill>
                      <a:srgbClr val="FFFFFF"/>
                    </a:solidFill>
                  </a:tcPr>
                </a:tc>
                <a:tc>
                  <a:txBody>
                    <a:bodyPr/>
                    <a:lstStyle/>
                    <a:p>
                      <a:r>
                        <a:rPr sz="850" b="0">
                          <a:solidFill>
                            <a:srgbClr val="4B4B4B"/>
                          </a:solidFill>
                          <a:latin typeface="Arial"/>
                        </a:rPr>
                        <a:t>Variant Name / Share with every user who may run this report</a:t>
                      </a:r>
                    </a:p>
                  </a:txBody>
                  <a:tcPr marL="54864" marR="54864" marT="27432" marB="27432">
                    <a:solidFill>
                      <a:srgbClr val="FFFFFF"/>
                    </a:solidFill>
                  </a:tcPr>
                </a:tc>
                <a:tc>
                  <a:txBody>
                    <a:bodyPr/>
                    <a:lstStyle/>
                    <a:p>
                      <a:r>
                        <a:rPr sz="850" b="0">
                          <a:solidFill>
                            <a:srgbClr val="4B4B4B"/>
                          </a:solidFill>
                          <a:latin typeface="Arial"/>
                        </a:rPr>
                        <a:t>Text, check box</a:t>
                      </a:r>
                    </a:p>
                  </a:txBody>
                  <a:tcPr marL="54864" marR="54864" marT="27432" marB="27432">
                    <a:solidFill>
                      <a:srgbClr val="FFFFFF"/>
                    </a:solidFill>
                  </a:tcPr>
                </a:tc>
                <a:tc>
                  <a:txBody>
                    <a:bodyPr/>
                    <a:lstStyle/>
                    <a:p>
                      <a:r>
                        <a:rPr sz="850" b="0">
                          <a:solidFill>
                            <a:srgbClr val="4B4B4B"/>
                          </a:solidFill>
                          <a:latin typeface="Arial"/>
                        </a:rPr>
                        <a:t>Name of the variant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Report users</a:t>
                      </a:r>
                    </a:p>
                  </a:txBody>
                  <a:tcPr marL="54864" marR="54864" marT="27432" marB="27432">
                    <a:solidFill>
                      <a:srgbClr val="FFFFFF"/>
                    </a:solidFill>
                  </a:tcPr>
                </a:tc>
                <a:tc>
                  <a:txBody>
                    <a:bodyPr/>
                    <a:lstStyle/>
                    <a:p>
                      <a:r>
                        <a:rPr sz="850" b="0">
                          <a:solidFill>
                            <a:srgbClr val="4B4B4B"/>
                          </a:solidFill>
                          <a:latin typeface="Arial"/>
                        </a:rPr>
                        <a:t>Mandatory parameters filled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 result</a:t>
                      </a:r>
                    </a:p>
                  </a:txBody>
                  <a:tcPr marL="54864" marR="54864" marT="27432" marB="27432">
                    <a:solidFill>
                      <a:srgbClr val="E5F5FF"/>
                    </a:solidFill>
                  </a:tcPr>
                </a:tc>
                <a:tc>
                  <a:txBody>
                    <a:bodyPr/>
                    <a:lstStyle/>
                    <a:p>
                      <a:r>
                        <a:rPr sz="850" b="0">
                          <a:solidFill>
                            <a:srgbClr val="4B4B4B"/>
                          </a:solidFill>
                          <a:latin typeface="Arial"/>
                        </a:rPr>
                        <a:t>Prints the result with the print options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Report users (export permission of the category)</a:t>
                      </a:r>
                    </a:p>
                  </a:txBody>
                  <a:tcPr marL="54864" marR="54864" marT="27432" marB="27432">
                    <a:solidFill>
                      <a:srgbClr val="FFFFFF"/>
                    </a:solidFill>
                  </a:tcPr>
                </a:tc>
                <a:tc>
                  <a:txBody>
                    <a:bodyPr/>
                    <a:lstStyle/>
                    <a:p>
                      <a:r>
                        <a:rPr sz="850" b="0">
                          <a:solidFill>
                            <a:srgbClr val="4B4B4B"/>
                          </a:solidFill>
                          <a:latin typeface="Arial"/>
                        </a:rPr>
                        <a:t>A result</a:t>
                      </a:r>
                    </a:p>
                  </a:txBody>
                  <a:tcPr marL="54864" marR="54864" marT="27432" marB="27432">
                    <a:solidFill>
                      <a:srgbClr val="FFFFFF"/>
                    </a:solidFill>
                  </a:tcPr>
                </a:tc>
                <a:tc>
                  <a:txBody>
                    <a:bodyPr/>
                    <a:lstStyle/>
                    <a:p>
                      <a:r>
                        <a:rPr sz="850" b="0">
                          <a:solidFill>
                            <a:srgbClr val="4B4B4B"/>
                          </a:solidFill>
                          <a:latin typeface="Arial"/>
                        </a:rPr>
                        <a:t>Exports the report in the format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or deletes the parameters as a variant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column of a report can be filtered on screen; the export takes the filtered rows (FR-AC-021).</a:t>
                      </a:r>
                    </a:p>
                  </a:txBody>
                  <a:tcPr marL="54864" marR="54864" marT="27432" marB="27432">
                    <a:solidFill>
                      <a:srgbClr val="FFFFFF"/>
                    </a:solidFill>
                  </a:tcPr>
                </a:tc>
              </a:tr>
              <a:tr h="243840">
                <a:tc>
                  <a:txBody>
                    <a:bodyPr/>
                    <a:lstStyle/>
                    <a:p>
                      <a:r>
                        <a:rPr sz="1000" b="0">
                          <a:solidFill>
                            <a:srgbClr val="4B4B4B"/>
                          </a:solidFill>
                          <a:latin typeface="Arial"/>
                        </a:rPr>
                        <a:t>PDF prints take the paper, orientation and width chosen (FR-AC-023).</a:t>
                      </a:r>
                    </a:p>
                  </a:txBody>
                  <a:tcPr marL="54864" marR="54864" marT="27432" marB="27432">
                    <a:solidFill>
                      <a:srgbClr val="E5F5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8-01-params.png"/>
          <p:cNvPicPr>
            <a:picLocks noChangeAspect="1"/>
          </p:cNvPicPr>
          <p:nvPr/>
        </p:nvPicPr>
        <p:blipFill>
          <a:blip r:embed="rId3"/>
          <a:stretch>
            <a:fillRect/>
          </a:stretch>
        </p:blipFill>
        <p:spPr>
          <a:xfrm>
            <a:off x="1486412" y="1261872"/>
            <a:ext cx="921887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report before it is run: its parameters, the print options and the export formats</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6.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1 of 5)</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2 of 5)</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3 of 5)</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4 of 5)</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10.png"/>
          <p:cNvPicPr>
            <a:picLocks noChangeAspect="1"/>
          </p:cNvPicPr>
          <p:nvPr/>
        </p:nvPicPr>
        <p:blipFill>
          <a:blip r:embed="rId3"/>
          <a:stretch>
            <a:fillRect/>
          </a:stretch>
        </p:blipFill>
        <p:spPr>
          <a:xfrm>
            <a:off x="548640" y="1261872"/>
            <a:ext cx="11094415" cy="2677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5 of 5)</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Comptrollership report pack of Appendix A by group (end of day, GARD, subsidiaries, schedules and aging, Mancom, service fee, government): each report opens in the runner and exports to the formats it offers; the counts of the pack and of the Word documents requested.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Report Pack</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FR-AC-060, FR-AC-062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runs the reports of the pack from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Report Groups / Reports / Account Schedules / Word Documents Requested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Counts of the pack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Group</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Title of the report (a link when available) with its code and source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Group</a:t>
                      </a:r>
                    </a:p>
                  </a:txBody>
                  <a:tcPr marL="54864" marR="54864" marT="27432" marB="27432">
                    <a:solidFill>
                      <a:srgbClr val="FFFFFF"/>
                    </a:solidFill>
                  </a:tcPr>
                </a:tc>
                <a:tc>
                  <a:txBody>
                    <a:bodyPr/>
                    <a:lstStyle/>
                    <a:p>
                      <a:r>
                        <a:rPr sz="850" b="0">
                          <a:solidFill>
                            <a:srgbClr val="4B4B4B"/>
                          </a:solidFill>
                          <a:latin typeface="Arial"/>
                        </a:rPr>
                        <a:t>Formats / Export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formats offered (Excel, PDF, ODS, CSV, Word requested) and the export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Report title</a:t>
                      </a:r>
                    </a:p>
                  </a:txBody>
                  <a:tcPr marL="54864" marR="54864" marT="27432" marB="27432">
                    <a:solidFill>
                      <a:srgbClr val="FFFFFF"/>
                    </a:solidFill>
                  </a:tcPr>
                </a:tc>
                <a:tc>
                  <a:txBody>
                    <a:bodyPr/>
                    <a:lstStyle/>
                    <a:p>
                      <a:r>
                        <a:rPr sz="850" b="0">
                          <a:solidFill>
                            <a:srgbClr val="4B4B4B"/>
                          </a:solidFill>
                          <a:latin typeface="Arial"/>
                        </a:rPr>
                        <a:t>FRBS users (FRBS report view)</a:t>
                      </a:r>
                    </a:p>
                  </a:txBody>
                  <a:tcPr marL="54864" marR="54864" marT="27432" marB="27432">
                    <a:solidFill>
                      <a:srgbClr val="FFFFFF"/>
                    </a:solidFill>
                  </a:tcPr>
                </a:tc>
                <a:tc>
                  <a:txBody>
                    <a:bodyPr/>
                    <a:lstStyle/>
                    <a:p>
                      <a:r>
                        <a:rPr sz="850" b="0">
                          <a:solidFill>
                            <a:srgbClr val="4B4B4B"/>
                          </a:solidFill>
                          <a:latin typeface="Arial"/>
                        </a:rPr>
                        <a:t>Available</a:t>
                      </a:r>
                    </a:p>
                  </a:txBody>
                  <a:tcPr marL="54864" marR="54864" marT="27432" marB="27432">
                    <a:solidFill>
                      <a:srgbClr val="FFFFFF"/>
                    </a:solidFill>
                  </a:tcPr>
                </a:tc>
                <a:tc>
                  <a:txBody>
                    <a:bodyPr/>
                    <a:lstStyle/>
                    <a:p>
                      <a:r>
                        <a:rPr sz="850" b="0">
                          <a:solidFill>
                            <a:srgbClr val="4B4B4B"/>
                          </a:solidFill>
                          <a:latin typeface="Arial"/>
                        </a:rPr>
                        <a:t>Opens the report or the account schedule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Export format</a:t>
                      </a:r>
                    </a:p>
                  </a:txBody>
                  <a:tcPr marL="54864" marR="54864" marT="27432" marB="27432">
                    <a:solidFill>
                      <a:srgbClr val="E5F5FF"/>
                    </a:solidFill>
                  </a:tcPr>
                </a:tc>
                <a:tc>
                  <a:txBody>
                    <a:bodyPr/>
                    <a:lstStyle/>
                    <a:p>
                      <a:r>
                        <a:rPr sz="850" b="0">
                          <a:solidFill>
                            <a:srgbClr val="4B4B4B"/>
                          </a:solidFill>
                          <a:latin typeface="Arial"/>
                        </a:rPr>
                        <a:t>FRBS users (FRBS report export)</a:t>
                      </a:r>
                    </a:p>
                  </a:txBody>
                  <a:tcPr marL="54864" marR="54864" marT="27432" marB="27432">
                    <a:solidFill>
                      <a:srgbClr val="E5F5FF"/>
                    </a:solidFill>
                  </a:tcPr>
                </a:tc>
                <a:tc>
                  <a:txBody>
                    <a:bodyPr/>
                    <a:lstStyle/>
                    <a:p>
                      <a:r>
                        <a:rPr sz="850" b="0">
                          <a:solidFill>
                            <a:srgbClr val="4B4B4B"/>
                          </a:solidFill>
                          <a:latin typeface="Arial"/>
                        </a:rPr>
                        <a:t>Available</a:t>
                      </a:r>
                    </a:p>
                  </a:txBody>
                  <a:tcPr marL="54864" marR="54864" marT="27432" marB="27432">
                    <a:solidFill>
                      <a:srgbClr val="E5F5FF"/>
                    </a:solidFill>
                  </a:tcPr>
                </a:tc>
                <a:tc>
                  <a:txBody>
                    <a:bodyPr/>
                    <a:lstStyle/>
                    <a:p>
                      <a:r>
                        <a:rPr sz="850" b="0">
                          <a:solidFill>
                            <a:srgbClr val="4B4B4B"/>
                          </a:solidFill>
                          <a:latin typeface="Arial"/>
                        </a:rPr>
                        <a:t>Exports the report in the format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Reports whose layout BDOI has not confirmed carry the draft layout until confirmed (FR-AC-060).</a:t>
                      </a:r>
                    </a:p>
                  </a:txBody>
                  <a:tcPr marL="54864" marR="54864" marT="27432" marB="27432">
                    <a:solidFill>
                      <a:srgbClr val="FFFF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1 of 4)</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2 of 4)</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3.png"/>
          <p:cNvPicPr>
            <a:picLocks noChangeAspect="1"/>
          </p:cNvPicPr>
          <p:nvPr/>
        </p:nvPicPr>
        <p:blipFill>
          <a:blip r:embed="rId3"/>
          <a:stretch>
            <a:fillRect/>
          </a:stretch>
        </p:blipFill>
        <p:spPr>
          <a:xfrm>
            <a:off x="548640" y="1261872"/>
            <a:ext cx="11094415" cy="46242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3 of 4)</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4.png"/>
          <p:cNvPicPr>
            <a:picLocks noChangeAspect="1"/>
          </p:cNvPicPr>
          <p:nvPr/>
        </p:nvPicPr>
        <p:blipFill>
          <a:blip r:embed="rId3"/>
          <a:stretch>
            <a:fillRect/>
          </a:stretch>
        </p:blipFill>
        <p:spPr>
          <a:xfrm>
            <a:off x="548640" y="1261872"/>
            <a:ext cx="11094415" cy="44616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4 of 4)</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GARD, subsidiaries and ageing schedules of the report pack, run from their definitions: run a schedule for a date or a period with its figures and the commentary per row; the definitions list with the family, accounts, figures and layout, which the GL Team Lead maintains.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Account Schedules</a:t>
                      </a:r>
                    </a:p>
                    <a:p>
                      <a:r>
                        <a:rPr sz="950" b="0">
                          <a:solidFill>
                            <a:srgbClr val="4B4B4B"/>
                          </a:solidFill>
                          <a:latin typeface="Arial"/>
                        </a:rPr>
                        <a:t>Report Pack › a schedule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schedules of the pack are run and explained.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Run Schedule / Definitions (n)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 a Schedule</a:t>
                      </a:r>
                    </a:p>
                  </a:txBody>
                  <a:tcPr marL="54864" marR="54864" marT="27432" marB="27432">
                    <a:solidFill>
                      <a:srgbClr val="E5F5FF"/>
                    </a:solidFill>
                  </a:tcPr>
                </a:tc>
                <a:tc>
                  <a:txBody>
                    <a:bodyPr/>
                    <a:lstStyle/>
                    <a:p>
                      <a:r>
                        <a:rPr sz="850" b="0">
                          <a:solidFill>
                            <a:srgbClr val="4B4B4B"/>
                          </a:solidFill>
                          <a:latin typeface="Arial"/>
                        </a:rPr>
                        <a:t>Schedule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schedules grouped by family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schedule</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a Schedule</a:t>
                      </a:r>
                    </a:p>
                  </a:txBody>
                  <a:tcPr marL="54864" marR="54864" marT="27432" marB="27432">
                    <a:solidFill>
                      <a:srgbClr val="FFFFFF"/>
                    </a:solidFill>
                  </a:tcPr>
                </a:tc>
                <a:tc>
                  <a:txBody>
                    <a:bodyPr/>
                    <a:lstStyle/>
                    <a:p>
                      <a:r>
                        <a:rPr sz="850" b="0">
                          <a:solidFill>
                            <a:srgbClr val="4B4B4B"/>
                          </a:solidFill>
                          <a:latin typeface="Arial"/>
                        </a:rPr>
                        <a:t>As Of / Period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Cond.: comparative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Schedule rows and figures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rows of the schedule with the figures in column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Commentary</a:t>
                      </a:r>
                    </a:p>
                  </a:txBody>
                  <a:tcPr marL="54864" marR="54864" marT="27432" marB="27432">
                    <a:solidFill>
                      <a:srgbClr val="FFFFFF"/>
                    </a:solidFill>
                  </a:tcPr>
                </a:tc>
                <a:tc>
                  <a:txBody>
                    <a:bodyPr/>
                    <a:lstStyle/>
                    <a:p>
                      <a:r>
                        <a:rPr sz="850" b="0">
                          <a:solidFill>
                            <a:srgbClr val="4B4B4B"/>
                          </a:solidFill>
                          <a:latin typeface="Arial"/>
                        </a:rPr>
                        <a:t>Row / Commentary</a:t>
                      </a:r>
                    </a:p>
                  </a:txBody>
                  <a:tcPr marL="54864" marR="54864" marT="27432" marB="27432">
                    <a:solidFill>
                      <a:srgbClr val="FFFFFF"/>
                    </a:solidFill>
                  </a:tcPr>
                </a:tc>
                <a:tc>
                  <a:txBody>
                    <a:bodyPr/>
                    <a:lstStyle/>
                    <a:p>
                      <a:r>
                        <a:rPr sz="850" b="0">
                          <a:solidFill>
                            <a:srgbClr val="4B4B4B"/>
                          </a:solidFill>
                          <a:latin typeface="Arial"/>
                        </a:rPr>
                        <a:t>Column, text</a:t>
                      </a:r>
                    </a:p>
                  </a:txBody>
                  <a:tcPr marL="54864" marR="54864" marT="27432" marB="27432">
                    <a:solidFill>
                      <a:srgbClr val="FFFFFF"/>
                    </a:solidFill>
                  </a:tcPr>
                </a:tc>
                <a:tc>
                  <a:txBody>
                    <a:bodyPr/>
                    <a:lstStyle/>
                    <a:p>
                      <a:r>
                        <a:rPr sz="850" b="0">
                          <a:solidFill>
                            <a:srgbClr val="4B4B4B"/>
                          </a:solidFill>
                          <a:latin typeface="Arial"/>
                        </a:rPr>
                        <a:t>The comment of each row for the period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Definitions</a:t>
                      </a:r>
                    </a:p>
                  </a:txBody>
                  <a:tcPr marL="54864" marR="54864" marT="27432" marB="27432">
                    <a:solidFill>
                      <a:srgbClr val="E5F5FF"/>
                    </a:solidFill>
                  </a:tcPr>
                </a:tc>
                <a:tc>
                  <a:txBody>
                    <a:bodyPr/>
                    <a:lstStyle/>
                    <a:p>
                      <a:r>
                        <a:rPr sz="850" b="0">
                          <a:solidFill>
                            <a:srgbClr val="4B4B4B"/>
                          </a:solidFill>
                          <a:latin typeface="Arial"/>
                        </a:rPr>
                        <a:t>Schedule / Family / Accounts / Figures / Layout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definition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Definition form</a:t>
                      </a:r>
                    </a:p>
                  </a:txBody>
                  <a:tcPr marL="54864" marR="54864" marT="27432" marB="27432">
                    <a:solidFill>
                      <a:srgbClr val="FFFFFF"/>
                    </a:solidFill>
                  </a:tcPr>
                </a:tc>
                <a:tc>
                  <a:txBody>
                    <a:bodyPr/>
                    <a:lstStyle/>
                    <a:p>
                      <a:r>
                        <a:rPr sz="850" b="0">
                          <a:solidFill>
                            <a:srgbClr val="4B4B4B"/>
                          </a:solidFill>
                          <a:latin typeface="Arial"/>
                        </a:rPr>
                        <a:t>Code / Title / Family / Source / Accounts By / Accounts / Rows / Currency / Positive Side / Basis / Ageing Buckets / Comparative / Layout</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The definition of the schedule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Definition form</a:t>
                      </a:r>
                    </a:p>
                  </a:txBody>
                  <a:tcPr marL="54864" marR="54864" marT="27432" marB="27432">
                    <a:solidFill>
                      <a:srgbClr val="E5F5FF"/>
                    </a:solidFill>
                  </a:tcPr>
                </a:tc>
                <a:tc>
                  <a:txBody>
                    <a:bodyPr/>
                    <a:lstStyle/>
                    <a:p>
                      <a:r>
                        <a:rPr sz="850" b="0">
                          <a:solidFill>
                            <a:srgbClr val="4B4B4B"/>
                          </a:solidFill>
                          <a:latin typeface="Arial"/>
                        </a:rPr>
                        <a:t>Figures, in column order</a:t>
                      </a:r>
                    </a:p>
                  </a:txBody>
                  <a:tcPr marL="54864" marR="54864" marT="27432" marB="27432">
                    <a:solidFill>
                      <a:srgbClr val="E5F5FF"/>
                    </a:solidFill>
                  </a:tcPr>
                </a:tc>
                <a:tc>
                  <a:txBody>
                    <a:bodyPr/>
                    <a:lstStyle/>
                    <a:p>
                      <a:r>
                        <a:rPr sz="850" b="0">
                          <a:solidFill>
                            <a:srgbClr val="4B4B4B"/>
                          </a:solidFill>
                          <a:latin typeface="Arial"/>
                        </a:rPr>
                        <a:t>Rows</a:t>
                      </a:r>
                    </a:p>
                  </a:txBody>
                  <a:tcPr marL="54864" marR="54864" marT="27432" marB="27432">
                    <a:solidFill>
                      <a:srgbClr val="E5F5FF"/>
                    </a:solidFill>
                  </a:tcPr>
                </a:tc>
                <a:tc>
                  <a:txBody>
                    <a:bodyPr/>
                    <a:lstStyle/>
                    <a:p>
                      <a:r>
                        <a:rPr sz="850" b="0">
                          <a:solidFill>
                            <a:srgbClr val="4B4B4B"/>
                          </a:solidFill>
                          <a:latin typeface="Arial"/>
                        </a:rPr>
                        <a:t>The measure and the heading of each figure column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figure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Schedule</a:t>
                      </a:r>
                    </a:p>
                  </a:txBody>
                  <a:tcPr marL="54864" marR="54864" marT="27432" marB="27432">
                    <a:solidFill>
                      <a:srgbClr val="FFFFFF"/>
                    </a:solidFill>
                  </a:tcPr>
                </a:tc>
                <a:tc>
                  <a:txBody>
                    <a:bodyPr/>
                    <a:lstStyle/>
                    <a:p>
                      <a:r>
                        <a:rPr sz="850" b="0">
                          <a:solidFill>
                            <a:srgbClr val="4B4B4B"/>
                          </a:solidFill>
                          <a:latin typeface="Arial"/>
                        </a:rPr>
                        <a:t>FRBS users</a:t>
                      </a:r>
                    </a:p>
                  </a:txBody>
                  <a:tcPr marL="54864" marR="54864" marT="27432" marB="27432">
                    <a:solidFill>
                      <a:srgbClr val="FFFFFF"/>
                    </a:solidFill>
                  </a:tcPr>
                </a:tc>
                <a:tc>
                  <a:txBody>
                    <a:bodyPr/>
                    <a:lstStyle/>
                    <a:p>
                      <a:r>
                        <a:rPr sz="850" b="0">
                          <a:solidFill>
                            <a:srgbClr val="4B4B4B"/>
                          </a:solidFill>
                          <a:latin typeface="Arial"/>
                        </a:rPr>
                        <a:t>Schedule and date chosen</a:t>
                      </a:r>
                    </a:p>
                  </a:txBody>
                  <a:tcPr marL="54864" marR="54864" marT="27432" marB="27432">
                    <a:solidFill>
                      <a:srgbClr val="FFFFFF"/>
                    </a:solidFill>
                  </a:tcPr>
                </a:tc>
                <a:tc>
                  <a:txBody>
                    <a:bodyPr/>
                    <a:lstStyle/>
                    <a:p>
                      <a:r>
                        <a:rPr sz="850" b="0">
                          <a:solidFill>
                            <a:srgbClr val="4B4B4B"/>
                          </a:solidFill>
                          <a:latin typeface="Arial"/>
                        </a:rPr>
                        <a:t>Runs the schedule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Comment</a:t>
                      </a:r>
                    </a:p>
                  </a:txBody>
                  <a:tcPr marL="54864" marR="54864" marT="27432" marB="27432">
                    <a:solidFill>
                      <a:srgbClr val="E5F5FF"/>
                    </a:solidFill>
                  </a:tcPr>
                </a:tc>
                <a:tc>
                  <a:txBody>
                    <a:bodyPr/>
                    <a:lstStyle/>
                    <a:p>
                      <a:r>
                        <a:rPr sz="850" b="0">
                          <a:solidFill>
                            <a:srgbClr val="4B4B4B"/>
                          </a:solidFill>
                          <a:latin typeface="Arial"/>
                        </a:rPr>
                        <a:t>FRBS users</a:t>
                      </a:r>
                    </a:p>
                  </a:txBody>
                  <a:tcPr marL="54864" marR="54864" marT="27432" marB="27432">
                    <a:solidFill>
                      <a:srgbClr val="E5F5FF"/>
                    </a:solidFill>
                  </a:tcPr>
                </a:tc>
                <a:tc>
                  <a:txBody>
                    <a:bodyPr/>
                    <a:lstStyle/>
                    <a:p>
                      <a:r>
                        <a:rPr sz="850" b="0">
                          <a:solidFill>
                            <a:srgbClr val="4B4B4B"/>
                          </a:solidFill>
                          <a:latin typeface="Arial"/>
                        </a:rPr>
                        <a:t>A comment typed</a:t>
                      </a:r>
                    </a:p>
                  </a:txBody>
                  <a:tcPr marL="54864" marR="54864" marT="27432" marB="27432">
                    <a:solidFill>
                      <a:srgbClr val="E5F5FF"/>
                    </a:solidFill>
                  </a:tcPr>
                </a:tc>
                <a:tc>
                  <a:txBody>
                    <a:bodyPr/>
                    <a:lstStyle/>
                    <a:p>
                      <a:r>
                        <a:rPr sz="850" b="0">
                          <a:solidFill>
                            <a:srgbClr val="4B4B4B"/>
                          </a:solidFill>
                          <a:latin typeface="Arial"/>
                        </a:rPr>
                        <a:t>Saves the commentary of the row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New Schedule / [Row]</a:t>
                      </a:r>
                    </a:p>
                  </a:txBody>
                  <a:tcPr marL="54864" marR="54864" marT="27432" marB="27432">
                    <a:solidFill>
                      <a:srgbClr val="FFFFFF"/>
                    </a:solidFill>
                  </a:tcPr>
                </a:tc>
                <a:tc>
                  <a:txBody>
                    <a:bodyPr/>
                    <a:lstStyle/>
                    <a:p>
                      <a:r>
                        <a:rPr sz="850" b="0">
                          <a:solidFill>
                            <a:srgbClr val="4B4B4B"/>
                          </a:solidFill>
                          <a:latin typeface="Arial"/>
                        </a:rPr>
                        <a:t>GL Team Lead (master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 definition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schedule is computed from its definition on the posted ledger; its layout is configuration (FR-AC-061).</a:t>
                      </a:r>
                    </a:p>
                  </a:txBody>
                  <a:tcPr marL="54864" marR="54864" marT="27432" marB="27432">
                    <a:solidFill>
                      <a:srgbClr val="FFFF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5.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1 of 3)</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2 of 3)</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7.png"/>
          <p:cNvPicPr>
            <a:picLocks noChangeAspect="1"/>
          </p:cNvPicPr>
          <p:nvPr/>
        </p:nvPicPr>
        <p:blipFill>
          <a:blip r:embed="rId3"/>
          <a:stretch>
            <a:fillRect/>
          </a:stretch>
        </p:blipFill>
        <p:spPr>
          <a:xfrm>
            <a:off x="548640" y="1261872"/>
            <a:ext cx="11094415" cy="105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3 of 3)</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8.png"/>
          <p:cNvPicPr>
            <a:picLocks noChangeAspect="1"/>
          </p:cNvPicPr>
          <p:nvPr/>
        </p:nvPicPr>
        <p:blipFill>
          <a:blip r:embed="rId3"/>
          <a:stretch>
            <a:fillRect/>
          </a:stretch>
        </p:blipFill>
        <p:spPr>
          <a:xfrm>
            <a:off x="548640" y="1261872"/>
            <a:ext cx="11094414" cy="44683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1 of 4)</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9.png"/>
          <p:cNvPicPr>
            <a:picLocks noChangeAspect="1"/>
          </p:cNvPicPr>
          <p:nvPr/>
        </p:nvPicPr>
        <p:blipFill>
          <a:blip r:embed="rId3"/>
          <a:stretch>
            <a:fillRect/>
          </a:stretch>
        </p:blipFill>
        <p:spPr>
          <a:xfrm>
            <a:off x="548640" y="1261872"/>
            <a:ext cx="11094414" cy="47359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2 of 4)</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0.png"/>
          <p:cNvPicPr>
            <a:picLocks noChangeAspect="1"/>
          </p:cNvPicPr>
          <p:nvPr/>
        </p:nvPicPr>
        <p:blipFill>
          <a:blip r:embed="rId3"/>
          <a:stretch>
            <a:fillRect/>
          </a:stretch>
        </p:blipFill>
        <p:spPr>
          <a:xfrm>
            <a:off x="548640" y="1261872"/>
            <a:ext cx="11094414" cy="45745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3 of 4)</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1.png"/>
          <p:cNvPicPr>
            <a:picLocks noChangeAspect="1"/>
          </p:cNvPicPr>
          <p:nvPr/>
        </p:nvPicPr>
        <p:blipFill>
          <a:blip r:embed="rId3"/>
          <a:stretch>
            <a:fillRect/>
          </a:stretch>
        </p:blipFill>
        <p:spPr>
          <a:xfrm>
            <a:off x="548640" y="1261872"/>
            <a:ext cx="11094414" cy="27013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4 of 4)</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service-fee runs: the referrers' share of the commission fully paid in a period, by status tab (Computed, For Approval, Sent for Payment, Released, Liquidated, Cancelled); Compute Service Fee computes a new run for a period of full payment.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Runs</a:t>
                      </a:r>
                    </a:p>
                    <a:p>
                      <a:r>
                        <a:rPr sz="950" b="0">
                          <a:solidFill>
                            <a:srgbClr val="4B4B4B"/>
                          </a:solidFill>
                          <a:latin typeface="Arial"/>
                        </a:rPr>
                        <a:t>Service Fee Rates › the runs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service fee of the month is computed.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Computed / For Approval / Sent for Payment / Released / Liquidated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Counts per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Run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Run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 Fully Paid / Invoices / Service Fee / Approved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Run number; the period of full payment on two lines; count; amount;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Compute Service Fee dialog</a:t>
                      </a:r>
                    </a:p>
                  </a:txBody>
                  <a:tcPr marL="54864" marR="54864" marT="27432" marB="27432">
                    <a:solidFill>
                      <a:srgbClr val="E5F5FF"/>
                    </a:solidFill>
                  </a:tcPr>
                </a:tc>
                <a:tc>
                  <a:txBody>
                    <a:bodyPr/>
                    <a:lstStyle/>
                    <a:p>
                      <a:r>
                        <a:rPr sz="850" b="0">
                          <a:solidFill>
                            <a:srgbClr val="4B4B4B"/>
                          </a:solidFill>
                          <a:latin typeface="Arial"/>
                        </a:rPr>
                        <a:t>Fully Paid From / Fully Paid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Compute Service Fee</a:t>
                      </a:r>
                    </a:p>
                  </a:txBody>
                  <a:tcPr marL="54864" marR="54864" marT="27432" marB="27432">
                    <a:solidFill>
                      <a:srgbClr val="FFFFFF"/>
                    </a:solidFill>
                  </a:tcPr>
                </a:tc>
                <a:tc>
                  <a:txBody>
                    <a:bodyPr/>
                    <a:lstStyle/>
                    <a:p>
                      <a:r>
                        <a:rPr sz="850" b="0">
                          <a:solidFill>
                            <a:srgbClr val="4B4B4B"/>
                          </a:solidFill>
                          <a:latin typeface="Arial"/>
                        </a:rPr>
                        <a:t>GL Officer, GL Team Lead (service fee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Computes the run of the invoices fully paid in the period</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FRBS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service fee is the rate of the segment applied to the commission fully paid in the period, net of withholding tax when the rate says so (FR-AC-052).</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1-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Runs: the runs with their period, invoices, service fee, approver and status</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1-02-compute.png"/>
          <p:cNvPicPr>
            <a:picLocks noChangeAspect="1"/>
          </p:cNvPicPr>
          <p:nvPr/>
        </p:nvPicPr>
        <p:blipFill>
          <a:blip r:embed="rId3"/>
          <a:stretch>
            <a:fillRect/>
          </a:stretch>
        </p:blipFill>
        <p:spPr>
          <a:xfrm>
            <a:off x="548640" y="1261872"/>
            <a:ext cx="11094415" cy="42320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Compute Service Fee: the period of full payment</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service-fee run: the invoices, the service fee and who computed and approved it; the lines per recipient with the base, rate, service fee, the payout to Disbursement and the release and liquidation tags; the invoices of the run. The preparer submits it, another user approves it and sends each payout to Disbursement; the liquidation report is recorded per line.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Runs › Service Fee Run</a:t>
                      </a:r>
                    </a:p>
                    <a:p>
                      <a:r>
                        <a:rPr sz="950" b="0">
                          <a:solidFill>
                            <a:srgbClr val="4B4B4B"/>
                          </a:solidFill>
                          <a:latin typeface="Arial"/>
                        </a:rPr>
                        <a:t>Service Fee Runs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 FR-AC-053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service fee is approved, paid through Disbursement and tagged.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Run chip,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Run number; Computed, For Approval, Sent for Payment, Released, Liquidated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Invoices / Service Fee / Computed By / Approved By / Released / Liquidated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Count, amount, names, tag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Recipient / Invoices / Base / Rate / Service Fee / Payout / Released / Liquidated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recipient; the payout request and the voucher of Disbursement; the dates tagged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Invoices</a:t>
                      </a:r>
                    </a:p>
                  </a:txBody>
                  <a:tcPr marL="54864" marR="54864" marT="27432" marB="27432">
                    <a:solidFill>
                      <a:srgbClr val="E5F5FF"/>
                    </a:solidFill>
                  </a:tcPr>
                </a:tc>
                <a:tc>
                  <a:txBody>
                    <a:bodyPr/>
                    <a:lstStyle/>
                    <a:p>
                      <a:r>
                        <a:rPr sz="850" b="0">
                          <a:solidFill>
                            <a:srgbClr val="4B4B4B"/>
                          </a:solidFill>
                          <a:latin typeface="Arial"/>
                        </a:rPr>
                        <a:t>Invoice / Insurer / Segment / Fully Paid / Commission / Withholding Tax / Base / Service Fee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invoices of the run; insurer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Tag Released dialog</a:t>
                      </a:r>
                    </a:p>
                  </a:txBody>
                  <a:tcPr marL="54864" marR="54864" marT="27432" marB="27432">
                    <a:solidFill>
                      <a:srgbClr val="FFFFFF"/>
                    </a:solidFill>
                  </a:tcPr>
                </a:tc>
                <a:tc>
                  <a:txBody>
                    <a:bodyPr/>
                    <a:lstStyle/>
                    <a:p>
                      <a:r>
                        <a:rPr sz="850" b="0">
                          <a:solidFill>
                            <a:srgbClr val="4B4B4B"/>
                          </a:solidFill>
                          <a:latin typeface="Arial"/>
                        </a:rPr>
                        <a:t>Released On</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in the future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in the future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Tag Liquidated dialog</a:t>
                      </a:r>
                    </a:p>
                  </a:txBody>
                  <a:tcPr marL="54864" marR="54864" marT="27432" marB="27432">
                    <a:solidFill>
                      <a:srgbClr val="E5F5FF"/>
                    </a:solidFill>
                  </a:tcPr>
                </a:tc>
                <a:tc>
                  <a:txBody>
                    <a:bodyPr/>
                    <a:lstStyle/>
                    <a:p>
                      <a:r>
                        <a:rPr sz="850" b="0">
                          <a:solidFill>
                            <a:srgbClr val="4B4B4B"/>
                          </a:solidFill>
                          <a:latin typeface="Arial"/>
                        </a:rPr>
                        <a:t>Liquidated On / Liquidation Report / Remarks</a:t>
                      </a:r>
                    </a:p>
                  </a:txBody>
                  <a:tcPr marL="54864" marR="54864" marT="27432" marB="27432">
                    <a:solidFill>
                      <a:srgbClr val="E5F5FF"/>
                    </a:solidFill>
                  </a:tcPr>
                </a:tc>
                <a:tc>
                  <a:txBody>
                    <a:bodyPr/>
                    <a:lstStyle/>
                    <a:p>
                      <a:r>
                        <a:rPr sz="850" b="0">
                          <a:solidFill>
                            <a:srgbClr val="4B4B4B"/>
                          </a:solidFill>
                          <a:latin typeface="Arial"/>
                        </a:rPr>
                        <a:t>Date, file, text</a:t>
                      </a:r>
                    </a:p>
                  </a:txBody>
                  <a:tcPr marL="54864" marR="54864" marT="27432" marB="27432">
                    <a:solidFill>
                      <a:srgbClr val="E5F5FF"/>
                    </a:solidFill>
                  </a:tcPr>
                </a:tc>
                <a:tc>
                  <a:txBody>
                    <a:bodyPr/>
                    <a:lstStyle/>
                    <a:p>
                      <a:r>
                        <a:rPr sz="850" b="0">
                          <a:solidFill>
                            <a:srgbClr val="4B4B4B"/>
                          </a:solidFill>
                          <a:latin typeface="Arial"/>
                        </a:rPr>
                        <a:t>dd-MMM-yyyy; the liquidation report of the recipient</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Not before the release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Recompute</a:t>
                      </a:r>
                    </a:p>
                  </a:txBody>
                  <a:tcPr marL="54864" marR="54864" marT="27432" marB="27432">
                    <a:solidFill>
                      <a:srgbClr val="FFFFFF"/>
                    </a:solidFill>
                  </a:tcPr>
                </a:tc>
                <a:tc>
                  <a:txBody>
                    <a:bodyPr/>
                    <a:lstStyle/>
                    <a:p>
                      <a:r>
                        <a:rPr sz="850" b="0">
                          <a:solidFill>
                            <a:srgbClr val="4B4B4B"/>
                          </a:solidFill>
                          <a:latin typeface="Arial"/>
                        </a:rPr>
                        <a:t>GL Officer (service fee manage)</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Computes the run again</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Preparer (service fee manage)</a:t>
                      </a:r>
                    </a:p>
                  </a:txBody>
                  <a:tcPr marL="54864" marR="54864" marT="27432" marB="27432">
                    <a:solidFill>
                      <a:srgbClr val="E5F5FF"/>
                    </a:solidFill>
                  </a:tcPr>
                </a:tc>
                <a:tc>
                  <a:txBody>
                    <a:bodyPr/>
                    <a:lstStyle/>
                    <a:p>
                      <a:r>
                        <a:rPr sz="850" b="0">
                          <a:solidFill>
                            <a:srgbClr val="4B4B4B"/>
                          </a:solidFill>
                          <a:latin typeface="Arial"/>
                        </a:rPr>
                        <a:t>Computed</a:t>
                      </a:r>
                    </a:p>
                  </a:txBody>
                  <a:tcPr marL="54864" marR="54864" marT="27432" marB="27432">
                    <a:solidFill>
                      <a:srgbClr val="E5F5FF"/>
                    </a:solidFill>
                  </a:tcPr>
                </a:tc>
                <a:tc>
                  <a:txBody>
                    <a:bodyPr/>
                    <a:lstStyle/>
                    <a:p>
                      <a:r>
                        <a:rPr sz="850" b="0">
                          <a:solidFill>
                            <a:srgbClr val="4B4B4B"/>
                          </a:solidFill>
                          <a:latin typeface="Arial"/>
                        </a:rPr>
                        <a:t>Sends the run for approval with a comment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for Payment</a:t>
                      </a:r>
                    </a:p>
                  </a:txBody>
                  <a:tcPr marL="54864" marR="54864" marT="27432" marB="27432">
                    <a:solidFill>
                      <a:srgbClr val="FFFFFF"/>
                    </a:solidFill>
                  </a:tcPr>
                </a:tc>
                <a:tc>
                  <a:txBody>
                    <a:bodyPr/>
                    <a:lstStyle/>
                    <a:p>
                      <a:r>
                        <a:rPr sz="850" b="0">
                          <a:solidFill>
                            <a:srgbClr val="4B4B4B"/>
                          </a:solidFill>
                          <a:latin typeface="Arial"/>
                        </a:rPr>
                        <a:t>GL Team Lead (service fee approve), not the preparer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Accrues every line and sends each payout to Disbursement as a payment request</a:t>
                      </a:r>
                    </a:p>
                  </a:txBody>
                  <a:tcPr marL="54864" marR="54864" marT="27432" marB="27432">
                    <a:solidFill>
                      <a:srgbClr val="FFFFFF"/>
                    </a:solidFill>
                  </a:tcPr>
                </a:tc>
                <a:tc>
                  <a:txBody>
                    <a:bodyPr/>
                    <a:lstStyle/>
                    <a:p>
                      <a:r>
                        <a:rPr sz="850" b="0">
                          <a:solidFill>
                            <a:srgbClr val="4B4B4B"/>
                          </a:solidFill>
                          <a:latin typeface="Arial"/>
                        </a:rPr>
                        <a:t>Sent for Payment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Tag Released / Tag Liquidated / Send Again</a:t>
                      </a:r>
                    </a:p>
                  </a:txBody>
                  <a:tcPr marL="54864" marR="54864" marT="27432" marB="27432">
                    <a:solidFill>
                      <a:srgbClr val="E5F5FF"/>
                    </a:solidFill>
                  </a:tcPr>
                </a:tc>
                <a:tc>
                  <a:txBody>
                    <a:bodyPr/>
                    <a:lstStyle/>
                    <a:p>
                      <a:r>
                        <a:rPr sz="850" b="0">
                          <a:solidFill>
                            <a:srgbClr val="4B4B4B"/>
                          </a:solidFill>
                          <a:latin typeface="Arial"/>
                        </a:rPr>
                        <a:t>GL Officer, GL Team Lead (service fee tag)</a:t>
                      </a:r>
                    </a:p>
                  </a:txBody>
                  <a:tcPr marL="54864" marR="54864" marT="27432" marB="27432">
                    <a:solidFill>
                      <a:srgbClr val="E5F5FF"/>
                    </a:solidFill>
                  </a:tcPr>
                </a:tc>
                <a:tc>
                  <a:txBody>
                    <a:bodyPr/>
                    <a:lstStyle/>
                    <a:p>
                      <a:r>
                        <a:rPr sz="850" b="0">
                          <a:solidFill>
                            <a:srgbClr val="4B4B4B"/>
                          </a:solidFill>
                          <a:latin typeface="Arial"/>
                        </a:rPr>
                        <a:t>As the line allows</a:t>
                      </a:r>
                    </a:p>
                  </a:txBody>
                  <a:tcPr marL="54864" marR="54864" marT="27432" marB="27432">
                    <a:solidFill>
                      <a:srgbClr val="E5F5FF"/>
                    </a:solidFill>
                  </a:tcPr>
                </a:tc>
                <a:tc>
                  <a:txBody>
                    <a:bodyPr/>
                    <a:lstStyle/>
                    <a:p>
                      <a:r>
                        <a:rPr sz="850" b="0">
                          <a:solidFill>
                            <a:srgbClr val="4B4B4B"/>
                          </a:solidFill>
                          <a:latin typeface="Arial"/>
                        </a:rPr>
                        <a:t>Records the release or the liquidation of the line, or sends a payout again</a:t>
                      </a:r>
                    </a:p>
                  </a:txBody>
                  <a:tcPr marL="54864" marR="54864" marT="27432" marB="27432">
                    <a:solidFill>
                      <a:srgbClr val="E5F5FF"/>
                    </a:solidFill>
                  </a:tcPr>
                </a:tc>
                <a:tc>
                  <a:txBody>
                    <a:bodyPr/>
                    <a:lstStyle/>
                    <a:p>
                      <a:r>
                        <a:rPr sz="850" b="0">
                          <a:solidFill>
                            <a:srgbClr val="4B4B4B"/>
                          </a:solidFill>
                          <a:latin typeface="Arial"/>
                        </a:rPr>
                        <a:t>Released or Liquidated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run is approved by another user than its preparer (FR-AC-052).</a:t>
                      </a:r>
                    </a:p>
                  </a:txBody>
                  <a:tcPr marL="54864" marR="54864" marT="27432" marB="27432">
                    <a:solidFill>
                      <a:srgbClr val="FFFFFF"/>
                    </a:solidFill>
                  </a:tcPr>
                </a:tc>
              </a:tr>
              <a:tr h="396240">
                <a:tc>
                  <a:txBody>
                    <a:bodyPr/>
                    <a:lstStyle/>
                    <a:p>
                      <a:r>
                        <a:rPr sz="1000" b="0">
                          <a:solidFill>
                            <a:srgbClr val="4B4B4B"/>
                          </a:solidFill>
                          <a:latin typeface="Arial"/>
                        </a:rPr>
                        <a:t>On approval each line is accrued (service fee expense with its cost centre against service fee payable) and its payout becomes a payment request in Disbursement (FR-AC-052, FR-DS-020).</a:t>
                      </a:r>
                    </a:p>
                  </a:txBody>
                  <a:tcPr marL="54864" marR="54864" marT="27432" marB="27432">
                    <a:solidFill>
                      <a:srgbClr val="E5F5FF"/>
                    </a:solidFill>
                  </a:tcPr>
                </a:tc>
              </a:tr>
              <a:tr h="243840">
                <a:tc>
                  <a:txBody>
                    <a:bodyPr/>
                    <a:lstStyle/>
                    <a:p>
                      <a:r>
                        <a:rPr sz="1000" b="0">
                          <a:solidFill>
                            <a:srgbClr val="4B4B4B"/>
                          </a:solidFill>
                          <a:latin typeface="Arial"/>
                        </a:rPr>
                        <a:t>The run is Released when every paid line is released and Liquidated when every line is liquidated (FR-AC-053).</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Opens the service-fee run of the month and tags a line Released with the date the recipient was credited</a:t>
                      </a:r>
                    </a:p>
                  </a:txBody>
                  <a:tcPr marL="54864" marR="54864" marT="27432" marB="27432">
                    <a:solidFill>
                      <a:srgbClr val="FFFFFF"/>
                    </a:solidFill>
                  </a:tcPr>
                </a:tc>
                <a:tc>
                  <a:txBody>
                    <a:bodyPr/>
                    <a:lstStyle/>
                    <a:p>
                      <a:r>
                        <a:rPr sz="900" b="0">
                          <a:solidFill>
                            <a:srgbClr val="4B4B4B"/>
                          </a:solidFill>
                          <a:latin typeface="Arial"/>
                        </a:rPr>
                        <a:t>SCR-AC-22_wt-d-step-05.png</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2.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1 of 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2 of 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4.png"/>
          <p:cNvPicPr>
            <a:picLocks noChangeAspect="1"/>
          </p:cNvPicPr>
          <p:nvPr/>
        </p:nvPicPr>
        <p:blipFill>
          <a:blip r:embed="rId3"/>
          <a:stretch>
            <a:fillRect/>
          </a:stretch>
        </p:blipFill>
        <p:spPr>
          <a:xfrm>
            <a:off x="548640" y="1261872"/>
            <a:ext cx="11094415" cy="1075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3 of 3)</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5.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1 of 3)</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2 of 3)</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7.png"/>
          <p:cNvPicPr>
            <a:picLocks noChangeAspect="1"/>
          </p:cNvPicPr>
          <p:nvPr/>
        </p:nvPicPr>
        <p:blipFill>
          <a:blip r:embed="rId3"/>
          <a:stretch>
            <a:fillRect/>
          </a:stretch>
        </p:blipFill>
        <p:spPr>
          <a:xfrm>
            <a:off x="548640" y="1261872"/>
            <a:ext cx="11094415" cy="16115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3 of 3)</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rate of each service-fee segment with the market segments it covers, its base and effective dates, and the recipient of each sales unit with the payee and the cost centre of its payouts. The GL Team Lead maintains them; runs already computed keep their rates.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rates and recipients of the service fee are kept by the GL team.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Rates</a:t>
                      </a:r>
                    </a:p>
                  </a:txBody>
                  <a:tcPr marL="54864" marR="54864" marT="27432" marB="27432">
                    <a:solidFill>
                      <a:srgbClr val="FFFFFF"/>
                    </a:solidFill>
                  </a:tcPr>
                </a:tc>
                <a:tc>
                  <a:txBody>
                    <a:bodyPr/>
                    <a:lstStyle/>
                    <a:p>
                      <a:r>
                        <a:rPr sz="850" b="0">
                          <a:solidFill>
                            <a:srgbClr val="4B4B4B"/>
                          </a:solidFill>
                          <a:latin typeface="Arial"/>
                        </a:rPr>
                        <a:t>Segment / Rate / Base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segment by name with its market segments under it; rate in %; Fully paid commission, or net of withholding tax; the effective period on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Recipients</a:t>
                      </a:r>
                    </a:p>
                  </a:txBody>
                  <a:tcPr marL="54864" marR="54864" marT="27432" marB="27432">
                    <a:solidFill>
                      <a:srgbClr val="E5F5FF"/>
                    </a:solidFill>
                  </a:tcPr>
                </a:tc>
                <a:tc>
                  <a:txBody>
                    <a:bodyPr/>
                    <a:lstStyle/>
                    <a:p>
                      <a:r>
                        <a:rPr sz="850" b="0">
                          <a:solidFill>
                            <a:srgbClr val="4B4B4B"/>
                          </a:solidFill>
                          <a:latin typeface="Arial"/>
                        </a:rPr>
                        <a:t>Sales Unit / Recipient / Cost Centre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payee name with its code; the cost centre or By rule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Rate dialog</a:t>
                      </a:r>
                    </a:p>
                  </a:txBody>
                  <a:tcPr marL="54864" marR="54864" marT="27432" marB="27432">
                    <a:solidFill>
                      <a:srgbClr val="FFFFFF"/>
                    </a:solidFill>
                  </a:tcPr>
                </a:tc>
                <a:tc>
                  <a:txBody>
                    <a:bodyPr/>
                    <a:lstStyle/>
                    <a:p>
                      <a:r>
                        <a:rPr sz="850" b="0">
                          <a:solidFill>
                            <a:srgbClr val="4B4B4B"/>
                          </a:solidFill>
                          <a:latin typeface="Arial"/>
                        </a:rPr>
                        <a:t>Service-Fee Segment / Market Segments</a:t>
                      </a:r>
                    </a:p>
                  </a:txBody>
                  <a:tcPr marL="54864" marR="54864" marT="27432" marB="27432">
                    <a:solidFill>
                      <a:srgbClr val="FFFFFF"/>
                    </a:solidFill>
                  </a:tcPr>
                </a:tc>
                <a:tc>
                  <a:txBody>
                    <a:bodyPr/>
                    <a:lstStyle/>
                    <a:p>
                      <a:r>
                        <a:rPr sz="850" b="0">
                          <a:solidFill>
                            <a:srgbClr val="4B4B4B"/>
                          </a:solidFill>
                          <a:latin typeface="Arial"/>
                        </a:rPr>
                        <a:t>Drop-down, check boxes</a:t>
                      </a:r>
                    </a:p>
                  </a:txBody>
                  <a:tcPr marL="54864" marR="54864" marT="27432" marB="27432">
                    <a:solidFill>
                      <a:srgbClr val="FFFFFF"/>
                    </a:solidFill>
                  </a:tcPr>
                </a:tc>
                <a:tc>
                  <a:txBody>
                    <a:bodyPr/>
                    <a:lstStyle/>
                    <a:p>
                      <a:r>
                        <a:rPr sz="850" b="0">
                          <a:solidFill>
                            <a:srgbClr val="4B4B4B"/>
                          </a:solidFill>
                          <a:latin typeface="Arial"/>
                        </a:rPr>
                        <a:t>The segment and the market segments it covers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dialog</a:t>
                      </a:r>
                    </a:p>
                  </a:txBody>
                  <a:tcPr marL="54864" marR="54864" marT="27432" marB="27432">
                    <a:solidFill>
                      <a:srgbClr val="E5F5FF"/>
                    </a:solidFill>
                  </a:tcPr>
                </a:tc>
                <a:tc>
                  <a:txBody>
                    <a:bodyPr/>
                    <a:lstStyle/>
                    <a:p>
                      <a:r>
                        <a:rPr sz="850" b="0">
                          <a:solidFill>
                            <a:srgbClr val="4B4B4B"/>
                          </a:solidFill>
                          <a:latin typeface="Arial"/>
                        </a:rPr>
                        <a:t>Rate (%) / Effective From / Effective To / Commission net of withholding tax / Active</a:t>
                      </a:r>
                    </a:p>
                  </a:txBody>
                  <a:tcPr marL="54864" marR="54864" marT="27432" marB="27432">
                    <a:solidFill>
                      <a:srgbClr val="E5F5FF"/>
                    </a:solidFill>
                  </a:tcPr>
                </a:tc>
                <a:tc>
                  <a:txBody>
                    <a:bodyPr/>
                    <a:lstStyle/>
                    <a:p>
                      <a:r>
                        <a:rPr sz="850" b="0">
                          <a:solidFill>
                            <a:srgbClr val="4B4B4B"/>
                          </a:solidFill>
                          <a:latin typeface="Arial"/>
                        </a:rPr>
                        <a:t>Number, date, check box</a:t>
                      </a:r>
                    </a:p>
                  </a:txBody>
                  <a:tcPr marL="54864" marR="54864" marT="27432" marB="27432">
                    <a:solidFill>
                      <a:srgbClr val="E5F5FF"/>
                    </a:solidFill>
                  </a:tcPr>
                </a:tc>
                <a:tc>
                  <a:txBody>
                    <a:bodyPr/>
                    <a:lstStyle/>
                    <a:p>
                      <a:r>
                        <a:rPr sz="850" b="0">
                          <a:solidFill>
                            <a:srgbClr val="4B4B4B"/>
                          </a:solidFill>
                          <a:latin typeface="Arial"/>
                        </a:rPr>
                        <a:t>Rate above zero; dates dd-MMM-yyyy</a:t>
                      </a:r>
                    </a:p>
                  </a:txBody>
                  <a:tcPr marL="54864" marR="54864" marT="27432" marB="27432">
                    <a:solidFill>
                      <a:srgbClr val="E5F5FF"/>
                    </a:solidFill>
                  </a:tcPr>
                </a:tc>
                <a:tc>
                  <a:txBody>
                    <a:bodyPr/>
                    <a:lstStyle/>
                    <a:p>
                      <a:r>
                        <a:rPr sz="850" b="0">
                          <a:solidFill>
                            <a:srgbClr val="4B4B4B"/>
                          </a:solidFill>
                          <a:latin typeface="Arial"/>
                        </a:rPr>
                        <a:t>Y / Y / N / N / N</a:t>
                      </a:r>
                    </a:p>
                  </a:txBody>
                  <a:tcPr marL="54864" marR="54864" marT="27432" marB="27432">
                    <a:solidFill>
                      <a:srgbClr val="E5F5FF"/>
                    </a:solidFill>
                  </a:tcPr>
                </a:tc>
                <a:tc>
                  <a:txBody>
                    <a:bodyPr/>
                    <a:lstStyle/>
                    <a:p>
                      <a:r>
                        <a:rPr sz="850" b="0">
                          <a:solidFill>
                            <a:srgbClr val="4B4B4B"/>
                          </a:solidFill>
                          <a:latin typeface="Arial"/>
                        </a:rPr>
                        <a:t>To after From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Recipient dialog</a:t>
                      </a:r>
                    </a:p>
                  </a:txBody>
                  <a:tcPr marL="54864" marR="54864" marT="27432" marB="27432">
                    <a:solidFill>
                      <a:srgbClr val="FFFFFF"/>
                    </a:solidFill>
                  </a:tcPr>
                </a:tc>
                <a:tc>
                  <a:txBody>
                    <a:bodyPr/>
                    <a:lstStyle/>
                    <a:p>
                      <a:r>
                        <a:rPr sz="850" b="0">
                          <a:solidFill>
                            <a:srgbClr val="4B4B4B"/>
                          </a:solidFill>
                          <a:latin typeface="Arial"/>
                        </a:rPr>
                        <a:t>Sales Unit / Payee Code / Payee Name / Cost Centre / Active</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payee of the payouts of the unit; the cost centre, blank for the unit's or the rules'</a:t>
                      </a:r>
                    </a:p>
                  </a:txBody>
                  <a:tcPr marL="54864" marR="54864" marT="27432" marB="27432">
                    <a:solidFill>
                      <a:srgbClr val="FFFFFF"/>
                    </a:solidFill>
                  </a:tcPr>
                </a:tc>
                <a:tc>
                  <a:txBody>
                    <a:bodyPr/>
                    <a:lstStyle/>
                    <a:p>
                      <a:r>
                        <a:rPr sz="850" b="0">
                          <a:solidFill>
                            <a:srgbClr val="4B4B4B"/>
                          </a:solidFill>
                          <a:latin typeface="Arial"/>
                        </a:rPr>
                        <a:t>Y / Y / Y / 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Rate / Save Rate</a:t>
                      </a:r>
                    </a:p>
                  </a:txBody>
                  <a:tcPr marL="54864" marR="54864" marT="27432" marB="27432">
                    <a:solidFill>
                      <a:srgbClr val="FFFFFF"/>
                    </a:solidFill>
                  </a:tcPr>
                </a:tc>
                <a:tc>
                  <a:txBody>
                    <a:bodyPr/>
                    <a:lstStyle/>
                    <a:p>
                      <a:r>
                        <a:rPr sz="850" b="0">
                          <a:solidFill>
                            <a:srgbClr val="4B4B4B"/>
                          </a:solidFill>
                          <a:latin typeface="Arial"/>
                        </a:rPr>
                        <a:t>GL Team Lead (service fee approve or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Recipient / Save Recipient</a:t>
                      </a:r>
                    </a:p>
                  </a:txBody>
                  <a:tcPr marL="54864" marR="54864" marT="27432" marB="27432">
                    <a:solidFill>
                      <a:srgbClr val="E5F5FF"/>
                    </a:solidFill>
                  </a:tcPr>
                </a:tc>
                <a:tc>
                  <a:txBody>
                    <a:bodyPr/>
                    <a:lstStyle/>
                    <a:p>
                      <a:r>
                        <a:rPr sz="850" b="0">
                          <a:solidFill>
                            <a:srgbClr val="4B4B4B"/>
                          </a:solidFill>
                          <a:latin typeface="Arial"/>
                        </a:rPr>
                        <a:t>GL Team Lead</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Adds or changes a recipient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computed run keeps the rates of its computation; a new rate applies to the runs computed after it (FR-AC-052).</a:t>
                      </a:r>
                    </a:p>
                  </a:txBody>
                  <a:tcPr marL="54864" marR="54864" marT="27432" marB="27432">
                    <a:solidFill>
                      <a:srgbClr val="FFFFFF"/>
                    </a:solidFill>
                  </a:tcPr>
                </a:tc>
              </a:tr>
            </a:tbl>
          </a:graphicData>
        </a:graphic>
      </p:graphicFrame>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8.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Rates and Recipients: the rates per segment and the recipients per sales unit (part 1 of 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9.png"/>
          <p:cNvPicPr>
            <a:picLocks noChangeAspect="1"/>
          </p:cNvPicPr>
          <p:nvPr/>
        </p:nvPicPr>
        <p:blipFill>
          <a:blip r:embed="rId3"/>
          <a:stretch>
            <a:fillRect/>
          </a:stretch>
        </p:blipFill>
        <p:spPr>
          <a:xfrm>
            <a:off x="548640" y="1261872"/>
            <a:ext cx="11094415" cy="25631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Rates and Recipients: the rates per segment and the recipients per sales unit (part 2 of 2)</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3-02-new_rate.png"/>
          <p:cNvPicPr>
            <a:picLocks noChangeAspect="1"/>
          </p:cNvPicPr>
          <p:nvPr/>
        </p:nvPicPr>
        <p:blipFill>
          <a:blip r:embed="rId3"/>
          <a:stretch>
            <a:fillRect/>
          </a:stretch>
        </p:blipFill>
        <p:spPr>
          <a:xfrm>
            <a:off x="548640" y="1261872"/>
            <a:ext cx="11094415" cy="4512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Service-Fee Rate: segment, market segments, rate and effective dates</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BIR returns, alphalists, books of accounts and the IC broker statement for a year, quarter or month: each output opens in the report runner and exports to Excel or PDF.</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BIR Forms &amp; Books</a:t>
                      </a:r>
                    </a:p>
                    <a:p>
                      <a:r>
                        <a:rPr sz="950" b="0">
                          <a:solidFill>
                            <a:srgbClr val="4B4B4B"/>
                          </a:solidFill>
                          <a:latin typeface="Arial"/>
                        </a:rPr>
                        <a:t>Certificates Received › SAWT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prepares the BIR returns and books of the period.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Period</a:t>
                      </a:r>
                    </a:p>
                  </a:txBody>
                  <a:tcPr marL="54864" marR="54864" marT="27432" marB="27432">
                    <a:solidFill>
                      <a:srgbClr val="FFFFFF"/>
                    </a:solidFill>
                  </a:tcPr>
                </a:tc>
                <a:tc>
                  <a:txBody>
                    <a:bodyPr/>
                    <a:lstStyle/>
                    <a:p>
                      <a:r>
                        <a:rPr sz="850" b="0">
                          <a:solidFill>
                            <a:srgbClr val="4B4B4B"/>
                          </a:solidFill>
                          <a:latin typeface="Arial"/>
                        </a:rPr>
                        <a:t>Year / Quarter / Month</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The year; the quarter of 1702-Q, 1603 and SAWT; the month of MAP and 0619-F</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A valid year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Period</a:t>
                      </a:r>
                    </a:p>
                  </a:txBody>
                  <a:tcPr marL="54864" marR="54864" marT="27432" marB="27432">
                    <a:solidFill>
                      <a:srgbClr val="E5F5FF"/>
                    </a:solidFill>
                  </a:tcPr>
                </a:tc>
                <a:tc>
                  <a:txBody>
                    <a:bodyPr/>
                    <a:lstStyle/>
                    <a:p>
                      <a:r>
                        <a:rPr sz="850" b="0">
                          <a:solidFill>
                            <a:srgbClr val="4B4B4B"/>
                          </a:solidFill>
                          <a:latin typeface="Arial"/>
                        </a:rPr>
                        <a:t>Books From / Books To / Ledger Account Class</a:t>
                      </a:r>
                    </a:p>
                  </a:txBody>
                  <a:tcPr marL="54864" marR="54864" marT="27432" marB="27432">
                    <a:solidFill>
                      <a:srgbClr val="E5F5FF"/>
                    </a:solidFill>
                  </a:tcPr>
                </a:tc>
                <a:tc>
                  <a:txBody>
                    <a:bodyPr/>
                    <a:lstStyle/>
                    <a:p>
                      <a:r>
                        <a:rPr sz="850" b="0">
                          <a:solidFill>
                            <a:srgbClr val="4B4B4B"/>
                          </a:solidFill>
                          <a:latin typeface="Arial"/>
                        </a:rPr>
                        <a:t>Date, drop-down</a:t>
                      </a:r>
                    </a:p>
                  </a:txBody>
                  <a:tcPr marL="54864" marR="54864" marT="27432" marB="27432">
                    <a:solidFill>
                      <a:srgbClr val="E5F5FF"/>
                    </a:solidFill>
                  </a:tcPr>
                </a:tc>
                <a:tc>
                  <a:txBody>
                    <a:bodyPr/>
                    <a:lstStyle/>
                    <a:p>
                      <a:r>
                        <a:rPr sz="850" b="0">
                          <a:solidFill>
                            <a:srgbClr val="4B4B4B"/>
                          </a:solidFill>
                          <a:latin typeface="Arial"/>
                        </a:rPr>
                        <a:t>The period of the books of accounts and the class of the subsidiary ledger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Outputs</a:t>
                      </a:r>
                    </a:p>
                  </a:txBody>
                  <a:tcPr marL="54864" marR="54864" marT="27432" marB="27432">
                    <a:solidFill>
                      <a:srgbClr val="FFFFFF"/>
                    </a:solidFill>
                  </a:tcPr>
                </a:tc>
                <a:tc>
                  <a:txBody>
                    <a:bodyPr/>
                    <a:lstStyle/>
                    <a:p>
                      <a:r>
                        <a:rPr sz="850" b="0">
                          <a:solidFill>
                            <a:srgbClr val="4B4B4B"/>
                          </a:solidFill>
                          <a:latin typeface="Arial"/>
                        </a:rPr>
                        <a:t>Output / Period / Export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output with its form number and description; the period it covers; the export formats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Output title</a:t>
                      </a:r>
                    </a:p>
                  </a:txBody>
                  <a:tcPr marL="54864" marR="54864" marT="27432" marB="27432">
                    <a:solidFill>
                      <a:srgbClr val="FFFFFF"/>
                    </a:solidFill>
                  </a:tcPr>
                </a:tc>
                <a:tc>
                  <a:txBody>
                    <a:bodyPr/>
                    <a:lstStyle/>
                    <a:p>
                      <a:r>
                        <a:rPr sz="850" b="0">
                          <a:solidFill>
                            <a:srgbClr val="4B4B4B"/>
                          </a:solidFill>
                          <a:latin typeface="Arial"/>
                        </a:rPr>
                        <a:t>Users with tax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output in the report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Excel or PDF</a:t>
                      </a:r>
                    </a:p>
                  </a:txBody>
                  <a:tcPr marL="54864" marR="54864" marT="27432" marB="27432">
                    <a:solidFill>
                      <a:srgbClr val="E5F5FF"/>
                    </a:solidFill>
                  </a:tcPr>
                </a:tc>
                <a:tc>
                  <a:txBody>
                    <a:bodyPr/>
                    <a:lstStyle/>
                    <a:p>
                      <a:r>
                        <a:rPr sz="850" b="0">
                          <a:solidFill>
                            <a:srgbClr val="4B4B4B"/>
                          </a:solidFill>
                          <a:latin typeface="Arial"/>
                        </a:rPr>
                        <a:t>Users with tax view</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Exports the output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returns and books are worksheets and loose-leaf books produced from the ledger; electronic filing files are not produced (FR-AC-063).</a:t>
                      </a:r>
                    </a:p>
                  </a:txBody>
                  <a:tcPr marL="54864" marR="54864" marT="27432" marB="27432">
                    <a:solidFill>
                      <a:srgbClr val="FFFF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0.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1 of 4)</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2 of 4)</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3 of 4)</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3.png"/>
          <p:cNvPicPr>
            <a:picLocks noChangeAspect="1"/>
          </p:cNvPicPr>
          <p:nvPr/>
        </p:nvPicPr>
        <p:blipFill>
          <a:blip r:embed="rId3"/>
          <a:stretch>
            <a:fillRect/>
          </a:stretch>
        </p:blipFill>
        <p:spPr>
          <a:xfrm>
            <a:off x="548640" y="1261872"/>
            <a:ext cx="11094415" cy="29792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4 of 4)</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of Disbursement: the counts For Approval, In Process, Waiting for Payee and Unregularised; the payment requests received from the other units (System Requests) and those waiting for their payee (No Payee); then the vouchers by stage (In Process, For Review, For Approval, Approved, Cancelled / Rejected). A request opens its details with Create Voucher and Return to Source; the approver approves the selected vouchers at once.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Workbench</a:t>
                      </a:r>
                    </a:p>
                    <a:p>
                      <a:r>
                        <a:rPr sz="950" b="0">
                          <a:solidFill>
                            <a:srgbClr val="4B4B4B"/>
                          </a:solidFill>
                          <a:latin typeface="Arial"/>
                        </a:rPr>
                        <a:t>Service Fee Run, Request › the payment request sent to Disbursement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FR-DS-020, FR-DS-021, FR-DS-022, FR-DS-025, FR-DS-040, FR-DS-041, FR-DS-045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sees every request and voucher by stage and moves them 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graphicFrame>
        <p:nvGraphicFramePr>
          <p:cNvPr id="9" name="Table 8"/>
          <p:cNvGraphicFramePr>
            <a:graphicFrameLocks noGrp="1"/>
          </p:cNvGraphicFramePr>
          <p:nvPr/>
        </p:nvGraphicFramePr>
        <p:xfrm>
          <a:off x="548640" y="1325880"/>
          <a:ext cx="11094411" cy="406143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For Approval / In Process / Waiting for Payee / Unregularised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Live counts; Waiting for Payee and Unregularised highlighted when 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System Requests / No Payee / In Process / For Review / For Approval / Approved / Cancelled / Rejected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With the count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Request, RFP or Payee / Search DV, Payee or Invoice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Request, RFP, DV, payee or invoice number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Disbursement Type / Received From / Received To</a:t>
                      </a:r>
                    </a:p>
                  </a:txBody>
                  <a:tcPr marL="54864" marR="54864" marT="27432" marB="27432">
                    <a:solidFill>
                      <a:srgbClr val="E5F5FF"/>
                    </a:solidFill>
                  </a:tcPr>
                </a:tc>
                <a:tc>
                  <a:txBody>
                    <a:bodyPr/>
                    <a:lstStyle/>
                    <a:p>
                      <a:r>
                        <a:rPr sz="850" b="0">
                          <a:solidFill>
                            <a:srgbClr val="4B4B4B"/>
                          </a:solidFill>
                          <a:latin typeface="Arial"/>
                        </a:rPr>
                        <a:t>Drop-down, date</a:t>
                      </a:r>
                    </a:p>
                  </a:txBody>
                  <a:tcPr marL="54864" marR="54864" marT="27432" marB="27432">
                    <a:solidFill>
                      <a:srgbClr val="E5F5FF"/>
                    </a:solidFill>
                  </a:tcPr>
                </a:tc>
                <a:tc>
                  <a:txBody>
                    <a:bodyPr/>
                    <a:lstStyle/>
                    <a:p>
                      <a:r>
                        <a:rPr sz="850" b="0">
                          <a:solidFill>
                            <a:srgbClr val="4B4B4B"/>
                          </a:solidFill>
                          <a:latin typeface="Arial"/>
                        </a:rPr>
                        <a:t>Remittance, Refund, Payment to supplier, Government, Employee-related, Service fee, Other; 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Requests</a:t>
                      </a:r>
                    </a:p>
                  </a:txBody>
                  <a:tcPr marL="54864" marR="54864" marT="27432" marB="27432">
                    <a:solidFill>
                      <a:srgbClr val="FFFFFF"/>
                    </a:solidFill>
                  </a:tcPr>
                </a:tc>
                <a:tc>
                  <a:txBody>
                    <a:bodyPr/>
                    <a:lstStyle/>
                    <a:p>
                      <a:r>
                        <a:rPr sz="850" b="0">
                          <a:solidFill>
                            <a:srgbClr val="4B4B4B"/>
                          </a:solidFill>
                          <a:latin typeface="Arial"/>
                        </a:rPr>
                        <a:t>Request No. / Source / Type / Payee / Currency / Amount / Received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 number with the RFP or the source reference under it; the source unit; payee name with its code;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Vouchers</a:t>
                      </a:r>
                    </a:p>
                  </a:txBody>
                  <a:tcPr marL="54864" marR="54864" marT="27432" marB="27432">
                    <a:solidFill>
                      <a:srgbClr val="E5F5FF"/>
                    </a:solidFill>
                  </a:tcPr>
                </a:tc>
                <a:tc>
                  <a:txBody>
                    <a:bodyPr/>
                    <a:lstStyle/>
                    <a:p>
                      <a:r>
                        <a:rPr sz="850" b="0">
                          <a:solidFill>
                            <a:srgbClr val="4B4B4B"/>
                          </a:solidFill>
                          <a:latin typeface="Arial"/>
                        </a:rPr>
                        <a:t>DV No. / Type / Payee / Mode / Net Amount / Currency / Flags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DV number with its date; the mode of payment; flags Automatic, Entry Edited, Posting Failed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Payment Request dialog</a:t>
                      </a:r>
                    </a:p>
                  </a:txBody>
                  <a:tcPr marL="54864" marR="54864" marT="27432" marB="27432">
                    <a:solidFill>
                      <a:srgbClr val="FFFFFF"/>
                    </a:solidFill>
                  </a:tcPr>
                </a:tc>
                <a:tc>
                  <a:txBody>
                    <a:bodyPr/>
                    <a:lstStyle/>
                    <a:p>
                      <a:r>
                        <a:rPr sz="850" b="0">
                          <a:solidFill>
                            <a:srgbClr val="4B4B4B"/>
                          </a:solidFill>
                          <a:latin typeface="Arial"/>
                        </a:rPr>
                        <a:t>Source / RFP No. / Payee / Type / Amount / Purpose / Root invoice /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request as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Return dialog</a:t>
                      </a:r>
                    </a:p>
                  </a:txBody>
                  <a:tcPr marL="54864" marR="54864" marT="27432" marB="27432">
                    <a:solidFill>
                      <a:srgbClr val="E5F5FF"/>
                    </a:solidFill>
                  </a:tcPr>
                </a:tc>
                <a:tc>
                  <a:txBody>
                    <a:bodyPr/>
                    <a:lstStyle/>
                    <a:p>
                      <a:r>
                        <a:rPr sz="850" b="0">
                          <a:solidFill>
                            <a:srgbClr val="4B4B4B"/>
                          </a:solidFill>
                          <a:latin typeface="Arial"/>
                        </a:rPr>
                        <a:t>Reason / Comment</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The return reasons of Disbursement</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reason</a:t>
                      </a:r>
                    </a:p>
                  </a:txBody>
                  <a:tcPr marL="54864" marR="54864" marT="27432" marB="27432">
                    <a:solidFill>
                      <a:srgbClr val="E5F5FF"/>
                    </a:solidFill>
                  </a:tcPr>
                </a:tc>
              </a:tr>
            </a:tbl>
          </a:graphicData>
        </a:graphic>
      </p:graphicFrame>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Encode Request</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Encode Payment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Voucher</a:t>
                      </a:r>
                    </a:p>
                  </a:txBody>
                  <a:tcPr marL="54864" marR="54864" marT="27432" marB="27432">
                    <a:solidFill>
                      <a:srgbClr val="E5F5FF"/>
                    </a:solidFill>
                  </a:tcPr>
                </a:tc>
                <a:tc>
                  <a:txBody>
                    <a:bodyPr/>
                    <a:lstStyle/>
                    <a:p>
                      <a:r>
                        <a:rPr sz="850" b="0">
                          <a:solidFill>
                            <a:srgbClr val="4B4B4B"/>
                          </a:solidFill>
                          <a:latin typeface="Arial"/>
                        </a:rPr>
                        <a:t>Disbursement Processor (disbursement process)</a:t>
                      </a:r>
                    </a:p>
                  </a:txBody>
                  <a:tcPr marL="54864" marR="54864" marT="27432" marB="27432">
                    <a:solidFill>
                      <a:srgbClr val="E5F5FF"/>
                    </a:solidFill>
                  </a:tcPr>
                </a:tc>
                <a:tc>
                  <a:txBody>
                    <a:bodyPr/>
                    <a:lstStyle/>
                    <a:p>
                      <a:r>
                        <a:rPr sz="850" b="0">
                          <a:solidFill>
                            <a:srgbClr val="4B4B4B"/>
                          </a:solidFill>
                          <a:latin typeface="Arial"/>
                        </a:rPr>
                        <a:t>Received request with its payee maintained</a:t>
                      </a:r>
                    </a:p>
                  </a:txBody>
                  <a:tcPr marL="54864" marR="54864" marT="27432" marB="27432">
                    <a:solidFill>
                      <a:srgbClr val="E5F5FF"/>
                    </a:solidFill>
                  </a:tcPr>
                </a:tc>
                <a:tc>
                  <a:txBody>
                    <a:bodyPr/>
                    <a:lstStyle/>
                    <a:p>
                      <a:r>
                        <a:rPr sz="850" b="0">
                          <a:solidFill>
                            <a:srgbClr val="4B4B4B"/>
                          </a:solidFill>
                          <a:latin typeface="Arial"/>
                        </a:rPr>
                        <a:t>Creates the voucher with its proforma entry and opens it</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Source</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Received or No payee</a:t>
                      </a:r>
                    </a:p>
                  </a:txBody>
                  <a:tcPr marL="54864" marR="54864" marT="27432" marB="27432">
                    <a:solidFill>
                      <a:srgbClr val="FFFFFF"/>
                    </a:solidFill>
                  </a:tcPr>
                </a:tc>
                <a:tc>
                  <a:txBody>
                    <a:bodyPr/>
                    <a:lstStyle/>
                    <a:p>
                      <a:r>
                        <a:rPr sz="850" b="0">
                          <a:solidFill>
                            <a:srgbClr val="4B4B4B"/>
                          </a:solidFill>
                          <a:latin typeface="Arial"/>
                        </a:rPr>
                        <a:t>Returns the request to its source unit with the reason</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Workflow notice to the source</a:t>
                      </a:r>
                    </a:p>
                  </a:txBody>
                  <a:tcPr marL="54864" marR="54864" marT="27432" marB="27432">
                    <a:solidFill>
                      <a:srgbClr val="FFFFFF"/>
                    </a:solidFill>
                  </a:tcPr>
                </a:tc>
              </a:tr>
              <a:tr h="220979">
                <a:tc>
                  <a:txBody>
                    <a:bodyPr/>
                    <a:lstStyle/>
                    <a:p>
                      <a:r>
                        <a:rPr sz="850" b="0">
                          <a:solidFill>
                            <a:srgbClr val="4B4B4B"/>
                          </a:solidFill>
                          <a:latin typeface="Arial"/>
                        </a:rPr>
                        <a:t>Release Documents</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A received BIR 2307 request</a:t>
                      </a:r>
                    </a:p>
                  </a:txBody>
                  <a:tcPr marL="54864" marR="54864" marT="27432" marB="27432">
                    <a:solidFill>
                      <a:srgbClr val="E5F5FF"/>
                    </a:solidFill>
                  </a:tcPr>
                </a:tc>
                <a:tc>
                  <a:txBody>
                    <a:bodyPr/>
                    <a:lstStyle/>
                    <a:p>
                      <a:r>
                        <a:rPr sz="850" b="0">
                          <a:solidFill>
                            <a:srgbClr val="4B4B4B"/>
                          </a:solidFill>
                          <a:latin typeface="Arial"/>
                        </a:rPr>
                        <a:t>Releases the documents to the payee</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Selected</a:t>
                      </a:r>
                    </a:p>
                  </a:txBody>
                  <a:tcPr marL="54864" marR="54864" marT="27432" marB="27432">
                    <a:solidFill>
                      <a:srgbClr val="FFFFFF"/>
                    </a:solidFill>
                  </a:tcPr>
                </a:tc>
                <a:tc>
                  <a:txBody>
                    <a:bodyPr/>
                    <a:lstStyle/>
                    <a:p>
                      <a:r>
                        <a:rPr sz="850" b="0">
                          <a:solidFill>
                            <a:srgbClr val="4B4B4B"/>
                          </a:solidFill>
                          <a:latin typeface="Arial"/>
                        </a:rPr>
                        <a:t>Disbursement Approver (disbursement approve)</a:t>
                      </a:r>
                    </a:p>
                  </a:txBody>
                  <a:tcPr marL="54864" marR="54864" marT="27432" marB="27432">
                    <a:solidFill>
                      <a:srgbClr val="FFFFFF"/>
                    </a:solidFill>
                  </a:tcPr>
                </a:tc>
                <a:tc>
                  <a:txBody>
                    <a:bodyPr/>
                    <a:lstStyle/>
                    <a:p>
                      <a:r>
                        <a:rPr sz="850" b="0">
                          <a:solidFill>
                            <a:srgbClr val="4B4B4B"/>
                          </a:solidFill>
                          <a:latin typeface="Arial"/>
                        </a:rPr>
                        <a:t>For Approval tab, vouchers selected</a:t>
                      </a:r>
                    </a:p>
                  </a:txBody>
                  <a:tcPr marL="54864" marR="54864" marT="27432" marB="27432">
                    <a:solidFill>
                      <a:srgbClr val="FFFFFF"/>
                    </a:solidFill>
                  </a:tcPr>
                </a:tc>
                <a:tc>
                  <a:txBody>
                    <a:bodyPr/>
                    <a:lstStyle/>
                    <a:p>
                      <a:r>
                        <a:rPr sz="850" b="0">
                          <a:solidFill>
                            <a:srgbClr val="4B4B4B"/>
                          </a:solidFill>
                          <a:latin typeface="Arial"/>
                        </a:rPr>
                        <a:t>Approves and posts each selected voucher on its own after the confirmation; each failure is reported</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Disbursement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or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whose payee is not maintained waits under No Payee; a payee request is raised and the voucher is created once the payee is authorised (FR-DS-020, FR-DS-022).</a:t>
                      </a:r>
                    </a:p>
                  </a:txBody>
                  <a:tcPr marL="54864" marR="54864" marT="27432" marB="27432">
                    <a:solidFill>
                      <a:srgbClr val="FFFFFF"/>
                    </a:solidFill>
                  </a:tcPr>
                </a:tc>
              </a:tr>
              <a:tr h="243840">
                <a:tc>
                  <a:txBody>
                    <a:bodyPr/>
                    <a:lstStyle/>
                    <a:p>
                      <a:r>
                        <a:rPr sz="1000" b="0">
                          <a:solidFill>
                            <a:srgbClr val="4B4B4B"/>
                          </a:solidFill>
                          <a:latin typeface="Arial"/>
                        </a:rPr>
                        <a:t>Requests are classified by disbursement type from their source and payee class (FR-DS-021).</a:t>
                      </a:r>
                    </a:p>
                  </a:txBody>
                  <a:tcPr marL="54864" marR="54864" marT="27432" marB="27432">
                    <a:solidFill>
                      <a:srgbClr val="E5F5FF"/>
                    </a:solidFill>
                  </a:tcPr>
                </a:tc>
              </a:tr>
              <a:tr h="243840">
                <a:tc>
                  <a:txBody>
                    <a:bodyPr/>
                    <a:lstStyle/>
                    <a:p>
                      <a:r>
                        <a:rPr sz="1000" b="0">
                          <a:solidFill>
                            <a:srgbClr val="4B4B4B"/>
                          </a:solidFill>
                          <a:latin typeface="Arial"/>
                        </a:rPr>
                        <a:t>Approving several vouchers approves each on its own; a voucher that cannot be approved stays pending with its reason (FR-DS-041).</a:t>
                      </a:r>
                    </a:p>
                  </a:txBody>
                  <a:tcPr marL="54864" marR="54864" marT="27432" marB="27432">
                    <a:solidFill>
                      <a:srgbClr val="FFFFFF"/>
                    </a:solidFill>
                  </a:tcPr>
                </a:tc>
              </a:tr>
            </a:tbl>
          </a:graphicData>
        </a:graphic>
      </p:graphicFrame>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For Approval on the Disbursement Workbench</a:t>
                      </a:r>
                    </a:p>
                  </a:txBody>
                  <a:tcPr marL="54864" marR="54864" marT="27432" marB="27432">
                    <a:solidFill>
                      <a:srgbClr val="FFFFFF"/>
                    </a:solidFill>
                  </a:tcPr>
                </a:tc>
                <a:tc>
                  <a:txBody>
                    <a:bodyPr/>
                    <a:lstStyle/>
                    <a:p>
                      <a:r>
                        <a:rPr sz="900" b="0">
                          <a:solidFill>
                            <a:srgbClr val="4B4B4B"/>
                          </a:solidFill>
                          <a:latin typeface="Arial"/>
                        </a:rPr>
                        <a:t>SCR-AC-25_wt-b-step-05.png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WT-E step 4</a:t>
                      </a:r>
                    </a:p>
                  </a:txBody>
                  <a:tcPr marL="54864" marR="54864" marT="27432" marB="27432">
                    <a:solidFill>
                      <a:srgbClr val="E5F5FF"/>
                    </a:solidFill>
                  </a:tcPr>
                </a:tc>
                <a:tc>
                  <a:txBody>
                    <a:bodyPr/>
                    <a:lstStyle/>
                    <a:p>
                      <a:r>
                        <a:rPr sz="900" b="0">
                          <a:solidFill>
                            <a:srgbClr val="4B4B4B"/>
                          </a:solidFill>
                          <a:latin typeface="Arial"/>
                        </a:rPr>
                        <a:t>Encodes a payment request for a payee code that is not maintained</a:t>
                      </a:r>
                    </a:p>
                  </a:txBody>
                  <a:tcPr marL="54864" marR="54864" marT="27432" marB="27432">
                    <a:solidFill>
                      <a:srgbClr val="E5F5FF"/>
                    </a:solidFill>
                  </a:tcPr>
                </a:tc>
                <a:tc>
                  <a:txBody>
                    <a:bodyPr/>
                    <a:lstStyle/>
                    <a:p>
                      <a:r>
                        <a:rPr sz="900" b="0">
                          <a:solidFill>
                            <a:srgbClr val="4B4B4B"/>
                          </a:solidFill>
                          <a:latin typeface="Arial"/>
                        </a:rPr>
                        <a:t>SCR-AC-25_wt-e-step-04.png</a:t>
                      </a:r>
                    </a:p>
                  </a:txBody>
                  <a:tcPr marL="54864" marR="54864" marT="27432" marB="27432">
                    <a:solidFill>
                      <a:srgbClr val="E5F5FF"/>
                    </a:solidFill>
                  </a:tcPr>
                </a:tc>
              </a:tr>
            </a:tbl>
          </a:graphicData>
        </a:graphic>
      </p:graphicFrame>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5-01-requests.png"/>
          <p:cNvPicPr>
            <a:picLocks noChangeAspect="1"/>
          </p:cNvPicPr>
          <p:nvPr/>
        </p:nvPicPr>
        <p:blipFill>
          <a:blip r:embed="rId3"/>
          <a:stretch>
            <a:fillRect/>
          </a:stretch>
        </p:blipFill>
        <p:spPr>
          <a:xfrm>
            <a:off x="1762688" y="1261872"/>
            <a:ext cx="86663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Workbench: the counts and the system requests received</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5-02-request.png"/>
          <p:cNvPicPr>
            <a:picLocks noChangeAspect="1"/>
          </p:cNvPicPr>
          <p:nvPr/>
        </p:nvPicPr>
        <p:blipFill>
          <a:blip r:embed="rId3"/>
          <a:stretch>
            <a:fillRect/>
          </a:stretch>
        </p:blipFill>
        <p:spPr>
          <a:xfrm>
            <a:off x="1582769" y="1261872"/>
            <a:ext cx="902615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Request: source, payee, type, amount and purpose, with Create Voucher and Return to Source</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SCR-AC-25 Disbursement Workbench: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ux-scr-ac-25-auditor.png"/>
          <p:cNvPicPr>
            <a:picLocks noChangeAspect="1"/>
          </p:cNvPicPr>
          <p:nvPr/>
        </p:nvPicPr>
        <p:blipFill>
          <a:blip r:embed="rId3"/>
          <a:stretch>
            <a:fillRect/>
          </a:stretch>
        </p:blipFill>
        <p:spPr>
          <a:xfrm>
            <a:off x="1762688" y="1261872"/>
            <a:ext cx="86663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Disbursement Workbench as the Auditor sees it, without Encode Request</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SCR-AC-25 Disbursement Workbench: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ac-25-03-approval.png"/>
          <p:cNvPicPr>
            <a:picLocks noChangeAspect="1"/>
          </p:cNvPicPr>
          <p:nvPr/>
        </p:nvPicPr>
        <p:blipFill>
          <a:blip r:embed="rId3"/>
          <a:stretch>
            <a:fillRect/>
          </a:stretch>
        </p:blipFill>
        <p:spPr>
          <a:xfrm>
            <a:off x="1776314" y="1261872"/>
            <a:ext cx="863906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the vouchers waiting for the approver, selected for Approve Selected</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Encode Payment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payment that does not come from another module (a request received by e-mail for a supplier, a government agency or an employee): the disbursement type, the payee, currency and amount, the RFP and invoice numbers, the expense account and cost centre and the purpose. Its voucher is created at once when the payee is maintained.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Encode Payment Request</a:t>
                      </a:r>
                    </a:p>
                    <a:p>
                      <a:r>
                        <a:rPr sz="950" b="0">
                          <a:solidFill>
                            <a:srgbClr val="4B4B4B"/>
                          </a:solidFill>
                          <a:latin typeface="Arial"/>
                        </a:rPr>
                        <a:t>Disbursement Workbench › Encode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e-mailed request is in BIBS with its voucher.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graphicFrame>
        <p:nvGraphicFramePr>
          <p:cNvPr id="9" name="Table 8"/>
          <p:cNvGraphicFramePr>
            <a:graphicFrameLocks noGrp="1"/>
          </p:cNvGraphicFramePr>
          <p:nvPr/>
        </p:nvGraphicFramePr>
        <p:xfrm>
          <a:off x="548640" y="1325880"/>
          <a:ext cx="11094411" cy="241552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Disbursement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Remittance, Refund, Payment to supplier, Government, Employee-related, Other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disbursement type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Payee Code / Payee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code of a maintained payee; the name of a payee not yet maintained</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payee code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Three-letter currency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Three letters</a:t>
                      </a:r>
                    </a:p>
                  </a:txBody>
                  <a:tcPr marL="54864" marR="54864" marT="27432" marB="27432">
                    <a:solidFill>
                      <a:srgbClr val="FFFFFF"/>
                    </a:solidFill>
                  </a:tcPr>
                </a:tc>
                <a:tc>
                  <a:txBody>
                    <a:bodyPr/>
                    <a:lstStyle/>
                    <a:p>
                      <a:r>
                        <a:rPr sz="850" b="0">
                          <a:solidFill>
                            <a:srgbClr val="4B4B4B"/>
                          </a:solidFill>
                          <a:latin typeface="Arial"/>
                        </a:rPr>
                        <a:t>Enter a 3-letter currency</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Above zero, two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RFP No. / 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Request for Payment and the invoice paid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Expense Account / Cost Centre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expense account and the cost centre of an other disbursement</a:t>
                      </a:r>
                    </a:p>
                  </a:txBody>
                  <a:tcPr marL="54864" marR="54864" marT="27432" marB="27432">
                    <a:solidFill>
                      <a:srgbClr val="E5F5FF"/>
                    </a:solidFill>
                  </a:tcPr>
                </a:tc>
                <a:tc>
                  <a:txBody>
                    <a:bodyPr/>
                    <a:lstStyle/>
                    <a:p>
                      <a:r>
                        <a:rPr sz="850" b="0">
                          <a:solidFill>
                            <a:srgbClr val="4B4B4B"/>
                          </a:solidFill>
                          <a:latin typeface="Arial"/>
                        </a:rPr>
                        <a:t>Cond.: Other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Purpose</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purpose</a:t>
                      </a:r>
                    </a:p>
                  </a:txBody>
                  <a:tcPr marL="54864" marR="54864" marT="27432" marB="27432">
                    <a:solidFill>
                      <a:srgbClr val="FFFFFF"/>
                    </a:solidFill>
                  </a:tcPr>
                </a:tc>
              </a:tr>
            </a:tbl>
          </a:graphicData>
        </a:graphic>
      </p:graphicFrame>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Request</a:t>
                      </a:r>
                    </a:p>
                  </a:txBody>
                  <a:tcPr marL="54864" marR="54864" marT="27432" marB="27432">
                    <a:solidFill>
                      <a:srgbClr val="FFFFFF"/>
                    </a:solidFill>
                  </a:tcPr>
                </a:tc>
                <a:tc>
                  <a:txBody>
                    <a:bodyPr/>
                    <a:lstStyle/>
                    <a:p>
                      <a:r>
                        <a:rPr sz="850" b="0">
                          <a:solidFill>
                            <a:srgbClr val="4B4B4B"/>
                          </a:solidFill>
                          <a:latin typeface="Arial"/>
                        </a:rPr>
                        <a:t>Disbursement Processor (disbursement process)</a:t>
                      </a:r>
                    </a:p>
                  </a:txBody>
                  <a:tcPr marL="54864" marR="54864" marT="27432" marB="27432">
                    <a:solidFill>
                      <a:srgbClr val="FFFFFF"/>
                    </a:solidFill>
                  </a:tcPr>
                </a:tc>
                <a:tc>
                  <a:txBody>
                    <a:bodyPr/>
                    <a:lstStyle/>
                    <a:p>
                      <a:r>
                        <a:rPr sz="850" b="0">
                          <a:solidFill>
                            <a:srgbClr val="4B4B4B"/>
                          </a:solidFill>
                          <a:latin typeface="Arial"/>
                        </a:rPr>
                        <a:t>Mandatory fields filled</a:t>
                      </a:r>
                    </a:p>
                  </a:txBody>
                  <a:tcPr marL="54864" marR="54864" marT="27432" marB="27432">
                    <a:solidFill>
                      <a:srgbClr val="FFFFFF"/>
                    </a:solidFill>
                  </a:tcPr>
                </a:tc>
                <a:tc>
                  <a:txBody>
                    <a:bodyPr/>
                    <a:lstStyle/>
                    <a:p>
                      <a:r>
                        <a:rPr sz="850" b="0">
                          <a:solidFill>
                            <a:srgbClr val="4B4B4B"/>
                          </a:solidFill>
                          <a:latin typeface="Arial"/>
                        </a:rPr>
                        <a:t>Saves the request; its voucher is created at once when the payee is maintained, else the request waits under No Payee</a:t>
                      </a:r>
                    </a:p>
                  </a:txBody>
                  <a:tcPr marL="54864" marR="54864" marT="27432" marB="27432">
                    <a:solidFill>
                      <a:srgbClr val="FFFFFF"/>
                    </a:solidFill>
                  </a:tcPr>
                </a:tc>
                <a:tc>
                  <a:txBody>
                    <a:bodyPr/>
                    <a:lstStyle/>
                    <a:p>
                      <a:r>
                        <a:rPr sz="850" b="0">
                          <a:solidFill>
                            <a:srgbClr val="4B4B4B"/>
                          </a:solidFill>
                          <a:latin typeface="Arial"/>
                        </a:rPr>
                        <a:t>In Process or No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encoded request gets its request number and follows the same voucher flow as a system request (FR-DS-023).</a:t>
                      </a:r>
                    </a:p>
                  </a:txBody>
                  <a:tcPr marL="54864" marR="54864" marT="27432" marB="27432">
                    <a:solidFill>
                      <a:srgbClr val="FFFFFF"/>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Encode Payment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6-01-filled.png"/>
          <p:cNvPicPr>
            <a:picLocks noChangeAspect="1"/>
          </p:cNvPicPr>
          <p:nvPr/>
        </p:nvPicPr>
        <p:blipFill>
          <a:blip r:embed="rId3"/>
          <a:stretch>
            <a:fillRect/>
          </a:stretch>
        </p:blipFill>
        <p:spPr>
          <a:xfrm>
            <a:off x="1700290" y="1261872"/>
            <a:ext cx="879111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Encode Payment Request: a supplier payment with its expense account and cost centre</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SCR-AC-26 Encode Payment Request: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4.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mandatory fields named under each field (part 1 of 2)</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SCR-AC-26 Encode Payment Request: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5.png"/>
          <p:cNvPicPr>
            <a:picLocks noChangeAspect="1"/>
          </p:cNvPicPr>
          <p:nvPr/>
        </p:nvPicPr>
        <p:blipFill>
          <a:blip r:embed="rId3"/>
          <a:stretch>
            <a:fillRect/>
          </a:stretch>
        </p:blipFill>
        <p:spPr>
          <a:xfrm>
            <a:off x="548640" y="1261872"/>
            <a:ext cx="11094415" cy="20945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mandatory fields named under each field (part 2 of 2)</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disbursement voucher (DV): the payee, type, mode, net amount and paying account; the voucher workflow (submit for review, route to the approver, submit for approval, approve and post, reject, cancel); the tabs Details (the terms), Entry (the proforma entry from the rule, editable before approval, with the expense allocation), Instrument (the payment document and its statuses), OR / AR and CWT (the tags), Documents and E-mails.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Workbench › Disbursement Voucher</a:t>
                      </a:r>
                    </a:p>
                    <a:p>
                      <a:r>
                        <a:rPr sz="950" b="0">
                          <a:solidFill>
                            <a:srgbClr val="4B4B4B"/>
                          </a:solidFill>
                          <a:latin typeface="Arial"/>
                        </a:rPr>
                        <a:t>Disbursement Workbench › Create Voucher or open a voucher</a:t>
                      </a:r>
                    </a:p>
                    <a:p>
                      <a:r>
                        <a:rPr sz="950" b="0">
                          <a:solidFill>
                            <a:srgbClr val="4B4B4B"/>
                          </a:solidFill>
                          <a:latin typeface="Arial"/>
                        </a:rPr>
                        <a:t>Encode Payment Request › saved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52578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FR-DS-025, FR-DS-030, FR-DS-031, FR-DS-032, FR-DS-033, FR-DS-034, FR-DS-035, FR-DS-036, FR-DS-040, FR-DS-041, FR-DS-042, FR-DS-043, FR-DS-044, FR-DS-050, FR-DS-051, FR-DS-052, FR-DS-054, FR-DS-055, FR-DS-056, FR-DS-057, FR-DS-062, FR-DS-063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checked, approved, paid and regularised.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graphicFrame>
        <p:nvGraphicFramePr>
          <p:cNvPr id="9" name="Table 8"/>
          <p:cNvGraphicFramePr>
            <a:graphicFrameLocks noGrp="1"/>
          </p:cNvGraphicFramePr>
          <p:nvPr/>
        </p:nvGraphicFramePr>
        <p:xfrm>
          <a:off x="548640" y="1325880"/>
          <a:ext cx="11094411" cy="467103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DV chip, status pill, flags</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DV number; In Process, For Review, For Approval, Approved, Cancelled, Rejected; Automatic, Entry Edited, posting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Payee / Type / Mode / Net Amount / Paying Account</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Payee code; disbursement type; mode of payment; currency and net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modes allowed for the payee: Credit to Account, Authority to Debit, Manager's Check / Demand Draft, Credit Ticket, Telegraphic Transfer, Online Banking,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mode allowed for the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Paying Account / Payee Account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BDOIR account in the voucher currency; the payee account credited</a:t>
                      </a:r>
                    </a:p>
                  </a:txBody>
                  <a:tcPr marL="54864" marR="54864" marT="27432" marB="27432">
                    <a:solidFill>
                      <a:srgbClr val="E5F5FF"/>
                    </a:solidFill>
                  </a:tcPr>
                </a:tc>
                <a:tc>
                  <a:txBody>
                    <a:bodyPr/>
                    <a:lstStyle/>
                    <a:p>
                      <a:r>
                        <a:rPr sz="850" b="0">
                          <a:solidFill>
                            <a:srgbClr val="4B4B4B"/>
                          </a:solidFill>
                          <a:latin typeface="Arial"/>
                        </a:rPr>
                        <a:t>Y / Cond.: credit modes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payee account credited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Withholding Tax / Value Date</a:t>
                      </a:r>
                    </a:p>
                  </a:txBody>
                  <a:tcPr marL="54864" marR="54864" marT="27432" marB="27432">
                    <a:solidFill>
                      <a:srgbClr val="FFFFFF"/>
                    </a:solidFill>
                  </a:tcPr>
                </a:tc>
                <a:tc>
                  <a:txBody>
                    <a:bodyPr/>
                    <a:lstStyle/>
                    <a:p>
                      <a:r>
                        <a:rPr sz="850" b="0">
                          <a:solidFill>
                            <a:srgbClr val="4B4B4B"/>
                          </a:solidFill>
                          <a:latin typeface="Arial"/>
                        </a:rPr>
                        <a:t>Number, date</a:t>
                      </a:r>
                    </a:p>
                  </a:txBody>
                  <a:tcPr marL="54864" marR="54864" marT="27432" marB="27432">
                    <a:solidFill>
                      <a:srgbClr val="FFFFFF"/>
                    </a:solidFill>
                  </a:tcPr>
                </a:tc>
                <a:tc>
                  <a:txBody>
                    <a:bodyPr/>
                    <a:lstStyle/>
                    <a:p>
                      <a:r>
                        <a:rPr sz="850" b="0">
                          <a:solidFill>
                            <a:srgbClr val="4B4B4B"/>
                          </a:solidFill>
                          <a:latin typeface="Arial"/>
                        </a:rPr>
                        <a:t>Zero or more, below the gross; dd-MMM-yyyy</a:t>
                      </a:r>
                    </a:p>
                  </a:txBody>
                  <a:tcPr marL="54864" marR="54864" marT="27432" marB="27432">
                    <a:solidFill>
                      <a:srgbClr val="FFFFFF"/>
                    </a:solidFill>
                  </a:tcPr>
                </a:tc>
                <a:tc>
                  <a:txBody>
                    <a:bodyPr/>
                    <a:lstStyle/>
                    <a:p>
                      <a:r>
                        <a:rPr sz="850" b="0">
                          <a:solidFill>
                            <a:srgbClr val="4B4B4B"/>
                          </a:solidFill>
                          <a:latin typeface="Arial"/>
                        </a:rPr>
                        <a:t>N / Y</a:t>
                      </a:r>
                    </a:p>
                  </a:txBody>
                  <a:tcPr marL="54864" marR="54864" marT="27432" marB="27432">
                    <a:solidFill>
                      <a:srgbClr val="FFFFFF"/>
                    </a:solidFill>
                  </a:tcPr>
                </a:tc>
                <a:tc>
                  <a:txBody>
                    <a:bodyPr/>
                    <a:lstStyle/>
                    <a:p>
                      <a:r>
                        <a:rPr sz="850" b="0">
                          <a:solidFill>
                            <a:srgbClr val="4B4B4B"/>
                          </a:solidFill>
                          <a:latin typeface="Arial"/>
                        </a:rPr>
                        <a:t>Below the gross</a:t>
                      </a:r>
                    </a:p>
                  </a:txBody>
                  <a:tcPr marL="54864" marR="54864" marT="27432" marB="27432">
                    <a:solidFill>
                      <a:srgbClr val="FFFFFF"/>
                    </a:solidFill>
                  </a:tcPr>
                </a:tc>
                <a:tc>
                  <a:txBody>
                    <a:bodyPr/>
                    <a:lstStyle/>
                    <a:p>
                      <a:r>
                        <a:rPr sz="850" b="0">
                          <a:solidFill>
                            <a:srgbClr val="4B4B4B"/>
                          </a:solidFill>
                          <a:latin typeface="Arial"/>
                        </a:rPr>
                        <a:t>The withholding tax must be at least zero and below the gross</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Cost Centre / Expense Account / Purpose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Expense account mandatory for an other disbursement</a:t>
                      </a:r>
                    </a:p>
                  </a:txBody>
                  <a:tcPr marL="54864" marR="54864" marT="27432" marB="27432">
                    <a:solidFill>
                      <a:srgbClr val="E5F5FF"/>
                    </a:solidFill>
                  </a:tcPr>
                </a:tc>
                <a:tc>
                  <a:txBody>
                    <a:bodyPr/>
                    <a:lstStyle/>
                    <a:p>
                      <a:r>
                        <a:rPr sz="850" b="0">
                          <a:solidFill>
                            <a:srgbClr val="4B4B4B"/>
                          </a:solidFill>
                          <a:latin typeface="Arial"/>
                        </a:rPr>
                        <a:t>N / Cond.: other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expense account of an other disbursement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Processor / checker / approver / Journal / reversal / Request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of the users; the journal posted and its reversal; the request with its source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Entry</a:t>
                      </a:r>
                    </a:p>
                  </a:txBody>
                  <a:tcPr marL="54864" marR="54864" marT="27432" marB="27432">
                    <a:solidFill>
                      <a:srgbClr val="E5F5FF"/>
                    </a:solidFill>
                  </a:tcPr>
                </a:tc>
                <a:tc>
                  <a:txBody>
                    <a:bodyPr/>
                    <a:lstStyle/>
                    <a:p>
                      <a:r>
                        <a:rPr sz="850" b="0">
                          <a:solidFill>
                            <a:srgbClr val="4B4B4B"/>
                          </a:solidFill>
                          <a:latin typeface="Arial"/>
                        </a:rPr>
                        <a:t>Side / Account / Party / Cost Centre / Debit / Credit / Origin / Narration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proforma lines; From rule, or edited by the processor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Debits equal credits</a:t>
                      </a:r>
                    </a:p>
                  </a:txBody>
                  <a:tcPr marL="54864" marR="54864" marT="27432" marB="27432">
                    <a:solidFill>
                      <a:srgbClr val="E5F5FF"/>
                    </a:solidFill>
                  </a:tcPr>
                </a:tc>
                <a:tc>
                  <a:txBody>
                    <a:bodyPr/>
                    <a:lstStyle/>
                    <a:p>
                      <a:r>
                        <a:rPr sz="850" b="0">
                          <a:solidFill>
                            <a:srgbClr val="4B4B4B"/>
                          </a:solidFill>
                          <a:latin typeface="Arial"/>
                        </a:rPr>
                        <a:t>Not balanced</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Allocate Expenses dialog</a:t>
                      </a:r>
                    </a:p>
                  </a:txBody>
                  <a:tcPr marL="54864" marR="54864" marT="27432" marB="27432">
                    <a:solidFill>
                      <a:srgbClr val="FFFFFF"/>
                    </a:solidFill>
                  </a:tcPr>
                </a:tc>
                <a:tc>
                  <a:txBody>
                    <a:bodyPr/>
                    <a:lstStyle/>
                    <a:p>
                      <a:r>
                        <a:rPr sz="850" b="0">
                          <a:solidFill>
                            <a:srgbClr val="4B4B4B"/>
                          </a:solidFill>
                          <a:latin typeface="Arial"/>
                        </a:rPr>
                        <a:t>Account n / Cost Centre / Amount</a:t>
                      </a:r>
                    </a:p>
                  </a:txBody>
                  <a:tcPr marL="54864" marR="54864" marT="27432" marB="27432">
                    <a:solidFill>
                      <a:srgbClr val="FFFFFF"/>
                    </a:solidFill>
                  </a:tcPr>
                </a:tc>
                <a:tc>
                  <a:txBody>
                    <a:bodyPr/>
                    <a:lstStyle/>
                    <a:p>
                      <a:r>
                        <a:rPr sz="850" b="0">
                          <a:solidFill>
                            <a:srgbClr val="4B4B4B"/>
                          </a:solidFill>
                          <a:latin typeface="Arial"/>
                        </a:rPr>
                        <a:t>Text, number</a:t>
                      </a:r>
                    </a:p>
                  </a:txBody>
                  <a:tcPr marL="54864" marR="54864" marT="27432" marB="27432">
                    <a:solidFill>
                      <a:srgbClr val="FFFFFF"/>
                    </a:solidFill>
                  </a:tcPr>
                </a:tc>
                <a:tc>
                  <a:txBody>
                    <a:bodyPr/>
                    <a:lstStyle/>
                    <a:p>
                      <a:r>
                        <a:rPr sz="850" b="0">
                          <a:solidFill>
                            <a:srgbClr val="4B4B4B"/>
                          </a:solidFill>
                          <a:latin typeface="Arial"/>
                        </a:rPr>
                        <a:t>The rows replace the debit of the disbursement type and add up to the gross</a:t>
                      </a:r>
                    </a:p>
                  </a:txBody>
                  <a:tcPr marL="54864" marR="54864" marT="27432" marB="27432">
                    <a:solidFill>
                      <a:srgbClr val="FFFFFF"/>
                    </a:solidFill>
                  </a:tcPr>
                </a:tc>
                <a:tc>
                  <a:txBody>
                    <a:bodyPr/>
                    <a:lstStyle/>
                    <a:p>
                      <a:r>
                        <a:rPr sz="850" b="0">
                          <a:solidFill>
                            <a:srgbClr val="4B4B4B"/>
                          </a:solidFill>
                          <a:latin typeface="Arial"/>
                        </a:rPr>
                        <a:t>Y / N / Y</a:t>
                      </a:r>
                    </a:p>
                  </a:txBody>
                  <a:tcPr marL="54864" marR="54864" marT="27432" marB="27432">
                    <a:solidFill>
                      <a:srgbClr val="FFFFFF"/>
                    </a:solidFill>
                  </a:tcPr>
                </a:tc>
                <a:tc>
                  <a:txBody>
                    <a:bodyPr/>
                    <a:lstStyle/>
                    <a:p>
                      <a:r>
                        <a:rPr sz="850" b="0">
                          <a:solidFill>
                            <a:srgbClr val="4B4B4B"/>
                          </a:solidFill>
                          <a:latin typeface="Arial"/>
                        </a:rPr>
                        <a:t>Total equals the gross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Instrument</a:t>
                      </a:r>
                    </a:p>
                  </a:txBody>
                  <a:tcPr marL="54864" marR="54864" marT="27432" marB="27432">
                    <a:solidFill>
                      <a:srgbClr val="FFFFFF"/>
                    </a:solidFill>
                  </a:tcPr>
                </a:tc>
                <a:tc>
                  <a:txBody>
                    <a:bodyPr/>
                    <a:lstStyle/>
                    <a:p>
                      <a:r>
                        <a:rPr sz="850" b="0">
                          <a:solidFill>
                            <a:srgbClr val="4B4B4B"/>
                          </a:solidFill>
                          <a:latin typeface="Arial"/>
                        </a:rPr>
                        <a:t>Status / Amount / Reference / Released to</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instrument of the mode with its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instrument is issued when the voucher is approved</a:t>
                      </a:r>
                    </a:p>
                  </a:txBody>
                  <a:tcPr marL="54864" marR="54864" marT="27432" marB="27432">
                    <a:solidFill>
                      <a:srgbClr val="FFFFFF"/>
                    </a:solidFill>
                  </a:tcPr>
                </a:tc>
              </a:tr>
              <a:tr h="350518">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Instrument</a:t>
                      </a:r>
                    </a:p>
                  </a:txBody>
                  <a:tcPr marL="54864" marR="54864" marT="27432" marB="27432">
                    <a:solidFill>
                      <a:srgbClr val="E5F5FF"/>
                    </a:solidFill>
                  </a:tcPr>
                </a:tc>
                <a:tc>
                  <a:txBody>
                    <a:bodyPr/>
                    <a:lstStyle/>
                    <a:p>
                      <a:r>
                        <a:rPr sz="850" b="0">
                          <a:solidFill>
                            <a:srgbClr val="4B4B4B"/>
                          </a:solidFill>
                          <a:latin typeface="Arial"/>
                        </a:rPr>
                        <a:t>Status History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 Source / By / Date and Time / Remarks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Request Status Edit dialog</a:t>
                      </a:r>
                    </a:p>
                  </a:txBody>
                  <a:tcPr marL="54864" marR="54864" marT="27432" marB="27432">
                    <a:solidFill>
                      <a:srgbClr val="FFFFFF"/>
                    </a:solidFill>
                  </a:tcPr>
                </a:tc>
                <a:tc>
                  <a:txBody>
                    <a:bodyPr/>
                    <a:lstStyle/>
                    <a:p>
                      <a:r>
                        <a:rPr sz="850" b="0">
                          <a:solidFill>
                            <a:srgbClr val="4B4B4B"/>
                          </a:solidFill>
                          <a:latin typeface="Arial"/>
                        </a:rPr>
                        <a:t>New Status / Reason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status to set and why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OR / AR and CWT</a:t>
                      </a:r>
                    </a:p>
                  </a:txBody>
                  <a:tcPr marL="54864" marR="54864" marT="27432" marB="27432">
                    <a:solidFill>
                      <a:srgbClr val="E5F5FF"/>
                    </a:solidFill>
                  </a:tcPr>
                </a:tc>
                <a:tc>
                  <a:txBody>
                    <a:bodyPr/>
                    <a:lstStyle/>
                    <a:p>
                      <a:r>
                        <a:rPr sz="850" b="0">
                          <a:solidFill>
                            <a:srgbClr val="4B4B4B"/>
                          </a:solidFill>
                          <a:latin typeface="Arial"/>
                        </a:rPr>
                        <a:t>Tag / Received / Released / Number / Date / Period / Received / Released On / Amount / Tagged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tags of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Tag dialog</a:t>
                      </a:r>
                    </a:p>
                  </a:txBody>
                  <a:tcPr marL="54864" marR="54864" marT="27432" marB="27432">
                    <a:solidFill>
                      <a:srgbClr val="FFFFFF"/>
                    </a:solidFill>
                  </a:tcPr>
                </a:tc>
                <a:tc>
                  <a:txBody>
                    <a:bodyPr/>
                    <a:lstStyle/>
                    <a:p>
                      <a:r>
                        <a:rPr sz="850" b="0">
                          <a:solidFill>
                            <a:srgbClr val="4B4B4B"/>
                          </a:solidFill>
                          <a:latin typeface="Arial"/>
                        </a:rPr>
                        <a:t>Received / Released / OR / AR No. / Certificate No. / Receipt Date / Period From / Period To / Amount</a:t>
                      </a:r>
                    </a:p>
                  </a:txBody>
                  <a:tcPr marL="54864" marR="54864" marT="27432" marB="27432">
                    <a:solidFill>
                      <a:srgbClr val="FFFFFF"/>
                    </a:solidFill>
                  </a:tcPr>
                </a:tc>
                <a:tc>
                  <a:txBody>
                    <a:bodyPr/>
                    <a:lstStyle/>
                    <a:p>
                      <a:r>
                        <a:rPr sz="850" b="0">
                          <a:solidFill>
                            <a:srgbClr val="4B4B4B"/>
                          </a:solidFill>
                          <a:latin typeface="Arial"/>
                        </a:rPr>
                        <a:t>Drop-down, text, date, number</a:t>
                      </a:r>
                    </a:p>
                  </a:txBody>
                  <a:tcPr marL="54864" marR="54864" marT="27432" marB="27432">
                    <a:solidFill>
                      <a:srgbClr val="FFFFFF"/>
                    </a:solidFill>
                  </a:tcPr>
                </a:tc>
                <a:tc>
                  <a:txBody>
                    <a:bodyPr/>
                    <a:lstStyle/>
                    <a:p>
                      <a:r>
                        <a:rPr sz="850" b="0">
                          <a:solidFill>
                            <a:srgbClr val="4B4B4B"/>
                          </a:solidFill>
                          <a:latin typeface="Arial"/>
                        </a:rPr>
                        <a:t>Received from insurer or Released to supplier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graphicFrame>
        <p:nvGraphicFramePr>
          <p:cNvPr id="9" name="Table 8"/>
          <p:cNvGraphicFramePr>
            <a:graphicFrameLocks noGrp="1"/>
          </p:cNvGraphicFramePr>
          <p:nvPr/>
        </p:nvGraphicFramePr>
        <p:xfrm>
          <a:off x="548640" y="1325880"/>
          <a:ext cx="11094412" cy="472437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Terms</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In process</a:t>
                      </a:r>
                    </a:p>
                  </a:txBody>
                  <a:tcPr marL="54864" marR="54864" marT="27432" marB="27432">
                    <a:solidFill>
                      <a:srgbClr val="FFFFFF"/>
                    </a:solidFill>
                  </a:tcPr>
                </a:tc>
                <a:tc>
                  <a:txBody>
                    <a:bodyPr/>
                    <a:lstStyle/>
                    <a:p>
                      <a:r>
                        <a:rPr sz="850" b="0">
                          <a:solidFill>
                            <a:srgbClr val="4B4B4B"/>
                          </a:solidFill>
                          <a:latin typeface="Arial"/>
                        </a:rPr>
                        <a:t>Saves the terms; the entry is prepared again from the rule</a:t>
                      </a:r>
                    </a:p>
                  </a:txBody>
                  <a:tcPr marL="54864" marR="54864" marT="27432" marB="27432">
                    <a:solidFill>
                      <a:srgbClr val="FFFFFF"/>
                    </a:solidFill>
                  </a:tcPr>
                </a:tc>
                <a:tc>
                  <a:txBody>
                    <a:bodyPr/>
                    <a:lstStyle/>
                    <a:p>
                      <a:r>
                        <a:rPr sz="850" b="0">
                          <a:solidFill>
                            <a:srgbClr val="4B4B4B"/>
                          </a:solidFill>
                          <a:latin typeface="Arial"/>
                        </a:rPr>
                        <a:t>In Process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Save Entry / Rebuild from Rule / Add Line / Allocate Expenses</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Saves the edited entry (marked Entry Edited), prepares it again from the rule, or allocates the expenses by cost centre</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In process and nothing missing</a:t>
                      </a:r>
                    </a:p>
                  </a:txBody>
                  <a:tcPr marL="54864" marR="54864" marT="27432" marB="27432">
                    <a:solidFill>
                      <a:srgbClr val="FFFFFF"/>
                    </a:solidFill>
                  </a:tcPr>
                </a:tc>
                <a:tc>
                  <a:txBody>
                    <a:bodyPr/>
                    <a:lstStyle/>
                    <a:p>
                      <a:r>
                        <a:rPr sz="850" b="0">
                          <a:solidFill>
                            <a:srgbClr val="4B4B4B"/>
                          </a:solidFill>
                          <a:latin typeface="Arial"/>
                        </a:rPr>
                        <a:t>Sends the voucher to the team leader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Route to Approver</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In process, refund or remittance</a:t>
                      </a:r>
                    </a:p>
                  </a:txBody>
                  <a:tcPr marL="54864" marR="54864" marT="27432" marB="27432">
                    <a:solidFill>
                      <a:srgbClr val="E5F5FF"/>
                    </a:solidFill>
                  </a:tcPr>
                </a:tc>
                <a:tc>
                  <a:txBody>
                    <a:bodyPr/>
                    <a:lstStyle/>
                    <a:p>
                      <a:r>
                        <a:rPr sz="850" b="0">
                          <a:solidFill>
                            <a:srgbClr val="4B4B4B"/>
                          </a:solidFill>
                          <a:latin typeface="Arial"/>
                        </a:rPr>
                        <a:t>Sends the voucher straight to the approver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Disbursement Team Leader (disbursement review), not the processor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Sends the voucher to the approver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Disbursement Approver (disbursement approve), not the processor or the checker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entry and issues the instrument after the confirmation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Workflow notice to the source</a:t>
                      </a:r>
                    </a:p>
                  </a:txBody>
                  <a:tcPr marL="54864" marR="54864" marT="27432" marB="27432">
                    <a:solidFill>
                      <a:srgbClr val="E5F5FF"/>
                    </a:solidFill>
                  </a:tcPr>
                </a:tc>
              </a:tr>
              <a:tr h="480057">
                <a:tc>
                  <a:txBody>
                    <a:bodyPr/>
                    <a:lstStyle/>
                    <a:p>
                      <a:r>
                        <a:rPr sz="850" b="0">
                          <a:solidFill>
                            <a:srgbClr val="4B4B4B"/>
                          </a:solidFill>
                          <a:latin typeface="Arial"/>
                        </a:rPr>
                        <a:t>Reject / Cancel Voucher</a:t>
                      </a:r>
                    </a:p>
                  </a:txBody>
                  <a:tcPr marL="54864" marR="54864" marT="27432" marB="27432">
                    <a:solidFill>
                      <a:srgbClr val="FFFFFF"/>
                    </a:solidFill>
                  </a:tcPr>
                </a:tc>
                <a:tc>
                  <a:txBody>
                    <a:bodyPr/>
                    <a:lstStyle/>
                    <a:p>
                      <a:r>
                        <a:rPr sz="850" b="0">
                          <a:solidFill>
                            <a:srgbClr val="4B4B4B"/>
                          </a:solidFill>
                          <a:latin typeface="Arial"/>
                        </a:rPr>
                        <a:t>Approver; Processor or Team Leader before approval; Approver after approval</a:t>
                      </a:r>
                    </a:p>
                  </a:txBody>
                  <a:tcPr marL="54864" marR="54864" marT="27432" marB="27432">
                    <a:solidFill>
                      <a:srgbClr val="FFFFFF"/>
                    </a:solidFill>
                  </a:tcPr>
                </a:tc>
                <a:tc>
                  <a:txBody>
                    <a:bodyPr/>
                    <a:lstStyle/>
                    <a:p>
                      <a:r>
                        <a:rPr sz="850" b="0">
                          <a:solidFill>
                            <a:srgbClr val="4B4B4B"/>
                          </a:solidFill>
                          <a:latin typeface="Arial"/>
                        </a:rPr>
                        <a:t>As the stage allows</a:t>
                      </a:r>
                    </a:p>
                  </a:txBody>
                  <a:tcPr marL="54864" marR="54864" marT="27432" marB="27432">
                    <a:solidFill>
                      <a:srgbClr val="FFFFFF"/>
                    </a:solidFill>
                  </a:tcPr>
                </a:tc>
                <a:tc>
                  <a:txBody>
                    <a:bodyPr/>
                    <a:lstStyle/>
                    <a:p>
                      <a:r>
                        <a:rPr sz="850" b="0">
                          <a:solidFill>
                            <a:srgbClr val="4B4B4B"/>
                          </a:solidFill>
                          <a:latin typeface="Arial"/>
                        </a:rPr>
                        <a:t>Rejects or cancels with the reason; an approved voucher is reversed and its request goes back to its source</a:t>
                      </a:r>
                    </a:p>
                  </a:txBody>
                  <a:tcPr marL="54864" marR="54864" marT="27432" marB="27432">
                    <a:solidFill>
                      <a:srgbClr val="FFFFFF"/>
                    </a:solidFill>
                  </a:tcPr>
                </a:tc>
                <a:tc>
                  <a:txBody>
                    <a:bodyPr/>
                    <a:lstStyle/>
                    <a:p>
                      <a:r>
                        <a:rPr sz="850" b="0">
                          <a:solidFill>
                            <a:srgbClr val="4B4B4B"/>
                          </a:solidFill>
                          <a:latin typeface="Arial"/>
                        </a:rPr>
                        <a:t>Rejected or Cancelled</a:t>
                      </a:r>
                    </a:p>
                  </a:txBody>
                  <a:tcPr marL="54864" marR="54864" marT="27432" marB="27432">
                    <a:solidFill>
                      <a:srgbClr val="FFFFFF"/>
                    </a:solidFill>
                  </a:tcPr>
                </a:tc>
                <a:tc>
                  <a:txBody>
                    <a:bodyPr/>
                    <a:lstStyle/>
                    <a:p>
                      <a:r>
                        <a:rPr sz="850" b="0">
                          <a:solidFill>
                            <a:srgbClr val="4B4B4B"/>
                          </a:solidFill>
                          <a:latin typeface="Arial"/>
                        </a:rPr>
                        <a:t>Workflow notice to the source</a:t>
                      </a:r>
                    </a:p>
                  </a:txBody>
                  <a:tcPr marL="54864" marR="54864" marT="27432" marB="27432">
                    <a:solidFill>
                      <a:srgbClr val="FFFFFF"/>
                    </a:solidFill>
                  </a:tcPr>
                </a:tc>
              </a:tr>
              <a:tr h="609596">
                <a:tc>
                  <a:txBody>
                    <a:bodyPr/>
                    <a:lstStyle/>
                    <a:p>
                      <a:r>
                        <a:rPr sz="850" b="0">
                          <a:solidFill>
                            <a:srgbClr val="4B4B4B"/>
                          </a:solidFill>
                          <a:latin typeface="Arial"/>
                        </a:rPr>
                        <a:t>Print / Release / Email to Branch / Confirm Debit / Receive from Branch / Re-issue Check</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As the mode and the status allow</a:t>
                      </a:r>
                    </a:p>
                  </a:txBody>
                  <a:tcPr marL="54864" marR="54864" marT="27432" marB="27432">
                    <a:solidFill>
                      <a:srgbClr val="E5F5FF"/>
                    </a:solidFill>
                  </a:tcPr>
                </a:tc>
                <a:tc>
                  <a:txBody>
                    <a:bodyPr/>
                    <a:lstStyle/>
                    <a:p>
                      <a:r>
                        <a:rPr sz="850" b="0">
                          <a:solidFill>
                            <a:srgbClr val="4B4B4B"/>
                          </a:solidFill>
                          <a:latin typeface="Arial"/>
                        </a:rPr>
                        <a:t>Moves the instrument to its next status</a:t>
                      </a:r>
                    </a:p>
                  </a:txBody>
                  <a:tcPr marL="54864" marR="54864" marT="27432" marB="27432">
                    <a:solidFill>
                      <a:srgbClr val="E5F5FF"/>
                    </a:solidFill>
                  </a:tcPr>
                </a:tc>
                <a:tc>
                  <a:txBody>
                    <a:bodyPr/>
                    <a:lstStyle/>
                    <a:p>
                      <a:r>
                        <a:rPr sz="850" b="0">
                          <a:solidFill>
                            <a:srgbClr val="4B4B4B"/>
                          </a:solidFill>
                          <a:latin typeface="Arial"/>
                        </a:rPr>
                        <a:t>Printed, Released, Emailed, Debited, Received or Stale re-issued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Status Edit / Approve Status Edit</a:t>
                      </a:r>
                    </a:p>
                  </a:txBody>
                  <a:tcPr marL="54864" marR="54864" marT="27432" marB="27432">
                    <a:solidFill>
                      <a:srgbClr val="FFFFFF"/>
                    </a:solidFill>
                  </a:tcPr>
                </a:tc>
                <a:tc>
                  <a:txBody>
                    <a:bodyPr/>
                    <a:lstStyle/>
                    <a:p>
                      <a:r>
                        <a:rPr sz="850" b="0">
                          <a:solidFill>
                            <a:srgbClr val="4B4B4B"/>
                          </a:solidFill>
                          <a:latin typeface="Arial"/>
                        </a:rPr>
                        <a:t>Processor; Team Leader (status approve), not the requester</a:t>
                      </a:r>
                    </a:p>
                  </a:txBody>
                  <a:tcPr marL="54864" marR="54864" marT="27432" marB="27432">
                    <a:solidFill>
                      <a:srgbClr val="FFFFFF"/>
                    </a:solidFill>
                  </a:tcPr>
                </a:tc>
                <a:tc>
                  <a:txBody>
                    <a:bodyPr/>
                    <a:lstStyle/>
                    <a:p>
                      <a:r>
                        <a:rPr sz="850" b="0">
                          <a:solidFill>
                            <a:srgbClr val="4B4B4B"/>
                          </a:solidFill>
                          <a:latin typeface="Arial"/>
                        </a:rPr>
                        <a:t>Approved voucher</a:t>
                      </a:r>
                    </a:p>
                  </a:txBody>
                  <a:tcPr marL="54864" marR="54864" marT="27432" marB="27432">
                    <a:solidFill>
                      <a:srgbClr val="FFFFFF"/>
                    </a:solidFill>
                  </a:tcPr>
                </a:tc>
                <a:tc>
                  <a:txBody>
                    <a:bodyPr/>
                    <a:lstStyle/>
                    <a:p>
                      <a:r>
                        <a:rPr sz="850" b="0">
                          <a:solidFill>
                            <a:srgbClr val="4B4B4B"/>
                          </a:solidFill>
                          <a:latin typeface="Arial"/>
                        </a:rPr>
                        <a:t>Changes the instrument status with approval</a:t>
                      </a:r>
                    </a:p>
                  </a:txBody>
                  <a:tcPr marL="54864" marR="54864" marT="27432" marB="27432">
                    <a:solidFill>
                      <a:srgbClr val="FFFFFF"/>
                    </a:solidFill>
                  </a:tcPr>
                </a:tc>
                <a:tc>
                  <a:txBody>
                    <a:bodyPr/>
                    <a:lstStyle/>
                    <a:p>
                      <a:r>
                        <a:rPr sz="850" b="0">
                          <a:solidFill>
                            <a:srgbClr val="4B4B4B"/>
                          </a:solidFill>
                          <a:latin typeface="Arial"/>
                        </a:rPr>
                        <a:t>As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Tag OR / AR / Tag CWT</a:t>
                      </a:r>
                    </a:p>
                  </a:txBody>
                  <a:tcPr marL="54864" marR="54864" marT="27432" marB="27432">
                    <a:solidFill>
                      <a:srgbClr val="E5F5FF"/>
                    </a:solidFill>
                  </a:tcPr>
                </a:tc>
                <a:tc>
                  <a:txBody>
                    <a:bodyPr/>
                    <a:lstStyle/>
                    <a:p>
                      <a:r>
                        <a:rPr sz="850" b="0">
                          <a:solidFill>
                            <a:srgbClr val="4B4B4B"/>
                          </a:solidFill>
                          <a:latin typeface="Arial"/>
                        </a:rPr>
                        <a:t>Disbursement Processor (disbursement tag)</a:t>
                      </a:r>
                    </a:p>
                  </a:txBody>
                  <a:tcPr marL="54864" marR="54864" marT="27432" marB="27432">
                    <a:solidFill>
                      <a:srgbClr val="E5F5FF"/>
                    </a:solidFill>
                  </a:tcPr>
                </a:tc>
                <a:tc>
                  <a:txBody>
                    <a:bodyPr/>
                    <a:lstStyle/>
                    <a:p>
                      <a:r>
                        <a:rPr sz="850" b="0">
                          <a:solidFill>
                            <a:srgbClr val="4B4B4B"/>
                          </a:solidFill>
                          <a:latin typeface="Arial"/>
                        </a:rPr>
                        <a:t>Approved voucher</a:t>
                      </a:r>
                    </a:p>
                  </a:txBody>
                  <a:tcPr marL="54864" marR="54864" marT="27432" marB="27432">
                    <a:solidFill>
                      <a:srgbClr val="E5F5FF"/>
                    </a:solidFill>
                  </a:tcPr>
                </a:tc>
                <a:tc>
                  <a:txBody>
                    <a:bodyPr/>
                    <a:lstStyle/>
                    <a:p>
                      <a:r>
                        <a:rPr sz="850" b="0">
                          <a:solidFill>
                            <a:srgbClr val="4B4B4B"/>
                          </a:solidFill>
                          <a:latin typeface="Arial"/>
                        </a:rPr>
                        <a:t>Records the receipt or the certificate on the voucher</a:t>
                      </a:r>
                    </a:p>
                  </a:txBody>
                  <a:tcPr marL="54864" marR="54864" marT="27432" marB="27432">
                    <a:solidFill>
                      <a:srgbClr val="E5F5FF"/>
                    </a:solidFill>
                  </a:tcPr>
                </a:tc>
                <a:tc>
                  <a:txBody>
                    <a:bodyPr/>
                    <a:lstStyle/>
                    <a:p>
                      <a:r>
                        <a:rPr sz="850" b="0">
                          <a:solidFill>
                            <a:srgbClr val="4B4B4B"/>
                          </a:solidFill>
                          <a:latin typeface="Arial"/>
                        </a:rPr>
                        <a:t>Regularised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Download Voucher / Download Form</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 / instrument with a form</a:t>
                      </a:r>
                    </a:p>
                  </a:txBody>
                  <a:tcPr marL="54864" marR="54864" marT="27432" marB="27432">
                    <a:solidFill>
                      <a:srgbClr val="FFFFFF"/>
                    </a:solidFill>
                  </a:tcPr>
                </a:tc>
                <a:tc>
                  <a:txBody>
                    <a:bodyPr/>
                    <a:lstStyle/>
                    <a:p>
                      <a:r>
                        <a:rPr sz="850" b="0">
                          <a:solidFill>
                            <a:srgbClr val="4B4B4B"/>
                          </a:solidFill>
                          <a:latin typeface="Arial"/>
                        </a:rPr>
                        <a:t>Downloads the voucher or the bank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is checked and approved by other users than its processor; refund and remittance vouchers are routed straight to the approver (FR-DS-036, FR-DS-040, FR-DS-041).</a:t>
                      </a:r>
                    </a:p>
                  </a:txBody>
                  <a:tcPr marL="54864" marR="54864" marT="27432" marB="27432">
                    <a:solidFill>
                      <a:srgbClr val="FFFFFF"/>
                    </a:solidFill>
                  </a:tcPr>
                </a:tc>
              </a:tr>
              <a:tr h="243840">
                <a:tc>
                  <a:txBody>
                    <a:bodyPr/>
                    <a:lstStyle/>
                    <a:p>
                      <a:r>
                        <a:rPr sz="1000" b="0">
                          <a:solidFill>
                            <a:srgbClr val="4B4B4B"/>
                          </a:solidFill>
                          <a:latin typeface="Arial"/>
                        </a:rPr>
                        <a:t>The proforma entry comes from the accounting rule of the disbursement type; edited lines are marked for the approver and the entry must balance (FR-DS-031).</a:t>
                      </a:r>
                    </a:p>
                  </a:txBody>
                  <a:tcPr marL="54864" marR="54864" marT="27432" marB="27432">
                    <a:solidFill>
                      <a:srgbClr val="E5F5FF"/>
                    </a:solidFill>
                  </a:tcPr>
                </a:tc>
              </a:tr>
              <a:tr h="396240">
                <a:tc>
                  <a:txBody>
                    <a:bodyPr/>
                    <a:lstStyle/>
                    <a:p>
                      <a:r>
                        <a:rPr sz="1000" b="0">
                          <a:solidFill>
                            <a:srgbClr val="4B4B4B"/>
                          </a:solidFill>
                          <a:latin typeface="Arial"/>
                        </a:rPr>
                        <a:t>Approval posts the entry and issues the instrument of the mode; a cancelled approved voucher is reversed and its request goes back to its source for regularisation (FR-DS-041, FR-DS-044).</a:t>
                      </a:r>
                    </a:p>
                  </a:txBody>
                  <a:tcPr marL="54864" marR="54864" marT="27432" marB="27432">
                    <a:solidFill>
                      <a:srgbClr val="FFFFFF"/>
                    </a:solidFill>
                  </a:tcPr>
                </a:tc>
              </a:tr>
              <a:tr h="243840">
                <a:tc>
                  <a:txBody>
                    <a:bodyPr/>
                    <a:lstStyle/>
                    <a:p>
                      <a:r>
                        <a:rPr sz="1000" b="0">
                          <a:solidFill>
                            <a:srgbClr val="4B4B4B"/>
                          </a:solidFill>
                          <a:latin typeface="Arial"/>
                        </a:rPr>
                        <a:t>An instrument status edit is approved by the team leader, not by the requester (FR-DS-051).</a:t>
                      </a:r>
                    </a:p>
                  </a:txBody>
                  <a:tcPr marL="54864" marR="54864" marT="27432" marB="27432">
                    <a:solidFill>
                      <a:srgbClr val="E5F5FF"/>
                    </a:solidFill>
                  </a:tcPr>
                </a:tc>
              </a:tr>
              <a:tr h="243840">
                <a:tc>
                  <a:txBody>
                    <a:bodyPr/>
                    <a:lstStyle/>
                    <a:p>
                      <a:r>
                        <a:rPr sz="1000" b="0">
                          <a:solidFill>
                            <a:srgbClr val="4B4B4B"/>
                          </a:solidFill>
                          <a:latin typeface="Arial"/>
                        </a:rPr>
                        <a:t>A check not negotiated after 180 days becomes stale and is re-issued through a new request (FR-DS-054).</a:t>
                      </a:r>
                    </a:p>
                  </a:txBody>
                  <a:tcPr marL="54864" marR="54864" marT="27432" marB="27432">
                    <a:solidFill>
                      <a:srgbClr val="FFFFFF"/>
                    </a:solidFill>
                  </a:tcPr>
                </a:tc>
              </a:tr>
              <a:tr h="243840">
                <a:tc>
                  <a:txBody>
                    <a:bodyPr/>
                    <a:lstStyle/>
                    <a:p>
                      <a:r>
                        <a:rPr sz="1000" b="0">
                          <a:solidFill>
                            <a:srgbClr val="4B4B4B"/>
                          </a:solidFill>
                          <a:latin typeface="Arial"/>
                        </a:rPr>
                        <a:t>Every approved voucher counts as unregularised until its OR / AR is tagged (FR-DS-045, FR-DS-056).</a:t>
                      </a:r>
                    </a:p>
                  </a:txBody>
                  <a:tcPr marL="54864" marR="54864" marT="27432" marB="27432">
                    <a:solidFill>
                      <a:srgbClr val="E5F5FF"/>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Clicks Approve and Post and confirms</a:t>
                      </a:r>
                    </a:p>
                  </a:txBody>
                  <a:tcPr marL="54864" marR="54864" marT="27432" marB="27432">
                    <a:solidFill>
                      <a:srgbClr val="FFFFFF"/>
                    </a:solidFill>
                  </a:tcPr>
                </a:tc>
                <a:tc>
                  <a:txBody>
                    <a:bodyPr/>
                    <a:lstStyle/>
                    <a:p>
                      <a:r>
                        <a:rPr sz="900" b="0">
                          <a:solidFill>
                            <a:srgbClr val="4B4B4B"/>
                          </a:solidFill>
                          <a:latin typeface="Arial"/>
                        </a:rPr>
                        <a:t>SCR-AC-27_wt-b-step-07.png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Opens the voucher</a:t>
                      </a:r>
                    </a:p>
                  </a:txBody>
                  <a:tcPr marL="54864" marR="54864" marT="27432" marB="27432">
                    <a:solidFill>
                      <a:srgbClr val="E5F5FF"/>
                    </a:solidFill>
                  </a:tcPr>
                </a:tc>
                <a:tc>
                  <a:txBody>
                    <a:bodyPr/>
                    <a:lstStyle/>
                    <a:p>
                      <a:r>
                        <a:rPr sz="900" b="0">
                          <a:solidFill>
                            <a:srgbClr val="4B4B4B"/>
                          </a:solidFill>
                          <a:latin typeface="Arial"/>
                        </a:rPr>
                        <a:t>SCR-AC-27_wt-b-step-06.png</a:t>
                      </a:r>
                    </a:p>
                  </a:txBody>
                  <a:tcPr marL="54864" marR="54864" marT="27432" marB="27432">
                    <a:solidFill>
                      <a:srgbClr val="E5F5FF"/>
                    </a:solidFill>
                  </a:tcPr>
                </a:tc>
              </a:tr>
            </a:tbl>
          </a:graphicData>
        </a:graphic>
      </p:graphicFrame>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6.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1 of 3)</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7.png"/>
          <p:cNvPicPr>
            <a:picLocks noChangeAspect="1"/>
          </p:cNvPicPr>
          <p:nvPr/>
        </p:nvPicPr>
        <p:blipFill>
          <a:blip r:embed="rId3"/>
          <a:stretch>
            <a:fillRect/>
          </a:stretch>
        </p:blipFill>
        <p:spPr>
          <a:xfrm>
            <a:off x="548640" y="1261872"/>
            <a:ext cx="11094415" cy="435647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2 of 3)</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8.png"/>
          <p:cNvPicPr>
            <a:picLocks noChangeAspect="1"/>
          </p:cNvPicPr>
          <p:nvPr/>
        </p:nvPicPr>
        <p:blipFill>
          <a:blip r:embed="rId3"/>
          <a:stretch>
            <a:fillRect/>
          </a:stretch>
        </p:blipFill>
        <p:spPr>
          <a:xfrm>
            <a:off x="548640" y="1261872"/>
            <a:ext cx="11094415" cy="10329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3 of 3)</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Disbursement Voucher: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7-02-entry.png"/>
          <p:cNvPicPr>
            <a:picLocks noChangeAspect="1"/>
          </p:cNvPicPr>
          <p:nvPr/>
        </p:nvPicPr>
        <p:blipFill>
          <a:blip r:embed="rId3"/>
          <a:stretch>
            <a:fillRect/>
          </a:stretch>
        </p:blipFill>
        <p:spPr>
          <a:xfrm>
            <a:off x="948568" y="1261872"/>
            <a:ext cx="1029455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Entry tab: the proforma entry from the rule, its totals and the expense allocation</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27-05-approve.png"/>
          <p:cNvPicPr>
            <a:picLocks noChangeAspect="1"/>
          </p:cNvPicPr>
          <p:nvPr/>
        </p:nvPicPr>
        <p:blipFill>
          <a:blip r:embed="rId3"/>
          <a:stretch>
            <a:fillRect/>
          </a:stretch>
        </p:blipFill>
        <p:spPr>
          <a:xfrm>
            <a:off x="548640" y="1261872"/>
            <a:ext cx="11094415" cy="44659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Approve and Post: the entry posted and the instrument issued on confirmation</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39.png"/>
          <p:cNvPicPr>
            <a:picLocks noChangeAspect="1"/>
          </p:cNvPicPr>
          <p:nvPr/>
        </p:nvPicPr>
        <p:blipFill>
          <a:blip r:embed="rId3"/>
          <a:stretch>
            <a:fillRect/>
          </a:stretch>
        </p:blipFill>
        <p:spPr>
          <a:xfrm>
            <a:off x="548640" y="1261872"/>
            <a:ext cx="11094415" cy="45475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Instrument tab of a check: status, amount, released to and the status history (part 1 of 2)</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40.png"/>
          <p:cNvPicPr>
            <a:picLocks noChangeAspect="1"/>
          </p:cNvPicPr>
          <p:nvPr/>
        </p:nvPicPr>
        <p:blipFill>
          <a:blip r:embed="rId3"/>
          <a:stretch>
            <a:fillRect/>
          </a:stretch>
        </p:blipFill>
        <p:spPr>
          <a:xfrm>
            <a:off x="548640" y="1261872"/>
            <a:ext cx="11094415" cy="21267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Instrument tab of a check: status, amount, released to and the status history (part 2 of 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27-04-tags.png"/>
          <p:cNvPicPr>
            <a:picLocks noChangeAspect="1"/>
          </p:cNvPicPr>
          <p:nvPr/>
        </p:nvPicPr>
        <p:blipFill>
          <a:blip r:embed="rId3"/>
          <a:stretch>
            <a:fillRect/>
          </a:stretch>
        </p:blipFill>
        <p:spPr>
          <a:xfrm>
            <a:off x="576348" y="1261872"/>
            <a:ext cx="110389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OR / AR and CWT tab: the receipts and certificates tagged on the voucher</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payee master: the payees by tab (Active, For Authorisation, Drafts, Inactive) with their class, default mode, primary account and source, and the Payee Requests raised by refunds, payment requests without payee and Disbursement users, which the team leader turns into payees or closes.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Payees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FR-DS-010, FR-DS-012, FR-DS-014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keeps one master of payees with every request answered.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Active / For Authorisation / Drafts / Inactive / Payee Requests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Payee Code 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Payee Code / Name / Class / Default Mode / Primary Account / Source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Class Supplier, Insurer, Employee, Client or Others; account masked for other units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Payee Requests</a:t>
                      </a:r>
                    </a:p>
                  </a:txBody>
                  <a:tcPr marL="54864" marR="54864" marT="27432" marB="27432">
                    <a:solidFill>
                      <a:srgbClr val="E5F5FF"/>
                    </a:solidFill>
                  </a:tcPr>
                </a:tc>
                <a:tc>
                  <a:txBody>
                    <a:bodyPr/>
                    <a:lstStyle/>
                    <a:p>
                      <a:r>
                        <a:rPr sz="850" b="0">
                          <a:solidFill>
                            <a:srgbClr val="4B4B4B"/>
                          </a:solidFill>
                          <a:latin typeface="Arial"/>
                        </a:rPr>
                        <a:t>Source / Payee Code / Payee Name / Reference / Details /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Where the request comes from (a request without payee, a refund, a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Payee</a:t>
                      </a:r>
                    </a:p>
                  </a:txBody>
                  <a:tcPr marL="54864" marR="54864" marT="27432" marB="27432">
                    <a:solidFill>
                      <a:srgbClr val="FFFFFF"/>
                    </a:solidFill>
                  </a:tcPr>
                </a:tc>
                <a:tc>
                  <a:txBody>
                    <a:bodyPr/>
                    <a:lstStyle/>
                    <a:p>
                      <a:r>
                        <a:rPr sz="850" b="0">
                          <a:solidFill>
                            <a:srgbClr val="4B4B4B"/>
                          </a:solidFill>
                          <a:latin typeface="Arial"/>
                        </a:rPr>
                        <a:t>Disbursement Team Leader (payee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payee form</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Payee / Close</a:t>
                      </a:r>
                    </a:p>
                  </a:txBody>
                  <a:tcPr marL="54864" marR="54864" marT="27432" marB="27432">
                    <a:solidFill>
                      <a:srgbClr val="E5F5FF"/>
                    </a:solidFill>
                  </a:tcPr>
                </a:tc>
                <a:tc>
                  <a:txBody>
                    <a:bodyPr/>
                    <a:lstStyle/>
                    <a:p>
                      <a:r>
                        <a:rPr sz="850" b="0">
                          <a:solidFill>
                            <a:srgbClr val="4B4B4B"/>
                          </a:solidFill>
                          <a:latin typeface="Arial"/>
                        </a:rPr>
                        <a:t>Disbursement Team Leader (payee maintain)</a:t>
                      </a:r>
                    </a:p>
                  </a:txBody>
                  <a:tcPr marL="54864" marR="54864" marT="27432" marB="27432">
                    <a:solidFill>
                      <a:srgbClr val="E5F5FF"/>
                    </a:solidFill>
                  </a:tcPr>
                </a:tc>
                <a:tc>
                  <a:txBody>
                    <a:bodyPr/>
                    <a:lstStyle/>
                    <a:p>
                      <a:r>
                        <a:rPr sz="850" b="0">
                          <a:solidFill>
                            <a:srgbClr val="4B4B4B"/>
                          </a:solidFill>
                          <a:latin typeface="Arial"/>
                        </a:rPr>
                        <a:t>A payee request</a:t>
                      </a:r>
                    </a:p>
                  </a:txBody>
                  <a:tcPr marL="54864" marR="54864" marT="27432" marB="27432">
                    <a:solidFill>
                      <a:srgbClr val="E5F5FF"/>
                    </a:solidFill>
                  </a:tcPr>
                </a:tc>
                <a:tc>
                  <a:txBody>
                    <a:bodyPr/>
                    <a:lstStyle/>
                    <a:p>
                      <a:r>
                        <a:rPr sz="850" b="0">
                          <a:solidFill>
                            <a:srgbClr val="4B4B4B"/>
                          </a:solidFill>
                          <a:latin typeface="Arial"/>
                        </a:rPr>
                        <a:t>Opens the payee form with the request's code and name, or closes the request after the confirmation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payee is used on vouchers only once the approver has authorised it; a request without a payee raises a payee request (FR-DS-010, FR-DS-012).</a:t>
                      </a:r>
                    </a:p>
                  </a:txBody>
                  <a:tcPr marL="54864" marR="54864" marT="27432" marB="27432">
                    <a:solidFill>
                      <a:srgbClr val="FFFFFF"/>
                    </a:solidFill>
                  </a:tcPr>
                </a:tc>
              </a:tr>
            </a:tbl>
          </a:graphicData>
        </a:graphic>
      </p:graphicFrame>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8-01-list.png"/>
          <p:cNvPicPr>
            <a:picLocks noChangeAspect="1"/>
          </p:cNvPicPr>
          <p:nvPr/>
        </p:nvPicPr>
        <p:blipFill>
          <a:blip r:embed="rId3"/>
          <a:stretch>
            <a:fillRect/>
          </a:stretch>
        </p:blipFill>
        <p:spPr>
          <a:xfrm>
            <a:off x="1359255" y="1261872"/>
            <a:ext cx="94731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Payees: the active payees with class, default mode, primary account and source</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8-02-requests.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Payee Requests: the requests to create a payee, with Create Payee and Close</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ac-28-actions.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payee request, opened from the more button of its row</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payee: code, class, name, TIN, e-mail, address, default mode, currency, default cost centre, the modes of payment allowed and remarks; its bank accounts; the payee workflow (submit, authorise, request deactivation or reactivation). A payee never used on a payment can be deleted.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Payees › Payee</a:t>
                      </a:r>
                    </a:p>
                    <a:p>
                      <a:r>
                        <a:rPr sz="950" b="0">
                          <a:solidFill>
                            <a:srgbClr val="4B4B4B"/>
                          </a:solidFill>
                          <a:latin typeface="Arial"/>
                        </a:rPr>
                        <a:t>Payees › New Payee, Create Payee or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FR-DS-010, FR-DS-011, FR-DS-013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payee is ready to be paid.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graphicFrame>
        <p:nvGraphicFramePr>
          <p:cNvPr id="9" name="Table 8"/>
          <p:cNvGraphicFramePr>
            <a:graphicFrameLocks noGrp="1"/>
          </p:cNvGraphicFramePr>
          <p:nvPr/>
        </p:nvGraphicFramePr>
        <p:xfrm>
          <a:off x="548640" y="1325880"/>
          <a:ext cx="11094411" cy="315466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Payee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party code of the client, insurer, supplier or employee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Enter the payee code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Payee Class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Supplier, Insurer, Employee, Client,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Name / TIN / E-mail /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payee details</a:t>
                      </a:r>
                    </a:p>
                  </a:txBody>
                  <a:tcPr marL="54864" marR="54864" marT="27432" marB="27432">
                    <a:solidFill>
                      <a:srgbClr val="FFFFFF"/>
                    </a:solidFill>
                  </a:tcPr>
                </a:tc>
                <a:tc>
                  <a:txBody>
                    <a:bodyPr/>
                    <a:lstStyle/>
                    <a:p>
                      <a:r>
                        <a:rPr sz="850" b="0">
                          <a:solidFill>
                            <a:srgbClr val="4B4B4B"/>
                          </a:solidFill>
                          <a:latin typeface="Arial"/>
                        </a:rPr>
                        <a:t>Y / N / N / N</a:t>
                      </a:r>
                    </a:p>
                  </a:txBody>
                  <a:tcPr marL="54864" marR="54864" marT="27432" marB="27432">
                    <a:solidFill>
                      <a:srgbClr val="FFFFFF"/>
                    </a:solidFill>
                  </a:tcPr>
                </a:tc>
                <a:tc>
                  <a:txBody>
                    <a:bodyPr/>
                    <a:lstStyle/>
                    <a:p>
                      <a:r>
                        <a:rPr sz="850" b="0">
                          <a:solidFill>
                            <a:srgbClr val="4B4B4B"/>
                          </a:solidFill>
                          <a:latin typeface="Arial"/>
                        </a:rPr>
                        <a:t>A valid e-mail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Default Mode / Currency / Default Cost Centre</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usual mode, three-letter currency, cost centre</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Allowed Modes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The seven modes of payment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an account for the credit modes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Bank Accounts</a:t>
                      </a:r>
                    </a:p>
                  </a:txBody>
                  <a:tcPr marL="54864" marR="54864" marT="27432" marB="27432">
                    <a:solidFill>
                      <a:srgbClr val="FFFFFF"/>
                    </a:solidFill>
                  </a:tcPr>
                </a:tc>
                <a:tc>
                  <a:txBody>
                    <a:bodyPr/>
                    <a:lstStyle/>
                    <a:p>
                      <a:r>
                        <a:rPr sz="850" b="0">
                          <a:solidFill>
                            <a:srgbClr val="4B4B4B"/>
                          </a:solidFill>
                          <a:latin typeface="Arial"/>
                        </a:rPr>
                        <a:t>Bank / Account No. / Account Name / Currency / Mode / Primary / Active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accounts of the payee; numbers masked for the users without full 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Add Bank Account dialog</a:t>
                      </a:r>
                    </a:p>
                  </a:txBody>
                  <a:tcPr marL="54864" marR="54864" marT="27432" marB="27432">
                    <a:solidFill>
                      <a:srgbClr val="E5F5FF"/>
                    </a:solidFill>
                  </a:tcPr>
                </a:tc>
                <a:tc>
                  <a:txBody>
                    <a:bodyPr/>
                    <a:lstStyle/>
                    <a:p>
                      <a:r>
                        <a:rPr sz="850" b="0">
                          <a:solidFill>
                            <a:srgbClr val="4B4B4B"/>
                          </a:solidFill>
                          <a:latin typeface="Arial"/>
                        </a:rPr>
                        <a:t>Bank / Branch / Account No. / Account Name / Currency / Mode / Primary account</a:t>
                      </a:r>
                    </a:p>
                  </a:txBody>
                  <a:tcPr marL="54864" marR="54864" marT="27432" marB="27432">
                    <a:solidFill>
                      <a:srgbClr val="E5F5FF"/>
                    </a:solidFill>
                  </a:tcPr>
                </a:tc>
                <a:tc>
                  <a:txBody>
                    <a:bodyPr/>
                    <a:lstStyle/>
                    <a:p>
                      <a:r>
                        <a:rPr sz="850" b="0">
                          <a:solidFill>
                            <a:srgbClr val="4B4B4B"/>
                          </a:solidFill>
                          <a:latin typeface="Arial"/>
                        </a:rPr>
                        <a:t>Text, drop-down, check box</a:t>
                      </a:r>
                    </a:p>
                  </a:txBody>
                  <a:tcPr marL="54864" marR="54864" marT="27432" marB="27432">
                    <a:solidFill>
                      <a:srgbClr val="E5F5FF"/>
                    </a:solidFill>
                  </a:tcPr>
                </a:tc>
                <a:tc>
                  <a:txBody>
                    <a:bodyPr/>
                    <a:lstStyle/>
                    <a:p>
                      <a:r>
                        <a:rPr sz="850" b="0">
                          <a:solidFill>
                            <a:srgbClr val="4B4B4B"/>
                          </a:solidFill>
                          <a:latin typeface="Arial"/>
                        </a:rPr>
                        <a:t>The account and the mode it is used for</a:t>
                      </a:r>
                    </a:p>
                  </a:txBody>
                  <a:tcPr marL="54864" marR="54864" marT="27432" marB="27432">
                    <a:solidFill>
                      <a:srgbClr val="E5F5FF"/>
                    </a:solidFill>
                  </a:tcPr>
                </a:tc>
                <a:tc>
                  <a:txBody>
                    <a:bodyPr/>
                    <a:lstStyle/>
                    <a:p>
                      <a:r>
                        <a:rPr sz="850" b="0">
                          <a:solidFill>
                            <a:srgbClr val="4B4B4B"/>
                          </a:solidFill>
                          <a:latin typeface="Arial"/>
                        </a:rPr>
                        <a:t>Y / N / Y / Y / 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 / Save / Save and Send for Authorisation</a:t>
                      </a:r>
                    </a:p>
                  </a:txBody>
                  <a:tcPr marL="54864" marR="54864" marT="27432" marB="27432">
                    <a:solidFill>
                      <a:srgbClr val="FFFFFF"/>
                    </a:solidFill>
                  </a:tcPr>
                </a:tc>
                <a:tc>
                  <a:txBody>
                    <a:bodyPr/>
                    <a:lstStyle/>
                    <a:p>
                      <a:r>
                        <a:rPr sz="850" b="0">
                          <a:solidFill>
                            <a:srgbClr val="4B4B4B"/>
                          </a:solidFill>
                          <a:latin typeface="Arial"/>
                        </a:rPr>
                        <a:t>Disbursement Team Leader (payee maintain)</a:t>
                      </a:r>
                    </a:p>
                  </a:txBody>
                  <a:tcPr marL="54864" marR="54864" marT="27432" marB="27432">
                    <a:solidFill>
                      <a:srgbClr val="FFFFFF"/>
                    </a:solidFill>
                  </a:tcPr>
                </a:tc>
                <a:tc>
                  <a:txBody>
                    <a:bodyPr/>
                    <a:lstStyle/>
                    <a:p>
                      <a:r>
                        <a:rPr sz="850" b="0">
                          <a:solidFill>
                            <a:srgbClr val="4B4B4B"/>
                          </a:solidFill>
                          <a:latin typeface="Arial"/>
                        </a:rPr>
                        <a:t>Draft or active payee</a:t>
                      </a:r>
                    </a:p>
                  </a:txBody>
                  <a:tcPr marL="54864" marR="54864" marT="27432" marB="27432">
                    <a:solidFill>
                      <a:srgbClr val="FFFFFF"/>
                    </a:solidFill>
                  </a:tcPr>
                </a:tc>
                <a:tc>
                  <a:txBody>
                    <a:bodyPr/>
                    <a:lstStyle/>
                    <a:p>
                      <a:r>
                        <a:rPr sz="850" b="0">
                          <a:solidFill>
                            <a:srgbClr val="4B4B4B"/>
                          </a:solidFill>
                          <a:latin typeface="Arial"/>
                        </a:rPr>
                        <a:t>Saves the payee; a change of an active payee goes for authorisation</a:t>
                      </a:r>
                    </a:p>
                  </a:txBody>
                  <a:tcPr marL="54864" marR="54864" marT="27432" marB="27432">
                    <a:solidFill>
                      <a:srgbClr val="FFFFFF"/>
                    </a:solidFill>
                  </a:tcPr>
                </a:tc>
                <a:tc>
                  <a:txBody>
                    <a:bodyPr/>
                    <a:lstStyle/>
                    <a:p>
                      <a:r>
                        <a:rPr sz="850" b="0">
                          <a:solidFill>
                            <a:srgbClr val="4B4B4B"/>
                          </a:solidFill>
                          <a:latin typeface="Arial"/>
                        </a:rPr>
                        <a:t>Draft or For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Authorisation / Authorise</a:t>
                      </a:r>
                    </a:p>
                  </a:txBody>
                  <a:tcPr marL="54864" marR="54864" marT="27432" marB="27432">
                    <a:solidFill>
                      <a:srgbClr val="E5F5FF"/>
                    </a:solidFill>
                  </a:tcPr>
                </a:tc>
                <a:tc>
                  <a:txBody>
                    <a:bodyPr/>
                    <a:lstStyle/>
                    <a:p>
                      <a:r>
                        <a:rPr sz="850" b="0">
                          <a:solidFill>
                            <a:srgbClr val="4B4B4B"/>
                          </a:solidFill>
                          <a:latin typeface="Arial"/>
                        </a:rPr>
                        <a:t>Team Leader; Approver (payee authorize), not the maker</a:t>
                      </a:r>
                    </a:p>
                  </a:txBody>
                  <a:tcPr marL="54864" marR="54864" marT="27432" marB="27432">
                    <a:solidFill>
                      <a:srgbClr val="E5F5FF"/>
                    </a:solidFill>
                  </a:tcPr>
                </a:tc>
                <a:tc>
                  <a:txBody>
                    <a:bodyPr/>
                    <a:lstStyle/>
                    <a:p>
                      <a:r>
                        <a:rPr sz="850" b="0">
                          <a:solidFill>
                            <a:srgbClr val="4B4B4B"/>
                          </a:solidFill>
                          <a:latin typeface="Arial"/>
                        </a:rPr>
                        <a:t>As the stage allows</a:t>
                      </a:r>
                    </a:p>
                  </a:txBody>
                  <a:tcPr marL="54864" marR="54864" marT="27432" marB="27432">
                    <a:solidFill>
                      <a:srgbClr val="E5F5FF"/>
                    </a:solidFill>
                  </a:tcPr>
                </a:tc>
                <a:tc>
                  <a:txBody>
                    <a:bodyPr/>
                    <a:lstStyle/>
                    <a:p>
                      <a:r>
                        <a:rPr sz="850" b="0">
                          <a:solidFill>
                            <a:srgbClr val="4B4B4B"/>
                          </a:solidFill>
                          <a:latin typeface="Arial"/>
                        </a:rPr>
                        <a:t>Sends the payee for authorisation, or authorises it</a:t>
                      </a:r>
                    </a:p>
                  </a:txBody>
                  <a:tcPr marL="54864" marR="54864" marT="27432" marB="27432">
                    <a:solidFill>
                      <a:srgbClr val="E5F5FF"/>
                    </a:solidFill>
                  </a:tcPr>
                </a:tc>
                <a:tc>
                  <a:txBody>
                    <a:bodyPr/>
                    <a:lstStyle/>
                    <a:p>
                      <a:r>
                        <a:rPr sz="850" b="0">
                          <a:solidFill>
                            <a:srgbClr val="4B4B4B"/>
                          </a:solidFill>
                          <a:latin typeface="Arial"/>
                        </a:rPr>
                        <a:t>For Authorization or Active</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Request Deactivation / Request Reactivation</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Asks the approver to deactivate or reactivate the payee</a:t>
                      </a:r>
                    </a:p>
                  </a:txBody>
                  <a:tcPr marL="54864" marR="54864" marT="27432" marB="27432">
                    <a:solidFill>
                      <a:srgbClr val="FFFFFF"/>
                    </a:solidFill>
                  </a:tcPr>
                </a:tc>
                <a:tc>
                  <a:txBody>
                    <a:bodyPr/>
                    <a:lstStyle/>
                    <a:p>
                      <a:r>
                        <a:rPr sz="850" b="0">
                          <a:solidFill>
                            <a:srgbClr val="4B4B4B"/>
                          </a:solidFill>
                          <a:latin typeface="Arial"/>
                        </a:rPr>
                        <a:t>For Deactivation or For Reactivation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Add Account / [Deactivate]</a:t>
                      </a:r>
                    </a:p>
                  </a:txBody>
                  <a:tcPr marL="54864" marR="54864" marT="27432" marB="27432">
                    <a:solidFill>
                      <a:srgbClr val="E5F5FF"/>
                    </a:solidFill>
                  </a:tcPr>
                </a:tc>
                <a:tc>
                  <a:txBody>
                    <a:bodyPr/>
                    <a:lstStyle/>
                    <a:p>
                      <a:r>
                        <a:rPr sz="850" b="0">
                          <a:solidFill>
                            <a:srgbClr val="4B4B4B"/>
                          </a:solidFill>
                          <a:latin typeface="Arial"/>
                        </a:rPr>
                        <a:t>Disbursement Team Leader</a:t>
                      </a:r>
                    </a:p>
                  </a:txBody>
                  <a:tcPr marL="54864" marR="54864" marT="27432" marB="27432">
                    <a:solidFill>
                      <a:srgbClr val="E5F5FF"/>
                    </a:solidFill>
                  </a:tcPr>
                </a:tc>
                <a:tc>
                  <a:txBody>
                    <a:bodyPr/>
                    <a:lstStyle/>
                    <a:p>
                      <a:r>
                        <a:rPr sz="850" b="0">
                          <a:solidFill>
                            <a:srgbClr val="4B4B4B"/>
                          </a:solidFill>
                          <a:latin typeface="Arial"/>
                        </a:rPr>
                        <a:t>Draft or active payee</a:t>
                      </a:r>
                    </a:p>
                  </a:txBody>
                  <a:tcPr marL="54864" marR="54864" marT="27432" marB="27432">
                    <a:solidFill>
                      <a:srgbClr val="E5F5FF"/>
                    </a:solidFill>
                  </a:tcPr>
                </a:tc>
                <a:tc>
                  <a:txBody>
                    <a:bodyPr/>
                    <a:lstStyle/>
                    <a:p>
                      <a:r>
                        <a:rPr sz="850" b="0">
                          <a:solidFill>
                            <a:srgbClr val="4B4B4B"/>
                          </a:solidFill>
                          <a:latin typeface="Arial"/>
                        </a:rPr>
                        <a:t>Adds a bank account or deactivates one; the payee goes back for authorisation</a:t>
                      </a:r>
                    </a:p>
                  </a:txBody>
                  <a:tcPr marL="54864" marR="54864" marT="27432" marB="27432">
                    <a:solidFill>
                      <a:srgbClr val="E5F5FF"/>
                    </a:solidFill>
                  </a:tcPr>
                </a:tc>
                <a:tc>
                  <a:txBody>
                    <a:bodyPr/>
                    <a:lstStyle/>
                    <a:p>
                      <a:r>
                        <a:rPr sz="850" b="0">
                          <a:solidFill>
                            <a:srgbClr val="4B4B4B"/>
                          </a:solidFill>
                          <a:latin typeface="Arial"/>
                        </a:rPr>
                        <a:t>For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Delete Payee</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The payee was never used</a:t>
                      </a:r>
                    </a:p>
                  </a:txBody>
                  <a:tcPr marL="54864" marR="54864" marT="27432" marB="27432">
                    <a:solidFill>
                      <a:srgbClr val="FFFFFF"/>
                    </a:solidFill>
                  </a:tcPr>
                </a:tc>
                <a:tc>
                  <a:txBody>
                    <a:bodyPr/>
                    <a:lstStyle/>
                    <a:p>
                      <a:r>
                        <a:rPr sz="850" b="0">
                          <a:solidFill>
                            <a:srgbClr val="4B4B4B"/>
                          </a:solidFill>
                          <a:latin typeface="Arial"/>
                        </a:rPr>
                        <a:t>Deletes the payee after the confirmation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payee is authorised by another user than its maker; a change of an active payee waits for authorisation (FR-DS-010).</a:t>
                      </a:r>
                    </a:p>
                  </a:txBody>
                  <a:tcPr marL="54864" marR="54864" marT="27432" marB="27432">
                    <a:solidFill>
                      <a:srgbClr val="FFFFFF"/>
                    </a:solidFill>
                  </a:tcPr>
                </a:tc>
              </a:tr>
              <a:tr h="243840">
                <a:tc>
                  <a:txBody>
                    <a:bodyPr/>
                    <a:lstStyle/>
                    <a:p>
                      <a:r>
                        <a:rPr sz="1000" b="0">
                          <a:solidFill>
                            <a:srgbClr val="4B4B4B"/>
                          </a:solidFill>
                          <a:latin typeface="Arial"/>
                        </a:rPr>
                        <a:t>Only a payee never used on a payment is deleted; any other payee is deactivated with authorisation (FR-DS-013).</a:t>
                      </a:r>
                    </a:p>
                  </a:txBody>
                  <a:tcPr marL="54864" marR="54864" marT="27432" marB="27432">
                    <a:solidFill>
                      <a:srgbClr val="E5F5FF"/>
                    </a:solidFill>
                  </a:tcPr>
                </a:tc>
              </a:tr>
              <a:tr h="243840">
                <a:tc>
                  <a:txBody>
                    <a:bodyPr/>
                    <a:lstStyle/>
                    <a:p>
                      <a:r>
                        <a:rPr sz="1000" b="0">
                          <a:solidFill>
                            <a:srgbClr val="4B4B4B"/>
                          </a:solidFill>
                          <a:latin typeface="Arial"/>
                        </a:rPr>
                        <a:t>The credit modes need an active bank account of the payee (FR-DS-011).</a:t>
                      </a:r>
                    </a:p>
                  </a:txBody>
                  <a:tcPr marL="54864" marR="54864" marT="27432" marB="27432">
                    <a:solidFill>
                      <a:srgbClr val="FFFFFF"/>
                    </a:solidFill>
                  </a:tcPr>
                </a:tc>
              </a:tr>
            </a:tbl>
          </a:graphicData>
        </a:graphic>
      </p:graphicFrame>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1.png"/>
          <p:cNvPicPr>
            <a:picLocks noChangeAspect="1"/>
          </p:cNvPicPr>
          <p:nvPr/>
        </p:nvPicPr>
        <p:blipFill>
          <a:blip r:embed="rId3"/>
          <a:stretch>
            <a:fillRect/>
          </a:stretch>
        </p:blipFill>
        <p:spPr>
          <a:xfrm>
            <a:off x="548640" y="1261872"/>
            <a:ext cx="11094415" cy="46290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1 of 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2.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2 of 4)</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3 of 4)</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4.png"/>
          <p:cNvPicPr>
            <a:picLocks noChangeAspect="1"/>
          </p:cNvPicPr>
          <p:nvPr/>
        </p:nvPicPr>
        <p:blipFill>
          <a:blip r:embed="rId3"/>
          <a:stretch>
            <a:fillRect/>
          </a:stretch>
        </p:blipFill>
        <p:spPr>
          <a:xfrm>
            <a:off x="548640" y="1261872"/>
            <a:ext cx="11094415" cy="6503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4 of 4)</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5.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Payee: the payee saved as a draft and submitted for authorisation (part 1 of 2)</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6.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Payee: the payee saved as a draft and submitted for authorisation (part 2 of 2)</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Disbursement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uploads of Disbursement, each validated row by row before the valid rows are committed: payment requests of other units, the negotiated checks and the credited accounts of the bank, the online banking approvals and the payee migration.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Uploads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FR-DS-014, FR-DS-024, FR-DS-053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files and the requests of other units are in BIBS without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Requests / Negotiated Checks / Credited Accounts / BOB Approvals / Payee Migration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The types the user may upload, with the text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template of the type: Excel, CSV or TXT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Every row checked before anything is committed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Rows Read / Valid / Rejected</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Counts of the rows with the rows and their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graphicFrame>
        <p:nvGraphicFramePr>
          <p:cNvPr id="9" name="Table 8"/>
          <p:cNvGraphicFramePr>
            <a:graphicFrameLocks noGrp="1"/>
          </p:cNvGraphicFramePr>
          <p:nvPr/>
        </p:nvGraphicFramePr>
        <p:xfrm>
          <a:off x="548640" y="1325880"/>
          <a:ext cx="11094412" cy="131063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Download Template / Upload and Validate</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upload; payee maintain for the migration)</a:t>
                      </a:r>
                    </a:p>
                  </a:txBody>
                  <a:tcPr marL="54864" marR="54864" marT="27432" marB="27432">
                    <a:solidFill>
                      <a:srgbClr val="FFFFFF"/>
                    </a:solidFill>
                  </a:tcPr>
                </a:tc>
                <a:tc>
                  <a:txBody>
                    <a:bodyPr/>
                    <a:lstStyle/>
                    <a:p>
                      <a:r>
                        <a:rPr sz="850" b="0">
                          <a:solidFill>
                            <a:srgbClr val="4B4B4B"/>
                          </a:solidFill>
                          <a:latin typeface="Arial"/>
                        </a:rPr>
                        <a:t>A file chosen</a:t>
                      </a:r>
                    </a:p>
                  </a:txBody>
                  <a:tcPr marL="54864" marR="54864" marT="27432" marB="27432">
                    <a:solidFill>
                      <a:srgbClr val="FFFFFF"/>
                    </a:solidFill>
                  </a:tcPr>
                </a:tc>
                <a:tc>
                  <a:txBody>
                    <a:bodyPr/>
                    <a:lstStyle/>
                    <a:p>
                      <a:r>
                        <a:rPr sz="850" b="0">
                          <a:solidFill>
                            <a:srgbClr val="4B4B4B"/>
                          </a:solidFill>
                          <a:latin typeface="Arial"/>
                        </a:rPr>
                        <a:t>Checks every row; the valid rows are processed and the rejected rows listed with their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Download Error File / Upload Corrected File / Discard Upload</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After the upload</a:t>
                      </a:r>
                    </a:p>
                  </a:txBody>
                  <a:tcPr marL="54864" marR="54864" marT="27432" marB="27432">
                    <a:solidFill>
                      <a:srgbClr val="E5F5FF"/>
                    </a:solidFill>
                  </a:tcPr>
                </a:tc>
                <a:tc>
                  <a:txBody>
                    <a:bodyPr/>
                    <a:lstStyle/>
                    <a:p>
                      <a:r>
                        <a:rPr sz="850" b="0">
                          <a:solidFill>
                            <a:srgbClr val="4B4B4B"/>
                          </a:solidFill>
                          <a:latin typeface="Arial"/>
                        </a:rPr>
                        <a:t>Downloads the rejected rows, uploads the corrected file linked to the first, or discards the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Uploaded requests with a maintained payee become vouchers at once; the others wait for the payee (FR-DS-024).</a:t>
                      </a:r>
                    </a:p>
                  </a:txBody>
                  <a:tcPr marL="54864" marR="54864" marT="27432" marB="27432">
                    <a:solidFill>
                      <a:srgbClr val="FFFFFF"/>
                    </a:solidFill>
                  </a:tcPr>
                </a:tc>
              </a:tr>
              <a:tr h="243840">
                <a:tc>
                  <a:txBody>
                    <a:bodyPr/>
                    <a:lstStyle/>
                    <a:p>
                      <a:r>
                        <a:rPr sz="1000" b="0">
                          <a:solidFill>
                            <a:srgbClr val="4B4B4B"/>
                          </a:solidFill>
                          <a:latin typeface="Arial"/>
                        </a:rPr>
                        <a:t>A negotiated check posts its clearing entry; a credited account and a BOB approval set the instrument status (FR-DS-053).</a:t>
                      </a:r>
                    </a:p>
                  </a:txBody>
                  <a:tcPr marL="54864" marR="54864" marT="27432" marB="27432">
                    <a:solidFill>
                      <a:srgbClr val="E5F5FF"/>
                    </a:solidFill>
                  </a:tcPr>
                </a:tc>
              </a:tr>
              <a:tr h="243840">
                <a:tc>
                  <a:txBody>
                    <a:bodyPr/>
                    <a:lstStyle/>
                    <a:p>
                      <a:r>
                        <a:rPr sz="1000" b="0">
                          <a:solidFill>
                            <a:srgbClr val="4B4B4B"/>
                          </a:solidFill>
                          <a:latin typeface="Arial"/>
                        </a:rPr>
                        <a:t>Migrated payees come in for authorisation (FR-DS-014).</a:t>
                      </a:r>
                    </a:p>
                  </a:txBody>
                  <a:tcPr marL="54864" marR="54864" marT="27432" marB="27432">
                    <a:solidFill>
                      <a:srgbClr val="FFFFFF"/>
                    </a:solidFill>
                  </a:tcPr>
                </a:tc>
              </a:tr>
            </a:tbl>
          </a:graphicData>
        </a:graphic>
      </p:graphicFrame>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SCR-AC-30 Disbursement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Uploads: the upload types, the template and the upload (part 1 of 2)</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SCR-AC-30 Disbursement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8.png"/>
          <p:cNvPicPr>
            <a:picLocks noChangeAspect="1"/>
          </p:cNvPicPr>
          <p:nvPr/>
        </p:nvPicPr>
        <p:blipFill>
          <a:blip r:embed="rId3"/>
          <a:stretch>
            <a:fillRect/>
          </a:stretch>
        </p:blipFill>
        <p:spPr>
          <a:xfrm>
            <a:off x="548640" y="1261872"/>
            <a:ext cx="11094415" cy="32231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Uploads: the upload types, the template and the upload (part 2 of 2)</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end of day of a business date: it freezes the approved vouchers of the date and produces the checks, the Direct Credit Transaction File (DCTF), the ATD, MC / DD, credit ticket and TT forms and the end-of-day reports; the payment confirmations are then sent to the payees. The scheduler runs the same steps.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End of Day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FR-DS-060, FR-DS-061, FR-DS-062, FR-DS-063, FR-DS-081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day's payments are issued and the payees are told.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Runs</a:t>
                      </a:r>
                    </a:p>
                  </a:txBody>
                  <a:tcPr marL="54864" marR="54864" marT="27432" marB="27432">
                    <a:solidFill>
                      <a:srgbClr val="FFFFFF"/>
                    </a:solidFill>
                  </a:tcPr>
                </a:tc>
                <a:tc>
                  <a:txBody>
                    <a:bodyPr/>
                    <a:lstStyle/>
                    <a:p>
                      <a:r>
                        <a:rPr sz="850" b="0">
                          <a:solidFill>
                            <a:srgbClr val="4B4B4B"/>
                          </a:solidFill>
                          <a:latin typeface="Arial"/>
                        </a:rPr>
                        <a:t>Run / Business Date / Vouchers / Checks / Credits / Forms / Confirmations / Run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run; counts;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a:t>
                      </a:r>
                    </a:p>
                  </a:txBody>
                  <a:tcPr marL="54864" marR="54864" marT="27432" marB="27432">
                    <a:solidFill>
                      <a:srgbClr val="E5F5FF"/>
                    </a:solidFill>
                  </a:tcPr>
                </a:tc>
                <a:tc>
                  <a:txBody>
                    <a:bodyPr/>
                    <a:lstStyle/>
                    <a:p>
                      <a:r>
                        <a:rPr sz="850" b="0">
                          <a:solidFill>
                            <a:srgbClr val="4B4B4B"/>
                          </a:solidFill>
                          <a:latin typeface="Arial"/>
                        </a:rPr>
                        <a:t>Outputs</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output kind, the file name and its item count: DCTF, check batch, vouchers, forms, end-of-day reports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End of Day dialog</a:t>
                      </a:r>
                    </a:p>
                  </a:txBody>
                  <a:tcPr marL="54864" marR="54864" marT="27432" marB="27432">
                    <a:solidFill>
                      <a:srgbClr val="FFFFFF"/>
                    </a:solidFill>
                  </a:tcPr>
                </a:tc>
                <a:tc>
                  <a:txBody>
                    <a:bodyPr/>
                    <a:lstStyle/>
                    <a:p>
                      <a:r>
                        <a:rPr sz="850" b="0">
                          <a:solidFill>
                            <a:srgbClr val="4B4B4B"/>
                          </a:solidFill>
                          <a:latin typeface="Arial"/>
                        </a:rPr>
                        <a:t>Business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Run End of Day</a:t>
                      </a:r>
                    </a:p>
                  </a:txBody>
                  <a:tcPr marL="54864" marR="54864" marT="27432" marB="27432">
                    <a:solidFill>
                      <a:srgbClr val="FFFFFF"/>
                    </a:solidFill>
                  </a:tcPr>
                </a:tc>
                <a:tc>
                  <a:txBody>
                    <a:bodyPr/>
                    <a:lstStyle/>
                    <a:p>
                      <a:r>
                        <a:rPr sz="850" b="0">
                          <a:solidFill>
                            <a:srgbClr val="4B4B4B"/>
                          </a:solidFill>
                          <a:latin typeface="Arial"/>
                        </a:rPr>
                        <a:t>Disbursement Team Leader, Approver (disbursement end of day)</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Freezes the approved vouchers of the date and produces the outputs</a:t>
                      </a:r>
                    </a:p>
                  </a:txBody>
                  <a:tcPr marL="54864" marR="54864" marT="27432" marB="27432">
                    <a:solidFill>
                      <a:srgbClr val="FFFFFF"/>
                    </a:solidFill>
                  </a:tcPr>
                </a:tc>
                <a:tc>
                  <a:txBody>
                    <a:bodyPr/>
                    <a:lstStyle/>
                    <a:p>
                      <a:r>
                        <a:rPr sz="850" b="0">
                          <a:solidFill>
                            <a:srgbClr val="4B4B4B"/>
                          </a:solidFill>
                          <a:latin typeface="Arial"/>
                        </a:rPr>
                        <a:t>Completed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Confirmations</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 completed run</a:t>
                      </a:r>
                    </a:p>
                  </a:txBody>
                  <a:tcPr marL="54864" marR="54864" marT="27432" marB="27432">
                    <a:solidFill>
                      <a:srgbClr val="E5F5FF"/>
                    </a:solidFill>
                  </a:tcPr>
                </a:tc>
                <a:tc>
                  <a:txBody>
                    <a:bodyPr/>
                    <a:lstStyle/>
                    <a:p>
                      <a:r>
                        <a:rPr sz="850" b="0">
                          <a:solidFill>
                            <a:srgbClr val="4B4B4B"/>
                          </a:solidFill>
                          <a:latin typeface="Arial"/>
                        </a:rPr>
                        <a:t>E-mails the payment confirmations to the payees</a:t>
                      </a:r>
                    </a:p>
                  </a:txBody>
                  <a:tcPr marL="54864" marR="54864" marT="27432" marB="27432">
                    <a:solidFill>
                      <a:srgbClr val="E5F5FF"/>
                    </a:solidFill>
                  </a:tcPr>
                </a:tc>
                <a:tc>
                  <a:txBody>
                    <a:bodyPr/>
                    <a:lstStyle/>
                    <a:p>
                      <a:r>
                        <a:rPr sz="850" b="0">
                          <a:solidFill>
                            <a:srgbClr val="4B4B4B"/>
                          </a:solidFill>
                          <a:latin typeface="Arial"/>
                        </a:rPr>
                        <a:t>Confirmed</a:t>
                      </a:r>
                    </a:p>
                  </a:txBody>
                  <a:tcPr marL="54864" marR="54864" marT="27432" marB="27432">
                    <a:solidFill>
                      <a:srgbClr val="E5F5FF"/>
                    </a:solidFill>
                  </a:tcPr>
                </a:tc>
                <a:tc>
                  <a:txBody>
                    <a:bodyPr/>
                    <a:lstStyle/>
                    <a:p>
                      <a:r>
                        <a:rPr sz="850" b="0">
                          <a:solidFill>
                            <a:srgbClr val="4B4B4B"/>
                          </a:solidFill>
                          <a:latin typeface="Arial"/>
                        </a:rPr>
                        <a:t>Payment confirmation e-mail</a:t>
                      </a:r>
                    </a:p>
                  </a:txBody>
                  <a:tcPr marL="54864" marR="54864" marT="27432" marB="27432">
                    <a:solidFill>
                      <a:srgbClr val="E5F5FF"/>
                    </a:solidFill>
                  </a:tcPr>
                </a:tc>
              </a:tr>
              <a:tr h="220979">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DCTF holds the credit-to-account payments of the date in the layout of Appendix B (FR-DS-061).</a:t>
                      </a:r>
                    </a:p>
                  </a:txBody>
                  <a:tcPr marL="54864" marR="54864" marT="27432" marB="27432">
                    <a:solidFill>
                      <a:srgbClr val="FFFFFF"/>
                    </a:solidFill>
                  </a:tcPr>
                </a:tc>
              </a:tr>
              <a:tr h="243840">
                <a:tc>
                  <a:txBody>
                    <a:bodyPr/>
                    <a:lstStyle/>
                    <a:p>
                      <a:r>
                        <a:rPr sz="1000" b="0">
                          <a:solidFill>
                            <a:srgbClr val="4B4B4B"/>
                          </a:solidFill>
                          <a:latin typeface="Arial"/>
                        </a:rPr>
                        <a:t>Checks take the next leaves of the paying account's check series; the vouchers and forms are printed in batch (FR-DS-062).</a:t>
                      </a:r>
                    </a:p>
                  </a:txBody>
                  <a:tcPr marL="54864" marR="54864" marT="27432" marB="27432">
                    <a:solidFill>
                      <a:srgbClr val="E5F5FF"/>
                    </a:solidFill>
                  </a:tcPr>
                </a:tc>
              </a:tr>
            </a:tbl>
          </a:graphicData>
        </a:graphic>
      </p:graphicFrame>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1-01-runs.png"/>
          <p:cNvPicPr>
            <a:picLocks noChangeAspect="1"/>
          </p:cNvPicPr>
          <p:nvPr/>
        </p:nvPicPr>
        <p:blipFill>
          <a:blip r:embed="rId3"/>
          <a:stretch>
            <a:fillRect/>
          </a:stretch>
        </p:blipFill>
        <p:spPr>
          <a:xfrm>
            <a:off x="548640" y="1261872"/>
            <a:ext cx="11094415" cy="38352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 of Day: the runs with their vouchers, checks, credits, forms and confirmations, and the outputs of a run</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1-02-run.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End of Day: the business date</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Account Funding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transfers between BDOIR bank accounts that fund the main account, by tab (With the Maker, For Verification and Approval, Approved and Closed): a maker requests, another team leader verifies and two approvers approve.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Account Funding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main account is funded with four eyes.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graphicFrame>
        <p:nvGraphicFramePr>
          <p:cNvPr id="9" name="Table 8"/>
          <p:cNvGraphicFramePr>
            <a:graphicFrameLocks noGrp="1"/>
          </p:cNvGraphicFramePr>
          <p:nvPr/>
        </p:nvGraphicFramePr>
        <p:xfrm>
          <a:off x="548640" y="1325880"/>
          <a:ext cx="11094411" cy="11810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With the Maker / For Verification and Approval / Approved and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Funding No. / From / To / Value Date / Amount / Currency / Requested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by code, bank and number;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Funding Request</a:t>
                      </a:r>
                    </a:p>
                  </a:txBody>
                  <a:tcPr marL="54864" marR="54864" marT="27432" marB="27432">
                    <a:solidFill>
                      <a:srgbClr val="FFFFFF"/>
                    </a:solidFill>
                  </a:tcPr>
                </a:tc>
                <a:tc>
                  <a:txBody>
                    <a:bodyPr/>
                    <a:lstStyle/>
                    <a:p>
                      <a:r>
                        <a:rPr sz="850" b="0">
                          <a:solidFill>
                            <a:srgbClr val="4B4B4B"/>
                          </a:solidFill>
                          <a:latin typeface="Arial"/>
                        </a:rPr>
                        <a:t>Disbursement Team Leader (funding request)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new funding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Disbursement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funding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funding is verified by another user than its maker and approved by two further users (FR-DS-064).</a:t>
                      </a:r>
                    </a:p>
                  </a:txBody>
                  <a:tcPr marL="54864" marR="54864" marT="27432" marB="27432">
                    <a:solidFill>
                      <a:srgbClr val="FFFFFF"/>
                    </a:solidFill>
                  </a:tcPr>
                </a:tc>
              </a:tr>
            </a:tbl>
          </a:graphicData>
        </a:graphic>
      </p:graphicFrame>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Account Funding: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2-01-list.png"/>
          <p:cNvPicPr>
            <a:picLocks noChangeAspect="1"/>
          </p:cNvPicPr>
          <p:nvPr/>
        </p:nvPicPr>
        <p:blipFill>
          <a:blip r:embed="rId3"/>
          <a:stretch>
            <a:fillRect/>
          </a:stretch>
        </p:blipFill>
        <p:spPr>
          <a:xfrm>
            <a:off x="548640" y="1261872"/>
            <a:ext cx="11094415" cy="40647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Funding: the transfers with their accounts, value date, amount, requester and status</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Funding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transfer between two BDOIR bank accounts: the accounts, amount, currency, value date and purpose; the funding workflow (submit, verify, first and second approval with the BOB reference); the second approval posts the transfer entry.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Account Funding › Funding Request</a:t>
                      </a:r>
                    </a:p>
                    <a:p>
                      <a:r>
                        <a:rPr sz="950" b="0">
                          <a:solidFill>
                            <a:srgbClr val="4B4B4B"/>
                          </a:solidFill>
                          <a:latin typeface="Arial"/>
                        </a:rPr>
                        <a:t>Account Funding › New Funding Request or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transfer is approved and posted.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Transfer</a:t>
                      </a:r>
                    </a:p>
                  </a:txBody>
                  <a:tcPr marL="54864" marR="54864" marT="27432" marB="27432">
                    <a:solidFill>
                      <a:srgbClr val="FFFFFF"/>
                    </a:solidFill>
                  </a:tcPr>
                </a:tc>
                <a:tc>
                  <a:txBody>
                    <a:bodyPr/>
                    <a:lstStyle/>
                    <a:p>
                      <a:r>
                        <a:rPr sz="850" b="0">
                          <a:solidFill>
                            <a:srgbClr val="4B4B4B"/>
                          </a:solidFill>
                          <a:latin typeface="Arial"/>
                        </a:rPr>
                        <a:t>From Account / To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Active BDOIR accounts; the target other than the source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Different accounts</a:t>
                      </a:r>
                    </a:p>
                  </a:txBody>
                  <a:tcPr marL="54864" marR="54864" marT="27432" marB="27432">
                    <a:solidFill>
                      <a:srgbClr val="FFFFFF"/>
                    </a:solidFill>
                  </a:tcPr>
                </a:tc>
                <a:tc>
                  <a:txBody>
                    <a:bodyPr/>
                    <a:lstStyle/>
                    <a:p>
                      <a:r>
                        <a:rPr sz="850" b="0">
                          <a:solidFill>
                            <a:srgbClr val="4B4B4B"/>
                          </a:solidFill>
                          <a:latin typeface="Arial"/>
                        </a:rPr>
                        <a:t>Select a target account other than the source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Transfer</a:t>
                      </a:r>
                    </a:p>
                  </a:txBody>
                  <a:tcPr marL="54864" marR="54864" marT="27432" marB="27432">
                    <a:solidFill>
                      <a:srgbClr val="E5F5FF"/>
                    </a:solidFill>
                  </a:tcPr>
                </a:tc>
                <a:tc>
                  <a:txBody>
                    <a:bodyPr/>
                    <a:lstStyle/>
                    <a:p>
                      <a:r>
                        <a:rPr sz="850" b="0">
                          <a:solidFill>
                            <a:srgbClr val="4B4B4B"/>
                          </a:solidFill>
                          <a:latin typeface="Arial"/>
                        </a:rPr>
                        <a:t>Amount / Currency</a:t>
                      </a:r>
                    </a:p>
                  </a:txBody>
                  <a:tcPr marL="54864" marR="54864" marT="27432" marB="27432">
                    <a:solidFill>
                      <a:srgbClr val="E5F5FF"/>
                    </a:solidFill>
                  </a:tcPr>
                </a:tc>
                <a:tc>
                  <a:txBody>
                    <a:bodyPr/>
                    <a:lstStyle/>
                    <a:p>
                      <a:r>
                        <a:rPr sz="850" b="0">
                          <a:solidFill>
                            <a:srgbClr val="4B4B4B"/>
                          </a:solidFill>
                          <a:latin typeface="Arial"/>
                        </a:rPr>
                        <a:t>Number, text</a:t>
                      </a:r>
                    </a:p>
                  </a:txBody>
                  <a:tcPr marL="54864" marR="54864" marT="27432" marB="27432">
                    <a:solidFill>
                      <a:srgbClr val="E5F5FF"/>
                    </a:solidFill>
                  </a:tcPr>
                </a:tc>
                <a:tc>
                  <a:txBody>
                    <a:bodyPr/>
                    <a:lstStyle/>
                    <a:p>
                      <a:r>
                        <a:rPr sz="850" b="0">
                          <a:solidFill>
                            <a:srgbClr val="4B4B4B"/>
                          </a:solidFill>
                          <a:latin typeface="Arial"/>
                        </a:rPr>
                        <a:t>Above zero; the currency of the accounts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Transfer</a:t>
                      </a:r>
                    </a:p>
                  </a:txBody>
                  <a:tcPr marL="54864" marR="54864" marT="27432" marB="27432">
                    <a:solidFill>
                      <a:srgbClr val="FFFFFF"/>
                    </a:solidFill>
                  </a:tcPr>
                </a:tc>
                <a:tc>
                  <a:txBody>
                    <a:bodyPr/>
                    <a:lstStyle/>
                    <a:p>
                      <a:r>
                        <a:rPr sz="850" b="0">
                          <a:solidFill>
                            <a:srgbClr val="4B4B4B"/>
                          </a:solidFill>
                          <a:latin typeface="Arial"/>
                        </a:rPr>
                        <a:t>Value Date / Purpose</a:t>
                      </a:r>
                    </a:p>
                  </a:txBody>
                  <a:tcPr marL="54864" marR="54864" marT="27432" marB="27432">
                    <a:solidFill>
                      <a:srgbClr val="FFFFFF"/>
                    </a:solidFill>
                  </a:tcPr>
                </a:tc>
                <a:tc>
                  <a:txBody>
                    <a:bodyPr/>
                    <a:lstStyle/>
                    <a:p>
                      <a:r>
                        <a:rPr sz="850" b="0">
                          <a:solidFill>
                            <a:srgbClr val="4B4B4B"/>
                          </a:solidFill>
                          <a:latin typeface="Arial"/>
                        </a:rPr>
                        <a:t>Date, text area</a:t>
                      </a:r>
                    </a:p>
                  </a:txBody>
                  <a:tcPr marL="54864" marR="54864" marT="27432" marB="27432">
                    <a:solidFill>
                      <a:srgbClr val="FFFFFF"/>
                    </a:solidFill>
                  </a:tcPr>
                </a:tc>
                <a:tc>
                  <a:txBody>
                    <a:bodyPr/>
                    <a:lstStyle/>
                    <a:p>
                      <a:r>
                        <a:rPr sz="850" b="0">
                          <a:solidFill>
                            <a:srgbClr val="4B4B4B"/>
                          </a:solidFill>
                          <a:latin typeface="Arial"/>
                        </a:rPr>
                        <a:t>dd-MMM-yyyy; the purpose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purpose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Approve dialog</a:t>
                      </a:r>
                    </a:p>
                  </a:txBody>
                  <a:tcPr marL="54864" marR="54864" marT="27432" marB="27432">
                    <a:solidFill>
                      <a:srgbClr val="E5F5FF"/>
                    </a:solidFill>
                  </a:tcPr>
                </a:tc>
                <a:tc>
                  <a:txBody>
                    <a:bodyPr/>
                    <a:lstStyle/>
                    <a:p>
                      <a:r>
                        <a:rPr sz="850" b="0">
                          <a:solidFill>
                            <a:srgbClr val="4B4B4B"/>
                          </a:solidFill>
                          <a:latin typeface="Arial"/>
                        </a:rPr>
                        <a:t>BOB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reference of the transaction in BDO Business Online Banking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graphicFrame>
        <p:nvGraphicFramePr>
          <p:cNvPr id="9" name="Table 8"/>
          <p:cNvGraphicFramePr>
            <a:graphicFrameLocks noGrp="1"/>
          </p:cNvGraphicFramePr>
          <p:nvPr/>
        </p:nvGraphicFramePr>
        <p:xfrm>
          <a:off x="548640" y="1325880"/>
          <a:ext cx="11094412" cy="118109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a:t>
                      </a:r>
                    </a:p>
                  </a:txBody>
                  <a:tcPr marL="54864" marR="54864" marT="27432" marB="27432">
                    <a:solidFill>
                      <a:srgbClr val="FFFFFF"/>
                    </a:solidFill>
                  </a:tcPr>
                </a:tc>
                <a:tc>
                  <a:txBody>
                    <a:bodyPr/>
                    <a:lstStyle/>
                    <a:p>
                      <a:r>
                        <a:rPr sz="850" b="0">
                          <a:solidFill>
                            <a:srgbClr val="4B4B4B"/>
                          </a:solidFill>
                          <a:latin typeface="Arial"/>
                        </a:rPr>
                        <a:t>Disbursement Team Leader (funding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Saves the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Submit / Verify / Approve</a:t>
                      </a:r>
                    </a:p>
                  </a:txBody>
                  <a:tcPr marL="54864" marR="54864" marT="27432" marB="27432">
                    <a:solidFill>
                      <a:srgbClr val="E5F5FF"/>
                    </a:solidFill>
                  </a:tcPr>
                </a:tc>
                <a:tc>
                  <a:txBody>
                    <a:bodyPr/>
                    <a:lstStyle/>
                    <a:p>
                      <a:r>
                        <a:rPr sz="850" b="0">
                          <a:solidFill>
                            <a:srgbClr val="4B4B4B"/>
                          </a:solidFill>
                          <a:latin typeface="Arial"/>
                        </a:rPr>
                        <a:t>Maker; verifier (funding verify), not the maker; two approvers (funding approve), each another user</a:t>
                      </a:r>
                    </a:p>
                  </a:txBody>
                  <a:tcPr marL="54864" marR="54864" marT="27432" marB="27432">
                    <a:solidFill>
                      <a:srgbClr val="E5F5FF"/>
                    </a:solidFill>
                  </a:tcPr>
                </a:tc>
                <a:tc>
                  <a:txBody>
                    <a:bodyPr/>
                    <a:lstStyle/>
                    <a:p>
                      <a:r>
                        <a:rPr sz="850" b="0">
                          <a:solidFill>
                            <a:srgbClr val="4B4B4B"/>
                          </a:solidFill>
                          <a:latin typeface="Arial"/>
                        </a:rPr>
                        <a:t>As the stage allows</a:t>
                      </a:r>
                    </a:p>
                  </a:txBody>
                  <a:tcPr marL="54864" marR="54864" marT="27432" marB="27432">
                    <a:solidFill>
                      <a:srgbClr val="E5F5FF"/>
                    </a:solidFill>
                  </a:tcPr>
                </a:tc>
                <a:tc>
                  <a:txBody>
                    <a:bodyPr/>
                    <a:lstStyle/>
                    <a:p>
                      <a:r>
                        <a:rPr sz="850" b="0">
                          <a:solidFill>
                            <a:srgbClr val="4B4B4B"/>
                          </a:solidFill>
                          <a:latin typeface="Arial"/>
                        </a:rPr>
                        <a:t>Moves the request; the second approval posts the transfer entry</a:t>
                      </a:r>
                    </a:p>
                  </a:txBody>
                  <a:tcPr marL="54864" marR="54864" marT="27432" marB="27432">
                    <a:solidFill>
                      <a:srgbClr val="E5F5FF"/>
                    </a:solidFill>
                  </a:tcPr>
                </a:tc>
                <a:tc>
                  <a:txBody>
                    <a:bodyPr/>
                    <a:lstStyle/>
                    <a:p>
                      <a:r>
                        <a:rPr sz="850" b="0">
                          <a:solidFill>
                            <a:srgbClr val="4B4B4B"/>
                          </a:solidFill>
                          <a:latin typeface="Arial"/>
                        </a:rPr>
                        <a:t>For Verification, For Approval 1, For Approval 2, Approved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verifier is not the maker, and the two approvers differ from each other and from the maker (FR-DS-064).</a:t>
                      </a:r>
                    </a:p>
                  </a:txBody>
                  <a:tcPr marL="54864" marR="54864" marT="27432" marB="27432">
                    <a:solidFill>
                      <a:srgbClr val="FFFFFF"/>
                    </a:solidFill>
                  </a:tcPr>
                </a:tc>
              </a:tr>
              <a:tr h="243840">
                <a:tc>
                  <a:txBody>
                    <a:bodyPr/>
                    <a:lstStyle/>
                    <a:p>
                      <a:r>
                        <a:rPr sz="1000" b="0">
                          <a:solidFill>
                            <a:srgbClr val="4B4B4B"/>
                          </a:solidFill>
                          <a:latin typeface="Arial"/>
                        </a:rPr>
                        <a:t>The second approval posts the transfer entry between the two accounts (FR-DS-064).</a:t>
                      </a:r>
                    </a:p>
                  </a:txBody>
                  <a:tcPr marL="54864" marR="54864" marT="27432" marB="27432">
                    <a:solidFill>
                      <a:srgbClr val="E5F5FF"/>
                    </a:solidFill>
                  </a:tcPr>
                </a:tc>
              </a:tr>
            </a:tbl>
          </a:graphicData>
        </a:graphic>
      </p:graphicFrame>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Funding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3-02-new.png"/>
          <p:cNvPicPr>
            <a:picLocks noChangeAspect="1"/>
          </p:cNvPicPr>
          <p:nvPr/>
        </p:nvPicPr>
        <p:blipFill>
          <a:blip r:embed="rId3"/>
          <a:stretch>
            <a:fillRect/>
          </a:stretch>
        </p:blipFill>
        <p:spPr>
          <a:xfrm>
            <a:off x="1145895" y="1261872"/>
            <a:ext cx="989990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Funding Request: from and to accounts, amount, value date and purpose</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49.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1 of 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0.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2 of 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1.png"/>
          <p:cNvPicPr>
            <a:picLocks noChangeAspect="1"/>
          </p:cNvPicPr>
          <p:nvPr/>
        </p:nvPicPr>
        <p:blipFill>
          <a:blip r:embed="rId3"/>
          <a:stretch>
            <a:fillRect/>
          </a:stretch>
        </p:blipFill>
        <p:spPr>
          <a:xfrm>
            <a:off x="548640" y="1261872"/>
            <a:ext cx="11094415" cy="10424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3 of 3)</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BDOIR paying accounts with their GL account and check leaves, their active or inactive status changed by the team leader and authorised by the approver, and the check series of each account with the next check and the remaining leaves.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Bank Accounts and Checks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FR-DS-070, FR-DS-071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paying accounts and their checks are kept up to date.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Code / Bank / Account No. / Currency / GL Account / Check Leaves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paying account; status Active, Inactive or the change waiting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Check Series</a:t>
                      </a:r>
                    </a:p>
                  </a:txBody>
                  <a:tcPr marL="54864" marR="54864" marT="27432" marB="27432">
                    <a:solidFill>
                      <a:srgbClr val="E5F5FF"/>
                    </a:solidFill>
                  </a:tcPr>
                </a:tc>
                <a:tc>
                  <a:txBody>
                    <a:bodyPr/>
                    <a:lstStyle/>
                    <a:p>
                      <a:r>
                        <a:rPr sz="850" b="0">
                          <a:solidFill>
                            <a:srgbClr val="4B4B4B"/>
                          </a:solidFill>
                          <a:latin typeface="Arial"/>
                        </a:rPr>
                        <a:t>Series / Next Check / Remaining / Received / Previous Range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check books of the account; the range before a correction with who changed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check series</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Series dialog</a:t>
                      </a:r>
                    </a:p>
                  </a:txBody>
                  <a:tcPr marL="54864" marR="54864" marT="27432" marB="27432">
                    <a:solidFill>
                      <a:srgbClr val="FFFFFF"/>
                    </a:solidFill>
                  </a:tcPr>
                </a:tc>
                <a:tc>
                  <a:txBody>
                    <a:bodyPr/>
                    <a:lstStyle/>
                    <a:p>
                      <a:r>
                        <a:rPr sz="850" b="0">
                          <a:solidFill>
                            <a:srgbClr val="4B4B4B"/>
                          </a:solidFill>
                          <a:latin typeface="Arial"/>
                        </a:rPr>
                        <a:t>First Check No. / Last Check No.</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range of the book; corrected only before its first check is printed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Last after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Deactivate / Activate</a:t>
                      </a:r>
                    </a:p>
                  </a:txBody>
                  <a:tcPr marL="54864" marR="54864" marT="27432" marB="27432">
                    <a:solidFill>
                      <a:srgbClr val="FFFFFF"/>
                    </a:solidFill>
                  </a:tcPr>
                </a:tc>
                <a:tc>
                  <a:txBody>
                    <a:bodyPr/>
                    <a:lstStyle/>
                    <a:p>
                      <a:r>
                        <a:rPr sz="850" b="0">
                          <a:solidFill>
                            <a:srgbClr val="4B4B4B"/>
                          </a:solidFill>
                          <a:latin typeface="Arial"/>
                        </a:rPr>
                        <a:t>Disbursement Team Leader (disbursement review)</a:t>
                      </a:r>
                    </a:p>
                  </a:txBody>
                  <a:tcPr marL="54864" marR="54864" marT="27432" marB="27432">
                    <a:solidFill>
                      <a:srgbClr val="FFFFFF"/>
                    </a:solidFill>
                  </a:tcPr>
                </a:tc>
                <a:tc>
                  <a:txBody>
                    <a:bodyPr/>
                    <a:lstStyle/>
                    <a:p>
                      <a:r>
                        <a:rPr sz="850" b="0">
                          <a:solidFill>
                            <a:srgbClr val="4B4B4B"/>
                          </a:solidFill>
                          <a:latin typeface="Arial"/>
                        </a:rPr>
                        <a:t>No change waiting</a:t>
                      </a:r>
                    </a:p>
                  </a:txBody>
                  <a:tcPr marL="54864" marR="54864" marT="27432" marB="27432">
                    <a:solidFill>
                      <a:srgbClr val="FFFFFF"/>
                    </a:solidFill>
                  </a:tcPr>
                </a:tc>
                <a:tc>
                  <a:txBody>
                    <a:bodyPr/>
                    <a:lstStyle/>
                    <a:p>
                      <a:r>
                        <a:rPr sz="850" b="0">
                          <a:solidFill>
                            <a:srgbClr val="4B4B4B"/>
                          </a:solidFill>
                          <a:latin typeface="Arial"/>
                        </a:rPr>
                        <a:t>Sends the status change for authorisation after the confirmation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Authorise</a:t>
                      </a:r>
                    </a:p>
                  </a:txBody>
                  <a:tcPr marL="54864" marR="54864" marT="27432" marB="27432">
                    <a:solidFill>
                      <a:srgbClr val="E5F5FF"/>
                    </a:solidFill>
                  </a:tcPr>
                </a:tc>
                <a:tc>
                  <a:txBody>
                    <a:bodyPr/>
                    <a:lstStyle/>
                    <a:p>
                      <a:r>
                        <a:rPr sz="850" b="0">
                          <a:solidFill>
                            <a:srgbClr val="4B4B4B"/>
                          </a:solidFill>
                          <a:latin typeface="Arial"/>
                        </a:rPr>
                        <a:t>Disbursement Approver (disbursement approve)</a:t>
                      </a:r>
                    </a:p>
                  </a:txBody>
                  <a:tcPr marL="54864" marR="54864" marT="27432" marB="27432">
                    <a:solidFill>
                      <a:srgbClr val="E5F5FF"/>
                    </a:solidFill>
                  </a:tcPr>
                </a:tc>
                <a:tc>
                  <a:txBody>
                    <a:bodyPr/>
                    <a:lstStyle/>
                    <a:p>
                      <a:r>
                        <a:rPr sz="850" b="0">
                          <a:solidFill>
                            <a:srgbClr val="4B4B4B"/>
                          </a:solidFill>
                          <a:latin typeface="Arial"/>
                        </a:rPr>
                        <a:t>A change waiting</a:t>
                      </a:r>
                    </a:p>
                  </a:txBody>
                  <a:tcPr marL="54864" marR="54864" marT="27432" marB="27432">
                    <a:solidFill>
                      <a:srgbClr val="E5F5FF"/>
                    </a:solidFill>
                  </a:tcPr>
                </a:tc>
                <a:tc>
                  <a:txBody>
                    <a:bodyPr/>
                    <a:lstStyle/>
                    <a:p>
                      <a:r>
                        <a:rPr sz="850" b="0">
                          <a:solidFill>
                            <a:srgbClr val="4B4B4B"/>
                          </a:solidFill>
                          <a:latin typeface="Arial"/>
                        </a:rPr>
                        <a:t>Applies the change</a:t>
                      </a:r>
                    </a:p>
                  </a:txBody>
                  <a:tcPr marL="54864" marR="54864" marT="27432" marB="27432">
                    <a:solidFill>
                      <a:srgbClr val="E5F5FF"/>
                    </a:solidFill>
                  </a:tcPr>
                </a:tc>
                <a:tc>
                  <a:txBody>
                    <a:bodyPr/>
                    <a:lstStyle/>
                    <a:p>
                      <a:r>
                        <a:rPr sz="850" b="0">
                          <a:solidFill>
                            <a:srgbClr val="4B4B4B"/>
                          </a:solidFill>
                          <a:latin typeface="Arial"/>
                        </a:rPr>
                        <a:t>Active or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Add Series / Save Series / Edit</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Always; edit while no check is used</a:t>
                      </a:r>
                    </a:p>
                  </a:txBody>
                  <a:tcPr marL="54864" marR="54864" marT="27432" marB="27432">
                    <a:solidFill>
                      <a:srgbClr val="FFFFFF"/>
                    </a:solidFill>
                  </a:tcPr>
                </a:tc>
                <a:tc>
                  <a:txBody>
                    <a:bodyPr/>
                    <a:lstStyle/>
                    <a:p>
                      <a:r>
                        <a:rPr sz="850" b="0">
                          <a:solidFill>
                            <a:srgbClr val="4B4B4B"/>
                          </a:solidFill>
                          <a:latin typeface="Arial"/>
                        </a:rPr>
                        <a:t>Adds a check series or corrects its range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bank account status change takes effect when the approver authorises it (FR-DS-071).</a:t>
                      </a:r>
                    </a:p>
                  </a:txBody>
                  <a:tcPr marL="54864" marR="54864" marT="27432" marB="27432">
                    <a:solidFill>
                      <a:srgbClr val="FFFFFF"/>
                    </a:solidFill>
                  </a:tcPr>
                </a:tc>
              </a:tr>
              <a:tr h="243840">
                <a:tc>
                  <a:txBody>
                    <a:bodyPr/>
                    <a:lstStyle/>
                    <a:p>
                      <a:r>
                        <a:rPr sz="1000" b="0">
                          <a:solidFill>
                            <a:srgbClr val="4B4B4B"/>
                          </a:solidFill>
                          <a:latin typeface="Arial"/>
                        </a:rPr>
                        <a:t>A series is corrected only before its first check is printed; the previous range is kept (FR-DS-070).</a:t>
                      </a:r>
                    </a:p>
                  </a:txBody>
                  <a:tcPr marL="54864" marR="54864" marT="27432" marB="27432">
                    <a:solidFill>
                      <a:srgbClr val="E5F5FF"/>
                    </a:solidFill>
                  </a:tcPr>
                </a:tc>
              </a:tr>
              <a:tr h="243840">
                <a:tc>
                  <a:txBody>
                    <a:bodyPr/>
                    <a:lstStyle/>
                    <a:p>
                      <a:r>
                        <a:rPr sz="1000" b="0">
                          <a:solidFill>
                            <a:srgbClr val="4B4B4B"/>
                          </a:solidFill>
                          <a:latin typeface="Arial"/>
                        </a:rPr>
                        <a:t>An alert is raised when the leaves of a series run low (FR-DS-070).</a:t>
                      </a:r>
                    </a:p>
                  </a:txBody>
                  <a:tcPr marL="54864" marR="54864" marT="27432" marB="27432">
                    <a:solidFill>
                      <a:srgbClr val="FFFFFF"/>
                    </a:solidFill>
                  </a:tcPr>
                </a:tc>
              </a:tr>
            </a:tbl>
          </a:graphicData>
        </a:graphic>
      </p:graphicFrame>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4-01-banks.png"/>
          <p:cNvPicPr>
            <a:picLocks noChangeAspect="1"/>
          </p:cNvPicPr>
          <p:nvPr/>
        </p:nvPicPr>
        <p:blipFill>
          <a:blip r:embed="rId3"/>
          <a:stretch>
            <a:fillRect/>
          </a:stretch>
        </p:blipFill>
        <p:spPr>
          <a:xfrm>
            <a:off x="548640" y="1261872"/>
            <a:ext cx="11094415" cy="33378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Accounts and Checks: the paying accounts and the check series of an account</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4-02-series.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Series: the first and last check numbers of a new check book</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Employees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employees with their number, branch, cost centre, position, e-mail, the payee code used for their payments, hire and separation dates; used by Disbursement to charge employee-related payments to the right cost centre and by the headcount report per cost centre.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Employees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employee has the cost centre of the payments.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number, name or cost centre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Employee No. / Name / Branch / Cost Centre / Position / Hired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employee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Employee form</a:t>
                      </a:r>
                    </a:p>
                  </a:txBody>
                  <a:tcPr marL="54864" marR="54864" marT="27432" marB="27432">
                    <a:solidFill>
                      <a:srgbClr val="FFFFFF"/>
                    </a:solidFill>
                  </a:tcPr>
                </a:tc>
                <a:tc>
                  <a:txBody>
                    <a:bodyPr/>
                    <a:lstStyle/>
                    <a:p>
                      <a:r>
                        <a:rPr sz="850" b="0">
                          <a:solidFill>
                            <a:srgbClr val="4B4B4B"/>
                          </a:solidFill>
                          <a:latin typeface="Arial"/>
                        </a:rPr>
                        <a:t>Employee no. / Full name / Branch / Cost centre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Unique number; the branch and cost centre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Employee form</a:t>
                      </a:r>
                    </a:p>
                  </a:txBody>
                  <a:tcPr marL="54864" marR="54864" marT="27432" marB="27432">
                    <a:solidFill>
                      <a:srgbClr val="E5F5FF"/>
                    </a:solidFill>
                  </a:tcPr>
                </a:tc>
                <a:tc>
                  <a:txBody>
                    <a:bodyPr/>
                    <a:lstStyle/>
                    <a:p>
                      <a:r>
                        <a:rPr sz="850" b="0">
                          <a:solidFill>
                            <a:srgbClr val="4B4B4B"/>
                          </a:solidFill>
                          <a:latin typeface="Arial"/>
                        </a:rPr>
                        <a:t>Position / E-mail / Payee party code / Hired on / Separated on</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The party of type Employee for payments; a separation date makes the employee inactive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valid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Add Employee / Save Employee</a:t>
                      </a:r>
                    </a:p>
                  </a:txBody>
                  <a:tcPr marL="54864" marR="54864" marT="27432" marB="27432">
                    <a:solidFill>
                      <a:srgbClr val="FFFFFF"/>
                    </a:solidFill>
                  </a:tcPr>
                </a:tc>
                <a:tc>
                  <a:txBody>
                    <a:bodyPr/>
                    <a:lstStyle/>
                    <a:p>
                      <a:r>
                        <a:rPr sz="850" b="0">
                          <a:solidFill>
                            <a:srgbClr val="4B4B4B"/>
                          </a:solidFill>
                          <a:latin typeface="Arial"/>
                        </a:rPr>
                        <a:t>Business Administrator, Comptrollership administrator (employee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an employee</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employee-related payment is charged to the cost centre of the employee (FR-DS-037).</a:t>
                      </a:r>
                    </a:p>
                  </a:txBody>
                  <a:tcPr marL="54864" marR="54864" marT="27432" marB="27432">
                    <a:solidFill>
                      <a:srgbClr val="FFFFFF"/>
                    </a:solidFill>
                  </a:tcPr>
                </a:tc>
              </a:tr>
            </a:tbl>
          </a:graphicData>
        </a:graphic>
      </p:graphicFrame>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Employees: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5-01-list.png"/>
          <p:cNvPicPr>
            <a:picLocks noChangeAspect="1"/>
          </p:cNvPicPr>
          <p:nvPr/>
        </p:nvPicPr>
        <p:blipFill>
          <a:blip r:embed="rId3"/>
          <a:stretch>
            <a:fillRect/>
          </a:stretch>
        </p:blipFill>
        <p:spPr>
          <a:xfrm>
            <a:off x="634171" y="1261872"/>
            <a:ext cx="1092335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Employees: number, name, branch, cost centre, position, hire date and status</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Certificates Received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the BIR 2307 certificates received from the insurers on commission and incentives: the certificate number, withholding agent, period covered, income, tax withheld and the journal that recorded it; a certificate is recorded with its income payments and cancelled with a reason.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Certificates Received</a:t>
                      </a:r>
                    </a:p>
                    <a:p>
                      <a:r>
                        <a:rPr sz="950" b="0">
                          <a:solidFill>
                            <a:srgbClr val="4B4B4B"/>
                          </a:solidFill>
                          <a:latin typeface="Arial"/>
                        </a:rPr>
                        <a:t>Disbursement Voucher › Tag CWT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FR-DS-057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certificates of the insurers are recorded for the SAWT.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Recorded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Certificate No. or Agent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Certificate No. / Withholding Agent / Period Covered / Income / Tax Withheld / Journal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agent by name; the period on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 Certificate Received dialog</a:t>
                      </a:r>
                    </a:p>
                  </a:txBody>
                  <a:tcPr marL="54864" marR="54864" marT="27432" marB="27432">
                    <a:solidFill>
                      <a:srgbClr val="E5F5FF"/>
                    </a:solidFill>
                  </a:tcPr>
                </a:tc>
                <a:tc>
                  <a:txBody>
                    <a:bodyPr/>
                    <a:lstStyle/>
                    <a:p>
                      <a:r>
                        <a:rPr sz="850" b="0">
                          <a:solidFill>
                            <a:srgbClr val="4B4B4B"/>
                          </a:solidFill>
                          <a:latin typeface="Arial"/>
                        </a:rPr>
                        <a:t>Certificate No. / Withholding Agent (Insurer Code) / Agent Name / Agent TIN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certificate and the agent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Certificate Received dialog</a:t>
                      </a:r>
                    </a:p>
                  </a:txBody>
                  <a:tcPr marL="54864" marR="54864" marT="27432" marB="27432">
                    <a:solidFill>
                      <a:srgbClr val="FFFFFF"/>
                    </a:solidFill>
                  </a:tcPr>
                </a:tc>
                <a:tc>
                  <a:txBody>
                    <a:bodyPr/>
                    <a:lstStyle/>
                    <a:p>
                      <a:r>
                        <a:rPr sz="850" b="0">
                          <a:solidFill>
                            <a:srgbClr val="4B4B4B"/>
                          </a:solidFill>
                          <a:latin typeface="Arial"/>
                        </a:rPr>
                        <a:t>Period Covered From / Period Covered To / Date Received / Reference (DV / Remittance)</a:t>
                      </a:r>
                    </a:p>
                  </a:txBody>
                  <a:tcPr marL="54864" marR="54864" marT="27432" marB="27432">
                    <a:solidFill>
                      <a:srgbClr val="FFFFFF"/>
                    </a:solidFill>
                  </a:tcPr>
                </a:tc>
                <a:tc>
                  <a:txBody>
                    <a:bodyPr/>
                    <a:lstStyle/>
                    <a:p>
                      <a:r>
                        <a:rPr sz="850" b="0">
                          <a:solidFill>
                            <a:srgbClr val="4B4B4B"/>
                          </a:solidFill>
                          <a:latin typeface="Arial"/>
                        </a:rPr>
                        <a:t>Date, text</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Y / 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Certificate Received dialog</a:t>
                      </a:r>
                    </a:p>
                  </a:txBody>
                  <a:tcPr marL="54864" marR="54864" marT="27432" marB="27432">
                    <a:solidFill>
                      <a:srgbClr val="E5F5FF"/>
                    </a:solidFill>
                  </a:tcPr>
                </a:tc>
                <a:tc>
                  <a:txBody>
                    <a:bodyPr/>
                    <a:lstStyle/>
                    <a:p>
                      <a:r>
                        <a:rPr sz="850" b="0">
                          <a:solidFill>
                            <a:srgbClr val="4B4B4B"/>
                          </a:solidFill>
                          <a:latin typeface="Arial"/>
                        </a:rPr>
                        <a:t>Income Payments</a:t>
                      </a:r>
                    </a:p>
                  </a:txBody>
                  <a:tcPr marL="54864" marR="54864" marT="27432" marB="27432">
                    <a:solidFill>
                      <a:srgbClr val="E5F5FF"/>
                    </a:solidFill>
                  </a:tcPr>
                </a:tc>
                <a:tc>
                  <a:txBody>
                    <a:bodyPr/>
                    <a:lstStyle/>
                    <a:p>
                      <a:r>
                        <a:rPr sz="850" b="0">
                          <a:solidFill>
                            <a:srgbClr val="4B4B4B"/>
                          </a:solidFill>
                          <a:latin typeface="Arial"/>
                        </a:rPr>
                        <a:t>Rows</a:t>
                      </a:r>
                    </a:p>
                  </a:txBody>
                  <a:tcPr marL="54864" marR="54864" marT="27432" marB="27432">
                    <a:solidFill>
                      <a:srgbClr val="E5F5FF"/>
                    </a:solidFill>
                  </a:tcPr>
                </a:tc>
                <a:tc>
                  <a:txBody>
                    <a:bodyPr/>
                    <a:lstStyle/>
                    <a:p>
                      <a:r>
                        <a:rPr sz="850" b="0">
                          <a:solidFill>
                            <a:srgbClr val="4B4B4B"/>
                          </a:solidFill>
                          <a:latin typeface="Arial"/>
                        </a:rPr>
                        <a:t>Kind, ATC, income and tax withheld of each payment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row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Certificate</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tag)</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Records the certificate and posts its entry</a:t>
                      </a:r>
                    </a:p>
                  </a:txBody>
                  <a:tcPr marL="54864" marR="54864" marT="27432" marB="27432">
                    <a:solidFill>
                      <a:srgbClr val="FFFFFF"/>
                    </a:solidFill>
                  </a:tcPr>
                </a:tc>
                <a:tc>
                  <a:txBody>
                    <a:bodyPr/>
                    <a:lstStyle/>
                    <a:p>
                      <a:r>
                        <a:rPr sz="850" b="0">
                          <a:solidFill>
                            <a:srgbClr val="4B4B4B"/>
                          </a:solidFill>
                          <a:latin typeface="Arial"/>
                        </a:rPr>
                        <a:t>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Cancel Certificate</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Recorded</a:t>
                      </a:r>
                    </a:p>
                  </a:txBody>
                  <a:tcPr marL="54864" marR="54864" marT="27432" marB="27432">
                    <a:solidFill>
                      <a:srgbClr val="E5F5FF"/>
                    </a:solidFill>
                  </a:tcPr>
                </a:tc>
                <a:tc>
                  <a:txBody>
                    <a:bodyPr/>
                    <a:lstStyle/>
                    <a:p>
                      <a:r>
                        <a:rPr sz="850" b="0">
                          <a:solidFill>
                            <a:srgbClr val="4B4B4B"/>
                          </a:solidFill>
                          <a:latin typeface="Arial"/>
                        </a:rPr>
                        <a:t>Cancels the certificate with the reason and reverses its entry</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certificate received posts the tax credit on hand against the tax credit on commission or incentives (FR-DS-057).</a:t>
                      </a:r>
                    </a:p>
                  </a:txBody>
                  <a:tcPr marL="54864" marR="54864" marT="27432" marB="27432">
                    <a:solidFill>
                      <a:srgbClr val="FFFFFF"/>
                    </a:solidFill>
                  </a:tcPr>
                </a:tc>
              </a:tr>
            </a:tbl>
          </a:graphicData>
        </a:graphic>
      </p:graphicFrame>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Certificates Received: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6-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Certificates Received: the BIR 2307 certificates of the insurers with the journal posted</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certificates of creditable tax withheld at source that BDOI issues to its payees per quarter, from the EWT worksheet: generate the batch of a quarter, download its PDF, and the certificate register with each payee.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BIR Form 2307</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FR-DS-058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2307 certificates of the quarter are issued to the suppliers.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Generate certificates</a:t>
                      </a:r>
                    </a:p>
                  </a:txBody>
                  <a:tcPr marL="54864" marR="54864" marT="27432" marB="27432">
                    <a:solidFill>
                      <a:srgbClr val="FFFFFF"/>
                    </a:solidFill>
                  </a:tcPr>
                </a:tc>
                <a:tc>
                  <a:txBody>
                    <a:bodyPr/>
                    <a:lstStyle/>
                    <a:p>
                      <a:r>
                        <a:rPr sz="850" b="0">
                          <a:solidFill>
                            <a:srgbClr val="4B4B4B"/>
                          </a:solidFill>
                          <a:latin typeface="Arial"/>
                        </a:rPr>
                        <a:t>Year / Quarter</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The quarter to generate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Batch / Quarter / Certificates / Tax Withheld / Issued / PDF</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batch with its PDF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Certificate register</a:t>
                      </a:r>
                    </a:p>
                  </a:txBody>
                  <a:tcPr marL="54864" marR="54864" marT="27432" marB="27432">
                    <a:solidFill>
                      <a:srgbClr val="FFFFFF"/>
                    </a:solidFill>
                  </a:tcPr>
                </a:tc>
                <a:tc>
                  <a:txBody>
                    <a:bodyPr/>
                    <a:lstStyle/>
                    <a:p>
                      <a:r>
                        <a:rPr sz="850" b="0">
                          <a:solidFill>
                            <a:srgbClr val="4B4B4B"/>
                          </a:solidFill>
                          <a:latin typeface="Arial"/>
                        </a:rPr>
                        <a:t>Certificate / Quarter / Payee / TIN / Income / Tax Withheld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certificate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Batch</a:t>
                      </a:r>
                    </a:p>
                  </a:txBody>
                  <a:tcPr marL="54864" marR="54864" marT="27432" marB="27432">
                    <a:solidFill>
                      <a:srgbClr val="FFFFFF"/>
                    </a:solidFill>
                  </a:tcPr>
                </a:tc>
                <a:tc>
                  <a:txBody>
                    <a:bodyPr/>
                    <a:lstStyle/>
                    <a:p>
                      <a:r>
                        <a:rPr sz="850" b="0">
                          <a:solidFill>
                            <a:srgbClr val="4B4B4B"/>
                          </a:solidFill>
                          <a:latin typeface="Arial"/>
                        </a:rPr>
                        <a:t>Users with tax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Generates the certificates of the quarter</a:t>
                      </a:r>
                    </a:p>
                  </a:txBody>
                  <a:tcPr marL="54864" marR="54864" marT="27432" marB="27432">
                    <a:solidFill>
                      <a:srgbClr val="FFFFFF"/>
                    </a:solidFill>
                  </a:tcPr>
                </a:tc>
                <a:tc>
                  <a:txBody>
                    <a:bodyPr/>
                    <a:lstStyle/>
                    <a:p>
                      <a:r>
                        <a:rPr sz="850" b="0">
                          <a:solidFill>
                            <a:srgbClr val="4B4B4B"/>
                          </a:solidFill>
                          <a:latin typeface="Arial"/>
                        </a:rPr>
                        <a:t>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PDF / Cancel</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Issued certificate</a:t>
                      </a:r>
                    </a:p>
                  </a:txBody>
                  <a:tcPr marL="54864" marR="54864" marT="27432" marB="27432">
                    <a:solidFill>
                      <a:srgbClr val="E5F5FF"/>
                    </a:solidFill>
                  </a:tcPr>
                </a:tc>
                <a:tc>
                  <a:txBody>
                    <a:bodyPr/>
                    <a:lstStyle/>
                    <a:p>
                      <a:r>
                        <a:rPr sz="850" b="0">
                          <a:solidFill>
                            <a:srgbClr val="4B4B4B"/>
                          </a:solidFill>
                          <a:latin typeface="Arial"/>
                        </a:rPr>
                        <a:t>Downloads the PDF, or cancels the certificate after the confirmation</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certificate per payee and quarter, filled from the withholding tax of the payments (FR-DS-058).</a:t>
                      </a:r>
                    </a:p>
                  </a:txBody>
                  <a:tcPr marL="54864" marR="54864" marT="27432" marB="27432">
                    <a:solidFill>
                      <a:srgbClr val="FFFFFF"/>
                    </a:solidFill>
                  </a:tcPr>
                </a:tc>
              </a:tr>
            </a:tbl>
          </a:graphicData>
        </a:graphic>
      </p:graphicFrame>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1 of 3)</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2 of 3)</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42751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3 of 3)</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Disbursement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CHG-AC-2.1-01</a:t>
            </a:r>
          </a:p>
        </p:txBody>
      </p:sp>
      <p:graphicFrame>
        <p:nvGraphicFramePr>
          <p:cNvPr id="10" name="Table 9"/>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reports of Disbursement by group (Payments, Control, End of Day); each opens in the report runner with its exports.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Reports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FR-DS-080, FR-DS-081, FR-DS-082, FR-DS-083, FR-DS-092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runs its reports from one place.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graphicFrame>
        <p:nvGraphicFramePr>
          <p:cNvPr id="9" name="Table 8"/>
          <p:cNvGraphicFramePr>
            <a:graphicFrameLocks noGrp="1"/>
          </p:cNvGraphicFramePr>
          <p:nvPr/>
        </p:nvGraphicFramePr>
        <p:xfrm>
          <a:off x="548640" y="1325880"/>
          <a:ext cx="11094411" cy="243838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Payments</a:t>
                      </a:r>
                    </a:p>
                  </a:txBody>
                  <a:tcPr marL="54864" marR="54864" marT="27432" marB="27432">
                    <a:solidFill>
                      <a:srgbClr val="FFFFFF"/>
                    </a:solidFill>
                  </a:tcPr>
                </a:tc>
                <a:tc>
                  <a:txBody>
                    <a:bodyPr/>
                    <a:lstStyle/>
                    <a:p>
                      <a:r>
                        <a:rPr sz="850" b="0">
                          <a:solidFill>
                            <a:srgbClr val="4B4B4B"/>
                          </a:solidFill>
                          <a:latin typeface="Arial"/>
                        </a:rPr>
                        <a:t>Masterlist of Disbursements / Unreleased Checks / Miscellaneous Liability - Stale Checks / Authority to Debit / Disbursement Cash Flow / CWT / BIR 2307 on Commission</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Each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Control</a:t>
                      </a:r>
                    </a:p>
                  </a:txBody>
                  <a:tcPr marL="54864" marR="54864" marT="27432" marB="27432">
                    <a:solidFill>
                      <a:srgbClr val="E5F5FF"/>
                    </a:solidFill>
                  </a:tcPr>
                </a:tc>
                <a:tc>
                  <a:txBody>
                    <a:bodyPr/>
                    <a:lstStyle/>
                    <a:p>
                      <a:r>
                        <a:rPr sz="850" b="0">
                          <a:solidFill>
                            <a:srgbClr val="4B4B4B"/>
                          </a:solidFill>
                          <a:latin typeface="Arial"/>
                        </a:rPr>
                        <a:t>Payee Report / Payees Not Matched / Request Upload Fall-out / Unregularised Transactions</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Each with its description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End of Day</a:t>
                      </a:r>
                    </a:p>
                  </a:txBody>
                  <a:tcPr marL="54864" marR="54864" marT="27432" marB="27432">
                    <a:solidFill>
                      <a:srgbClr val="FFFFFF"/>
                    </a:solidFill>
                  </a:tcPr>
                </a:tc>
                <a:tc>
                  <a:txBody>
                    <a:bodyPr/>
                    <a:lstStyle/>
                    <a:p>
                      <a:r>
                        <a:rPr sz="850" b="0">
                          <a:solidFill>
                            <a:srgbClr val="4B4B4B"/>
                          </a:solidFill>
                          <a:latin typeface="Arial"/>
                        </a:rPr>
                        <a:t>Remittance End-of-Day / Refund End-of-Day / Payment to Supplier End-of-Day / Employee-related End-of-Day / Other Disbursements End-of-Day / Disbursement Summary End-of-Day</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Each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Disbursement users (disbursement report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in the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end-of-day reports are also produced by each end-of-day run (FR-DS-081).</a:t>
                      </a:r>
                    </a:p>
                  </a:txBody>
                  <a:tcPr marL="54864" marR="54864" marT="27432" marB="27432">
                    <a:solidFill>
                      <a:srgbClr val="FFFFFF"/>
                    </a:solidFill>
                  </a:tcPr>
                </a:tc>
              </a:tr>
              <a:tr h="243840">
                <a:tc>
                  <a:txBody>
                    <a:bodyPr/>
                    <a:lstStyle/>
                    <a:p>
                      <a:r>
                        <a:rPr sz="1000" b="0">
                          <a:solidFill>
                            <a:srgbClr val="4B4B4B"/>
                          </a:solidFill>
                          <a:latin typeface="Arial"/>
                        </a:rPr>
                        <a:t>The CPC2 incentive report is run from the Report Centre, category Disbursement; it lists only the remitted lines whose booked transaction carries the CPC2 incentive tag (FR-DS-092).</a:t>
                      </a:r>
                    </a:p>
                  </a:txBody>
                  <a:tcPr marL="54864" marR="54864" marT="27432" marB="27432">
                    <a:solidFill>
                      <a:srgbClr val="E5F5FF"/>
                    </a:solidFill>
                  </a:tcPr>
                </a:tc>
              </a:tr>
            </a:tbl>
          </a:graphicData>
        </a:graphic>
      </p:graphicFrame>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SCR-AC-38 Disbursement Reports: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CHG-AC-2.1-01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Reports: the payment, control and end-of-day reports (part 1 of 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SCR-AC-38 Disbursement Reports: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CHG-AC-2.1-01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56.png"/>
          <p:cNvPicPr>
            <a:picLocks noChangeAspect="1"/>
          </p:cNvPicPr>
          <p:nvPr/>
        </p:nvPicPr>
        <p:blipFill>
          <a:blip r:embed="rId3"/>
          <a:stretch>
            <a:fillRect/>
          </a:stretch>
        </p:blipFill>
        <p:spPr>
          <a:xfrm>
            <a:off x="548640" y="1261872"/>
            <a:ext cx="11094415" cy="361524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Reports: the payment, control and end-of-day reports (part 2 of 2)</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Marketing requests by stage (Draft, Preparing, For Validation, For Review, For Approval, For HR Approval, With Disbursement, Disbursed, Cancelled) with their counts: client refunds (RRF), employee cash advances (RFP) and the cancellations of disbursed checks. The reviewer endorses and the approvers approve the selected requests at once.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 Marketing Approver, Human Resources Approver,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Requests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FR-PQ-001, FR-PQ-008, FR-PQ-009, FR-PQ-012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request by stage and moves them 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Draft / Preparing / For Validation / For Review / For Approval / For HR Approval / With Disbursement / Disbursed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RRF, RFP or cancellation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Kind / Request Date From / Request Date To</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Refund (RRF), Cash Advance (RFP), Check Cancellation; 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 No. / Kind / Payee / Amount / Disbursement / Requested By / Status / Flags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request number with its date; the payee by name; the DV and its status in Disbursement; the requester's name; Returned and Validation flags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Bulk Decision Results dialog</a:t>
                      </a:r>
                    </a:p>
                  </a:txBody>
                  <a:tcPr marL="54864" marR="54864" marT="27432" marB="27432">
                    <a:solidFill>
                      <a:srgbClr val="FFFFFF"/>
                    </a:solidFill>
                  </a:tcPr>
                </a:tc>
                <a:tc>
                  <a:txBody>
                    <a:bodyPr/>
                    <a:lstStyle/>
                    <a:p>
                      <a:r>
                        <a:rPr sz="850" b="0">
                          <a:solidFill>
                            <a:srgbClr val="4B4B4B"/>
                          </a:solidFill>
                          <a:latin typeface="Arial"/>
                        </a:rPr>
                        <a:t>Outcome of each 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Each selected request with its outcome or the reason it was not moved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Refund Request / New Cash Advance / Cancel a Check</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form</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Endorse Selected</a:t>
                      </a:r>
                    </a:p>
                  </a:txBody>
                  <a:tcPr marL="54864" marR="54864" marT="27432" marB="27432">
                    <a:solidFill>
                      <a:srgbClr val="E5F5FF"/>
                    </a:solidFill>
                  </a:tcPr>
                </a:tc>
                <a:tc>
                  <a:txBody>
                    <a:bodyPr/>
                    <a:lstStyle/>
                    <a:p>
                      <a:r>
                        <a:rPr sz="850" b="0">
                          <a:solidFill>
                            <a:srgbClr val="4B4B4B"/>
                          </a:solidFill>
                          <a:latin typeface="Arial"/>
                        </a:rPr>
                        <a:t>Marketing Reviewer (request review)</a:t>
                      </a:r>
                    </a:p>
                  </a:txBody>
                  <a:tcPr marL="54864" marR="54864" marT="27432" marB="27432">
                    <a:solidFill>
                      <a:srgbClr val="E5F5FF"/>
                    </a:solidFill>
                  </a:tcPr>
                </a:tc>
                <a:tc>
                  <a:txBody>
                    <a:bodyPr/>
                    <a:lstStyle/>
                    <a:p>
                      <a:r>
                        <a:rPr sz="850" b="0">
                          <a:solidFill>
                            <a:srgbClr val="4B4B4B"/>
                          </a:solidFill>
                          <a:latin typeface="Arial"/>
                        </a:rPr>
                        <a:t>For Review tab, requests selected</a:t>
                      </a:r>
                    </a:p>
                  </a:txBody>
                  <a:tcPr marL="54864" marR="54864" marT="27432" marB="27432">
                    <a:solidFill>
                      <a:srgbClr val="E5F5FF"/>
                    </a:solidFill>
                  </a:tcPr>
                </a:tc>
                <a:tc>
                  <a:txBody>
                    <a:bodyPr/>
                    <a:lstStyle/>
                    <a:p>
                      <a:r>
                        <a:rPr sz="850" b="0">
                          <a:solidFill>
                            <a:srgbClr val="4B4B4B"/>
                          </a:solidFill>
                          <a:latin typeface="Arial"/>
                        </a:rPr>
                        <a:t>Endorses each selected request on its own</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Selected / Approve Selected (HR)</a:t>
                      </a:r>
                    </a:p>
                  </a:txBody>
                  <a:tcPr marL="54864" marR="54864" marT="27432" marB="27432">
                    <a:solidFill>
                      <a:srgbClr val="FFFFFF"/>
                    </a:solidFill>
                  </a:tcPr>
                </a:tc>
                <a:tc>
                  <a:txBody>
                    <a:bodyPr/>
                    <a:lstStyle/>
                    <a:p>
                      <a:r>
                        <a:rPr sz="850" b="0">
                          <a:solidFill>
                            <a:srgbClr val="4B4B4B"/>
                          </a:solidFill>
                          <a:latin typeface="Arial"/>
                        </a:rPr>
                        <a:t>Marketing Approver; HR Approver</a:t>
                      </a:r>
                    </a:p>
                  </a:txBody>
                  <a:tcPr marL="54864" marR="54864" marT="27432" marB="27432">
                    <a:solidFill>
                      <a:srgbClr val="FFFFFF"/>
                    </a:solidFill>
                  </a:tcPr>
                </a:tc>
                <a:tc>
                  <a:txBody>
                    <a:bodyPr/>
                    <a:lstStyle/>
                    <a:p>
                      <a:r>
                        <a:rPr sz="850" b="0">
                          <a:solidFill>
                            <a:srgbClr val="4B4B4B"/>
                          </a:solidFill>
                          <a:latin typeface="Arial"/>
                        </a:rPr>
                        <a:t>For Approval or For HR Approval tab, requests selected</a:t>
                      </a:r>
                    </a:p>
                  </a:txBody>
                  <a:tcPr marL="54864" marR="54864" marT="27432" marB="27432">
                    <a:solidFill>
                      <a:srgbClr val="FFFFFF"/>
                    </a:solidFill>
                  </a:tcPr>
                </a:tc>
                <a:tc>
                  <a:txBody>
                    <a:bodyPr/>
                    <a:lstStyle/>
                    <a:p>
                      <a:r>
                        <a:rPr sz="850" b="0">
                          <a:solidFill>
                            <a:srgbClr val="4B4B4B"/>
                          </a:solidFill>
                          <a:latin typeface="Arial"/>
                        </a:rPr>
                        <a:t>Approves each selected request; an approved request goes to Disbursement or to HR</a:t>
                      </a:r>
                    </a:p>
                  </a:txBody>
                  <a:tcPr marL="54864" marR="54864" marT="27432" marB="27432">
                    <a:solidFill>
                      <a:srgbClr val="FFFFFF"/>
                    </a:solidFill>
                  </a:tcPr>
                </a:tc>
                <a:tc>
                  <a:txBody>
                    <a:bodyPr/>
                    <a:lstStyle/>
                    <a:p>
                      <a:r>
                        <a:rPr sz="850" b="0">
                          <a:solidFill>
                            <a:srgbClr val="4B4B4B"/>
                          </a:solidFill>
                          <a:latin typeface="Arial"/>
                        </a:rPr>
                        <a:t>For HR Approval or With Disbursement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Request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never endorsed or approved by the user who raised it or last moved it (FR-PQ-008, FR-PQ-009).</a:t>
                      </a:r>
                    </a:p>
                  </a:txBody>
                  <a:tcPr marL="54864" marR="54864" marT="27432" marB="27432">
                    <a:solidFill>
                      <a:srgbClr val="FFFFFF"/>
                    </a:solidFill>
                  </a:tcPr>
                </a:tc>
              </a:tr>
              <a:tr h="243840">
                <a:tc>
                  <a:txBody>
                    <a:bodyPr/>
                    <a:lstStyle/>
                    <a:p>
                      <a:r>
                        <a:rPr sz="1000" b="0">
                          <a:solidFill>
                            <a:srgbClr val="4B4B4B"/>
                          </a:solidFill>
                          <a:latin typeface="Arial"/>
                        </a:rPr>
                        <a:t>Approving several requests approves each on its own; the outcome of each is listed (FR-PQ-009).</a:t>
                      </a:r>
                    </a:p>
                  </a:txBody>
                  <a:tcPr marL="54864" marR="54864" marT="27432" marB="27432">
                    <a:solidFill>
                      <a:srgbClr val="E5F5FF"/>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9-01-list.png"/>
          <p:cNvPicPr>
            <a:picLocks noChangeAspect="1"/>
          </p:cNvPicPr>
          <p:nvPr/>
        </p:nvPicPr>
        <p:blipFill>
          <a:blip r:embed="rId3"/>
          <a:stretch>
            <a:fillRect/>
          </a:stretch>
        </p:blipFill>
        <p:spPr>
          <a:xfrm>
            <a:off x="1501829" y="1261872"/>
            <a:ext cx="918803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Refund &amp; Cash Advance Requests: the requests by stage with kind, payee, amount, disbursement and status</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7.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Home with the Filters panel open (part 1 of 2)</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8.png"/>
          <p:cNvPicPr>
            <a:picLocks noChangeAspect="1"/>
          </p:cNvPicPr>
          <p:nvPr/>
        </p:nvPicPr>
        <p:blipFill>
          <a:blip r:embed="rId3"/>
          <a:stretch>
            <a:fillRect/>
          </a:stretch>
        </p:blipFill>
        <p:spPr>
          <a:xfrm>
            <a:off x="548640" y="1261872"/>
            <a:ext cx="11094415" cy="28788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Home with the Filters panel open (part 2 of 2)</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ac-39-02-approve.png"/>
          <p:cNvPicPr>
            <a:picLocks noChangeAspect="1"/>
          </p:cNvPicPr>
          <p:nvPr/>
        </p:nvPicPr>
        <p:blipFill>
          <a:blip r:embed="rId3"/>
          <a:stretch>
            <a:fillRect/>
          </a:stretch>
        </p:blipFill>
        <p:spPr>
          <a:xfrm>
            <a:off x="998958" y="1261872"/>
            <a:ext cx="1019377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the requests selected for Approve Selected</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Refund Request Form (RRF) of a client: the segment, reference, requesting unit and purpose; the mode of payment with the client's account or the name on the check; and the accounts to refund, one line per AR number with the invoice, client, assured, amount, reason, branch or unit and the two categories.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New Refund Request</a:t>
                      </a:r>
                    </a:p>
                    <a:p>
                      <a:r>
                        <a:rPr sz="950" b="0">
                          <a:solidFill>
                            <a:srgbClr val="4B4B4B"/>
                          </a:solidFill>
                          <a:latin typeface="Arial"/>
                        </a:rPr>
                        <a:t>Requests Home › New Refund Request</a:t>
                      </a:r>
                    </a:p>
                    <a:p>
                      <a:r>
                        <a:rPr sz="950" b="0">
                          <a:solidFill>
                            <a:srgbClr val="4B4B4B"/>
                          </a:solidFill>
                          <a:latin typeface="Arial"/>
                        </a:rPr>
                        <a:t>Request › Change (a draft or returned refund)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FR-PQ-003, FR-PQ-014, FR-PQ-016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refund request is saved with its accounts to refund.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graphicFrame>
        <p:nvGraphicFramePr>
          <p:cNvPr id="9" name="Table 8"/>
          <p:cNvGraphicFramePr>
            <a:graphicFrameLocks noGrp="1"/>
          </p:cNvGraphicFramePr>
          <p:nvPr/>
        </p:nvGraphicFramePr>
        <p:xfrm>
          <a:off x="548640" y="1325880"/>
          <a:ext cx="11094411" cy="232408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Segment / Reference / Requesting Unit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80 and 60 characters; reference such as 2025_331 Refund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Purpose / 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Credit to CA / SA or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mode of payment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Mode of Payment</a:t>
                      </a:r>
                    </a:p>
                  </a:txBody>
                  <a:tcPr marL="54864" marR="54864" marT="27432" marB="27432">
                    <a:solidFill>
                      <a:srgbClr val="E5F5FF"/>
                    </a:solidFill>
                  </a:tcPr>
                </a:tc>
                <a:tc>
                  <a:txBody>
                    <a:bodyPr/>
                    <a:lstStyle/>
                    <a:p>
                      <a:r>
                        <a:rPr sz="850" b="0">
                          <a:solidFill>
                            <a:srgbClr val="4B4B4B"/>
                          </a:solidFill>
                          <a:latin typeface="Arial"/>
                        </a:rPr>
                        <a:t>Known CA / SA</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Account captured from an earlier refund of the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Account No. / Account Name / Check / Payee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BDO account of 10 to 16 digits and its name; or the name on the check</a:t>
                      </a:r>
                    </a:p>
                  </a:txBody>
                  <a:tcPr marL="54864" marR="54864" marT="27432" marB="27432">
                    <a:solidFill>
                      <a:srgbClr val="FFFFFF"/>
                    </a:solidFill>
                  </a:tcPr>
                </a:tc>
                <a:tc>
                  <a:txBody>
                    <a:bodyPr/>
                    <a:lstStyle/>
                    <a:p>
                      <a:r>
                        <a:rPr sz="850" b="0">
                          <a:solidFill>
                            <a:srgbClr val="4B4B4B"/>
                          </a:solidFill>
                          <a:latin typeface="Arial"/>
                        </a:rPr>
                        <a:t>Cond.: mode</a:t>
                      </a:r>
                    </a:p>
                  </a:txBody>
                  <a:tcPr marL="54864" marR="54864" marT="27432" marB="27432">
                    <a:solidFill>
                      <a:srgbClr val="FFFFFF"/>
                    </a:solidFill>
                  </a:tcPr>
                </a:tc>
                <a:tc>
                  <a:txBody>
                    <a:bodyPr/>
                    <a:lstStyle/>
                    <a:p>
                      <a:r>
                        <a:rPr sz="850" b="0">
                          <a:solidFill>
                            <a:srgbClr val="4B4B4B"/>
                          </a:solidFill>
                          <a:latin typeface="Arial"/>
                        </a:rPr>
                        <a:t>Digits only</a:t>
                      </a:r>
                    </a:p>
                  </a:txBody>
                  <a:tcPr marL="54864" marR="54864" marT="27432" marB="27432">
                    <a:solidFill>
                      <a:srgbClr val="FFFFFF"/>
                    </a:solidFill>
                  </a:tcPr>
                </a:tc>
                <a:tc>
                  <a:txBody>
                    <a:bodyPr/>
                    <a:lstStyle/>
                    <a:p>
                      <a:r>
                        <a:rPr sz="850" b="0">
                          <a:solidFill>
                            <a:srgbClr val="4B4B4B"/>
                          </a:solidFill>
                          <a:latin typeface="Arial"/>
                        </a:rPr>
                        <a:t>Enter the account name</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Accounts to Refund</a:t>
                      </a:r>
                    </a:p>
                  </a:txBody>
                  <a:tcPr marL="54864" marR="54864" marT="27432" marB="27432">
                    <a:solidFill>
                      <a:srgbClr val="E5F5FF"/>
                    </a:solidFill>
                  </a:tcPr>
                </a:tc>
                <a:tc>
                  <a:txBody>
                    <a:bodyPr/>
                    <a:lstStyle/>
                    <a:p>
                      <a:r>
                        <a:rPr sz="850" b="0">
                          <a:solidFill>
                            <a:srgbClr val="4B4B4B"/>
                          </a:solidFill>
                          <a:latin typeface="Arial"/>
                        </a:rPr>
                        <a:t>AR No. / Invoice No. / Client No. / Assured / Client / Amount / Reason / Branch / Unit / Category A / B</a:t>
                      </a:r>
                    </a:p>
                  </a:txBody>
                  <a:tcPr marL="54864" marR="54864" marT="27432" marB="27432">
                    <a:solidFill>
                      <a:srgbClr val="E5F5FF"/>
                    </a:solidFill>
                  </a:tcPr>
                </a:tc>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One line per AR number; the invoice looked up; the reason from its list</a:t>
                      </a:r>
                    </a:p>
                  </a:txBody>
                  <a:tcPr marL="54864" marR="54864" marT="27432" marB="27432">
                    <a:solidFill>
                      <a:srgbClr val="E5F5FF"/>
                    </a:solidFill>
                  </a:tcPr>
                </a:tc>
                <a:tc>
                  <a:txBody>
                    <a:bodyPr/>
                    <a:lstStyle/>
                    <a:p>
                      <a:r>
                        <a:rPr sz="850" b="0">
                          <a:solidFill>
                            <a:srgbClr val="4B4B4B"/>
                          </a:solidFill>
                          <a:latin typeface="Arial"/>
                        </a:rPr>
                        <a:t>Y / N / Y / Y / Y / Y / N / N</a:t>
                      </a:r>
                    </a:p>
                  </a:txBody>
                  <a:tcPr marL="54864" marR="54864" marT="27432" marB="27432">
                    <a:solidFill>
                      <a:srgbClr val="E5F5FF"/>
                    </a:solidFill>
                  </a:tcPr>
                </a:tc>
                <a:tc>
                  <a:txBody>
                    <a:bodyPr/>
                    <a:lstStyle/>
                    <a:p>
                      <a:r>
                        <a:rPr sz="850" b="0">
                          <a:solidFill>
                            <a:srgbClr val="4B4B4B"/>
                          </a:solidFill>
                          <a:latin typeface="Arial"/>
                        </a:rPr>
                        <a:t>An AR number in one open refund only; all lines of one client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Account / [Remove]</a:t>
                      </a:r>
                    </a:p>
                  </a:txBody>
                  <a:tcPr marL="54864" marR="54864" marT="27432" marB="27432">
                    <a:solidFill>
                      <a:srgbClr val="FFFFFF"/>
                    </a:solidFill>
                  </a:tcPr>
                </a:tc>
                <a:tc>
                  <a:txBody>
                    <a:bodyPr/>
                    <a:lstStyle/>
                    <a:p>
                      <a:r>
                        <a:rPr sz="850" b="0">
                          <a:solidFill>
                            <a:srgbClr val="4B4B4B"/>
                          </a:solidFill>
                          <a:latin typeface="Arial"/>
                        </a:rPr>
                        <a:t>Marketing Processor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Adds or removes an account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Request</a:t>
                      </a:r>
                    </a:p>
                  </a:txBody>
                  <a:tcPr marL="54864" marR="54864" marT="27432" marB="27432">
                    <a:solidFill>
                      <a:srgbClr val="E5F5FF"/>
                    </a:solidFill>
                  </a:tcPr>
                </a:tc>
                <a:tc>
                  <a:txBody>
                    <a:bodyPr/>
                    <a:lstStyle/>
                    <a:p>
                      <a:r>
                        <a:rPr sz="850" b="0">
                          <a:solidFill>
                            <a:srgbClr val="4B4B4B"/>
                          </a:solidFill>
                          <a:latin typeface="Arial"/>
                        </a:rPr>
                        <a:t>Marketing Processor, Reviewer (request create)</a:t>
                      </a:r>
                    </a:p>
                  </a:txBody>
                  <a:tcPr marL="54864" marR="54864" marT="27432" marB="27432">
                    <a:solidFill>
                      <a:srgbClr val="E5F5FF"/>
                    </a:solidFill>
                  </a:tcPr>
                </a:tc>
                <a:tc>
                  <a:txBody>
                    <a:bodyPr/>
                    <a:lstStyle/>
                    <a:p>
                      <a:r>
                        <a:rPr sz="850" b="0">
                          <a:solidFill>
                            <a:srgbClr val="4B4B4B"/>
                          </a:solidFill>
                          <a:latin typeface="Arial"/>
                        </a:rPr>
                        <a:t>Mandatory fields filled</a:t>
                      </a:r>
                    </a:p>
                  </a:txBody>
                  <a:tcPr marL="54864" marR="54864" marT="27432" marB="27432">
                    <a:solidFill>
                      <a:srgbClr val="E5F5FF"/>
                    </a:solidFill>
                  </a:tcPr>
                </a:tc>
                <a:tc>
                  <a:txBody>
                    <a:bodyPr/>
                    <a:lstStyle/>
                    <a:p>
                      <a:r>
                        <a:rPr sz="850" b="0">
                          <a:solidFill>
                            <a:srgbClr val="4B4B4B"/>
                          </a:solidFill>
                          <a:latin typeface="Arial"/>
                        </a:rPr>
                        <a:t>Saves the request and opens it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Same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without saving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AR number is refunded once: an AR already in another open or paid refund request is refused (FR-PQ-014).</a:t>
                      </a:r>
                    </a:p>
                  </a:txBody>
                  <a:tcPr marL="54864" marR="54864" marT="27432" marB="27432">
                    <a:solidFill>
                      <a:srgbClr val="FFFFFF"/>
                    </a:solidFill>
                  </a:tcPr>
                </a:tc>
              </a:tr>
              <a:tr h="243840">
                <a:tc>
                  <a:txBody>
                    <a:bodyPr/>
                    <a:lstStyle/>
                    <a:p>
                      <a:r>
                        <a:rPr sz="1000" b="0">
                          <a:solidFill>
                            <a:srgbClr val="4B4B4B"/>
                          </a:solidFill>
                          <a:latin typeface="Arial"/>
                        </a:rPr>
                        <a:t>All accounts of one refund request belong to one client; the fields follow the Refund Request Form of Appendix D (FR-PQ-003).</a:t>
                      </a:r>
                    </a:p>
                  </a:txBody>
                  <a:tcPr marL="54864" marR="54864" marT="27432" marB="27432">
                    <a:solidFill>
                      <a:srgbClr val="E5F5FF"/>
                    </a:solidFill>
                  </a:tcPr>
                </a:tc>
              </a:tr>
              <a:tr h="243840">
                <a:tc>
                  <a:txBody>
                    <a:bodyPr/>
                    <a:lstStyle/>
                    <a:p>
                      <a:r>
                        <a:rPr sz="1000" b="0">
                          <a:solidFill>
                            <a:srgbClr val="4B4B4B"/>
                          </a:solidFill>
                          <a:latin typeface="Arial"/>
                        </a:rPr>
                        <a:t>The client's account is recorded on the client record when the refund is approved, without duplicates (FR-PQ-016).</a:t>
                      </a:r>
                    </a:p>
                  </a:txBody>
                  <a:tcPr marL="54864" marR="54864" marT="27432" marB="27432">
                    <a:solidFill>
                      <a:srgbClr val="FFFFFF"/>
                    </a:solidFill>
                  </a:tcPr>
                </a:tc>
              </a:tr>
            </a:tbl>
          </a:graphicData>
        </a:graphic>
      </p:graphicFrame>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2</a:t>
                      </a:r>
                    </a:p>
                  </a:txBody>
                  <a:tcPr marL="54864" marR="54864" marT="27432" marB="27432">
                    <a:solidFill>
                      <a:srgbClr val="FFFFFF"/>
                    </a:solidFill>
                  </a:tcPr>
                </a:tc>
                <a:tc>
                  <a:txBody>
                    <a:bodyPr/>
                    <a:lstStyle/>
                    <a:p>
                      <a:r>
                        <a:rPr sz="900" b="0">
                          <a:solidFill>
                            <a:srgbClr val="4B4B4B"/>
                          </a:solidFill>
                          <a:latin typeface="Arial"/>
                        </a:rPr>
                        <a:t>Raises a refund with the AR of the refund of walkthrough B</a:t>
                      </a:r>
                    </a:p>
                  </a:txBody>
                  <a:tcPr marL="54864" marR="54864" marT="27432" marB="27432">
                    <a:solidFill>
                      <a:srgbClr val="FFFFFF"/>
                    </a:solidFill>
                  </a:tcPr>
                </a:tc>
                <a:tc>
                  <a:txBody>
                    <a:bodyPr/>
                    <a:lstStyle/>
                    <a:p>
                      <a:r>
                        <a:rPr sz="900" b="0">
                          <a:solidFill>
                            <a:srgbClr val="4B4B4B"/>
                          </a:solidFill>
                          <a:latin typeface="Arial"/>
                        </a:rPr>
                        <a:t>SCR-AC-40_wt-e-step-02.png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1</a:t>
                      </a:r>
                    </a:p>
                  </a:txBody>
                  <a:tcPr marL="54864" marR="54864" marT="27432" marB="27432">
                    <a:solidFill>
                      <a:srgbClr val="E5F5FF"/>
                    </a:solidFill>
                  </a:tcPr>
                </a:tc>
                <a:tc>
                  <a:txBody>
                    <a:bodyPr/>
                    <a:lstStyle/>
                    <a:p>
                      <a:r>
                        <a:rPr sz="900" b="0">
                          <a:solidFill>
                            <a:srgbClr val="4B4B4B"/>
                          </a:solidFill>
                          <a:latin typeface="Arial"/>
                        </a:rPr>
                        <a:t>Fills in New Refund Request (segment, reference, purpose, credit to the client's account) with one account to refund (AR number, client, assured, amount, reason Overpayment) and clicks Save Request</a:t>
                      </a:r>
                    </a:p>
                  </a:txBody>
                  <a:tcPr marL="54864" marR="54864" marT="27432" marB="27432">
                    <a:solidFill>
                      <a:srgbClr val="E5F5FF"/>
                    </a:solidFill>
                  </a:tcPr>
                </a:tc>
                <a:tc>
                  <a:txBody>
                    <a:bodyPr/>
                    <a:lstStyle/>
                    <a:p>
                      <a:r>
                        <a:rPr sz="900" b="0">
                          <a:solidFill>
                            <a:srgbClr val="4B4B4B"/>
                          </a:solidFill>
                          <a:latin typeface="Arial"/>
                        </a:rPr>
                        <a:t>SCR-AC-40_wt-b-step-01.png</a:t>
                      </a:r>
                    </a:p>
                  </a:txBody>
                  <a:tcPr marL="54864" marR="54864" marT="27432" marB="27432">
                    <a:solidFill>
                      <a:srgbClr val="E5F5FF"/>
                    </a:solidFill>
                  </a:tcPr>
                </a:tc>
              </a:tr>
            </a:tbl>
          </a:graphicData>
        </a:graphic>
      </p:graphicFrame>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9.png"/>
          <p:cNvPicPr>
            <a:picLocks noChangeAspect="1"/>
          </p:cNvPicPr>
          <p:nvPr/>
        </p:nvPicPr>
        <p:blipFill>
          <a:blip r:embed="rId3"/>
          <a:stretch>
            <a:fillRect/>
          </a:stretch>
        </p:blipFill>
        <p:spPr>
          <a:xfrm>
            <a:off x="548640" y="1261872"/>
            <a:ext cx="11094415" cy="43437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1 of 3)</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2 of 3)</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1.png"/>
          <p:cNvPicPr>
            <a:picLocks noChangeAspect="1"/>
          </p:cNvPicPr>
          <p:nvPr/>
        </p:nvPicPr>
        <p:blipFill>
          <a:blip r:embed="rId3"/>
          <a:stretch>
            <a:fillRect/>
          </a:stretch>
        </p:blipFill>
        <p:spPr>
          <a:xfrm>
            <a:off x="548640" y="1261872"/>
            <a:ext cx="11094415" cy="423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3 of 3)</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2.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1 of 3)</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3.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2 of 3)</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4.png"/>
          <p:cNvPicPr>
            <a:picLocks noChangeAspect="1"/>
          </p:cNvPicPr>
          <p:nvPr/>
        </p:nvPicPr>
        <p:blipFill>
          <a:blip r:embed="rId3"/>
          <a:stretch>
            <a:fillRect/>
          </a:stretch>
        </p:blipFill>
        <p:spPr>
          <a:xfrm>
            <a:off x="548640" y="1261872"/>
            <a:ext cx="11094415" cy="2350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3 of 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New Cash Advance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 for Payment (RFP) of an employee cash advance: the employee, the type, the amount, the purpose, segment and requesting unit, and the mode of payment.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New Cash Advance</a:t>
                      </a:r>
                    </a:p>
                    <a:p>
                      <a:r>
                        <a:rPr sz="950" b="0">
                          <a:solidFill>
                            <a:srgbClr val="4B4B4B"/>
                          </a:solidFill>
                          <a:latin typeface="Arial"/>
                        </a:rPr>
                        <a:t>Requests Home › New Cash Advance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cash advance is requested.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 for Payment</a:t>
                      </a:r>
                    </a:p>
                  </a:txBody>
                  <a:tcPr marL="54864" marR="54864" marT="27432" marB="27432">
                    <a:solidFill>
                      <a:srgbClr val="FFFFFF"/>
                    </a:solidFill>
                  </a:tcPr>
                </a:tc>
                <a:tc>
                  <a:txBody>
                    <a:bodyPr/>
                    <a:lstStyle/>
                    <a:p>
                      <a:r>
                        <a:rPr sz="850" b="0">
                          <a:solidFill>
                            <a:srgbClr val="4B4B4B"/>
                          </a:solidFill>
                          <a:latin typeface="Arial"/>
                        </a:rPr>
                        <a:t>Employee No. / Employee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employee of the employee master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 for Payment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Cash Advance and the other RFP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 for Payment</a:t>
                      </a:r>
                    </a:p>
                  </a:txBody>
                  <a:tcPr marL="54864" marR="54864" marT="27432" marB="27432">
                    <a:solidFill>
                      <a:srgbClr val="FFFFFF"/>
                    </a:solidFill>
                  </a:tcPr>
                </a:tc>
                <a:tc>
                  <a:txBody>
                    <a:bodyPr/>
                    <a:lstStyle/>
                    <a:p>
                      <a:r>
                        <a:rPr sz="850" b="0">
                          <a:solidFill>
                            <a:srgbClr val="4B4B4B"/>
                          </a:solidFill>
                          <a:latin typeface="Arial"/>
                        </a:rPr>
                        <a:t>Amount / Purpose</a:t>
                      </a:r>
                    </a:p>
                  </a:txBody>
                  <a:tcPr marL="54864" marR="54864" marT="27432" marB="27432">
                    <a:solidFill>
                      <a:srgbClr val="FFFFFF"/>
                    </a:solidFill>
                  </a:tcPr>
                </a:tc>
                <a:tc>
                  <a:txBody>
                    <a:bodyPr/>
                    <a:lstStyle/>
                    <a:p>
                      <a:r>
                        <a:rPr sz="850" b="0">
                          <a:solidFill>
                            <a:srgbClr val="4B4B4B"/>
                          </a:solidFill>
                          <a:latin typeface="Arial"/>
                        </a:rPr>
                        <a:t>Number, text area</a:t>
                      </a:r>
                    </a:p>
                  </a:txBody>
                  <a:tcPr marL="54864" marR="54864" marT="27432" marB="27432">
                    <a:solidFill>
                      <a:srgbClr val="FFFFFF"/>
                    </a:solidFill>
                  </a:tcPr>
                </a:tc>
                <a:tc>
                  <a:txBody>
                    <a:bodyPr/>
                    <a:lstStyle/>
                    <a:p>
                      <a:r>
                        <a:rPr sz="850" b="0">
                          <a:solidFill>
                            <a:srgbClr val="4B4B4B"/>
                          </a:solidFill>
                          <a:latin typeface="Arial"/>
                        </a:rPr>
                        <a:t>Amount above zero in the base currency; purpose 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for Payment</a:t>
                      </a:r>
                    </a:p>
                  </a:txBody>
                  <a:tcPr marL="54864" marR="54864" marT="27432" marB="27432">
                    <a:solidFill>
                      <a:srgbClr val="E5F5FF"/>
                    </a:solidFill>
                  </a:tcPr>
                </a:tc>
                <a:tc>
                  <a:txBody>
                    <a:bodyPr/>
                    <a:lstStyle/>
                    <a:p>
                      <a:r>
                        <a:rPr sz="850" b="0">
                          <a:solidFill>
                            <a:srgbClr val="4B4B4B"/>
                          </a:solidFill>
                          <a:latin typeface="Arial"/>
                        </a:rPr>
                        <a:t>Segment / Requesting Unit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and 60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Mode of Payment / Account No. / Account Name</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Credit to CA / SA or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mode of payment</a:t>
                      </a:r>
                    </a:p>
                  </a:txBody>
                  <a:tcPr marL="54864" marR="54864" marT="27432" marB="27432">
                    <a:solidFill>
                      <a:srgbClr val="FFFFFF"/>
                    </a:solidFill>
                  </a:tcPr>
                </a:tc>
              </a:tr>
            </a:tbl>
          </a:graphicData>
        </a:graphic>
      </p:graphicFrame>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Request / Cancel</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Mandatory fields filled</a:t>
                      </a:r>
                    </a:p>
                  </a:txBody>
                  <a:tcPr marL="54864" marR="54864" marT="27432" marB="27432">
                    <a:solidFill>
                      <a:srgbClr val="FFFFFF"/>
                    </a:solidFill>
                  </a:tcPr>
                </a:tc>
                <a:tc>
                  <a:txBody>
                    <a:bodyPr/>
                    <a:lstStyle/>
                    <a:p>
                      <a:r>
                        <a:rPr sz="850" b="0">
                          <a:solidFill>
                            <a:srgbClr val="4B4B4B"/>
                          </a:solidFill>
                          <a:latin typeface="Arial"/>
                        </a:rPr>
                        <a:t>Saves the request and opens it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cash advance is approved by Marketing, then by Human Resources, before it goes to Disbursement (FR-PQ-004, FR-PQ-015).</a:t>
                      </a:r>
                    </a:p>
                  </a:txBody>
                  <a:tcPr marL="54864" marR="54864" marT="27432" marB="27432">
                    <a:solidFill>
                      <a:srgbClr val="FFFFFF"/>
                    </a:solidFill>
                  </a:tcPr>
                </a:tc>
              </a:tr>
            </a:tbl>
          </a:graphicData>
        </a:graphic>
      </p:graphicFrame>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New Cash Advance: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1-01-filled.png"/>
          <p:cNvPicPr>
            <a:picLocks noChangeAspect="1"/>
          </p:cNvPicPr>
          <p:nvPr/>
        </p:nvPicPr>
        <p:blipFill>
          <a:blip r:embed="rId3"/>
          <a:stretch>
            <a:fillRect/>
          </a:stretch>
        </p:blipFill>
        <p:spPr>
          <a:xfrm>
            <a:off x="1735175" y="1261872"/>
            <a:ext cx="872134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Cash Advance: the employee, amount and purpose, paid by credit to the employee's account</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Cancel a Check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Asks Disbursement to cancel the check of a paid refund or cash advance, after review and approval: the paid request, the check number, the reason and remarks.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Cancel a Check</a:t>
                      </a:r>
                    </a:p>
                    <a:p>
                      <a:r>
                        <a:rPr sz="950" b="0">
                          <a:solidFill>
                            <a:srgbClr val="4B4B4B"/>
                          </a:solidFill>
                          <a:latin typeface="Arial"/>
                        </a:rPr>
                        <a:t>Requests Home › Cancel a Check</a:t>
                      </a:r>
                    </a:p>
                    <a:p>
                      <a:r>
                        <a:rPr sz="950" b="0">
                          <a:solidFill>
                            <a:srgbClr val="4B4B4B"/>
                          </a:solidFill>
                          <a:latin typeface="Arial"/>
                        </a:rPr>
                        <a:t>Request › Cancel the Check</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cancellation of the check is requested.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graphicFrame>
        <p:nvGraphicFramePr>
          <p:cNvPr id="9" name="Table 8"/>
          <p:cNvGraphicFramePr>
            <a:graphicFrameLocks noGrp="1"/>
          </p:cNvGraphicFramePr>
          <p:nvPr/>
        </p:nvGraphicFramePr>
        <p:xfrm>
          <a:off x="548640" y="1325880"/>
          <a:ext cx="11094411" cy="9220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Check to Cancel</a:t>
                      </a:r>
                    </a:p>
                  </a:txBody>
                  <a:tcPr marL="54864" marR="54864" marT="27432" marB="27432">
                    <a:solidFill>
                      <a:srgbClr val="FFFFFF"/>
                    </a:solidFill>
                  </a:tcPr>
                </a:tc>
                <a:tc>
                  <a:txBody>
                    <a:bodyPr/>
                    <a:lstStyle/>
                    <a:p>
                      <a:r>
                        <a:rPr sz="850" b="0">
                          <a:solidFill>
                            <a:srgbClr val="4B4B4B"/>
                          </a:solidFill>
                          <a:latin typeface="Arial"/>
                        </a:rPr>
                        <a:t>Paid Request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RRF or RFP whose check was disbursed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disbursed request paid by check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Check to Cancel</a:t>
                      </a:r>
                    </a:p>
                  </a:txBody>
                  <a:tcPr marL="54864" marR="54864" marT="27432" marB="27432">
                    <a:solidFill>
                      <a:srgbClr val="E5F5FF"/>
                    </a:solidFill>
                  </a:tcPr>
                </a:tc>
                <a:tc>
                  <a:txBody>
                    <a:bodyPr/>
                    <a:lstStyle/>
                    <a:p>
                      <a:r>
                        <a:rPr sz="850" b="0">
                          <a:solidFill>
                            <a:srgbClr val="4B4B4B"/>
                          </a:solidFill>
                          <a:latin typeface="Arial"/>
                        </a:rPr>
                        <a:t>Check No. / Reason / Remarks</a:t>
                      </a:r>
                    </a:p>
                  </a:txBody>
                  <a:tcPr marL="54864" marR="54864" marT="27432" marB="27432">
                    <a:solidFill>
                      <a:srgbClr val="E5F5FF"/>
                    </a:solidFill>
                  </a:tcPr>
                </a:tc>
                <a:tc>
                  <a:txBody>
                    <a:bodyPr/>
                    <a:lstStyle/>
                    <a:p>
                      <a:r>
                        <a:rPr sz="850" b="0">
                          <a:solidFill>
                            <a:srgbClr val="4B4B4B"/>
                          </a:solidFill>
                          <a:latin typeface="Arial"/>
                        </a:rPr>
                        <a:t>Text, drop-down</a:t>
                      </a:r>
                    </a:p>
                  </a:txBody>
                  <a:tcPr marL="54864" marR="54864" marT="27432" marB="27432">
                    <a:solidFill>
                      <a:srgbClr val="E5F5FF"/>
                    </a:solidFill>
                  </a:tcPr>
                </a:tc>
                <a:tc>
                  <a:txBody>
                    <a:bodyPr/>
                    <a:lstStyle/>
                    <a:p>
                      <a:r>
                        <a:rPr sz="850" b="0">
                          <a:solidFill>
                            <a:srgbClr val="4B4B4B"/>
                          </a:solidFill>
                          <a:latin typeface="Arial"/>
                        </a:rPr>
                        <a:t>The check number; the reason from its list</a:t>
                      </a:r>
                    </a:p>
                  </a:txBody>
                  <a:tcPr marL="54864" marR="54864" marT="27432" marB="27432">
                    <a:solidFill>
                      <a:srgbClr val="E5F5FF"/>
                    </a:solidFill>
                  </a:tcPr>
                </a:tc>
                <a:tc>
                  <a:txBody>
                    <a:bodyPr/>
                    <a:lstStyle/>
                    <a:p>
                      <a:r>
                        <a:rPr sz="850" b="0">
                          <a:solidFill>
                            <a:srgbClr val="4B4B4B"/>
                          </a:solidFill>
                          <a:latin typeface="Arial"/>
                        </a:rPr>
                        <a:t>N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reason</a:t>
                      </a:r>
                    </a:p>
                  </a:txBody>
                  <a:tcPr marL="54864" marR="54864" marT="27432" marB="27432">
                    <a:solidFill>
                      <a:srgbClr val="E5F5FF"/>
                    </a:solidFill>
                  </a:tcPr>
                </a:tc>
              </a:tr>
            </a:tbl>
          </a:graphicData>
        </a:graphic>
      </p:graphicFrame>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Raise Cancellation</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Paid request and reason given</a:t>
                      </a:r>
                    </a:p>
                  </a:txBody>
                  <a:tcPr marL="54864" marR="54864" marT="27432" marB="27432">
                    <a:solidFill>
                      <a:srgbClr val="FFFFFF"/>
                    </a:solidFill>
                  </a:tcPr>
                </a:tc>
                <a:tc>
                  <a:txBody>
                    <a:bodyPr/>
                    <a:lstStyle/>
                    <a:p>
                      <a:r>
                        <a:rPr sz="850" b="0">
                          <a:solidFill>
                            <a:srgbClr val="4B4B4B"/>
                          </a:solidFill>
                          <a:latin typeface="Arial"/>
                        </a:rPr>
                        <a:t>Raises a check-cancellation request for review and approval</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After approval the cancellation is handed to the Disbursement approvers, who cancel the approved voucher (FR-PQ-011, FR-DS-044).</a:t>
                      </a:r>
                    </a:p>
                  </a:txBody>
                  <a:tcPr marL="54864" marR="54864" marT="27432" marB="27432">
                    <a:solidFill>
                      <a:srgbClr val="FFFFFF"/>
                    </a:solidFill>
                  </a:tcPr>
                </a:tc>
              </a:tr>
            </a:tbl>
          </a:graphicData>
        </a:graphic>
      </p:graphicFrame>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Cancel a Check: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2-01-form.png"/>
          <p:cNvPicPr>
            <a:picLocks noChangeAspect="1"/>
          </p:cNvPicPr>
          <p:nvPr/>
        </p:nvPicPr>
        <p:blipFill>
          <a:blip r:embed="rId3"/>
          <a:stretch>
            <a:fillRect/>
          </a:stretch>
        </p:blipFill>
        <p:spPr>
          <a:xfrm>
            <a:off x="548640" y="1261872"/>
            <a:ext cx="11094415" cy="33570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a Disbursed Check: the paid request, the check and the reason</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Marketing request: the payee, kind, amount, mode of payment, request date and DV number; the workflow (assign, submit, send for validation, endorse, approve, approve for HR, return, cancel); the tabs Details, Validation (the checks of ACSL and Cashiering on the refund of a cancelled policy), Disbursement (the voucher and its status), Liquidation (of a cash advance) and Documents.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 Marketing Approver, Human Resources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Requests Home › Request</a:t>
                      </a:r>
                    </a:p>
                    <a:p>
                      <a:r>
                        <a:rPr sz="950" b="0">
                          <a:solidFill>
                            <a:srgbClr val="4B4B4B"/>
                          </a:solidFill>
                          <a:latin typeface="Arial"/>
                        </a:rPr>
                        <a:t>Requests Home › open a row</a:t>
                      </a:r>
                    </a:p>
                    <a:p>
                      <a:r>
                        <a:rPr sz="950" b="0">
                          <a:solidFill>
                            <a:srgbClr val="4B4B4B"/>
                          </a:solidFill>
                          <a:latin typeface="Arial"/>
                        </a:rPr>
                        <a:t>New Refund Request, New Cash Advance › saved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FR-PQ-001, FR-PQ-005, FR-PQ-006, FR-PQ-007, FR-PQ-008, FR-PQ-009, FR-PQ-010, FR-PQ-012, FR-PQ-013, FR-PQ-015, FR-PQ-017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is validated, approved, paid and, for a cash advance, liquidated.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graphicFrame>
        <p:nvGraphicFramePr>
          <p:cNvPr id="9" name="Table 8"/>
          <p:cNvGraphicFramePr>
            <a:graphicFrameLocks noGrp="1"/>
          </p:cNvGraphicFramePr>
          <p:nvPr/>
        </p:nvGraphicFramePr>
        <p:xfrm>
          <a:off x="548640" y="1325880"/>
          <a:ext cx="11094411" cy="45033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Request number; root invoice of the first line; the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Kind / Payee / Amount / Mode of Payment / Request Date / DV No.</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Refund (RRF), Cash Advance (RFP) or Check Cancellation; payee name; currency and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Request details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Segment, reference, requesting unit, purpose and the payout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Item / AR No. / Invoice / Root / Assured / Client / Amount / Reason / Branch / Unit / Category A / B</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to refund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Round / Item / Validator / Ticket / Status / Result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ACSL and Cashiering checks with their ticket and result; the new AR when the payment went back to unapplied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validation needed for this request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Result dialog</a:t>
                      </a:r>
                    </a:p>
                  </a:txBody>
                  <a:tcPr marL="54864" marR="54864" marT="27432" marB="27432">
                    <a:solidFill>
                      <a:srgbClr val="E5F5FF"/>
                    </a:solidFill>
                  </a:tcPr>
                </a:tc>
                <a:tc>
                  <a:txBody>
                    <a:bodyPr/>
                    <a:lstStyle/>
                    <a:p>
                      <a:r>
                        <a:rPr sz="850" b="0">
                          <a:solidFill>
                            <a:srgbClr val="4B4B4B"/>
                          </a:solidFill>
                          <a:latin typeface="Arial"/>
                        </a:rPr>
                        <a:t>Result / New AR No.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Confirmed or Rejected; the AR issued when the payment went back to unapplied</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DV, status and payment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voucher of the request with its stage and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Liquidation</a:t>
                      </a:r>
                    </a:p>
                  </a:txBody>
                  <a:tcPr marL="54864" marR="54864" marT="27432" marB="27432">
                    <a:solidFill>
                      <a:srgbClr val="E5F5FF"/>
                    </a:solidFill>
                  </a:tcPr>
                </a:tc>
                <a:tc>
                  <a:txBody>
                    <a:bodyPr/>
                    <a:lstStyle/>
                    <a:p>
                      <a:r>
                        <a:rPr sz="850" b="0">
                          <a:solidFill>
                            <a:srgbClr val="4B4B4B"/>
                          </a:solidFill>
                          <a:latin typeface="Arial"/>
                        </a:rPr>
                        <a:t>Job Level / Cost Centre / Cash Advanced / Over / (Short)</a:t>
                      </a:r>
                    </a:p>
                  </a:txBody>
                  <a:tcPr marL="54864" marR="54864" marT="27432" marB="27432">
                    <a:solidFill>
                      <a:srgbClr val="E5F5FF"/>
                    </a:solidFill>
                  </a:tcPr>
                </a:tc>
                <a:tc>
                  <a:txBody>
                    <a:bodyPr/>
                    <a:lstStyle/>
                    <a:p>
                      <a:r>
                        <a:rPr sz="850" b="0">
                          <a:solidFill>
                            <a:srgbClr val="4B4B4B"/>
                          </a:solidFill>
                          <a:latin typeface="Arial"/>
                        </a:rPr>
                        <a:t>Drop-down, display</a:t>
                      </a:r>
                    </a:p>
                  </a:txBody>
                  <a:tcPr marL="54864" marR="54864" marT="27432" marB="27432">
                    <a:solidFill>
                      <a:srgbClr val="E5F5FF"/>
                    </a:solidFill>
                  </a:tcPr>
                </a:tc>
                <a:tc>
                  <a:txBody>
                    <a:bodyPr/>
                    <a:lstStyle/>
                    <a:p>
                      <a:r>
                        <a:rPr sz="850" b="0">
                          <a:solidFill>
                            <a:srgbClr val="4B4B4B"/>
                          </a:solidFill>
                          <a:latin typeface="Arial"/>
                        </a:rPr>
                        <a:t>The job level and cost centre; the amounts</a:t>
                      </a:r>
                    </a:p>
                  </a:txBody>
                  <a:tcPr marL="54864" marR="54864" marT="27432" marB="27432">
                    <a:solidFill>
                      <a:srgbClr val="E5F5FF"/>
                    </a:solidFill>
                  </a:tcPr>
                </a:tc>
                <a:tc>
                  <a:txBody>
                    <a:bodyPr/>
                    <a:lstStyle/>
                    <a:p>
                      <a:r>
                        <a:rPr sz="850" b="0">
                          <a:solidFill>
                            <a:srgbClr val="4B4B4B"/>
                          </a:solidFill>
                          <a:latin typeface="Arial"/>
                        </a:rPr>
                        <a:t>Y / Y / - / -</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Liquidation</a:t>
                      </a:r>
                    </a:p>
                  </a:txBody>
                  <a:tcPr marL="54864" marR="54864" marT="27432" marB="27432">
                    <a:solidFill>
                      <a:srgbClr val="FFFFFF"/>
                    </a:solidFill>
                  </a:tcPr>
                </a:tc>
                <a:tc>
                  <a:txBody>
                    <a:bodyPr/>
                    <a:lstStyle/>
                    <a:p>
                      <a:r>
                        <a:rPr sz="850" b="0">
                          <a:solidFill>
                            <a:srgbClr val="4B4B4B"/>
                          </a:solidFill>
                          <a:latin typeface="Arial"/>
                        </a:rPr>
                        <a:t>Date / Particulars / [Expense categories]</a:t>
                      </a:r>
                    </a:p>
                  </a:txBody>
                  <a:tcPr marL="54864" marR="54864" marT="27432" marB="27432">
                    <a:solidFill>
                      <a:srgbClr val="FFFFFF"/>
                    </a:solidFill>
                  </a:tcPr>
                </a:tc>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One line per day with the per diem, representation, transport, lodging and others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Assign dialog</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 Marketing user who prepares refunds,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user who may create requests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graphicFrame>
        <p:nvGraphicFramePr>
          <p:cNvPr id="9" name="Table 8"/>
          <p:cNvGraphicFramePr>
            <a:graphicFrameLocks noGrp="1"/>
          </p:cNvGraphicFramePr>
          <p:nvPr/>
        </p:nvGraphicFramePr>
        <p:xfrm>
          <a:off x="548640" y="1325880"/>
          <a:ext cx="11094412" cy="319276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 Preparer</a:t>
                      </a:r>
                    </a:p>
                  </a:txBody>
                  <a:tcPr marL="54864" marR="54864" marT="27432" marB="27432">
                    <a:solidFill>
                      <a:srgbClr val="FFFFFF"/>
                    </a:solidFill>
                  </a:tcPr>
                </a:tc>
                <a:tc>
                  <a:txBody>
                    <a:bodyPr/>
                    <a:lstStyle/>
                    <a:p>
                      <a:r>
                        <a:rPr sz="850" b="0">
                          <a:solidFill>
                            <a:srgbClr val="4B4B4B"/>
                          </a:solidFill>
                          <a:latin typeface="Arial"/>
                        </a:rPr>
                        <a:t>Marketing Reviewer (request assign)</a:t>
                      </a:r>
                    </a:p>
                  </a:txBody>
                  <a:tcPr marL="54864" marR="54864" marT="27432" marB="27432">
                    <a:solidFill>
                      <a:srgbClr val="FFFFFF"/>
                    </a:solidFill>
                  </a:tcPr>
                </a:tc>
                <a:tc>
                  <a:txBody>
                    <a:bodyPr/>
                    <a:lstStyle/>
                    <a:p>
                      <a:r>
                        <a:rPr sz="850" b="0">
                          <a:solidFill>
                            <a:srgbClr val="4B4B4B"/>
                          </a:solidFill>
                          <a:latin typeface="Arial"/>
                        </a:rPr>
                        <a:t>Received refund</a:t>
                      </a:r>
                    </a:p>
                  </a:txBody>
                  <a:tcPr marL="54864" marR="54864" marT="27432" marB="27432">
                    <a:solidFill>
                      <a:srgbClr val="FFFFFF"/>
                    </a:solidFill>
                  </a:tcPr>
                </a:tc>
                <a:tc>
                  <a:txBody>
                    <a:bodyPr/>
                    <a:lstStyle/>
                    <a:p>
                      <a:r>
                        <a:rPr sz="850" b="0">
                          <a:solidFill>
                            <a:srgbClr val="4B4B4B"/>
                          </a:solidFill>
                          <a:latin typeface="Arial"/>
                        </a:rPr>
                        <a:t>Assigns the request to a preparer</a:t>
                      </a:r>
                    </a:p>
                  </a:txBody>
                  <a:tcPr marL="54864" marR="54864" marT="27432" marB="27432">
                    <a:solidFill>
                      <a:srgbClr val="FFFFFF"/>
                    </a:solidFill>
                  </a:tcPr>
                </a:tc>
                <a:tc>
                  <a:txBody>
                    <a:bodyPr/>
                    <a:lstStyle/>
                    <a:p>
                      <a:r>
                        <a:rPr sz="850" b="0">
                          <a:solidFill>
                            <a:srgbClr val="4B4B4B"/>
                          </a:solidFill>
                          <a:latin typeface="Arial"/>
                        </a:rPr>
                        <a:t>Preparing</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Submit for Review / Send for Validation</a:t>
                      </a:r>
                    </a:p>
                  </a:txBody>
                  <a:tcPr marL="54864" marR="54864" marT="27432" marB="27432">
                    <a:solidFill>
                      <a:srgbClr val="E5F5FF"/>
                    </a:solidFill>
                  </a:tcPr>
                </a:tc>
                <a:tc>
                  <a:txBody>
                    <a:bodyPr/>
                    <a:lstStyle/>
                    <a:p>
                      <a:r>
                        <a:rPr sz="850" b="0">
                          <a:solidFill>
                            <a:srgbClr val="4B4B4B"/>
                          </a:solidFill>
                          <a:latin typeface="Arial"/>
                        </a:rPr>
                        <a:t>Preparer (request create)</a:t>
                      </a:r>
                    </a:p>
                  </a:txBody>
                  <a:tcPr marL="54864" marR="54864" marT="27432" marB="27432">
                    <a:solidFill>
                      <a:srgbClr val="E5F5FF"/>
                    </a:solidFill>
                  </a:tcPr>
                </a:tc>
                <a:tc>
                  <a:txBody>
                    <a:bodyPr/>
                    <a:lstStyle/>
                    <a:p>
                      <a:r>
                        <a:rPr sz="850" b="0">
                          <a:solidFill>
                            <a:srgbClr val="4B4B4B"/>
                          </a:solidFill>
                          <a:latin typeface="Arial"/>
                        </a:rPr>
                        <a:t>Draft or preparing</a:t>
                      </a:r>
                    </a:p>
                  </a:txBody>
                  <a:tcPr marL="54864" marR="54864" marT="27432" marB="27432">
                    <a:solidFill>
                      <a:srgbClr val="E5F5FF"/>
                    </a:solidFill>
                  </a:tcPr>
                </a:tc>
                <a:tc>
                  <a:txBody>
                    <a:bodyPr/>
                    <a:lstStyle/>
                    <a:p>
                      <a:r>
                        <a:rPr sz="850" b="0">
                          <a:solidFill>
                            <a:srgbClr val="4B4B4B"/>
                          </a:solidFill>
                          <a:latin typeface="Arial"/>
                        </a:rPr>
                        <a:t>Sends the request for review, or first to ACSL and Cashiering for a refund of a cancelled policy</a:t>
                      </a:r>
                    </a:p>
                  </a:txBody>
                  <a:tcPr marL="54864" marR="54864" marT="27432" marB="27432">
                    <a:solidFill>
                      <a:srgbClr val="E5F5FF"/>
                    </a:solidFill>
                  </a:tcPr>
                </a:tc>
                <a:tc>
                  <a:txBody>
                    <a:bodyPr/>
                    <a:lstStyle/>
                    <a:p>
                      <a:r>
                        <a:rPr sz="850" b="0">
                          <a:solidFill>
                            <a:srgbClr val="4B4B4B"/>
                          </a:solidFill>
                          <a:latin typeface="Arial"/>
                        </a:rPr>
                        <a:t>For Review or For Validation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Record Result</a:t>
                      </a:r>
                    </a:p>
                  </a:txBody>
                  <a:tcPr marL="54864" marR="54864" marT="27432" marB="27432">
                    <a:solidFill>
                      <a:srgbClr val="FFFFFF"/>
                    </a:solidFill>
                  </a:tcPr>
                </a:tc>
                <a:tc>
                  <a:txBody>
                    <a:bodyPr/>
                    <a:lstStyle/>
                    <a:p>
                      <a:r>
                        <a:rPr sz="850" b="0">
                          <a:solidFill>
                            <a:srgbClr val="4B4B4B"/>
                          </a:solidFill>
                          <a:latin typeface="Arial"/>
                        </a:rPr>
                        <a:t>Marketing Reviewer (request assign)</a:t>
                      </a:r>
                    </a:p>
                  </a:txBody>
                  <a:tcPr marL="54864" marR="54864" marT="27432" marB="27432">
                    <a:solidFill>
                      <a:srgbClr val="FFFFFF"/>
                    </a:solidFill>
                  </a:tcPr>
                </a:tc>
                <a:tc>
                  <a:txBody>
                    <a:bodyPr/>
                    <a:lstStyle/>
                    <a:p>
                      <a:r>
                        <a:rPr sz="850" b="0">
                          <a:solidFill>
                            <a:srgbClr val="4B4B4B"/>
                          </a:solidFill>
                          <a:latin typeface="Arial"/>
                        </a:rPr>
                        <a:t>Open validation</a:t>
                      </a:r>
                    </a:p>
                  </a:txBody>
                  <a:tcPr marL="54864" marR="54864" marT="27432" marB="27432">
                    <a:solidFill>
                      <a:srgbClr val="FFFFFF"/>
                    </a:solidFill>
                  </a:tcPr>
                </a:tc>
                <a:tc>
                  <a:txBody>
                    <a:bodyPr/>
                    <a:lstStyle/>
                    <a:p>
                      <a:r>
                        <a:rPr sz="850" b="0">
                          <a:solidFill>
                            <a:srgbClr val="4B4B4B"/>
                          </a:solidFill>
                          <a:latin typeface="Arial"/>
                        </a:rPr>
                        <a:t>Records the result of a validation</a:t>
                      </a:r>
                    </a:p>
                  </a:txBody>
                  <a:tcPr marL="54864" marR="54864" marT="27432" marB="27432">
                    <a:solidFill>
                      <a:srgbClr val="FFFFFF"/>
                    </a:solidFill>
                  </a:tcPr>
                </a:tc>
                <a:tc>
                  <a:txBody>
                    <a:bodyPr/>
                    <a:lstStyle/>
                    <a:p>
                      <a:r>
                        <a:rPr sz="850" b="0">
                          <a:solidFill>
                            <a:srgbClr val="4B4B4B"/>
                          </a:solidFill>
                          <a:latin typeface="Arial"/>
                        </a:rPr>
                        <a:t>For Review when all are confirmed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Endorse for Approval</a:t>
                      </a:r>
                    </a:p>
                  </a:txBody>
                  <a:tcPr marL="54864" marR="54864" marT="27432" marB="27432">
                    <a:solidFill>
                      <a:srgbClr val="E5F5FF"/>
                    </a:solidFill>
                  </a:tcPr>
                </a:tc>
                <a:tc>
                  <a:txBody>
                    <a:bodyPr/>
                    <a:lstStyle/>
                    <a:p>
                      <a:r>
                        <a:rPr sz="850" b="0">
                          <a:solidFill>
                            <a:srgbClr val="4B4B4B"/>
                          </a:solidFill>
                          <a:latin typeface="Arial"/>
                        </a:rPr>
                        <a:t>Marketing Reviewer (request review)</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Endorses the request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Approve and Send / Approve and Send to HR / Approve (HR) and Send to Disbursement</a:t>
                      </a:r>
                    </a:p>
                  </a:txBody>
                  <a:tcPr marL="54864" marR="54864" marT="27432" marB="27432">
                    <a:solidFill>
                      <a:srgbClr val="FFFFFF"/>
                    </a:solidFill>
                  </a:tcPr>
                </a:tc>
                <a:tc>
                  <a:txBody>
                    <a:bodyPr/>
                    <a:lstStyle/>
                    <a:p>
                      <a:r>
                        <a:rPr sz="850" b="0">
                          <a:solidFill>
                            <a:srgbClr val="4B4B4B"/>
                          </a:solidFill>
                          <a:latin typeface="Arial"/>
                        </a:rPr>
                        <a:t>Marketing Approver; HR Approver</a:t>
                      </a:r>
                    </a:p>
                  </a:txBody>
                  <a:tcPr marL="54864" marR="54864" marT="27432" marB="27432">
                    <a:solidFill>
                      <a:srgbClr val="FFFFFF"/>
                    </a:solidFill>
                  </a:tcPr>
                </a:tc>
                <a:tc>
                  <a:txBody>
                    <a:bodyPr/>
                    <a:lstStyle/>
                    <a:p>
                      <a:r>
                        <a:rPr sz="850" b="0">
                          <a:solidFill>
                            <a:srgbClr val="4B4B4B"/>
                          </a:solidFill>
                          <a:latin typeface="Arial"/>
                        </a:rPr>
                        <a:t>For approval or HR approval</a:t>
                      </a:r>
                    </a:p>
                  </a:txBody>
                  <a:tcPr marL="54864" marR="54864" marT="27432" marB="27432">
                    <a:solidFill>
                      <a:srgbClr val="FFFFFF"/>
                    </a:solidFill>
                  </a:tcPr>
                </a:tc>
                <a:tc>
                  <a:txBody>
                    <a:bodyPr/>
                    <a:lstStyle/>
                    <a:p>
                      <a:r>
                        <a:rPr sz="850" b="0">
                          <a:solidFill>
                            <a:srgbClr val="4B4B4B"/>
                          </a:solidFill>
                          <a:latin typeface="Arial"/>
                        </a:rPr>
                        <a:t>Approves the request; an approved request becomes a payment request in Disbursement</a:t>
                      </a:r>
                    </a:p>
                  </a:txBody>
                  <a:tcPr marL="54864" marR="54864" marT="27432" marB="27432">
                    <a:solidFill>
                      <a:srgbClr val="FFFFFF"/>
                    </a:solidFill>
                  </a:tcPr>
                </a:tc>
                <a:tc>
                  <a:txBody>
                    <a:bodyPr/>
                    <a:lstStyle/>
                    <a:p>
                      <a:r>
                        <a:rPr sz="850" b="0">
                          <a:solidFill>
                            <a:srgbClr val="4B4B4B"/>
                          </a:solidFill>
                          <a:latin typeface="Arial"/>
                        </a:rPr>
                        <a:t>With Disbursement or For HR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Cancel the Check</a:t>
                      </a:r>
                    </a:p>
                  </a:txBody>
                  <a:tcPr marL="54864" marR="54864" marT="27432" marB="27432">
                    <a:solidFill>
                      <a:srgbClr val="E5F5FF"/>
                    </a:solidFill>
                  </a:tcPr>
                </a:tc>
                <a:tc>
                  <a:txBody>
                    <a:bodyPr/>
                    <a:lstStyle/>
                    <a:p>
                      <a:r>
                        <a:rPr sz="850" b="0">
                          <a:solidFill>
                            <a:srgbClr val="4B4B4B"/>
                          </a:solidFill>
                          <a:latin typeface="Arial"/>
                        </a:rPr>
                        <a:t>Marketing Processor</a:t>
                      </a:r>
                    </a:p>
                  </a:txBody>
                  <a:tcPr marL="54864" marR="54864" marT="27432" marB="27432">
                    <a:solidFill>
                      <a:srgbClr val="E5F5FF"/>
                    </a:solidFill>
                  </a:tcPr>
                </a:tc>
                <a:tc>
                  <a:txBody>
                    <a:bodyPr/>
                    <a:lstStyle/>
                    <a:p>
                      <a:r>
                        <a:rPr sz="850" b="0">
                          <a:solidFill>
                            <a:srgbClr val="4B4B4B"/>
                          </a:solidFill>
                          <a:latin typeface="Arial"/>
                        </a:rPr>
                        <a:t>A disbursed request paid by check</a:t>
                      </a:r>
                    </a:p>
                  </a:txBody>
                  <a:tcPr marL="54864" marR="54864" marT="27432" marB="27432">
                    <a:solidFill>
                      <a:srgbClr val="E5F5FF"/>
                    </a:solidFill>
                  </a:tcPr>
                </a:tc>
                <a:tc>
                  <a:txBody>
                    <a:bodyPr/>
                    <a:lstStyle/>
                    <a:p>
                      <a:r>
                        <a:rPr sz="850" b="0">
                          <a:solidFill>
                            <a:srgbClr val="4B4B4B"/>
                          </a:solidFill>
                          <a:latin typeface="Arial"/>
                        </a:rPr>
                        <a:t>Opens Cancel a Check for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Add Day / Save Liquidation / Submit Liquidation / Return to Employee / Check and Post</a:t>
                      </a:r>
                    </a:p>
                  </a:txBody>
                  <a:tcPr marL="54864" marR="54864" marT="27432" marB="27432">
                    <a:solidFill>
                      <a:srgbClr val="FFFFFF"/>
                    </a:solidFill>
                  </a:tcPr>
                </a:tc>
                <a:tc>
                  <a:txBody>
                    <a:bodyPr/>
                    <a:lstStyle/>
                    <a:p>
                      <a:r>
                        <a:rPr sz="850" b="0">
                          <a:solidFill>
                            <a:srgbClr val="4B4B4B"/>
                          </a:solidFill>
                          <a:latin typeface="Arial"/>
                        </a:rPr>
                        <a:t>Employee; reviewer</a:t>
                      </a:r>
                    </a:p>
                  </a:txBody>
                  <a:tcPr marL="54864" marR="54864" marT="27432" marB="27432">
                    <a:solidFill>
                      <a:srgbClr val="FFFFFF"/>
                    </a:solidFill>
                  </a:tcPr>
                </a:tc>
                <a:tc>
                  <a:txBody>
                    <a:bodyPr/>
                    <a:lstStyle/>
                    <a:p>
                      <a:r>
                        <a:rPr sz="850" b="0">
                          <a:solidFill>
                            <a:srgbClr val="4B4B4B"/>
                          </a:solidFill>
                          <a:latin typeface="Arial"/>
                        </a:rPr>
                        <a:t>Disbursed cash advance</a:t>
                      </a:r>
                    </a:p>
                  </a:txBody>
                  <a:tcPr marL="54864" marR="54864" marT="27432" marB="27432">
                    <a:solidFill>
                      <a:srgbClr val="FFFFFF"/>
                    </a:solidFill>
                  </a:tcPr>
                </a:tc>
                <a:tc>
                  <a:txBody>
                    <a:bodyPr/>
                    <a:lstStyle/>
                    <a:p>
                      <a:r>
                        <a:rPr sz="850" b="0">
                          <a:solidFill>
                            <a:srgbClr val="4B4B4B"/>
                          </a:solidFill>
                          <a:latin typeface="Arial"/>
                        </a:rPr>
                        <a:t>Records, submits, returns or posts the liquidation</a:t>
                      </a:r>
                    </a:p>
                  </a:txBody>
                  <a:tcPr marL="54864" marR="54864" marT="27432" marB="27432">
                    <a:solidFill>
                      <a:srgbClr val="FFFFFF"/>
                    </a:solidFill>
                  </a:tcPr>
                </a:tc>
                <a:tc>
                  <a:txBody>
                    <a:bodyPr/>
                    <a:lstStyle/>
                    <a:p>
                      <a:r>
                        <a:rPr sz="850" b="0">
                          <a:solidFill>
                            <a:srgbClr val="4B4B4B"/>
                          </a:solidFill>
                          <a:latin typeface="Arial"/>
                        </a:rPr>
                        <a:t>Liquidated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refund of a cancelled policy is validated by ACSL and Cashiering before the review (FR-PQ-006).</a:t>
                      </a:r>
                    </a:p>
                  </a:txBody>
                  <a:tcPr marL="54864" marR="54864" marT="27432" marB="27432">
                    <a:solidFill>
                      <a:srgbClr val="FFFFFF"/>
                    </a:solidFill>
                  </a:tcPr>
                </a:tc>
              </a:tr>
              <a:tr h="396240">
                <a:tc>
                  <a:txBody>
                    <a:bodyPr/>
                    <a:lstStyle/>
                    <a:p>
                      <a:r>
                        <a:rPr sz="1000" b="0">
                          <a:solidFill>
                            <a:srgbClr val="4B4B4B"/>
                          </a:solidFill>
                          <a:latin typeface="Arial"/>
                        </a:rPr>
                        <a:t>A request is endorsed and approved by other users than the one who raised or last moved it; a returned request goes back to its maker with the reason (FR-PQ-005, FR-PQ-008, FR-PQ-009).</a:t>
                      </a:r>
                    </a:p>
                  </a:txBody>
                  <a:tcPr marL="54864" marR="54864" marT="27432" marB="27432">
                    <a:solidFill>
                      <a:srgbClr val="E5F5FF"/>
                    </a:solidFill>
                  </a:tcPr>
                </a:tc>
              </a:tr>
              <a:tr h="243840">
                <a:tc>
                  <a:txBody>
                    <a:bodyPr/>
                    <a:lstStyle/>
                    <a:p>
                      <a:r>
                        <a:rPr sz="1000" b="0">
                          <a:solidFill>
                            <a:srgbClr val="4B4B4B"/>
                          </a:solidFill>
                          <a:latin typeface="Arial"/>
                        </a:rPr>
                        <a:t>An approved refund or check cancellation goes to Disbursement; an approved cash advance goes to HR, then to Disbursement (FR-PQ-015).</a:t>
                      </a:r>
                    </a:p>
                  </a:txBody>
                  <a:tcPr marL="54864" marR="54864" marT="27432" marB="27432">
                    <a:solidFill>
                      <a:srgbClr val="FFFFFF"/>
                    </a:solidFill>
                  </a:tcPr>
                </a:tc>
              </a:tr>
              <a:tr h="243840">
                <a:tc>
                  <a:txBody>
                    <a:bodyPr/>
                    <a:lstStyle/>
                    <a:p>
                      <a:r>
                        <a:rPr sz="1000" b="0">
                          <a:solidFill>
                            <a:srgbClr val="4B4B4B"/>
                          </a:solidFill>
                          <a:latin typeface="Arial"/>
                        </a:rPr>
                        <a:t>Disbursement reports each stage of the voucher back to the request (FR-PQ-013).</a:t>
                      </a:r>
                    </a:p>
                  </a:txBody>
                  <a:tcPr marL="54864" marR="54864" marT="27432" marB="27432">
                    <a:solidFill>
                      <a:srgbClr val="E5F5FF"/>
                    </a:solidFill>
                  </a:tcPr>
                </a:tc>
              </a:tr>
              <a:tr h="243840">
                <a:tc>
                  <a:txBody>
                    <a:bodyPr/>
                    <a:lstStyle/>
                    <a:p>
                      <a:r>
                        <a:rPr sz="1000" b="0">
                          <a:solidFill>
                            <a:srgbClr val="4B4B4B"/>
                          </a:solidFill>
                          <a:latin typeface="Arial"/>
                        </a:rPr>
                        <a:t>A cash advance is liquidated with its expenses by day; the excess or shortage is shown and the expenses post to the liquidation accounts (FR-PQ-017).</a:t>
                      </a:r>
                    </a:p>
                  </a:txBody>
                  <a:tcPr marL="54864" marR="54864" marT="27432" marB="27432">
                    <a:solidFill>
                      <a:srgbClr val="FFFFFF"/>
                    </a:solidFill>
                  </a:tcPr>
                </a:tc>
              </a:tr>
            </a:tbl>
          </a:graphicData>
        </a:graphic>
      </p:graphicFrame>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graphicFrame>
        <p:nvGraphicFramePr>
          <p:cNvPr id="9" name="Table 8"/>
          <p:cNvGraphicFramePr>
            <a:graphicFrameLocks noGrp="1"/>
          </p:cNvGraphicFramePr>
          <p:nvPr/>
        </p:nvGraphicFramePr>
        <p:xfrm>
          <a:off x="548640" y="1325880"/>
          <a:ext cx="11094413" cy="11430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Clicks Submit for Review and confirms</a:t>
                      </a:r>
                    </a:p>
                  </a:txBody>
                  <a:tcPr marL="54864" marR="54864" marT="27432" marB="27432">
                    <a:solidFill>
                      <a:srgbClr val="FFFFFF"/>
                    </a:solidFill>
                  </a:tcPr>
                </a:tc>
                <a:tc>
                  <a:txBody>
                    <a:bodyPr/>
                    <a:lstStyle/>
                    <a:p>
                      <a:r>
                        <a:rPr sz="900" b="0">
                          <a:solidFill>
                            <a:srgbClr val="4B4B4B"/>
                          </a:solidFill>
                          <a:latin typeface="Arial"/>
                        </a:rPr>
                        <a:t>SCR-AC-43_wt-b-step-02.png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3</a:t>
                      </a:r>
                    </a:p>
                  </a:txBody>
                  <a:tcPr marL="54864" marR="54864" marT="27432" marB="27432">
                    <a:solidFill>
                      <a:srgbClr val="E5F5FF"/>
                    </a:solidFill>
                  </a:tcPr>
                </a:tc>
                <a:tc>
                  <a:txBody>
                    <a:bodyPr/>
                    <a:lstStyle/>
                    <a:p>
                      <a:r>
                        <a:rPr sz="900" b="0">
                          <a:solidFill>
                            <a:srgbClr val="4B4B4B"/>
                          </a:solidFill>
                          <a:latin typeface="Arial"/>
                        </a:rPr>
                        <a:t>Opens the request and clicks Endorse for Approval</a:t>
                      </a:r>
                    </a:p>
                  </a:txBody>
                  <a:tcPr marL="54864" marR="54864" marT="27432" marB="27432">
                    <a:solidFill>
                      <a:srgbClr val="E5F5FF"/>
                    </a:solidFill>
                  </a:tcPr>
                </a:tc>
                <a:tc>
                  <a:txBody>
                    <a:bodyPr/>
                    <a:lstStyle/>
                    <a:p>
                      <a:r>
                        <a:rPr sz="900" b="0">
                          <a:solidFill>
                            <a:srgbClr val="4B4B4B"/>
                          </a:solidFill>
                          <a:latin typeface="Arial"/>
                        </a:rPr>
                        <a:t>SCR-AC-43_wt-b-step-03.png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4</a:t>
                      </a:r>
                    </a:p>
                  </a:txBody>
                  <a:tcPr marL="54864" marR="54864" marT="27432" marB="27432">
                    <a:solidFill>
                      <a:srgbClr val="FFFFFF"/>
                    </a:solidFill>
                  </a:tcPr>
                </a:tc>
                <a:tc>
                  <a:txBody>
                    <a:bodyPr/>
                    <a:lstStyle/>
                    <a:p>
                      <a:r>
                        <a:rPr sz="900" b="0">
                          <a:solidFill>
                            <a:srgbClr val="4B4B4B"/>
                          </a:solidFill>
                          <a:latin typeface="Arial"/>
                        </a:rPr>
                        <a:t>Clicks Approve and Send</a:t>
                      </a:r>
                    </a:p>
                  </a:txBody>
                  <a:tcPr marL="54864" marR="54864" marT="27432" marB="27432">
                    <a:solidFill>
                      <a:srgbClr val="FFFFFF"/>
                    </a:solidFill>
                  </a:tcPr>
                </a:tc>
                <a:tc>
                  <a:txBody>
                    <a:bodyPr/>
                    <a:lstStyle/>
                    <a:p>
                      <a:r>
                        <a:rPr sz="900" b="0">
                          <a:solidFill>
                            <a:srgbClr val="4B4B4B"/>
                          </a:solidFill>
                          <a:latin typeface="Arial"/>
                        </a:rPr>
                        <a:t>SCR-AC-43_wt-b-step-04.png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the Disbursement tab of the request</a:t>
                      </a:r>
                    </a:p>
                  </a:txBody>
                  <a:tcPr marL="54864" marR="54864" marT="27432" marB="27432">
                    <a:solidFill>
                      <a:srgbClr val="E5F5FF"/>
                    </a:solidFill>
                  </a:tcPr>
                </a:tc>
                <a:tc>
                  <a:txBody>
                    <a:bodyPr/>
                    <a:lstStyle/>
                    <a:p>
                      <a:r>
                        <a:rPr sz="900" b="0">
                          <a:solidFill>
                            <a:srgbClr val="4B4B4B"/>
                          </a:solidFill>
                          <a:latin typeface="Arial"/>
                        </a:rPr>
                        <a:t>SCR-AC-43_wt-b-step-08.png</a:t>
                      </a:r>
                    </a:p>
                  </a:txBody>
                  <a:tcPr marL="54864" marR="54864" marT="27432" marB="27432">
                    <a:solidFill>
                      <a:srgbClr val="E5F5FF"/>
                    </a:solidFill>
                  </a:tcPr>
                </a:tc>
              </a:tr>
            </a:tbl>
          </a:graphicData>
        </a:graphic>
      </p:graphicFrame>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1 of 4)</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6.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2 of 4)</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7.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3 of 4)</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8.png"/>
          <p:cNvPicPr>
            <a:picLocks noChangeAspect="1"/>
          </p:cNvPicPr>
          <p:nvPr/>
        </p:nvPicPr>
        <p:blipFill>
          <a:blip r:embed="rId3"/>
          <a:stretch>
            <a:fillRect/>
          </a:stretch>
        </p:blipFill>
        <p:spPr>
          <a:xfrm>
            <a:off x="548640" y="1261872"/>
            <a:ext cx="11094415" cy="5738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4 of 4)</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3-03-assig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the request to the Marketing user who prepares it</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43-02-disbursement.png"/>
          <p:cNvPicPr>
            <a:picLocks noChangeAspect="1"/>
          </p:cNvPicPr>
          <p:nvPr/>
        </p:nvPicPr>
        <p:blipFill>
          <a:blip r:embed="rId3"/>
          <a:stretch>
            <a:fillRect/>
          </a:stretch>
        </p:blipFill>
        <p:spPr>
          <a:xfrm>
            <a:off x="784838" y="1261872"/>
            <a:ext cx="106220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tab: the voucher of the refund and its status in Disbursement</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Liquidation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graphicFrame>
        <p:nvGraphicFramePr>
          <p:cNvPr id="9" name="Table 8"/>
          <p:cNvGraphicFramePr>
            <a:graphicFrameLocks noGrp="1"/>
          </p:cNvGraphicFramePr>
          <p:nvPr/>
        </p:nvGraphicFramePr>
        <p:xfrm>
          <a:off x="548640" y="1307592"/>
          <a:ext cx="6434760" cy="17983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GL account each expense category of a cash-advance liquidation posts to (per diem, representation, transport, lodging, others, the excess and the shortage).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administrator (masters and rules), Marketing Reviewer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Liquidation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liquidation posts to the right accounts.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Account Role / GL Account</a:t>
                      </a:r>
                    </a:p>
                  </a:txBody>
                  <a:tcPr marL="54864" marR="54864" marT="27432" marB="27432">
                    <a:solidFill>
                      <a:srgbClr val="FFFFFF"/>
                    </a:solidFill>
                  </a:tcPr>
                </a:tc>
                <a:tc>
                  <a:txBody>
                    <a:bodyPr/>
                    <a:lstStyle/>
                    <a:p>
                      <a:r>
                        <a:rPr sz="850" b="0">
                          <a:solidFill>
                            <a:srgbClr val="4B4B4B"/>
                          </a:solidFill>
                          <a:latin typeface="Arial"/>
                        </a:rPr>
                        <a:t>Column, text</a:t>
                      </a:r>
                    </a:p>
                  </a:txBody>
                  <a:tcPr marL="54864" marR="54864" marT="27432" marB="27432">
                    <a:solidFill>
                      <a:srgbClr val="FFFFFF"/>
                    </a:solidFill>
                  </a:tcPr>
                </a:tc>
                <a:tc>
                  <a:txBody>
                    <a:bodyPr/>
                    <a:lstStyle/>
                    <a:p>
                      <a:r>
                        <a:rPr sz="850" b="0">
                          <a:solidFill>
                            <a:srgbClr val="4B4B4B"/>
                          </a:solidFill>
                          <a:latin typeface="Arial"/>
                        </a:rPr>
                        <a:t>The expense category and its account code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active postable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a:t>
                      </a:r>
                    </a:p>
                  </a:txBody>
                  <a:tcPr marL="54864" marR="54864" marT="27432" marB="27432">
                    <a:solidFill>
                      <a:srgbClr val="FFFFFF"/>
                    </a:solidFill>
                  </a:tcPr>
                </a:tc>
                <a:tc>
                  <a:txBody>
                    <a:bodyPr/>
                    <a:lstStyle/>
                    <a:p>
                      <a:r>
                        <a:rPr sz="850" b="0">
                          <a:solidFill>
                            <a:srgbClr val="4B4B4B"/>
                          </a:solidFill>
                          <a:latin typeface="Arial"/>
                        </a:rPr>
                        <a:t>Comptrollership administrator (accounting rule manage), Marketing Reviewer</a:t>
                      </a:r>
                    </a:p>
                  </a:txBody>
                  <a:tcPr marL="54864" marR="54864" marT="27432" marB="27432">
                    <a:solidFill>
                      <a:srgbClr val="FFFFFF"/>
                    </a:solidFill>
                  </a:tcPr>
                </a:tc>
                <a:tc>
                  <a:txBody>
                    <a:bodyPr/>
                    <a:lstStyle/>
                    <a:p>
                      <a:r>
                        <a:rPr sz="850" b="0">
                          <a:solidFill>
                            <a:srgbClr val="4B4B4B"/>
                          </a:solidFill>
                          <a:latin typeface="Arial"/>
                        </a:rPr>
                        <a:t>Account changed</a:t>
                      </a:r>
                    </a:p>
                  </a:txBody>
                  <a:tcPr marL="54864" marR="54864" marT="27432" marB="27432">
                    <a:solidFill>
                      <a:srgbClr val="FFFFFF"/>
                    </a:solidFill>
                  </a:tcPr>
                </a:tc>
                <a:tc>
                  <a:txBody>
                    <a:bodyPr/>
                    <a:lstStyle/>
                    <a:p>
                      <a:r>
                        <a:rPr sz="850" b="0">
                          <a:solidFill>
                            <a:srgbClr val="4B4B4B"/>
                          </a:solidFill>
                          <a:latin typeface="Arial"/>
                        </a:rPr>
                        <a:t>Saves the account of the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liquidation posts each expense category to its account against the advances to employees (FR-PQ-017).</a:t>
                      </a:r>
                    </a:p>
                  </a:txBody>
                  <a:tcPr marL="54864" marR="54864" marT="27432" marB="27432">
                    <a:solidFill>
                      <a:srgbClr val="FFFFFF"/>
                    </a:solidFill>
                  </a:tcPr>
                </a:tc>
              </a:tr>
            </a:tbl>
          </a:graphicData>
        </a:graphic>
      </p:graphicFrame>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Liquidation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4-01-list.png"/>
          <p:cNvPicPr>
            <a:picLocks noChangeAspect="1"/>
          </p:cNvPicPr>
          <p:nvPr/>
        </p:nvPicPr>
        <p:blipFill>
          <a:blip r:embed="rId3"/>
          <a:stretch>
            <a:fillRect/>
          </a:stretch>
        </p:blipFill>
        <p:spPr>
          <a:xfrm>
            <a:off x="548640" y="1261872"/>
            <a:ext cx="11094415" cy="43995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Liquidation Accounts: the GL account of each expense category</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cases of ACSL by stage (Received, Assigned, Investigating, Result Provided, Sent for Correction): account investigations, analysis requests of the other units, refunds to validate and payment reversals; the team leader opens a case and assigns it to a processor.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ACSL Cases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ACSL sees every case by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Received / Assigned / Investigating / Result Provided / Sent for Correction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Case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Case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Case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Investigation, Analysis request, Refund validation, Payment reversal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Case No. / Type / Subject / Invoice / Root / Amount / Requested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case number with its date; the invoice with its root invoice;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Open a Case dialog</a:t>
                      </a:r>
                    </a:p>
                  </a:txBody>
                  <a:tcPr marL="54864" marR="54864" marT="27432" marB="27432">
                    <a:solidFill>
                      <a:srgbClr val="FFFFFF"/>
                    </a:solidFill>
                  </a:tcPr>
                </a:tc>
                <a:tc>
                  <a:txBody>
                    <a:bodyPr/>
                    <a:lstStyle/>
                    <a:p>
                      <a:r>
                        <a:rPr sz="850" b="0">
                          <a:solidFill>
                            <a:srgbClr val="4B4B4B"/>
                          </a:solidFill>
                          <a:latin typeface="Arial"/>
                        </a:rPr>
                        <a:t>Case Type / Invoice No. / AR / OR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account investigated; its whole invoice family is linked</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Open a Case dialog</a:t>
                      </a:r>
                    </a:p>
                  </a:txBody>
                  <a:tcPr marL="54864" marR="54864" marT="27432" marB="27432">
                    <a:solidFill>
                      <a:srgbClr val="E5F5FF"/>
                    </a:solidFill>
                  </a:tcPr>
                </a:tc>
                <a:tc>
                  <a:txBody>
                    <a:bodyPr/>
                    <a:lstStyle/>
                    <a:p>
                      <a:r>
                        <a:rPr sz="850" b="0">
                          <a:solidFill>
                            <a:srgbClr val="4B4B4B"/>
                          </a:solidFill>
                          <a:latin typeface="Arial"/>
                        </a:rPr>
                        <a:t>Subject /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subject and the details of the case</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subject of the case</a:t>
                      </a:r>
                    </a:p>
                  </a:txBody>
                  <a:tcPr marL="54864" marR="54864" marT="27432" marB="27432">
                    <a:solidFill>
                      <a:srgbClr val="E5F5FF"/>
                    </a:solidFill>
                  </a:tcPr>
                </a:tc>
              </a:tr>
            </a:tbl>
          </a:graphicData>
        </a:graphic>
      </p:graphicFrame>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Case / Open Case</a:t>
                      </a:r>
                    </a:p>
                  </a:txBody>
                  <a:tcPr marL="54864" marR="54864" marT="27432" marB="27432">
                    <a:solidFill>
                      <a:srgbClr val="FFFFFF"/>
                    </a:solidFill>
                  </a:tcPr>
                </a:tc>
                <a:tc>
                  <a:txBody>
                    <a:bodyPr/>
                    <a:lstStyle/>
                    <a:p>
                      <a:r>
                        <a:rPr sz="850" b="0">
                          <a:solidFill>
                            <a:srgbClr val="4B4B4B"/>
                          </a:solidFill>
                          <a:latin typeface="Arial"/>
                        </a:rPr>
                        <a:t>ACSL Team Leader,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case</a:t>
                      </a:r>
                    </a:p>
                  </a:txBody>
                  <a:tcPr marL="54864" marR="54864" marT="27432" marB="27432">
                    <a:solidFill>
                      <a:srgbClr val="FFFFFF"/>
                    </a:solidFill>
                  </a:tcPr>
                </a:tc>
                <a:tc>
                  <a:txBody>
                    <a:bodyPr/>
                    <a:lstStyle/>
                    <a:p>
                      <a:r>
                        <a:rPr sz="850" b="0">
                          <a:solidFill>
                            <a:srgbClr val="4B4B4B"/>
                          </a:solidFill>
                          <a:latin typeface="Arial"/>
                        </a:rPr>
                        <a:t>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case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Cases also arrive from the other units: the validation of a refund of a cancelled policy and the analysis requests (FR-AS-010, FR-PQ-006).</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Clicks Open a Case: investigation of the invoice with a variance</a:t>
                      </a:r>
                    </a:p>
                  </a:txBody>
                  <a:tcPr marL="54864" marR="54864" marT="27432" marB="27432">
                    <a:solidFill>
                      <a:srgbClr val="FFFFFF"/>
                    </a:solidFill>
                  </a:tcPr>
                </a:tc>
                <a:tc>
                  <a:txBody>
                    <a:bodyPr/>
                    <a:lstStyle/>
                    <a:p>
                      <a:r>
                        <a:rPr sz="900" b="0">
                          <a:solidFill>
                            <a:srgbClr val="4B4B4B"/>
                          </a:solidFill>
                          <a:latin typeface="Arial"/>
                        </a:rPr>
                        <a:t>SCR-AC-45_wt-c-step-03.png</a:t>
                      </a:r>
                    </a:p>
                  </a:txBody>
                  <a:tcPr marL="54864" marR="54864" marT="27432" marB="27432">
                    <a:solidFill>
                      <a:srgbClr val="FFFFFF"/>
                    </a:solidFill>
                  </a:tcPr>
                </a:tc>
              </a:tr>
            </a:tbl>
          </a:graphicData>
        </a:graphic>
      </p:graphicFrame>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5-01-list.png"/>
          <p:cNvPicPr>
            <a:picLocks noChangeAspect="1"/>
          </p:cNvPicPr>
          <p:nvPr/>
        </p:nvPicPr>
        <p:blipFill>
          <a:blip r:embed="rId3"/>
          <a:stretch>
            <a:fillRect/>
          </a:stretch>
        </p:blipFill>
        <p:spPr>
          <a:xfrm>
            <a:off x="832967" y="1261872"/>
            <a:ext cx="1052576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ACSL Cases: the cases by stage with type, subject, invoice, amount, requester and status</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9.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 a Case: type, invoice, AR or OR number, subject and details (part 1 of 2)</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70.png"/>
          <p:cNvPicPr>
            <a:picLocks noChangeAspect="1"/>
          </p:cNvPicPr>
          <p:nvPr/>
        </p:nvPicPr>
        <p:blipFill>
          <a:blip r:embed="rId3"/>
          <a:stretch>
            <a:fillRect/>
          </a:stretch>
        </p:blipFill>
        <p:spPr>
          <a:xfrm>
            <a:off x="548640" y="1261872"/>
            <a:ext cx="11094415" cy="30161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 a Case: type, invoice, AR or OR number, subject and details (part 2 of 2)</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ac-45-empty.png"/>
          <p:cNvPicPr>
            <a:picLocks noChangeAspect="1"/>
          </p:cNvPicPr>
          <p:nvPr/>
        </p:nvPicPr>
        <p:blipFill>
          <a:blip r:embed="rId3"/>
          <a:stretch>
            <a:fillRect/>
          </a:stretch>
        </p:blipFill>
        <p:spPr>
          <a:xfrm>
            <a:off x="1686179" y="1261872"/>
            <a:ext cx="88193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case tab without cases</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case: the request (subject, details, requesting module and reference, client, insurer, root invoice), the investigation (findings, result, remarks), the follow-up (payment reversal and correction), the cases of the same invoice family and the documents; the actions of the stage: assign, record findings, provide the result, raise a correction entry, request a payment reversal, message the account officer.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ACSL Cases › ACSL Case</a:t>
                      </a:r>
                    </a:p>
                    <a:p>
                      <a:r>
                        <a:rPr sz="950" b="0">
                          <a:solidFill>
                            <a:srgbClr val="4B4B4B"/>
                          </a:solidFill>
                          <a:latin typeface="Arial"/>
                        </a:rPr>
                        <a:t>ACSL Cases › open a row</a:t>
                      </a:r>
                    </a:p>
                    <a:p>
                      <a:r>
                        <a:rPr sz="950" b="0">
                          <a:solidFill>
                            <a:srgbClr val="4B4B4B"/>
                          </a:solidFill>
                          <a:latin typeface="Arial"/>
                        </a:rPr>
                        <a:t>Insurer SOA › a line to investigate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FR-AS-010, FR-AS-011, FR-AS-012, FR-AS-013, FR-AS-026, FR-DS-093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investigated and the result, reversal or correction follows.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Case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Case number, root invoice; Received, Assigned, Investigating, Result Provided, Sent for Correction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Type / Invoice / AR / OR No. / Amount / Requested By / Received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type in words;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Subject / Details / Requesting Module / Requester Reference / Client / Insurer / Root Invoice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request as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Investigation</a:t>
                      </a:r>
                    </a:p>
                  </a:txBody>
                  <a:tcPr marL="54864" marR="54864" marT="27432" marB="27432">
                    <a:solidFill>
                      <a:srgbClr val="E5F5FF"/>
                    </a:solidFill>
                  </a:tcPr>
                </a:tc>
                <a:tc>
                  <a:txBody>
                    <a:bodyPr/>
                    <a:lstStyle/>
                    <a:p>
                      <a:r>
                        <a:rPr sz="850" b="0">
                          <a:solidFill>
                            <a:srgbClr val="4B4B4B"/>
                          </a:solidFill>
                          <a:latin typeface="Arial"/>
                        </a:rPr>
                        <a:t>Findings / Result / Remarks / Result By / Result Date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findings; Confirmed, Rejected or No action needed; the name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Follow-up</a:t>
                      </a:r>
                    </a:p>
                  </a:txBody>
                  <a:tcPr marL="54864" marR="54864" marT="27432" marB="27432">
                    <a:solidFill>
                      <a:srgbClr val="FFFFFF"/>
                    </a:solidFill>
                  </a:tcPr>
                </a:tc>
                <a:tc>
                  <a:txBody>
                    <a:bodyPr/>
                    <a:lstStyle/>
                    <a:p>
                      <a:r>
                        <a:rPr sz="850" b="0">
                          <a:solidFill>
                            <a:srgbClr val="4B4B4B"/>
                          </a:solidFill>
                          <a:latin typeface="Arial"/>
                        </a:rPr>
                        <a:t>Payment Reversal / Reversal Status / Reversal Message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reversal requested to Cashiering and its status; the correction entry raised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Invoice Family Cases</a:t>
                      </a:r>
                    </a:p>
                  </a:txBody>
                  <a:tcPr marL="54864" marR="54864" marT="27432" marB="27432">
                    <a:solidFill>
                      <a:srgbClr val="E5F5FF"/>
                    </a:solidFill>
                  </a:tcPr>
                </a:tc>
                <a:tc>
                  <a:txBody>
                    <a:bodyPr/>
                    <a:lstStyle/>
                    <a:p>
                      <a:r>
                        <a:rPr sz="850" b="0">
                          <a:solidFill>
                            <a:srgbClr val="4B4B4B"/>
                          </a:solidFill>
                          <a:latin typeface="Arial"/>
                        </a:rPr>
                        <a:t>Case No. / Type / Invoice / Subject / Received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cases of the invoice family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the Case dialog</a:t>
                      </a:r>
                    </a:p>
                  </a:txBody>
                  <a:tcPr marL="54864" marR="54864" marT="27432" marB="27432">
                    <a:solidFill>
                      <a:srgbClr val="FFFFFF"/>
                    </a:solidFill>
                  </a:tcPr>
                </a:tc>
                <a:tc>
                  <a:txBody>
                    <a:bodyPr/>
                    <a:lstStyle/>
                    <a:p>
                      <a:r>
                        <a:rPr sz="850" b="0">
                          <a:solidFill>
                            <a:srgbClr val="4B4B4B"/>
                          </a:solidFill>
                          <a:latin typeface="Arial"/>
                        </a:rPr>
                        <a:t>Processor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ACSL processor,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Provide the Result dialog</a:t>
                      </a:r>
                    </a:p>
                  </a:txBody>
                  <a:tcPr marL="54864" marR="54864" marT="27432" marB="27432">
                    <a:solidFill>
                      <a:srgbClr val="E5F5FF"/>
                    </a:solidFill>
                  </a:tcPr>
                </a:tc>
                <a:tc>
                  <a:txBody>
                    <a:bodyPr/>
                    <a:lstStyle/>
                    <a:p>
                      <a:r>
                        <a:rPr sz="850" b="0">
                          <a:solidFill>
                            <a:srgbClr val="4B4B4B"/>
                          </a:solidFill>
                          <a:latin typeface="Arial"/>
                        </a:rPr>
                        <a:t>Result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Confirmed, Rejected, No action needed</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Raise a Correction Entry dialog</a:t>
                      </a:r>
                    </a:p>
                  </a:txBody>
                  <a:tcPr marL="54864" marR="54864" marT="27432" marB="27432">
                    <a:solidFill>
                      <a:srgbClr val="FFFFFF"/>
                    </a:solidFill>
                  </a:tcPr>
                </a:tc>
                <a:tc>
                  <a:txBody>
                    <a:bodyPr/>
                    <a:lstStyle/>
                    <a:p>
                      <a:r>
                        <a:rPr sz="850" b="0">
                          <a:solidFill>
                            <a:srgbClr val="4B4B4B"/>
                          </a:solidFill>
                          <a:latin typeface="Arial"/>
                        </a:rPr>
                        <a:t>Correction Kind / Journal to Correct / Description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Posting to a wrong GL account, Wrong amount, Reclassification, Other correction; the journal batch if known</a:t>
                      </a:r>
                    </a:p>
                  </a:txBody>
                  <a:tcPr marL="54864" marR="54864" marT="27432" marB="27432">
                    <a:solidFill>
                      <a:srgbClr val="FFFFFF"/>
                    </a:solidFill>
                  </a:tcPr>
                </a:tc>
                <a:tc>
                  <a:txBody>
                    <a:bodyPr/>
                    <a:lstStyle/>
                    <a:p>
                      <a:r>
                        <a:rPr sz="850" b="0">
                          <a:solidFill>
                            <a:srgbClr val="4B4B4B"/>
                          </a:solidFill>
                          <a:latin typeface="Arial"/>
                        </a:rPr>
                        <a:t>Y / 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 a Payment Reversal dialog</a:t>
                      </a:r>
                    </a:p>
                  </a:txBody>
                  <a:tcPr marL="54864" marR="54864" marT="27432" marB="27432">
                    <a:solidFill>
                      <a:srgbClr val="E5F5FF"/>
                    </a:solidFill>
                  </a:tcPr>
                </a:tc>
                <a:tc>
                  <a:txBody>
                    <a:bodyPr/>
                    <a:lstStyle/>
                    <a:p>
                      <a:r>
                        <a:rPr sz="850" b="0">
                          <a:solidFill>
                            <a:srgbClr val="4B4B4B"/>
                          </a:solidFill>
                          <a:latin typeface="Arial"/>
                        </a:rPr>
                        <a:t>AR / OR No. / Amount / Reason</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Leave the amount empty to reverse the whole application</a:t>
                      </a:r>
                    </a:p>
                  </a:txBody>
                  <a:tcPr marL="54864" marR="54864" marT="27432" marB="27432">
                    <a:solidFill>
                      <a:srgbClr val="E5F5FF"/>
                    </a:solidFill>
                  </a:tcPr>
                </a:tc>
                <a:tc>
                  <a:txBody>
                    <a:bodyPr/>
                    <a:lstStyle/>
                    <a:p>
                      <a:r>
                        <a:rPr sz="850" b="0">
                          <a:solidFill>
                            <a:srgbClr val="4B4B4B"/>
                          </a:solidFill>
                          <a:latin typeface="Arial"/>
                        </a:rPr>
                        <a:t>Y / N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Message the Account Officer dialog</a:t>
                      </a:r>
                    </a:p>
                  </a:txBody>
                  <a:tcPr marL="54864" marR="54864" marT="27432" marB="27432">
                    <a:solidFill>
                      <a:srgbClr val="FFFFFF"/>
                    </a:solidFill>
                  </a:tcPr>
                </a:tc>
                <a:tc>
                  <a:txBody>
                    <a:bodyPr/>
                    <a:lstStyle/>
                    <a:p>
                      <a:r>
                        <a:rPr sz="850" b="0">
                          <a:solidFill>
                            <a:srgbClr val="4B4B4B"/>
                          </a:solidFill>
                          <a:latin typeface="Arial"/>
                        </a:rPr>
                        <a:t>Message</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short or over payment to settle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graphicFrame>
        <p:nvGraphicFramePr>
          <p:cNvPr id="9" name="Table 8"/>
          <p:cNvGraphicFramePr>
            <a:graphicFrameLocks noGrp="1"/>
          </p:cNvGraphicFramePr>
          <p:nvPr/>
        </p:nvGraphicFramePr>
        <p:xfrm>
          <a:off x="548640" y="1325880"/>
          <a:ext cx="11094412" cy="180593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ACSL Team Leader (ACSL assign)</a:t>
                      </a:r>
                    </a:p>
                  </a:txBody>
                  <a:tcPr marL="54864" marR="54864" marT="27432" marB="27432">
                    <a:solidFill>
                      <a:srgbClr val="FFFFFF"/>
                    </a:solidFill>
                  </a:tcPr>
                </a:tc>
                <a:tc>
                  <a:txBody>
                    <a:bodyPr/>
                    <a:lstStyle/>
                    <a:p>
                      <a:r>
                        <a:rPr sz="850" b="0">
                          <a:solidFill>
                            <a:srgbClr val="4B4B4B"/>
                          </a:solidFill>
                          <a:latin typeface="Arial"/>
                        </a:rPr>
                        <a:t>Received</a:t>
                      </a:r>
                    </a:p>
                  </a:txBody>
                  <a:tcPr marL="54864" marR="54864" marT="27432" marB="27432">
                    <a:solidFill>
                      <a:srgbClr val="FFFFFF"/>
                    </a:solidFill>
                  </a:tcPr>
                </a:tc>
                <a:tc>
                  <a:txBody>
                    <a:bodyPr/>
                    <a:lstStyle/>
                    <a:p>
                      <a:r>
                        <a:rPr sz="850" b="0">
                          <a:solidFill>
                            <a:srgbClr val="4B4B4B"/>
                          </a:solidFill>
                          <a:latin typeface="Arial"/>
                        </a:rPr>
                        <a:t>Assigns the case to a processor</a:t>
                      </a:r>
                    </a:p>
                  </a:txBody>
                  <a:tcPr marL="54864" marR="54864" marT="27432" marB="27432">
                    <a:solidFill>
                      <a:srgbClr val="FFFFFF"/>
                    </a:solidFill>
                  </a:tcPr>
                </a:tc>
                <a:tc>
                  <a:txBody>
                    <a:bodyPr/>
                    <a:lstStyle/>
                    <a:p>
                      <a:r>
                        <a:rPr sz="850" b="0">
                          <a:solidFill>
                            <a:srgbClr val="4B4B4B"/>
                          </a:solidFill>
                          <a:latin typeface="Arial"/>
                        </a:rPr>
                        <a:t>Assigned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Record Findings</a:t>
                      </a:r>
                    </a:p>
                  </a:txBody>
                  <a:tcPr marL="54864" marR="54864" marT="27432" marB="27432">
                    <a:solidFill>
                      <a:srgbClr val="E5F5FF"/>
                    </a:solidFill>
                  </a:tcPr>
                </a:tc>
                <a:tc>
                  <a:txBody>
                    <a:bodyPr/>
                    <a:lstStyle/>
                    <a:p>
                      <a:r>
                        <a:rPr sz="850" b="0">
                          <a:solidFill>
                            <a:srgbClr val="4B4B4B"/>
                          </a:solidFill>
                          <a:latin typeface="Arial"/>
                        </a:rPr>
                        <a:t>ACSL Processor (ACSL process)</a:t>
                      </a:r>
                    </a:p>
                  </a:txBody>
                  <a:tcPr marL="54864" marR="54864" marT="27432" marB="27432">
                    <a:solidFill>
                      <a:srgbClr val="E5F5FF"/>
                    </a:solidFill>
                  </a:tcPr>
                </a:tc>
                <a:tc>
                  <a:txBody>
                    <a:bodyPr/>
                    <a:lstStyle/>
                    <a:p>
                      <a:r>
                        <a:rPr sz="850" b="0">
                          <a:solidFill>
                            <a:srgbClr val="4B4B4B"/>
                          </a:solidFill>
                          <a:latin typeface="Arial"/>
                        </a:rPr>
                        <a:t>Assigned or investigating</a:t>
                      </a:r>
                    </a:p>
                  </a:txBody>
                  <a:tcPr marL="54864" marR="54864" marT="27432" marB="27432">
                    <a:solidFill>
                      <a:srgbClr val="E5F5FF"/>
                    </a:solidFill>
                  </a:tcPr>
                </a:tc>
                <a:tc>
                  <a:txBody>
                    <a:bodyPr/>
                    <a:lstStyle/>
                    <a:p>
                      <a:r>
                        <a:rPr sz="850" b="0">
                          <a:solidFill>
                            <a:srgbClr val="4B4B4B"/>
                          </a:solidFill>
                          <a:latin typeface="Arial"/>
                        </a:rPr>
                        <a:t>Records the findings</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Provide Result</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Investigating</a:t>
                      </a:r>
                    </a:p>
                  </a:txBody>
                  <a:tcPr marL="54864" marR="54864" marT="27432" marB="27432">
                    <a:solidFill>
                      <a:srgbClr val="FFFFFF"/>
                    </a:solidFill>
                  </a:tcPr>
                </a:tc>
                <a:tc>
                  <a:txBody>
                    <a:bodyPr/>
                    <a:lstStyle/>
                    <a:p>
                      <a:r>
                        <a:rPr sz="850" b="0">
                          <a:solidFill>
                            <a:srgbClr val="4B4B4B"/>
                          </a:solidFill>
                          <a:latin typeface="Arial"/>
                        </a:rPr>
                        <a:t>Gives the result to the requester</a:t>
                      </a:r>
                    </a:p>
                  </a:txBody>
                  <a:tcPr marL="54864" marR="54864" marT="27432" marB="27432">
                    <a:solidFill>
                      <a:srgbClr val="FFFFFF"/>
                    </a:solidFill>
                  </a:tcPr>
                </a:tc>
                <a:tc>
                  <a:txBody>
                    <a:bodyPr/>
                    <a:lstStyle/>
                    <a:p>
                      <a:r>
                        <a:rPr sz="850" b="0">
                          <a:solidFill>
                            <a:srgbClr val="4B4B4B"/>
                          </a:solidFill>
                          <a:latin typeface="Arial"/>
                        </a:rPr>
                        <a:t>Result Provided</a:t>
                      </a:r>
                    </a:p>
                  </a:txBody>
                  <a:tcPr marL="54864" marR="54864" marT="27432" marB="27432">
                    <a:solidFill>
                      <a:srgbClr val="FFFFFF"/>
                    </a:solidFill>
                  </a:tcPr>
                </a:tc>
                <a:tc>
                  <a:txBody>
                    <a:bodyPr/>
                    <a:lstStyle/>
                    <a:p>
                      <a:r>
                        <a:rPr sz="850" b="0">
                          <a:solidFill>
                            <a:srgbClr val="4B4B4B"/>
                          </a:solidFill>
                          <a:latin typeface="Arial"/>
                        </a:rPr>
                        <a:t>Notice to the requester</a:t>
                      </a:r>
                    </a:p>
                  </a:txBody>
                  <a:tcPr marL="54864" marR="54864" marT="27432" marB="27432">
                    <a:solidFill>
                      <a:srgbClr val="FFFFFF"/>
                    </a:solidFill>
                  </a:tcPr>
                </a:tc>
              </a:tr>
              <a:tr h="220979">
                <a:tc>
                  <a:txBody>
                    <a:bodyPr/>
                    <a:lstStyle/>
                    <a:p>
                      <a:r>
                        <a:rPr sz="850" b="0">
                          <a:solidFill>
                            <a:srgbClr val="4B4B4B"/>
                          </a:solidFill>
                          <a:latin typeface="Arial"/>
                        </a:rPr>
                        <a:t>Raise Correction</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Raises a correction entry for the invoice and opens it</a:t>
                      </a:r>
                    </a:p>
                  </a:txBody>
                  <a:tcPr marL="54864" marR="54864" marT="27432" marB="27432">
                    <a:solidFill>
                      <a:srgbClr val="E5F5FF"/>
                    </a:solidFill>
                  </a:tcPr>
                </a:tc>
                <a:tc>
                  <a:txBody>
                    <a:bodyPr/>
                    <a:lstStyle/>
                    <a:p>
                      <a:r>
                        <a:rPr sz="850" b="0">
                          <a:solidFill>
                            <a:srgbClr val="4B4B4B"/>
                          </a:solidFill>
                          <a:latin typeface="Arial"/>
                        </a:rPr>
                        <a:t>Sent for Correction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Payment Reversal</a:t>
                      </a:r>
                    </a:p>
                  </a:txBody>
                  <a:tcPr marL="54864" marR="54864" marT="27432" marB="27432">
                    <a:solidFill>
                      <a:srgbClr val="FFFFFF"/>
                    </a:solidFill>
                  </a:tcPr>
                </a:tc>
                <a:tc>
                  <a:txBody>
                    <a:bodyPr/>
                    <a:lstStyle/>
                    <a:p>
                      <a:r>
                        <a:rPr sz="850" b="0">
                          <a:solidFill>
                            <a:srgbClr val="4B4B4B"/>
                          </a:solidFill>
                          <a:latin typeface="Arial"/>
                        </a:rPr>
                        <a:t>ACSL Processor (ACSL apply)</a:t>
                      </a:r>
                    </a:p>
                  </a:txBody>
                  <a:tcPr marL="54864" marR="54864" marT="27432" marB="27432">
                    <a:solidFill>
                      <a:srgbClr val="FFFFFF"/>
                    </a:solidFill>
                  </a:tcPr>
                </a:tc>
                <a:tc>
                  <a:txBody>
                    <a:bodyPr/>
                    <a:lstStyle/>
                    <a:p>
                      <a:r>
                        <a:rPr sz="850" b="0">
                          <a:solidFill>
                            <a:srgbClr val="4B4B4B"/>
                          </a:solidFill>
                          <a:latin typeface="Arial"/>
                        </a:rPr>
                        <a:t>Investigating, an AR of the case</a:t>
                      </a:r>
                    </a:p>
                  </a:txBody>
                  <a:tcPr marL="54864" marR="54864" marT="27432" marB="27432">
                    <a:solidFill>
                      <a:srgbClr val="FFFFFF"/>
                    </a:solidFill>
                  </a:tcPr>
                </a:tc>
                <a:tc>
                  <a:txBody>
                    <a:bodyPr/>
                    <a:lstStyle/>
                    <a:p>
                      <a:r>
                        <a:rPr sz="850" b="0">
                          <a:solidFill>
                            <a:srgbClr val="4B4B4B"/>
                          </a:solidFill>
                          <a:latin typeface="Arial"/>
                        </a:rPr>
                        <a:t>Asks Cashiering to reverse the application of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Request to Cashiering</a:t>
                      </a:r>
                    </a:p>
                  </a:txBody>
                  <a:tcPr marL="54864" marR="54864" marT="27432" marB="27432">
                    <a:solidFill>
                      <a:srgbClr val="FFFFFF"/>
                    </a:solidFill>
                  </a:tcPr>
                </a:tc>
              </a:tr>
              <a:tr h="220979">
                <a:tc>
                  <a:txBody>
                    <a:bodyPr/>
                    <a:lstStyle/>
                    <a:p>
                      <a:r>
                        <a:rPr sz="850" b="0">
                          <a:solidFill>
                            <a:srgbClr val="4B4B4B"/>
                          </a:solidFill>
                          <a:latin typeface="Arial"/>
                        </a:rPr>
                        <a:t>Message AO</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Sends the message to the account officer of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Notice to the AO</a:t>
                      </a:r>
                    </a:p>
                  </a:txBody>
                  <a:tcPr marL="54864" marR="54864" marT="27432" marB="27432">
                    <a:solidFill>
                      <a:srgbClr val="E5F5FF"/>
                    </a:solidFill>
                  </a:tcPr>
                </a:tc>
              </a:tr>
            </a:tbl>
          </a:graphicData>
        </a:graphic>
      </p:graphicFrame>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case links the whole invoice family through the root invoice (FR-AS-010, FR-AS-026).</a:t>
                      </a:r>
                    </a:p>
                  </a:txBody>
                  <a:tcPr marL="54864" marR="54864" marT="27432" marB="27432">
                    <a:solidFill>
                      <a:srgbClr val="FFFFFF"/>
                    </a:solidFill>
                  </a:tcPr>
                </a:tc>
              </a:tr>
              <a:tr h="243840">
                <a:tc>
                  <a:txBody>
                    <a:bodyPr/>
                    <a:lstStyle/>
                    <a:p>
                      <a:r>
                        <a:rPr sz="1000" b="0">
                          <a:solidFill>
                            <a:srgbClr val="4B4B4B"/>
                          </a:solidFill>
                          <a:latin typeface="Arial"/>
                        </a:rPr>
                        <a:t>A payment reversal is approved by a cashiering user who is not the requester (FR-AS-012).</a:t>
                      </a:r>
                    </a:p>
                  </a:txBody>
                  <a:tcPr marL="54864" marR="54864" marT="27432" marB="27432">
                    <a:solidFill>
                      <a:srgbClr val="E5F5FF"/>
                    </a:solidFill>
                  </a:tcPr>
                </a:tc>
              </a:tr>
              <a:tr h="243840">
                <a:tc>
                  <a:txBody>
                    <a:bodyPr/>
                    <a:lstStyle/>
                    <a:p>
                      <a:r>
                        <a:rPr sz="1000" b="0">
                          <a:solidFill>
                            <a:srgbClr val="4B4B4B"/>
                          </a:solidFill>
                          <a:latin typeface="Arial"/>
                        </a:rPr>
                        <a:t>The result is sent to the requester and closes the validation of a refund (FR-AS-011, FR-PQ-006).</a:t>
                      </a:r>
                    </a:p>
                  </a:txBody>
                  <a:tcPr marL="54864" marR="54864" marT="27432" marB="27432">
                    <a:solidFill>
                      <a:srgbClr val="FFFFFF"/>
                    </a:solidFill>
                  </a:tcPr>
                </a:tc>
              </a:tr>
            </a:tbl>
          </a:graphicData>
        </a:graphic>
      </p:graphicFrame>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case and assigns it to the ACSL Processor</a:t>
                      </a:r>
                    </a:p>
                  </a:txBody>
                  <a:tcPr marL="54864" marR="54864" marT="27432" marB="27432">
                    <a:solidFill>
                      <a:srgbClr val="FFFFFF"/>
                    </a:solidFill>
                  </a:tcPr>
                </a:tc>
                <a:tc>
                  <a:txBody>
                    <a:bodyPr/>
                    <a:lstStyle/>
                    <a:p>
                      <a:r>
                        <a:rPr sz="900" b="0">
                          <a:solidFill>
                            <a:srgbClr val="4B4B4B"/>
                          </a:solidFill>
                          <a:latin typeface="Arial"/>
                        </a:rPr>
                        <a:t>SCR-AC-46_wt-c-step-04.png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5</a:t>
                      </a:r>
                    </a:p>
                  </a:txBody>
                  <a:tcPr marL="54864" marR="54864" marT="27432" marB="27432">
                    <a:solidFill>
                      <a:srgbClr val="E5F5FF"/>
                    </a:solidFill>
                  </a:tcPr>
                </a:tc>
                <a:tc>
                  <a:txBody>
                    <a:bodyPr/>
                    <a:lstStyle/>
                    <a:p>
                      <a:r>
                        <a:rPr sz="900" b="0">
                          <a:solidFill>
                            <a:srgbClr val="4B4B4B"/>
                          </a:solidFill>
                          <a:latin typeface="Arial"/>
                        </a:rPr>
                        <a:t>Clicks Start Investigation, records the findings and clicks Raise Correction (posting to a wrong GL account)</a:t>
                      </a:r>
                    </a:p>
                  </a:txBody>
                  <a:tcPr marL="54864" marR="54864" marT="27432" marB="27432">
                    <a:solidFill>
                      <a:srgbClr val="E5F5FF"/>
                    </a:solidFill>
                  </a:tcPr>
                </a:tc>
                <a:tc>
                  <a:txBody>
                    <a:bodyPr/>
                    <a:lstStyle/>
                    <a:p>
                      <a:r>
                        <a:rPr sz="900" b="0">
                          <a:solidFill>
                            <a:srgbClr val="4B4B4B"/>
                          </a:solidFill>
                          <a:latin typeface="Arial"/>
                        </a:rPr>
                        <a:t>SCR-AC-46_wt-c-step-05.png</a:t>
                      </a:r>
                    </a:p>
                  </a:txBody>
                  <a:tcPr marL="54864" marR="54864" marT="27432" marB="27432">
                    <a:solidFill>
                      <a:srgbClr val="E5F5FF"/>
                    </a:solidFill>
                  </a:tcPr>
                </a:tc>
              </a:tr>
            </a:tbl>
          </a:graphicData>
        </a:graphic>
      </p:graphicFrame>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1 of 4)</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2 of 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3 of 4)</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4.png"/>
          <p:cNvPicPr>
            <a:picLocks noChangeAspect="1"/>
          </p:cNvPicPr>
          <p:nvPr/>
        </p:nvPicPr>
        <p:blipFill>
          <a:blip r:embed="rId3"/>
          <a:stretch>
            <a:fillRect/>
          </a:stretch>
        </p:blipFill>
        <p:spPr>
          <a:xfrm>
            <a:off x="548640" y="1261872"/>
            <a:ext cx="11094415" cy="1147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4 of 4)</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46-02-family.png"/>
          <p:cNvPicPr>
            <a:picLocks noChangeAspect="1"/>
          </p:cNvPicPr>
          <p:nvPr/>
        </p:nvPicPr>
        <p:blipFill>
          <a:blip r:embed="rId3"/>
          <a:stretch>
            <a:fillRect/>
          </a:stretch>
        </p:blipFill>
        <p:spPr>
          <a:xfrm>
            <a:off x="548640" y="1261872"/>
            <a:ext cx="11094415" cy="2812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Family Cases: the cases of the same root invoice</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Correction Entries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correction entries that reverse a wrong posting and post the right one, by stage (To Assign, Draft, For Review, For Approval, Posted, Cancelled); a new correction is raised for an invoice.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Correction Entries</a:t>
                      </a:r>
                    </a:p>
                    <a:p>
                      <a:r>
                        <a:rPr sz="950" b="0">
                          <a:solidFill>
                            <a:srgbClr val="4B4B4B"/>
                          </a:solidFill>
                          <a:latin typeface="Arial"/>
                        </a:rPr>
                        <a:t>GL-SL Reconciliation › a difference to correct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FR-AS-020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ACSL follows every correction to its posting.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To Assign / Draft / For Review / For Approval / Posted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Correction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Correction No. / Kind / Invoice / Description / Journal / Raised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correction number with its date; the journal posted; the raiser's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Correction dialog</a:t>
                      </a:r>
                    </a:p>
                  </a:txBody>
                  <a:tcPr marL="54864" marR="54864" marT="27432" marB="27432">
                    <a:solidFill>
                      <a:srgbClr val="E5F5FF"/>
                    </a:solidFill>
                  </a:tcPr>
                </a:tc>
                <a:tc>
                  <a:txBody>
                    <a:bodyPr/>
                    <a:lstStyle/>
                    <a:p>
                      <a:r>
                        <a:rPr sz="850" b="0">
                          <a:solidFill>
                            <a:srgbClr val="4B4B4B"/>
                          </a:solidFill>
                          <a:latin typeface="Arial"/>
                        </a:rPr>
                        <a:t>Correction Kind / Invoice No. / Journal to Correct / Description</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kind; the invoice; the journal batch if known</a:t>
                      </a:r>
                    </a:p>
                  </a:txBody>
                  <a:tcPr marL="54864" marR="54864" marT="27432" marB="27432">
                    <a:solidFill>
                      <a:srgbClr val="E5F5FF"/>
                    </a:solidFill>
                  </a:tcPr>
                </a:tc>
                <a:tc>
                  <a:txBody>
                    <a:bodyPr/>
                    <a:lstStyle/>
                    <a:p>
                      <a:r>
                        <a:rPr sz="850" b="0">
                          <a:solidFill>
                            <a:srgbClr val="4B4B4B"/>
                          </a:solidFill>
                          <a:latin typeface="Arial"/>
                        </a:rPr>
                        <a:t>Y / Y / N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Correction</a:t>
                      </a:r>
                    </a:p>
                  </a:txBody>
                  <a:tcPr marL="54864" marR="54864" marT="27432" marB="27432">
                    <a:solidFill>
                      <a:srgbClr val="FFFFFF"/>
                    </a:solidFill>
                  </a:tcPr>
                </a:tc>
                <a:tc>
                  <a:txBody>
                    <a:bodyPr/>
                    <a:lstStyle/>
                    <a:p>
                      <a:r>
                        <a:rPr sz="850" b="0">
                          <a:solidFill>
                            <a:srgbClr val="4B4B4B"/>
                          </a:solidFill>
                          <a:latin typeface="Arial"/>
                        </a:rPr>
                        <a:t>ACSL Team Leader,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Raises a correction</a:t>
                      </a:r>
                    </a:p>
                  </a:txBody>
                  <a:tcPr marL="54864" marR="54864" marT="27432" marB="27432">
                    <a:solidFill>
                      <a:srgbClr val="FFFFFF"/>
                    </a:solidFill>
                  </a:tcPr>
                </a:tc>
                <a:tc>
                  <a:txBody>
                    <a:bodyPr/>
                    <a:lstStyle/>
                    <a:p>
                      <a:r>
                        <a:rPr sz="850" b="0">
                          <a:solidFill>
                            <a:srgbClr val="4B4B4B"/>
                          </a:solidFill>
                          <a:latin typeface="Arial"/>
                        </a:rPr>
                        <a:t>To Assign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correction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correction is assigned, prepared, reviewed and approved by different users before it posts (FR-AS-020 to FR-AS-024).</a:t>
                      </a:r>
                    </a:p>
                  </a:txBody>
                  <a:tcPr marL="54864" marR="54864" marT="27432" marB="27432">
                    <a:solidFill>
                      <a:srgbClr val="FFFFFF"/>
                    </a:solidFill>
                  </a:tcPr>
                </a:tc>
              </a:tr>
            </a:tbl>
          </a:graphicData>
        </a:graphic>
      </p:graphicFrame>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Correction Entries: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7-01-list.png"/>
          <p:cNvPicPr>
            <a:picLocks noChangeAspect="1"/>
          </p:cNvPicPr>
          <p:nvPr/>
        </p:nvPicPr>
        <p:blipFill>
          <a:blip r:embed="rId3"/>
          <a:stretch>
            <a:fillRect/>
          </a:stretch>
        </p:blipFill>
        <p:spPr>
          <a:xfrm>
            <a:off x="623291" y="1261872"/>
            <a:ext cx="1094511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Correction Entries: the corrections by stage with kind, invoice, journal, raiser and status</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correction entry: its kind, invoice, the journal corrected, total, raiser and date; the posted lines of the invoice family from which the preparer picks the wrong line to reverse and re-post; the correction lines (Dr / Cr, GL account, amount, party, invoice, component, cost centre, narration) that must balance; the workflow (assign the preparer, submit for review, endorse for approval, approve and post).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Correction Entries › Correction Entry</a:t>
                      </a:r>
                    </a:p>
                    <a:p>
                      <a:r>
                        <a:rPr sz="950" b="0">
                          <a:solidFill>
                            <a:srgbClr val="4B4B4B"/>
                          </a:solidFill>
                          <a:latin typeface="Arial"/>
                        </a:rPr>
                        <a:t>Correction Entries › open a row</a:t>
                      </a:r>
                    </a:p>
                    <a:p>
                      <a:r>
                        <a:rPr sz="950" b="0">
                          <a:solidFill>
                            <a:srgbClr val="4B4B4B"/>
                          </a:solidFill>
                          <a:latin typeface="Arial"/>
                        </a:rPr>
                        <a:t>ACSL Case › Raise Correction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FR-AS-020, FR-AS-021, FR-AS-022, FR-AS-023, FR-AS-024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wrong posting is reversed and posted right, with four eyes.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graphicFrame>
        <p:nvGraphicFramePr>
          <p:cNvPr id="9" name="Table 8"/>
          <p:cNvGraphicFramePr>
            <a:graphicFrameLocks noGrp="1"/>
          </p:cNvGraphicFramePr>
          <p:nvPr/>
        </p:nvGraphicFramePr>
        <p:xfrm>
          <a:off x="548640" y="1325880"/>
          <a:ext cx="11094411" cy="28422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Correction, Journal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To Assign, Draft, For Review, For Approval, Posted,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Kind / Invoice / Journal Corrected / Total / Raised By / Raised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kind in words; the invoice; the journal batch; currency and total debit; the raiser's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Posted Lines of the Invoice Family</a:t>
                      </a:r>
                    </a:p>
                  </a:txBody>
                  <a:tcPr marL="54864" marR="54864" marT="27432" marB="27432">
                    <a:solidFill>
                      <a:srgbClr val="FFFFFF"/>
                    </a:solidFill>
                  </a:tcPr>
                </a:tc>
                <a:tc>
                  <a:txBody>
                    <a:bodyPr/>
                    <a:lstStyle/>
                    <a:p>
                      <a:r>
                        <a:rPr sz="850" b="0">
                          <a:solidFill>
                            <a:srgbClr val="4B4B4B"/>
                          </a:solidFill>
                          <a:latin typeface="Arial"/>
                        </a:rPr>
                        <a:t>Journal / Account / Party / Dr / Cr / 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posted lines of the invoice and its family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Correct dialog</a:t>
                      </a:r>
                    </a:p>
                  </a:txBody>
                  <a:tcPr marL="54864" marR="54864" marT="27432" marB="27432">
                    <a:solidFill>
                      <a:srgbClr val="E5F5FF"/>
                    </a:solidFill>
                  </a:tcPr>
                </a:tc>
                <a:tc>
                  <a:txBody>
                    <a:bodyPr/>
                    <a:lstStyle/>
                    <a:p>
                      <a:r>
                        <a:rPr sz="850" b="0">
                          <a:solidFill>
                            <a:srgbClr val="4B4B4B"/>
                          </a:solidFill>
                          <a:latin typeface="Arial"/>
                        </a:rPr>
                        <a:t>Right GL Account / Right Party / Ledger Component / Right Ledger Component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account, party and component the line should have posted to</a:t>
                      </a:r>
                    </a:p>
                  </a:txBody>
                  <a:tcPr marL="54864" marR="54864" marT="27432" marB="27432">
                    <a:solidFill>
                      <a:srgbClr val="E5F5FF"/>
                    </a:solidFill>
                  </a:tcPr>
                </a:tc>
                <a:tc>
                  <a:txBody>
                    <a:bodyPr/>
                    <a:lstStyle/>
                    <a:p>
                      <a:r>
                        <a:rPr sz="850" b="0">
                          <a:solidFill>
                            <a:srgbClr val="4B4B4B"/>
                          </a:solidFill>
                          <a:latin typeface="Arial"/>
                        </a:rPr>
                        <a:t>Y / N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Correction Lines</a:t>
                      </a:r>
                    </a:p>
                  </a:txBody>
                  <a:tcPr marL="54864" marR="54864" marT="27432" marB="27432">
                    <a:solidFill>
                      <a:srgbClr val="FFFFFF"/>
                    </a:solidFill>
                  </a:tcPr>
                </a:tc>
                <a:tc>
                  <a:txBody>
                    <a:bodyPr/>
                    <a:lstStyle/>
                    <a:p>
                      <a:r>
                        <a:rPr sz="850" b="0">
                          <a:solidFill>
                            <a:srgbClr val="4B4B4B"/>
                          </a:solidFill>
                          <a:latin typeface="Arial"/>
                        </a:rPr>
                        <a:t>[Side] / GL Account / Amount / Party / Invoice / Component / Cost Centre / Narration</a:t>
                      </a:r>
                    </a:p>
                  </a:txBody>
                  <a:tcPr marL="54864" marR="54864" marT="27432" marB="27432">
                    <a:solidFill>
                      <a:srgbClr val="FFFFFF"/>
                    </a:solidFill>
                  </a:tcPr>
                </a:tc>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The reversal and the re-post; debits equal credits</a:t>
                      </a:r>
                    </a:p>
                  </a:txBody>
                  <a:tcPr marL="54864" marR="54864" marT="27432" marB="27432">
                    <a:solidFill>
                      <a:srgbClr val="FFFFFF"/>
                    </a:solidFill>
                  </a:tcPr>
                </a:tc>
                <a:tc>
                  <a:txBody>
                    <a:bodyPr/>
                    <a:lstStyle/>
                    <a:p>
                      <a:r>
                        <a:rPr sz="850" b="0">
                          <a:solidFill>
                            <a:srgbClr val="4B4B4B"/>
                          </a:solidFill>
                          <a:latin typeface="Arial"/>
                        </a:rPr>
                        <a:t>Y / Y / Y / N / N / N / N / N</a:t>
                      </a:r>
                    </a:p>
                  </a:txBody>
                  <a:tcPr marL="54864" marR="54864" marT="27432" marB="27432">
                    <a:solidFill>
                      <a:srgbClr val="FFFFFF"/>
                    </a:solidFill>
                  </a:tcPr>
                </a:tc>
                <a:tc>
                  <a:txBody>
                    <a:bodyPr/>
                    <a:lstStyle/>
                    <a:p>
                      <a:r>
                        <a:rPr sz="850" b="0">
                          <a:solidFill>
                            <a:srgbClr val="4B4B4B"/>
                          </a:solidFill>
                          <a:latin typeface="Arial"/>
                        </a:rPr>
                        <a:t>A positive amount with two decimals; balanced</a:t>
                      </a:r>
                    </a:p>
                  </a:txBody>
                  <a:tcPr marL="54864" marR="54864" marT="27432" marB="27432">
                    <a:solidFill>
                      <a:srgbClr val="FFFFFF"/>
                    </a:solidFill>
                  </a:tcPr>
                </a:tc>
                <a:tc>
                  <a:txBody>
                    <a:bodyPr/>
                    <a:lstStyle/>
                    <a:p>
                      <a:r>
                        <a:rPr sz="850" b="0">
                          <a:solidFill>
                            <a:srgbClr val="4B4B4B"/>
                          </a:solidFill>
                          <a:latin typeface="Arial"/>
                        </a:rPr>
                        <a:t>Enter a positive amount with at most two decimals</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Assign dialog</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ACSL processor who prepares the correction,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25880"/>
          <a:ext cx="11094412" cy="241552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 Preparer</a:t>
                      </a:r>
                    </a:p>
                  </a:txBody>
                  <a:tcPr marL="54864" marR="54864" marT="27432" marB="27432">
                    <a:solidFill>
                      <a:srgbClr val="FFFFFF"/>
                    </a:solidFill>
                  </a:tcPr>
                </a:tc>
                <a:tc>
                  <a:txBody>
                    <a:bodyPr/>
                    <a:lstStyle/>
                    <a:p>
                      <a:r>
                        <a:rPr sz="850" b="0">
                          <a:solidFill>
                            <a:srgbClr val="4B4B4B"/>
                          </a:solidFill>
                          <a:latin typeface="Arial"/>
                        </a:rPr>
                        <a:t>ACSL Team Leader (ACSL assign)</a:t>
                      </a:r>
                    </a:p>
                  </a:txBody>
                  <a:tcPr marL="54864" marR="54864" marT="27432" marB="27432">
                    <a:solidFill>
                      <a:srgbClr val="FFFFFF"/>
                    </a:solidFill>
                  </a:tcPr>
                </a:tc>
                <a:tc>
                  <a:txBody>
                    <a:bodyPr/>
                    <a:lstStyle/>
                    <a:p>
                      <a:r>
                        <a:rPr sz="850" b="0">
                          <a:solidFill>
                            <a:srgbClr val="4B4B4B"/>
                          </a:solidFill>
                          <a:latin typeface="Arial"/>
                        </a:rPr>
                        <a:t>To assign</a:t>
                      </a:r>
                    </a:p>
                  </a:txBody>
                  <a:tcPr marL="54864" marR="54864" marT="27432" marB="27432">
                    <a:solidFill>
                      <a:srgbClr val="FFFFFF"/>
                    </a:solidFill>
                  </a:tcPr>
                </a:tc>
                <a:tc>
                  <a:txBody>
                    <a:bodyPr/>
                    <a:lstStyle/>
                    <a:p>
                      <a:r>
                        <a:rPr sz="850" b="0">
                          <a:solidFill>
                            <a:srgbClr val="4B4B4B"/>
                          </a:solidFill>
                          <a:latin typeface="Arial"/>
                        </a:rPr>
                        <a:t>Assigns the correction to a preparer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Correct</a:t>
                      </a:r>
                    </a:p>
                  </a:txBody>
                  <a:tcPr marL="54864" marR="54864" marT="27432" marB="27432">
                    <a:solidFill>
                      <a:srgbClr val="E5F5FF"/>
                    </a:solidFill>
                  </a:tcPr>
                </a:tc>
                <a:tc>
                  <a:txBody>
                    <a:bodyPr/>
                    <a:lstStyle/>
                    <a:p>
                      <a:r>
                        <a:rPr sz="850" b="0">
                          <a:solidFill>
                            <a:srgbClr val="4B4B4B"/>
                          </a:solidFill>
                          <a:latin typeface="Arial"/>
                        </a:rPr>
                        <a:t>Preparer (ACSL process)</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Adds the reversal of the posted line and its re-post to the right account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Line / Save Lines</a:t>
                      </a:r>
                    </a:p>
                  </a:txBody>
                  <a:tcPr marL="54864" marR="54864" marT="27432" marB="27432">
                    <a:solidFill>
                      <a:srgbClr val="FFFFFF"/>
                    </a:solidFill>
                  </a:tcPr>
                </a:tc>
                <a:tc>
                  <a:txBody>
                    <a:bodyPr/>
                    <a:lstStyle/>
                    <a:p>
                      <a:r>
                        <a:rPr sz="850" b="0">
                          <a:solidFill>
                            <a:srgbClr val="4B4B4B"/>
                          </a:solidFill>
                          <a:latin typeface="Arial"/>
                        </a:rPr>
                        <a:t>Preparer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Adds a line or saves the balanced lines</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 for Review</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Draft with balanced lines</a:t>
                      </a:r>
                    </a:p>
                  </a:txBody>
                  <a:tcPr marL="54864" marR="54864" marT="27432" marB="27432">
                    <a:solidFill>
                      <a:srgbClr val="E5F5FF"/>
                    </a:solidFill>
                  </a:tcPr>
                </a:tc>
                <a:tc>
                  <a:txBody>
                    <a:bodyPr/>
                    <a:lstStyle/>
                    <a:p>
                      <a:r>
                        <a:rPr sz="850" b="0">
                          <a:solidFill>
                            <a:srgbClr val="4B4B4B"/>
                          </a:solidFill>
                          <a:latin typeface="Arial"/>
                        </a:rPr>
                        <a:t>Sends the correction for review</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Endorse for Approval</a:t>
                      </a:r>
                    </a:p>
                  </a:txBody>
                  <a:tcPr marL="54864" marR="54864" marT="27432" marB="27432">
                    <a:solidFill>
                      <a:srgbClr val="FFFFFF"/>
                    </a:solidFill>
                  </a:tcPr>
                </a:tc>
                <a:tc>
                  <a:txBody>
                    <a:bodyPr/>
                    <a:lstStyle/>
                    <a:p>
                      <a:r>
                        <a:rPr sz="850" b="0">
                          <a:solidFill>
                            <a:srgbClr val="4B4B4B"/>
                          </a:solidFill>
                          <a:latin typeface="Arial"/>
                        </a:rPr>
                        <a:t>ACSL Team Leader (ACSL review), not the preparer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Endorses the correction</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ACSL Head (ACSL approve), not the maker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correction journal and corrects the invoice ledger</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Open the Case</a:t>
                      </a:r>
                    </a:p>
                  </a:txBody>
                  <a:tcPr marL="54864" marR="54864" marT="27432" marB="27432">
                    <a:solidFill>
                      <a:srgbClr val="FFFFFF"/>
                    </a:solidFill>
                  </a:tcPr>
                </a:tc>
                <a:tc>
                  <a:txBody>
                    <a:bodyPr/>
                    <a:lstStyle/>
                    <a:p>
                      <a:r>
                        <a:rPr sz="850" b="0">
                          <a:solidFill>
                            <a:srgbClr val="4B4B4B"/>
                          </a:solidFill>
                          <a:latin typeface="Arial"/>
                        </a:rPr>
                        <a:t>ACSL users</a:t>
                      </a:r>
                    </a:p>
                  </a:txBody>
                  <a:tcPr marL="54864" marR="54864" marT="27432" marB="27432">
                    <a:solidFill>
                      <a:srgbClr val="FFFFFF"/>
                    </a:solidFill>
                  </a:tcPr>
                </a:tc>
                <a:tc>
                  <a:txBody>
                    <a:bodyPr/>
                    <a:lstStyle/>
                    <a:p>
                      <a:r>
                        <a:rPr sz="850" b="0">
                          <a:solidFill>
                            <a:srgbClr val="4B4B4B"/>
                          </a:solidFill>
                          <a:latin typeface="Arial"/>
                        </a:rPr>
                        <a:t>A correction raised from a case</a:t>
                      </a:r>
                    </a:p>
                  </a:txBody>
                  <a:tcPr marL="54864" marR="54864" marT="27432" marB="27432">
                    <a:solidFill>
                      <a:srgbClr val="FFFFFF"/>
                    </a:solidFill>
                  </a:tcPr>
                </a:tc>
                <a:tc>
                  <a:txBody>
                    <a:bodyPr/>
                    <a:lstStyle/>
                    <a:p>
                      <a:r>
                        <a:rPr sz="850" b="0">
                          <a:solidFill>
                            <a:srgbClr val="4B4B4B"/>
                          </a:solidFill>
                          <a:latin typeface="Arial"/>
                        </a:rPr>
                        <a:t>Opens the case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correction is reviewed by another user than its preparer and approved by another user than its maker (FR-AS-022, FR-AS-023).</a:t>
                      </a:r>
                    </a:p>
                  </a:txBody>
                  <a:tcPr marL="54864" marR="54864" marT="27432" marB="27432">
                    <a:solidFill>
                      <a:srgbClr val="FFFFFF"/>
                    </a:solidFill>
                  </a:tcPr>
                </a:tc>
              </a:tr>
              <a:tr h="243840">
                <a:tc>
                  <a:txBody>
                    <a:bodyPr/>
                    <a:lstStyle/>
                    <a:p>
                      <a:r>
                        <a:rPr sz="1000" b="0">
                          <a:solidFill>
                            <a:srgbClr val="4B4B4B"/>
                          </a:solidFill>
                          <a:latin typeface="Arial"/>
                        </a:rPr>
                        <a:t>Approval posts the correction journal at once, with the reversal of the wrong line and the re-post to the right account (FR-AS-024).</a:t>
                      </a:r>
                    </a:p>
                  </a:txBody>
                  <a:tcPr marL="54864" marR="54864" marT="27432" marB="27432">
                    <a:solidFill>
                      <a:srgbClr val="E5F5FF"/>
                    </a:solidFill>
                  </a:tcPr>
                </a:tc>
              </a:tr>
              <a:tr h="243840">
                <a:tc>
                  <a:txBody>
                    <a:bodyPr/>
                    <a:lstStyle/>
                    <a:p>
                      <a:r>
                        <a:rPr sz="1000" b="0">
                          <a:solidFill>
                            <a:srgbClr val="4B4B4B"/>
                          </a:solidFill>
                          <a:latin typeface="Arial"/>
                        </a:rPr>
                        <a:t>The lines must balance before the correction is submitted (FR-AS-021).</a:t>
                      </a:r>
                    </a:p>
                  </a:txBody>
                  <a:tcPr marL="54864" marR="54864" marT="27432" marB="27432">
                    <a:solidFill>
                      <a:srgbClr val="FFFFFF"/>
                    </a:solidFill>
                  </a:tcPr>
                </a:tc>
              </a:tr>
            </a:tbl>
          </a:graphicData>
        </a:graphic>
      </p:graphicFrame>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Assigns the correction to the ACSL Processor as its preparer</a:t>
                      </a:r>
                    </a:p>
                  </a:txBody>
                  <a:tcPr marL="54864" marR="54864" marT="27432" marB="27432">
                    <a:solidFill>
                      <a:srgbClr val="FFFFFF"/>
                    </a:solidFill>
                  </a:tcPr>
                </a:tc>
                <a:tc>
                  <a:txBody>
                    <a:bodyPr/>
                    <a:lstStyle/>
                    <a:p>
                      <a:r>
                        <a:rPr sz="900" b="0">
                          <a:solidFill>
                            <a:srgbClr val="4B4B4B"/>
                          </a:solidFill>
                          <a:latin typeface="Arial"/>
                        </a:rPr>
                        <a:t>SCR-AC-48_wt-c-step-06.png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7</a:t>
                      </a:r>
                    </a:p>
                  </a:txBody>
                  <a:tcPr marL="54864" marR="54864" marT="27432" marB="27432">
                    <a:solidFill>
                      <a:srgbClr val="E5F5FF"/>
                    </a:solidFill>
                  </a:tcPr>
                </a:tc>
                <a:tc>
                  <a:txBody>
                    <a:bodyPr/>
                    <a:lstStyle/>
                    <a:p>
                      <a:r>
                        <a:rPr sz="900" b="0">
                          <a:solidFill>
                            <a:srgbClr val="4B4B4B"/>
                          </a:solidFill>
                          <a:latin typeface="Arial"/>
                        </a:rPr>
                        <a:t>Picks the wrong line among the posted lines of the invoice family, clicks Correct with the right account, saves the lines and clicks Submit for Review</a:t>
                      </a:r>
                    </a:p>
                  </a:txBody>
                  <a:tcPr marL="54864" marR="54864" marT="27432" marB="27432">
                    <a:solidFill>
                      <a:srgbClr val="E5F5FF"/>
                    </a:solidFill>
                  </a:tcPr>
                </a:tc>
                <a:tc>
                  <a:txBody>
                    <a:bodyPr/>
                    <a:lstStyle/>
                    <a:p>
                      <a:r>
                        <a:rPr sz="900" b="0">
                          <a:solidFill>
                            <a:srgbClr val="4B4B4B"/>
                          </a:solidFill>
                          <a:latin typeface="Arial"/>
                        </a:rPr>
                        <a:t>SCR-AC-48_wt-c-step-07.png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8</a:t>
                      </a:r>
                    </a:p>
                  </a:txBody>
                  <a:tcPr marL="54864" marR="54864" marT="27432" marB="27432">
                    <a:solidFill>
                      <a:srgbClr val="FFFFFF"/>
                    </a:solidFill>
                  </a:tcPr>
                </a:tc>
                <a:tc>
                  <a:txBody>
                    <a:bodyPr/>
                    <a:lstStyle/>
                    <a:p>
                      <a:r>
                        <a:rPr sz="900" b="0">
                          <a:solidFill>
                            <a:srgbClr val="4B4B4B"/>
                          </a:solidFill>
                          <a:latin typeface="Arial"/>
                        </a:rPr>
                        <a:t>Clicks Endorse for Approval</a:t>
                      </a:r>
                    </a:p>
                  </a:txBody>
                  <a:tcPr marL="54864" marR="54864" marT="27432" marB="27432">
                    <a:solidFill>
                      <a:srgbClr val="FFFFFF"/>
                    </a:solidFill>
                  </a:tcPr>
                </a:tc>
                <a:tc>
                  <a:txBody>
                    <a:bodyPr/>
                    <a:lstStyle/>
                    <a:p>
                      <a:r>
                        <a:rPr sz="900" b="0">
                          <a:solidFill>
                            <a:srgbClr val="4B4B4B"/>
                          </a:solidFill>
                          <a:latin typeface="Arial"/>
                        </a:rPr>
                        <a:t>SCR-AC-48_wt-c-step-08.png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9</a:t>
                      </a:r>
                    </a:p>
                  </a:txBody>
                  <a:tcPr marL="54864" marR="54864" marT="27432" marB="27432">
                    <a:solidFill>
                      <a:srgbClr val="E5F5FF"/>
                    </a:solidFill>
                  </a:tcPr>
                </a:tc>
                <a:tc>
                  <a:txBody>
                    <a:bodyPr/>
                    <a:lstStyle/>
                    <a:p>
                      <a:r>
                        <a:rPr sz="900" b="0">
                          <a:solidFill>
                            <a:srgbClr val="4B4B4B"/>
                          </a:solidFill>
                          <a:latin typeface="Arial"/>
                        </a:rPr>
                        <a:t>Clicks Approve and Post and confirms</a:t>
                      </a:r>
                    </a:p>
                  </a:txBody>
                  <a:tcPr marL="54864" marR="54864" marT="27432" marB="27432">
                    <a:solidFill>
                      <a:srgbClr val="E5F5FF"/>
                    </a:solidFill>
                  </a:tcPr>
                </a:tc>
                <a:tc>
                  <a:txBody>
                    <a:bodyPr/>
                    <a:lstStyle/>
                    <a:p>
                      <a:r>
                        <a:rPr sz="900" b="0">
                          <a:solidFill>
                            <a:srgbClr val="4B4B4B"/>
                          </a:solidFill>
                          <a:latin typeface="Arial"/>
                        </a:rPr>
                        <a:t>SCR-AC-48_wt-c-step-09.png</a:t>
                      </a:r>
                    </a:p>
                  </a:txBody>
                  <a:tcPr marL="54864" marR="54864" marT="27432" marB="27432">
                    <a:solidFill>
                      <a:srgbClr val="E5F5FF"/>
                    </a:solidFill>
                  </a:tcPr>
                </a:tc>
              </a:tr>
            </a:tbl>
          </a:graphicData>
        </a:graphic>
      </p:graphicFrame>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5.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1 of 5)</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6.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2 of 5)</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7.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3 of 5)</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4 of 5)</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9.png"/>
          <p:cNvPicPr>
            <a:picLocks noChangeAspect="1"/>
          </p:cNvPicPr>
          <p:nvPr/>
        </p:nvPicPr>
        <p:blipFill>
          <a:blip r:embed="rId3"/>
          <a:stretch>
            <a:fillRect/>
          </a:stretch>
        </p:blipFill>
        <p:spPr>
          <a:xfrm>
            <a:off x="548640" y="1261872"/>
            <a:ext cx="11094415" cy="105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5 of 5)</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1 of 4)</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1.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2 of 4)</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3 of 4)</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3.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4 of 4)</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statements of account (SOA) uploaded for the insurers, each reconciled line by line with the books: the upload number, insurer, period, file, rows loaded and failed, the lines with a variance and those not found; Upload SOA uploads a new statement and reconciles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Insurer SOA Reconciliation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FR-AS-002, FR-AS-003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insurer's statement is in BIBS with its reconciliation.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Upload No. or Insurer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Upload No. / Insurer / Period / File / Loaded / Failed / With Variance / Not Found / Uploaded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upload number with its date; the insurer by name; the period on two lines; the uploader's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insurer of the statement,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insurer</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Period From / Period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an end on or after the start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Statement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statement in the standard layout (template)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statement file</a:t>
                      </a:r>
                    </a:p>
                  </a:txBody>
                  <a:tcPr marL="54864" marR="54864" marT="27432" marB="27432">
                    <a:solidFill>
                      <a:srgbClr val="FFFFFF"/>
                    </a:solidFill>
                  </a:tcPr>
                </a:tc>
              </a:tr>
            </a:tbl>
          </a:graphicData>
        </a:graphic>
      </p:graphicFrame>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SOA / Upload and Reconcile</a:t>
                      </a:r>
                    </a:p>
                  </a:txBody>
                  <a:tcPr marL="54864" marR="54864" marT="27432" marB="27432">
                    <a:solidFill>
                      <a:srgbClr val="FFFFFF"/>
                    </a:solidFill>
                  </a:tcPr>
                </a:tc>
                <a:tc>
                  <a:txBody>
                    <a:bodyPr/>
                    <a:lstStyle/>
                    <a:p>
                      <a:r>
                        <a:rPr sz="850" b="0">
                          <a:solidFill>
                            <a:srgbClr val="4B4B4B"/>
                          </a:solidFill>
                          <a:latin typeface="Arial"/>
                        </a:rPr>
                        <a:t>ACSL Processor (ACSL upload)</a:t>
                      </a:r>
                    </a:p>
                  </a:txBody>
                  <a:tcPr marL="54864" marR="54864" marT="27432" marB="27432">
                    <a:solidFill>
                      <a:srgbClr val="FFFFFF"/>
                    </a:solidFill>
                  </a:tcPr>
                </a:tc>
                <a:tc>
                  <a:txBody>
                    <a:bodyPr/>
                    <a:lstStyle/>
                    <a:p>
                      <a:r>
                        <a:rPr sz="850" b="0">
                          <a:solidFill>
                            <a:srgbClr val="4B4B4B"/>
                          </a:solidFill>
                          <a:latin typeface="Arial"/>
                        </a:rPr>
                        <a:t>Insurer, period and file given</a:t>
                      </a:r>
                    </a:p>
                  </a:txBody>
                  <a:tcPr marL="54864" marR="54864" marT="27432" marB="27432">
                    <a:solidFill>
                      <a:srgbClr val="FFFFFF"/>
                    </a:solidFill>
                  </a:tcPr>
                </a:tc>
                <a:tc>
                  <a:txBody>
                    <a:bodyPr/>
                    <a:lstStyle/>
                    <a:p>
                      <a:r>
                        <a:rPr sz="850" b="0">
                          <a:solidFill>
                            <a:srgbClr val="4B4B4B"/>
                          </a:solidFill>
                          <a:latin typeface="Arial"/>
                        </a:rPr>
                        <a:t>Loads the rows and reconciles each line with the books</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standard layout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ACSL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statement is read up to the maximum number of rows of the parameter and reconciled once loaded (FR-AS-002).</a:t>
                      </a:r>
                    </a:p>
                  </a:txBody>
                  <a:tcPr marL="54864" marR="54864" marT="27432" marB="27432">
                    <a:solidFill>
                      <a:srgbClr val="FFFF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3</a:t>
                      </a:r>
                    </a:p>
                  </a:txBody>
                  <a:tcPr marL="54864" marR="54864" marT="27432" marB="27432">
                    <a:solidFill>
                      <a:srgbClr val="FFFFFF"/>
                    </a:solidFill>
                  </a:tcPr>
                </a:tc>
                <a:tc>
                  <a:txBody>
                    <a:bodyPr/>
                    <a:lstStyle/>
                    <a:p>
                      <a:r>
                        <a:rPr sz="900" b="0">
                          <a:solidFill>
                            <a:srgbClr val="4B4B4B"/>
                          </a:solidFill>
                          <a:latin typeface="Arial"/>
                        </a:rPr>
                        <a:t>Uploads the statement of walkthrough C again</a:t>
                      </a:r>
                    </a:p>
                  </a:txBody>
                  <a:tcPr marL="54864" marR="54864" marT="27432" marB="27432">
                    <a:solidFill>
                      <a:srgbClr val="FFFFFF"/>
                    </a:solidFill>
                  </a:tcPr>
                </a:tc>
                <a:tc>
                  <a:txBody>
                    <a:bodyPr/>
                    <a:lstStyle/>
                    <a:p>
                      <a:r>
                        <a:rPr sz="900" b="0">
                          <a:solidFill>
                            <a:srgbClr val="4B4B4B"/>
                          </a:solidFill>
                          <a:latin typeface="Arial"/>
                        </a:rPr>
                        <a:t>SCR-AC-49_wt-e-step-03.png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Clicks Upload SOA, chooses the insurer, the period and the statement file, and clicks Upload and Reconcile</a:t>
                      </a:r>
                    </a:p>
                  </a:txBody>
                  <a:tcPr marL="54864" marR="54864" marT="27432" marB="27432">
                    <a:solidFill>
                      <a:srgbClr val="E5F5FF"/>
                    </a:solidFill>
                  </a:tcPr>
                </a:tc>
                <a:tc>
                  <a:txBody>
                    <a:bodyPr/>
                    <a:lstStyle/>
                    <a:p>
                      <a:r>
                        <a:rPr sz="900" b="0">
                          <a:solidFill>
                            <a:srgbClr val="4B4B4B"/>
                          </a:solidFill>
                          <a:latin typeface="Arial"/>
                        </a:rPr>
                        <a:t>SCR-AC-49_wt-c-step-01.png</a:t>
                      </a:r>
                    </a:p>
                  </a:txBody>
                  <a:tcPr marL="54864" marR="54864" marT="27432" marB="27432">
                    <a:solidFill>
                      <a:srgbClr val="E5F5FF"/>
                    </a:solidFill>
                  </a:tcPr>
                </a:tc>
              </a:tr>
            </a:tbl>
          </a:graphicData>
        </a:graphic>
      </p:graphicFrame>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9-01-list.png"/>
          <p:cNvPicPr>
            <a:picLocks noChangeAspect="1"/>
          </p:cNvPicPr>
          <p:nvPr/>
        </p:nvPicPr>
        <p:blipFill>
          <a:blip r:embed="rId3"/>
          <a:stretch>
            <a:fillRect/>
          </a:stretch>
        </p:blipFill>
        <p:spPr>
          <a:xfrm>
            <a:off x="548640" y="1261872"/>
            <a:ext cx="11094415" cy="40016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SOA Reconciliation: the statements uploaded with their results</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9-02-upload.png"/>
          <p:cNvPicPr>
            <a:picLocks noChangeAspect="1"/>
          </p:cNvPicPr>
          <p:nvPr/>
        </p:nvPicPr>
        <p:blipFill>
          <a:blip r:embed="rId3"/>
          <a:stretch>
            <a:fillRect/>
          </a:stretch>
        </p:blipFill>
        <p:spPr>
          <a:xfrm>
            <a:off x="1866747" y="1261872"/>
            <a:ext cx="845820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an Insurer SOA: the insurer, the period and the statement file</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uploaded statement with its reconciliation run: the counts per result, the lines by result tab (Outstanding, For Remittance, Remitted, Cancelled, Direct Billed, Not Found) with the premium and balance of the statement and of the books and their variances, the upload log of the rows that failed; Reconcile Again and Download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Insurer SOA Reconciliation › Insurer SOA</a:t>
                      </a:r>
                    </a:p>
                    <a:p>
                      <a:r>
                        <a:rPr sz="950" b="0">
                          <a:solidFill>
                            <a:srgbClr val="4B4B4B"/>
                          </a:solidFill>
                          <a:latin typeface="Arial"/>
                        </a:rPr>
                        <a:t>Insurer SOA Reconciliation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differences with the insurer are known line by line.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SCR-AC-50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graphicFrame>
        <p:nvGraphicFramePr>
          <p:cNvPr id="9" name="Table 8"/>
          <p:cNvGraphicFramePr>
            <a:graphicFrameLocks noGrp="1"/>
          </p:cNvGraphicFramePr>
          <p:nvPr/>
        </p:nvGraphicFramePr>
        <p:xfrm>
          <a:off x="548640" y="1325880"/>
          <a:ext cx="11094411" cy="227074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a:t>
                      </a:r>
                    </a:p>
                  </a:txBody>
                  <a:tcPr marL="54864" marR="54864" marT="27432" marB="27432">
                    <a:solidFill>
                      <a:srgbClr val="FFFFFF"/>
                    </a:solidFill>
                  </a:tcPr>
                </a:tc>
                <a:tc>
                  <a:txBody>
                    <a:bodyPr/>
                    <a:lstStyle/>
                    <a:p>
                      <a:r>
                        <a:rPr sz="850" b="0">
                          <a:solidFill>
                            <a:srgbClr val="4B4B4B"/>
                          </a:solidFill>
                          <a:latin typeface="Arial"/>
                        </a:rPr>
                        <a:t>Counts per result</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Rows, matched, With variance, Not found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reconciled yet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All Lines / Outstanding / For Remittance / Remitted / Cancelled / Direct Billed / Not Found / Upload Log</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With the count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Row / Invoice / Policy / Assured / Result / SOA Premium / Book Premium / Premium Variance / SOA Balance / Book Outstanding / Balance Variance / Remittance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statement line; variances highlighted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Log</a:t>
                      </a:r>
                    </a:p>
                  </a:txBody>
                  <a:tcPr marL="54864" marR="54864" marT="27432" marB="27432">
                    <a:solidFill>
                      <a:srgbClr val="E5F5FF"/>
                    </a:solidFill>
                  </a:tcPr>
                </a:tc>
                <a:tc>
                  <a:txBody>
                    <a:bodyPr/>
                    <a:lstStyle/>
                    <a:p>
                      <a:r>
                        <a:rPr sz="850" b="0">
                          <a:solidFill>
                            <a:srgbClr val="4B4B4B"/>
                          </a:solidFill>
                          <a:latin typeface="Arial"/>
                        </a:rPr>
                        <a:t>Row / Status / Invoice / Policy / Assured / Gross Premium / Error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rows of the file with the error of a row not loaded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Reconcile Again</a:t>
                      </a:r>
                    </a:p>
                  </a:txBody>
                  <a:tcPr marL="54864" marR="54864" marT="27432" marB="27432">
                    <a:solidFill>
                      <a:srgbClr val="FFFFFF"/>
                    </a:solidFill>
                  </a:tcPr>
                </a:tc>
                <a:tc>
                  <a:txBody>
                    <a:bodyPr/>
                    <a:lstStyle/>
                    <a:p>
                      <a:r>
                        <a:rPr sz="850" b="0">
                          <a:solidFill>
                            <a:srgbClr val="4B4B4B"/>
                          </a:solidFill>
                          <a:latin typeface="Arial"/>
                        </a:rPr>
                        <a:t>ACSL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Reconciles the statement again with the books of today</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Report</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reconciliation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line is matched with the books by invoice number, then policy number; the result is the status of the invoice and the variances of premium and balance (FR-AS-003).</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2</a:t>
                      </a:r>
                    </a:p>
                  </a:txBody>
                  <a:tcPr marL="54864" marR="54864" marT="27432" marB="27432">
                    <a:solidFill>
                      <a:srgbClr val="FFFFFF"/>
                    </a:solidFill>
                  </a:tcPr>
                </a:tc>
                <a:tc>
                  <a:txBody>
                    <a:bodyPr/>
                    <a:lstStyle/>
                    <a:p>
                      <a:r>
                        <a:rPr sz="900" b="0">
                          <a:solidFill>
                            <a:srgbClr val="4B4B4B"/>
                          </a:solidFill>
                          <a:latin typeface="Arial"/>
                        </a:rPr>
                        <a:t>Opens the upload</a:t>
                      </a:r>
                    </a:p>
                  </a:txBody>
                  <a:tcPr marL="54864" marR="54864" marT="27432" marB="27432">
                    <a:solidFill>
                      <a:srgbClr val="FFFFFF"/>
                    </a:solidFill>
                  </a:tcPr>
                </a:tc>
                <a:tc>
                  <a:txBody>
                    <a:bodyPr/>
                    <a:lstStyle/>
                    <a:p>
                      <a:r>
                        <a:rPr sz="900" b="0">
                          <a:solidFill>
                            <a:srgbClr val="4B4B4B"/>
                          </a:solidFill>
                          <a:latin typeface="Arial"/>
                        </a:rPr>
                        <a:t>SCR-AC-50_wt-c-step-02.png</a:t>
                      </a:r>
                    </a:p>
                  </a:txBody>
                  <a:tcPr marL="54864" marR="54864" marT="27432" marB="27432">
                    <a:solidFill>
                      <a:srgbClr val="FFFFFF"/>
                    </a:solidFill>
                  </a:tcPr>
                </a:tc>
              </a:tr>
            </a:tbl>
          </a:graphicData>
        </a:graphic>
      </p:graphicFrame>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4.png"/>
          <p:cNvPicPr>
            <a:picLocks noChangeAspect="1"/>
          </p:cNvPicPr>
          <p:nvPr/>
        </p:nvPicPr>
        <p:blipFill>
          <a:blip r:embed="rId3"/>
          <a:stretch>
            <a:fillRect/>
          </a:stretch>
        </p:blipFill>
        <p:spPr>
          <a:xfrm>
            <a:off x="548640" y="1261872"/>
            <a:ext cx="11094415" cy="45968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insurer SOA reconciled: the counts and the lines with their result and variances (part 1 of 2)</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5.png"/>
          <p:cNvPicPr>
            <a:picLocks noChangeAspect="1"/>
          </p:cNvPicPr>
          <p:nvPr/>
        </p:nvPicPr>
        <p:blipFill>
          <a:blip r:embed="rId3"/>
          <a:stretch>
            <a:fillRect/>
          </a:stretch>
        </p:blipFill>
        <p:spPr>
          <a:xfrm>
            <a:off x="548640" y="1261872"/>
            <a:ext cx="11094415" cy="30539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insurer SOA reconciled: the counts and the lines with their result and variances (part 2 of 2)</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SCR-AC-50 Insurer SOA: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6.png"/>
          <p:cNvPicPr>
            <a:picLocks noChangeAspect="1"/>
          </p:cNvPicPr>
          <p:nvPr/>
        </p:nvPicPr>
        <p:blipFill>
          <a:blip r:embed="rId3"/>
          <a:stretch>
            <a:fillRect/>
          </a:stretch>
        </p:blipFill>
        <p:spPr>
          <a:xfrm>
            <a:off x="548640" y="1261872"/>
            <a:ext cx="11094415" cy="40551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Log: the rows of the file and those that failed with their error (part 1 of 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SCR-AC-50 Insurer SOA: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7.png"/>
          <p:cNvPicPr>
            <a:picLocks noChangeAspect="1"/>
          </p:cNvPicPr>
          <p:nvPr/>
        </p:nvPicPr>
        <p:blipFill>
          <a:blip r:embed="rId3"/>
          <a:stretch>
            <a:fillRect/>
          </a:stretch>
        </p:blipFill>
        <p:spPr>
          <a:xfrm>
            <a:off x="548640" y="1261872"/>
            <a:ext cx="11094415" cy="36535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Log: the rows of the file and those that failed with their error (part 2 of 2)</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GL-SL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Compares the balance of each control account in the general ledger with its sub-ledger: run it now as of a date, the runs with their differences, the balances of a run, and the control accounts with their sub-ledger, components, document types and currency.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GL-SL Reconciliation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agrees with the sub-ledgers, or the differences are known.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SCR-AC-51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 Now</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empty for today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Runs</a:t>
                      </a:r>
                    </a:p>
                  </a:txBody>
                  <a:tcPr marL="54864" marR="54864" marT="27432" marB="27432">
                    <a:solidFill>
                      <a:srgbClr val="E5F5FF"/>
                    </a:solidFill>
                  </a:tcPr>
                </a:tc>
                <a:tc>
                  <a:txBody>
                    <a:bodyPr/>
                    <a:lstStyle/>
                    <a:p>
                      <a:r>
                        <a:rPr sz="850" b="0">
                          <a:solidFill>
                            <a:srgbClr val="4B4B4B"/>
                          </a:solidFill>
                          <a:latin typeface="Arial"/>
                        </a:rPr>
                        <a:t>As Of / Run By / Accounts / Differences / Total Difference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run; the name of the user or System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Control Account / Sub-ledger / GL Balance / SL Balance / Difference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control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Control Accounts</a:t>
                      </a:r>
                    </a:p>
                  </a:txBody>
                  <a:tcPr marL="54864" marR="54864" marT="27432" marB="27432">
                    <a:solidFill>
                      <a:srgbClr val="E5F5FF"/>
                    </a:solidFill>
                  </a:tcPr>
                </a:tc>
                <a:tc>
                  <a:txBody>
                    <a:bodyPr/>
                    <a:lstStyle/>
                    <a:p>
                      <a:r>
                        <a:rPr sz="850" b="0">
                          <a:solidFill>
                            <a:srgbClr val="4B4B4B"/>
                          </a:solidFill>
                          <a:latin typeface="Arial"/>
                        </a:rPr>
                        <a:t>Control Account / Sub-ledger / Components / Document Types / Currency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reconciled and their sub-ledger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Control Account dialog</a:t>
                      </a:r>
                    </a:p>
                  </a:txBody>
                  <a:tcPr marL="54864" marR="54864" marT="27432" marB="27432">
                    <a:solidFill>
                      <a:srgbClr val="FFFFFF"/>
                    </a:solidFill>
                  </a:tcPr>
                </a:tc>
                <a:tc>
                  <a:txBody>
                    <a:bodyPr/>
                    <a:lstStyle/>
                    <a:p>
                      <a:r>
                        <a:rPr sz="850" b="0">
                          <a:solidFill>
                            <a:srgbClr val="4B4B4B"/>
                          </a:solidFill>
                          <a:latin typeface="Arial"/>
                        </a:rPr>
                        <a:t>Control Account / Sub-ledger / Ledger Components / Document Types / Currency / Status</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Party ledger, Open items or Operations ledger</a:t>
                      </a:r>
                    </a:p>
                  </a:txBody>
                  <a:tcPr marL="54864" marR="54864" marT="27432" marB="27432">
                    <a:solidFill>
                      <a:srgbClr val="FFFFFF"/>
                    </a:solidFill>
                  </a:tcPr>
                </a:tc>
                <a:tc>
                  <a:txBody>
                    <a:bodyPr/>
                    <a:lstStyle/>
                    <a:p>
                      <a:r>
                        <a:rPr sz="850" b="0">
                          <a:solidFill>
                            <a:srgbClr val="4B4B4B"/>
                          </a:solidFill>
                          <a:latin typeface="Arial"/>
                        </a:rPr>
                        <a:t>Y / Y / N / N / 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Reconciliation</a:t>
                      </a:r>
                    </a:p>
                  </a:txBody>
                  <a:tcPr marL="54864" marR="54864" marT="27432" marB="27432">
                    <a:solidFill>
                      <a:srgbClr val="FFFFFF"/>
                    </a:solidFill>
                  </a:tcPr>
                </a:tc>
                <a:tc>
                  <a:txBody>
                    <a:bodyPr/>
                    <a:lstStyle/>
                    <a:p>
                      <a:r>
                        <a:rPr sz="850" b="0">
                          <a:solidFill>
                            <a:srgbClr val="4B4B4B"/>
                          </a:solidFill>
                          <a:latin typeface="Arial"/>
                        </a:rPr>
                        <a:t>ACSL users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Runs the reconciliation as of the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Alert on a difference</a:t>
                      </a:r>
                    </a:p>
                  </a:txBody>
                  <a:tcPr marL="54864" marR="54864" marT="27432" marB="27432">
                    <a:solidFill>
                      <a:srgbClr val="FFFFFF"/>
                    </a:solidFill>
                  </a:tcPr>
                </a:tc>
              </a:tr>
              <a:tr h="220979">
                <a:tc>
                  <a:txBody>
                    <a:bodyPr/>
                    <a:lstStyle/>
                    <a:p>
                      <a:r>
                        <a:rPr sz="850" b="0">
                          <a:solidFill>
                            <a:srgbClr val="4B4B4B"/>
                          </a:solidFill>
                          <a:latin typeface="Arial"/>
                        </a:rPr>
                        <a:t>Add Control Account</a:t>
                      </a:r>
                    </a:p>
                  </a:txBody>
                  <a:tcPr marL="54864" marR="54864" marT="27432" marB="27432">
                    <a:solidFill>
                      <a:srgbClr val="E5F5FF"/>
                    </a:solidFill>
                  </a:tcPr>
                </a:tc>
                <a:tc>
                  <a:txBody>
                    <a:bodyPr/>
                    <a:lstStyle/>
                    <a:p>
                      <a:r>
                        <a:rPr sz="850" b="0">
                          <a:solidFill>
                            <a:srgbClr val="4B4B4B"/>
                          </a:solidFill>
                          <a:latin typeface="Arial"/>
                        </a:rPr>
                        <a:t>ACSL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Adds or changes a control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reconciliation runs every night and at period end; a difference raises an alert to ACSL but does not stop the close (FR-AS-004).</a:t>
                      </a:r>
                    </a:p>
                  </a:txBody>
                  <a:tcPr marL="54864" marR="54864" marT="27432" marB="27432">
                    <a:solidFill>
                      <a:srgbClr val="FFFFFF"/>
                    </a:solidFill>
                  </a:tcPr>
                </a:tc>
              </a:tr>
            </a:tbl>
          </a:graphicData>
        </a:graphic>
      </p:graphicFrame>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8.png"/>
          <p:cNvPicPr>
            <a:picLocks noChangeAspect="1"/>
          </p:cNvPicPr>
          <p:nvPr/>
        </p:nvPicPr>
        <p:blipFill>
          <a:blip r:embed="rId3"/>
          <a:stretch>
            <a:fillRect/>
          </a:stretch>
        </p:blipFill>
        <p:spPr>
          <a:xfrm>
            <a:off x="548640" y="1261872"/>
            <a:ext cx="11094415" cy="43134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1 of 5)</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9.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2 of 5)</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0.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3 of 5)</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1.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4 of 5)</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2.png"/>
          <p:cNvPicPr>
            <a:picLocks noChangeAspect="1"/>
          </p:cNvPicPr>
          <p:nvPr/>
        </p:nvPicPr>
        <p:blipFill>
          <a:blip r:embed="rId3"/>
          <a:stretch>
            <a:fillRect/>
          </a:stretch>
        </p:blipFill>
        <p:spPr>
          <a:xfrm>
            <a:off x="548640" y="1261872"/>
            <a:ext cx="11094415" cy="2391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5 of 5)</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614</a:t>
            </a:r>
          </a:p>
        </p:txBody>
      </p:sp>
      <p:pic>
        <p:nvPicPr>
          <p:cNvPr id="9" name="Picture 8" descr="doc-dv.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Disbursement voucher template (layout to confirm, AQ14)</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voucher; printed in batch by the end of day</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Voucher › Download Voucher; Disbursement End of Day (vouchers of the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4630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Disbursement Voucher, DV number and date – from the voucher</a:t>
                      </a:r>
                    </a:p>
                    <a:p>
                      <a:r>
                        <a:rPr sz="900" b="0">
                          <a:solidFill>
                            <a:srgbClr val="4B4B4B"/>
                          </a:solidFill>
                          <a:latin typeface="Arial"/>
                        </a:rPr>
                        <a:t>Payee: name, code, address and TIN – from the payee master</a:t>
                      </a:r>
                    </a:p>
                    <a:p>
                      <a:r>
                        <a:rPr sz="900" b="0">
                          <a:solidFill>
                            <a:srgbClr val="4B4B4B"/>
                          </a:solidFill>
                          <a:latin typeface="Arial"/>
                        </a:rPr>
                        <a:t>Payment: disbursement type, mode of payment, paying account, value date, gross, withholding tax and net amount, purpose – from the voucher terms</a:t>
                      </a:r>
                    </a:p>
                    <a:p>
                      <a:r>
                        <a:rPr sz="900" b="0">
                          <a:solidFill>
                            <a:srgbClr val="4B4B4B"/>
                          </a:solidFill>
                          <a:latin typeface="Arial"/>
                        </a:rPr>
                        <a:t>Accounting entry: the lines with account, cost centre, debit and credit – from the entry of the voucher</a:t>
                      </a:r>
                    </a:p>
                    <a:p>
                      <a:r>
                        <a:rPr sz="900" b="0">
                          <a:solidFill>
                            <a:srgbClr val="4B4B4B"/>
                          </a:solidFill>
                          <a:latin typeface="Arial"/>
                        </a:rPr>
                        <a:t>Prepared, checked and approved by: the names of the processor, the team leader and the approver – from the voucher workflow</a:t>
                      </a:r>
                    </a:p>
                  </a:txBody>
                  <a:tcPr marL="54864" marR="54864" marT="27432" marB="27432">
                    <a:solidFill>
                      <a:srgbClr val="FFFFFF"/>
                    </a:solidFill>
                  </a:tcPr>
                </a:tc>
              </a:tr>
            </a:tbl>
          </a:graphicData>
        </a:graphic>
      </p:graphicFrame>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Authority to Debit (bank 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615</a:t>
            </a:r>
          </a:p>
        </p:txBody>
      </p:sp>
      <p:pic>
        <p:nvPicPr>
          <p:cNvPr id="9" name="Picture 8" descr="doc-atd.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Authority to Debit form of the bank (layout to confirm, AQ14)</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instrument; also the MC / DD, credit ticket and TT forms</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Voucher › Instrument › Download Form; Disbursement End of Day (forms of the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Bank and account: the BDOIR account to debit and the branch – from the paying account</a:t>
                      </a:r>
                    </a:p>
                    <a:p>
                      <a:r>
                        <a:rPr sz="900" b="0">
                          <a:solidFill>
                            <a:srgbClr val="4B4B4B"/>
                          </a:solidFill>
                          <a:latin typeface="Arial"/>
                        </a:rPr>
                        <a:t>Payment: payee, amount in figures and words, value date and reference – from the voucher and its instrument</a:t>
                      </a:r>
                    </a:p>
                    <a:p>
                      <a:r>
                        <a:rPr sz="900" b="0">
                          <a:solidFill>
                            <a:srgbClr val="4B4B4B"/>
                          </a:solidFill>
                          <a:latin typeface="Arial"/>
                        </a:rPr>
                        <a:t>Signatories of BDOI – from the approver of the voucher</a:t>
                      </a:r>
                    </a:p>
                  </a:txBody>
                  <a:tcPr marL="54864" marR="54864" marT="27432" marB="27432">
                    <a:solidFill>
                      <a:srgbClr val="FFFFFF"/>
                    </a:solidFill>
                  </a:tcPr>
                </a:tc>
              </a:tr>
            </a:tbl>
          </a:graphicData>
        </a:graphic>
      </p:graphicFrame>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Direct Credit Transaction File (DCTF)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616</a:t>
            </a:r>
          </a:p>
        </p:txBody>
      </p:sp>
      <p:pic>
        <p:nvPicPr>
          <p:cNvPr id="9" name="Picture 8" descr="doc-dctf.png"/>
          <p:cNvPicPr>
            <a:picLocks noChangeAspect="1"/>
          </p:cNvPicPr>
          <p:nvPr/>
        </p:nvPicPr>
        <p:blipFill>
          <a:blip r:embed="rId3"/>
          <a:stretch>
            <a:fillRect/>
          </a:stretch>
        </p:blipFill>
        <p:spPr>
          <a:xfrm>
            <a:off x="1605106" y="1261872"/>
            <a:ext cx="355634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DCTF layout of Appendix B (header and 89-character detail lines; trailer to confirm, AQ09)</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Text file, one per end-of-day run, for TPD's automatic credit arrangement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End of Day › the DCTF output of the run</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the company account and the business date – from the paying account and the run</a:t>
                      </a:r>
                    </a:p>
                    <a:p>
                      <a:r>
                        <a:rPr sz="900" b="0">
                          <a:solidFill>
                            <a:srgbClr val="4B4B4B"/>
                          </a:solidFill>
                          <a:latin typeface="Arial"/>
                        </a:rPr>
                        <a:t>Detail line per credit to account: payee account number, payee name, amount and reference – from the vouchers paid by credit to account</a:t>
                      </a:r>
                    </a:p>
                  </a:txBody>
                  <a:tcPr marL="54864" marR="54864" marT="27432" marB="27432">
                    <a:solidFill>
                      <a:srgbClr val="FFFFFF"/>
                    </a:solidFill>
                  </a:tcPr>
                </a:tc>
              </a:tr>
            </a:tbl>
          </a:graphicData>
        </a:graphic>
      </p:graphicFrame>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Refund Request Form (RRF)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617</a:t>
            </a:r>
          </a:p>
        </p:txBody>
      </p:sp>
      <p:pic>
        <p:nvPicPr>
          <p:cNvPr id="9" name="Picture 8" descr="doc-rrf.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Refund Request Form of Appendix 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refund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Request › Refund Request Form</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segment, request date, reference, requesting unit and purpose – from the request</a:t>
                      </a:r>
                    </a:p>
                    <a:p>
                      <a:r>
                        <a:rPr sz="900" b="0">
                          <a:solidFill>
                            <a:srgbClr val="4B4B4B"/>
                          </a:solidFill>
                          <a:latin typeface="Arial"/>
                        </a:rPr>
                        <a:t>Lines: item, AR number, client number, assured or client name, amount, reason of refund, branch or unit, categories A and B – from the accounts to refund</a:t>
                      </a:r>
                    </a:p>
                    <a:p>
                      <a:r>
                        <a:rPr sz="900" b="0">
                          <a:solidFill>
                            <a:srgbClr val="4B4B4B"/>
                          </a:solidFill>
                          <a:latin typeface="Arial"/>
                        </a:rPr>
                        <a:t>Total and the account name or check name – from the request</a:t>
                      </a:r>
                    </a:p>
                    <a:p>
                      <a:r>
                        <a:rPr sz="900" b="0">
                          <a:solidFill>
                            <a:srgbClr val="4B4B4B"/>
                          </a:solidFill>
                          <a:latin typeface="Arial"/>
                        </a:rPr>
                        <a:t>Requested, reviewed and approved by – from the request workflow</a:t>
                      </a:r>
                    </a:p>
                  </a:txBody>
                  <a:tcPr marL="54864" marR="54864" marT="27432" marB="27432">
                    <a:solidFill>
                      <a:srgbClr val="FFFFFF"/>
                    </a:solidFill>
                  </a:tcPr>
                </a:tc>
              </a:tr>
            </a:tbl>
          </a:graphicData>
        </a:graphic>
      </p:graphicFrame>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DO-05 BIR Form 2307 (certificate of creditable tax withheld at source)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618</a:t>
            </a:r>
          </a:p>
        </p:txBody>
      </p:sp>
      <p:pic>
        <p:nvPicPr>
          <p:cNvPr id="9" name="Picture 8" descr="doc-2307.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BIR Form 2307 of the BIR</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payee and quarter, or one file per batch</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BIR Form 2307 ›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Payee: name, TIN and address – from the payee</a:t>
                      </a:r>
                    </a:p>
                    <a:p>
                      <a:r>
                        <a:rPr sz="900" b="0">
                          <a:solidFill>
                            <a:srgbClr val="4B4B4B"/>
                          </a:solidFill>
                          <a:latin typeface="Arial"/>
                        </a:rPr>
                        <a:t>Payor: BDOI, its TIN and address – from the company</a:t>
                      </a:r>
                    </a:p>
                    <a:p>
                      <a:r>
                        <a:rPr sz="900" b="0">
                          <a:solidFill>
                            <a:srgbClr val="4B4B4B"/>
                          </a:solidFill>
                          <a:latin typeface="Arial"/>
                        </a:rPr>
                        <a:t>Income payments: the ATC, the income and the tax withheld per month of the quarter – from the withholding tax of the payments</a:t>
                      </a:r>
                    </a:p>
                  </a:txBody>
                  <a:tcPr marL="54864" marR="54864" marT="27432" marB="27432">
                    <a:solidFill>
                      <a:srgbClr val="FFFFFF"/>
                    </a:solidFill>
                  </a:tcPr>
                </a:tc>
              </a:tr>
            </a:tbl>
          </a:graphicData>
        </a:graphic>
      </p:graphicFrame>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Insurer SOA reconciliation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619</a:t>
            </a:r>
          </a:p>
        </p:txBody>
      </p:sp>
      <p:pic>
        <p:nvPicPr>
          <p:cNvPr id="9" name="Picture 8" descr="doc-soa-report.png"/>
          <p:cNvPicPr>
            <a:picLocks noChangeAspect="1"/>
          </p:cNvPicPr>
          <p:nvPr/>
        </p:nvPicPr>
        <p:blipFill>
          <a:blip r:embed="rId3"/>
          <a:stretch>
            <a:fillRect/>
          </a:stretch>
        </p:blipFill>
        <p:spPr>
          <a:xfrm>
            <a:off x="548640" y="1261872"/>
            <a:ext cx="5669280" cy="4039262"/>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ACSL reports)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one per uploaded statement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Insurer SOA › Download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Statement: insurer, period and upload number – from the upload</a:t>
                      </a:r>
                    </a:p>
                    <a:p>
                      <a:r>
                        <a:rPr sz="900" b="0">
                          <a:solidFill>
                            <a:srgbClr val="4B4B4B"/>
                          </a:solidFill>
                          <a:latin typeface="Arial"/>
                        </a:rPr>
                        <a:t>Lines: invoice, policy, assured, result, the premium and balance of the statement and of the books and their variances, the remittance – from the reconciliation run</a:t>
                      </a:r>
                    </a:p>
                  </a:txBody>
                  <a:tcPr marL="54864" marR="54864" marT="27432" marB="27432">
                    <a:solidFill>
                      <a:srgbClr val="FFFFFF"/>
                    </a:solidFill>
                  </a:tcPr>
                </a:tc>
              </a:tr>
            </a:tbl>
          </a:graphicData>
        </a:graphic>
      </p:graphicFrame>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620</a:t>
            </a:r>
          </a:p>
        </p:txBody>
      </p:sp>
      <p:graphicFrame>
        <p:nvGraphicFramePr>
          <p:cNvPr id="9" name="Table 8"/>
          <p:cNvGraphicFramePr>
            <a:graphicFrameLocks noGrp="1"/>
          </p:cNvGraphicFramePr>
          <p:nvPr/>
        </p:nvGraphicFramePr>
        <p:xfrm>
          <a:off x="548640" y="1325880"/>
          <a:ext cx="11094413" cy="4632932"/>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record with a workflow moves to another stage by a user action (a disbursement voucher, a payee, a funding request, a service-fee run, an ACSL case or correction)</a:t>
                      </a:r>
                    </a:p>
                  </a:txBody>
                  <a:tcPr marL="54864" marR="54864" marT="27432" marB="27432">
                    <a:solidFill>
                      <a:srgbClr val="FFFFFF"/>
                    </a:solidFill>
                  </a:tcPr>
                </a:tc>
                <a:tc>
                  <a:txBody>
                    <a:bodyPr/>
                    <a:lstStyle/>
                    <a:p>
                      <a:r>
                        <a:rPr sz="850" b="0">
                          <a:solidFill>
                            <a:srgbClr val="4B4B4B"/>
                          </a:solidFill>
                          <a:latin typeface="Arial"/>
                        </a:rPr>
                        <a:t>The users of the next stage and the creator of the record,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&lt;description of the record&gt; - &lt;comment&gt;</a:t>
                      </a:r>
                    </a:p>
                  </a:txBody>
                  <a:tcPr marL="54864" marR="54864" marT="27432" marB="27432">
                    <a:solidFill>
                      <a:srgbClr val="FFFFFF"/>
                    </a:solidFill>
                  </a:tcPr>
                </a:tc>
              </a:tr>
              <a:tr h="480057">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Marketing request changes stage (assigned, submitted, sent for validation, endorsed, approved, returned, cancelled, sent to Disbursement, disbursed)</a:t>
                      </a:r>
                    </a:p>
                  </a:txBody>
                  <a:tcPr marL="54864" marR="54864" marT="27432" marB="27432">
                    <a:solidFill>
                      <a:srgbClr val="E5F5FF"/>
                    </a:solidFill>
                  </a:tcPr>
                </a:tc>
                <a:tc>
                  <a:txBody>
                    <a:bodyPr/>
                    <a:lstStyle/>
                    <a:p>
                      <a:r>
                        <a:rPr sz="850" b="0">
                          <a:solidFill>
                            <a:srgbClr val="4B4B4B"/>
                          </a:solidFill>
                          <a:latin typeface="Arial"/>
                        </a:rPr>
                        <a:t>The next handler (the preparer, the reviewers, the approvers, HR) and the requester</a:t>
                      </a:r>
                    </a:p>
                  </a:txBody>
                  <a:tcPr marL="54864" marR="54864" marT="27432" marB="27432">
                    <a:solidFill>
                      <a:srgbClr val="E5F5FF"/>
                    </a:solidFill>
                  </a:tcPr>
                </a:tc>
                <a:tc>
                  <a:txBody>
                    <a:bodyPr/>
                    <a:lstStyle/>
                    <a:p>
                      <a:r>
                        <a:rPr sz="850" b="0">
                          <a:solidFill>
                            <a:srgbClr val="4B4B4B"/>
                          </a:solidFill>
                          <a:latin typeface="Arial"/>
                        </a:rPr>
                        <a:t>Title: &lt;request no&gt;: &lt;stage&gt;. Text: &lt;kind&gt; of &lt;payee&gt; - &lt;amount&gt;</a:t>
                      </a:r>
                    </a:p>
                  </a:txBody>
                  <a:tcPr marL="54864" marR="54864" marT="27432" marB="27432">
                    <a:solidFill>
                      <a:srgbClr val="E5F5FF"/>
                    </a:solidFill>
                  </a:tcPr>
                </a:tc>
              </a:tr>
              <a:tr h="480057">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payment request of another unit changes stage in Disbursement (voucher created, approved, paid, returned, cancelled)</a:t>
                      </a:r>
                    </a:p>
                  </a:txBody>
                  <a:tcPr marL="54864" marR="54864" marT="27432" marB="27432">
                    <a:solidFill>
                      <a:srgbClr val="FFFFFF"/>
                    </a:solidFill>
                  </a:tcPr>
                </a:tc>
                <a:tc>
                  <a:txBody>
                    <a:bodyPr/>
                    <a:lstStyle/>
                    <a:p>
                      <a:r>
                        <a:rPr sz="850" b="0">
                          <a:solidFill>
                            <a:srgbClr val="4B4B4B"/>
                          </a:solidFill>
                          <a:latin typeface="Arial"/>
                        </a:rPr>
                        <a:t>The source unit of the request (Remittance, Cashiering, Marketing, Comptrollership)</a:t>
                      </a:r>
                    </a:p>
                  </a:txBody>
                  <a:tcPr marL="54864" marR="54864" marT="27432" marB="27432">
                    <a:solidFill>
                      <a:srgbClr val="FFFFFF"/>
                    </a:solidFill>
                  </a:tcPr>
                </a:tc>
                <a:tc>
                  <a:txBody>
                    <a:bodyPr/>
                    <a:lstStyle/>
                    <a:p>
                      <a:r>
                        <a:rPr sz="850" b="0">
                          <a:solidFill>
                            <a:srgbClr val="4B4B4B"/>
                          </a:solidFill>
                          <a:latin typeface="Arial"/>
                        </a:rPr>
                        <a:t>Title: &lt;request no&gt;: &lt;status&gt;. Text: &lt;payee&gt; - &lt;amount&gt; - &lt;DV no&gt;</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payment request names a payee that is not maintained (alert Payment request without payee)</a:t>
                      </a:r>
                    </a:p>
                  </a:txBody>
                  <a:tcPr marL="54864" marR="54864" marT="27432" marB="27432">
                    <a:solidFill>
                      <a:srgbClr val="E5F5FF"/>
                    </a:solidFill>
                  </a:tcPr>
                </a:tc>
                <a:tc>
                  <a:txBody>
                    <a:bodyPr/>
                    <a:lstStyle/>
                    <a:p>
                      <a:r>
                        <a:rPr sz="850" b="0">
                          <a:solidFill>
                            <a:srgbClr val="4B4B4B"/>
                          </a:solidFill>
                          <a:latin typeface="Arial"/>
                        </a:rPr>
                        <a:t>The Disbursement team leaders</a:t>
                      </a:r>
                    </a:p>
                  </a:txBody>
                  <a:tcPr marL="54864" marR="54864" marT="27432" marB="27432">
                    <a:solidFill>
                      <a:srgbClr val="E5F5FF"/>
                    </a:solidFill>
                  </a:tcPr>
                </a:tc>
                <a:tc>
                  <a:txBody>
                    <a:bodyPr/>
                    <a:lstStyle/>
                    <a:p>
                      <a:r>
                        <a:rPr sz="850" b="0">
                          <a:solidFill>
                            <a:srgbClr val="4B4B4B"/>
                          </a:solidFill>
                          <a:latin typeface="Arial"/>
                        </a:rPr>
                        <a:t>Title: Payment request without payee. Text: the request, its source and the payee named</a:t>
                      </a:r>
                    </a:p>
                  </a:txBody>
                  <a:tcPr marL="54864" marR="54864" marT="27432" marB="27432">
                    <a:solidFill>
                      <a:srgbClr val="E5F5FF"/>
                    </a:solidFill>
                  </a:tcPr>
                </a:tc>
              </a:tr>
              <a:tr h="480057">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approved voucher was cancelled and its source has not restored its records (alert Cancelled DV not regularised)</a:t>
                      </a:r>
                    </a:p>
                  </a:txBody>
                  <a:tcPr marL="54864" marR="54864" marT="27432" marB="27432">
                    <a:solidFill>
                      <a:srgbClr val="FFFFFF"/>
                    </a:solidFill>
                  </a:tcPr>
                </a:tc>
                <a:tc>
                  <a:txBody>
                    <a:bodyPr/>
                    <a:lstStyle/>
                    <a:p>
                      <a:r>
                        <a:rPr sz="850" b="0">
                          <a:solidFill>
                            <a:srgbClr val="4B4B4B"/>
                          </a:solidFill>
                          <a:latin typeface="Arial"/>
                        </a:rPr>
                        <a:t>The Disbursement team leaders and Comptrollership</a:t>
                      </a:r>
                    </a:p>
                  </a:txBody>
                  <a:tcPr marL="54864" marR="54864" marT="27432" marB="27432">
                    <a:solidFill>
                      <a:srgbClr val="FFFFFF"/>
                    </a:solidFill>
                  </a:tcPr>
                </a:tc>
                <a:tc>
                  <a:txBody>
                    <a:bodyPr/>
                    <a:lstStyle/>
                    <a:p>
                      <a:r>
                        <a:rPr sz="850" b="0">
                          <a:solidFill>
                            <a:srgbClr val="4B4B4B"/>
                          </a:solidFill>
                          <a:latin typeface="Arial"/>
                        </a:rPr>
                        <a:t>Title: Cancelled DV not regularised. Text: the voucher, its source and the days since the cancellation</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printed or released check reached the stale period, 180 days by default (alert Check staled)</a:t>
                      </a:r>
                    </a:p>
                  </a:txBody>
                  <a:tcPr marL="54864" marR="54864" marT="27432" marB="27432">
                    <a:solidFill>
                      <a:srgbClr val="E5F5FF"/>
                    </a:solidFill>
                  </a:tcPr>
                </a:tc>
                <a:tc>
                  <a:txBody>
                    <a:bodyPr/>
                    <a:lstStyle/>
                    <a:p>
                      <a:r>
                        <a:rPr sz="850" b="0">
                          <a:solidFill>
                            <a:srgbClr val="4B4B4B"/>
                          </a:solidFill>
                          <a:latin typeface="Arial"/>
                        </a:rPr>
                        <a:t>The Disbursement team leaders</a:t>
                      </a:r>
                    </a:p>
                  </a:txBody>
                  <a:tcPr marL="54864" marR="54864" marT="27432" marB="27432">
                    <a:solidFill>
                      <a:srgbClr val="E5F5FF"/>
                    </a:solidFill>
                  </a:tcPr>
                </a:tc>
                <a:tc>
                  <a:txBody>
                    <a:bodyPr/>
                    <a:lstStyle/>
                    <a:p>
                      <a:r>
                        <a:rPr sz="850" b="0">
                          <a:solidFill>
                            <a:srgbClr val="4B4B4B"/>
                          </a:solidFill>
                          <a:latin typeface="Arial"/>
                        </a:rPr>
                        <a:t>Title: Check staled. Text: the check, the payee and the amount moved to Miscellaneous Liability - stale checks</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check series of a paying account reached its warning threshold of remaining checks (alert Check series running low)</a:t>
                      </a:r>
                    </a:p>
                  </a:txBody>
                  <a:tcPr marL="54864" marR="54864" marT="27432" marB="27432">
                    <a:solidFill>
                      <a:srgbClr val="FFFFFF"/>
                    </a:solidFill>
                  </a:tcPr>
                </a:tc>
                <a:tc>
                  <a:txBody>
                    <a:bodyPr/>
                    <a:lstStyle/>
                    <a:p>
                      <a:r>
                        <a:rPr sz="850" b="0">
                          <a:solidFill>
                            <a:srgbClr val="4B4B4B"/>
                          </a:solidFill>
                          <a:latin typeface="Arial"/>
                        </a:rPr>
                        <a:t>The Disbursement team leaders and approvers</a:t>
                      </a:r>
                    </a:p>
                  </a:txBody>
                  <a:tcPr marL="54864" marR="54864" marT="27432" marB="27432">
                    <a:solidFill>
                      <a:srgbClr val="FFFFFF"/>
                    </a:solidFill>
                  </a:tcPr>
                </a:tc>
                <a:tc>
                  <a:txBody>
                    <a:bodyPr/>
                    <a:lstStyle/>
                    <a:p>
                      <a:r>
                        <a:rPr sz="850" b="0">
                          <a:solidFill>
                            <a:srgbClr val="4B4B4B"/>
                          </a:solidFill>
                          <a:latin typeface="Arial"/>
                        </a:rPr>
                        <a:t>Title: Check series running low. Text: the bank account and the checks left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The end of day of a business date is confirmed (Send Confirmations)</a:t>
                      </a:r>
                    </a:p>
                  </a:txBody>
                  <a:tcPr marL="54864" marR="54864" marT="27432" marB="27432">
                    <a:solidFill>
                      <a:srgbClr val="E5F5FF"/>
                    </a:solidFill>
                  </a:tcPr>
                </a:tc>
                <a:tc>
                  <a:txBody>
                    <a:bodyPr/>
                    <a:lstStyle/>
                    <a:p>
                      <a:r>
                        <a:rPr sz="850" b="0">
                          <a:solidFill>
                            <a:srgbClr val="4B4B4B"/>
                          </a:solidFill>
                          <a:latin typeface="Arial"/>
                        </a:rPr>
                        <a:t>Each payee of the day with an e-mail address</a:t>
                      </a:r>
                    </a:p>
                  </a:txBody>
                  <a:tcPr marL="54864" marR="54864" marT="27432" marB="27432">
                    <a:solidFill>
                      <a:srgbClr val="E5F5FF"/>
                    </a:solidFill>
                  </a:tcPr>
                </a:tc>
                <a:tc>
                  <a:txBody>
                    <a:bodyPr/>
                    <a:lstStyle/>
                    <a:p>
                      <a:r>
                        <a:rPr sz="850" b="0">
                          <a:solidFill>
                            <a:srgbClr val="4B4B4B"/>
                          </a:solidFill>
                          <a:latin typeface="Arial"/>
                        </a:rPr>
                        <a:t>Subject: Payment confirmation &lt;DV no&gt;. Body: the amount, the mode, the value date and the reference of the payment</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An authority to debit is e-mailed to the branch (Email to Branch)</a:t>
                      </a:r>
                    </a:p>
                  </a:txBody>
                  <a:tcPr marL="54864" marR="54864" marT="27432" marB="27432">
                    <a:solidFill>
                      <a:srgbClr val="FFFFFF"/>
                    </a:solidFill>
                  </a:tcPr>
                </a:tc>
                <a:tc>
                  <a:txBody>
                    <a:bodyPr/>
                    <a:lstStyle/>
                    <a:p>
                      <a:r>
                        <a:rPr sz="850" b="0">
                          <a:solidFill>
                            <a:srgbClr val="4B4B4B"/>
                          </a:solidFill>
                          <a:latin typeface="Arial"/>
                        </a:rPr>
                        <a:t>The mailbox of the processing branch, the requester in copy</a:t>
                      </a:r>
                    </a:p>
                  </a:txBody>
                  <a:tcPr marL="54864" marR="54864" marT="27432" marB="27432">
                    <a:solidFill>
                      <a:srgbClr val="FFFFFF"/>
                    </a:solidFill>
                  </a:tcPr>
                </a:tc>
                <a:tc>
                  <a:txBody>
                    <a:bodyPr/>
                    <a:lstStyle/>
                    <a:p>
                      <a:r>
                        <a:rPr sz="850" b="0">
                          <a:solidFill>
                            <a:srgbClr val="4B4B4B"/>
                          </a:solidFill>
                          <a:latin typeface="Arial"/>
                        </a:rPr>
                        <a:t>Subject: Authority to Debit &lt;ATD no&gt;. Body: the account to debit, the amount and the value date, with the ATD form attached</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scheduled month-end close or the broking books close did not complete (alert Scheduled close failed)</a:t>
                      </a:r>
                    </a:p>
                  </a:txBody>
                  <a:tcPr marL="54864" marR="54864" marT="27432" marB="27432">
                    <a:solidFill>
                      <a:srgbClr val="E5F5FF"/>
                    </a:solidFill>
                  </a:tcPr>
                </a:tc>
                <a:tc>
                  <a:txBody>
                    <a:bodyPr/>
                    <a:lstStyle/>
                    <a:p>
                      <a:r>
                        <a:rPr sz="850" b="0">
                          <a:solidFill>
                            <a:srgbClr val="4B4B4B"/>
                          </a:solidFill>
                          <a:latin typeface="Arial"/>
                        </a:rPr>
                        <a:t>The GL Team Lead and the GL Section Head</a:t>
                      </a:r>
                    </a:p>
                  </a:txBody>
                  <a:tcPr marL="54864" marR="54864" marT="27432" marB="27432">
                    <a:solidFill>
                      <a:srgbClr val="E5F5FF"/>
                    </a:solidFill>
                  </a:tcPr>
                </a:tc>
                <a:tc>
                  <a:txBody>
                    <a:bodyPr/>
                    <a:lstStyle/>
                    <a:p>
                      <a:r>
                        <a:rPr sz="850" b="0">
                          <a:solidFill>
                            <a:srgbClr val="4B4B4B"/>
                          </a:solidFill>
                          <a:latin typeface="Arial"/>
                        </a:rPr>
                        <a:t>Title: Scheduled close failed. Text: the period and the blocking items of the checklist</a:t>
                      </a:r>
                    </a:p>
                  </a:txBody>
                  <a:tcPr marL="54864" marR="54864" marT="27432" marB="27432">
                    <a:solidFill>
                      <a:srgbClr val="E5F5FF"/>
                    </a:solidFill>
                  </a:tcPr>
                </a:tc>
              </a:tr>
            </a:tbl>
          </a:graphicData>
        </a:graphic>
      </p:graphicFrame>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621</a:t>
            </a:r>
          </a:p>
        </p:txBody>
      </p:sp>
      <p:graphicFrame>
        <p:nvGraphicFramePr>
          <p:cNvPr id="9" name="Table 8"/>
          <p:cNvGraphicFramePr>
            <a:graphicFrameLocks noGrp="1"/>
          </p:cNvGraphicFramePr>
          <p:nvPr/>
        </p:nvGraphicFramePr>
        <p:xfrm>
          <a:off x="548640" y="1325880"/>
          <a:ext cx="11094413" cy="262126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The previous year is not closed and the year-end deadline is near (alert Year-end close due)</a:t>
                      </a:r>
                    </a:p>
                  </a:txBody>
                  <a:tcPr marL="54864" marR="54864" marT="27432" marB="27432">
                    <a:solidFill>
                      <a:srgbClr val="FFFFFF"/>
                    </a:solidFill>
                  </a:tcPr>
                </a:tc>
                <a:tc>
                  <a:txBody>
                    <a:bodyPr/>
                    <a:lstStyle/>
                    <a:p>
                      <a:r>
                        <a:rPr sz="850" b="0">
                          <a:solidFill>
                            <a:srgbClr val="4B4B4B"/>
                          </a:solidFill>
                          <a:latin typeface="Arial"/>
                        </a:rPr>
                        <a:t>The GL Team Lead and the GL Section Head</a:t>
                      </a:r>
                    </a:p>
                  </a:txBody>
                  <a:tcPr marL="54864" marR="54864" marT="27432" marB="27432">
                    <a:solidFill>
                      <a:srgbClr val="FFFFFF"/>
                    </a:solidFill>
                  </a:tcPr>
                </a:tc>
                <a:tc>
                  <a:txBody>
                    <a:bodyPr/>
                    <a:lstStyle/>
                    <a:p>
                      <a:r>
                        <a:rPr sz="850" b="0">
                          <a:solidFill>
                            <a:srgbClr val="4B4B4B"/>
                          </a:solidFill>
                          <a:latin typeface="Arial"/>
                        </a:rPr>
                        <a:t>Title: Year-end close due. Text: the fiscal year and the deadline</a:t>
                      </a:r>
                    </a:p>
                  </a:txBody>
                  <a:tcPr marL="54864" marR="54864" marT="27432" marB="27432">
                    <a:solidFill>
                      <a:srgbClr val="FFFFFF"/>
                    </a:solidFill>
                  </a:tcPr>
                </a:tc>
              </a:tr>
              <a:tr h="480057">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posting to an account that requires a cost centre found no cost-centre rule (alert Cost centre missing)</a:t>
                      </a:r>
                    </a:p>
                  </a:txBody>
                  <a:tcPr marL="54864" marR="54864" marT="27432" marB="27432">
                    <a:solidFill>
                      <a:srgbClr val="E5F5FF"/>
                    </a:solidFill>
                  </a:tcPr>
                </a:tc>
                <a:tc>
                  <a:txBody>
                    <a:bodyPr/>
                    <a:lstStyle/>
                    <a:p>
                      <a:r>
                        <a:rPr sz="850" b="0">
                          <a:solidFill>
                            <a:srgbClr val="4B4B4B"/>
                          </a:solidFill>
                          <a:latin typeface="Arial"/>
                        </a:rPr>
                        <a:t>The GL team and the Comptrollership administrators</a:t>
                      </a:r>
                    </a:p>
                  </a:txBody>
                  <a:tcPr marL="54864" marR="54864" marT="27432" marB="27432">
                    <a:solidFill>
                      <a:srgbClr val="E5F5FF"/>
                    </a:solidFill>
                  </a:tcPr>
                </a:tc>
                <a:tc>
                  <a:txBody>
                    <a:bodyPr/>
                    <a:lstStyle/>
                    <a:p>
                      <a:r>
                        <a:rPr sz="850" b="0">
                          <a:solidFill>
                            <a:srgbClr val="4B4B4B"/>
                          </a:solidFill>
                          <a:latin typeface="Arial"/>
                        </a:rPr>
                        <a:t>Title: Cost centre missing. Text: the event, the account and the source of the posting</a:t>
                      </a:r>
                    </a:p>
                  </a:txBody>
                  <a:tcPr marL="54864" marR="54864" marT="27432" marB="27432">
                    <a:solidFill>
                      <a:srgbClr val="E5F5FF"/>
                    </a:solidFill>
                  </a:tcPr>
                </a:tc>
              </a:tr>
              <a:tr h="480057">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The GL-SL reconciliation found a control account whose sub-ledger differs from the general ledger (alert GL and sub-ledger differ)</a:t>
                      </a:r>
                    </a:p>
                  </a:txBody>
                  <a:tcPr marL="54864" marR="54864" marT="27432" marB="27432">
                    <a:solidFill>
                      <a:srgbClr val="FFFFFF"/>
                    </a:solidFill>
                  </a:tcPr>
                </a:tc>
                <a:tc>
                  <a:txBody>
                    <a:bodyPr/>
                    <a:lstStyle/>
                    <a:p>
                      <a:r>
                        <a:rPr sz="850" b="0">
                          <a:solidFill>
                            <a:srgbClr val="4B4B4B"/>
                          </a:solidFill>
                          <a:latin typeface="Arial"/>
                        </a:rPr>
                        <a:t>The ACSL team</a:t>
                      </a:r>
                    </a:p>
                  </a:txBody>
                  <a:tcPr marL="54864" marR="54864" marT="27432" marB="27432">
                    <a:solidFill>
                      <a:srgbClr val="FFFFFF"/>
                    </a:solidFill>
                  </a:tcPr>
                </a:tc>
                <a:tc>
                  <a:txBody>
                    <a:bodyPr/>
                    <a:lstStyle/>
                    <a:p>
                      <a:r>
                        <a:rPr sz="850" b="0">
                          <a:solidFill>
                            <a:srgbClr val="4B4B4B"/>
                          </a:solidFill>
                          <a:latin typeface="Arial"/>
                        </a:rPr>
                        <a:t>Title: GL and sub-ledger differ. Text: the control account, the GL and SL balances and the difference</a:t>
                      </a:r>
                    </a:p>
                  </a:txBody>
                  <a:tcPr marL="54864" marR="54864" marT="27432" marB="27432">
                    <a:solidFill>
                      <a:srgbClr val="FFFFFF"/>
                    </a:solidFill>
                  </a:tcPr>
                </a:tc>
              </a:tr>
              <a:tr h="609596">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ACSL case is opened, assigned or given its result; an account officer is messaged from a case</a:t>
                      </a:r>
                    </a:p>
                  </a:txBody>
                  <a:tcPr marL="54864" marR="54864" marT="27432" marB="27432">
                    <a:solidFill>
                      <a:srgbClr val="E5F5FF"/>
                    </a:solidFill>
                  </a:tcPr>
                </a:tc>
                <a:tc>
                  <a:txBody>
                    <a:bodyPr/>
                    <a:lstStyle/>
                    <a:p>
                      <a:r>
                        <a:rPr sz="850" b="0">
                          <a:solidFill>
                            <a:srgbClr val="4B4B4B"/>
                          </a:solidFill>
                          <a:latin typeface="Arial"/>
                        </a:rPr>
                        <a:t>The ACSL team (new case), the assignee, the requester of the case (result) and the account officer of the invoice (message)</a:t>
                      </a:r>
                    </a:p>
                  </a:txBody>
                  <a:tcPr marL="54864" marR="54864" marT="27432" marB="27432">
                    <a:solidFill>
                      <a:srgbClr val="E5F5FF"/>
                    </a:solidFill>
                  </a:tcPr>
                </a:tc>
                <a:tc>
                  <a:txBody>
                    <a:bodyPr/>
                    <a:lstStyle/>
                    <a:p>
                      <a:r>
                        <a:rPr sz="850" b="0">
                          <a:solidFill>
                            <a:srgbClr val="4B4B4B"/>
                          </a:solidFill>
                          <a:latin typeface="Arial"/>
                        </a:rPr>
                        <a:t>Title: &lt;case no&gt;: &lt;stage&gt; or Message from ACSL. Text: &lt;subject&gt; - &lt;result or message&gt;</a:t>
                      </a:r>
                    </a:p>
                  </a:txBody>
                  <a:tcPr marL="54864" marR="54864" marT="27432" marB="27432">
                    <a:solidFill>
                      <a:srgbClr val="E5F5FF"/>
                    </a:solidFill>
                  </a:tcPr>
                </a:tc>
              </a:tr>
              <a:tr h="480057">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journal is submitted, assigned or returned to its maker</a:t>
                      </a:r>
                    </a:p>
                  </a:txBody>
                  <a:tcPr marL="54864" marR="54864" marT="27432" marB="27432">
                    <a:solidFill>
                      <a:srgbClr val="FFFFFF"/>
                    </a:solidFill>
                  </a:tcPr>
                </a:tc>
                <a:tc>
                  <a:txBody>
                    <a:bodyPr/>
                    <a:lstStyle/>
                    <a:p>
                      <a:r>
                        <a:rPr sz="850" b="0">
                          <a:solidFill>
                            <a:srgbClr val="4B4B4B"/>
                          </a:solidFill>
                          <a:latin typeface="Arial"/>
                        </a:rPr>
                        <a:t>The users who post journals (submitted), the assignee (assigned), the maker (returned)</a:t>
                      </a:r>
                    </a:p>
                  </a:txBody>
                  <a:tcPr marL="54864" marR="54864" marT="27432" marB="27432">
                    <a:solidFill>
                      <a:srgbClr val="FFFFFF"/>
                    </a:solidFill>
                  </a:tcPr>
                </a:tc>
                <a:tc>
                  <a:txBody>
                    <a:bodyPr/>
                    <a:lstStyle/>
                    <a:p>
                      <a:r>
                        <a:rPr sz="850" b="0">
                          <a:solidFill>
                            <a:srgbClr val="4B4B4B"/>
                          </a:solidFill>
                          <a:latin typeface="Arial"/>
                        </a:rPr>
                        <a:t>My Approvals and the list Assigned to me show the journal; a returned journal shows its remarks in the journal list</a:t>
                      </a:r>
                    </a:p>
                  </a:txBody>
                  <a:tcPr marL="54864" marR="54864" marT="27432" marB="27432">
                    <a:solidFill>
                      <a:srgbClr val="FFFFFF"/>
                    </a:solidFill>
                  </a:tcPr>
                </a:tc>
              </a:tr>
            </a:tbl>
          </a:graphicData>
        </a:graphic>
      </p:graphicFrame>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622</a:t>
            </a:r>
          </a:p>
        </p:txBody>
      </p:sp>
      <p:graphicFrame>
        <p:nvGraphicFramePr>
          <p:cNvPr id="9" name="Table 8"/>
          <p:cNvGraphicFramePr>
            <a:graphicFrameLocks noGrp="1"/>
          </p:cNvGraphicFramePr>
          <p:nvPr/>
        </p:nvGraphicFramePr>
        <p:xfrm>
          <a:off x="548640" y="1325880"/>
          <a:ext cx="11094413" cy="32461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SCR-AC-07</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GL Team Lead (chart upload)</a:t>
                      </a:r>
                    </a:p>
                  </a:txBody>
                  <a:tcPr marL="54864" marR="54864" marT="27432" marB="27432">
                    <a:solidFill>
                      <a:srgbClr val="FFFFFF"/>
                    </a:solidFill>
                  </a:tcPr>
                </a:tc>
                <a:tc>
                  <a:txBody>
                    <a:bodyPr/>
                    <a:lstStyle/>
                    <a:p>
                      <a:r>
                        <a:rPr sz="900" b="0">
                          <a:solidFill>
                            <a:srgbClr val="4B4B4B"/>
                          </a:solidFill>
                          <a:latin typeface="Arial"/>
                        </a:rPr>
                        <a:t>Downloads the template</a:t>
                      </a:r>
                    </a:p>
                  </a:txBody>
                  <a:tcPr marL="54864" marR="54864" marT="27432" marB="27432">
                    <a:solidFill>
                      <a:srgbClr val="FFFFFF"/>
                    </a:solidFill>
                  </a:tcPr>
                </a:tc>
              </a:tr>
              <a:tr h="228600">
                <a:tc>
                  <a:txBody>
                    <a:bodyPr/>
                    <a:lstStyle/>
                    <a:p>
                      <a:r>
                        <a:rPr sz="900" b="0">
                          <a:solidFill>
                            <a:srgbClr val="4B4B4B"/>
                          </a:solidFill>
                          <a:latin typeface="Arial"/>
                        </a:rPr>
                        <a:t>SCR-AC-17</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Report users</a:t>
                      </a:r>
                    </a:p>
                  </a:txBody>
                  <a:tcPr marL="54864" marR="54864" marT="27432" marB="27432">
                    <a:solidFill>
                      <a:srgbClr val="E5F5FF"/>
                    </a:solidFill>
                  </a:tcPr>
                </a:tc>
                <a:tc>
                  <a:txBody>
                    <a:bodyPr/>
                    <a:lstStyle/>
                    <a:p>
                      <a:r>
                        <a:rPr sz="900" b="0">
                          <a:solidFill>
                            <a:srgbClr val="4B4B4B"/>
                          </a:solidFill>
                          <a:latin typeface="Arial"/>
                        </a:rPr>
                        <a:t>Downloads the batch output</a:t>
                      </a:r>
                    </a:p>
                  </a:txBody>
                  <a:tcPr marL="54864" marR="54864" marT="27432" marB="27432">
                    <a:solidFill>
                      <a:srgbClr val="E5F5FF"/>
                    </a:solidFill>
                  </a:tcPr>
                </a:tc>
              </a:tr>
              <a:tr h="228600">
                <a:tc>
                  <a:txBody>
                    <a:bodyPr/>
                    <a:lstStyle/>
                    <a:p>
                      <a:r>
                        <a:rPr sz="900" b="0">
                          <a:solidFill>
                            <a:srgbClr val="4B4B4B"/>
                          </a:solidFill>
                          <a:latin typeface="Arial"/>
                        </a:rPr>
                        <a:t>SCR-AC-18</a:t>
                      </a:r>
                    </a:p>
                  </a:txBody>
                  <a:tcPr marL="54864" marR="54864" marT="27432" marB="27432">
                    <a:solidFill>
                      <a:srgbClr val="FFFFFF"/>
                    </a:solidFill>
                  </a:tcPr>
                </a:tc>
                <a:tc>
                  <a:txBody>
                    <a:bodyPr/>
                    <a:lstStyle/>
                    <a:p>
                      <a:r>
                        <a:rPr sz="900" b="0">
                          <a:solidFill>
                            <a:srgbClr val="4B4B4B"/>
                          </a:solidFill>
                          <a:latin typeface="Arial"/>
                        </a:rPr>
                        <a:t>Print</a:t>
                      </a:r>
                    </a:p>
                  </a:txBody>
                  <a:tcPr marL="54864" marR="54864" marT="27432" marB="27432">
                    <a:solidFill>
                      <a:srgbClr val="FFFFFF"/>
                    </a:solidFill>
                  </a:tcPr>
                </a:tc>
                <a:tc>
                  <a:txBody>
                    <a:bodyPr/>
                    <a:lstStyle/>
                    <a:p>
                      <a:r>
                        <a:rPr sz="900" b="0">
                          <a:solidFill>
                            <a:srgbClr val="4B4B4B"/>
                          </a:solidFill>
                          <a:latin typeface="Arial"/>
                        </a:rPr>
                        <a:t>Report users</a:t>
                      </a:r>
                    </a:p>
                  </a:txBody>
                  <a:tcPr marL="54864" marR="54864" marT="27432" marB="27432">
                    <a:solidFill>
                      <a:srgbClr val="FFFFFF"/>
                    </a:solidFill>
                  </a:tcPr>
                </a:tc>
                <a:tc>
                  <a:txBody>
                    <a:bodyPr/>
                    <a:lstStyle/>
                    <a:p>
                      <a:r>
                        <a:rPr sz="900" b="0">
                          <a:solidFill>
                            <a:srgbClr val="4B4B4B"/>
                          </a:solidFill>
                          <a:latin typeface="Arial"/>
                        </a:rPr>
                        <a:t>Prints the result with the print options</a:t>
                      </a:r>
                    </a:p>
                  </a:txBody>
                  <a:tcPr marL="54864" marR="54864" marT="27432" marB="27432">
                    <a:solidFill>
                      <a:srgbClr val="FFFFFF"/>
                    </a:solidFill>
                  </a:tcPr>
                </a:tc>
              </a:tr>
              <a:tr h="365760">
                <a:tc>
                  <a:txBody>
                    <a:bodyPr/>
                    <a:lstStyle/>
                    <a:p>
                      <a:r>
                        <a:rPr sz="900" b="0">
                          <a:solidFill>
                            <a:srgbClr val="4B4B4B"/>
                          </a:solidFill>
                          <a:latin typeface="Arial"/>
                        </a:rPr>
                        <a:t>SCR-AC-18</a:t>
                      </a:r>
                    </a:p>
                  </a:txBody>
                  <a:tcPr marL="54864" marR="54864" marT="27432" marB="27432">
                    <a:solidFill>
                      <a:srgbClr val="E5F5FF"/>
                    </a:solidFill>
                  </a:tcPr>
                </a:tc>
                <a:tc>
                  <a:txBody>
                    <a:bodyPr/>
                    <a:lstStyle/>
                    <a:p>
                      <a:r>
                        <a:rPr sz="900" b="0">
                          <a:solidFill>
                            <a:srgbClr val="4B4B4B"/>
                          </a:solidFill>
                          <a:latin typeface="Arial"/>
                        </a:rPr>
                        <a:t>Export</a:t>
                      </a:r>
                    </a:p>
                  </a:txBody>
                  <a:tcPr marL="54864" marR="54864" marT="27432" marB="27432">
                    <a:solidFill>
                      <a:srgbClr val="E5F5FF"/>
                    </a:solidFill>
                  </a:tcPr>
                </a:tc>
                <a:tc>
                  <a:txBody>
                    <a:bodyPr/>
                    <a:lstStyle/>
                    <a:p>
                      <a:r>
                        <a:rPr sz="900" b="0">
                          <a:solidFill>
                            <a:srgbClr val="4B4B4B"/>
                          </a:solidFill>
                          <a:latin typeface="Arial"/>
                        </a:rPr>
                        <a:t>Report users (export permission of the category)</a:t>
                      </a:r>
                    </a:p>
                  </a:txBody>
                  <a:tcPr marL="54864" marR="54864" marT="27432" marB="27432">
                    <a:solidFill>
                      <a:srgbClr val="E5F5FF"/>
                    </a:solidFill>
                  </a:tcPr>
                </a:tc>
                <a:tc>
                  <a:txBody>
                    <a:bodyPr/>
                    <a:lstStyle/>
                    <a:p>
                      <a:r>
                        <a:rPr sz="900" b="0">
                          <a:solidFill>
                            <a:srgbClr val="4B4B4B"/>
                          </a:solidFill>
                          <a:latin typeface="Arial"/>
                        </a:rPr>
                        <a:t>Exports the report in the format chosen</a:t>
                      </a:r>
                    </a:p>
                  </a:txBody>
                  <a:tcPr marL="54864" marR="54864" marT="27432" marB="27432">
                    <a:solidFill>
                      <a:srgbClr val="E5F5FF"/>
                    </a:solidFill>
                  </a:tcPr>
                </a:tc>
              </a:tr>
              <a:tr h="228600">
                <a:tc>
                  <a:txBody>
                    <a:bodyPr/>
                    <a:lstStyle/>
                    <a:p>
                      <a:r>
                        <a:rPr sz="900" b="0">
                          <a:solidFill>
                            <a:srgbClr val="4B4B4B"/>
                          </a:solidFill>
                          <a:latin typeface="Arial"/>
                        </a:rPr>
                        <a:t>SCR-AC-19</a:t>
                      </a:r>
                    </a:p>
                  </a:txBody>
                  <a:tcPr marL="54864" marR="54864" marT="27432" marB="27432">
                    <a:solidFill>
                      <a:srgbClr val="FFFFFF"/>
                    </a:solidFill>
                  </a:tcPr>
                </a:tc>
                <a:tc>
                  <a:txBody>
                    <a:bodyPr/>
                    <a:lstStyle/>
                    <a:p>
                      <a:r>
                        <a:rPr sz="900" b="0">
                          <a:solidFill>
                            <a:srgbClr val="4B4B4B"/>
                          </a:solidFill>
                          <a:latin typeface="Arial"/>
                        </a:rPr>
                        <a:t>Export format</a:t>
                      </a:r>
                    </a:p>
                  </a:txBody>
                  <a:tcPr marL="54864" marR="54864" marT="27432" marB="27432">
                    <a:solidFill>
                      <a:srgbClr val="FFFFFF"/>
                    </a:solidFill>
                  </a:tcPr>
                </a:tc>
                <a:tc>
                  <a:txBody>
                    <a:bodyPr/>
                    <a:lstStyle/>
                    <a:p>
                      <a:r>
                        <a:rPr sz="900" b="0">
                          <a:solidFill>
                            <a:srgbClr val="4B4B4B"/>
                          </a:solidFill>
                          <a:latin typeface="Arial"/>
                        </a:rPr>
                        <a:t>FRBS users (FRBS report export)</a:t>
                      </a:r>
                    </a:p>
                  </a:txBody>
                  <a:tcPr marL="54864" marR="54864" marT="27432" marB="27432">
                    <a:solidFill>
                      <a:srgbClr val="FFFFFF"/>
                    </a:solidFill>
                  </a:tcPr>
                </a:tc>
                <a:tc>
                  <a:txBody>
                    <a:bodyPr/>
                    <a:lstStyle/>
                    <a:p>
                      <a:r>
                        <a:rPr sz="900" b="0">
                          <a:solidFill>
                            <a:srgbClr val="4B4B4B"/>
                          </a:solidFill>
                          <a:latin typeface="Arial"/>
                        </a:rPr>
                        <a:t>Exports the report in the format</a:t>
                      </a:r>
                    </a:p>
                  </a:txBody>
                  <a:tcPr marL="54864" marR="54864" marT="27432" marB="27432">
                    <a:solidFill>
                      <a:srgbClr val="FFFFFF"/>
                    </a:solidFill>
                  </a:tcPr>
                </a:tc>
              </a:tr>
              <a:tr h="228600">
                <a:tc>
                  <a:txBody>
                    <a:bodyPr/>
                    <a:lstStyle/>
                    <a:p>
                      <a:r>
                        <a:rPr sz="900" b="0">
                          <a:solidFill>
                            <a:srgbClr val="4B4B4B"/>
                          </a:solidFill>
                          <a:latin typeface="Arial"/>
                        </a:rPr>
                        <a:t>SCR-AC-24</a:t>
                      </a:r>
                    </a:p>
                  </a:txBody>
                  <a:tcPr marL="54864" marR="54864" marT="27432" marB="27432">
                    <a:solidFill>
                      <a:srgbClr val="E5F5FF"/>
                    </a:solidFill>
                  </a:tcPr>
                </a:tc>
                <a:tc>
                  <a:txBody>
                    <a:bodyPr/>
                    <a:lstStyle/>
                    <a:p>
                      <a:r>
                        <a:rPr sz="900" b="0">
                          <a:solidFill>
                            <a:srgbClr val="4B4B4B"/>
                          </a:solidFill>
                          <a:latin typeface="Arial"/>
                        </a:rPr>
                        <a:t>Excel or PDF</a:t>
                      </a:r>
                    </a:p>
                  </a:txBody>
                  <a:tcPr marL="54864" marR="54864" marT="27432" marB="27432">
                    <a:solidFill>
                      <a:srgbClr val="E5F5FF"/>
                    </a:solidFill>
                  </a:tcPr>
                </a:tc>
                <a:tc>
                  <a:txBody>
                    <a:bodyPr/>
                    <a:lstStyle/>
                    <a:p>
                      <a:r>
                        <a:rPr sz="900" b="0">
                          <a:solidFill>
                            <a:srgbClr val="4B4B4B"/>
                          </a:solidFill>
                          <a:latin typeface="Arial"/>
                        </a:rPr>
                        <a:t>Users with tax view</a:t>
                      </a:r>
                    </a:p>
                  </a:txBody>
                  <a:tcPr marL="54864" marR="54864" marT="27432" marB="27432">
                    <a:solidFill>
                      <a:srgbClr val="E5F5FF"/>
                    </a:solidFill>
                  </a:tcPr>
                </a:tc>
                <a:tc>
                  <a:txBody>
                    <a:bodyPr/>
                    <a:lstStyle/>
                    <a:p>
                      <a:r>
                        <a:rPr sz="900" b="0">
                          <a:solidFill>
                            <a:srgbClr val="4B4B4B"/>
                          </a:solidFill>
                          <a:latin typeface="Arial"/>
                        </a:rPr>
                        <a:t>Exports the output for the period</a:t>
                      </a:r>
                    </a:p>
                  </a:txBody>
                  <a:tcPr marL="54864" marR="54864" marT="27432" marB="27432">
                    <a:solidFill>
                      <a:srgbClr val="E5F5FF"/>
                    </a:solidFill>
                  </a:tcPr>
                </a:tc>
              </a:tr>
              <a:tr h="228600">
                <a:tc>
                  <a:txBody>
                    <a:bodyPr/>
                    <a:lstStyle/>
                    <a:p>
                      <a:r>
                        <a:rPr sz="900" b="0">
                          <a:solidFill>
                            <a:srgbClr val="4B4B4B"/>
                          </a:solidFill>
                          <a:latin typeface="Arial"/>
                        </a:rPr>
                        <a:t>SCR-AC-27</a:t>
                      </a:r>
                    </a:p>
                  </a:txBody>
                  <a:tcPr marL="54864" marR="54864" marT="27432" marB="27432">
                    <a:solidFill>
                      <a:srgbClr val="FFFFFF"/>
                    </a:solidFill>
                  </a:tcPr>
                </a:tc>
                <a:tc>
                  <a:txBody>
                    <a:bodyPr/>
                    <a:lstStyle/>
                    <a:p>
                      <a:r>
                        <a:rPr sz="900" b="0">
                          <a:solidFill>
                            <a:srgbClr val="4B4B4B"/>
                          </a:solidFill>
                          <a:latin typeface="Arial"/>
                        </a:rPr>
                        <a:t>Download Voucher / Download Form</a:t>
                      </a:r>
                    </a:p>
                  </a:txBody>
                  <a:tcPr marL="54864" marR="54864" marT="27432" marB="27432">
                    <a:solidFill>
                      <a:srgbClr val="FFFFFF"/>
                    </a:solidFill>
                  </a:tcPr>
                </a:tc>
                <a:tc>
                  <a:txBody>
                    <a:bodyPr/>
                    <a:lstStyle/>
                    <a:p>
                      <a:r>
                        <a:rPr sz="900" b="0">
                          <a:solidFill>
                            <a:srgbClr val="4B4B4B"/>
                          </a:solidFill>
                          <a:latin typeface="Arial"/>
                        </a:rPr>
                        <a:t>Disbursement users</a:t>
                      </a:r>
                    </a:p>
                  </a:txBody>
                  <a:tcPr marL="54864" marR="54864" marT="27432" marB="27432">
                    <a:solidFill>
                      <a:srgbClr val="FFFFFF"/>
                    </a:solidFill>
                  </a:tcPr>
                </a:tc>
                <a:tc>
                  <a:txBody>
                    <a:bodyPr/>
                    <a:lstStyle/>
                    <a:p>
                      <a:r>
                        <a:rPr sz="900" b="0">
                          <a:solidFill>
                            <a:srgbClr val="4B4B4B"/>
                          </a:solidFill>
                          <a:latin typeface="Arial"/>
                        </a:rPr>
                        <a:t>Downloads the voucher or the bank form</a:t>
                      </a:r>
                    </a:p>
                  </a:txBody>
                  <a:tcPr marL="54864" marR="54864" marT="27432" marB="27432">
                    <a:solidFill>
                      <a:srgbClr val="FFFFFF"/>
                    </a:solidFill>
                  </a:tcPr>
                </a:tc>
              </a:tr>
              <a:tr h="365760">
                <a:tc>
                  <a:txBody>
                    <a:bodyPr/>
                    <a:lstStyle/>
                    <a:p>
                      <a:r>
                        <a:rPr sz="900" b="0">
                          <a:solidFill>
                            <a:srgbClr val="4B4B4B"/>
                          </a:solidFill>
                          <a:latin typeface="Arial"/>
                        </a:rPr>
                        <a:t>SCR-AC-30</a:t>
                      </a:r>
                    </a:p>
                  </a:txBody>
                  <a:tcPr marL="54864" marR="54864" marT="27432" marB="27432">
                    <a:solidFill>
                      <a:srgbClr val="E5F5FF"/>
                    </a:solidFill>
                  </a:tcPr>
                </a:tc>
                <a:tc>
                  <a:txBody>
                    <a:bodyPr/>
                    <a:lstStyle/>
                    <a:p>
                      <a:r>
                        <a:rPr sz="900" b="0">
                          <a:solidFill>
                            <a:srgbClr val="4B4B4B"/>
                          </a:solidFill>
                          <a:latin typeface="Arial"/>
                        </a:rPr>
                        <a:t>Download Error File / Upload Corrected File / Discard Upload</a:t>
                      </a:r>
                    </a:p>
                  </a:txBody>
                  <a:tcPr marL="54864" marR="54864" marT="27432" marB="27432">
                    <a:solidFill>
                      <a:srgbClr val="E5F5FF"/>
                    </a:solidFill>
                  </a:tcPr>
                </a:tc>
                <a:tc>
                  <a:txBody>
                    <a:bodyPr/>
                    <a:lstStyle/>
                    <a:p>
                      <a:r>
                        <a:rPr sz="900" b="0">
                          <a:solidFill>
                            <a:srgbClr val="4B4B4B"/>
                          </a:solidFill>
                          <a:latin typeface="Arial"/>
                        </a:rPr>
                        <a:t>Same users</a:t>
                      </a:r>
                    </a:p>
                  </a:txBody>
                  <a:tcPr marL="54864" marR="54864" marT="27432" marB="27432">
                    <a:solidFill>
                      <a:srgbClr val="E5F5FF"/>
                    </a:solidFill>
                  </a:tcPr>
                </a:tc>
                <a:tc>
                  <a:txBody>
                    <a:bodyPr/>
                    <a:lstStyle/>
                    <a:p>
                      <a:r>
                        <a:rPr sz="900" b="0">
                          <a:solidFill>
                            <a:srgbClr val="4B4B4B"/>
                          </a:solidFill>
                          <a:latin typeface="Arial"/>
                        </a:rPr>
                        <a:t>Downloads the rejected rows, uploads the corrected file linked to the first, or discards the upload</a:t>
                      </a:r>
                    </a:p>
                  </a:txBody>
                  <a:tcPr marL="54864" marR="54864" marT="27432" marB="27432">
                    <a:solidFill>
                      <a:srgbClr val="E5F5FF"/>
                    </a:solidFill>
                  </a:tcPr>
                </a:tc>
              </a:tr>
              <a:tr h="228600">
                <a:tc>
                  <a:txBody>
                    <a:bodyPr/>
                    <a:lstStyle/>
                    <a:p>
                      <a:r>
                        <a:rPr sz="900" b="0">
                          <a:solidFill>
                            <a:srgbClr val="4B4B4B"/>
                          </a:solidFill>
                          <a:latin typeface="Arial"/>
                        </a:rPr>
                        <a:t>SCR-AC-31</a:t>
                      </a:r>
                    </a:p>
                  </a:txBody>
                  <a:tcPr marL="54864" marR="54864" marT="27432" marB="27432">
                    <a:solidFill>
                      <a:srgbClr val="FFFFFF"/>
                    </a:solidFill>
                  </a:tcPr>
                </a:tc>
                <a:tc>
                  <a:txBody>
                    <a:bodyPr/>
                    <a:lstStyle/>
                    <a:p>
                      <a:r>
                        <a:rPr sz="900" b="0">
                          <a:solidFill>
                            <a:srgbClr val="4B4B4B"/>
                          </a:solidFill>
                          <a:latin typeface="Arial"/>
                        </a:rPr>
                        <a:t>Output</a:t>
                      </a:r>
                    </a:p>
                  </a:txBody>
                  <a:tcPr marL="54864" marR="54864" marT="27432" marB="27432">
                    <a:solidFill>
                      <a:srgbClr val="FFFFFF"/>
                    </a:solidFill>
                  </a:tcPr>
                </a:tc>
                <a:tc>
                  <a:txBody>
                    <a:bodyPr/>
                    <a:lstStyle/>
                    <a:p>
                      <a:r>
                        <a:rPr sz="900" b="0">
                          <a:solidFill>
                            <a:srgbClr val="4B4B4B"/>
                          </a:solidFill>
                          <a:latin typeface="Arial"/>
                        </a:rPr>
                        <a:t>Disbursement users</a:t>
                      </a:r>
                    </a:p>
                  </a:txBody>
                  <a:tcPr marL="54864" marR="54864" marT="27432" marB="27432">
                    <a:solidFill>
                      <a:srgbClr val="FFFFFF"/>
                    </a:solidFill>
                  </a:tcPr>
                </a:tc>
                <a:tc>
                  <a:txBody>
                    <a:bodyPr/>
                    <a:lstStyle/>
                    <a:p>
                      <a:r>
                        <a:rPr sz="900" b="0">
                          <a:solidFill>
                            <a:srgbClr val="4B4B4B"/>
                          </a:solidFill>
                          <a:latin typeface="Arial"/>
                        </a:rPr>
                        <a:t>Downloads the file</a:t>
                      </a:r>
                    </a:p>
                  </a:txBody>
                  <a:tcPr marL="54864" marR="54864" marT="27432" marB="27432">
                    <a:solidFill>
                      <a:srgbClr val="FFFFFF"/>
                    </a:solidFill>
                  </a:tcPr>
                </a:tc>
              </a:tr>
              <a:tr h="228600">
                <a:tc>
                  <a:txBody>
                    <a:bodyPr/>
                    <a:lstStyle/>
                    <a:p>
                      <a:r>
                        <a:rPr sz="900" b="0">
                          <a:solidFill>
                            <a:srgbClr val="4B4B4B"/>
                          </a:solidFill>
                          <a:latin typeface="Arial"/>
                        </a:rPr>
                        <a:t>SCR-AC-37</a:t>
                      </a:r>
                    </a:p>
                  </a:txBody>
                  <a:tcPr marL="54864" marR="54864" marT="27432" marB="27432">
                    <a:solidFill>
                      <a:srgbClr val="E5F5FF"/>
                    </a:solidFill>
                  </a:tcPr>
                </a:tc>
                <a:tc>
                  <a:txBody>
                    <a:bodyPr/>
                    <a:lstStyle/>
                    <a:p>
                      <a:r>
                        <a:rPr sz="900" b="0">
                          <a:solidFill>
                            <a:srgbClr val="4B4B4B"/>
                          </a:solidFill>
                          <a:latin typeface="Arial"/>
                        </a:rPr>
                        <a:t>PDF / Cancel</a:t>
                      </a:r>
                    </a:p>
                  </a:txBody>
                  <a:tcPr marL="54864" marR="54864" marT="27432" marB="27432">
                    <a:solidFill>
                      <a:srgbClr val="E5F5FF"/>
                    </a:solidFill>
                  </a:tcPr>
                </a:tc>
                <a:tc>
                  <a:txBody>
                    <a:bodyPr/>
                    <a:lstStyle/>
                    <a:p>
                      <a:r>
                        <a:rPr sz="900" b="0">
                          <a:solidFill>
                            <a:srgbClr val="4B4B4B"/>
                          </a:solidFill>
                          <a:latin typeface="Arial"/>
                        </a:rPr>
                        <a:t>Same users</a:t>
                      </a:r>
                    </a:p>
                  </a:txBody>
                  <a:tcPr marL="54864" marR="54864" marT="27432" marB="27432">
                    <a:solidFill>
                      <a:srgbClr val="E5F5FF"/>
                    </a:solidFill>
                  </a:tcPr>
                </a:tc>
                <a:tc>
                  <a:txBody>
                    <a:bodyPr/>
                    <a:lstStyle/>
                    <a:p>
                      <a:r>
                        <a:rPr sz="900" b="0">
                          <a:solidFill>
                            <a:srgbClr val="4B4B4B"/>
                          </a:solidFill>
                          <a:latin typeface="Arial"/>
                        </a:rPr>
                        <a:t>Downloads the PDF, or cancels the certificate after the confirmation</a:t>
                      </a:r>
                    </a:p>
                  </a:txBody>
                  <a:tcPr marL="54864" marR="54864" marT="27432" marB="27432">
                    <a:solidFill>
                      <a:srgbClr val="E5F5FF"/>
                    </a:solidFill>
                  </a:tcPr>
                </a:tc>
              </a:tr>
              <a:tr h="228600">
                <a:tc>
                  <a:txBody>
                    <a:bodyPr/>
                    <a:lstStyle/>
                    <a:p>
                      <a:r>
                        <a:rPr sz="900" b="0">
                          <a:solidFill>
                            <a:srgbClr val="4B4B4B"/>
                          </a:solidFill>
                          <a:latin typeface="Arial"/>
                        </a:rPr>
                        <a:t>SCR-AC-49</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ACSL users</a:t>
                      </a:r>
                    </a:p>
                  </a:txBody>
                  <a:tcPr marL="54864" marR="54864" marT="27432" marB="27432">
                    <a:solidFill>
                      <a:srgbClr val="FFFFFF"/>
                    </a:solidFill>
                  </a:tcPr>
                </a:tc>
                <a:tc>
                  <a:txBody>
                    <a:bodyPr/>
                    <a:lstStyle/>
                    <a:p>
                      <a:r>
                        <a:rPr sz="900" b="0">
                          <a:solidFill>
                            <a:srgbClr val="4B4B4B"/>
                          </a:solidFill>
                          <a:latin typeface="Arial"/>
                        </a:rPr>
                        <a:t>Downloads the standard layout</a:t>
                      </a:r>
                    </a:p>
                  </a:txBody>
                  <a:tcPr marL="54864" marR="54864" marT="27432" marB="27432">
                    <a:solidFill>
                      <a:srgbClr val="FFFFFF"/>
                    </a:solidFill>
                  </a:tcPr>
                </a:tc>
              </a:tr>
              <a:tr h="228600">
                <a:tc>
                  <a:txBody>
                    <a:bodyPr/>
                    <a:lstStyle/>
                    <a:p>
                      <a:r>
                        <a:rPr sz="900" b="0">
                          <a:solidFill>
                            <a:srgbClr val="4B4B4B"/>
                          </a:solidFill>
                          <a:latin typeface="Arial"/>
                        </a:rPr>
                        <a:t>SCR-AC-50</a:t>
                      </a:r>
                    </a:p>
                  </a:txBody>
                  <a:tcPr marL="54864" marR="54864" marT="27432" marB="27432">
                    <a:solidFill>
                      <a:srgbClr val="E5F5FF"/>
                    </a:solidFill>
                  </a:tcPr>
                </a:tc>
                <a:tc>
                  <a:txBody>
                    <a:bodyPr/>
                    <a:lstStyle/>
                    <a:p>
                      <a:r>
                        <a:rPr sz="900" b="0">
                          <a:solidFill>
                            <a:srgbClr val="4B4B4B"/>
                          </a:solidFill>
                          <a:latin typeface="Arial"/>
                        </a:rPr>
                        <a:t>Download Report</a:t>
                      </a:r>
                    </a:p>
                  </a:txBody>
                  <a:tcPr marL="54864" marR="54864" marT="27432" marB="27432">
                    <a:solidFill>
                      <a:srgbClr val="E5F5FF"/>
                    </a:solidFill>
                  </a:tcPr>
                </a:tc>
                <a:tc>
                  <a:txBody>
                    <a:bodyPr/>
                    <a:lstStyle/>
                    <a:p>
                      <a:r>
                        <a:rPr sz="900" b="0">
                          <a:solidFill>
                            <a:srgbClr val="4B4B4B"/>
                          </a:solidFill>
                          <a:latin typeface="Arial"/>
                        </a:rPr>
                        <a:t>ACSL users</a:t>
                      </a:r>
                    </a:p>
                  </a:txBody>
                  <a:tcPr marL="54864" marR="54864" marT="27432" marB="27432">
                    <a:solidFill>
                      <a:srgbClr val="E5F5FF"/>
                    </a:solidFill>
                  </a:tcPr>
                </a:tc>
                <a:tc>
                  <a:txBody>
                    <a:bodyPr/>
                    <a:lstStyle/>
                    <a:p>
                      <a:r>
                        <a:rPr sz="900" b="0">
                          <a:solidFill>
                            <a:srgbClr val="4B4B4B"/>
                          </a:solidFill>
                          <a:latin typeface="Arial"/>
                        </a:rPr>
                        <a:t>Downloads the reconciliation report</a:t>
                      </a:r>
                    </a:p>
                  </a:txBody>
                  <a:tcPr marL="54864" marR="54864" marT="27432" marB="27432">
                    <a:solidFill>
                      <a:srgbClr val="E5F5FF"/>
                    </a:solidFill>
                  </a:tcPr>
                </a:tc>
              </a:tr>
            </a:tbl>
          </a:graphicData>
        </a:graphic>
      </p:graphicFrame>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624</a:t>
            </a:r>
          </a:p>
        </p:txBody>
      </p:sp>
      <p:graphicFrame>
        <p:nvGraphicFramePr>
          <p:cNvPr id="9" name="Table 8"/>
          <p:cNvGraphicFramePr>
            <a:graphicFrameLocks noGrp="1"/>
          </p:cNvGraphicFramePr>
          <p:nvPr/>
        </p:nvGraphicFramePr>
        <p:xfrm>
          <a:off x="548640" y="1325880"/>
          <a:ext cx="11094413" cy="73152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502920">
                <a:tc>
                  <a:txBody>
                    <a:bodyPr/>
                    <a:lstStyle/>
                    <a:p>
                      <a:r>
                        <a:rPr sz="900" b="0">
                          <a:solidFill>
                            <a:srgbClr val="4B4B4B"/>
                          </a:solidFill>
                          <a:latin typeface="Arial"/>
                        </a:rPr>
                        <a:t>CLR-AC-15</a:t>
                      </a:r>
                    </a:p>
                  </a:txBody>
                  <a:tcPr marL="54864" marR="54864" marT="27432" marB="27432">
                    <a:solidFill>
                      <a:srgbClr val="FFFFFF"/>
                    </a:solidFill>
                  </a:tcPr>
                </a:tc>
                <a:tc>
                  <a:txBody>
                    <a:bodyPr/>
                    <a:lstStyle/>
                    <a:p>
                      <a:r>
                        <a:rPr sz="900" b="0">
                          <a:solidFill>
                            <a:srgbClr val="4B4B4B"/>
                          </a:solidFill>
                          <a:latin typeface="Arial"/>
                        </a:rPr>
                        <a:t>Bank reconciliation by the GL team (FRBS 3.3.0; FR-AC-050)</a:t>
                      </a:r>
                    </a:p>
                  </a:txBody>
                  <a:tcPr marL="54864" marR="54864" marT="27432" marB="27432">
                    <a:solidFill>
                      <a:srgbClr val="FFFFFF"/>
                    </a:solidFill>
                  </a:tcPr>
                </a:tc>
                <a:tc>
                  <a:txBody>
                    <a:bodyPr/>
                    <a:lstStyle/>
                    <a:p>
                      <a:r>
                        <a:rPr sz="900" b="0">
                          <a:solidFill>
                            <a:srgbClr val="4B4B4B"/>
                          </a:solidFill>
                          <a:latin typeface="Arial"/>
                        </a:rPr>
                        <a:t>The bank statements, the statement layouts and the bank reconciliation are opened with the bank reconciliation permission, held today by the Accountant and the Finance Manager roles; the GL roles do not hold it.</a:t>
                      </a:r>
                    </a:p>
                  </a:txBody>
                  <a:tcPr marL="54864" marR="54864" marT="27432" marB="27432">
                    <a:solidFill>
                      <a:srgbClr val="FFFFFF"/>
                    </a:solidFill>
                  </a:tcPr>
                </a:tc>
                <a:tc>
                  <a:txBody>
                    <a:bodyPr/>
                    <a:lstStyle/>
                    <a:p>
                      <a:r>
                        <a:rPr sz="900" b="0">
                          <a:solidFill>
                            <a:srgbClr val="4B4B4B"/>
                          </a:solidFill>
                          <a:latin typeface="Arial"/>
                        </a:rPr>
                        <a:t>Confirm who reconciles the bank accounts, and the grant of the bank reconciliation permission to the GL Officer and the GL Team Lead.</a:t>
                      </a:r>
                    </a:p>
                  </a:txBody>
                  <a:tcPr marL="54864" marR="54864" marT="27432" marB="27432">
                    <a:solidFill>
                      <a:srgbClr val="FFFFFF"/>
                    </a:solidFill>
                  </a:tcPr>
                </a:tc>
              </a:tr>
            </a:tbl>
          </a:graphicData>
        </a:graphic>
      </p:graphicFrame>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Screen observations: proposals for the UX Design team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625</a:t>
            </a:r>
          </a:p>
        </p:txBody>
      </p:sp>
      <p:graphicFrame>
        <p:nvGraphicFramePr>
          <p:cNvPr id="9" name="Table 8"/>
          <p:cNvGraphicFramePr>
            <a:graphicFrameLocks noGrp="1"/>
          </p:cNvGraphicFramePr>
          <p:nvPr/>
        </p:nvGraphicFramePr>
        <p:xfrm>
          <a:off x="548640" y="1325880"/>
          <a:ext cx="11094413" cy="475488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UX-AC-01</a:t>
                      </a:r>
                    </a:p>
                  </a:txBody>
                  <a:tcPr marL="54864" marR="54864" marT="27432" marB="27432">
                    <a:solidFill>
                      <a:srgbClr val="FFFFFF"/>
                    </a:solidFill>
                  </a:tcPr>
                </a:tc>
                <a:tc>
                  <a:txBody>
                    <a:bodyPr/>
                    <a:lstStyle/>
                    <a:p>
                      <a:r>
                        <a:rPr sz="900" b="0">
                          <a:solidFill>
                            <a:srgbClr val="4B4B4B"/>
                          </a:solidFill>
                          <a:latin typeface="Arial"/>
                        </a:rPr>
                        <a:t>SCR-AC-02, SCR-AC-27</a:t>
                      </a:r>
                    </a:p>
                  </a:txBody>
                  <a:tcPr marL="54864" marR="54864" marT="27432" marB="27432">
                    <a:solidFill>
                      <a:srgbClr val="FFFFFF"/>
                    </a:solidFill>
                  </a:tcPr>
                </a:tc>
                <a:tc>
                  <a:txBody>
                    <a:bodyPr/>
                    <a:lstStyle/>
                    <a:p>
                      <a:r>
                        <a:rPr sz="900" b="0">
                          <a:solidFill>
                            <a:srgbClr val="4B4B4B"/>
                          </a:solidFill>
                          <a:latin typeface="Arial"/>
                        </a:rPr>
                        <a:t>The lines of a journal voucher and the accounting entry of a disbursement voucher take the GL account by its code (with a list of accounts as the user types); the account name shows under the code once it is entered.</a:t>
                      </a:r>
                    </a:p>
                  </a:txBody>
                  <a:tcPr marL="54864" marR="54864" marT="27432" marB="27432">
                    <a:solidFill>
                      <a:srgbClr val="FFFFFF"/>
                    </a:solidFill>
                  </a:tcPr>
                </a:tc>
                <a:tc>
                  <a:txBody>
                    <a:bodyPr/>
                    <a:lstStyle/>
                    <a:p>
                      <a:r>
                        <a:rPr sz="900" b="0">
                          <a:solidFill>
                            <a:srgbClr val="4B4B4B"/>
                          </a:solidFill>
                          <a:latin typeface="Arial"/>
                        </a:rPr>
                        <a:t>Offer the account as a search by number or name that shows both, as the account inquiry does, and keep the code typed by the users who know it.</a:t>
                      </a:r>
                    </a:p>
                  </a:txBody>
                  <a:tcPr marL="54864" marR="54864" marT="27432" marB="27432">
                    <a:solidFill>
                      <a:srgbClr val="FFFFFF"/>
                    </a:solidFill>
                  </a:tcPr>
                </a:tc>
              </a:tr>
              <a:tr h="640080">
                <a:tc>
                  <a:txBody>
                    <a:bodyPr/>
                    <a:lstStyle/>
                    <a:p>
                      <a:r>
                        <a:rPr sz="900" b="0">
                          <a:solidFill>
                            <a:srgbClr val="4B4B4B"/>
                          </a:solidFill>
                          <a:latin typeface="Arial"/>
                        </a:rPr>
                        <a:t>UX-AC-02</a:t>
                      </a:r>
                    </a:p>
                  </a:txBody>
                  <a:tcPr marL="54864" marR="54864" marT="27432" marB="27432">
                    <a:solidFill>
                      <a:srgbClr val="E5F5FF"/>
                    </a:solidFill>
                  </a:tcPr>
                </a:tc>
                <a:tc>
                  <a:txBody>
                    <a:bodyPr/>
                    <a:lstStyle/>
                    <a:p>
                      <a:r>
                        <a:rPr sz="900" b="0">
                          <a:solidFill>
                            <a:srgbClr val="4B4B4B"/>
                          </a:solidFill>
                          <a:latin typeface="Arial"/>
                        </a:rPr>
                        <a:t>SCR-AC-09</a:t>
                      </a:r>
                    </a:p>
                  </a:txBody>
                  <a:tcPr marL="54864" marR="54864" marT="27432" marB="27432">
                    <a:solidFill>
                      <a:srgbClr val="E5F5FF"/>
                    </a:solidFill>
                  </a:tcPr>
                </a:tc>
                <a:tc>
                  <a:txBody>
                    <a:bodyPr/>
                    <a:lstStyle/>
                    <a:p>
                      <a:r>
                        <a:rPr sz="900" b="0">
                          <a:solidFill>
                            <a:srgbClr val="4B4B4B"/>
                          </a:solidFill>
                          <a:latin typeface="Arial"/>
                        </a:rPr>
                        <a:t>A cost-centre rule shows what it applies to as the source module and event codes of the accounting engine (the service-fee accrual of FRBS shows as two codes), and the form takes the source module, GL account and party as typed codes.</a:t>
                      </a:r>
                    </a:p>
                  </a:txBody>
                  <a:tcPr marL="54864" marR="54864" marT="27432" marB="27432">
                    <a:solidFill>
                      <a:srgbClr val="E5F5FF"/>
                    </a:solidFill>
                  </a:tcPr>
                </a:tc>
                <a:tc>
                  <a:txBody>
                    <a:bodyPr/>
                    <a:lstStyle/>
                    <a:p>
                      <a:r>
                        <a:rPr sz="900" b="0">
                          <a:solidFill>
                            <a:srgbClr val="4B4B4B"/>
                          </a:solidFill>
                          <a:latin typeface="Arial"/>
                        </a:rPr>
                        <a:t>Name the module and the event in words in the list, and offer them, the GL account and the party as drop-downs or searches by name in the form.</a:t>
                      </a:r>
                    </a:p>
                  </a:txBody>
                  <a:tcPr marL="54864" marR="54864" marT="27432" marB="27432">
                    <a:solidFill>
                      <a:srgbClr val="E5F5FF"/>
                    </a:solidFill>
                  </a:tcPr>
                </a:tc>
              </a:tr>
              <a:tr h="640080">
                <a:tc>
                  <a:txBody>
                    <a:bodyPr/>
                    <a:lstStyle/>
                    <a:p>
                      <a:r>
                        <a:rPr sz="900" b="0">
                          <a:solidFill>
                            <a:srgbClr val="4B4B4B"/>
                          </a:solidFill>
                          <a:latin typeface="Arial"/>
                        </a:rPr>
                        <a:t>UX-AC-03</a:t>
                      </a:r>
                    </a:p>
                  </a:txBody>
                  <a:tcPr marL="54864" marR="54864" marT="27432" marB="27432">
                    <a:solidFill>
                      <a:srgbClr val="FFFFFF"/>
                    </a:solidFill>
                  </a:tcPr>
                </a:tc>
                <a:tc>
                  <a:txBody>
                    <a:bodyPr/>
                    <a:lstStyle/>
                    <a:p>
                      <a:r>
                        <a:rPr sz="900" b="0">
                          <a:solidFill>
                            <a:srgbClr val="4B4B4B"/>
                          </a:solidFill>
                          <a:latin typeface="Arial"/>
                        </a:rPr>
                        <a:t>SCR-AC-05, SCR-AC-13, SCR-AC-25, SCR-AC-46, SCR-AC-48</a:t>
                      </a:r>
                    </a:p>
                  </a:txBody>
                  <a:tcPr marL="54864" marR="54864" marT="27432" marB="27432">
                    <a:solidFill>
                      <a:srgbClr val="FFFFFF"/>
                    </a:solidFill>
                  </a:tcPr>
                </a:tc>
                <a:tc>
                  <a:txBody>
                    <a:bodyPr/>
                    <a:lstStyle/>
                    <a:p>
                      <a:r>
                        <a:rPr sz="900" b="0">
                          <a:solidFill>
                            <a:srgbClr val="4B4B4B"/>
                          </a:solidFill>
                          <a:latin typeface="Arial"/>
                        </a:rPr>
                        <a:t>Parties appear by their codes in several tables: the party code to look up on Party Statement, the party of the foreign-currency open items of FX Revaluation, the payee code under the payee name on the workbench and the client and party codes of the ACSL case and the posted lines of a correction.</a:t>
                      </a:r>
                    </a:p>
                  </a:txBody>
                  <a:tcPr marL="54864" marR="54864" marT="27432" marB="27432">
                    <a:solidFill>
                      <a:srgbClr val="FFFFFF"/>
                    </a:solidFill>
                  </a:tcPr>
                </a:tc>
                <a:tc>
                  <a:txBody>
                    <a:bodyPr/>
                    <a:lstStyle/>
                    <a:p>
                      <a:r>
                        <a:rPr sz="900" b="0">
                          <a:solidFill>
                            <a:srgbClr val="4B4B4B"/>
                          </a:solidFill>
                          <a:latin typeface="Arial"/>
                        </a:rPr>
                        <a:t>Show the party name first with the code as a second line, and let Party Statement search by name as well as by code.</a:t>
                      </a:r>
                    </a:p>
                  </a:txBody>
                  <a:tcPr marL="54864" marR="54864" marT="27432" marB="27432">
                    <a:solidFill>
                      <a:srgbClr val="FFFFFF"/>
                    </a:solidFill>
                  </a:tcPr>
                </a:tc>
              </a:tr>
              <a:tr h="640080">
                <a:tc>
                  <a:txBody>
                    <a:bodyPr/>
                    <a:lstStyle/>
                    <a:p>
                      <a:r>
                        <a:rPr sz="900" b="0">
                          <a:solidFill>
                            <a:srgbClr val="4B4B4B"/>
                          </a:solidFill>
                          <a:latin typeface="Arial"/>
                        </a:rPr>
                        <a:t>UX-AC-04</a:t>
                      </a:r>
                    </a:p>
                  </a:txBody>
                  <a:tcPr marL="54864" marR="54864" marT="27432" marB="27432">
                    <a:solidFill>
                      <a:srgbClr val="E5F5FF"/>
                    </a:solidFill>
                  </a:tcPr>
                </a:tc>
                <a:tc>
                  <a:txBody>
                    <a:bodyPr/>
                    <a:lstStyle/>
                    <a:p>
                      <a:r>
                        <a:rPr sz="900" b="0">
                          <a:solidFill>
                            <a:srgbClr val="4B4B4B"/>
                          </a:solidFill>
                          <a:latin typeface="Arial"/>
                        </a:rPr>
                        <a:t>SCR-AC-06, SCR-AC-35, SCR-AC-15, SCR-AC-22</a:t>
                      </a:r>
                    </a:p>
                  </a:txBody>
                  <a:tcPr marL="54864" marR="54864" marT="27432" marB="27432">
                    <a:solidFill>
                      <a:srgbClr val="E5F5FF"/>
                    </a:solidFill>
                  </a:tcPr>
                </a:tc>
                <a:tc>
                  <a:txBody>
                    <a:bodyPr/>
                    <a:lstStyle/>
                    <a:p>
                      <a:r>
                        <a:rPr sz="900" b="0">
                          <a:solidFill>
                            <a:srgbClr val="4B4B4B"/>
                          </a:solidFill>
                          <a:latin typeface="Arial"/>
                        </a:rPr>
                        <a:t>Some masters show short codes where the business knows a name: the tier of an account (GROUP, MAIN, SUB), the branch and cost centre of an employee (HO, MKT), the bank account of an imported statement (1111) and the segment, sales unit and cost centre under the recipient of a service-fee line.</a:t>
                      </a:r>
                    </a:p>
                  </a:txBody>
                  <a:tcPr marL="54864" marR="54864" marT="27432" marB="27432">
                    <a:solidFill>
                      <a:srgbClr val="E5F5FF"/>
                    </a:solidFill>
                  </a:tcPr>
                </a:tc>
                <a:tc>
                  <a:txBody>
                    <a:bodyPr/>
                    <a:lstStyle/>
                    <a:p>
                      <a:r>
                        <a:rPr sz="900" b="0">
                          <a:solidFill>
                            <a:srgbClr val="4B4B4B"/>
                          </a:solidFill>
                          <a:latin typeface="Arial"/>
                        </a:rPr>
                        <a:t>Show the names (Head Office, Marketing, Cash in Bank - BDO Current Account) with the code in a second line or a tooltip.</a:t>
                      </a:r>
                    </a:p>
                  </a:txBody>
                  <a:tcPr marL="54864" marR="54864" marT="27432" marB="27432">
                    <a:solidFill>
                      <a:srgbClr val="E5F5FF"/>
                    </a:solidFill>
                  </a:tcPr>
                </a:tc>
              </a:tr>
              <a:tr h="365760">
                <a:tc>
                  <a:txBody>
                    <a:bodyPr/>
                    <a:lstStyle/>
                    <a:p>
                      <a:r>
                        <a:rPr sz="900" b="0">
                          <a:solidFill>
                            <a:srgbClr val="4B4B4B"/>
                          </a:solidFill>
                          <a:latin typeface="Arial"/>
                        </a:rPr>
                        <a:t>UX-AC-05</a:t>
                      </a:r>
                    </a:p>
                  </a:txBody>
                  <a:tcPr marL="54864" marR="54864" marT="27432" marB="27432">
                    <a:solidFill>
                      <a:srgbClr val="FFFFFF"/>
                    </a:solidFill>
                  </a:tcPr>
                </a:tc>
                <a:tc>
                  <a:txBody>
                    <a:bodyPr/>
                    <a:lstStyle/>
                    <a:p>
                      <a:r>
                        <a:rPr sz="900" b="0">
                          <a:solidFill>
                            <a:srgbClr val="4B4B4B"/>
                          </a:solidFill>
                          <a:latin typeface="Arial"/>
                        </a:rPr>
                        <a:t>SCR-AC-19, SCR-AC-24</a:t>
                      </a:r>
                    </a:p>
                  </a:txBody>
                  <a:tcPr marL="54864" marR="54864" marT="27432" marB="27432">
                    <a:solidFill>
                      <a:srgbClr val="FFFFFF"/>
                    </a:solidFill>
                  </a:tcPr>
                </a:tc>
                <a:tc>
                  <a:txBody>
                    <a:bodyPr/>
                    <a:lstStyle/>
                    <a:p>
                      <a:r>
                        <a:rPr sz="900" b="0">
                          <a:solidFill>
                            <a:srgbClr val="4B4B4B"/>
                          </a:solidFill>
                          <a:latin typeface="Arial"/>
                        </a:rPr>
                        <a:t>Report Pack and BIR Forms and Books show the formats of each report as tags and again as one export button per format in every row.</a:t>
                      </a:r>
                    </a:p>
                  </a:txBody>
                  <a:tcPr marL="54864" marR="54864" marT="27432" marB="27432">
                    <a:solidFill>
                      <a:srgbClr val="FFFFFF"/>
                    </a:solidFill>
                  </a:tcPr>
                </a:tc>
                <a:tc>
                  <a:txBody>
                    <a:bodyPr/>
                    <a:lstStyle/>
                    <a:p>
                      <a:r>
                        <a:rPr sz="900" b="0">
                          <a:solidFill>
                            <a:srgbClr val="4B4B4B"/>
                          </a:solidFill>
                          <a:latin typeface="Arial"/>
                        </a:rPr>
                        <a:t>Keep one Export action per row (a menu with the formats offered), or keep the buttons and drop the format tags.</a:t>
                      </a:r>
                    </a:p>
                  </a:txBody>
                  <a:tcPr marL="54864" marR="54864" marT="27432" marB="27432">
                    <a:solidFill>
                      <a:srgbClr val="FFFFFF"/>
                    </a:solidFill>
                  </a:tcPr>
                </a:tc>
              </a:tr>
              <a:tr h="502920">
                <a:tc>
                  <a:txBody>
                    <a:bodyPr/>
                    <a:lstStyle/>
                    <a:p>
                      <a:r>
                        <a:rPr sz="900" b="0">
                          <a:solidFill>
                            <a:srgbClr val="4B4B4B"/>
                          </a:solidFill>
                          <a:latin typeface="Arial"/>
                        </a:rPr>
                        <a:t>UX-AC-06</a:t>
                      </a:r>
                    </a:p>
                  </a:txBody>
                  <a:tcPr marL="54864" marR="54864" marT="27432" marB="27432">
                    <a:solidFill>
                      <a:srgbClr val="E5F5FF"/>
                    </a:solidFill>
                  </a:tcPr>
                </a:tc>
                <a:tc>
                  <a:txBody>
                    <a:bodyPr/>
                    <a:lstStyle/>
                    <a:p>
                      <a:r>
                        <a:rPr sz="900" b="0">
                          <a:solidFill>
                            <a:srgbClr val="4B4B4B"/>
                          </a:solidFill>
                          <a:latin typeface="Arial"/>
                        </a:rPr>
                        <a:t>SCR-AC-16</a:t>
                      </a:r>
                    </a:p>
                  </a:txBody>
                  <a:tcPr marL="54864" marR="54864" marT="27432" marB="27432">
                    <a:solidFill>
                      <a:srgbClr val="E5F5FF"/>
                    </a:solidFill>
                  </a:tcPr>
                </a:tc>
                <a:tc>
                  <a:txBody>
                    <a:bodyPr/>
                    <a:lstStyle/>
                    <a:p>
                      <a:r>
                        <a:rPr sz="900" b="0">
                          <a:solidFill>
                            <a:srgbClr val="4B4B4B"/>
                          </a:solidFill>
                          <a:latin typeface="Arial"/>
                        </a:rPr>
                        <a:t>The match workbench shows the book entries and the bank lines side by side; with long narrations the two tables are narrow and the amounts are cut at the standard window width. The matches table has an Undo column of buttons.</a:t>
                      </a:r>
                    </a:p>
                  </a:txBody>
                  <a:tcPr marL="54864" marR="54864" marT="27432" marB="27432">
                    <a:solidFill>
                      <a:srgbClr val="E5F5FF"/>
                    </a:solidFill>
                  </a:tcPr>
                </a:tc>
                <a:tc>
                  <a:txBody>
                    <a:bodyPr/>
                    <a:lstStyle/>
                    <a:p>
                      <a:r>
                        <a:rPr sz="900" b="0">
                          <a:solidFill>
                            <a:srgbClr val="4B4B4B"/>
                          </a:solidFill>
                          <a:latin typeface="Arial"/>
                        </a:rPr>
                        <a:t>Stack the two lists on narrow windows or let the narration wrap under the reference; move Undo into a row menu with a confirmation, as on the other lists.</a:t>
                      </a:r>
                    </a:p>
                  </a:txBody>
                  <a:tcPr marL="54864" marR="54864" marT="27432" marB="27432">
                    <a:solidFill>
                      <a:srgbClr val="E5F5FF"/>
                    </a:solidFill>
                  </a:tcPr>
                </a:tc>
              </a:tr>
              <a:tr h="365760">
                <a:tc>
                  <a:txBody>
                    <a:bodyPr/>
                    <a:lstStyle/>
                    <a:p>
                      <a:r>
                        <a:rPr sz="900" b="0">
                          <a:solidFill>
                            <a:srgbClr val="4B4B4B"/>
                          </a:solidFill>
                          <a:latin typeface="Arial"/>
                        </a:rPr>
                        <a:t>UX-AC-07</a:t>
                      </a:r>
                    </a:p>
                  </a:txBody>
                  <a:tcPr marL="54864" marR="54864" marT="27432" marB="27432">
                    <a:solidFill>
                      <a:srgbClr val="FFFFFF"/>
                    </a:solidFill>
                  </a:tcPr>
                </a:tc>
                <a:tc>
                  <a:txBody>
                    <a:bodyPr/>
                    <a:lstStyle/>
                    <a:p>
                      <a:r>
                        <a:rPr sz="900" b="0">
                          <a:solidFill>
                            <a:srgbClr val="4B4B4B"/>
                          </a:solidFill>
                          <a:latin typeface="Arial"/>
                        </a:rPr>
                        <a:t>SCR-AC-22, SCR-AC-23</a:t>
                      </a:r>
                    </a:p>
                  </a:txBody>
                  <a:tcPr marL="54864" marR="54864" marT="27432" marB="27432">
                    <a:solidFill>
                      <a:srgbClr val="FFFFFF"/>
                    </a:solidFill>
                  </a:tcPr>
                </a:tc>
                <a:tc>
                  <a:txBody>
                    <a:bodyPr/>
                    <a:lstStyle/>
                    <a:p>
                      <a:r>
                        <a:rPr sz="900" b="0">
                          <a:solidFill>
                            <a:srgbClr val="4B4B4B"/>
                          </a:solidFill>
                          <a:latin typeface="Arial"/>
                        </a:rPr>
                        <a:t>The service-fee rate form takes the market segments as comma-separated codes (CBG,RETAIL).</a:t>
                      </a:r>
                    </a:p>
                  </a:txBody>
                  <a:tcPr marL="54864" marR="54864" marT="27432" marB="27432">
                    <a:solidFill>
                      <a:srgbClr val="FFFFFF"/>
                    </a:solidFill>
                  </a:tcPr>
                </a:tc>
                <a:tc>
                  <a:txBody>
                    <a:bodyPr/>
                    <a:lstStyle/>
                    <a:p>
                      <a:r>
                        <a:rPr sz="900" b="0">
                          <a:solidFill>
                            <a:srgbClr val="4B4B4B"/>
                          </a:solidFill>
                          <a:latin typeface="Arial"/>
                        </a:rPr>
                        <a:t>Offer the market segments as a multi-select of their names.</a:t>
                      </a:r>
                    </a:p>
                  </a:txBody>
                  <a:tcPr marL="54864" marR="54864" marT="27432" marB="27432">
                    <a:solidFill>
                      <a:srgbClr val="FFFFFF"/>
                    </a:solidFill>
                  </a:tcPr>
                </a:tc>
              </a:tr>
              <a:tr h="502920">
                <a:tc>
                  <a:txBody>
                    <a:bodyPr/>
                    <a:lstStyle/>
                    <a:p>
                      <a:r>
                        <a:rPr sz="900" b="0">
                          <a:solidFill>
                            <a:srgbClr val="4B4B4B"/>
                          </a:solidFill>
                          <a:latin typeface="Arial"/>
                        </a:rPr>
                        <a:t>UX-AC-08</a:t>
                      </a:r>
                    </a:p>
                  </a:txBody>
                  <a:tcPr marL="54864" marR="54864" marT="27432" marB="27432">
                    <a:solidFill>
                      <a:srgbClr val="E5F5FF"/>
                    </a:solidFill>
                  </a:tcPr>
                </a:tc>
                <a:tc>
                  <a:txBody>
                    <a:bodyPr/>
                    <a:lstStyle/>
                    <a:p>
                      <a:r>
                        <a:rPr sz="900" b="0">
                          <a:solidFill>
                            <a:srgbClr val="4B4B4B"/>
                          </a:solidFill>
                          <a:latin typeface="Arial"/>
                        </a:rPr>
                        <a:t>SCR-AC-40</a:t>
                      </a:r>
                    </a:p>
                  </a:txBody>
                  <a:tcPr marL="54864" marR="54864" marT="27432" marB="27432">
                    <a:solidFill>
                      <a:srgbClr val="E5F5FF"/>
                    </a:solidFill>
                  </a:tcPr>
                </a:tc>
                <a:tc>
                  <a:txBody>
                    <a:bodyPr/>
                    <a:lstStyle/>
                    <a:p>
                      <a:r>
                        <a:rPr sz="900" b="0">
                          <a:solidFill>
                            <a:srgbClr val="4B4B4B"/>
                          </a:solidFill>
                          <a:latin typeface="Arial"/>
                        </a:rPr>
                        <a:t>On New Refund Request the segment is free text, and the accounts to refund are a wide table of inputs that scrolls inside its card at the standard window width.</a:t>
                      </a:r>
                    </a:p>
                  </a:txBody>
                  <a:tcPr marL="54864" marR="54864" marT="27432" marB="27432">
                    <a:solidFill>
                      <a:srgbClr val="E5F5FF"/>
                    </a:solidFill>
                  </a:tcPr>
                </a:tc>
                <a:tc>
                  <a:txBody>
                    <a:bodyPr/>
                    <a:lstStyle/>
                    <a:p>
                      <a:r>
                        <a:rPr sz="900" b="0">
                          <a:solidFill>
                            <a:srgbClr val="4B4B4B"/>
                          </a:solidFill>
                          <a:latin typeface="Arial"/>
                        </a:rPr>
                        <a:t>Offer the segment as a drop-down of the segments of the list of values, and consider one card per account to refund (or a dialog per line) instead of a table of inputs.</a:t>
                      </a:r>
                    </a:p>
                  </a:txBody>
                  <a:tcPr marL="54864" marR="54864" marT="27432" marB="27432">
                    <a:solidFill>
                      <a:srgbClr val="E5F5FF"/>
                    </a:solidFill>
                  </a:tcPr>
                </a:tc>
              </a:tr>
              <a:tr h="365760">
                <a:tc>
                  <a:txBody>
                    <a:bodyPr/>
                    <a:lstStyle/>
                    <a:p>
                      <a:r>
                        <a:rPr sz="900" b="0">
                          <a:solidFill>
                            <a:srgbClr val="4B4B4B"/>
                          </a:solidFill>
                          <a:latin typeface="Arial"/>
                        </a:rPr>
                        <a:t>UX-AC-09</a:t>
                      </a:r>
                    </a:p>
                  </a:txBody>
                  <a:tcPr marL="54864" marR="54864" marT="27432" marB="27432">
                    <a:solidFill>
                      <a:srgbClr val="FFFFFF"/>
                    </a:solidFill>
                  </a:tcPr>
                </a:tc>
                <a:tc>
                  <a:txBody>
                    <a:bodyPr/>
                    <a:lstStyle/>
                    <a:p>
                      <a:r>
                        <a:rPr sz="900" b="0">
                          <a:solidFill>
                            <a:srgbClr val="4B4B4B"/>
                          </a:solidFill>
                          <a:latin typeface="Arial"/>
                        </a:rPr>
                        <a:t>SCR-AC-36</a:t>
                      </a:r>
                    </a:p>
                  </a:txBody>
                  <a:tcPr marL="54864" marR="54864" marT="27432" marB="27432">
                    <a:solidFill>
                      <a:srgbClr val="FFFFFF"/>
                    </a:solidFill>
                  </a:tcPr>
                </a:tc>
                <a:tc>
                  <a:txBody>
                    <a:bodyPr/>
                    <a:lstStyle/>
                    <a:p>
                      <a:r>
                        <a:rPr sz="900" b="0">
                          <a:solidFill>
                            <a:srgbClr val="4B4B4B"/>
                          </a:solidFill>
                          <a:latin typeface="Arial"/>
                        </a:rPr>
                        <a:t>Record Certificate Received asks for the withholding agent as an insurer code.</a:t>
                      </a:r>
                    </a:p>
                  </a:txBody>
                  <a:tcPr marL="54864" marR="54864" marT="27432" marB="27432">
                    <a:solidFill>
                      <a:srgbClr val="FFFFFF"/>
                    </a:solidFill>
                  </a:tcPr>
                </a:tc>
                <a:tc>
                  <a:txBody>
                    <a:bodyPr/>
                    <a:lstStyle/>
                    <a:p>
                      <a:r>
                        <a:rPr sz="900" b="0">
                          <a:solidFill>
                            <a:srgbClr val="4B4B4B"/>
                          </a:solidFill>
                          <a:latin typeface="Arial"/>
                        </a:rPr>
                        <a:t>Offer the insurer by name, as the insurer statement upload does.</a:t>
                      </a:r>
                    </a:p>
                  </a:txBody>
                  <a:tcPr marL="54864" marR="54864" marT="27432" marB="27432">
                    <a:solidFill>
                      <a:srgbClr val="FFFFFF"/>
                    </a:solidFill>
                  </a:tcPr>
                </a:tc>
              </a:tr>
            </a:tbl>
          </a:graphicData>
        </a:graphic>
      </p:graphicFrame>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Screen observations: proposals for the UX Design team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626</a:t>
            </a:r>
          </a:p>
        </p:txBody>
      </p:sp>
      <p:graphicFrame>
        <p:nvGraphicFramePr>
          <p:cNvPr id="9" name="Table 8"/>
          <p:cNvGraphicFramePr>
            <a:graphicFrameLocks noGrp="1"/>
          </p:cNvGraphicFramePr>
          <p:nvPr/>
        </p:nvGraphicFramePr>
        <p:xfrm>
          <a:off x="548640" y="1325880"/>
          <a:ext cx="11094413" cy="233172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UX-AC-10</a:t>
                      </a:r>
                    </a:p>
                  </a:txBody>
                  <a:tcPr marL="54864" marR="54864" marT="27432" marB="27432">
                    <a:solidFill>
                      <a:srgbClr val="FFFFFF"/>
                    </a:solidFill>
                  </a:tcPr>
                </a:tc>
                <a:tc>
                  <a:txBody>
                    <a:bodyPr/>
                    <a:lstStyle/>
                    <a:p>
                      <a:r>
                        <a:rPr sz="900" b="0">
                          <a:solidFill>
                            <a:srgbClr val="4B4B4B"/>
                          </a:solidFill>
                          <a:latin typeface="Arial"/>
                        </a:rPr>
                        <a:t>SCR-AC-03, SCR-AC-43, SCR-AC-46</a:t>
                      </a:r>
                    </a:p>
                  </a:txBody>
                  <a:tcPr marL="54864" marR="54864" marT="27432" marB="27432">
                    <a:solidFill>
                      <a:srgbClr val="FFFFFF"/>
                    </a:solidFill>
                  </a:tcPr>
                </a:tc>
                <a:tc>
                  <a:txBody>
                    <a:bodyPr/>
                    <a:lstStyle/>
                    <a:p>
                      <a:r>
                        <a:rPr sz="900" b="0">
                          <a:solidFill>
                            <a:srgbClr val="4B4B4B"/>
                          </a:solidFill>
                          <a:latin typeface="Arial"/>
                        </a:rPr>
                        <a:t>The attachments panel of a record lists the SHA-256 checksum of each file; the panel is shared by every record of BIBS.</a:t>
                      </a:r>
                    </a:p>
                  </a:txBody>
                  <a:tcPr marL="54864" marR="54864" marT="27432" marB="27432">
                    <a:solidFill>
                      <a:srgbClr val="FFFFFF"/>
                    </a:solidFill>
                  </a:tcPr>
                </a:tc>
                <a:tc>
                  <a:txBody>
                    <a:bodyPr/>
                    <a:lstStyle/>
                    <a:p>
                      <a:r>
                        <a:rPr sz="900" b="0">
                          <a:solidFill>
                            <a:srgbClr val="4B4B4B"/>
                          </a:solidFill>
                          <a:latin typeface="Arial"/>
                        </a:rPr>
                        <a:t>Keep the checksum in the audit trail and leave it out of the table the business reads, for every set at once.</a:t>
                      </a:r>
                    </a:p>
                  </a:txBody>
                  <a:tcPr marL="54864" marR="54864" marT="27432" marB="27432">
                    <a:solidFill>
                      <a:srgbClr val="FFFFFF"/>
                    </a:solidFill>
                  </a:tcPr>
                </a:tc>
              </a:tr>
              <a:tr h="365760">
                <a:tc>
                  <a:txBody>
                    <a:bodyPr/>
                    <a:lstStyle/>
                    <a:p>
                      <a:r>
                        <a:rPr sz="900" b="0">
                          <a:solidFill>
                            <a:srgbClr val="4B4B4B"/>
                          </a:solidFill>
                          <a:latin typeface="Arial"/>
                        </a:rPr>
                        <a:t>UX-AC-11</a:t>
                      </a:r>
                    </a:p>
                  </a:txBody>
                  <a:tcPr marL="54864" marR="54864" marT="27432" marB="27432">
                    <a:solidFill>
                      <a:srgbClr val="E5F5FF"/>
                    </a:solidFill>
                  </a:tcPr>
                </a:tc>
                <a:tc>
                  <a:txBody>
                    <a:bodyPr/>
                    <a:lstStyle/>
                    <a:p>
                      <a:r>
                        <a:rPr sz="900" b="0">
                          <a:solidFill>
                            <a:srgbClr val="4B4B4B"/>
                          </a:solidFill>
                          <a:latin typeface="Arial"/>
                        </a:rPr>
                        <a:t>SCR-AC-46</a:t>
                      </a:r>
                    </a:p>
                  </a:txBody>
                  <a:tcPr marL="54864" marR="54864" marT="27432" marB="27432">
                    <a:solidFill>
                      <a:srgbClr val="E5F5FF"/>
                    </a:solidFill>
                  </a:tcPr>
                </a:tc>
                <a:tc>
                  <a:txBody>
                    <a:bodyPr/>
                    <a:lstStyle/>
                    <a:p>
                      <a:r>
                        <a:rPr sz="900" b="0">
                          <a:solidFill>
                            <a:srgbClr val="4B4B4B"/>
                          </a:solidFill>
                          <a:latin typeface="Arial"/>
                        </a:rPr>
                        <a:t>A case sent for correction shows the status pill Correction while its stepper shows Sent for Correction.</a:t>
                      </a:r>
                    </a:p>
                  </a:txBody>
                  <a:tcPr marL="54864" marR="54864" marT="27432" marB="27432">
                    <a:solidFill>
                      <a:srgbClr val="E5F5FF"/>
                    </a:solidFill>
                  </a:tcPr>
                </a:tc>
                <a:tc>
                  <a:txBody>
                    <a:bodyPr/>
                    <a:lstStyle/>
                    <a:p>
                      <a:r>
                        <a:rPr sz="900" b="0">
                          <a:solidFill>
                            <a:srgbClr val="4B4B4B"/>
                          </a:solidFill>
                          <a:latin typeface="Arial"/>
                        </a:rPr>
                        <a:t>Use the stepper's wording on the status pill.</a:t>
                      </a:r>
                    </a:p>
                  </a:txBody>
                  <a:tcPr marL="54864" marR="54864" marT="27432" marB="27432">
                    <a:solidFill>
                      <a:srgbClr val="E5F5FF"/>
                    </a:solidFill>
                  </a:tcPr>
                </a:tc>
              </a:tr>
              <a:tr h="502920">
                <a:tc>
                  <a:txBody>
                    <a:bodyPr/>
                    <a:lstStyle/>
                    <a:p>
                      <a:r>
                        <a:rPr sz="900" b="0">
                          <a:solidFill>
                            <a:srgbClr val="4B4B4B"/>
                          </a:solidFill>
                          <a:latin typeface="Arial"/>
                        </a:rPr>
                        <a:t>UX-AC-12</a:t>
                      </a:r>
                    </a:p>
                  </a:txBody>
                  <a:tcPr marL="54864" marR="54864" marT="27432" marB="27432">
                    <a:solidFill>
                      <a:srgbClr val="FFFFFF"/>
                    </a:solidFill>
                  </a:tcPr>
                </a:tc>
                <a:tc>
                  <a:txBody>
                    <a:bodyPr/>
                    <a:lstStyle/>
                    <a:p>
                      <a:r>
                        <a:rPr sz="900" b="0">
                          <a:solidFill>
                            <a:srgbClr val="4B4B4B"/>
                          </a:solidFill>
                          <a:latin typeface="Arial"/>
                        </a:rPr>
                        <a:t>SCR-AC-27</a:t>
                      </a:r>
                    </a:p>
                  </a:txBody>
                  <a:tcPr marL="54864" marR="54864" marT="27432" marB="27432">
                    <a:solidFill>
                      <a:srgbClr val="FFFFFF"/>
                    </a:solidFill>
                  </a:tcPr>
                </a:tc>
                <a:tc>
                  <a:txBody>
                    <a:bodyPr/>
                    <a:lstStyle/>
                    <a:p>
                      <a:r>
                        <a:rPr sz="900" b="0">
                          <a:solidFill>
                            <a:srgbClr val="4B4B4B"/>
                          </a:solidFill>
                          <a:latin typeface="Arial"/>
                        </a:rPr>
                        <a:t>A refund voucher created automatically from a Marketing request shows the Marketing approver as Assigned To once it is approved, because the approver's action started it.</a:t>
                      </a:r>
                    </a:p>
                  </a:txBody>
                  <a:tcPr marL="54864" marR="54864" marT="27432" marB="27432">
                    <a:solidFill>
                      <a:srgbClr val="FFFFFF"/>
                    </a:solidFill>
                  </a:tcPr>
                </a:tc>
                <a:tc>
                  <a:txBody>
                    <a:bodyPr/>
                    <a:lstStyle/>
                    <a:p>
                      <a:r>
                        <a:rPr sz="900" b="0">
                          <a:solidFill>
                            <a:srgbClr val="4B4B4B"/>
                          </a:solidFill>
                          <a:latin typeface="Arial"/>
                        </a:rPr>
                        <a:t>Show no assignee on an approved voucher, or the Disbursement Approver who approved it.</a:t>
                      </a:r>
                    </a:p>
                  </a:txBody>
                  <a:tcPr marL="54864" marR="54864" marT="27432" marB="27432">
                    <a:solidFill>
                      <a:srgbClr val="FFFFFF"/>
                    </a:solidFill>
                  </a:tcPr>
                </a:tc>
              </a:tr>
              <a:tr h="502920">
                <a:tc>
                  <a:txBody>
                    <a:bodyPr/>
                    <a:lstStyle/>
                    <a:p>
                      <a:r>
                        <a:rPr sz="900" b="0">
                          <a:solidFill>
                            <a:srgbClr val="4B4B4B"/>
                          </a:solidFill>
                          <a:latin typeface="Arial"/>
                        </a:rPr>
                        <a:t>UX-AC-13</a:t>
                      </a:r>
                    </a:p>
                  </a:txBody>
                  <a:tcPr marL="54864" marR="54864" marT="27432" marB="27432">
                    <a:solidFill>
                      <a:srgbClr val="E5F5FF"/>
                    </a:solidFill>
                  </a:tcPr>
                </a:tc>
                <a:tc>
                  <a:txBody>
                    <a:bodyPr/>
                    <a:lstStyle/>
                    <a:p>
                      <a:r>
                        <a:rPr sz="900" b="0">
                          <a:solidFill>
                            <a:srgbClr val="4B4B4B"/>
                          </a:solidFill>
                          <a:latin typeface="Arial"/>
                        </a:rPr>
                        <a:t>SCR-AC-08</a:t>
                      </a:r>
                    </a:p>
                  </a:txBody>
                  <a:tcPr marL="54864" marR="54864" marT="27432" marB="27432">
                    <a:solidFill>
                      <a:srgbClr val="E5F5FF"/>
                    </a:solidFill>
                  </a:tcPr>
                </a:tc>
                <a:tc>
                  <a:txBody>
                    <a:bodyPr/>
                    <a:lstStyle/>
                    <a:p>
                      <a:r>
                        <a:rPr sz="900" b="0">
                          <a:solidFill>
                            <a:srgbClr val="4B4B4B"/>
                          </a:solidFill>
                          <a:latin typeface="Arial"/>
                        </a:rPr>
                        <a:t>Monthly revaluation rates lists every month-end rate of the year for every currency, the latest month first; a rate the GL Section Head enters over a rate loaded by the system keeps System as Entered By.</a:t>
                      </a:r>
                    </a:p>
                  </a:txBody>
                  <a:tcPr marL="54864" marR="54864" marT="27432" marB="27432">
                    <a:solidFill>
                      <a:srgbClr val="E5F5FF"/>
                    </a:solidFill>
                  </a:tcPr>
                </a:tc>
                <a:tc>
                  <a:txBody>
                    <a:bodyPr/>
                    <a:lstStyle/>
                    <a:p>
                      <a:r>
                        <a:rPr sz="900" b="0">
                          <a:solidFill>
                            <a:srgbClr val="4B4B4B"/>
                          </a:solidFill>
                          <a:latin typeface="Arial"/>
                        </a:rPr>
                        <a:t>Group the list by month (or filter by the month chosen) and show who last changed the rate.</a:t>
                      </a:r>
                    </a:p>
                  </a:txBody>
                  <a:tcPr marL="54864" marR="54864" marT="27432" marB="27432">
                    <a:solidFill>
                      <a:srgbClr val="E5F5FF"/>
                    </a:solidFill>
                  </a:tcPr>
                </a:tc>
              </a:tr>
              <a:tr h="365760">
                <a:tc>
                  <a:txBody>
                    <a:bodyPr/>
                    <a:lstStyle/>
                    <a:p>
                      <a:r>
                        <a:rPr sz="900" b="0">
                          <a:solidFill>
                            <a:srgbClr val="4B4B4B"/>
                          </a:solidFill>
                          <a:latin typeface="Arial"/>
                        </a:rPr>
                        <a:t>UX-AC-14</a:t>
                      </a:r>
                    </a:p>
                  </a:txBody>
                  <a:tcPr marL="54864" marR="54864" marT="27432" marB="27432">
                    <a:solidFill>
                      <a:srgbClr val="FFFFFF"/>
                    </a:solidFill>
                  </a:tcPr>
                </a:tc>
                <a:tc>
                  <a:txBody>
                    <a:bodyPr/>
                    <a:lstStyle/>
                    <a:p>
                      <a:r>
                        <a:rPr sz="900" b="0">
                          <a:solidFill>
                            <a:srgbClr val="4B4B4B"/>
                          </a:solidFill>
                          <a:latin typeface="Arial"/>
                        </a:rPr>
                        <a:t>SCR-AC-48</a:t>
                      </a:r>
                    </a:p>
                  </a:txBody>
                  <a:tcPr marL="54864" marR="54864" marT="27432" marB="27432">
                    <a:solidFill>
                      <a:srgbClr val="FFFFFF"/>
                    </a:solidFill>
                  </a:tcPr>
                </a:tc>
                <a:tc>
                  <a:txBody>
                    <a:bodyPr/>
                    <a:lstStyle/>
                    <a:p>
                      <a:r>
                        <a:rPr sz="900" b="0">
                          <a:solidFill>
                            <a:srgbClr val="4B4B4B"/>
                          </a:solidFill>
                          <a:latin typeface="Arial"/>
                        </a:rPr>
                        <a:t>The correction lines keep their input fields, greyed, after the correction is submitted for review.</a:t>
                      </a:r>
                    </a:p>
                  </a:txBody>
                  <a:tcPr marL="54864" marR="54864" marT="27432" marB="27432">
                    <a:solidFill>
                      <a:srgbClr val="FFFFFF"/>
                    </a:solidFill>
                  </a:tcPr>
                </a:tc>
                <a:tc>
                  <a:txBody>
                    <a:bodyPr/>
                    <a:lstStyle/>
                    <a:p>
                      <a:r>
                        <a:rPr sz="900" b="0">
                          <a:solidFill>
                            <a:srgbClr val="4B4B4B"/>
                          </a:solidFill>
                          <a:latin typeface="Arial"/>
                        </a:rPr>
                        <a:t>Show the lines as a read-only table once the correction leaves Draft.</a:t>
                      </a:r>
                    </a:p>
                  </a:txBody>
                  <a:tcPr marL="54864" marR="54864" marT="27432" marB="27432">
                    <a:solidFill>
                      <a:srgbClr val="FFFFFF"/>
                    </a:solidFill>
                  </a:tcPr>
                </a:tc>
              </a:tr>
            </a:tbl>
          </a:graphicData>
        </a:graphic>
      </p:graphicFrame>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627</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630</a:t>
            </a:r>
          </a:p>
        </p:txBody>
      </p:sp>
      <p:graphicFrame>
        <p:nvGraphicFramePr>
          <p:cNvPr id="9" name="Table 8"/>
          <p:cNvGraphicFramePr>
            <a:graphicFrameLocks noGrp="1"/>
          </p:cNvGraphicFramePr>
          <p:nvPr/>
        </p:nvGraphicFramePr>
        <p:xfrm>
          <a:off x="548640" y="1325880"/>
          <a:ext cx="11094412" cy="484629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SCR-AC-01</a:t>
                      </a:r>
                    </a:p>
                  </a:txBody>
                  <a:tcPr marL="54864" marR="54864" marT="27432" marB="27432">
                    <a:solidFill>
                      <a:srgbClr val="FFFFFF"/>
                    </a:solidFill>
                  </a:tcPr>
                </a:tc>
                <a:tc>
                  <a:txBody>
                    <a:bodyPr/>
                    <a:lstStyle/>
                    <a:p>
                      <a:r>
                        <a:rPr sz="850" b="0">
                          <a:solidFill>
                            <a:srgbClr val="4B4B4B"/>
                          </a:solidFill>
                          <a:latin typeface="Arial"/>
                        </a:rPr>
                        <a:t>Journals</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FR-AC-030, FR-AC-031, FR-AC-033, FR-AC-036</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Filled, Confirmation with reason, Success message, Empty list</a:t>
                      </a:r>
                    </a:p>
                  </a:txBody>
                  <a:tcPr marL="54864" marR="54864" marT="27432" marB="27432">
                    <a:solidFill>
                      <a:srgbClr val="FFFFFF"/>
                    </a:solidFill>
                  </a:tcPr>
                </a:tc>
              </a:tr>
              <a:tr h="350518">
                <a:tc>
                  <a:txBody>
                    <a:bodyPr/>
                    <a:lstStyle/>
                    <a:p>
                      <a:r>
                        <a:rPr sz="850" b="0">
                          <a:solidFill>
                            <a:srgbClr val="4B4B4B"/>
                          </a:solidFill>
                          <a:latin typeface="Arial"/>
                        </a:rPr>
                        <a:t>SCR-AC-02</a:t>
                      </a:r>
                    </a:p>
                  </a:txBody>
                  <a:tcPr marL="54864" marR="54864" marT="27432" marB="27432">
                    <a:solidFill>
                      <a:srgbClr val="E5F5FF"/>
                    </a:solidFill>
                  </a:tcPr>
                </a:tc>
                <a:tc>
                  <a:txBody>
                    <a:bodyPr/>
                    <a:lstStyle/>
                    <a:p>
                      <a:r>
                        <a:rPr sz="850" b="0">
                          <a:solidFill>
                            <a:srgbClr val="4B4B4B"/>
                          </a:solidFill>
                          <a:latin typeface="Arial"/>
                        </a:rPr>
                        <a:t>New Journal and Edit Journal</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FR-AC-014, FR-AC-032, FR-AC-033, FR-AC-034, FR-AC-035, FR-AC-037</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Filled, Validation error, Confirmation with reason, Pending approval</a:t>
                      </a:r>
                    </a:p>
                  </a:txBody>
                  <a:tcPr marL="54864" marR="54864" marT="27432" marB="27432">
                    <a:solidFill>
                      <a:srgbClr val="E5F5FF"/>
                    </a:solidFill>
                  </a:tcPr>
                </a:tc>
              </a:tr>
              <a:tr h="350518">
                <a:tc>
                  <a:txBody>
                    <a:bodyPr/>
                    <a:lstStyle/>
                    <a:p>
                      <a:r>
                        <a:rPr sz="850" b="0">
                          <a:solidFill>
                            <a:srgbClr val="4B4B4B"/>
                          </a:solidFill>
                          <a:latin typeface="Arial"/>
                        </a:rPr>
                        <a:t>SCR-AC-03</a:t>
                      </a:r>
                    </a:p>
                  </a:txBody>
                  <a:tcPr marL="54864" marR="54864" marT="27432" marB="27432">
                    <a:solidFill>
                      <a:srgbClr val="FFFFFF"/>
                    </a:solidFill>
                  </a:tcPr>
                </a:tc>
                <a:tc>
                  <a:txBody>
                    <a:bodyPr/>
                    <a:lstStyle/>
                    <a:p>
                      <a:r>
                        <a:rPr sz="850" b="0">
                          <a:solidFill>
                            <a:srgbClr val="4B4B4B"/>
                          </a:solidFill>
                          <a:latin typeface="Arial"/>
                        </a:rPr>
                        <a:t>Journal</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FR-AC-030, FR-AC-031, FR-AC-035, FR-AC-036, FR-AC-037, FR-AS-024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Filled,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SCR-AC-04</a:t>
                      </a:r>
                    </a:p>
                  </a:txBody>
                  <a:tcPr marL="54864" marR="54864" marT="27432" marB="27432">
                    <a:solidFill>
                      <a:srgbClr val="E5F5FF"/>
                    </a:solidFill>
                  </a:tcPr>
                </a:tc>
                <a:tc>
                  <a:txBody>
                    <a:bodyPr/>
                    <a:lstStyle/>
                    <a:p>
                      <a:r>
                        <a:rPr sz="850" b="0">
                          <a:solidFill>
                            <a:srgbClr val="4B4B4B"/>
                          </a:solidFill>
                          <a:latin typeface="Arial"/>
                        </a:rPr>
                        <a:t>Account Inquiry</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FR-AC-030, FR-AC-014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Read-only or locked</a:t>
                      </a:r>
                    </a:p>
                  </a:txBody>
                  <a:tcPr marL="54864" marR="54864" marT="27432" marB="27432">
                    <a:solidFill>
                      <a:srgbClr val="E5F5FF"/>
                    </a:solidFill>
                  </a:tcPr>
                </a:tc>
              </a:tr>
              <a:tr h="220979">
                <a:tc>
                  <a:txBody>
                    <a:bodyPr/>
                    <a:lstStyle/>
                    <a:p>
                      <a:r>
                        <a:rPr sz="850" b="0">
                          <a:solidFill>
                            <a:srgbClr val="4B4B4B"/>
                          </a:solidFill>
                          <a:latin typeface="Arial"/>
                        </a:rPr>
                        <a:t>SCR-AC-05</a:t>
                      </a:r>
                    </a:p>
                  </a:txBody>
                  <a:tcPr marL="54864" marR="54864" marT="27432" marB="27432">
                    <a:solidFill>
                      <a:srgbClr val="FFFFFF"/>
                    </a:solidFill>
                  </a:tcPr>
                </a:tc>
                <a:tc>
                  <a:txBody>
                    <a:bodyPr/>
                    <a:lstStyle/>
                    <a:p>
                      <a:r>
                        <a:rPr sz="850" b="0">
                          <a:solidFill>
                            <a:srgbClr val="4B4B4B"/>
                          </a:solidFill>
                          <a:latin typeface="Arial"/>
                        </a:rPr>
                        <a:t>Party Statement</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FR-AC-030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SCR-AC-06</a:t>
                      </a:r>
                    </a:p>
                  </a:txBody>
                  <a:tcPr marL="54864" marR="54864" marT="27432" marB="27432">
                    <a:solidFill>
                      <a:srgbClr val="E5F5FF"/>
                    </a:solidFill>
                  </a:tcPr>
                </a:tc>
                <a:tc>
                  <a:txBody>
                    <a:bodyPr/>
                    <a:lstStyle/>
                    <a:p>
                      <a:r>
                        <a:rPr sz="850" b="0">
                          <a:solidFill>
                            <a:srgbClr val="4B4B4B"/>
                          </a:solidFill>
                          <a:latin typeface="Arial"/>
                        </a:rPr>
                        <a:t>Chart of Accounts</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FR-AC-011, FR-AC-013, FR-AC-014, FR-AC-055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SCR-AC-07</a:t>
                      </a:r>
                    </a:p>
                  </a:txBody>
                  <a:tcPr marL="54864" marR="54864" marT="27432" marB="27432">
                    <a:solidFill>
                      <a:srgbClr val="FFFFFF"/>
                    </a:solidFill>
                  </a:tcPr>
                </a:tc>
                <a:tc>
                  <a:txBody>
                    <a:bodyPr/>
                    <a:lstStyle/>
                    <a:p>
                      <a:r>
                        <a:rPr sz="850" b="0">
                          <a:solidFill>
                            <a:srgbClr val="4B4B4B"/>
                          </a:solidFill>
                          <a:latin typeface="Arial"/>
                        </a:rPr>
                        <a:t>Chart Upload</a:t>
                      </a:r>
                    </a:p>
                  </a:txBody>
                  <a:tcPr marL="54864" marR="54864" marT="27432" marB="27432">
                    <a:solidFill>
                      <a:srgbClr val="FFFFFF"/>
                    </a:solidFill>
                  </a:tcPr>
                </a:tc>
                <a:tc>
                  <a:txBody>
                    <a:bodyPr/>
                    <a:lstStyle/>
                    <a:p>
                      <a:r>
                        <a:rPr sz="850" b="0">
                          <a:solidFill>
                            <a:srgbClr val="4B4B4B"/>
                          </a:solidFill>
                          <a:latin typeface="Arial"/>
                        </a:rPr>
                        <a:t>13.1.7</a:t>
                      </a:r>
                    </a:p>
                  </a:txBody>
                  <a:tcPr marL="54864" marR="54864" marT="27432" marB="27432">
                    <a:solidFill>
                      <a:srgbClr val="FFFFFF"/>
                    </a:solidFill>
                  </a:tcPr>
                </a:tc>
                <a:tc>
                  <a:txBody>
                    <a:bodyPr/>
                    <a:lstStyle/>
                    <a:p>
                      <a:r>
                        <a:rPr sz="850" b="0">
                          <a:solidFill>
                            <a:srgbClr val="4B4B4B"/>
                          </a:solidFill>
                          <a:latin typeface="Arial"/>
                        </a:rPr>
                        <a:t>FR-AC-012, FR-AC-013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SCR-AC-08</a:t>
                      </a:r>
                    </a:p>
                  </a:txBody>
                  <a:tcPr marL="54864" marR="54864" marT="27432" marB="27432">
                    <a:solidFill>
                      <a:srgbClr val="E5F5FF"/>
                    </a:solidFill>
                  </a:tcPr>
                </a:tc>
                <a:tc>
                  <a:txBody>
                    <a:bodyPr/>
                    <a:lstStyle/>
                    <a:p>
                      <a:r>
                        <a:rPr sz="850" b="0">
                          <a:solidFill>
                            <a:srgbClr val="4B4B4B"/>
                          </a:solidFill>
                          <a:latin typeface="Arial"/>
                        </a:rPr>
                        <a:t>Currencies &amp; Rates</a:t>
                      </a:r>
                    </a:p>
                  </a:txBody>
                  <a:tcPr marL="54864" marR="54864" marT="27432" marB="27432">
                    <a:solidFill>
                      <a:srgbClr val="E5F5FF"/>
                    </a:solidFill>
                  </a:tcPr>
                </a:tc>
                <a:tc>
                  <a:txBody>
                    <a:bodyPr/>
                    <a:lstStyle/>
                    <a:p>
                      <a:r>
                        <a:rPr sz="850" b="0">
                          <a:solidFill>
                            <a:srgbClr val="4B4B4B"/>
                          </a:solidFill>
                          <a:latin typeface="Arial"/>
                        </a:rPr>
                        <a:t>13.1.8</a:t>
                      </a:r>
                    </a:p>
                  </a:txBody>
                  <a:tcPr marL="54864" marR="54864" marT="27432" marB="27432">
                    <a:solidFill>
                      <a:srgbClr val="E5F5FF"/>
                    </a:solidFill>
                  </a:tcPr>
                </a:tc>
                <a:tc>
                  <a:txBody>
                    <a:bodyPr/>
                    <a:lstStyle/>
                    <a:p>
                      <a:r>
                        <a:rPr sz="850" b="0">
                          <a:solidFill>
                            <a:srgbClr val="4B4B4B"/>
                          </a:solidFill>
                          <a:latin typeface="Arial"/>
                        </a:rPr>
                        <a:t>FR-AC-010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SCR-AC-09</a:t>
                      </a:r>
                    </a:p>
                  </a:txBody>
                  <a:tcPr marL="54864" marR="54864" marT="27432" marB="27432">
                    <a:solidFill>
                      <a:srgbClr val="FFFFFF"/>
                    </a:solidFill>
                  </a:tcPr>
                </a:tc>
                <a:tc>
                  <a:txBody>
                    <a:bodyPr/>
                    <a:lstStyle/>
                    <a:p>
                      <a:r>
                        <a:rPr sz="850" b="0">
                          <a:solidFill>
                            <a:srgbClr val="4B4B4B"/>
                          </a:solidFill>
                          <a:latin typeface="Arial"/>
                        </a:rPr>
                        <a:t>Cost-Centre Rules</a:t>
                      </a:r>
                    </a:p>
                  </a:txBody>
                  <a:tcPr marL="54864" marR="54864" marT="27432" marB="27432">
                    <a:solidFill>
                      <a:srgbClr val="FFFFFF"/>
                    </a:solidFill>
                  </a:tcPr>
                </a:tc>
                <a:tc>
                  <a:txBody>
                    <a:bodyPr/>
                    <a:lstStyle/>
                    <a:p>
                      <a:r>
                        <a:rPr sz="850" b="0">
                          <a:solidFill>
                            <a:srgbClr val="4B4B4B"/>
                          </a:solidFill>
                          <a:latin typeface="Arial"/>
                        </a:rPr>
                        <a:t>13.1.9</a:t>
                      </a:r>
                    </a:p>
                  </a:txBody>
                  <a:tcPr marL="54864" marR="54864" marT="27432" marB="27432">
                    <a:solidFill>
                      <a:srgbClr val="FFFFFF"/>
                    </a:solidFill>
                  </a:tcPr>
                </a:tc>
                <a:tc>
                  <a:txBody>
                    <a:bodyPr/>
                    <a:lstStyle/>
                    <a:p>
                      <a:r>
                        <a:rPr sz="850" b="0">
                          <a:solidFill>
                            <a:srgbClr val="4B4B4B"/>
                          </a:solidFill>
                          <a:latin typeface="Arial"/>
                        </a:rPr>
                        <a:t>FR-AC-054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SCR-AC-10</a:t>
                      </a:r>
                    </a:p>
                  </a:txBody>
                  <a:tcPr marL="54864" marR="54864" marT="27432" marB="27432">
                    <a:solidFill>
                      <a:srgbClr val="E5F5FF"/>
                    </a:solidFill>
                  </a:tcPr>
                </a:tc>
                <a:tc>
                  <a:txBody>
                    <a:bodyPr/>
                    <a:lstStyle/>
                    <a:p>
                      <a:r>
                        <a:rPr sz="850" b="0">
                          <a:solidFill>
                            <a:srgbClr val="4B4B4B"/>
                          </a:solidFill>
                          <a:latin typeface="Arial"/>
                        </a:rPr>
                        <a:t>Financial Periods</a:t>
                      </a:r>
                    </a:p>
                  </a:txBody>
                  <a:tcPr marL="54864" marR="54864" marT="27432" marB="27432">
                    <a:solidFill>
                      <a:srgbClr val="E5F5FF"/>
                    </a:solidFill>
                  </a:tcPr>
                </a:tc>
                <a:tc>
                  <a:txBody>
                    <a:bodyPr/>
                    <a:lstStyle/>
                    <a:p>
                      <a:r>
                        <a:rPr sz="850" b="0">
                          <a:solidFill>
                            <a:srgbClr val="4B4B4B"/>
                          </a:solidFill>
                          <a:latin typeface="Arial"/>
                        </a:rPr>
                        <a:t>13.2.1</a:t>
                      </a:r>
                    </a:p>
                  </a:txBody>
                  <a:tcPr marL="54864" marR="54864" marT="27432" marB="27432">
                    <a:solidFill>
                      <a:srgbClr val="E5F5FF"/>
                    </a:solidFill>
                  </a:tcPr>
                </a:tc>
                <a:tc>
                  <a:txBody>
                    <a:bodyPr/>
                    <a:lstStyle/>
                    <a:p>
                      <a:r>
                        <a:rPr sz="850" b="0">
                          <a:solidFill>
                            <a:srgbClr val="4B4B4B"/>
                          </a:solidFill>
                          <a:latin typeface="Arial"/>
                        </a:rPr>
                        <a:t>FR-AC-040, FR-AC-041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SCR-AC-11</a:t>
                      </a:r>
                    </a:p>
                  </a:txBody>
                  <a:tcPr marL="54864" marR="54864" marT="27432" marB="27432">
                    <a:solidFill>
                      <a:srgbClr val="FFFFFF"/>
                    </a:solidFill>
                  </a:tcPr>
                </a:tc>
                <a:tc>
                  <a:txBody>
                    <a:bodyPr/>
                    <a:lstStyle/>
                    <a:p>
                      <a:r>
                        <a:rPr sz="850" b="0">
                          <a:solidFill>
                            <a:srgbClr val="4B4B4B"/>
                          </a:solidFill>
                          <a:latin typeface="Arial"/>
                        </a:rPr>
                        <a:t>GL Close &amp; Cut-Off</a:t>
                      </a:r>
                    </a:p>
                  </a:txBody>
                  <a:tcPr marL="54864" marR="54864" marT="27432" marB="27432">
                    <a:solidFill>
                      <a:srgbClr val="FFFFFF"/>
                    </a:solidFill>
                  </a:tcPr>
                </a:tc>
                <a:tc>
                  <a:txBody>
                    <a:bodyPr/>
                    <a:lstStyle/>
                    <a:p>
                      <a:r>
                        <a:rPr sz="850" b="0">
                          <a:solidFill>
                            <a:srgbClr val="4B4B4B"/>
                          </a:solidFill>
                          <a:latin typeface="Arial"/>
                        </a:rPr>
                        <a:t>13.2.2</a:t>
                      </a:r>
                    </a:p>
                  </a:txBody>
                  <a:tcPr marL="54864" marR="54864" marT="27432" marB="27432">
                    <a:solidFill>
                      <a:srgbClr val="FFFFFF"/>
                    </a:solidFill>
                  </a:tcPr>
                </a:tc>
                <a:tc>
                  <a:txBody>
                    <a:bodyPr/>
                    <a:lstStyle/>
                    <a:p>
                      <a:r>
                        <a:rPr sz="850" b="0">
                          <a:solidFill>
                            <a:srgbClr val="4B4B4B"/>
                          </a:solidFill>
                          <a:latin typeface="Arial"/>
                        </a:rPr>
                        <a:t>FR-AC-040, FR-AC-042</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Filled,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SCR-AC-12</a:t>
                      </a:r>
                    </a:p>
                  </a:txBody>
                  <a:tcPr marL="54864" marR="54864" marT="27432" marB="27432">
                    <a:solidFill>
                      <a:srgbClr val="E5F5FF"/>
                    </a:solidFill>
                  </a:tcPr>
                </a:tc>
                <a:tc>
                  <a:txBody>
                    <a:bodyPr/>
                    <a:lstStyle/>
                    <a:p>
                      <a:r>
                        <a:rPr sz="850" b="0">
                          <a:solidFill>
                            <a:srgbClr val="4B4B4B"/>
                          </a:solidFill>
                          <a:latin typeface="Arial"/>
                        </a:rPr>
                        <a:t>Period-End &amp; Year-End</a:t>
                      </a:r>
                    </a:p>
                  </a:txBody>
                  <a:tcPr marL="54864" marR="54864" marT="27432" marB="27432">
                    <a:solidFill>
                      <a:srgbClr val="E5F5FF"/>
                    </a:solidFill>
                  </a:tcPr>
                </a:tc>
                <a:tc>
                  <a:txBody>
                    <a:bodyPr/>
                    <a:lstStyle/>
                    <a:p>
                      <a:r>
                        <a:rPr sz="850" b="0">
                          <a:solidFill>
                            <a:srgbClr val="4B4B4B"/>
                          </a:solidFill>
                          <a:latin typeface="Arial"/>
                        </a:rPr>
                        <a:t>13.2.3</a:t>
                      </a:r>
                    </a:p>
                  </a:txBody>
                  <a:tcPr marL="54864" marR="54864" marT="27432" marB="27432">
                    <a:solidFill>
                      <a:srgbClr val="E5F5FF"/>
                    </a:solidFill>
                  </a:tcPr>
                </a:tc>
                <a:tc>
                  <a:txBody>
                    <a:bodyPr/>
                    <a:lstStyle/>
                    <a:p>
                      <a:r>
                        <a:rPr sz="850" b="0">
                          <a:solidFill>
                            <a:srgbClr val="4B4B4B"/>
                          </a:solidFill>
                          <a:latin typeface="Arial"/>
                        </a:rPr>
                        <a:t>FR-AC-040, FR-AC-041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SCR-AC-13</a:t>
                      </a:r>
                    </a:p>
                  </a:txBody>
                  <a:tcPr marL="54864" marR="54864" marT="27432" marB="27432">
                    <a:solidFill>
                      <a:srgbClr val="FFFFFF"/>
                    </a:solidFill>
                  </a:tcPr>
                </a:tc>
                <a:tc>
                  <a:txBody>
                    <a:bodyPr/>
                    <a:lstStyle/>
                    <a:p>
                      <a:r>
                        <a:rPr sz="850" b="0">
                          <a:solidFill>
                            <a:srgbClr val="4B4B4B"/>
                          </a:solidFill>
                          <a:latin typeface="Arial"/>
                        </a:rPr>
                        <a:t>FX Revaluation</a:t>
                      </a:r>
                    </a:p>
                  </a:txBody>
                  <a:tcPr marL="54864" marR="54864" marT="27432" marB="27432">
                    <a:solidFill>
                      <a:srgbClr val="FFFFFF"/>
                    </a:solidFill>
                  </a:tcPr>
                </a:tc>
                <a:tc>
                  <a:txBody>
                    <a:bodyPr/>
                    <a:lstStyle/>
                    <a:p>
                      <a:r>
                        <a:rPr sz="850" b="0">
                          <a:solidFill>
                            <a:srgbClr val="4B4B4B"/>
                          </a:solidFill>
                          <a:latin typeface="Arial"/>
                        </a:rPr>
                        <a:t>13.2.4</a:t>
                      </a:r>
                    </a:p>
                  </a:txBody>
                  <a:tcPr marL="54864" marR="54864" marT="27432" marB="27432">
                    <a:solidFill>
                      <a:srgbClr val="FFFFFF"/>
                    </a:solidFill>
                  </a:tcPr>
                </a:tc>
                <a:tc>
                  <a:txBody>
                    <a:bodyPr/>
                    <a:lstStyle/>
                    <a:p>
                      <a:r>
                        <a:rPr sz="850" b="0">
                          <a:solidFill>
                            <a:srgbClr val="4B4B4B"/>
                          </a:solidFill>
                          <a:latin typeface="Arial"/>
                        </a:rPr>
                        <a:t>FR-AC-043, FR-AC-010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SCR-AC-14</a:t>
                      </a:r>
                    </a:p>
                  </a:txBody>
                  <a:tcPr marL="54864" marR="54864" marT="27432" marB="27432">
                    <a:solidFill>
                      <a:srgbClr val="E5F5FF"/>
                    </a:solidFill>
                  </a:tcPr>
                </a:tc>
                <a:tc>
                  <a:txBody>
                    <a:bodyPr/>
                    <a:lstStyle/>
                    <a:p>
                      <a:r>
                        <a:rPr sz="850" b="0">
                          <a:solidFill>
                            <a:srgbClr val="4B4B4B"/>
                          </a:solidFill>
                          <a:latin typeface="Arial"/>
                        </a:rPr>
                        <a:t>Bank Statement Layouts</a:t>
                      </a:r>
                    </a:p>
                  </a:txBody>
                  <a:tcPr marL="54864" marR="54864" marT="27432" marB="27432">
                    <a:solidFill>
                      <a:srgbClr val="E5F5FF"/>
                    </a:solidFill>
                  </a:tcPr>
                </a:tc>
                <a:tc>
                  <a:txBody>
                    <a:bodyPr/>
                    <a:lstStyle/>
                    <a:p>
                      <a:r>
                        <a:rPr sz="850" b="0">
                          <a:solidFill>
                            <a:srgbClr val="4B4B4B"/>
                          </a:solidFill>
                          <a:latin typeface="Arial"/>
                        </a:rPr>
                        <a:t>13.2.5</a:t>
                      </a:r>
                    </a:p>
                  </a:txBody>
                  <a:tcPr marL="54864" marR="54864" marT="27432" marB="27432">
                    <a:solidFill>
                      <a:srgbClr val="E5F5FF"/>
                    </a:solidFill>
                  </a:tcPr>
                </a:tc>
                <a:tc>
                  <a:txBody>
                    <a:bodyPr/>
                    <a:lstStyle/>
                    <a:p>
                      <a:r>
                        <a:rPr sz="850" b="0">
                          <a:solidFill>
                            <a:srgbClr val="4B4B4B"/>
                          </a:solidFill>
                          <a:latin typeface="Arial"/>
                        </a:rPr>
                        <a:t>FR-AC-050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SCR-AC-15</a:t>
                      </a:r>
                    </a:p>
                  </a:txBody>
                  <a:tcPr marL="54864" marR="54864" marT="27432" marB="27432">
                    <a:solidFill>
                      <a:srgbClr val="FFFFFF"/>
                    </a:solidFill>
                  </a:tcPr>
                </a:tc>
                <a:tc>
                  <a:txBody>
                    <a:bodyPr/>
                    <a:lstStyle/>
                    <a:p>
                      <a:r>
                        <a:rPr sz="850" b="0">
                          <a:solidFill>
                            <a:srgbClr val="4B4B4B"/>
                          </a:solidFill>
                          <a:latin typeface="Arial"/>
                        </a:rPr>
                        <a:t>Bank Statements</a:t>
                      </a:r>
                    </a:p>
                  </a:txBody>
                  <a:tcPr marL="54864" marR="54864" marT="27432" marB="27432">
                    <a:solidFill>
                      <a:srgbClr val="FFFFFF"/>
                    </a:solidFill>
                  </a:tcPr>
                </a:tc>
                <a:tc>
                  <a:txBody>
                    <a:bodyPr/>
                    <a:lstStyle/>
                    <a:p>
                      <a:r>
                        <a:rPr sz="850" b="0">
                          <a:solidFill>
                            <a:srgbClr val="4B4B4B"/>
                          </a:solidFill>
                          <a:latin typeface="Arial"/>
                        </a:rPr>
                        <a:t>13.2.6</a:t>
                      </a:r>
                    </a:p>
                  </a:txBody>
                  <a:tcPr marL="54864" marR="54864" marT="27432" marB="27432">
                    <a:solidFill>
                      <a:srgbClr val="FFFFFF"/>
                    </a:solidFill>
                  </a:tcPr>
                </a:tc>
                <a:tc>
                  <a:txBody>
                    <a:bodyPr/>
                    <a:lstStyle/>
                    <a:p>
                      <a:r>
                        <a:rPr sz="850" b="0">
                          <a:solidFill>
                            <a:srgbClr val="4B4B4B"/>
                          </a:solidFill>
                          <a:latin typeface="Arial"/>
                        </a:rPr>
                        <a:t>FR-AC-050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SCR-AC-16</a:t>
                      </a:r>
                    </a:p>
                  </a:txBody>
                  <a:tcPr marL="54864" marR="54864" marT="27432" marB="27432">
                    <a:solidFill>
                      <a:srgbClr val="E5F5FF"/>
                    </a:solidFill>
                  </a:tcPr>
                </a:tc>
                <a:tc>
                  <a:txBody>
                    <a:bodyPr/>
                    <a:lstStyle/>
                    <a:p>
                      <a:r>
                        <a:rPr sz="850" b="0">
                          <a:solidFill>
                            <a:srgbClr val="4B4B4B"/>
                          </a:solidFill>
                          <a:latin typeface="Arial"/>
                        </a:rPr>
                        <a:t>Bank Reconciliation</a:t>
                      </a:r>
                    </a:p>
                  </a:txBody>
                  <a:tcPr marL="54864" marR="54864" marT="27432" marB="27432">
                    <a:solidFill>
                      <a:srgbClr val="E5F5FF"/>
                    </a:solidFill>
                  </a:tcPr>
                </a:tc>
                <a:tc>
                  <a:txBody>
                    <a:bodyPr/>
                    <a:lstStyle/>
                    <a:p>
                      <a:r>
                        <a:rPr sz="850" b="0">
                          <a:solidFill>
                            <a:srgbClr val="4B4B4B"/>
                          </a:solidFill>
                          <a:latin typeface="Arial"/>
                        </a:rPr>
                        <a:t>13.2.7</a:t>
                      </a:r>
                    </a:p>
                  </a:txBody>
                  <a:tcPr marL="54864" marR="54864" marT="27432" marB="27432">
                    <a:solidFill>
                      <a:srgbClr val="E5F5FF"/>
                    </a:solidFill>
                  </a:tcPr>
                </a:tc>
                <a:tc>
                  <a:txBody>
                    <a:bodyPr/>
                    <a:lstStyle/>
                    <a:p>
                      <a:r>
                        <a:rPr sz="850" b="0">
                          <a:solidFill>
                            <a:srgbClr val="4B4B4B"/>
                          </a:solidFill>
                          <a:latin typeface="Arial"/>
                        </a:rPr>
                        <a:t>FR-AC-050, FR-AC-051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Read-only or locked</a:t>
                      </a:r>
                    </a:p>
                  </a:txBody>
                  <a:tcPr marL="54864" marR="54864" marT="27432" marB="27432">
                    <a:solidFill>
                      <a:srgbClr val="E5F5FF"/>
                    </a:solidFill>
                  </a:tcPr>
                </a:tc>
              </a:tr>
              <a:tr h="350518">
                <a:tc>
                  <a:txBody>
                    <a:bodyPr/>
                    <a:lstStyle/>
                    <a:p>
                      <a:r>
                        <a:rPr sz="850" b="0">
                          <a:solidFill>
                            <a:srgbClr val="4B4B4B"/>
                          </a:solidFill>
                          <a:latin typeface="Arial"/>
                        </a:rPr>
                        <a:t>SCR-AC-17</a:t>
                      </a:r>
                    </a:p>
                  </a:txBody>
                  <a:tcPr marL="54864" marR="54864" marT="27432" marB="27432">
                    <a:solidFill>
                      <a:srgbClr val="FFFFFF"/>
                    </a:solidFill>
                  </a:tcPr>
                </a:tc>
                <a:tc>
                  <a:txBody>
                    <a:bodyPr/>
                    <a:lstStyle/>
                    <a:p>
                      <a:r>
                        <a:rPr sz="850" b="0">
                          <a:solidFill>
                            <a:srgbClr val="4B4B4B"/>
                          </a:solidFill>
                          <a:latin typeface="Arial"/>
                        </a:rPr>
                        <a:t>Report Centre</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FR-AC-020, FR-AC-022, FR-AS-001, FR-DS-080, FR-PQ-012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350518">
                <a:tc>
                  <a:txBody>
                    <a:bodyPr/>
                    <a:lstStyle/>
                    <a:p>
                      <a:r>
                        <a:rPr sz="850" b="0">
                          <a:solidFill>
                            <a:srgbClr val="4B4B4B"/>
                          </a:solidFill>
                          <a:latin typeface="Arial"/>
                        </a:rPr>
                        <a:t>SCR-AC-18</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FR-AC-020, FR-AC-021, FR-AC-023, FR-AC-051, FR-AS-005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Read-only or locked</a:t>
                      </a:r>
                    </a:p>
                  </a:txBody>
                  <a:tcPr marL="54864" marR="54864" marT="27432" marB="27432">
                    <a:solidFill>
                      <a:srgbClr val="E5F5FF"/>
                    </a:solidFill>
                  </a:tcPr>
                </a:tc>
              </a:tr>
            </a:tbl>
          </a:graphicData>
        </a:graphic>
      </p:graphicFrame>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631</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SCR-AC-19</a:t>
                      </a:r>
                    </a:p>
                  </a:txBody>
                  <a:tcPr marL="54864" marR="54864" marT="27432" marB="27432">
                    <a:solidFill>
                      <a:srgbClr val="FFFFFF"/>
                    </a:solidFill>
                  </a:tcPr>
                </a:tc>
                <a:tc>
                  <a:txBody>
                    <a:bodyPr/>
                    <a:lstStyle/>
                    <a:p>
                      <a:r>
                        <a:rPr sz="850" b="0">
                          <a:solidFill>
                            <a:srgbClr val="4B4B4B"/>
                          </a:solidFill>
                          <a:latin typeface="Arial"/>
                        </a:rPr>
                        <a:t>Report Pack</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FR-AC-060, FR-AC-062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SCR-AC-20</a:t>
                      </a:r>
                    </a:p>
                  </a:txBody>
                  <a:tcPr marL="54864" marR="54864" marT="27432" marB="27432">
                    <a:solidFill>
                      <a:srgbClr val="E5F5FF"/>
                    </a:solidFill>
                  </a:tcPr>
                </a:tc>
                <a:tc>
                  <a:txBody>
                    <a:bodyPr/>
                    <a:lstStyle/>
                    <a:p>
                      <a:r>
                        <a:rPr sz="850" b="0">
                          <a:solidFill>
                            <a:srgbClr val="4B4B4B"/>
                          </a:solidFill>
                          <a:latin typeface="Arial"/>
                        </a:rPr>
                        <a:t>Account Schedules</a:t>
                      </a:r>
                    </a:p>
                  </a:txBody>
                  <a:tcPr marL="54864" marR="54864" marT="27432" marB="27432">
                    <a:solidFill>
                      <a:srgbClr val="E5F5FF"/>
                    </a:solidFill>
                  </a:tcPr>
                </a:tc>
                <a:tc>
                  <a:txBody>
                    <a:bodyPr/>
                    <a:lstStyle/>
                    <a:p>
                      <a:r>
                        <a:rPr sz="850" b="0">
                          <a:solidFill>
                            <a:srgbClr val="4B4B4B"/>
                          </a:solidFill>
                          <a:latin typeface="Arial"/>
                        </a:rPr>
                        <a:t>13.3.4</a:t>
                      </a:r>
                    </a:p>
                  </a:txBody>
                  <a:tcPr marL="54864" marR="54864" marT="27432" marB="27432">
                    <a:solidFill>
                      <a:srgbClr val="E5F5FF"/>
                    </a:solidFill>
                  </a:tcPr>
                </a:tc>
                <a:tc>
                  <a:txBody>
                    <a:bodyPr/>
                    <a:lstStyle/>
                    <a:p>
                      <a:r>
                        <a:rPr sz="850" b="0">
                          <a:solidFill>
                            <a:srgbClr val="4B4B4B"/>
                          </a:solidFill>
                          <a:latin typeface="Arial"/>
                        </a:rPr>
                        <a:t>FR-AC-061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SCR-AC-21</a:t>
                      </a:r>
                    </a:p>
                  </a:txBody>
                  <a:tcPr marL="54864" marR="54864" marT="27432" marB="27432">
                    <a:solidFill>
                      <a:srgbClr val="FFFFFF"/>
                    </a:solidFill>
                  </a:tcPr>
                </a:tc>
                <a:tc>
                  <a:txBody>
                    <a:bodyPr/>
                    <a:lstStyle/>
                    <a:p>
                      <a:r>
                        <a:rPr sz="850" b="0">
                          <a:solidFill>
                            <a:srgbClr val="4B4B4B"/>
                          </a:solidFill>
                          <a:latin typeface="Arial"/>
                        </a:rPr>
                        <a:t>Service Fee Runs</a:t>
                      </a:r>
                    </a:p>
                  </a:txBody>
                  <a:tcPr marL="54864" marR="54864" marT="27432" marB="27432">
                    <a:solidFill>
                      <a:srgbClr val="FFFFFF"/>
                    </a:solidFill>
                  </a:tcPr>
                </a:tc>
                <a:tc>
                  <a:txBody>
                    <a:bodyPr/>
                    <a:lstStyle/>
                    <a:p>
                      <a:r>
                        <a:rPr sz="850" b="0">
                          <a:solidFill>
                            <a:srgbClr val="4B4B4B"/>
                          </a:solidFill>
                          <a:latin typeface="Arial"/>
                        </a:rPr>
                        <a:t>13.3.5</a:t>
                      </a:r>
                    </a:p>
                  </a:txBody>
                  <a:tcPr marL="54864" marR="54864" marT="27432" marB="27432">
                    <a:solidFill>
                      <a:srgbClr val="FFFFFF"/>
                    </a:solidFill>
                  </a:tcPr>
                </a:tc>
                <a:tc>
                  <a:txBody>
                    <a:bodyPr/>
                    <a:lstStyle/>
                    <a:p>
                      <a:r>
                        <a:rPr sz="850" b="0">
                          <a:solidFill>
                            <a:srgbClr val="4B4B4B"/>
                          </a:solidFill>
                          <a:latin typeface="Arial"/>
                        </a:rPr>
                        <a:t>FR-AC-052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SCR-AC-22</a:t>
                      </a:r>
                    </a:p>
                  </a:txBody>
                  <a:tcPr marL="54864" marR="54864" marT="27432" marB="27432">
                    <a:solidFill>
                      <a:srgbClr val="E5F5FF"/>
                    </a:solidFill>
                  </a:tcPr>
                </a:tc>
                <a:tc>
                  <a:txBody>
                    <a:bodyPr/>
                    <a:lstStyle/>
                    <a:p>
                      <a:r>
                        <a:rPr sz="850" b="0">
                          <a:solidFill>
                            <a:srgbClr val="4B4B4B"/>
                          </a:solidFill>
                          <a:latin typeface="Arial"/>
                        </a:rPr>
                        <a:t>Service Fee Run</a:t>
                      </a:r>
                    </a:p>
                  </a:txBody>
                  <a:tcPr marL="54864" marR="54864" marT="27432" marB="27432">
                    <a:solidFill>
                      <a:srgbClr val="E5F5FF"/>
                    </a:solidFill>
                  </a:tcPr>
                </a:tc>
                <a:tc>
                  <a:txBody>
                    <a:bodyPr/>
                    <a:lstStyle/>
                    <a:p>
                      <a:r>
                        <a:rPr sz="850" b="0">
                          <a:solidFill>
                            <a:srgbClr val="4B4B4B"/>
                          </a:solidFill>
                          <a:latin typeface="Arial"/>
                        </a:rPr>
                        <a:t>13.3.6</a:t>
                      </a:r>
                    </a:p>
                  </a:txBody>
                  <a:tcPr marL="54864" marR="54864" marT="27432" marB="27432">
                    <a:solidFill>
                      <a:srgbClr val="E5F5FF"/>
                    </a:solidFill>
                  </a:tcPr>
                </a:tc>
                <a:tc>
                  <a:txBody>
                    <a:bodyPr/>
                    <a:lstStyle/>
                    <a:p>
                      <a:r>
                        <a:rPr sz="850" b="0">
                          <a:solidFill>
                            <a:srgbClr val="4B4B4B"/>
                          </a:solidFill>
                          <a:latin typeface="Arial"/>
                        </a:rPr>
                        <a:t>FR-AC-052, FR-AC-053</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 Read-only or locked</a:t>
                      </a:r>
                    </a:p>
                  </a:txBody>
                  <a:tcPr marL="54864" marR="54864" marT="27432" marB="27432">
                    <a:solidFill>
                      <a:srgbClr val="E5F5FF"/>
                    </a:solidFill>
                  </a:tcPr>
                </a:tc>
              </a:tr>
              <a:tr h="220979">
                <a:tc>
                  <a:txBody>
                    <a:bodyPr/>
                    <a:lstStyle/>
                    <a:p>
                      <a:r>
                        <a:rPr sz="850" b="0">
                          <a:solidFill>
                            <a:srgbClr val="4B4B4B"/>
                          </a:solidFill>
                          <a:latin typeface="Arial"/>
                        </a:rPr>
                        <a:t>SCR-AC-23</a:t>
                      </a:r>
                    </a:p>
                  </a:txBody>
                  <a:tcPr marL="54864" marR="54864" marT="27432" marB="27432">
                    <a:solidFill>
                      <a:srgbClr val="FFFFFF"/>
                    </a:solidFill>
                  </a:tcPr>
                </a:tc>
                <a:tc>
                  <a:txBody>
                    <a:bodyPr/>
                    <a:lstStyle/>
                    <a:p>
                      <a:r>
                        <a:rPr sz="850" b="0">
                          <a:solidFill>
                            <a:srgbClr val="4B4B4B"/>
                          </a:solidFill>
                          <a:latin typeface="Arial"/>
                        </a:rPr>
                        <a:t>Service Fee Rates</a:t>
                      </a:r>
                    </a:p>
                  </a:txBody>
                  <a:tcPr marL="54864" marR="54864" marT="27432" marB="27432">
                    <a:solidFill>
                      <a:srgbClr val="FFFFFF"/>
                    </a:solidFill>
                  </a:tcPr>
                </a:tc>
                <a:tc>
                  <a:txBody>
                    <a:bodyPr/>
                    <a:lstStyle/>
                    <a:p>
                      <a:r>
                        <a:rPr sz="850" b="0">
                          <a:solidFill>
                            <a:srgbClr val="4B4B4B"/>
                          </a:solidFill>
                          <a:latin typeface="Arial"/>
                        </a:rPr>
                        <a:t>13.3.7</a:t>
                      </a:r>
                    </a:p>
                  </a:txBody>
                  <a:tcPr marL="54864" marR="54864" marT="27432" marB="27432">
                    <a:solidFill>
                      <a:srgbClr val="FFFFFF"/>
                    </a:solidFill>
                  </a:tcPr>
                </a:tc>
                <a:tc>
                  <a:txBody>
                    <a:bodyPr/>
                    <a:lstStyle/>
                    <a:p>
                      <a:r>
                        <a:rPr sz="850" b="0">
                          <a:solidFill>
                            <a:srgbClr val="4B4B4B"/>
                          </a:solidFill>
                          <a:latin typeface="Arial"/>
                        </a:rPr>
                        <a:t>FR-AC-052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SCR-AC-24</a:t>
                      </a:r>
                    </a:p>
                  </a:txBody>
                  <a:tcPr marL="54864" marR="54864" marT="27432" marB="27432">
                    <a:solidFill>
                      <a:srgbClr val="E5F5FF"/>
                    </a:solidFill>
                  </a:tcPr>
                </a:tc>
                <a:tc>
                  <a:txBody>
                    <a:bodyPr/>
                    <a:lstStyle/>
                    <a:p>
                      <a:r>
                        <a:rPr sz="850" b="0">
                          <a:solidFill>
                            <a:srgbClr val="4B4B4B"/>
                          </a:solidFill>
                          <a:latin typeface="Arial"/>
                        </a:rPr>
                        <a:t>BIR Forms &amp; Books</a:t>
                      </a:r>
                    </a:p>
                  </a:txBody>
                  <a:tcPr marL="54864" marR="54864" marT="27432" marB="27432">
                    <a:solidFill>
                      <a:srgbClr val="E5F5FF"/>
                    </a:solidFill>
                  </a:tcPr>
                </a:tc>
                <a:tc>
                  <a:txBody>
                    <a:bodyPr/>
                    <a:lstStyle/>
                    <a:p>
                      <a:r>
                        <a:rPr sz="850" b="0">
                          <a:solidFill>
                            <a:srgbClr val="4B4B4B"/>
                          </a:solidFill>
                          <a:latin typeface="Arial"/>
                        </a:rPr>
                        <a:t>13.3.8</a:t>
                      </a:r>
                    </a:p>
                  </a:txBody>
                  <a:tcPr marL="54864" marR="54864" marT="27432" marB="27432">
                    <a:solidFill>
                      <a:srgbClr val="E5F5FF"/>
                    </a:solidFill>
                  </a:tcPr>
                </a:tc>
                <a:tc>
                  <a:txBody>
                    <a:bodyPr/>
                    <a:lstStyle/>
                    <a:p>
                      <a:r>
                        <a:rPr sz="850" b="0">
                          <a:solidFill>
                            <a:srgbClr val="4B4B4B"/>
                          </a:solidFill>
                          <a:latin typeface="Arial"/>
                        </a:rPr>
                        <a:t>FR-AC-063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SCR-AC-25</a:t>
                      </a:r>
                    </a:p>
                  </a:txBody>
                  <a:tcPr marL="54864" marR="54864" marT="27432" marB="27432">
                    <a:solidFill>
                      <a:srgbClr val="FFFFFF"/>
                    </a:solidFill>
                  </a:tcPr>
                </a:tc>
                <a:tc>
                  <a:txBody>
                    <a:bodyPr/>
                    <a:lstStyle/>
                    <a:p>
                      <a:r>
                        <a:rPr sz="850" b="0">
                          <a:solidFill>
                            <a:srgbClr val="4B4B4B"/>
                          </a:solidFill>
                          <a:latin typeface="Arial"/>
                        </a:rPr>
                        <a:t>Disbursement Workbench</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FR-DS-020, FR-DS-021, FR-DS-022, FR-DS-025, FR-DS-040, FR-DS-041, FR-DS-045</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SCR-AC-26</a:t>
                      </a:r>
                    </a:p>
                  </a:txBody>
                  <a:tcPr marL="54864" marR="54864" marT="27432" marB="27432">
                    <a:solidFill>
                      <a:srgbClr val="E5F5FF"/>
                    </a:solidFill>
                  </a:tcPr>
                </a:tc>
                <a:tc>
                  <a:txBody>
                    <a:bodyPr/>
                    <a:lstStyle/>
                    <a:p>
                      <a:r>
                        <a:rPr sz="850" b="0">
                          <a:solidFill>
                            <a:srgbClr val="4B4B4B"/>
                          </a:solidFill>
                          <a:latin typeface="Arial"/>
                        </a:rPr>
                        <a:t>Encode Payment Request</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FR-DS-023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Validation error</a:t>
                      </a:r>
                    </a:p>
                  </a:txBody>
                  <a:tcPr marL="54864" marR="54864" marT="27432" marB="27432">
                    <a:solidFill>
                      <a:srgbClr val="E5F5FF"/>
                    </a:solidFill>
                  </a:tcPr>
                </a:tc>
              </a:tr>
              <a:tr h="868674">
                <a:tc>
                  <a:txBody>
                    <a:bodyPr/>
                    <a:lstStyle/>
                    <a:p>
                      <a:r>
                        <a:rPr sz="850" b="0">
                          <a:solidFill>
                            <a:srgbClr val="4B4B4B"/>
                          </a:solidFill>
                          <a:latin typeface="Arial"/>
                        </a:rPr>
                        <a:t>SCR-AC-27</a:t>
                      </a:r>
                    </a:p>
                  </a:txBody>
                  <a:tcPr marL="54864" marR="54864" marT="27432" marB="27432">
                    <a:solidFill>
                      <a:srgbClr val="FFFFFF"/>
                    </a:solidFill>
                  </a:tcPr>
                </a:tc>
                <a:tc>
                  <a:txBody>
                    <a:bodyPr/>
                    <a:lstStyle/>
                    <a:p>
                      <a:r>
                        <a:rPr sz="850" b="0">
                          <a:solidFill>
                            <a:srgbClr val="4B4B4B"/>
                          </a:solidFill>
                          <a:latin typeface="Arial"/>
                        </a:rPr>
                        <a:t>Disbursement Voucher</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FR-DS-025, FR-DS-030, FR-DS-031, FR-DS-032, FR-DS-033, FR-DS-034, FR-DS-035, FR-DS-036, FR-DS-040, FR-DS-041, FR-DS-042, FR-DS-043, FR-DS-044, FR-DS-050, FR-DS-051, FR-DS-052, FR-DS-054, FR-DS-055, FR-DS-056, FR-DS-057, FR-DS-062, FR-DS-063</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Confirmation with reason, Success message,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SCR-AC-28</a:t>
                      </a:r>
                    </a:p>
                  </a:txBody>
                  <a:tcPr marL="54864" marR="54864" marT="27432" marB="27432">
                    <a:solidFill>
                      <a:srgbClr val="E5F5FF"/>
                    </a:solidFill>
                  </a:tcPr>
                </a:tc>
                <a:tc>
                  <a:txBody>
                    <a:bodyPr/>
                    <a:lstStyle/>
                    <a:p>
                      <a:r>
                        <a:rPr sz="850" b="0">
                          <a:solidFill>
                            <a:srgbClr val="4B4B4B"/>
                          </a:solidFill>
                          <a:latin typeface="Arial"/>
                        </a:rPr>
                        <a:t>Payees</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FR-DS-010, FR-DS-012, FR-DS-014</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SCR-AC-29</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FR-DS-010, FR-DS-011, FR-DS-013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SCR-AC-30</a:t>
                      </a:r>
                    </a:p>
                  </a:txBody>
                  <a:tcPr marL="54864" marR="54864" marT="27432" marB="27432">
                    <a:solidFill>
                      <a:srgbClr val="E5F5FF"/>
                    </a:solidFill>
                  </a:tcPr>
                </a:tc>
                <a:tc>
                  <a:txBody>
                    <a:bodyPr/>
                    <a:lstStyle/>
                    <a:p>
                      <a:r>
                        <a:rPr sz="850" b="0">
                          <a:solidFill>
                            <a:srgbClr val="4B4B4B"/>
                          </a:solidFill>
                          <a:latin typeface="Arial"/>
                        </a:rPr>
                        <a:t>Disbursement Uploads</a:t>
                      </a:r>
                    </a:p>
                  </a:txBody>
                  <a:tcPr marL="54864" marR="54864" marT="27432" marB="27432">
                    <a:solidFill>
                      <a:srgbClr val="E5F5FF"/>
                    </a:solidFill>
                  </a:tcPr>
                </a:tc>
                <a:tc>
                  <a:txBody>
                    <a:bodyPr/>
                    <a:lstStyle/>
                    <a:p>
                      <a:r>
                        <a:rPr sz="850" b="0">
                          <a:solidFill>
                            <a:srgbClr val="4B4B4B"/>
                          </a:solidFill>
                          <a:latin typeface="Arial"/>
                        </a:rPr>
                        <a:t>13.4.6</a:t>
                      </a:r>
                    </a:p>
                  </a:txBody>
                  <a:tcPr marL="54864" marR="54864" marT="27432" marB="27432">
                    <a:solidFill>
                      <a:srgbClr val="E5F5FF"/>
                    </a:solidFill>
                  </a:tcPr>
                </a:tc>
                <a:tc>
                  <a:txBody>
                    <a:bodyPr/>
                    <a:lstStyle/>
                    <a:p>
                      <a:r>
                        <a:rPr sz="850" b="0">
                          <a:solidFill>
                            <a:srgbClr val="4B4B4B"/>
                          </a:solidFill>
                          <a:latin typeface="Arial"/>
                        </a:rPr>
                        <a:t>FR-DS-014, FR-DS-024, FR-DS-053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SCR-AC-31</a:t>
                      </a:r>
                    </a:p>
                  </a:txBody>
                  <a:tcPr marL="54864" marR="54864" marT="27432" marB="27432">
                    <a:solidFill>
                      <a:srgbClr val="FFFFFF"/>
                    </a:solidFill>
                  </a:tcPr>
                </a:tc>
                <a:tc>
                  <a:txBody>
                    <a:bodyPr/>
                    <a:lstStyle/>
                    <a:p>
                      <a:r>
                        <a:rPr sz="850" b="0">
                          <a:solidFill>
                            <a:srgbClr val="4B4B4B"/>
                          </a:solidFill>
                          <a:latin typeface="Arial"/>
                        </a:rPr>
                        <a:t>Disbursement End of Day</a:t>
                      </a:r>
                    </a:p>
                  </a:txBody>
                  <a:tcPr marL="54864" marR="54864" marT="27432" marB="27432">
                    <a:solidFill>
                      <a:srgbClr val="FFFFFF"/>
                    </a:solidFill>
                  </a:tcPr>
                </a:tc>
                <a:tc>
                  <a:txBody>
                    <a:bodyPr/>
                    <a:lstStyle/>
                    <a:p>
                      <a:r>
                        <a:rPr sz="850" b="0">
                          <a:solidFill>
                            <a:srgbClr val="4B4B4B"/>
                          </a:solidFill>
                          <a:latin typeface="Arial"/>
                        </a:rPr>
                        <a:t>13.4.7</a:t>
                      </a:r>
                    </a:p>
                  </a:txBody>
                  <a:tcPr marL="54864" marR="54864" marT="27432" marB="27432">
                    <a:solidFill>
                      <a:srgbClr val="FFFFFF"/>
                    </a:solidFill>
                  </a:tcPr>
                </a:tc>
                <a:tc>
                  <a:txBody>
                    <a:bodyPr/>
                    <a:lstStyle/>
                    <a:p>
                      <a:r>
                        <a:rPr sz="850" b="0">
                          <a:solidFill>
                            <a:srgbClr val="4B4B4B"/>
                          </a:solidFill>
                          <a:latin typeface="Arial"/>
                        </a:rPr>
                        <a:t>FR-DS-060, FR-DS-061, FR-DS-062, FR-DS-063, FR-DS-081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SCR-AC-32</a:t>
                      </a:r>
                    </a:p>
                  </a:txBody>
                  <a:tcPr marL="54864" marR="54864" marT="27432" marB="27432">
                    <a:solidFill>
                      <a:srgbClr val="E5F5FF"/>
                    </a:solidFill>
                  </a:tcPr>
                </a:tc>
                <a:tc>
                  <a:txBody>
                    <a:bodyPr/>
                    <a:lstStyle/>
                    <a:p>
                      <a:r>
                        <a:rPr sz="850" b="0">
                          <a:solidFill>
                            <a:srgbClr val="4B4B4B"/>
                          </a:solidFill>
                          <a:latin typeface="Arial"/>
                        </a:rPr>
                        <a:t>Account Funding</a:t>
                      </a:r>
                    </a:p>
                  </a:txBody>
                  <a:tcPr marL="54864" marR="54864" marT="27432" marB="27432">
                    <a:solidFill>
                      <a:srgbClr val="E5F5FF"/>
                    </a:solidFill>
                  </a:tcPr>
                </a:tc>
                <a:tc>
                  <a:txBody>
                    <a:bodyPr/>
                    <a:lstStyle/>
                    <a:p>
                      <a:r>
                        <a:rPr sz="850" b="0">
                          <a:solidFill>
                            <a:srgbClr val="4B4B4B"/>
                          </a:solidFill>
                          <a:latin typeface="Arial"/>
                        </a:rPr>
                        <a:t>13.4.8</a:t>
                      </a:r>
                    </a:p>
                  </a:txBody>
                  <a:tcPr marL="54864" marR="54864" marT="27432" marB="27432">
                    <a:solidFill>
                      <a:srgbClr val="E5F5FF"/>
                    </a:solidFill>
                  </a:tcPr>
                </a:tc>
                <a:tc>
                  <a:txBody>
                    <a:bodyPr/>
                    <a:lstStyle/>
                    <a:p>
                      <a:r>
                        <a:rPr sz="850" b="0">
                          <a:solidFill>
                            <a:srgbClr val="4B4B4B"/>
                          </a:solidFill>
                          <a:latin typeface="Arial"/>
                        </a:rPr>
                        <a:t>FR-DS-064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SCR-AC-33</a:t>
                      </a:r>
                    </a:p>
                  </a:txBody>
                  <a:tcPr marL="54864" marR="54864" marT="27432" marB="27432">
                    <a:solidFill>
                      <a:srgbClr val="FFFFFF"/>
                    </a:solidFill>
                  </a:tcPr>
                </a:tc>
                <a:tc>
                  <a:txBody>
                    <a:bodyPr/>
                    <a:lstStyle/>
                    <a:p>
                      <a:r>
                        <a:rPr sz="850" b="0">
                          <a:solidFill>
                            <a:srgbClr val="4B4B4B"/>
                          </a:solidFill>
                          <a:latin typeface="Arial"/>
                        </a:rPr>
                        <a:t>Funding Request</a:t>
                      </a:r>
                    </a:p>
                  </a:txBody>
                  <a:tcPr marL="54864" marR="54864" marT="27432" marB="27432">
                    <a:solidFill>
                      <a:srgbClr val="FFFFFF"/>
                    </a:solidFill>
                  </a:tcPr>
                </a:tc>
                <a:tc>
                  <a:txBody>
                    <a:bodyPr/>
                    <a:lstStyle/>
                    <a:p>
                      <a:r>
                        <a:rPr sz="850" b="0">
                          <a:solidFill>
                            <a:srgbClr val="4B4B4B"/>
                          </a:solidFill>
                          <a:latin typeface="Arial"/>
                        </a:rPr>
                        <a:t>13.4.9</a:t>
                      </a:r>
                    </a:p>
                  </a:txBody>
                  <a:tcPr marL="54864" marR="54864" marT="27432" marB="27432">
                    <a:solidFill>
                      <a:srgbClr val="FFFFFF"/>
                    </a:solidFill>
                  </a:tcPr>
                </a:tc>
                <a:tc>
                  <a:txBody>
                    <a:bodyPr/>
                    <a:lstStyle/>
                    <a:p>
                      <a:r>
                        <a:rPr sz="850" b="0">
                          <a:solidFill>
                            <a:srgbClr val="4B4B4B"/>
                          </a:solidFill>
                          <a:latin typeface="Arial"/>
                        </a:rPr>
                        <a:t>FR-DS-064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Filled, Read-only or locked</a:t>
                      </a:r>
                    </a:p>
                  </a:txBody>
                  <a:tcPr marL="54864" marR="54864" marT="27432" marB="27432">
                    <a:solidFill>
                      <a:srgbClr val="FFFFFF"/>
                    </a:solidFill>
                  </a:tcPr>
                </a:tc>
              </a:tr>
              <a:tr h="220979">
                <a:tc>
                  <a:txBody>
                    <a:bodyPr/>
                    <a:lstStyle/>
                    <a:p>
                      <a:r>
                        <a:rPr sz="850" b="0">
                          <a:solidFill>
                            <a:srgbClr val="4B4B4B"/>
                          </a:solidFill>
                          <a:latin typeface="Arial"/>
                        </a:rPr>
                        <a:t>SCR-AC-34</a:t>
                      </a:r>
                    </a:p>
                  </a:txBody>
                  <a:tcPr marL="54864" marR="54864" marT="27432" marB="27432">
                    <a:solidFill>
                      <a:srgbClr val="E5F5FF"/>
                    </a:solidFill>
                  </a:tcPr>
                </a:tc>
                <a:tc>
                  <a:txBody>
                    <a:bodyPr/>
                    <a:lstStyle/>
                    <a:p>
                      <a:r>
                        <a:rPr sz="850" b="0">
                          <a:solidFill>
                            <a:srgbClr val="4B4B4B"/>
                          </a:solidFill>
                          <a:latin typeface="Arial"/>
                        </a:rPr>
                        <a:t>Bank Accounts and Checks</a:t>
                      </a:r>
                    </a:p>
                  </a:txBody>
                  <a:tcPr marL="54864" marR="54864" marT="27432" marB="27432">
                    <a:solidFill>
                      <a:srgbClr val="E5F5FF"/>
                    </a:solidFill>
                  </a:tcPr>
                </a:tc>
                <a:tc>
                  <a:txBody>
                    <a:bodyPr/>
                    <a:lstStyle/>
                    <a:p>
                      <a:r>
                        <a:rPr sz="850" b="0">
                          <a:solidFill>
                            <a:srgbClr val="4B4B4B"/>
                          </a:solidFill>
                          <a:latin typeface="Arial"/>
                        </a:rPr>
                        <a:t>13.4.10</a:t>
                      </a:r>
                    </a:p>
                  </a:txBody>
                  <a:tcPr marL="54864" marR="54864" marT="27432" marB="27432">
                    <a:solidFill>
                      <a:srgbClr val="E5F5FF"/>
                    </a:solidFill>
                  </a:tcPr>
                </a:tc>
                <a:tc>
                  <a:txBody>
                    <a:bodyPr/>
                    <a:lstStyle/>
                    <a:p>
                      <a:r>
                        <a:rPr sz="850" b="0">
                          <a:solidFill>
                            <a:srgbClr val="4B4B4B"/>
                          </a:solidFill>
                          <a:latin typeface="Arial"/>
                        </a:rPr>
                        <a:t>FR-DS-070, FR-DS-071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SCR-AC-35</a:t>
                      </a:r>
                    </a:p>
                  </a:txBody>
                  <a:tcPr marL="54864" marR="54864" marT="27432" marB="27432">
                    <a:solidFill>
                      <a:srgbClr val="FFFFFF"/>
                    </a:solidFill>
                  </a:tcPr>
                </a:tc>
                <a:tc>
                  <a:txBody>
                    <a:bodyPr/>
                    <a:lstStyle/>
                    <a:p>
                      <a:r>
                        <a:rPr sz="850" b="0">
                          <a:solidFill>
                            <a:srgbClr val="4B4B4B"/>
                          </a:solidFill>
                          <a:latin typeface="Arial"/>
                        </a:rPr>
                        <a:t>Employees</a:t>
                      </a:r>
                    </a:p>
                  </a:txBody>
                  <a:tcPr marL="54864" marR="54864" marT="27432" marB="27432">
                    <a:solidFill>
                      <a:srgbClr val="FFFFFF"/>
                    </a:solidFill>
                  </a:tcPr>
                </a:tc>
                <a:tc>
                  <a:txBody>
                    <a:bodyPr/>
                    <a:lstStyle/>
                    <a:p>
                      <a:r>
                        <a:rPr sz="850" b="0">
                          <a:solidFill>
                            <a:srgbClr val="4B4B4B"/>
                          </a:solidFill>
                          <a:latin typeface="Arial"/>
                        </a:rPr>
                        <a:t>13.4.11</a:t>
                      </a:r>
                    </a:p>
                  </a:txBody>
                  <a:tcPr marL="54864" marR="54864" marT="27432" marB="27432">
                    <a:solidFill>
                      <a:srgbClr val="FFFFFF"/>
                    </a:solidFill>
                  </a:tcPr>
                </a:tc>
                <a:tc>
                  <a:txBody>
                    <a:bodyPr/>
                    <a:lstStyle/>
                    <a:p>
                      <a:r>
                        <a:rPr sz="850" b="0">
                          <a:solidFill>
                            <a:srgbClr val="4B4B4B"/>
                          </a:solidFill>
                          <a:latin typeface="Arial"/>
                        </a:rPr>
                        <a:t>FR-DS-037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632</a:t>
            </a:r>
          </a:p>
        </p:txBody>
      </p:sp>
      <p:graphicFrame>
        <p:nvGraphicFramePr>
          <p:cNvPr id="9" name="Table 8"/>
          <p:cNvGraphicFramePr>
            <a:graphicFrameLocks noGrp="1"/>
          </p:cNvGraphicFramePr>
          <p:nvPr/>
        </p:nvGraphicFramePr>
        <p:xfrm>
          <a:off x="548640" y="1325880"/>
          <a:ext cx="11094412" cy="484629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SCR-AC-36</a:t>
                      </a:r>
                    </a:p>
                  </a:txBody>
                  <a:tcPr marL="54864" marR="54864" marT="27432" marB="27432">
                    <a:solidFill>
                      <a:srgbClr val="FFFFFF"/>
                    </a:solidFill>
                  </a:tcPr>
                </a:tc>
                <a:tc>
                  <a:txBody>
                    <a:bodyPr/>
                    <a:lstStyle/>
                    <a:p>
                      <a:r>
                        <a:rPr sz="850" b="0">
                          <a:solidFill>
                            <a:srgbClr val="4B4B4B"/>
                          </a:solidFill>
                          <a:latin typeface="Arial"/>
                        </a:rPr>
                        <a:t>Certificates Received</a:t>
                      </a:r>
                    </a:p>
                  </a:txBody>
                  <a:tcPr marL="54864" marR="54864" marT="27432" marB="27432">
                    <a:solidFill>
                      <a:srgbClr val="FFFFFF"/>
                    </a:solidFill>
                  </a:tcPr>
                </a:tc>
                <a:tc>
                  <a:txBody>
                    <a:bodyPr/>
                    <a:lstStyle/>
                    <a:p>
                      <a:r>
                        <a:rPr sz="850" b="0">
                          <a:solidFill>
                            <a:srgbClr val="4B4B4B"/>
                          </a:solidFill>
                          <a:latin typeface="Arial"/>
                        </a:rPr>
                        <a:t>13.4.12</a:t>
                      </a:r>
                    </a:p>
                  </a:txBody>
                  <a:tcPr marL="54864" marR="54864" marT="27432" marB="27432">
                    <a:solidFill>
                      <a:srgbClr val="FFFFFF"/>
                    </a:solidFill>
                  </a:tcPr>
                </a:tc>
                <a:tc>
                  <a:txBody>
                    <a:bodyPr/>
                    <a:lstStyle/>
                    <a:p>
                      <a:r>
                        <a:rPr sz="850" b="0">
                          <a:solidFill>
                            <a:srgbClr val="4B4B4B"/>
                          </a:solidFill>
                          <a:latin typeface="Arial"/>
                        </a:rPr>
                        <a:t>FR-DS-057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SCR-AC-37</a:t>
                      </a:r>
                    </a:p>
                  </a:txBody>
                  <a:tcPr marL="54864" marR="54864" marT="27432" marB="27432">
                    <a:solidFill>
                      <a:srgbClr val="E5F5FF"/>
                    </a:solidFill>
                  </a:tcPr>
                </a:tc>
                <a:tc>
                  <a:txBody>
                    <a:bodyPr/>
                    <a:lstStyle/>
                    <a:p>
                      <a:r>
                        <a:rPr sz="850" b="0">
                          <a:solidFill>
                            <a:srgbClr val="4B4B4B"/>
                          </a:solidFill>
                          <a:latin typeface="Arial"/>
                        </a:rPr>
                        <a:t>BIR Form 2307</a:t>
                      </a:r>
                    </a:p>
                  </a:txBody>
                  <a:tcPr marL="54864" marR="54864" marT="27432" marB="27432">
                    <a:solidFill>
                      <a:srgbClr val="E5F5FF"/>
                    </a:solidFill>
                  </a:tcPr>
                </a:tc>
                <a:tc>
                  <a:txBody>
                    <a:bodyPr/>
                    <a:lstStyle/>
                    <a:p>
                      <a:r>
                        <a:rPr sz="850" b="0">
                          <a:solidFill>
                            <a:srgbClr val="4B4B4B"/>
                          </a:solidFill>
                          <a:latin typeface="Arial"/>
                        </a:rPr>
                        <a:t>13.4.13</a:t>
                      </a:r>
                    </a:p>
                  </a:txBody>
                  <a:tcPr marL="54864" marR="54864" marT="27432" marB="27432">
                    <a:solidFill>
                      <a:srgbClr val="E5F5FF"/>
                    </a:solidFill>
                  </a:tcPr>
                </a:tc>
                <a:tc>
                  <a:txBody>
                    <a:bodyPr/>
                    <a:lstStyle/>
                    <a:p>
                      <a:r>
                        <a:rPr sz="850" b="0">
                          <a:solidFill>
                            <a:srgbClr val="4B4B4B"/>
                          </a:solidFill>
                          <a:latin typeface="Arial"/>
                        </a:rPr>
                        <a:t>FR-DS-058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SCR-AC-38</a:t>
                      </a:r>
                    </a:p>
                  </a:txBody>
                  <a:tcPr marL="54864" marR="54864" marT="27432" marB="27432">
                    <a:solidFill>
                      <a:srgbClr val="FFFFFF"/>
                    </a:solidFill>
                  </a:tcPr>
                </a:tc>
                <a:tc>
                  <a:txBody>
                    <a:bodyPr/>
                    <a:lstStyle/>
                    <a:p>
                      <a:r>
                        <a:rPr sz="850" b="0">
                          <a:solidFill>
                            <a:srgbClr val="4B4B4B"/>
                          </a:solidFill>
                          <a:latin typeface="Arial"/>
                        </a:rPr>
                        <a:t>Disbursement Reports</a:t>
                      </a:r>
                    </a:p>
                  </a:txBody>
                  <a:tcPr marL="54864" marR="54864" marT="27432" marB="27432">
                    <a:solidFill>
                      <a:srgbClr val="FFFFFF"/>
                    </a:solidFill>
                  </a:tcPr>
                </a:tc>
                <a:tc>
                  <a:txBody>
                    <a:bodyPr/>
                    <a:lstStyle/>
                    <a:p>
                      <a:r>
                        <a:rPr sz="850" b="0">
                          <a:solidFill>
                            <a:srgbClr val="4B4B4B"/>
                          </a:solidFill>
                          <a:latin typeface="Arial"/>
                        </a:rPr>
                        <a:t>13.4.14</a:t>
                      </a:r>
                    </a:p>
                  </a:txBody>
                  <a:tcPr marL="54864" marR="54864" marT="27432" marB="27432">
                    <a:solidFill>
                      <a:srgbClr val="FFFFFF"/>
                    </a:solidFill>
                  </a:tcPr>
                </a:tc>
                <a:tc>
                  <a:txBody>
                    <a:bodyPr/>
                    <a:lstStyle/>
                    <a:p>
                      <a:r>
                        <a:rPr sz="850" b="0">
                          <a:solidFill>
                            <a:srgbClr val="4B4B4B"/>
                          </a:solidFill>
                          <a:latin typeface="Arial"/>
                        </a:rPr>
                        <a:t>FR-DS-080, FR-DS-081, FR-DS-082, FR-DS-083, FR-DS-092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SCR-AC-39</a:t>
                      </a:r>
                    </a:p>
                  </a:txBody>
                  <a:tcPr marL="54864" marR="54864" marT="27432" marB="27432">
                    <a:solidFill>
                      <a:srgbClr val="E5F5FF"/>
                    </a:solidFill>
                  </a:tcPr>
                </a:tc>
                <a:tc>
                  <a:txBody>
                    <a:bodyPr/>
                    <a:lstStyle/>
                    <a:p>
                      <a:r>
                        <a:rPr sz="850" b="0">
                          <a:solidFill>
                            <a:srgbClr val="4B4B4B"/>
                          </a:solidFill>
                          <a:latin typeface="Arial"/>
                        </a:rPr>
                        <a:t>Requests Home</a:t>
                      </a:r>
                    </a:p>
                  </a:txBody>
                  <a:tcPr marL="54864" marR="54864" marT="27432" marB="27432">
                    <a:solidFill>
                      <a:srgbClr val="E5F5FF"/>
                    </a:solidFill>
                  </a:tcPr>
                </a:tc>
                <a:tc>
                  <a:txBody>
                    <a:bodyPr/>
                    <a:lstStyle/>
                    <a:p>
                      <a:r>
                        <a:rPr sz="850" b="0">
                          <a:solidFill>
                            <a:srgbClr val="4B4B4B"/>
                          </a:solidFill>
                          <a:latin typeface="Arial"/>
                        </a:rPr>
                        <a:t>13.5.1</a:t>
                      </a:r>
                    </a:p>
                  </a:txBody>
                  <a:tcPr marL="54864" marR="54864" marT="27432" marB="27432">
                    <a:solidFill>
                      <a:srgbClr val="E5F5FF"/>
                    </a:solidFill>
                  </a:tcPr>
                </a:tc>
                <a:tc>
                  <a:txBody>
                    <a:bodyPr/>
                    <a:lstStyle/>
                    <a:p>
                      <a:r>
                        <a:rPr sz="850" b="0">
                          <a:solidFill>
                            <a:srgbClr val="4B4B4B"/>
                          </a:solidFill>
                          <a:latin typeface="Arial"/>
                        </a:rPr>
                        <a:t>FR-PQ-001, FR-PQ-008, FR-PQ-009, FR-PQ-012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Pending approval</a:t>
                      </a:r>
                    </a:p>
                  </a:txBody>
                  <a:tcPr marL="54864" marR="54864" marT="27432" marB="27432">
                    <a:solidFill>
                      <a:srgbClr val="E5F5FF"/>
                    </a:solidFill>
                  </a:tcPr>
                </a:tc>
              </a:tr>
              <a:tr h="220979">
                <a:tc>
                  <a:txBody>
                    <a:bodyPr/>
                    <a:lstStyle/>
                    <a:p>
                      <a:r>
                        <a:rPr sz="850" b="0">
                          <a:solidFill>
                            <a:srgbClr val="4B4B4B"/>
                          </a:solidFill>
                          <a:latin typeface="Arial"/>
                        </a:rPr>
                        <a:t>SCR-AC-40</a:t>
                      </a:r>
                    </a:p>
                  </a:txBody>
                  <a:tcPr marL="54864" marR="54864" marT="27432" marB="27432">
                    <a:solidFill>
                      <a:srgbClr val="FFFFFF"/>
                    </a:solidFill>
                  </a:tcPr>
                </a:tc>
                <a:tc>
                  <a:txBody>
                    <a:bodyPr/>
                    <a:lstStyle/>
                    <a:p>
                      <a:r>
                        <a:rPr sz="850" b="0">
                          <a:solidFill>
                            <a:srgbClr val="4B4B4B"/>
                          </a:solidFill>
                          <a:latin typeface="Arial"/>
                        </a:rPr>
                        <a:t>New Refund Request</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FR-PQ-003, FR-PQ-014, FR-PQ-016</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Filled, Validation error, Success message</a:t>
                      </a:r>
                    </a:p>
                  </a:txBody>
                  <a:tcPr marL="54864" marR="54864" marT="27432" marB="27432">
                    <a:solidFill>
                      <a:srgbClr val="FFFFFF"/>
                    </a:solidFill>
                  </a:tcPr>
                </a:tc>
              </a:tr>
              <a:tr h="220979">
                <a:tc>
                  <a:txBody>
                    <a:bodyPr/>
                    <a:lstStyle/>
                    <a:p>
                      <a:r>
                        <a:rPr sz="850" b="0">
                          <a:solidFill>
                            <a:srgbClr val="4B4B4B"/>
                          </a:solidFill>
                          <a:latin typeface="Arial"/>
                        </a:rPr>
                        <a:t>SCR-AC-41</a:t>
                      </a:r>
                    </a:p>
                  </a:txBody>
                  <a:tcPr marL="54864" marR="54864" marT="27432" marB="27432">
                    <a:solidFill>
                      <a:srgbClr val="E5F5FF"/>
                    </a:solidFill>
                  </a:tcPr>
                </a:tc>
                <a:tc>
                  <a:txBody>
                    <a:bodyPr/>
                    <a:lstStyle/>
                    <a:p>
                      <a:r>
                        <a:rPr sz="850" b="0">
                          <a:solidFill>
                            <a:srgbClr val="4B4B4B"/>
                          </a:solidFill>
                          <a:latin typeface="Arial"/>
                        </a:rPr>
                        <a:t>New Cash Advance</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FR-PQ-004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Filled</a:t>
                      </a:r>
                    </a:p>
                  </a:txBody>
                  <a:tcPr marL="54864" marR="54864" marT="27432" marB="27432">
                    <a:solidFill>
                      <a:srgbClr val="E5F5FF"/>
                    </a:solidFill>
                  </a:tcPr>
                </a:tc>
              </a:tr>
              <a:tr h="220979">
                <a:tc>
                  <a:txBody>
                    <a:bodyPr/>
                    <a:lstStyle/>
                    <a:p>
                      <a:r>
                        <a:rPr sz="850" b="0">
                          <a:solidFill>
                            <a:srgbClr val="4B4B4B"/>
                          </a:solidFill>
                          <a:latin typeface="Arial"/>
                        </a:rPr>
                        <a:t>SCR-AC-42</a:t>
                      </a:r>
                    </a:p>
                  </a:txBody>
                  <a:tcPr marL="54864" marR="54864" marT="27432" marB="27432">
                    <a:solidFill>
                      <a:srgbClr val="FFFFFF"/>
                    </a:solidFill>
                  </a:tcPr>
                </a:tc>
                <a:tc>
                  <a:txBody>
                    <a:bodyPr/>
                    <a:lstStyle/>
                    <a:p>
                      <a:r>
                        <a:rPr sz="850" b="0">
                          <a:solidFill>
                            <a:srgbClr val="4B4B4B"/>
                          </a:solidFill>
                          <a:latin typeface="Arial"/>
                        </a:rPr>
                        <a:t>Cancel a Check</a:t>
                      </a:r>
                    </a:p>
                  </a:txBody>
                  <a:tcPr marL="54864" marR="54864" marT="27432" marB="27432">
                    <a:solidFill>
                      <a:srgbClr val="FFFFFF"/>
                    </a:solidFill>
                  </a:tcPr>
                </a:tc>
                <a:tc>
                  <a:txBody>
                    <a:bodyPr/>
                    <a:lstStyle/>
                    <a:p>
                      <a:r>
                        <a:rPr sz="850" b="0">
                          <a:solidFill>
                            <a:srgbClr val="4B4B4B"/>
                          </a:solidFill>
                          <a:latin typeface="Arial"/>
                        </a:rPr>
                        <a:t>13.5.4</a:t>
                      </a:r>
                    </a:p>
                  </a:txBody>
                  <a:tcPr marL="54864" marR="54864" marT="27432" marB="27432">
                    <a:solidFill>
                      <a:srgbClr val="FFFFFF"/>
                    </a:solidFill>
                  </a:tcPr>
                </a:tc>
                <a:tc>
                  <a:txBody>
                    <a:bodyPr/>
                    <a:lstStyle/>
                    <a:p>
                      <a:r>
                        <a:rPr sz="850" b="0">
                          <a:solidFill>
                            <a:srgbClr val="4B4B4B"/>
                          </a:solidFill>
                          <a:latin typeface="Arial"/>
                        </a:rPr>
                        <a:t>FR-PQ-011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480057">
                <a:tc>
                  <a:txBody>
                    <a:bodyPr/>
                    <a:lstStyle/>
                    <a:p>
                      <a:r>
                        <a:rPr sz="850" b="0">
                          <a:solidFill>
                            <a:srgbClr val="4B4B4B"/>
                          </a:solidFill>
                          <a:latin typeface="Arial"/>
                        </a:rPr>
                        <a:t>SCR-AC-43</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13.5.5</a:t>
                      </a:r>
                    </a:p>
                  </a:txBody>
                  <a:tcPr marL="54864" marR="54864" marT="27432" marB="27432">
                    <a:solidFill>
                      <a:srgbClr val="E5F5FF"/>
                    </a:solidFill>
                  </a:tcPr>
                </a:tc>
                <a:tc>
                  <a:txBody>
                    <a:bodyPr/>
                    <a:lstStyle/>
                    <a:p>
                      <a:r>
                        <a:rPr sz="850" b="0">
                          <a:solidFill>
                            <a:srgbClr val="4B4B4B"/>
                          </a:solidFill>
                          <a:latin typeface="Arial"/>
                        </a:rPr>
                        <a:t>FR-PQ-001, FR-PQ-005, FR-PQ-006, FR-PQ-007, FR-PQ-008, FR-PQ-009, FR-PQ-010, FR-PQ-012, FR-PQ-013, FR-PQ-015, FR-PQ-017</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Default, Filled, Success message, Read-only or locked</a:t>
                      </a:r>
                    </a:p>
                  </a:txBody>
                  <a:tcPr marL="54864" marR="54864" marT="27432" marB="27432">
                    <a:solidFill>
                      <a:srgbClr val="E5F5FF"/>
                    </a:solidFill>
                  </a:tcPr>
                </a:tc>
              </a:tr>
              <a:tr h="220979">
                <a:tc>
                  <a:txBody>
                    <a:bodyPr/>
                    <a:lstStyle/>
                    <a:p>
                      <a:r>
                        <a:rPr sz="850" b="0">
                          <a:solidFill>
                            <a:srgbClr val="4B4B4B"/>
                          </a:solidFill>
                          <a:latin typeface="Arial"/>
                        </a:rPr>
                        <a:t>SCR-AC-44</a:t>
                      </a:r>
                    </a:p>
                  </a:txBody>
                  <a:tcPr marL="54864" marR="54864" marT="27432" marB="27432">
                    <a:solidFill>
                      <a:srgbClr val="FFFFFF"/>
                    </a:solidFill>
                  </a:tcPr>
                </a:tc>
                <a:tc>
                  <a:txBody>
                    <a:bodyPr/>
                    <a:lstStyle/>
                    <a:p>
                      <a:r>
                        <a:rPr sz="850" b="0">
                          <a:solidFill>
                            <a:srgbClr val="4B4B4B"/>
                          </a:solidFill>
                          <a:latin typeface="Arial"/>
                        </a:rPr>
                        <a:t>Liquidation Accounts</a:t>
                      </a:r>
                    </a:p>
                  </a:txBody>
                  <a:tcPr marL="54864" marR="54864" marT="27432" marB="27432">
                    <a:solidFill>
                      <a:srgbClr val="FFFFFF"/>
                    </a:solidFill>
                  </a:tcPr>
                </a:tc>
                <a:tc>
                  <a:txBody>
                    <a:bodyPr/>
                    <a:lstStyle/>
                    <a:p>
                      <a:r>
                        <a:rPr sz="850" b="0">
                          <a:solidFill>
                            <a:srgbClr val="4B4B4B"/>
                          </a:solidFill>
                          <a:latin typeface="Arial"/>
                        </a:rPr>
                        <a:t>13.5.6</a:t>
                      </a:r>
                    </a:p>
                  </a:txBody>
                  <a:tcPr marL="54864" marR="54864" marT="27432" marB="27432">
                    <a:solidFill>
                      <a:srgbClr val="FFFFFF"/>
                    </a:solidFill>
                  </a:tcPr>
                </a:tc>
                <a:tc>
                  <a:txBody>
                    <a:bodyPr/>
                    <a:lstStyle/>
                    <a:p>
                      <a:r>
                        <a:rPr sz="850" b="0">
                          <a:solidFill>
                            <a:srgbClr val="4B4B4B"/>
                          </a:solidFill>
                          <a:latin typeface="Arial"/>
                        </a:rPr>
                        <a:t>FR-PQ-017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SCR-AC-45</a:t>
                      </a:r>
                    </a:p>
                  </a:txBody>
                  <a:tcPr marL="54864" marR="54864" marT="27432" marB="27432">
                    <a:solidFill>
                      <a:srgbClr val="E5F5FF"/>
                    </a:solidFill>
                  </a:tcPr>
                </a:tc>
                <a:tc>
                  <a:txBody>
                    <a:bodyPr/>
                    <a:lstStyle/>
                    <a:p>
                      <a:r>
                        <a:rPr sz="850" b="0">
                          <a:solidFill>
                            <a:srgbClr val="4B4B4B"/>
                          </a:solidFill>
                          <a:latin typeface="Arial"/>
                        </a:rPr>
                        <a:t>ACSL Cases</a:t>
                      </a:r>
                    </a:p>
                  </a:txBody>
                  <a:tcPr marL="54864" marR="54864" marT="27432" marB="27432">
                    <a:solidFill>
                      <a:srgbClr val="E5F5FF"/>
                    </a:solidFill>
                  </a:tcPr>
                </a:tc>
                <a:tc>
                  <a:txBody>
                    <a:bodyPr/>
                    <a:lstStyle/>
                    <a:p>
                      <a:r>
                        <a:rPr sz="850" b="0">
                          <a:solidFill>
                            <a:srgbClr val="4B4B4B"/>
                          </a:solidFill>
                          <a:latin typeface="Arial"/>
                        </a:rPr>
                        <a:t>13.6.1</a:t>
                      </a:r>
                    </a:p>
                  </a:txBody>
                  <a:tcPr marL="54864" marR="54864" marT="27432" marB="27432">
                    <a:solidFill>
                      <a:srgbClr val="E5F5FF"/>
                    </a:solidFill>
                  </a:tcPr>
                </a:tc>
                <a:tc>
                  <a:txBody>
                    <a:bodyPr/>
                    <a:lstStyle/>
                    <a:p>
                      <a:r>
                        <a:rPr sz="850" b="0">
                          <a:solidFill>
                            <a:srgbClr val="4B4B4B"/>
                          </a:solidFill>
                          <a:latin typeface="Arial"/>
                        </a:rPr>
                        <a:t>FR-AS-010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Success message, Empty list</a:t>
                      </a:r>
                    </a:p>
                  </a:txBody>
                  <a:tcPr marL="54864" marR="54864" marT="27432" marB="27432">
                    <a:solidFill>
                      <a:srgbClr val="E5F5FF"/>
                    </a:solidFill>
                  </a:tcPr>
                </a:tc>
              </a:tr>
              <a:tr h="350518">
                <a:tc>
                  <a:txBody>
                    <a:bodyPr/>
                    <a:lstStyle/>
                    <a:p>
                      <a:r>
                        <a:rPr sz="850" b="0">
                          <a:solidFill>
                            <a:srgbClr val="4B4B4B"/>
                          </a:solidFill>
                          <a:latin typeface="Arial"/>
                        </a:rPr>
                        <a:t>SCR-AC-46</a:t>
                      </a:r>
                    </a:p>
                  </a:txBody>
                  <a:tcPr marL="54864" marR="54864" marT="27432" marB="27432">
                    <a:solidFill>
                      <a:srgbClr val="FFFFFF"/>
                    </a:solidFill>
                  </a:tcPr>
                </a:tc>
                <a:tc>
                  <a:txBody>
                    <a:bodyPr/>
                    <a:lstStyle/>
                    <a:p>
                      <a:r>
                        <a:rPr sz="850" b="0">
                          <a:solidFill>
                            <a:srgbClr val="4B4B4B"/>
                          </a:solidFill>
                          <a:latin typeface="Arial"/>
                        </a:rPr>
                        <a:t>ACSL Case</a:t>
                      </a:r>
                    </a:p>
                  </a:txBody>
                  <a:tcPr marL="54864" marR="54864" marT="27432" marB="27432">
                    <a:solidFill>
                      <a:srgbClr val="FFFFFF"/>
                    </a:solidFill>
                  </a:tcPr>
                </a:tc>
                <a:tc>
                  <a:txBody>
                    <a:bodyPr/>
                    <a:lstStyle/>
                    <a:p>
                      <a:r>
                        <a:rPr sz="850" b="0">
                          <a:solidFill>
                            <a:srgbClr val="4B4B4B"/>
                          </a:solidFill>
                          <a:latin typeface="Arial"/>
                        </a:rPr>
                        <a:t>13.6.2</a:t>
                      </a:r>
                    </a:p>
                  </a:txBody>
                  <a:tcPr marL="54864" marR="54864" marT="27432" marB="27432">
                    <a:solidFill>
                      <a:srgbClr val="FFFFFF"/>
                    </a:solidFill>
                  </a:tcPr>
                </a:tc>
                <a:tc>
                  <a:txBody>
                    <a:bodyPr/>
                    <a:lstStyle/>
                    <a:p>
                      <a:r>
                        <a:rPr sz="850" b="0">
                          <a:solidFill>
                            <a:srgbClr val="4B4B4B"/>
                          </a:solidFill>
                          <a:latin typeface="Arial"/>
                        </a:rPr>
                        <a:t>FR-AS-010, FR-AS-011, FR-AS-012, FR-AS-013, FR-AS-026, FR-DS-093</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SCR-AC-47</a:t>
                      </a:r>
                    </a:p>
                  </a:txBody>
                  <a:tcPr marL="54864" marR="54864" marT="27432" marB="27432">
                    <a:solidFill>
                      <a:srgbClr val="E5F5FF"/>
                    </a:solidFill>
                  </a:tcPr>
                </a:tc>
                <a:tc>
                  <a:txBody>
                    <a:bodyPr/>
                    <a:lstStyle/>
                    <a:p>
                      <a:r>
                        <a:rPr sz="850" b="0">
                          <a:solidFill>
                            <a:srgbClr val="4B4B4B"/>
                          </a:solidFill>
                          <a:latin typeface="Arial"/>
                        </a:rPr>
                        <a:t>Correction Entries</a:t>
                      </a:r>
                    </a:p>
                  </a:txBody>
                  <a:tcPr marL="54864" marR="54864" marT="27432" marB="27432">
                    <a:solidFill>
                      <a:srgbClr val="E5F5FF"/>
                    </a:solidFill>
                  </a:tcPr>
                </a:tc>
                <a:tc>
                  <a:txBody>
                    <a:bodyPr/>
                    <a:lstStyle/>
                    <a:p>
                      <a:r>
                        <a:rPr sz="850" b="0">
                          <a:solidFill>
                            <a:srgbClr val="4B4B4B"/>
                          </a:solidFill>
                          <a:latin typeface="Arial"/>
                        </a:rPr>
                        <a:t>13.6.3</a:t>
                      </a:r>
                    </a:p>
                  </a:txBody>
                  <a:tcPr marL="54864" marR="54864" marT="27432" marB="27432">
                    <a:solidFill>
                      <a:srgbClr val="E5F5FF"/>
                    </a:solidFill>
                  </a:tcPr>
                </a:tc>
                <a:tc>
                  <a:txBody>
                    <a:bodyPr/>
                    <a:lstStyle/>
                    <a:p>
                      <a:r>
                        <a:rPr sz="850" b="0">
                          <a:solidFill>
                            <a:srgbClr val="4B4B4B"/>
                          </a:solidFill>
                          <a:latin typeface="Arial"/>
                        </a:rPr>
                        <a:t>FR-AS-020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SCR-AC-48</a:t>
                      </a:r>
                    </a:p>
                  </a:txBody>
                  <a:tcPr marL="54864" marR="54864" marT="27432" marB="27432">
                    <a:solidFill>
                      <a:srgbClr val="FFFFFF"/>
                    </a:solidFill>
                  </a:tcPr>
                </a:tc>
                <a:tc>
                  <a:txBody>
                    <a:bodyPr/>
                    <a:lstStyle/>
                    <a:p>
                      <a:r>
                        <a:rPr sz="850" b="0">
                          <a:solidFill>
                            <a:srgbClr val="4B4B4B"/>
                          </a:solidFill>
                          <a:latin typeface="Arial"/>
                        </a:rPr>
                        <a:t>Correction Entry</a:t>
                      </a:r>
                    </a:p>
                  </a:txBody>
                  <a:tcPr marL="54864" marR="54864" marT="27432" marB="27432">
                    <a:solidFill>
                      <a:srgbClr val="FFFFFF"/>
                    </a:solidFill>
                  </a:tcPr>
                </a:tc>
                <a:tc>
                  <a:txBody>
                    <a:bodyPr/>
                    <a:lstStyle/>
                    <a:p>
                      <a:r>
                        <a:rPr sz="850" b="0">
                          <a:solidFill>
                            <a:srgbClr val="4B4B4B"/>
                          </a:solidFill>
                          <a:latin typeface="Arial"/>
                        </a:rPr>
                        <a:t>13.6.4</a:t>
                      </a:r>
                    </a:p>
                  </a:txBody>
                  <a:tcPr marL="54864" marR="54864" marT="27432" marB="27432">
                    <a:solidFill>
                      <a:srgbClr val="FFFFFF"/>
                    </a:solidFill>
                  </a:tcPr>
                </a:tc>
                <a:tc>
                  <a:txBody>
                    <a:bodyPr/>
                    <a:lstStyle/>
                    <a:p>
                      <a:r>
                        <a:rPr sz="850" b="0">
                          <a:solidFill>
                            <a:srgbClr val="4B4B4B"/>
                          </a:solidFill>
                          <a:latin typeface="Arial"/>
                        </a:rPr>
                        <a:t>FR-AS-020, FR-AS-021, FR-AS-022, FR-AS-023, FR-AS-024</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SCR-AC-49</a:t>
                      </a:r>
                    </a:p>
                  </a:txBody>
                  <a:tcPr marL="54864" marR="54864" marT="27432" marB="27432">
                    <a:solidFill>
                      <a:srgbClr val="E5F5FF"/>
                    </a:solidFill>
                  </a:tcPr>
                </a:tc>
                <a:tc>
                  <a:txBody>
                    <a:bodyPr/>
                    <a:lstStyle/>
                    <a:p>
                      <a:r>
                        <a:rPr sz="850" b="0">
                          <a:solidFill>
                            <a:srgbClr val="4B4B4B"/>
                          </a:solidFill>
                          <a:latin typeface="Arial"/>
                        </a:rPr>
                        <a:t>Insurer SOA Reconciliation</a:t>
                      </a:r>
                    </a:p>
                  </a:txBody>
                  <a:tcPr marL="54864" marR="54864" marT="27432" marB="27432">
                    <a:solidFill>
                      <a:srgbClr val="E5F5FF"/>
                    </a:solidFill>
                  </a:tcPr>
                </a:tc>
                <a:tc>
                  <a:txBody>
                    <a:bodyPr/>
                    <a:lstStyle/>
                    <a:p>
                      <a:r>
                        <a:rPr sz="850" b="0">
                          <a:solidFill>
                            <a:srgbClr val="4B4B4B"/>
                          </a:solidFill>
                          <a:latin typeface="Arial"/>
                        </a:rPr>
                        <a:t>13.6.5</a:t>
                      </a:r>
                    </a:p>
                  </a:txBody>
                  <a:tcPr marL="54864" marR="54864" marT="27432" marB="27432">
                    <a:solidFill>
                      <a:srgbClr val="E5F5FF"/>
                    </a:solidFill>
                  </a:tcPr>
                </a:tc>
                <a:tc>
                  <a:txBody>
                    <a:bodyPr/>
                    <a:lstStyle/>
                    <a:p>
                      <a:r>
                        <a:rPr sz="850" b="0">
                          <a:solidFill>
                            <a:srgbClr val="4B4B4B"/>
                          </a:solidFill>
                          <a:latin typeface="Arial"/>
                        </a:rPr>
                        <a:t>FR-AS-002, FR-AS-003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Validation error, Success message</a:t>
                      </a:r>
                    </a:p>
                  </a:txBody>
                  <a:tcPr marL="54864" marR="54864" marT="27432" marB="27432">
                    <a:solidFill>
                      <a:srgbClr val="E5F5FF"/>
                    </a:solidFill>
                  </a:tcPr>
                </a:tc>
              </a:tr>
              <a:tr h="220979">
                <a:tc>
                  <a:txBody>
                    <a:bodyPr/>
                    <a:lstStyle/>
                    <a:p>
                      <a:r>
                        <a:rPr sz="850" b="0">
                          <a:solidFill>
                            <a:srgbClr val="4B4B4B"/>
                          </a:solidFill>
                          <a:latin typeface="Arial"/>
                        </a:rPr>
                        <a:t>SCR-AC-50</a:t>
                      </a:r>
                    </a:p>
                  </a:txBody>
                  <a:tcPr marL="54864" marR="54864" marT="27432" marB="27432">
                    <a:solidFill>
                      <a:srgbClr val="FFFFFF"/>
                    </a:solidFill>
                  </a:tcPr>
                </a:tc>
                <a:tc>
                  <a:txBody>
                    <a:bodyPr/>
                    <a:lstStyle/>
                    <a:p>
                      <a:r>
                        <a:rPr sz="850" b="0">
                          <a:solidFill>
                            <a:srgbClr val="4B4B4B"/>
                          </a:solidFill>
                          <a:latin typeface="Arial"/>
                        </a:rPr>
                        <a:t>Insurer SOA</a:t>
                      </a:r>
                    </a:p>
                  </a:txBody>
                  <a:tcPr marL="54864" marR="54864" marT="27432" marB="27432">
                    <a:solidFill>
                      <a:srgbClr val="FFFFFF"/>
                    </a:solidFill>
                  </a:tcPr>
                </a:tc>
                <a:tc>
                  <a:txBody>
                    <a:bodyPr/>
                    <a:lstStyle/>
                    <a:p>
                      <a:r>
                        <a:rPr sz="850" b="0">
                          <a:solidFill>
                            <a:srgbClr val="4B4B4B"/>
                          </a:solidFill>
                          <a:latin typeface="Arial"/>
                        </a:rPr>
                        <a:t>13.6.6</a:t>
                      </a:r>
                    </a:p>
                  </a:txBody>
                  <a:tcPr marL="54864" marR="54864" marT="27432" marB="27432">
                    <a:solidFill>
                      <a:srgbClr val="FFFFFF"/>
                    </a:solidFill>
                  </a:tcPr>
                </a:tc>
                <a:tc>
                  <a:txBody>
                    <a:bodyPr/>
                    <a:lstStyle/>
                    <a:p>
                      <a:r>
                        <a:rPr sz="850" b="0">
                          <a:solidFill>
                            <a:srgbClr val="4B4B4B"/>
                          </a:solidFill>
                          <a:latin typeface="Arial"/>
                        </a:rPr>
                        <a:t>FR-AS-003</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SCR-AC-51</a:t>
                      </a:r>
                    </a:p>
                  </a:txBody>
                  <a:tcPr marL="54864" marR="54864" marT="27432" marB="27432">
                    <a:solidFill>
                      <a:srgbClr val="E5F5FF"/>
                    </a:solidFill>
                  </a:tcPr>
                </a:tc>
                <a:tc>
                  <a:txBody>
                    <a:bodyPr/>
                    <a:lstStyle/>
                    <a:p>
                      <a:r>
                        <a:rPr sz="850" b="0">
                          <a:solidFill>
                            <a:srgbClr val="4B4B4B"/>
                          </a:solidFill>
                          <a:latin typeface="Arial"/>
                        </a:rPr>
                        <a:t>GL-SL Reconciliation</a:t>
                      </a:r>
                    </a:p>
                  </a:txBody>
                  <a:tcPr marL="54864" marR="54864" marT="27432" marB="27432">
                    <a:solidFill>
                      <a:srgbClr val="E5F5FF"/>
                    </a:solidFill>
                  </a:tcPr>
                </a:tc>
                <a:tc>
                  <a:txBody>
                    <a:bodyPr/>
                    <a:lstStyle/>
                    <a:p>
                      <a:r>
                        <a:rPr sz="850" b="0">
                          <a:solidFill>
                            <a:srgbClr val="4B4B4B"/>
                          </a:solidFill>
                          <a:latin typeface="Arial"/>
                        </a:rPr>
                        <a:t>13.6.7</a:t>
                      </a:r>
                    </a:p>
                  </a:txBody>
                  <a:tcPr marL="54864" marR="54864" marT="27432" marB="27432">
                    <a:solidFill>
                      <a:srgbClr val="E5F5FF"/>
                    </a:solidFill>
                  </a:tcPr>
                </a:tc>
                <a:tc>
                  <a:txBody>
                    <a:bodyPr/>
                    <a:lstStyle/>
                    <a:p>
                      <a:r>
                        <a:rPr sz="850" b="0">
                          <a:solidFill>
                            <a:srgbClr val="4B4B4B"/>
                          </a:solidFill>
                          <a:latin typeface="Arial"/>
                        </a:rPr>
                        <a:t>FR-AS-004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NAV-AC-01</a:t>
                      </a:r>
                    </a:p>
                  </a:txBody>
                  <a:tcPr marL="54864" marR="54864" marT="27432" marB="27432">
                    <a:solidFill>
                      <a:srgbClr val="FFFFFF"/>
                    </a:solidFill>
                  </a:tcPr>
                </a:tc>
                <a:tc>
                  <a:txBody>
                    <a:bodyPr/>
                    <a:lstStyle/>
                    <a:p>
                      <a:r>
                        <a:rPr sz="850" b="0">
                          <a:solidFill>
                            <a:srgbClr val="4B4B4B"/>
                          </a:solidFill>
                          <a:latin typeface="Arial"/>
                        </a:rPr>
                        <a:t>Landing page and menu: GL Officer (FRBS)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NAV-AC-02</a:t>
                      </a:r>
                    </a:p>
                  </a:txBody>
                  <a:tcPr marL="54864" marR="54864" marT="27432" marB="27432">
                    <a:solidFill>
                      <a:srgbClr val="E5F5FF"/>
                    </a:solidFill>
                  </a:tcPr>
                </a:tc>
                <a:tc>
                  <a:txBody>
                    <a:bodyPr/>
                    <a:lstStyle/>
                    <a:p>
                      <a:r>
                        <a:rPr sz="850" b="0">
                          <a:solidFill>
                            <a:srgbClr val="4B4B4B"/>
                          </a:solidFill>
                          <a:latin typeface="Arial"/>
                        </a:rPr>
                        <a:t>Landing page and menu: GL Team Lead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633</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NAV-AC-03</a:t>
                      </a:r>
                    </a:p>
                  </a:txBody>
                  <a:tcPr marL="54864" marR="54864" marT="27432" marB="27432">
                    <a:solidFill>
                      <a:srgbClr val="FFFFFF"/>
                    </a:solidFill>
                  </a:tcPr>
                </a:tc>
                <a:tc>
                  <a:txBody>
                    <a:bodyPr/>
                    <a:lstStyle/>
                    <a:p>
                      <a:r>
                        <a:rPr sz="850" b="0">
                          <a:solidFill>
                            <a:srgbClr val="4B4B4B"/>
                          </a:solidFill>
                          <a:latin typeface="Arial"/>
                        </a:rPr>
                        <a:t>Landing page and menu: GL Section Head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NAV-AC-04</a:t>
                      </a:r>
                    </a:p>
                  </a:txBody>
                  <a:tcPr marL="54864" marR="54864" marT="27432" marB="27432">
                    <a:solidFill>
                      <a:srgbClr val="E5F5FF"/>
                    </a:solidFill>
                  </a:tcPr>
                </a:tc>
                <a:tc>
                  <a:txBody>
                    <a:bodyPr/>
                    <a:lstStyle/>
                    <a:p>
                      <a:r>
                        <a:rPr sz="850" b="0">
                          <a:solidFill>
                            <a:srgbClr val="4B4B4B"/>
                          </a:solidFill>
                          <a:latin typeface="Arial"/>
                        </a:rPr>
                        <a:t>Landing page and menu: Accountant (bank reconciliation)</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NAV-AC-05</a:t>
                      </a:r>
                    </a:p>
                  </a:txBody>
                  <a:tcPr marL="54864" marR="54864" marT="27432" marB="27432">
                    <a:solidFill>
                      <a:srgbClr val="FFFFFF"/>
                    </a:solidFill>
                  </a:tcPr>
                </a:tc>
                <a:tc>
                  <a:txBody>
                    <a:bodyPr/>
                    <a:lstStyle/>
                    <a:p>
                      <a:r>
                        <a:rPr sz="850" b="0">
                          <a:solidFill>
                            <a:srgbClr val="4B4B4B"/>
                          </a:solidFill>
                          <a:latin typeface="Arial"/>
                        </a:rPr>
                        <a:t>Landing page and menu: Comptrollership administrator (masters and rules)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NAV-AC-06</a:t>
                      </a:r>
                    </a:p>
                  </a:txBody>
                  <a:tcPr marL="54864" marR="54864" marT="27432" marB="27432">
                    <a:solidFill>
                      <a:srgbClr val="E5F5FF"/>
                    </a:solidFill>
                  </a:tcPr>
                </a:tc>
                <a:tc>
                  <a:txBody>
                    <a:bodyPr/>
                    <a:lstStyle/>
                    <a:p>
                      <a:r>
                        <a:rPr sz="850" b="0">
                          <a:solidFill>
                            <a:srgbClr val="4B4B4B"/>
                          </a:solidFill>
                          <a:latin typeface="Arial"/>
                        </a:rPr>
                        <a:t>Landing page and menu: Disbursement Processor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NAV-AC-07</a:t>
                      </a:r>
                    </a:p>
                  </a:txBody>
                  <a:tcPr marL="54864" marR="54864" marT="27432" marB="27432">
                    <a:solidFill>
                      <a:srgbClr val="FFFFFF"/>
                    </a:solidFill>
                  </a:tcPr>
                </a:tc>
                <a:tc>
                  <a:txBody>
                    <a:bodyPr/>
                    <a:lstStyle/>
                    <a:p>
                      <a:r>
                        <a:rPr sz="850" b="0">
                          <a:solidFill>
                            <a:srgbClr val="4B4B4B"/>
                          </a:solidFill>
                          <a:latin typeface="Arial"/>
                        </a:rPr>
                        <a:t>Landing page and menu: Disbursement Team Leader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NAV-AC-08</a:t>
                      </a:r>
                    </a:p>
                  </a:txBody>
                  <a:tcPr marL="54864" marR="54864" marT="27432" marB="27432">
                    <a:solidFill>
                      <a:srgbClr val="E5F5FF"/>
                    </a:solidFill>
                  </a:tcPr>
                </a:tc>
                <a:tc>
                  <a:txBody>
                    <a:bodyPr/>
                    <a:lstStyle/>
                    <a:p>
                      <a:r>
                        <a:rPr sz="850" b="0">
                          <a:solidFill>
                            <a:srgbClr val="4B4B4B"/>
                          </a:solidFill>
                          <a:latin typeface="Arial"/>
                        </a:rPr>
                        <a:t>Landing page and menu: Disbursement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NAV-AC-09</a:t>
                      </a:r>
                    </a:p>
                  </a:txBody>
                  <a:tcPr marL="54864" marR="54864" marT="27432" marB="27432">
                    <a:solidFill>
                      <a:srgbClr val="FFFFFF"/>
                    </a:solidFill>
                  </a:tcPr>
                </a:tc>
                <a:tc>
                  <a:txBody>
                    <a:bodyPr/>
                    <a:lstStyle/>
                    <a:p>
                      <a:r>
                        <a:rPr sz="850" b="0">
                          <a:solidFill>
                            <a:srgbClr val="4B4B4B"/>
                          </a:solidFill>
                          <a:latin typeface="Arial"/>
                        </a:rPr>
                        <a:t>Landing page and menu: Marketing Processor (AO)</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NAV-AC-10</a:t>
                      </a:r>
                    </a:p>
                  </a:txBody>
                  <a:tcPr marL="54864" marR="54864" marT="27432" marB="27432">
                    <a:solidFill>
                      <a:srgbClr val="E5F5FF"/>
                    </a:solidFill>
                  </a:tcPr>
                </a:tc>
                <a:tc>
                  <a:txBody>
                    <a:bodyPr/>
                    <a:lstStyle/>
                    <a:p>
                      <a:r>
                        <a:rPr sz="850" b="0">
                          <a:solidFill>
                            <a:srgbClr val="4B4B4B"/>
                          </a:solidFill>
                          <a:latin typeface="Arial"/>
                        </a:rPr>
                        <a:t>Landing page and menu: Marketing Reviewer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NAV-AC-11</a:t>
                      </a:r>
                    </a:p>
                  </a:txBody>
                  <a:tcPr marL="54864" marR="54864" marT="27432" marB="27432">
                    <a:solidFill>
                      <a:srgbClr val="FFFFFF"/>
                    </a:solidFill>
                  </a:tcPr>
                </a:tc>
                <a:tc>
                  <a:txBody>
                    <a:bodyPr/>
                    <a:lstStyle/>
                    <a:p>
                      <a:r>
                        <a:rPr sz="850" b="0">
                          <a:solidFill>
                            <a:srgbClr val="4B4B4B"/>
                          </a:solidFill>
                          <a:latin typeface="Arial"/>
                        </a:rPr>
                        <a:t>Landing page and menu: Marketing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NAV-AC-12</a:t>
                      </a:r>
                    </a:p>
                  </a:txBody>
                  <a:tcPr marL="54864" marR="54864" marT="27432" marB="27432">
                    <a:solidFill>
                      <a:srgbClr val="E5F5FF"/>
                    </a:solidFill>
                  </a:tcPr>
                </a:tc>
                <a:tc>
                  <a:txBody>
                    <a:bodyPr/>
                    <a:lstStyle/>
                    <a:p>
                      <a:r>
                        <a:rPr sz="850" b="0">
                          <a:solidFill>
                            <a:srgbClr val="4B4B4B"/>
                          </a:solidFill>
                          <a:latin typeface="Arial"/>
                        </a:rPr>
                        <a:t>Landing page and menu: Human Resources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NAV-AC-13</a:t>
                      </a:r>
                    </a:p>
                  </a:txBody>
                  <a:tcPr marL="54864" marR="54864" marT="27432" marB="27432">
                    <a:solidFill>
                      <a:srgbClr val="FFFFFF"/>
                    </a:solidFill>
                  </a:tcPr>
                </a:tc>
                <a:tc>
                  <a:txBody>
                    <a:bodyPr/>
                    <a:lstStyle/>
                    <a:p>
                      <a:r>
                        <a:rPr sz="850" b="0">
                          <a:solidFill>
                            <a:srgbClr val="4B4B4B"/>
                          </a:solidFill>
                          <a:latin typeface="Arial"/>
                        </a:rPr>
                        <a:t>Landing page and menu: ACSL Processor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NAV-AC-14</a:t>
                      </a:r>
                    </a:p>
                  </a:txBody>
                  <a:tcPr marL="54864" marR="54864" marT="27432" marB="27432">
                    <a:solidFill>
                      <a:srgbClr val="E5F5FF"/>
                    </a:solidFill>
                  </a:tcPr>
                </a:tc>
                <a:tc>
                  <a:txBody>
                    <a:bodyPr/>
                    <a:lstStyle/>
                    <a:p>
                      <a:r>
                        <a:rPr sz="850" b="0">
                          <a:solidFill>
                            <a:srgbClr val="4B4B4B"/>
                          </a:solidFill>
                          <a:latin typeface="Arial"/>
                        </a:rPr>
                        <a:t>Landing page and menu: ACSL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NAV-AC-15</a:t>
                      </a:r>
                    </a:p>
                  </a:txBody>
                  <a:tcPr marL="54864" marR="54864" marT="27432" marB="27432">
                    <a:solidFill>
                      <a:srgbClr val="FFFFFF"/>
                    </a:solidFill>
                  </a:tcPr>
                </a:tc>
                <a:tc>
                  <a:txBody>
                    <a:bodyPr/>
                    <a:lstStyle/>
                    <a:p>
                      <a:r>
                        <a:rPr sz="850" b="0">
                          <a:solidFill>
                            <a:srgbClr val="4B4B4B"/>
                          </a:solidFill>
                          <a:latin typeface="Arial"/>
                        </a:rPr>
                        <a:t>Landing page and menu: ACSL Head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NAV-AC-16</a:t>
                      </a:r>
                    </a:p>
                  </a:txBody>
                  <a:tcPr marL="54864" marR="54864" marT="27432" marB="27432">
                    <a:solidFill>
                      <a:srgbClr val="E5F5FF"/>
                    </a:solidFill>
                  </a:tcPr>
                </a:tc>
                <a:tc>
                  <a:txBody>
                    <a:bodyPr/>
                    <a:lstStyle/>
                    <a:p>
                      <a:r>
                        <a:rPr sz="850" b="0">
                          <a:solidFill>
                            <a:srgbClr val="4B4B4B"/>
                          </a:solidFill>
                          <a:latin typeface="Arial"/>
                        </a:rPr>
                        <a:t>Landing page and menu: Comptrollership (read access)</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NAV-AC-17</a:t>
                      </a:r>
                    </a:p>
                  </a:txBody>
                  <a:tcPr marL="54864" marR="54864" marT="27432" marB="27432">
                    <a:solidFill>
                      <a:srgbClr val="FFFFFF"/>
                    </a:solidFill>
                  </a:tcPr>
                </a:tc>
                <a:tc>
                  <a:txBody>
                    <a:bodyPr/>
                    <a:lstStyle/>
                    <a:p>
                      <a:r>
                        <a:rPr sz="850" b="0">
                          <a:solidFill>
                            <a:srgbClr val="4B4B4B"/>
                          </a:solidFill>
                          <a:latin typeface="Arial"/>
                        </a:rPr>
                        <a:t>Landing page and menu: Business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NAV-AC-18</a:t>
                      </a:r>
                    </a:p>
                  </a:txBody>
                  <a:tcPr marL="54864" marR="54864" marT="27432" marB="27432">
                    <a:solidFill>
                      <a:srgbClr val="E5F5FF"/>
                    </a:solidFill>
                  </a:tcPr>
                </a:tc>
                <a:tc>
                  <a:txBody>
                    <a:bodyPr/>
                    <a:lstStyle/>
                    <a:p>
                      <a:r>
                        <a:rPr sz="850" b="0">
                          <a:solidFill>
                            <a:srgbClr val="4B4B4B"/>
                          </a:solidFill>
                          <a:latin typeface="Arial"/>
                        </a:rPr>
                        <a:t>Landing page and menu: System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NAV-AC-19</a:t>
                      </a:r>
                    </a:p>
                  </a:txBody>
                  <a:tcPr marL="54864" marR="54864" marT="27432" marB="27432">
                    <a:solidFill>
                      <a:srgbClr val="FFFFFF"/>
                    </a:solidFill>
                  </a:tcPr>
                </a:tc>
                <a:tc>
                  <a:txBody>
                    <a:bodyPr/>
                    <a:lstStyle/>
                    <a:p>
                      <a:r>
                        <a:rPr sz="850" b="0">
                          <a:solidFill>
                            <a:srgbClr val="4B4B4B"/>
                          </a:solidFill>
                          <a:latin typeface="Arial"/>
                        </a:rPr>
                        <a:t>Landing page and menu: Auditor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DO-01</a:t>
                      </a:r>
                    </a:p>
                  </a:txBody>
                  <a:tcPr marL="54864" marR="54864" marT="27432" marB="27432">
                    <a:solidFill>
                      <a:srgbClr val="E5F5FF"/>
                    </a:solidFill>
                  </a:tcPr>
                </a:tc>
                <a:tc>
                  <a:txBody>
                    <a:bodyPr/>
                    <a:lstStyle/>
                    <a:p>
                      <a:r>
                        <a:rPr sz="850" b="0">
                          <a:solidFill>
                            <a:srgbClr val="4B4B4B"/>
                          </a:solidFill>
                          <a:latin typeface="Arial"/>
                        </a:rPr>
                        <a:t>Disbursement voucher</a:t>
                      </a:r>
                    </a:p>
                  </a:txBody>
                  <a:tcPr marL="54864" marR="54864" marT="27432" marB="27432">
                    <a:solidFill>
                      <a:srgbClr val="E5F5FF"/>
                    </a:solidFill>
                  </a:tcPr>
                </a:tc>
                <a:tc>
                  <a:txBody>
                    <a:bodyPr/>
                    <a:lstStyle/>
                    <a:p>
                      <a:r>
                        <a:rPr sz="850" b="0">
                          <a:solidFill>
                            <a:srgbClr val="4B4B4B"/>
                          </a:solidFill>
                          <a:latin typeface="Arial"/>
                        </a:rPr>
                        <a:t>17.1</a:t>
                      </a:r>
                    </a:p>
                  </a:txBody>
                  <a:tcPr marL="54864" marR="54864" marT="27432" marB="27432">
                    <a:solidFill>
                      <a:srgbClr val="E5F5FF"/>
                    </a:solidFill>
                  </a:tcPr>
                </a:tc>
                <a:tc>
                  <a:txBody>
                    <a:bodyPr/>
                    <a:lstStyle/>
                    <a:p>
                      <a:r>
                        <a:rPr sz="850" b="0">
                          <a:solidFill>
                            <a:srgbClr val="4B4B4B"/>
                          </a:solidFill>
                          <a:latin typeface="Arial"/>
                        </a:rPr>
                        <a:t>FR-DS-030, FR-DS-062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DO-02</a:t>
                      </a:r>
                    </a:p>
                  </a:txBody>
                  <a:tcPr marL="54864" marR="54864" marT="27432" marB="27432">
                    <a:solidFill>
                      <a:srgbClr val="FFFFFF"/>
                    </a:solidFill>
                  </a:tcPr>
                </a:tc>
                <a:tc>
                  <a:txBody>
                    <a:bodyPr/>
                    <a:lstStyle/>
                    <a:p>
                      <a:r>
                        <a:rPr sz="850" b="0">
                          <a:solidFill>
                            <a:srgbClr val="4B4B4B"/>
                          </a:solidFill>
                          <a:latin typeface="Arial"/>
                        </a:rPr>
                        <a:t>Authority to Debit (bank form)</a:t>
                      </a:r>
                    </a:p>
                  </a:txBody>
                  <a:tcPr marL="54864" marR="54864" marT="27432" marB="27432">
                    <a:solidFill>
                      <a:srgbClr val="FFFFFF"/>
                    </a:solidFill>
                  </a:tcPr>
                </a:tc>
                <a:tc>
                  <a:txBody>
                    <a:bodyPr/>
                    <a:lstStyle/>
                    <a:p>
                      <a:r>
                        <a:rPr sz="850" b="0">
                          <a:solidFill>
                            <a:srgbClr val="4B4B4B"/>
                          </a:solidFill>
                          <a:latin typeface="Arial"/>
                        </a:rPr>
                        <a:t>17.2</a:t>
                      </a:r>
                    </a:p>
                  </a:txBody>
                  <a:tcPr marL="54864" marR="54864" marT="27432" marB="27432">
                    <a:solidFill>
                      <a:srgbClr val="FFFFFF"/>
                    </a:solidFill>
                  </a:tcPr>
                </a:tc>
                <a:tc>
                  <a:txBody>
                    <a:bodyPr/>
                    <a:lstStyle/>
                    <a:p>
                      <a:r>
                        <a:rPr sz="850" b="0">
                          <a:solidFill>
                            <a:srgbClr val="4B4B4B"/>
                          </a:solidFill>
                          <a:latin typeface="Arial"/>
                        </a:rPr>
                        <a:t>FR-DS-034, FR-DS-035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DO-03</a:t>
                      </a:r>
                    </a:p>
                  </a:txBody>
                  <a:tcPr marL="54864" marR="54864" marT="27432" marB="27432">
                    <a:solidFill>
                      <a:srgbClr val="E5F5FF"/>
                    </a:solidFill>
                  </a:tcPr>
                </a:tc>
                <a:tc>
                  <a:txBody>
                    <a:bodyPr/>
                    <a:lstStyle/>
                    <a:p>
                      <a:r>
                        <a:rPr sz="850" b="0">
                          <a:solidFill>
                            <a:srgbClr val="4B4B4B"/>
                          </a:solidFill>
                          <a:latin typeface="Arial"/>
                        </a:rPr>
                        <a:t>Direct Credit Transaction File (DCTF)</a:t>
                      </a:r>
                    </a:p>
                  </a:txBody>
                  <a:tcPr marL="54864" marR="54864" marT="27432" marB="27432">
                    <a:solidFill>
                      <a:srgbClr val="E5F5FF"/>
                    </a:solidFill>
                  </a:tcPr>
                </a:tc>
                <a:tc>
                  <a:txBody>
                    <a:bodyPr/>
                    <a:lstStyle/>
                    <a:p>
                      <a:r>
                        <a:rPr sz="850" b="0">
                          <a:solidFill>
                            <a:srgbClr val="4B4B4B"/>
                          </a:solidFill>
                          <a:latin typeface="Arial"/>
                        </a:rPr>
                        <a:t>17.3</a:t>
                      </a:r>
                    </a:p>
                  </a:txBody>
                  <a:tcPr marL="54864" marR="54864" marT="27432" marB="27432">
                    <a:solidFill>
                      <a:srgbClr val="E5F5FF"/>
                    </a:solidFill>
                  </a:tcPr>
                </a:tc>
                <a:tc>
                  <a:txBody>
                    <a:bodyPr/>
                    <a:lstStyle/>
                    <a:p>
                      <a:r>
                        <a:rPr sz="850" b="0">
                          <a:solidFill>
                            <a:srgbClr val="4B4B4B"/>
                          </a:solidFill>
                          <a:latin typeface="Arial"/>
                        </a:rPr>
                        <a:t>FR-DS-061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634</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DO-04</a:t>
                      </a:r>
                    </a:p>
                  </a:txBody>
                  <a:tcPr marL="54864" marR="54864" marT="27432" marB="27432">
                    <a:solidFill>
                      <a:srgbClr val="FFFFFF"/>
                    </a:solidFill>
                  </a:tcPr>
                </a:tc>
                <a:tc>
                  <a:txBody>
                    <a:bodyPr/>
                    <a:lstStyle/>
                    <a:p>
                      <a:r>
                        <a:rPr sz="850" b="0">
                          <a:solidFill>
                            <a:srgbClr val="4B4B4B"/>
                          </a:solidFill>
                          <a:latin typeface="Arial"/>
                        </a:rPr>
                        <a:t>Refund Request Form (RRF)</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FR-PQ-003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350518">
                <a:tc>
                  <a:txBody>
                    <a:bodyPr/>
                    <a:lstStyle/>
                    <a:p>
                      <a:r>
                        <a:rPr sz="850" b="0">
                          <a:solidFill>
                            <a:srgbClr val="4B4B4B"/>
                          </a:solidFill>
                          <a:latin typeface="Arial"/>
                        </a:rPr>
                        <a:t>DO-05</a:t>
                      </a:r>
                    </a:p>
                  </a:txBody>
                  <a:tcPr marL="54864" marR="54864" marT="27432" marB="27432">
                    <a:solidFill>
                      <a:srgbClr val="E5F5FF"/>
                    </a:solidFill>
                  </a:tcPr>
                </a:tc>
                <a:tc>
                  <a:txBody>
                    <a:bodyPr/>
                    <a:lstStyle/>
                    <a:p>
                      <a:r>
                        <a:rPr sz="850" b="0">
                          <a:solidFill>
                            <a:srgbClr val="4B4B4B"/>
                          </a:solidFill>
                          <a:latin typeface="Arial"/>
                        </a:rPr>
                        <a:t>BIR Form 2307 (certificate of creditable tax withheld at source)</a:t>
                      </a:r>
                    </a:p>
                  </a:txBody>
                  <a:tcPr marL="54864" marR="54864" marT="27432" marB="27432">
                    <a:solidFill>
                      <a:srgbClr val="E5F5FF"/>
                    </a:solidFill>
                  </a:tcPr>
                </a:tc>
                <a:tc>
                  <a:txBody>
                    <a:bodyPr/>
                    <a:lstStyle/>
                    <a:p>
                      <a:r>
                        <a:rPr sz="850" b="0">
                          <a:solidFill>
                            <a:srgbClr val="4B4B4B"/>
                          </a:solidFill>
                          <a:latin typeface="Arial"/>
                        </a:rPr>
                        <a:t>17.5</a:t>
                      </a:r>
                    </a:p>
                  </a:txBody>
                  <a:tcPr marL="54864" marR="54864" marT="27432" marB="27432">
                    <a:solidFill>
                      <a:srgbClr val="E5F5FF"/>
                    </a:solidFill>
                  </a:tcPr>
                </a:tc>
                <a:tc>
                  <a:txBody>
                    <a:bodyPr/>
                    <a:lstStyle/>
                    <a:p>
                      <a:r>
                        <a:rPr sz="850" b="0">
                          <a:solidFill>
                            <a:srgbClr val="4B4B4B"/>
                          </a:solidFill>
                          <a:latin typeface="Arial"/>
                        </a:rPr>
                        <a:t>FR-DS-058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DO-06</a:t>
                      </a:r>
                    </a:p>
                  </a:txBody>
                  <a:tcPr marL="54864" marR="54864" marT="27432" marB="27432">
                    <a:solidFill>
                      <a:srgbClr val="FFFFFF"/>
                    </a:solidFill>
                  </a:tcPr>
                </a:tc>
                <a:tc>
                  <a:txBody>
                    <a:bodyPr/>
                    <a:lstStyle/>
                    <a:p>
                      <a:r>
                        <a:rPr sz="850" b="0">
                          <a:solidFill>
                            <a:srgbClr val="4B4B4B"/>
                          </a:solidFill>
                          <a:latin typeface="Arial"/>
                        </a:rPr>
                        <a:t>Insurer SOA reconciliation report</a:t>
                      </a:r>
                    </a:p>
                  </a:txBody>
                  <a:tcPr marL="54864" marR="54864" marT="27432" marB="27432">
                    <a:solidFill>
                      <a:srgbClr val="FFFFFF"/>
                    </a:solidFill>
                  </a:tcPr>
                </a:tc>
                <a:tc>
                  <a:txBody>
                    <a:bodyPr/>
                    <a:lstStyle/>
                    <a:p>
                      <a:r>
                        <a:rPr sz="850" b="0">
                          <a:solidFill>
                            <a:srgbClr val="4B4B4B"/>
                          </a:solidFill>
                          <a:latin typeface="Arial"/>
                        </a:rPr>
                        <a:t>17.6</a:t>
                      </a:r>
                    </a:p>
                  </a:txBody>
                  <a:tcPr marL="54864" marR="54864" marT="27432" marB="27432">
                    <a:solidFill>
                      <a:srgbClr val="FFFFFF"/>
                    </a:solidFill>
                  </a:tcPr>
                </a:tc>
                <a:tc>
                  <a:txBody>
                    <a:bodyPr/>
                    <a:lstStyle/>
                    <a:p>
                      <a:r>
                        <a:rPr sz="850" b="0">
                          <a:solidFill>
                            <a:srgbClr val="4B4B4B"/>
                          </a:solidFill>
                          <a:latin typeface="Arial"/>
                        </a:rPr>
                        <a:t>FR-AS-003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BRD-5 Accounting Disbursement ACSL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